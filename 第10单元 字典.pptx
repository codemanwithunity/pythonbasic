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1140" r:id="rId3"/>
    <p:sldId id="2014" r:id="rId5"/>
    <p:sldId id="1244" r:id="rId6"/>
    <p:sldId id="1361" r:id="rId7"/>
    <p:sldId id="2018" r:id="rId8"/>
    <p:sldId id="2020" r:id="rId9"/>
    <p:sldId id="2024" r:id="rId10"/>
    <p:sldId id="2022" r:id="rId11"/>
    <p:sldId id="2019" r:id="rId12"/>
    <p:sldId id="1781" r:id="rId13"/>
    <p:sldId id="2032" r:id="rId14"/>
    <p:sldId id="2033" r:id="rId15"/>
    <p:sldId id="2080" r:id="rId16"/>
    <p:sldId id="2034" r:id="rId17"/>
    <p:sldId id="2035" r:id="rId18"/>
    <p:sldId id="2037" r:id="rId19"/>
    <p:sldId id="1776" r:id="rId20"/>
    <p:sldId id="1778" r:id="rId21"/>
    <p:sldId id="1779" r:id="rId22"/>
    <p:sldId id="1780" r:id="rId23"/>
    <p:sldId id="2125" r:id="rId24"/>
    <p:sldId id="2015" r:id="rId25"/>
    <p:sldId id="2025" r:id="rId26"/>
    <p:sldId id="1464" r:id="rId27"/>
    <p:sldId id="2038" r:id="rId28"/>
    <p:sldId id="2039" r:id="rId29"/>
    <p:sldId id="2040" r:id="rId30"/>
    <p:sldId id="2041" r:id="rId31"/>
    <p:sldId id="2042" r:id="rId32"/>
    <p:sldId id="2043" r:id="rId33"/>
    <p:sldId id="1848" r:id="rId34"/>
    <p:sldId id="1849" r:id="rId35"/>
    <p:sldId id="1850" r:id="rId36"/>
    <p:sldId id="1959" r:id="rId37"/>
    <p:sldId id="2016" r:id="rId38"/>
    <p:sldId id="1960" r:id="rId39"/>
    <p:sldId id="2044" r:id="rId40"/>
    <p:sldId id="2045" r:id="rId41"/>
    <p:sldId id="2057" r:id="rId42"/>
    <p:sldId id="2058" r:id="rId43"/>
    <p:sldId id="2059" r:id="rId44"/>
    <p:sldId id="2060" r:id="rId45"/>
    <p:sldId id="1858" r:id="rId46"/>
    <p:sldId id="2061" r:id="rId47"/>
    <p:sldId id="2017" r:id="rId48"/>
    <p:sldId id="2052" r:id="rId49"/>
    <p:sldId id="2053" r:id="rId50"/>
    <p:sldId id="2054" r:id="rId51"/>
    <p:sldId id="2026" r:id="rId52"/>
    <p:sldId id="2056" r:id="rId53"/>
    <p:sldId id="2027" r:id="rId54"/>
    <p:sldId id="2050" r:id="rId55"/>
    <p:sldId id="2030" r:id="rId56"/>
    <p:sldId id="1872" r:id="rId57"/>
    <p:sldId id="2051" r:id="rId58"/>
    <p:sldId id="1772" r:id="rId59"/>
    <p:sldId id="1364" r:id="rId60"/>
    <p:sldId id="1267" r:id="rId61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9" userDrawn="1">
          <p15:clr>
            <a:srgbClr val="A4A3A4"/>
          </p15:clr>
        </p15:guide>
        <p15:guide id="2" orient="horz" pos="2155" userDrawn="1">
          <p15:clr>
            <a:srgbClr val="A4A3A4"/>
          </p15:clr>
        </p15:guide>
        <p15:guide id="3" pos="27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5FE"/>
    <a:srgbClr val="00CC99"/>
    <a:srgbClr val="EDF5FD"/>
    <a:srgbClr val="0070C0"/>
    <a:srgbClr val="E7F4FF"/>
    <a:srgbClr val="F9F9F9"/>
    <a:srgbClr val="404A1A"/>
    <a:srgbClr val="EAEFF7"/>
    <a:srgbClr val="A5A9AE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87593" autoAdjust="0"/>
  </p:normalViewPr>
  <p:slideViewPr>
    <p:cSldViewPr>
      <p:cViewPr varScale="1">
        <p:scale>
          <a:sx n="85" d="100"/>
          <a:sy n="85" d="100"/>
        </p:scale>
        <p:origin x="466" y="26"/>
      </p:cViewPr>
      <p:guideLst>
        <p:guide orient="horz" pos="1709"/>
        <p:guide orient="horz" pos="2155"/>
        <p:guide pos="2783"/>
      </p:guideLst>
    </p:cSldViewPr>
  </p:slideViewPr>
  <p:outlineViewPr>
    <p:cViewPr>
      <p:scale>
        <a:sx n="33" d="100"/>
        <a:sy n="33" d="100"/>
      </p:scale>
      <p:origin x="0" y="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10" y="-84"/>
      </p:cViewPr>
      <p:guideLst>
        <p:guide orient="horz" pos="3038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r>
              <a:rPr lang="en-US" altLang="zh-CN" dirty="0"/>
              <a:t>xxxxxxx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48837-1076-4B3A-BF25-E9E04B1E5397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教学指导：</a:t>
            </a:r>
            <a:endParaRPr lang="en-US" altLang="zh-CN" dirty="0"/>
          </a:p>
          <a:p>
            <a:r>
              <a:rPr lang="en-US" altLang="zh-CN" dirty="0"/>
              <a:t>xxxxxxx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548837-1076-4B3A-BF25-E9E04B1E5397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8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本质性的特征</a:t>
            </a:r>
            <a:r>
              <a:rPr lang="en-US" altLang="zh-CN" dirty="0"/>
              <a:t>(</a:t>
            </a:r>
            <a:r>
              <a:rPr lang="zh-CN" altLang="en-US"/>
              <a:t>能把一类事物与他类事物区分开的特性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/>
              <a:t>不少于</a:t>
            </a:r>
            <a:r>
              <a:rPr lang="en-US" altLang="zh-CN" dirty="0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教学指导：</a:t>
            </a:r>
            <a:endParaRPr lang="en-US" altLang="zh-CN" dirty="0"/>
          </a:p>
          <a:p>
            <a:pPr eaLnBrk="1" hangingPunct="1"/>
            <a:r>
              <a:rPr lang="zh-CN" altLang="en-US"/>
              <a:t>预习作业测试题用于下次上课前进行全班同学集中测试。因此教员要在本次课布置下去。布置预习测试题的目的是要求学员进行预习，保障下次学员学习质量。</a:t>
            </a:r>
            <a:endParaRPr lang="en-US" altLang="zh-CN" dirty="0"/>
          </a:p>
          <a:p>
            <a:pPr eaLnBrk="1" hangingPunct="1"/>
            <a:r>
              <a:rPr lang="zh-CN" altLang="en-US"/>
              <a:t>不少于</a:t>
            </a:r>
            <a:r>
              <a:rPr lang="en-US" altLang="zh-CN" dirty="0"/>
              <a:t>4</a:t>
            </a:r>
            <a:r>
              <a:rPr lang="zh-CN" altLang="en-US"/>
              <a:t>道题，其中至少包含一道简述题，主要了解学员对重要知识点的理解程度</a:t>
            </a:r>
            <a:endParaRPr lang="en-US" altLang="zh-CN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8" y="214297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8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35F12-52FC-45A8-B539-88DCF394FD7F}" type="slidenum">
              <a:rPr lang="zh-CN" altLang="en-US" smtClean="0"/>
            </a:fld>
            <a:r>
              <a:rPr lang="en-US" altLang="zh-CN" dirty="0"/>
              <a:t>/48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4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4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5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6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391033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8" y="3056791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DC92ECF9-1C64-45C7-A351-5C2B04CB53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EE00B7EE-1E89-4FFA-B365-5BB8C64452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6.png"/><Relationship Id="rId13" Type="http://schemas.microsoft.com/office/2007/relationships/hdphoto" Target="../media/image5.wdp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73529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0" name="直接连接符 2"/>
          <p:cNvSpPr>
            <a:spLocks noChangeShapeType="1"/>
          </p:cNvSpPr>
          <p:nvPr userDrawn="1"/>
        </p:nvSpPr>
        <p:spPr bwMode="auto">
          <a:xfrm flipH="1">
            <a:off x="2121864" y="3"/>
            <a:ext cx="1864" cy="536711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113"/>
            <a:ext cx="2123728" cy="40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GIF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683062" y="1253209"/>
            <a:ext cx="7772400" cy="1102519"/>
          </a:xfrm>
        </p:spPr>
        <p:txBody>
          <a:bodyPr/>
          <a:lstStyle/>
          <a:p>
            <a:r>
              <a:rPr lang="zh-CN" altLang="en-US" dirty="0"/>
              <a:t>第十单元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字典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第一课时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字典概述</a:t>
            </a:r>
            <a:endParaRPr lang="zh-CN" altLang="en-US" dirty="0"/>
          </a:p>
        </p:txBody>
      </p:sp>
    </p:spTree>
  </p:cSld>
  <p:clrMapOvr>
    <a:masterClrMapping/>
  </p:clrMapOvr>
  <p:transition spd="slow" advTm="964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03598"/>
            <a:ext cx="8640960" cy="3312368"/>
          </a:xfrm>
        </p:spPr>
        <p:txBody>
          <a:bodyPr/>
          <a:lstStyle/>
          <a:p>
            <a:r>
              <a:rPr lang="zh-CN" altLang="en-US" dirty="0"/>
              <a:t>什么是元组？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如何创建一个元组？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元组的特征有哪些？</a:t>
            </a:r>
            <a:endParaRPr lang="en-US" altLang="zh-CN" dirty="0"/>
          </a:p>
          <a:p>
            <a:r>
              <a:rPr lang="zh-CN" altLang="en-US" dirty="0"/>
              <a:t>元组的常用方法？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贯穿案例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需求说明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设计双色球</a:t>
            </a:r>
            <a:r>
              <a:rPr lang="en-US" altLang="zh-CN" sz="1800" dirty="0">
                <a:solidFill>
                  <a:schemeClr val="tx1"/>
                </a:solidFill>
              </a:rPr>
              <a:t>--</a:t>
            </a:r>
            <a:r>
              <a:rPr lang="zh-CN" altLang="en-US" sz="1800" dirty="0">
                <a:solidFill>
                  <a:schemeClr val="tx1"/>
                </a:solidFill>
              </a:rPr>
              <a:t>选球系统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   </a:t>
            </a:r>
            <a:r>
              <a:rPr lang="zh-CN" altLang="en-US" dirty="0">
                <a:solidFill>
                  <a:srgbClr val="0070C0"/>
                </a:solidFill>
              </a:rPr>
              <a:t>思路分析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理清业务流程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设计输入红球号码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设计输入蓝球号码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设计输入注数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37243" y="2039243"/>
            <a:ext cx="247650" cy="244475"/>
            <a:chOff x="6660232" y="1684535"/>
            <a:chExt cx="247650" cy="244475"/>
          </a:xfrm>
        </p:grpSpPr>
        <p:sp>
          <p:nvSpPr>
            <p:cNvPr id="6" name="Oval 70"/>
            <p:cNvSpPr>
              <a:spLocks noChangeArrowheads="1"/>
            </p:cNvSpPr>
            <p:nvPr/>
          </p:nvSpPr>
          <p:spPr bwMode="auto">
            <a:xfrm>
              <a:off x="6709445" y="1736923"/>
              <a:ext cx="146050" cy="146050"/>
            </a:xfrm>
            <a:prstGeom prst="ellipse">
              <a:avLst/>
            </a:pr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71"/>
            <p:cNvSpPr/>
            <p:nvPr/>
          </p:nvSpPr>
          <p:spPr bwMode="auto">
            <a:xfrm>
              <a:off x="6761832" y="1890910"/>
              <a:ext cx="47625" cy="15875"/>
            </a:xfrm>
            <a:custGeom>
              <a:avLst/>
              <a:gdLst>
                <a:gd name="T0" fmla="*/ 0 w 30"/>
                <a:gd name="T1" fmla="*/ 0 h 10"/>
                <a:gd name="T2" fmla="*/ 30 w 30"/>
                <a:gd name="T3" fmla="*/ 0 h 10"/>
                <a:gd name="T4" fmla="*/ 30 w 30"/>
                <a:gd name="T5" fmla="*/ 10 h 10"/>
                <a:gd name="T6" fmla="*/ 0 w 30"/>
                <a:gd name="T7" fmla="*/ 10 h 10"/>
                <a:gd name="T8" fmla="*/ 0 w 30"/>
                <a:gd name="T9" fmla="*/ 0 h 10"/>
                <a:gd name="T10" fmla="*/ 0 w 30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0">
                  <a:moveTo>
                    <a:pt x="0" y="0"/>
                  </a:move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72"/>
            <p:cNvSpPr/>
            <p:nvPr/>
          </p:nvSpPr>
          <p:spPr bwMode="auto">
            <a:xfrm>
              <a:off x="6772945" y="1909960"/>
              <a:ext cx="30163" cy="19050"/>
            </a:xfrm>
            <a:custGeom>
              <a:avLst/>
              <a:gdLst>
                <a:gd name="T0" fmla="*/ 0 w 19"/>
                <a:gd name="T1" fmla="*/ 0 h 12"/>
                <a:gd name="T2" fmla="*/ 19 w 19"/>
                <a:gd name="T3" fmla="*/ 0 h 12"/>
                <a:gd name="T4" fmla="*/ 19 w 19"/>
                <a:gd name="T5" fmla="*/ 12 h 12"/>
                <a:gd name="T6" fmla="*/ 0 w 19"/>
                <a:gd name="T7" fmla="*/ 12 h 12"/>
                <a:gd name="T8" fmla="*/ 0 w 19"/>
                <a:gd name="T9" fmla="*/ 0 h 12"/>
                <a:gd name="T10" fmla="*/ 0 w 19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2">
                  <a:moveTo>
                    <a:pt x="0" y="0"/>
                  </a:moveTo>
                  <a:lnTo>
                    <a:pt x="19" y="0"/>
                  </a:lnTo>
                  <a:lnTo>
                    <a:pt x="19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3"/>
            <p:cNvSpPr/>
            <p:nvPr/>
          </p:nvSpPr>
          <p:spPr bwMode="auto">
            <a:xfrm>
              <a:off x="6772945" y="1684535"/>
              <a:ext cx="22225" cy="38100"/>
            </a:xfrm>
            <a:custGeom>
              <a:avLst/>
              <a:gdLst>
                <a:gd name="T0" fmla="*/ 0 w 14"/>
                <a:gd name="T1" fmla="*/ 0 h 24"/>
                <a:gd name="T2" fmla="*/ 14 w 14"/>
                <a:gd name="T3" fmla="*/ 0 h 24"/>
                <a:gd name="T4" fmla="*/ 14 w 14"/>
                <a:gd name="T5" fmla="*/ 24 h 24"/>
                <a:gd name="T6" fmla="*/ 0 w 14"/>
                <a:gd name="T7" fmla="*/ 24 h 24"/>
                <a:gd name="T8" fmla="*/ 0 w 14"/>
                <a:gd name="T9" fmla="*/ 0 h 24"/>
                <a:gd name="T10" fmla="*/ 0 w 14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4">
                  <a:moveTo>
                    <a:pt x="0" y="0"/>
                  </a:moveTo>
                  <a:lnTo>
                    <a:pt x="14" y="0"/>
                  </a:lnTo>
                  <a:lnTo>
                    <a:pt x="14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74"/>
            <p:cNvSpPr/>
            <p:nvPr/>
          </p:nvSpPr>
          <p:spPr bwMode="auto">
            <a:xfrm>
              <a:off x="6866607" y="1778198"/>
              <a:ext cx="41275" cy="22225"/>
            </a:xfrm>
            <a:custGeom>
              <a:avLst/>
              <a:gdLst>
                <a:gd name="T0" fmla="*/ 0 w 26"/>
                <a:gd name="T1" fmla="*/ 0 h 14"/>
                <a:gd name="T2" fmla="*/ 26 w 26"/>
                <a:gd name="T3" fmla="*/ 0 h 14"/>
                <a:gd name="T4" fmla="*/ 26 w 26"/>
                <a:gd name="T5" fmla="*/ 14 h 14"/>
                <a:gd name="T6" fmla="*/ 0 w 26"/>
                <a:gd name="T7" fmla="*/ 14 h 14"/>
                <a:gd name="T8" fmla="*/ 0 w 26"/>
                <a:gd name="T9" fmla="*/ 0 h 14"/>
                <a:gd name="T10" fmla="*/ 0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0" y="0"/>
                  </a:moveTo>
                  <a:lnTo>
                    <a:pt x="26" y="0"/>
                  </a:lnTo>
                  <a:lnTo>
                    <a:pt x="26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75"/>
            <p:cNvSpPr/>
            <p:nvPr/>
          </p:nvSpPr>
          <p:spPr bwMode="auto">
            <a:xfrm>
              <a:off x="6660232" y="1778198"/>
              <a:ext cx="38100" cy="22225"/>
            </a:xfrm>
            <a:custGeom>
              <a:avLst/>
              <a:gdLst>
                <a:gd name="T0" fmla="*/ 0 w 24"/>
                <a:gd name="T1" fmla="*/ 0 h 14"/>
                <a:gd name="T2" fmla="*/ 24 w 24"/>
                <a:gd name="T3" fmla="*/ 0 h 14"/>
                <a:gd name="T4" fmla="*/ 24 w 24"/>
                <a:gd name="T5" fmla="*/ 14 h 14"/>
                <a:gd name="T6" fmla="*/ 0 w 24"/>
                <a:gd name="T7" fmla="*/ 14 h 14"/>
                <a:gd name="T8" fmla="*/ 0 w 24"/>
                <a:gd name="T9" fmla="*/ 0 h 14"/>
                <a:gd name="T10" fmla="*/ 0 w 24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4">
                  <a:moveTo>
                    <a:pt x="0" y="0"/>
                  </a:moveTo>
                  <a:lnTo>
                    <a:pt x="24" y="0"/>
                  </a:lnTo>
                  <a:lnTo>
                    <a:pt x="24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76"/>
            <p:cNvSpPr/>
            <p:nvPr/>
          </p:nvSpPr>
          <p:spPr bwMode="auto">
            <a:xfrm>
              <a:off x="6701507" y="1717873"/>
              <a:ext cx="33338" cy="34925"/>
            </a:xfrm>
            <a:custGeom>
              <a:avLst/>
              <a:gdLst>
                <a:gd name="T0" fmla="*/ 0 w 21"/>
                <a:gd name="T1" fmla="*/ 12 h 22"/>
                <a:gd name="T2" fmla="*/ 12 w 21"/>
                <a:gd name="T3" fmla="*/ 0 h 22"/>
                <a:gd name="T4" fmla="*/ 21 w 21"/>
                <a:gd name="T5" fmla="*/ 12 h 22"/>
                <a:gd name="T6" fmla="*/ 12 w 21"/>
                <a:gd name="T7" fmla="*/ 22 h 22"/>
                <a:gd name="T8" fmla="*/ 0 w 21"/>
                <a:gd name="T9" fmla="*/ 12 h 22"/>
                <a:gd name="T10" fmla="*/ 0 w 21"/>
                <a:gd name="T11" fmla="*/ 12 h 22"/>
                <a:gd name="T12" fmla="*/ 0 w 21"/>
                <a:gd name="T13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0" y="12"/>
                  </a:moveTo>
                  <a:lnTo>
                    <a:pt x="12" y="0"/>
                  </a:lnTo>
                  <a:lnTo>
                    <a:pt x="21" y="12"/>
                  </a:lnTo>
                  <a:lnTo>
                    <a:pt x="12" y="2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7"/>
            <p:cNvSpPr/>
            <p:nvPr/>
          </p:nvSpPr>
          <p:spPr bwMode="auto">
            <a:xfrm>
              <a:off x="6833270" y="1722635"/>
              <a:ext cx="33338" cy="30163"/>
            </a:xfrm>
            <a:custGeom>
              <a:avLst/>
              <a:gdLst>
                <a:gd name="T0" fmla="*/ 11 w 21"/>
                <a:gd name="T1" fmla="*/ 0 h 19"/>
                <a:gd name="T2" fmla="*/ 21 w 21"/>
                <a:gd name="T3" fmla="*/ 9 h 19"/>
                <a:gd name="T4" fmla="*/ 11 w 21"/>
                <a:gd name="T5" fmla="*/ 19 h 19"/>
                <a:gd name="T6" fmla="*/ 0 w 21"/>
                <a:gd name="T7" fmla="*/ 9 h 19"/>
                <a:gd name="T8" fmla="*/ 11 w 21"/>
                <a:gd name="T9" fmla="*/ 0 h 19"/>
                <a:gd name="T10" fmla="*/ 11 w 21"/>
                <a:gd name="T11" fmla="*/ 0 h 19"/>
                <a:gd name="T12" fmla="*/ 11 w 21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19">
                  <a:moveTo>
                    <a:pt x="11" y="0"/>
                  </a:moveTo>
                  <a:lnTo>
                    <a:pt x="21" y="9"/>
                  </a:lnTo>
                  <a:lnTo>
                    <a:pt x="11" y="1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" name="Picture 2" descr="C:\Users\Administrator\Downloads\3cbd653c78d936911bb65a5958c7e4d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753902"/>
            <a:ext cx="333375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知识目标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385" y="668655"/>
            <a:ext cx="7390765" cy="4326890"/>
          </a:xfrm>
          <a:prstGeom prst="rect">
            <a:avLst/>
          </a:prstGeom>
        </p:spPr>
      </p:pic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为什么使用字典</a:t>
            </a:r>
            <a:endParaRPr lang="zh-CN" altLang="en-US" dirty="0"/>
          </a:p>
        </p:txBody>
      </p:sp>
      <p:pic>
        <p:nvPicPr>
          <p:cNvPr id="6" name="Picture 20" descr="0quav023[1]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380312" y="1208092"/>
            <a:ext cx="1588770" cy="2007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C:\Users\Administrator\Desktop\剪贴画\u=304456404,2805001665&amp;fm=26&amp;gp=0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15566"/>
            <a:ext cx="259228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Administrator\Desktop\剪贴画\u=3169707356,2918193344&amp;fm=26&amp;gp=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915566"/>
            <a:ext cx="3744416" cy="266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1979712" y="3867894"/>
            <a:ext cx="3096344" cy="1152128"/>
          </a:xfrm>
          <a:prstGeom prst="ellipse">
            <a:avLst/>
          </a:prstGeom>
          <a:solidFill>
            <a:srgbClr val="00CC99"/>
          </a:solidFill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同学们使用过新华字典吗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?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为什么使用字典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9542"/>
            <a:ext cx="350520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Administrator\Desktop\剪贴画\u=4132600827,2680525689&amp;fm=11&amp;gp=0.jpg"/>
          <p:cNvPicPr>
            <a:picLocks noChangeAspect="1" noChangeArrowheads="1" noCrop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470" y="199568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/>
          <p:cNvSpPr/>
          <p:nvPr/>
        </p:nvSpPr>
        <p:spPr bwMode="auto">
          <a:xfrm rot="268316">
            <a:off x="4677017" y="998569"/>
            <a:ext cx="3672408" cy="1143719"/>
          </a:xfrm>
          <a:prstGeom prst="ellipse">
            <a:avLst/>
          </a:prstGeom>
          <a:solidFill>
            <a:srgbClr val="EDF5F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/>
            <a:r>
              <a:rPr lang="zh-CN" altLang="en-US" dirty="0">
                <a:ea typeface="宋体" panose="02010600030101010101" pitchFamily="2" charset="-122"/>
              </a:rPr>
              <a:t>像这种一一对应的数据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使用</a:t>
            </a:r>
            <a:r>
              <a:rPr lang="en-US" altLang="zh-CN" dirty="0">
                <a:ea typeface="宋体" panose="02010600030101010101" pitchFamily="2" charset="-122"/>
              </a:rPr>
              <a:t>python</a:t>
            </a:r>
            <a:r>
              <a:rPr lang="zh-CN" altLang="en-US" dirty="0">
                <a:ea typeface="宋体" panose="02010600030101010101" pitchFamily="2" charset="-122"/>
              </a:rPr>
              <a:t>的字典即可。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什么是字典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0050" y="731480"/>
            <a:ext cx="121348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名词解释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3535" y="1484630"/>
            <a:ext cx="4987925" cy="1413510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3275965" y="3003550"/>
            <a:ext cx="1584325" cy="791845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84" name=" 184"/>
          <p:cNvSpPr/>
          <p:nvPr/>
        </p:nvSpPr>
        <p:spPr>
          <a:xfrm>
            <a:off x="2099310" y="3795395"/>
            <a:ext cx="3937000" cy="1132840"/>
          </a:xfrm>
          <a:prstGeom prst="ellipse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rgbClr val="FFFFFF"/>
                </a:solidFill>
                <a:latin typeface="+mn-ea"/>
              </a:rPr>
              <a:t>dict</a:t>
            </a:r>
            <a:endParaRPr lang="en-US" altLang="zh-CN" sz="36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 animBg="1"/>
      <p:bldP spid="18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latin typeface="+mn-ea"/>
                <a:ea typeface="+mn-ea"/>
                <a:sym typeface="Browallia New" charset="0"/>
              </a:rPr>
              <a:t>什么是</a:t>
            </a:r>
            <a:r>
              <a:rPr lang="zh-CN" altLang="en-US" dirty="0">
                <a:latin typeface="+mn-ea"/>
                <a:ea typeface="+mn-ea"/>
              </a:rPr>
              <a:t>字典</a:t>
            </a:r>
            <a:endParaRPr lang="zh-CN" altLang="en-US" dirty="0">
              <a:latin typeface="+mn-ea"/>
              <a:ea typeface="+mn-ea"/>
              <a:sym typeface="Browallia New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59455" y="1889443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  <a:p>
            <a:pPr algn="ctr" fontAlgn="base"/>
            <a:r>
              <a:rPr lang="zh-CN" altLang="en-US" sz="2000" b="1" noProof="1">
                <a:solidFill>
                  <a:schemeClr val="accent1"/>
                </a:solidFill>
                <a:latin typeface="+mn-ea"/>
              </a:rPr>
              <a:t>字典</a:t>
            </a:r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315908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被定义项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165226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临近的属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173283" y="188976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+mn-ea"/>
              </a:rPr>
              <a:t>数据结构</a:t>
            </a:r>
            <a:endParaRPr lang="zh-CN" altLang="en-US" sz="2000" b="1" strike="noStrike" noProof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4" name="Text Box 12"/>
          <p:cNvSpPr txBox="1"/>
          <p:nvPr/>
        </p:nvSpPr>
        <p:spPr>
          <a:xfrm>
            <a:off x="570674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93661" y="1968500"/>
            <a:ext cx="312275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+mn-ea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+mn-ea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215547" y="3282538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noProof="1">
                <a:latin typeface="+mn-ea"/>
                <a:ea typeface="+mn-ea"/>
              </a:rPr>
              <a:t>定义</a:t>
            </a:r>
            <a:r>
              <a:rPr lang="en-US" altLang="zh-CN" noProof="1">
                <a:latin typeface="+mn-ea"/>
                <a:ea typeface="+mn-ea"/>
              </a:rPr>
              <a:t>: </a:t>
            </a:r>
            <a:r>
              <a:rPr lang="zh-CN" altLang="en-US" noProof="1">
                <a:latin typeface="+mn-ea"/>
                <a:ea typeface="+mn-ea"/>
              </a:rPr>
              <a:t>字典是存储键值对的数据结构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Calibri" panose="020F0502020204030204" pitchFamily="34" charset="0"/>
            </a:endParaRPr>
          </a:p>
        </p:txBody>
      </p:sp>
      <p:sp>
        <p:nvSpPr>
          <p:cNvPr id="12" name="Text Box 8"/>
          <p:cNvSpPr txBox="1"/>
          <p:nvPr/>
        </p:nvSpPr>
        <p:spPr>
          <a:xfrm>
            <a:off x="3309615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同属的其它种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831585" y="1889760"/>
            <a:ext cx="996950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  <a:latin typeface="+mn-ea"/>
              </a:rPr>
              <a:t>集合</a:t>
            </a:r>
            <a:endParaRPr lang="zh-CN" altLang="en-US" sz="2000" b="1" strike="noStrike" noProof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8" name="AutoShape 7"/>
          <p:cNvSpPr/>
          <p:nvPr/>
        </p:nvSpPr>
        <p:spPr>
          <a:xfrm flipH="1">
            <a:off x="1187748" y="3082925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+mn-ea"/>
              <a:ea typeface="+mn-ea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1003314" y="3715555"/>
            <a:ext cx="83238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外延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351799" y="4263459"/>
            <a:ext cx="2477832" cy="322580"/>
            <a:chOff x="897128" y="1507535"/>
            <a:chExt cx="1868348" cy="18384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518933"/>
              <a:ext cx="1868348" cy="157867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endParaRPr lang="zh-CN" altLang="en-US" sz="2100" b="1" strike="noStrike" kern="0" noProof="1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1140" y="2078990"/>
            <a:ext cx="1914686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Calibri" panose="020F0502020204030204" pitchFamily="34" charset="0"/>
              </a:rPr>
              <a:t>存储键值对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89170" y="4222290"/>
            <a:ext cx="205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</a:rPr>
              <a:t>普通字典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829259" y="4286250"/>
            <a:ext cx="2480356" cy="276999"/>
          </a:xfrm>
          <a:prstGeom prst="chevron">
            <a:avLst>
              <a:gd name="adj" fmla="val 121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>
            <a:spAutoFit/>
          </a:bodyPr>
          <a:lstStyle/>
          <a:p>
            <a:pPr fontAlgn="base">
              <a:defRPr/>
            </a:pPr>
            <a:endParaRPr lang="zh-CN" altLang="en-US" strike="noStrike" kern="0" noProof="1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6453" y="4222290"/>
            <a:ext cx="112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</a:rPr>
              <a:t>空字典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3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12" grpId="0"/>
      <p:bldP spid="15" grpId="0" bldLvl="0" animBg="1"/>
      <p:bldP spid="18" grpId="0" bldLvl="0" animBg="1"/>
      <p:bldP spid="19" grpId="0"/>
      <p:bldP spid="8" grpId="0"/>
      <p:bldP spid="17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6591935" cy="453457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ea typeface="+mn-ea"/>
                <a:sym typeface="+mn-ea"/>
              </a:rPr>
              <a:t>字典名 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= {key1:value1, key2:value2, ...}</a:t>
            </a:r>
            <a:endParaRPr lang="en-US" altLang="zh-CN" sz="2000" b="1" dirty="0"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201899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571750"/>
            <a:ext cx="3927640" cy="70788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d1 ={'one': 1, 'two': 2, 'three': 3}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sym typeface="+mn-ea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print(d1)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3867894"/>
            <a:ext cx="3927640" cy="71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605975" y="329183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4346" y="803488"/>
            <a:ext cx="5536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第一种创建字典的方式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4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6591935" cy="453457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sym typeface="+mn-ea"/>
              </a:rPr>
              <a:t>字典名 </a:t>
            </a:r>
            <a:r>
              <a:rPr lang="en-US" altLang="zh-CN" sz="2000" b="1" dirty="0">
                <a:latin typeface="+mn-ea"/>
                <a:sym typeface="+mn-ea"/>
              </a:rPr>
              <a:t>= dict(</a:t>
            </a:r>
            <a:r>
              <a:rPr lang="zh-CN" altLang="en-US" sz="2000" b="1" dirty="0">
                <a:latin typeface="+mn-ea"/>
                <a:sym typeface="+mn-ea"/>
              </a:rPr>
              <a:t>数据</a:t>
            </a:r>
            <a:r>
              <a:rPr lang="en-US" altLang="zh-CN" sz="2000" b="1" dirty="0">
                <a:latin typeface="+mn-ea"/>
                <a:sym typeface="+mn-ea"/>
              </a:rPr>
              <a:t>)</a:t>
            </a:r>
            <a:endParaRPr lang="zh-CN" altLang="en-US" sz="2000" b="1" dirty="0">
              <a:solidFill>
                <a:srgbClr val="09131F"/>
              </a:solidFill>
              <a:latin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201899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571750"/>
            <a:ext cx="5511816" cy="70788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a = dict(one=1, two=2, three=3)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print(a)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3616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第二种创建字典的方式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3867894"/>
            <a:ext cx="3927640" cy="71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605975" y="329183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840718" y="2583224"/>
            <a:ext cx="3019314" cy="34246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椭圆形标注 9"/>
          <p:cNvSpPr/>
          <p:nvPr/>
        </p:nvSpPr>
        <p:spPr bwMode="auto">
          <a:xfrm>
            <a:off x="5148064" y="1682010"/>
            <a:ext cx="1778496" cy="612648"/>
          </a:xfrm>
          <a:prstGeom prst="wedgeEllipseCallout">
            <a:avLst>
              <a:gd name="adj1" fmla="val -65335"/>
              <a:gd name="adj2" fmla="val 12300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变量赋值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6591935" cy="453457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sym typeface="+mn-ea"/>
              </a:rPr>
              <a:t>字典名 </a:t>
            </a:r>
            <a:r>
              <a:rPr lang="en-US" altLang="zh-CN" sz="2000" b="1" dirty="0">
                <a:latin typeface="+mn-ea"/>
                <a:sym typeface="+mn-ea"/>
              </a:rPr>
              <a:t>= dict(</a:t>
            </a:r>
            <a:r>
              <a:rPr lang="zh-CN" altLang="en-US" sz="2000" b="1" dirty="0">
                <a:latin typeface="+mn-ea"/>
                <a:sym typeface="+mn-ea"/>
              </a:rPr>
              <a:t>数据</a:t>
            </a:r>
            <a:r>
              <a:rPr lang="en-US" altLang="zh-CN" sz="2000" b="1" dirty="0">
                <a:latin typeface="+mn-ea"/>
                <a:sym typeface="+mn-ea"/>
              </a:rPr>
              <a:t>)</a:t>
            </a:r>
            <a:endParaRPr lang="zh-CN" altLang="en-US" sz="2000" b="1" dirty="0">
              <a:solidFill>
                <a:srgbClr val="09131F"/>
              </a:solidFill>
              <a:latin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923678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427734"/>
            <a:ext cx="5511816" cy="80021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d = dict([('two', 2), ('one', 1), ('three', 3)])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algn="just">
              <a:spcAft>
                <a:spcPts val="0"/>
              </a:spcAf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print(d)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3616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第三种创建字典的方式</a:t>
            </a:r>
            <a:endParaRPr lang="zh-CN" altLang="zh-CN" sz="2000" kern="1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3867894"/>
            <a:ext cx="3927640" cy="71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605975" y="329183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840718" y="2499742"/>
            <a:ext cx="3883410" cy="42595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椭圆形标注 4"/>
          <p:cNvSpPr/>
          <p:nvPr/>
        </p:nvSpPr>
        <p:spPr bwMode="auto">
          <a:xfrm>
            <a:off x="6012160" y="1581930"/>
            <a:ext cx="914400" cy="612648"/>
          </a:xfrm>
          <a:prstGeom prst="wedgeEllipseCallout">
            <a:avLst>
              <a:gd name="adj1" fmla="val -80292"/>
              <a:gd name="adj2" fmla="val 9678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列表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字典名 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= </a:t>
            </a:r>
            <a:r>
              <a:rPr lang="en-US" altLang="zh-CN" sz="2000" b="1" kern="10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dict.fromkeys(key_seq, value)   </a:t>
            </a:r>
            <a:endParaRPr lang="zh-CN" altLang="en-US" sz="2000" b="1" kern="100" dirty="0">
              <a:solidFill>
                <a:srgbClr val="00000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4863744" cy="129266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</a:rPr>
              <a:t>names= ['Ben', 'Alien', 'Helen']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</a:rPr>
              <a:t>nbook = 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dict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</a:rPr>
              <a:t>.fromkeys(names, "000")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</a:rPr>
              <a:t>print(nbook)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460" y="731520"/>
            <a:ext cx="45262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kern="1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第四种创建字典的方式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507854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4007478"/>
            <a:ext cx="6879968" cy="65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形标注 4"/>
          <p:cNvSpPr/>
          <p:nvPr/>
        </p:nvSpPr>
        <p:spPr bwMode="auto">
          <a:xfrm>
            <a:off x="5868144" y="2427734"/>
            <a:ext cx="2736304" cy="1185916"/>
          </a:xfrm>
          <a:prstGeom prst="wedgeEllipseCallout">
            <a:avLst>
              <a:gd name="adj1" fmla="val -32938"/>
              <a:gd name="adj2" fmla="val -11610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  <a:latin typeface="+mn-ea"/>
                <a:sym typeface="+mn-ea"/>
              </a:rPr>
              <a:t>如果没有设置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sym typeface="+mn-ea"/>
              </a:rPr>
              <a:t>value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sym typeface="+mn-ea"/>
              </a:rPr>
              <a:t>默认值的话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sym typeface="+mn-ea"/>
              </a:rPr>
              <a:t>, </a:t>
            </a:r>
            <a:r>
              <a:rPr lang="zh-CN" altLang="zh-CN" kern="100" dirty="0">
                <a:solidFill>
                  <a:srgbClr val="000000"/>
                </a:solidFill>
                <a:latin typeface="+mn-ea"/>
                <a:sym typeface="+mn-ea"/>
              </a:rPr>
              <a:t>默认值是</a:t>
            </a:r>
            <a:r>
              <a:rPr lang="en-US" altLang="zh-CN" kern="100" dirty="0">
                <a:solidFill>
                  <a:srgbClr val="000000"/>
                </a:solidFill>
                <a:latin typeface="+mn-ea"/>
                <a:sym typeface="+mn-ea"/>
              </a:rPr>
              <a:t>None</a:t>
            </a:r>
            <a:endParaRPr lang="en-US" altLang="zh-CN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/>
      <p:bldP spid="6" grpId="0" bldLvl="0" animBg="1"/>
      <p:bldP spid="12" grpId="0"/>
      <p:bldP spid="14" grpId="0" bldLvl="0" animBg="1"/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6591935" cy="453457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latin typeface="+mn-ea"/>
                <a:sym typeface="+mn-ea"/>
              </a:rPr>
              <a:t>= </a:t>
            </a:r>
            <a:r>
              <a:rPr lang="zh-CN" altLang="en-US" sz="2000" b="1" dirty="0"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sym typeface="+mn-ea"/>
              </a:rPr>
              <a:t>[key]</a:t>
            </a:r>
            <a:endParaRPr lang="en-US" altLang="zh-CN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85167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404430"/>
            <a:ext cx="6951976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h = 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books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'Helen'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]</a:t>
            </a:r>
            <a:endParaRPr lang="en-US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print(h)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获取字典的值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0350" y="3643284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4310228"/>
            <a:ext cx="4438191" cy="70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6591935" cy="453457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latin typeface="+mn-ea"/>
                <a:sym typeface="+mn-ea"/>
              </a:rPr>
              <a:t>= </a:t>
            </a:r>
            <a:r>
              <a:rPr lang="zh-CN" altLang="en-US" sz="2000" b="1" dirty="0"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sym typeface="+mn-ea"/>
              </a:rPr>
              <a:t>.get(key)</a:t>
            </a:r>
            <a:endParaRPr lang="en-US" altLang="zh-CN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85167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404430"/>
            <a:ext cx="6951976" cy="129266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h = 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books.get( 'Helen')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print(h)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获取字典的值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0350" y="372831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4310228"/>
            <a:ext cx="4438191" cy="70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75606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zh-CN" sz="2000" b="1" dirty="0"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latin typeface="+mn-ea"/>
                <a:sym typeface="+mn-ea"/>
              </a:rPr>
              <a:t>= </a:t>
            </a:r>
            <a:r>
              <a:rPr lang="zh-CN" altLang="en-US" sz="2000" b="1" dirty="0"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sym typeface="+mn-ea"/>
              </a:rPr>
              <a:t>.get(key, default)   # default</a:t>
            </a:r>
            <a:r>
              <a:rPr lang="zh-CN" altLang="en-US" sz="2000" b="1" dirty="0">
                <a:latin typeface="+mn-ea"/>
                <a:sym typeface="+mn-ea"/>
              </a:rPr>
              <a:t>为默认值</a:t>
            </a:r>
            <a:endParaRPr lang="zh-CN" altLang="en-US" sz="2000" b="1" dirty="0"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85167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404430"/>
            <a:ext cx="6951976" cy="129266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h = 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books.get('Ken','110')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print(h)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获取字典的值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0350" y="372831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87" y="4227934"/>
            <a:ext cx="4364961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字典特征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1243330" y="1574165"/>
            <a:ext cx="5998210" cy="712375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2000" dirty="0">
                <a:latin typeface="+mn-ea"/>
                <a:ea typeface="+mn-ea"/>
              </a:rPr>
              <a:t>字典依靠键（</a:t>
            </a:r>
            <a:r>
              <a:rPr lang="en-US" altLang="zh-CN" sz="2000" dirty="0">
                <a:latin typeface="+mn-ea"/>
                <a:ea typeface="+mn-ea"/>
              </a:rPr>
              <a:t>key</a:t>
            </a:r>
            <a:r>
              <a:rPr lang="zh-CN" altLang="en-US" sz="2000" dirty="0">
                <a:latin typeface="+mn-ea"/>
                <a:ea typeface="+mn-ea"/>
              </a:rPr>
              <a:t>）获取值（</a:t>
            </a:r>
            <a:r>
              <a:rPr lang="en-US" altLang="zh-CN" sz="2000" dirty="0">
                <a:latin typeface="+mn-ea"/>
                <a:ea typeface="+mn-ea"/>
              </a:rPr>
              <a:t>value</a:t>
            </a:r>
            <a:r>
              <a:rPr lang="zh-CN" altLang="en-US" sz="2000" dirty="0">
                <a:latin typeface="+mn-ea"/>
                <a:ea typeface="+mn-ea"/>
              </a:rPr>
              <a:t>），不可依靠下标获取数据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</p:txBody>
      </p:sp>
      <p:sp>
        <p:nvSpPr>
          <p:cNvPr id="2" name="爆炸形 2 1"/>
          <p:cNvSpPr/>
          <p:nvPr/>
        </p:nvSpPr>
        <p:spPr>
          <a:xfrm>
            <a:off x="2739390" y="2642235"/>
            <a:ext cx="2663825" cy="1368425"/>
          </a:xfrm>
          <a:prstGeom prst="irregularSeal2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无序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字典特征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爆炸形 2 1"/>
          <p:cNvSpPr/>
          <p:nvPr/>
        </p:nvSpPr>
        <p:spPr>
          <a:xfrm>
            <a:off x="2739390" y="2642235"/>
            <a:ext cx="2663825" cy="1368425"/>
          </a:xfrm>
          <a:prstGeom prst="irregularSeal2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可变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243330" y="1574165"/>
            <a:ext cx="5998210" cy="40011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字典不仅可以取出数据，也可以增删改数据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9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字典特征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1243330" y="1574165"/>
            <a:ext cx="5998210" cy="40195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2000">
                <a:latin typeface="+mn-ea"/>
                <a:ea typeface="+mn-ea"/>
                <a:sym typeface="+mn-ea"/>
              </a:rPr>
              <a:t>字典存储的数据类型也是可以不同的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</p:txBody>
      </p:sp>
      <p:sp>
        <p:nvSpPr>
          <p:cNvPr id="2" name="爆炸形 2 1"/>
          <p:cNvSpPr/>
          <p:nvPr/>
        </p:nvSpPr>
        <p:spPr>
          <a:xfrm>
            <a:off x="2739390" y="2642235"/>
            <a:ext cx="2663825" cy="1368425"/>
          </a:xfrm>
          <a:prstGeom prst="irregularSeal2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异构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字典特征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AutoShape 15"/>
          <p:cNvSpPr>
            <a:spLocks noChangeArrowheads="1"/>
          </p:cNvSpPr>
          <p:nvPr/>
        </p:nvSpPr>
        <p:spPr bwMode="auto">
          <a:xfrm>
            <a:off x="1243330" y="1574165"/>
            <a:ext cx="5998210" cy="401950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0" indent="0" algn="l">
              <a:buFont typeface="+mj-lt"/>
              <a:buNone/>
            </a:pPr>
            <a:r>
              <a:rPr lang="zh-CN" altLang="en-US" sz="2000">
                <a:latin typeface="+mn-ea"/>
                <a:ea typeface="+mn-ea"/>
                <a:sym typeface="+mn-ea"/>
              </a:rPr>
              <a:t>字典存储</a:t>
            </a:r>
            <a:r>
              <a:rPr lang="en-US" altLang="zh-CN" sz="2000" dirty="0">
                <a:latin typeface="+mn-ea"/>
                <a:ea typeface="+mn-ea"/>
                <a:sym typeface="+mn-ea"/>
              </a:rPr>
              <a:t>value</a:t>
            </a:r>
            <a:r>
              <a:rPr lang="zh-CN" altLang="en-US" sz="2000">
                <a:latin typeface="+mn-ea"/>
                <a:ea typeface="+mn-ea"/>
                <a:sym typeface="+mn-ea"/>
              </a:rPr>
              <a:t>值也可以是字典</a:t>
            </a:r>
            <a:endParaRPr lang="zh-CN" altLang="en-US" sz="2000">
              <a:latin typeface="+mn-ea"/>
              <a:ea typeface="+mn-ea"/>
              <a:sym typeface="+mn-ea"/>
            </a:endParaRPr>
          </a:p>
        </p:txBody>
      </p:sp>
      <p:sp>
        <p:nvSpPr>
          <p:cNvPr id="2" name="爆炸形 2 1"/>
          <p:cNvSpPr/>
          <p:nvPr/>
        </p:nvSpPr>
        <p:spPr>
          <a:xfrm>
            <a:off x="2739390" y="2642235"/>
            <a:ext cx="2955925" cy="1368425"/>
          </a:xfrm>
          <a:prstGeom prst="irregularSeal2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ea typeface="+mn-ea"/>
              </a:rPr>
              <a:t>可嵌套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5465" y="931545"/>
            <a:ext cx="21024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用字典创建以下数据</a:t>
            </a:r>
            <a:endParaRPr lang="zh-CN" altLang="en-US"/>
          </a:p>
          <a:p>
            <a:pPr algn="l"/>
            <a:r>
              <a:rPr lang="zh-CN" altLang="en-US"/>
              <a:t>以自己的名称，年龄，性别，爱好做为字典的健</a:t>
            </a:r>
            <a:endParaRPr lang="zh-CN" altLang="en-US"/>
          </a:p>
          <a:p>
            <a:pPr algn="l"/>
            <a:r>
              <a:rPr lang="zh-CN" altLang="en-US"/>
              <a:t>对应的值做为字典的值</a:t>
            </a:r>
            <a:endParaRPr lang="zh-CN" altLang="en-US"/>
          </a:p>
          <a:p>
            <a:pPr algn="l"/>
            <a:r>
              <a:rPr lang="zh-CN" altLang="en-US"/>
              <a:t>将自己的信息，格式化输出出来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38755" y="620395"/>
            <a:ext cx="59486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参考代码</a:t>
            </a:r>
            <a:endParaRPr lang="zh-CN" altLang="en-US"/>
          </a:p>
          <a:p>
            <a:pPr algn="l"/>
            <a:r>
              <a:rPr lang="zh-CN" altLang="en-US"/>
              <a:t>my_info = {</a:t>
            </a:r>
            <a:endParaRPr lang="zh-CN" altLang="en-US"/>
          </a:p>
          <a:p>
            <a:pPr algn="l"/>
            <a:r>
              <a:rPr lang="zh-CN" altLang="en-US"/>
              <a:t>    'name': 'wenjie',</a:t>
            </a:r>
            <a:endParaRPr lang="zh-CN" altLang="en-US"/>
          </a:p>
          <a:p>
            <a:pPr algn="l"/>
            <a:r>
              <a:rPr lang="zh-CN" altLang="en-US"/>
              <a:t>    'age': 18,</a:t>
            </a:r>
            <a:endParaRPr lang="zh-CN" altLang="en-US"/>
          </a:p>
          <a:p>
            <a:pPr algn="l"/>
            <a:r>
              <a:rPr lang="zh-CN" altLang="en-US"/>
              <a:t>    'sex': '不清楚',</a:t>
            </a:r>
            <a:endParaRPr lang="zh-CN" altLang="en-US"/>
          </a:p>
          <a:p>
            <a:pPr algn="l"/>
            <a:r>
              <a:rPr lang="zh-CN" altLang="en-US"/>
              <a:t>    'hobby': ['抽烟', '喝酒', '烫头']</a:t>
            </a:r>
            <a:endParaRPr lang="zh-CN" altLang="en-US"/>
          </a:p>
          <a:p>
            <a:pPr algn="l"/>
            <a:r>
              <a:rPr lang="zh-CN" altLang="en-US"/>
              <a:t>}</a:t>
            </a:r>
            <a:endParaRPr lang="zh-CN" altLang="en-US"/>
          </a:p>
          <a:p>
            <a:pPr algn="l"/>
            <a:r>
              <a:rPr lang="zh-CN" altLang="en-US"/>
              <a:t>print(f"我的姓名是:{my_info['name']},"</a:t>
            </a:r>
            <a:endParaRPr lang="zh-CN" altLang="en-US"/>
          </a:p>
          <a:p>
            <a:pPr algn="l"/>
            <a:r>
              <a:rPr lang="zh-CN" altLang="en-US"/>
              <a:t>      f"我的年龄是{my_info.get('age')},"</a:t>
            </a:r>
            <a:endParaRPr lang="zh-CN" altLang="en-US"/>
          </a:p>
          <a:p>
            <a:pPr algn="l"/>
            <a:r>
              <a:rPr lang="zh-CN" altLang="en-US"/>
              <a:t>      f"我的性别是{my_info.get('sex', '不知道对不对')},"</a:t>
            </a:r>
            <a:endParaRPr lang="zh-CN" altLang="en-US"/>
          </a:p>
          <a:p>
            <a:pPr algn="l"/>
            <a:r>
              <a:rPr lang="zh-CN" altLang="en-US"/>
              <a:t>      f"我的爱好有{','.join(my_info.get('hobby'))}")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758565"/>
            <a:ext cx="9102090" cy="10414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第二课时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嵌套字典及字典的删除</a:t>
            </a:r>
            <a:endParaRPr lang="zh-CN" altLang="en-US" dirty="0"/>
          </a:p>
        </p:txBody>
      </p:sp>
    </p:spTree>
  </p:cSld>
  <p:clrMapOvr>
    <a:masterClrMapping/>
  </p:clrMapOvr>
  <p:transition spd="slow" advTm="964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755576" y="1598603"/>
            <a:ext cx="6621780" cy="129266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2000" dirty="0">
                <a:solidFill>
                  <a:srgbClr val="09131F"/>
                </a:solidFill>
              </a:rPr>
              <a:t>books = {'Ben': '13800897658', 'Helen': '13100349319'}</a:t>
            </a:r>
            <a:endParaRPr lang="en-US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sz="2000" dirty="0">
                <a:solidFill>
                  <a:srgbClr val="09131F"/>
                </a:solidFill>
              </a:rPr>
              <a:t>grades = {</a:t>
            </a:r>
            <a:r>
              <a:rPr lang="en-US" sz="2000" dirty="0">
                <a:solidFill>
                  <a:srgbClr val="09131F"/>
                </a:solidFill>
                <a:sym typeface="+mn-ea"/>
              </a:rPr>
              <a:t>‘</a:t>
            </a:r>
            <a:r>
              <a:rPr lang="zh-CN" altLang="en-US" sz="2000" dirty="0">
                <a:solidFill>
                  <a:srgbClr val="09131F"/>
                </a:solidFill>
                <a:sym typeface="+mn-ea"/>
              </a:rPr>
              <a:t>智能</a:t>
            </a:r>
            <a:r>
              <a:rPr lang="en-US" altLang="zh-CN" sz="2000" dirty="0">
                <a:solidFill>
                  <a:srgbClr val="09131F"/>
                </a:solidFill>
                <a:sym typeface="+mn-ea"/>
              </a:rPr>
              <a:t>01</a:t>
            </a:r>
            <a:r>
              <a:rPr lang="zh-CN" altLang="en-US" sz="2000" dirty="0">
                <a:solidFill>
                  <a:srgbClr val="09131F"/>
                </a:solidFill>
                <a:sym typeface="+mn-ea"/>
              </a:rPr>
              <a:t>班</a:t>
            </a:r>
            <a:r>
              <a:rPr lang="en-US" sz="2000" dirty="0">
                <a:solidFill>
                  <a:srgbClr val="09131F"/>
                </a:solidFill>
                <a:sym typeface="+mn-ea"/>
              </a:rPr>
              <a:t>': books</a:t>
            </a:r>
            <a:r>
              <a:rPr lang="en-US" sz="2000" dirty="0">
                <a:solidFill>
                  <a:srgbClr val="09131F"/>
                </a:solidFill>
              </a:rPr>
              <a:t>}</a:t>
            </a:r>
            <a:endParaRPr lang="en-US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print(grades)</a:t>
            </a:r>
            <a:endParaRPr lang="en-US" altLang="zh-CN" sz="2000" dirty="0">
              <a:solidFill>
                <a:srgbClr val="09131F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2675" y="3242310"/>
            <a:ext cx="1695450" cy="1543050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9884" y="1155221"/>
            <a:ext cx="135982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</a:rPr>
              <a:t>代码举例</a:t>
            </a:r>
            <a:endParaRPr lang="zh-CN" altLang="en-US" sz="2000" b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41474" y="3003798"/>
            <a:ext cx="148225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</a:rPr>
              <a:t>输出结果</a:t>
            </a:r>
            <a:endParaRPr lang="zh-CN" altLang="en-US" sz="2000" b="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51520" y="731480"/>
            <a:ext cx="2736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嵌套字典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4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6176" y="3290250"/>
            <a:ext cx="2324100" cy="155257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5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 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1835696" y="1635646"/>
          <a:ext cx="374441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110"/>
                <a:gridCol w="1916306"/>
              </a:tblGrid>
              <a:tr h="422275"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rgbClr val="FF0000"/>
                          </a:solidFill>
                        </a:rPr>
                        <a:t>列表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</a:rPr>
                        <a:t>的删除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字典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的删除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CC99"/>
                    </a:solidFill>
                  </a:tcPr>
                </a:tc>
              </a:tr>
              <a:tr h="1665957">
                <a:tc>
                  <a:txBody>
                    <a:bodyPr/>
                    <a:lstStyle/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  <a:sym typeface="+mn-ea"/>
                        </a:rPr>
                        <a:t>pop </a:t>
                      </a:r>
                      <a:endParaRPr lang="en-US" altLang="zh-CN" sz="2400" b="0" dirty="0">
                        <a:latin typeface="+mn-ea"/>
                        <a:ea typeface="+mn-ea"/>
                        <a:sym typeface="+mn-ea"/>
                      </a:endParaRPr>
                    </a:p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  <a:sym typeface="+mn-ea"/>
                        </a:rPr>
                        <a:t>clear   </a:t>
                      </a:r>
                      <a:endParaRPr lang="en-US" altLang="zh-CN" sz="2400" b="0" dirty="0">
                        <a:latin typeface="+mn-ea"/>
                        <a:ea typeface="+mn-ea"/>
                        <a:sym typeface="+mn-ea"/>
                      </a:endParaRPr>
                    </a:p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  <a:sym typeface="+mn-ea"/>
                        </a:rPr>
                        <a:t>del</a:t>
                      </a:r>
                      <a:endParaRPr lang="en-US" altLang="zh-CN" sz="2400" b="0" dirty="0">
                        <a:latin typeface="+mn-ea"/>
                        <a:ea typeface="+mn-ea"/>
                        <a:sym typeface="+mn-ea"/>
                      </a:endParaRPr>
                    </a:p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  <a:sym typeface="+mn-ea"/>
                        </a:rPr>
                        <a:t>remove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</a:rPr>
                        <a:t>pop </a:t>
                      </a:r>
                      <a:endParaRPr lang="en-US" altLang="zh-CN" sz="24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</a:rPr>
                        <a:t>clear  </a:t>
                      </a:r>
                      <a:endParaRPr lang="en-US" altLang="zh-CN" sz="24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latin typeface="+mn-ea"/>
                          <a:ea typeface="+mn-ea"/>
                        </a:rPr>
                        <a:t>del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  <a:p>
                      <a:endParaRPr lang="en-US" sz="2400" b="1" dirty="0"/>
                    </a:p>
                  </a:txBody>
                  <a:tcPr>
                    <a:solidFill>
                      <a:srgbClr val="E2F5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203598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.pop(key)  </a:t>
            </a:r>
            <a:endParaRPr lang="zh-CN" altLang="en-US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851670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404430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 = books.pop('Helen')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-pop 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0350" y="3728310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4310228"/>
            <a:ext cx="4438191" cy="70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.pop(key)  </a:t>
            </a:r>
            <a:endParaRPr lang="zh-CN" altLang="en-US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 = books.pop('Kelen')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-pop 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3867894"/>
            <a:ext cx="5130806" cy="1189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.pop(key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，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default) </a:t>
            </a:r>
            <a:endParaRPr lang="zh-CN" altLang="en-US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 = books.pop('Kelen'</a:t>
            </a:r>
            <a:r>
              <a:rPr lang="zh-CN" altLang="en-US" sz="2000" dirty="0">
                <a:solidFill>
                  <a:srgbClr val="09131F"/>
                </a:solidFill>
                <a:latin typeface="+mn-ea"/>
                <a:sym typeface="+mn-ea"/>
              </a:rPr>
              <a:t>，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'110')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-pop 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435846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36" y="3912301"/>
            <a:ext cx="4654252" cy="1103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.clear()  </a:t>
            </a:r>
            <a:endParaRPr lang="zh-CN" altLang="en-US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books.clear()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print(books)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-clear 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16" y="3924658"/>
            <a:ext cx="4287032" cy="1023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en-US" altLang="zh-CN" sz="2000" b="1" dirty="0">
                <a:latin typeface="+mn-ea"/>
                <a:sym typeface="+mn-ea"/>
              </a:rPr>
              <a:t>del  </a:t>
            </a:r>
            <a:r>
              <a:rPr lang="zh-CN" altLang="en-US" sz="2000" b="1" dirty="0"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sym typeface="+mn-ea"/>
              </a:rPr>
              <a:t>[key]    </a:t>
            </a:r>
            <a:endParaRPr lang="en-US" altLang="zh-CN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del  books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'Helen'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+mn-ea"/>
              </a:rPr>
              <a:t>]</a:t>
            </a:r>
            <a:endParaRPr lang="en-US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print(books)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-del: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7" y="3932234"/>
            <a:ext cx="5052169" cy="101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en-US" altLang="zh-CN" sz="2000" b="1" dirty="0">
                <a:latin typeface="+mn-ea"/>
                <a:sym typeface="+mn-ea"/>
              </a:rPr>
              <a:t>del  </a:t>
            </a:r>
            <a:r>
              <a:rPr lang="zh-CN" altLang="en-US" sz="2000" b="1" dirty="0"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sym typeface="+mn-ea"/>
              </a:rPr>
              <a:t>   </a:t>
            </a:r>
            <a:endParaRPr lang="en-US" altLang="zh-CN" sz="2000" b="1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books = {'Ben': '13800897658', 'Helen': '13100349319'}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del  books</a:t>
            </a:r>
            <a:endParaRPr lang="en-US" altLang="zh-CN" sz="2000" kern="1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sym typeface="+mn-ea"/>
              </a:rPr>
              <a:t>print(books)</a:t>
            </a:r>
            <a:endParaRPr lang="en-US" altLang="zh-CN" sz="2000" kern="100" dirty="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字典的删除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-del: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34" y="3863462"/>
            <a:ext cx="4683834" cy="1084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3695" y="777875"/>
            <a:ext cx="108077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1000"/>
              </a:spcBef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975360" y="1426845"/>
          <a:ext cx="7311390" cy="275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130"/>
                <a:gridCol w="4874260"/>
              </a:tblGrid>
              <a:tr h="928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pop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dirty="0">
                          <a:latin typeface="+mn-ea"/>
                          <a:ea typeface="+mn-ea"/>
                        </a:rPr>
                        <a:t>删除指定数据，且返回删除key对应的value,如果字典内没有指定的key对应的值，返回设定值，如果没有设定值就会报错 </a:t>
                      </a:r>
                      <a:endParaRPr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clear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+mn-ea"/>
                          <a:ea typeface="+mn-ea"/>
                        </a:rPr>
                        <a:t>删除字典内所有数据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latin typeface="+mn-ea"/>
                          <a:ea typeface="+mn-ea"/>
                        </a:rPr>
                        <a:t>del</a:t>
                      </a:r>
                      <a:endParaRPr lang="en-US" altLang="zh-CN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latin typeface="+mn-ea"/>
                          <a:ea typeface="+mn-ea"/>
                        </a:rPr>
                        <a:t>删除指定数据，或者删除整个字典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pop,clear,del 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比较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/>
              <a:t>课堂练习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215" y="843280"/>
            <a:ext cx="8352790" cy="3898900"/>
          </a:xfrm>
        </p:spPr>
        <p:txBody>
          <a:bodyPr/>
          <a:lstStyle/>
          <a:p>
            <a:r>
              <a:rPr lang="zh-CN" altLang="en-US" dirty="0"/>
              <a:t>下列字典方法的说法正确的是 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pop</a:t>
            </a:r>
            <a:r>
              <a:rPr lang="zh-CN" altLang="en-US" dirty="0">
                <a:sym typeface="+mn-ea"/>
              </a:rPr>
              <a:t>可以删除多个数据</a:t>
            </a:r>
            <a:r>
              <a:rPr lang="en-US" altLang="zh-CN" dirty="0"/>
              <a:t>                    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clear</a:t>
            </a:r>
            <a:r>
              <a:rPr lang="zh-CN" altLang="en-US" dirty="0">
                <a:sym typeface="+mn-ea"/>
              </a:rPr>
              <a:t>方法可以清空字典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pop</a:t>
            </a:r>
            <a:r>
              <a:rPr lang="zh-CN" altLang="en-US" dirty="0">
                <a:sym typeface="+mn-ea"/>
              </a:rPr>
              <a:t>可以返回删除后的数据</a:t>
            </a:r>
            <a:r>
              <a:rPr lang="en-US" altLang="zh-CN" dirty="0"/>
              <a:t>             D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del</a:t>
            </a:r>
            <a:r>
              <a:rPr lang="zh-CN" altLang="en-US" dirty="0">
                <a:sym typeface="+mn-ea"/>
              </a:rPr>
              <a:t>可以删除一条由</a:t>
            </a:r>
            <a:r>
              <a:rPr lang="en-US" altLang="zh-CN" dirty="0">
                <a:sym typeface="+mn-ea"/>
              </a:rPr>
              <a:t>key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value</a:t>
            </a:r>
            <a:r>
              <a:rPr lang="zh-CN" altLang="en-US" dirty="0">
                <a:sym typeface="+mn-ea"/>
              </a:rPr>
              <a:t>组成的数据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下列字典的写法错误的是 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a = dict(1</a:t>
            </a:r>
            <a:r>
              <a:rPr lang="zh-CN" altLang="en-US" dirty="0"/>
              <a:t>，</a:t>
            </a:r>
            <a:r>
              <a:rPr lang="en-US" altLang="zh-CN" dirty="0"/>
              <a:t>2)                                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b = dict(zip([1,2], [7,8]))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ds = {}                                            </a:t>
            </a:r>
            <a:r>
              <a:rPr lang="en-US" altLang="zh-CN" dirty="0"/>
              <a:t>D</a:t>
            </a:r>
            <a:r>
              <a:rPr lang="zh-CN" altLang="en-US" dirty="0">
                <a:sym typeface="+mn-ea"/>
              </a:rPr>
              <a:t>、 </a:t>
            </a:r>
            <a:r>
              <a:rPr lang="en-US" altLang="zh-CN" dirty="0">
                <a:sym typeface="+mn-ea"/>
              </a:rPr>
              <a:t>n = {1:1,2:2}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sz="1600" dirty="0"/>
              <a:t>          </a:t>
            </a:r>
            <a:endParaRPr lang="en-US" altLang="zh-CN" sz="16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914629" y="1082258"/>
            <a:ext cx="437721" cy="530536"/>
            <a:chOff x="4286392" y="3961433"/>
            <a:chExt cx="437721" cy="530536"/>
          </a:xfrm>
        </p:grpSpPr>
        <p:sp>
          <p:nvSpPr>
            <p:cNvPr id="3" name="圆角矩形 2"/>
            <p:cNvSpPr/>
            <p:nvPr/>
          </p:nvSpPr>
          <p:spPr bwMode="auto">
            <a:xfrm rot="1881716">
              <a:off x="4577448" y="3961433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 bwMode="auto">
            <a:xfrm rot="7695280">
              <a:off x="4398972" y="4180371"/>
              <a:ext cx="131541" cy="356702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366249" y="1748373"/>
            <a:ext cx="437721" cy="530536"/>
            <a:chOff x="4286392" y="3961433"/>
            <a:chExt cx="437721" cy="530536"/>
          </a:xfrm>
        </p:grpSpPr>
        <p:sp>
          <p:nvSpPr>
            <p:cNvPr id="8" name="圆角矩形 7"/>
            <p:cNvSpPr/>
            <p:nvPr/>
          </p:nvSpPr>
          <p:spPr bwMode="auto">
            <a:xfrm rot="1881716">
              <a:off x="4577448" y="3961433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 rot="7695280">
              <a:off x="4398972" y="4180371"/>
              <a:ext cx="131541" cy="356702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218919" y="1814413"/>
            <a:ext cx="437721" cy="530536"/>
            <a:chOff x="4286392" y="3961433"/>
            <a:chExt cx="437721" cy="530536"/>
          </a:xfrm>
        </p:grpSpPr>
        <p:sp>
          <p:nvSpPr>
            <p:cNvPr id="14" name="圆角矩形 13"/>
            <p:cNvSpPr/>
            <p:nvPr/>
          </p:nvSpPr>
          <p:spPr bwMode="auto">
            <a:xfrm rot="1881716">
              <a:off x="4577448" y="3961433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 bwMode="auto">
            <a:xfrm rot="7695280">
              <a:off x="4398972" y="4180371"/>
              <a:ext cx="131541" cy="356702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731249" y="2736433"/>
            <a:ext cx="437721" cy="530536"/>
            <a:chOff x="4286392" y="3961433"/>
            <a:chExt cx="437721" cy="530536"/>
          </a:xfrm>
        </p:grpSpPr>
        <p:sp>
          <p:nvSpPr>
            <p:cNvPr id="17" name="圆角矩形 16"/>
            <p:cNvSpPr/>
            <p:nvPr/>
          </p:nvSpPr>
          <p:spPr bwMode="auto">
            <a:xfrm rot="1881716">
              <a:off x="4577448" y="3961433"/>
              <a:ext cx="146665" cy="53053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 bwMode="auto">
            <a:xfrm rot="7695280">
              <a:off x="4398972" y="4180371"/>
              <a:ext cx="131541" cy="356702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用多种方法创建字典，字典内容为</a:t>
            </a:r>
            <a:r>
              <a:rPr lang="en-US" altLang="zh-CN" dirty="0"/>
              <a:t>{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</a:t>
            </a:r>
            <a:r>
              <a:rPr lang="en-US" altLang="zh-CN" dirty="0"/>
              <a:t>a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':1,'</a:t>
            </a:r>
            <a:r>
              <a:rPr lang="en-US" altLang="zh-CN" dirty="0"/>
              <a:t>b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':3,'</a:t>
            </a:r>
            <a:r>
              <a:rPr lang="en-US" altLang="zh-CN" dirty="0"/>
              <a:t>c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':6}</a:t>
            </a:r>
            <a:endParaRPr lang="en-US" altLang="zh-CN" dirty="0"/>
          </a:p>
          <a:p>
            <a:r>
              <a:rPr lang="zh-CN" altLang="en-US" dirty="0"/>
              <a:t>获取值为</a:t>
            </a:r>
            <a:r>
              <a:rPr lang="en-US" altLang="zh-CN" dirty="0"/>
              <a:t>3</a:t>
            </a:r>
            <a:endParaRPr lang="en-US" altLang="zh-CN" dirty="0"/>
          </a:p>
          <a:p>
            <a:r>
              <a:rPr lang="zh-CN" altLang="en-US" dirty="0">
                <a:solidFill>
                  <a:srgbClr val="09131F"/>
                </a:solidFill>
                <a:sym typeface="+mn-ea"/>
              </a:rPr>
              <a:t>删除键值对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</a:t>
            </a:r>
            <a:r>
              <a:rPr lang="en-US" altLang="zh-CN" dirty="0">
                <a:sym typeface="+mn-ea"/>
              </a:rPr>
              <a:t>b</a:t>
            </a:r>
            <a:r>
              <a:rPr lang="en-US" dirty="0">
                <a:solidFill>
                  <a:srgbClr val="09131F"/>
                </a:solidFill>
                <a:sym typeface="+mn-ea"/>
              </a:rPr>
              <a:t>':3</a:t>
            </a:r>
            <a:endParaRPr lang="en-US" dirty="0">
              <a:solidFill>
                <a:srgbClr val="09131F"/>
              </a:solidFill>
              <a:sym typeface="+mn-ea"/>
            </a:endParaRPr>
          </a:p>
          <a:p>
            <a:r>
              <a:rPr lang="zh-CN" altLang="en-US" dirty="0">
                <a:solidFill>
                  <a:srgbClr val="09131F"/>
                </a:solidFill>
                <a:sym typeface="+mn-ea"/>
              </a:rPr>
              <a:t>清空</a:t>
            </a:r>
            <a:endParaRPr lang="zh-CN" altLang="en-US" dirty="0">
              <a:solidFill>
                <a:srgbClr val="09131F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rgbClr val="09131F"/>
              </a:solidFill>
              <a:sym typeface="+mn-ea"/>
            </a:endParaRPr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2892956" y="39231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457200" ea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</a:rPr>
              <a:t>完成时间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821363" y="142558"/>
            <a:ext cx="3143250" cy="368300"/>
          </a:xfrm>
        </p:spPr>
        <p:txBody>
          <a:bodyPr/>
          <a:lstStyle/>
          <a:p>
            <a:pPr algn="r">
              <a:defRPr/>
            </a:pPr>
            <a:r>
              <a:rPr lang="zh-CN" sz="2000" b="0" dirty="0" err="1">
                <a:solidFill>
                  <a:srgbClr val="0070C0"/>
                </a:solidFill>
                <a:latin typeface="+mj-ea"/>
              </a:rPr>
              <a:t>课堂小结</a:t>
            </a:r>
            <a:endParaRPr sz="2000" b="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25604" name="内容占位符 2"/>
          <p:cNvSpPr>
            <a:spLocks noGrp="1"/>
          </p:cNvSpPr>
          <p:nvPr>
            <p:ph idx="1"/>
          </p:nvPr>
        </p:nvSpPr>
        <p:spPr>
          <a:xfrm>
            <a:off x="784225" y="910829"/>
            <a:ext cx="7645400" cy="2308993"/>
          </a:xfrm>
        </p:spPr>
        <p:txBody>
          <a:bodyPr/>
          <a:lstStyle/>
          <a:p>
            <a:pPr>
              <a:defRPr/>
            </a:pPr>
            <a:endParaRPr lang="en-US" altLang="zh-CN" sz="2000" b="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</a:rPr>
              <a:t>什么是字典</a:t>
            </a:r>
            <a:endParaRPr lang="en-US" altLang="zh-CN" sz="2000" b="0" dirty="0">
              <a:latin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</a:rPr>
              <a:t>字典的特征</a:t>
            </a:r>
            <a:endParaRPr lang="en-US" altLang="zh-CN" sz="2000" b="0" dirty="0">
              <a:latin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  <a:ea typeface="+mj-ea"/>
              </a:rPr>
              <a:t>字典的删除方法以及它们之间的区别</a:t>
            </a:r>
            <a:endParaRPr lang="en-US" altLang="zh-CN" sz="2000" b="0" dirty="0">
              <a:latin typeface="+mj-ea"/>
              <a:ea typeface="+mj-ea"/>
            </a:endParaRP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第三课时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字典的修改以及遍历</a:t>
            </a:r>
            <a:endParaRPr lang="zh-CN" altLang="en-US" dirty="0"/>
          </a:p>
        </p:txBody>
      </p:sp>
    </p:spTree>
  </p:cSld>
  <p:clrMapOvr>
    <a:masterClrMapping/>
  </p:clrMapOvr>
  <p:transition spd="slow" advTm="964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821363" y="142558"/>
            <a:ext cx="3143250" cy="368300"/>
          </a:xfrm>
        </p:spPr>
        <p:txBody>
          <a:bodyPr/>
          <a:lstStyle/>
          <a:p>
            <a:pPr algn="r">
              <a:defRPr/>
            </a:pPr>
            <a:r>
              <a:rPr lang="zh-CN" altLang="en-US" sz="2000" b="0" dirty="0">
                <a:solidFill>
                  <a:srgbClr val="0070C0"/>
                </a:solidFill>
                <a:latin typeface="+mj-ea"/>
              </a:rPr>
              <a:t>知识</a:t>
            </a:r>
            <a:r>
              <a:rPr lang="zh-CN" sz="2000" b="0" dirty="0">
                <a:solidFill>
                  <a:srgbClr val="0070C0"/>
                </a:solidFill>
                <a:latin typeface="+mj-ea"/>
              </a:rPr>
              <a:t>回顾</a:t>
            </a:r>
            <a:endParaRPr lang="zh-CN" sz="2000" b="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784225" y="910829"/>
            <a:ext cx="7645400" cy="2308993"/>
          </a:xfrm>
        </p:spPr>
        <p:txBody>
          <a:bodyPr/>
          <a:lstStyle/>
          <a:p>
            <a:pPr>
              <a:defRPr/>
            </a:pPr>
            <a:endParaRPr lang="en-US" altLang="zh-CN" sz="2000" b="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</a:rPr>
              <a:t>什么是字典</a:t>
            </a:r>
            <a:endParaRPr lang="en-US" altLang="zh-CN" sz="2000" b="0" dirty="0">
              <a:latin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</a:rPr>
              <a:t>字典的特征</a:t>
            </a:r>
            <a:endParaRPr lang="en-US" altLang="zh-CN" sz="2000" b="0" dirty="0">
              <a:latin typeface="+mj-ea"/>
            </a:endParaRPr>
          </a:p>
          <a:p>
            <a:pPr>
              <a:defRPr/>
            </a:pPr>
            <a:r>
              <a:rPr lang="zh-CN" altLang="en-US" sz="2000" b="0" dirty="0">
                <a:latin typeface="+mj-ea"/>
                <a:ea typeface="+mj-ea"/>
              </a:rPr>
              <a:t>字典的删除方法以及它们之间的区别</a:t>
            </a:r>
            <a:endParaRPr lang="en-US" altLang="zh-CN" sz="2000" b="0" dirty="0">
              <a:latin typeface="+mj-ea"/>
              <a:ea typeface="+mj-ea"/>
            </a:endParaRP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[key] = 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值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   </a:t>
            </a:r>
            <a:endParaRPr lang="en-US" altLang="zh-CN" sz="2000" b="1" dirty="0">
              <a:solidFill>
                <a:srgbClr val="09131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</a:rPr>
              <a:t>books = {'Ben': '13800897658', 'Alien': '13710976543'  }</a:t>
            </a:r>
            <a:endParaRPr lang="en-US" altLang="zh-CN" sz="2000" dirty="0">
              <a:solidFill>
                <a:srgbClr val="09131F"/>
              </a:solidFill>
              <a:latin typeface="+mn-ea"/>
              <a:ea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  <a:sym typeface="+mn-ea"/>
              </a:rPr>
              <a:t>books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  <a:sym typeface="+mn-ea"/>
              </a:rPr>
              <a:t>'Helen'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] =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ea typeface="+mn-ea"/>
                <a:sym typeface="+mn-ea"/>
              </a:rPr>
              <a:t>'13813145210'</a:t>
            </a: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print(books)</a:t>
            </a:r>
            <a:endParaRPr lang="en-US" altLang="zh-CN" sz="2000" kern="100" dirty="0">
              <a:solidFill>
                <a:srgbClr val="00000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字典的添加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8" y="3865006"/>
            <a:ext cx="6879968" cy="722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字典名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[key] = 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新值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   </a:t>
            </a:r>
            <a:endParaRPr lang="en-US" altLang="zh-CN" sz="2000" b="1" dirty="0">
              <a:solidFill>
                <a:srgbClr val="09131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6879968" cy="1107996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books = {'Ben': '13800897658', 'Alien': '13710976543'  }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dirty="0">
                <a:solidFill>
                  <a:srgbClr val="09131F"/>
                </a:solidFill>
                <a:sym typeface="+mn-ea"/>
              </a:rPr>
              <a:t>books</a:t>
            </a:r>
            <a:r>
              <a:rPr lang="en-US" altLang="zh-CN" sz="2000" kern="100" dirty="0">
                <a:solidFill>
                  <a:srgbClr val="00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2000" dirty="0">
                <a:solidFill>
                  <a:srgbClr val="09131F"/>
                </a:solidFill>
                <a:sym typeface="+mn-ea"/>
              </a:rPr>
              <a:t>‘Ben'</a:t>
            </a:r>
            <a:r>
              <a:rPr lang="en-US" altLang="zh-CN" sz="2000" kern="100" dirty="0">
                <a:solidFill>
                  <a:srgbClr val="00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 =</a:t>
            </a:r>
            <a:r>
              <a:rPr lang="en-US" altLang="zh-CN" sz="2000" dirty="0">
                <a:solidFill>
                  <a:srgbClr val="09131F"/>
                </a:solidFill>
                <a:sym typeface="+mn-ea"/>
              </a:rPr>
              <a:t>'13813145210'</a:t>
            </a:r>
            <a:r>
              <a:rPr lang="en-US" altLang="zh-CN" sz="2000" kern="100" dirty="0">
                <a:solidFill>
                  <a:srgbClr val="000000"/>
                </a:solidFill>
                <a:latin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000" kern="100" dirty="0">
              <a:solidFill>
                <a:srgbClr val="000000"/>
              </a:solidFill>
              <a:latin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buFont typeface="+mj-lt"/>
              <a:buNone/>
            </a:pPr>
            <a:r>
              <a:rPr lang="en-US" altLang="zh-CN" sz="2000" kern="100" dirty="0">
                <a:solidFill>
                  <a:srgbClr val="000000"/>
                </a:solidFill>
                <a:latin typeface="微软雅黑" panose="020B0503020204020204" pitchFamily="34" charset="-122"/>
                <a:sym typeface="+mn-ea"/>
              </a:rPr>
              <a:t>print(books)</a:t>
            </a:r>
            <a:endParaRPr lang="en-US" altLang="zh-CN" sz="2000" kern="100" dirty="0">
              <a:solidFill>
                <a:srgbClr val="000000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字典的修改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308" y="336383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7" y="3863462"/>
            <a:ext cx="6879969" cy="652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758531" y="1621247"/>
            <a:ext cx="6621780" cy="117262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dirty="0">
                <a:solidFill>
                  <a:srgbClr val="09131F"/>
                </a:solidFill>
                <a:latin typeface="+mn-ea"/>
                <a:ea typeface="+mn-ea"/>
              </a:rPr>
              <a:t>books = {'Ben': '13800897658', </a:t>
            </a:r>
            <a:endParaRPr lang="en-US" dirty="0">
              <a:solidFill>
                <a:srgbClr val="09131F"/>
              </a:solidFill>
              <a:latin typeface="+mn-ea"/>
              <a:ea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dirty="0">
                <a:solidFill>
                  <a:srgbClr val="09131F"/>
                </a:solidFill>
                <a:latin typeface="+mn-ea"/>
                <a:ea typeface="+mn-ea"/>
              </a:rPr>
              <a:t>                'Alien': '13710976543', </a:t>
            </a:r>
            <a:endParaRPr lang="en-US" dirty="0">
              <a:solidFill>
                <a:srgbClr val="09131F"/>
              </a:solidFill>
              <a:latin typeface="+mn-ea"/>
              <a:ea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dirty="0">
                <a:solidFill>
                  <a:srgbClr val="09131F"/>
                </a:solidFill>
                <a:latin typeface="+mn-ea"/>
                <a:ea typeface="+mn-ea"/>
              </a:rPr>
              <a:t>                'Helen': '13100349319'}</a:t>
            </a:r>
            <a:endParaRPr lang="en-US" dirty="0">
              <a:solidFill>
                <a:srgbClr val="09131F"/>
              </a:solidFill>
              <a:latin typeface="+mn-ea"/>
              <a:ea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2675" y="3230880"/>
            <a:ext cx="1695450" cy="1543050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9884" y="1203598"/>
            <a:ext cx="128782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18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代码举例</a:t>
            </a:r>
            <a:endParaRPr lang="zh-CN" altLang="en-US" sz="1800" b="0" dirty="0"/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758532" y="2931790"/>
            <a:ext cx="6621780" cy="117262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dirty="0">
                <a:solidFill>
                  <a:srgbClr val="09131F"/>
                </a:solidFill>
                <a:latin typeface="+mn-ea"/>
                <a:ea typeface="+mn-ea"/>
              </a:rPr>
              <a:t>快速取出字典中所有的键？</a:t>
            </a:r>
            <a:endParaRPr lang="zh-CN" altLang="en-US" dirty="0">
              <a:solidFill>
                <a:srgbClr val="09131F"/>
              </a:solidFill>
              <a:latin typeface="+mn-ea"/>
              <a:ea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dirty="0">
                <a:solidFill>
                  <a:srgbClr val="09131F"/>
                </a:solidFill>
                <a:latin typeface="+mn-ea"/>
                <a:ea typeface="+mn-ea"/>
                <a:sym typeface="+mn-ea"/>
              </a:rPr>
              <a:t>有一种操作叫遍历，可以实现</a:t>
            </a:r>
            <a:r>
              <a:rPr lang="zh-CN" altLang="en-US" dirty="0">
                <a:solidFill>
                  <a:srgbClr val="09131F"/>
                </a:solidFill>
                <a:latin typeface="+mn-ea"/>
                <a:ea typeface="+mn-ea"/>
              </a:rPr>
              <a:t>从字典的第一个数到最后一个数全部访问过来。</a:t>
            </a:r>
            <a:endParaRPr lang="zh-CN" altLang="en-US" dirty="0">
              <a:solidFill>
                <a:srgbClr val="09131F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字典的遍历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4" grpId="0"/>
      <p:bldP spid="5" grpId="0" bldLvl="0" animBg="1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.keys() </a:t>
            </a:r>
            <a:endParaRPr lang="en-US" altLang="zh-CN" sz="2000" b="1" dirty="0">
              <a:solidFill>
                <a:srgbClr val="09131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3783624" cy="169277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books = {'Ben': '13800897658', 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             'Alien': '13710976543'  }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for  k  in books.keys():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       print(k)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字典的遍历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8064" y="164007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125" y="2145804"/>
            <a:ext cx="3349594" cy="1218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 values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() </a:t>
            </a:r>
            <a:endParaRPr lang="en-US" altLang="zh-CN" sz="2000" b="1" dirty="0">
              <a:solidFill>
                <a:srgbClr val="09131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3783624" cy="169277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books = {'Ben': '13800897658', 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             'Alien': '13710976543'  }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for  v  in books.values():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       print(v)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字典的遍历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8064" y="164007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76" y="2183834"/>
            <a:ext cx="3360664" cy="125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如何使用字典</a:t>
            </a:r>
            <a:endParaRPr lang="zh-CN" altLang="en-US" dirty="0"/>
          </a:p>
        </p:txBody>
      </p:sp>
      <p:sp>
        <p:nvSpPr>
          <p:cNvPr id="4" name="AutoShape 15"/>
          <p:cNvSpPr>
            <a:spLocks noChangeArrowheads="1"/>
          </p:cNvSpPr>
          <p:nvPr/>
        </p:nvSpPr>
        <p:spPr bwMode="auto">
          <a:xfrm>
            <a:off x="572353" y="1131590"/>
            <a:ext cx="8032095" cy="492443"/>
          </a:xfrm>
          <a:prstGeom prst="roundRect">
            <a:avLst>
              <a:gd name="adj" fmla="val 1347"/>
            </a:avLst>
          </a:prstGeom>
          <a:noFill/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语法格式：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变量名 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= </a:t>
            </a:r>
            <a:r>
              <a:rPr lang="zh-CN" altLang="en-US" sz="2000" b="1" dirty="0">
                <a:solidFill>
                  <a:srgbClr val="09131F"/>
                </a:solidFill>
                <a:latin typeface="+mn-ea"/>
                <a:sym typeface="+mn-ea"/>
              </a:rPr>
              <a:t>字典名</a:t>
            </a:r>
            <a:r>
              <a:rPr lang="en-US" altLang="zh-CN" sz="2000" b="1" dirty="0">
                <a:solidFill>
                  <a:srgbClr val="09131F"/>
                </a:solidFill>
                <a:latin typeface="+mn-ea"/>
                <a:sym typeface="+mn-ea"/>
              </a:rPr>
              <a:t>.items() </a:t>
            </a:r>
            <a:endParaRPr lang="en-US" altLang="zh-CN" sz="2000" b="1" dirty="0">
              <a:solidFill>
                <a:srgbClr val="09131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2352" y="1707654"/>
            <a:ext cx="1407359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 eaLnBrk="0" hangingPunct="0"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rPr>
              <a:t>代码举例</a:t>
            </a:r>
            <a:endParaRPr lang="zh-CN" altLang="en-US" sz="2000" b="0" dirty="0">
              <a:latin typeface="+mn-ea"/>
              <a:ea typeface="+mn-ea"/>
            </a:endParaRP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716368" y="2183834"/>
            <a:ext cx="3783624" cy="1692771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books = {'Ben': '13800897658', 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</a:rPr>
              <a:t>             'Alien': '13710976543'  }</a:t>
            </a:r>
            <a:endParaRPr lang="en-US" altLang="zh-CN" sz="2000" dirty="0">
              <a:solidFill>
                <a:srgbClr val="09131F"/>
              </a:solidFill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for  </a:t>
            </a:r>
            <a:r>
              <a:rPr lang="en-US" altLang="zh-CN" sz="2000" dirty="0" err="1">
                <a:solidFill>
                  <a:srgbClr val="09131F"/>
                </a:solidFill>
                <a:latin typeface="+mn-ea"/>
                <a:sym typeface="+mn-ea"/>
              </a:rPr>
              <a:t>k,v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  in books.items():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  <a:p>
            <a:pPr algn="l" defTabSz="723900">
              <a:lnSpc>
                <a:spcPct val="130000"/>
              </a:lnSpc>
              <a:buClr>
                <a:schemeClr val="folHlink"/>
              </a:buClr>
              <a:buSzPct val="60000"/>
              <a:tabLst>
                <a:tab pos="444500" algn="l"/>
              </a:tabLst>
            </a:pP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       print(</a:t>
            </a:r>
            <a:r>
              <a:rPr lang="en-US" altLang="zh-CN" sz="2000" dirty="0" err="1">
                <a:solidFill>
                  <a:srgbClr val="09131F"/>
                </a:solidFill>
                <a:latin typeface="+mn-ea"/>
                <a:sym typeface="+mn-ea"/>
              </a:rPr>
              <a:t>k,v</a:t>
            </a:r>
            <a:r>
              <a:rPr lang="en-US" altLang="zh-CN" sz="2000" dirty="0">
                <a:solidFill>
                  <a:srgbClr val="09131F"/>
                </a:solidFill>
                <a:latin typeface="+mn-ea"/>
                <a:sym typeface="+mn-ea"/>
              </a:rPr>
              <a:t>)</a:t>
            </a:r>
            <a:endParaRPr lang="en-US" altLang="zh-CN" sz="2000" dirty="0">
              <a:solidFill>
                <a:srgbClr val="09131F"/>
              </a:solidFill>
              <a:latin typeface="+mn-ea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字典的遍历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: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8064" y="1640078"/>
            <a:ext cx="1611950" cy="49962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224155" indent="-224155" algn="l" defTabSz="381000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输出结果：</a:t>
            </a:r>
            <a:endParaRPr 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762" y="2183834"/>
            <a:ext cx="3650624" cy="103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3" grpId="0"/>
      <p:bldP spid="6" grpId="0" bldLvl="0" animBg="1"/>
      <p:bldP spid="12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808" y="1003573"/>
            <a:ext cx="8352928" cy="31375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创建一个双色球票字典，</a:t>
            </a:r>
            <a:r>
              <a:rPr lang="en-US" altLang="zh-CN" dirty="0"/>
              <a:t>key</a:t>
            </a:r>
            <a:r>
              <a:rPr lang="zh-CN" altLang="en-US" dirty="0"/>
              <a:t>为球的颜色（红色、蓝色）和注数，</a:t>
            </a:r>
            <a:r>
              <a:rPr lang="en-US" altLang="zh-CN" dirty="0"/>
              <a:t>value</a:t>
            </a:r>
            <a:r>
              <a:rPr lang="zh-CN" altLang="en-US" dirty="0"/>
              <a:t>为球的号码，手动输入不同球的号码和注数，存到字典并打印。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红球  </a:t>
            </a:r>
            <a:r>
              <a:rPr lang="en-US" altLang="zh-CN" dirty="0"/>
              <a:t>1-33   </a:t>
            </a:r>
            <a:r>
              <a:rPr lang="zh-CN" altLang="en-US" dirty="0"/>
              <a:t>排重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蓝球  </a:t>
            </a:r>
            <a:r>
              <a:rPr lang="en-US" altLang="zh-CN" dirty="0"/>
              <a:t>1-26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字典内容  </a:t>
            </a:r>
            <a:r>
              <a:rPr lang="en-US" altLang="zh-CN" dirty="0"/>
              <a:t>txt  word 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思考：重复买彩票， 可以输出已买的彩票</a:t>
            </a:r>
            <a:endParaRPr lang="zh-CN" altLang="en-US" dirty="0"/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2892956" y="39231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457200" ea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</a:rPr>
              <a:t>完成时间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20</a:t>
            </a:r>
            <a:r>
              <a:rPr lang="zh-CN" altLang="en-US" sz="1600" dirty="0">
                <a:solidFill>
                  <a:schemeClr val="bg1"/>
                </a:solidFill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字典的作用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5202" y="238708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1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899592" y="1347614"/>
            <a:ext cx="6048672" cy="193899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50800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可以对数据进行增删改查</a:t>
            </a:r>
            <a:endParaRPr lang="zh-CN" altLang="en-US" sz="2000" dirty="0"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9131F"/>
                </a:solidFill>
                <a:latin typeface="+mn-ea"/>
              </a:rPr>
              <a:t>可以存储不同类型的数据</a:t>
            </a:r>
            <a:endParaRPr lang="zh-CN" altLang="en-US" sz="2000" dirty="0">
              <a:solidFill>
                <a:srgbClr val="09131F"/>
              </a:solidFill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9131F"/>
                </a:solidFill>
                <a:latin typeface="+mn-ea"/>
              </a:rPr>
              <a:t>可以快速的查找出键（</a:t>
            </a: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key</a:t>
            </a:r>
            <a:r>
              <a:rPr lang="zh-CN" altLang="en-US" sz="2000" dirty="0">
                <a:solidFill>
                  <a:srgbClr val="09131F"/>
                </a:solidFill>
                <a:latin typeface="+mn-ea"/>
              </a:rPr>
              <a:t>）对应的值（</a:t>
            </a:r>
            <a:r>
              <a:rPr lang="en-US" altLang="zh-CN" sz="2000" dirty="0">
                <a:solidFill>
                  <a:srgbClr val="09131F"/>
                </a:solidFill>
                <a:latin typeface="+mn-ea"/>
              </a:rPr>
              <a:t>value</a:t>
            </a:r>
            <a:r>
              <a:rPr lang="zh-CN" altLang="en-US" sz="2000" dirty="0">
                <a:solidFill>
                  <a:srgbClr val="09131F"/>
                </a:solidFill>
                <a:latin typeface="+mn-ea"/>
              </a:rPr>
              <a:t>）</a:t>
            </a:r>
            <a:endParaRPr lang="en-US" altLang="zh-CN" sz="2000" dirty="0">
              <a:solidFill>
                <a:srgbClr val="09131F"/>
              </a:solidFill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方便存储数据</a:t>
            </a:r>
            <a:endParaRPr lang="zh-CN" altLang="en-US" sz="2000" dirty="0">
              <a:latin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2538"/>
            <a:ext cx="7772400" cy="1103313"/>
          </a:xfrm>
        </p:spPr>
        <p:txBody>
          <a:bodyPr anchor="ctr">
            <a:normAutofit/>
          </a:bodyPr>
          <a:lstStyle/>
          <a:p>
            <a:pPr fontAlgn="base"/>
            <a:r>
              <a:rPr lang="zh-CN" altLang="en-US" strike="noStrike" noProof="1"/>
              <a:t>第</a:t>
            </a:r>
            <a:r>
              <a:rPr lang="zh-CN" altLang="en-US" noProof="1"/>
              <a:t>四</a:t>
            </a:r>
            <a:r>
              <a:rPr lang="zh-CN" altLang="en-US" strike="noStrike" noProof="1"/>
              <a:t>课时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贯穿案例</a:t>
            </a:r>
            <a:endParaRPr lang="zh-CN" altLang="en-US" dirty="0"/>
          </a:p>
        </p:txBody>
      </p:sp>
    </p:spTree>
  </p:cSld>
  <p:clrMapOvr>
    <a:masterClrMapping/>
  </p:clrMapOvr>
  <p:transition spd="slow" advTm="964">
    <p:push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椭圆 1"/>
          <p:cNvSpPr>
            <a:spLocks noChangeArrowheads="1"/>
          </p:cNvSpPr>
          <p:nvPr/>
        </p:nvSpPr>
        <p:spPr bwMode="auto">
          <a:xfrm>
            <a:off x="304800" y="1498590"/>
            <a:ext cx="1631315" cy="1539240"/>
          </a:xfrm>
          <a:custGeom>
            <a:avLst/>
            <a:gdLst>
              <a:gd name="T0" fmla="*/ 0 w 1751265"/>
              <a:gd name="T1" fmla="*/ 0 h 1872208"/>
              <a:gd name="T2" fmla="*/ 1751265 w 1751265"/>
              <a:gd name="T3" fmla="*/ 1872208 h 1872208"/>
            </a:gdLst>
            <a:ahLst/>
            <a:cxnLst/>
            <a:rect l="T0" t="T1" r="T2" b="T3"/>
            <a:pathLst>
              <a:path w="1751265" h="1872208">
                <a:moveTo>
                  <a:pt x="936104" y="0"/>
                </a:moveTo>
                <a:cubicBezTo>
                  <a:pt x="1286069" y="0"/>
                  <a:pt x="1591179" y="192044"/>
                  <a:pt x="1751265" y="476797"/>
                </a:cubicBezTo>
                <a:cubicBezTo>
                  <a:pt x="1668191" y="615556"/>
                  <a:pt x="1621028" y="777971"/>
                  <a:pt x="1621028" y="951401"/>
                </a:cubicBezTo>
                <a:cubicBezTo>
                  <a:pt x="1621028" y="1118433"/>
                  <a:pt x="1664775" y="1275246"/>
                  <a:pt x="1741972" y="1410708"/>
                </a:cubicBezTo>
                <a:cubicBezTo>
                  <a:pt x="1580006" y="1687123"/>
                  <a:pt x="1279670" y="1872208"/>
                  <a:pt x="936104" y="1872208"/>
                </a:cubicBezTo>
                <a:cubicBezTo>
                  <a:pt x="419108" y="1872208"/>
                  <a:pt x="0" y="1453100"/>
                  <a:pt x="0" y="936104"/>
                </a:cubicBezTo>
                <a:cubicBezTo>
                  <a:pt x="0" y="419108"/>
                  <a:pt x="419108" y="0"/>
                  <a:pt x="936104" y="0"/>
                </a:cubicBezTo>
                <a:close/>
              </a:path>
            </a:pathLst>
          </a:custGeom>
          <a:solidFill>
            <a:srgbClr val="C00000"/>
          </a:solidFill>
          <a:ln w="25400">
            <a:solidFill>
              <a:srgbClr val="FF0000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3" name="TextBox 14"/>
          <p:cNvSpPr>
            <a:spLocks noChangeArrowheads="1"/>
          </p:cNvSpPr>
          <p:nvPr/>
        </p:nvSpPr>
        <p:spPr bwMode="auto">
          <a:xfrm>
            <a:off x="334645" y="1976110"/>
            <a:ext cx="160147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+mn-ea"/>
                <a:ea typeface="+mn-ea"/>
                <a:sym typeface="方正兰亭粗黑_GBK" charset="-122"/>
              </a:rPr>
              <a:t>01</a:t>
            </a:r>
            <a:endParaRPr lang="en-US" altLang="zh-CN" sz="3200" b="1" dirty="0">
              <a:solidFill>
                <a:schemeClr val="bg1"/>
              </a:solidFill>
              <a:latin typeface="+mn-ea"/>
              <a:ea typeface="+mn-ea"/>
              <a:sym typeface="方正兰亭粗黑_GBK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94538" y="2058402"/>
            <a:ext cx="530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</a:rPr>
              <a:t>本案例是双色球选号系统，可以选球以及选择注数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椭圆 1"/>
          <p:cNvSpPr>
            <a:spLocks noChangeArrowheads="1"/>
          </p:cNvSpPr>
          <p:nvPr/>
        </p:nvSpPr>
        <p:spPr bwMode="auto">
          <a:xfrm>
            <a:off x="333888" y="3258469"/>
            <a:ext cx="1631315" cy="1539240"/>
          </a:xfrm>
          <a:custGeom>
            <a:avLst/>
            <a:gdLst>
              <a:gd name="T0" fmla="*/ 0 w 1751265"/>
              <a:gd name="T1" fmla="*/ 0 h 1872208"/>
              <a:gd name="T2" fmla="*/ 1751265 w 1751265"/>
              <a:gd name="T3" fmla="*/ 1872208 h 1872208"/>
            </a:gdLst>
            <a:ahLst/>
            <a:cxnLst/>
            <a:rect l="T0" t="T1" r="T2" b="T3"/>
            <a:pathLst>
              <a:path w="1751265" h="1872208">
                <a:moveTo>
                  <a:pt x="936104" y="0"/>
                </a:moveTo>
                <a:cubicBezTo>
                  <a:pt x="1286069" y="0"/>
                  <a:pt x="1591179" y="192044"/>
                  <a:pt x="1751265" y="476797"/>
                </a:cubicBezTo>
                <a:cubicBezTo>
                  <a:pt x="1668191" y="615556"/>
                  <a:pt x="1621028" y="777971"/>
                  <a:pt x="1621028" y="951401"/>
                </a:cubicBezTo>
                <a:cubicBezTo>
                  <a:pt x="1621028" y="1118433"/>
                  <a:pt x="1664775" y="1275246"/>
                  <a:pt x="1741972" y="1410708"/>
                </a:cubicBezTo>
                <a:cubicBezTo>
                  <a:pt x="1580006" y="1687123"/>
                  <a:pt x="1279670" y="1872208"/>
                  <a:pt x="936104" y="1872208"/>
                </a:cubicBezTo>
                <a:cubicBezTo>
                  <a:pt x="419108" y="1872208"/>
                  <a:pt x="0" y="1453100"/>
                  <a:pt x="0" y="936104"/>
                </a:cubicBezTo>
                <a:cubicBezTo>
                  <a:pt x="0" y="419108"/>
                  <a:pt x="419108" y="0"/>
                  <a:pt x="936104" y="0"/>
                </a:cubicBezTo>
                <a:close/>
              </a:path>
            </a:pathLst>
          </a:custGeom>
          <a:solidFill>
            <a:srgbClr val="F4902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4865167" y="3793068"/>
            <a:ext cx="3811289" cy="578882"/>
          </a:xfrm>
          <a:prstGeom prst="roundRect">
            <a:avLst>
              <a:gd name="adj" fmla="val 16667"/>
            </a:avLst>
          </a:prstGeom>
          <a:solidFill>
            <a:srgbClr val="E7F4FF"/>
          </a:solidFill>
          <a:ln w="28575" cap="flat" cmpd="sng" algn="ctr">
            <a:solidFill>
              <a:srgbClr val="5AADD6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marL="224155" indent="-224155" algn="l" defTabSz="381000"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根据逻辑判断选择红球，并依次确定蓝球、注数，最后确认是否继续选球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下箭头 11"/>
          <p:cNvSpPr/>
          <p:nvPr/>
        </p:nvSpPr>
        <p:spPr bwMode="auto">
          <a:xfrm rot="16020000">
            <a:off x="4227226" y="3829732"/>
            <a:ext cx="360040" cy="396715"/>
          </a:xfrm>
          <a:prstGeom prst="downArrow">
            <a:avLst/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endParaRPr lang="zh-CN" altLang="en-US" sz="140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TextBox 14"/>
          <p:cNvSpPr>
            <a:spLocks noChangeArrowheads="1"/>
          </p:cNvSpPr>
          <p:nvPr/>
        </p:nvSpPr>
        <p:spPr bwMode="auto">
          <a:xfrm>
            <a:off x="357759" y="3736563"/>
            <a:ext cx="160147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+mn-ea"/>
                <a:ea typeface="+mn-ea"/>
                <a:sym typeface="方正兰亭粗黑_GBK" charset="-122"/>
              </a:rPr>
              <a:t>02</a:t>
            </a:r>
            <a:endParaRPr lang="en-US" altLang="zh-CN" sz="3200" b="1" dirty="0">
              <a:solidFill>
                <a:schemeClr val="bg1"/>
              </a:solidFill>
              <a:latin typeface="+mn-ea"/>
              <a:ea typeface="+mn-ea"/>
              <a:sym typeface="方正兰亭粗黑_GBK" charset="-122"/>
            </a:endParaRPr>
          </a:p>
        </p:txBody>
      </p:sp>
      <p:sp>
        <p:nvSpPr>
          <p:cNvPr id="14" name="文本框 3"/>
          <p:cNvSpPr txBox="1"/>
          <p:nvPr/>
        </p:nvSpPr>
        <p:spPr>
          <a:xfrm>
            <a:off x="2294538" y="3850228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案例如何实现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内容占位符 5"/>
          <p:cNvSpPr>
            <a:spLocks noGrp="1"/>
          </p:cNvSpPr>
          <p:nvPr>
            <p:ph idx="1"/>
          </p:nvPr>
        </p:nvSpPr>
        <p:spPr>
          <a:xfrm>
            <a:off x="251520" y="854959"/>
            <a:ext cx="2577907" cy="635671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案例需求分析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3" grpId="0" bldLvl="0" autoUpdateAnimBg="0"/>
      <p:bldP spid="4" grpId="0"/>
      <p:bldP spid="10" grpId="0" bldLvl="0" animBg="1" autoUpdateAnimBg="0"/>
      <p:bldP spid="11" grpId="0" bldLvl="0" animBg="1"/>
      <p:bldP spid="12" grpId="0" bldLvl="0" animBg="1"/>
      <p:bldP spid="13" grpId="0" bldLvl="0" autoUpdateAnimBg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流程图: 资料带 1"/>
          <p:cNvSpPr/>
          <p:nvPr/>
        </p:nvSpPr>
        <p:spPr>
          <a:xfrm>
            <a:off x="3869055" y="2329934"/>
            <a:ext cx="1657350" cy="961898"/>
          </a:xfrm>
          <a:prstGeom prst="flowChartPunchedTap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进行逻辑判断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dirty="0">
                <a:latin typeface="+mn-ea"/>
              </a:rPr>
              <a:t>选择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个红球</a:t>
            </a:r>
            <a:endParaRPr lang="zh-CN" altLang="zh-CN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2313305" y="2553454"/>
            <a:ext cx="1310005" cy="4514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5" name="右箭头 4"/>
          <p:cNvSpPr/>
          <p:nvPr/>
        </p:nvSpPr>
        <p:spPr>
          <a:xfrm rot="7949721">
            <a:off x="5379163" y="3545294"/>
            <a:ext cx="1370068" cy="4514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3802173" y="4515966"/>
            <a:ext cx="1559089" cy="346075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是否继续选号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9" name="右箭头 8"/>
          <p:cNvSpPr/>
          <p:nvPr/>
        </p:nvSpPr>
        <p:spPr>
          <a:xfrm rot="16200000">
            <a:off x="4041657" y="1517914"/>
            <a:ext cx="1080120" cy="4514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6300191" y="2631563"/>
            <a:ext cx="1559089" cy="346075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dirty="0">
                <a:latin typeface="+mn-ea"/>
              </a:rPr>
              <a:t>选择注数</a:t>
            </a:r>
            <a:endParaRPr lang="zh-CN" altLang="zh-CN" dirty="0">
              <a:latin typeface="+mn-ea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3802172" y="699542"/>
            <a:ext cx="1559089" cy="346075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algn="l"/>
            <a:r>
              <a:rPr lang="zh-CN" altLang="en-US" dirty="0">
                <a:latin typeface="+mn-ea"/>
              </a:rPr>
              <a:t>选择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个蓝球</a:t>
            </a:r>
            <a:endParaRPr lang="zh-CN" altLang="zh-CN" dirty="0">
              <a:latin typeface="+mn-ea"/>
            </a:endParaRPr>
          </a:p>
        </p:txBody>
      </p:sp>
      <p:sp>
        <p:nvSpPr>
          <p:cNvPr id="13" name="右箭头 12"/>
          <p:cNvSpPr/>
          <p:nvPr/>
        </p:nvSpPr>
        <p:spPr>
          <a:xfrm rot="3539347">
            <a:off x="5318533" y="1620370"/>
            <a:ext cx="1379209" cy="4514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6" name="内容占位符 5"/>
          <p:cNvSpPr>
            <a:spLocks noGrp="1"/>
          </p:cNvSpPr>
          <p:nvPr>
            <p:ph idx="1"/>
          </p:nvPr>
        </p:nvSpPr>
        <p:spPr>
          <a:xfrm>
            <a:off x="265901" y="843558"/>
            <a:ext cx="2577907" cy="635671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案例功能讲解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5" name="右箭头 14"/>
          <p:cNvSpPr/>
          <p:nvPr/>
        </p:nvSpPr>
        <p:spPr>
          <a:xfrm rot="16200000">
            <a:off x="4041657" y="3662828"/>
            <a:ext cx="1080120" cy="451485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427984" y="3656162"/>
            <a:ext cx="360038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右箭头 16"/>
          <p:cNvSpPr/>
          <p:nvPr/>
        </p:nvSpPr>
        <p:spPr>
          <a:xfrm rot="10800000">
            <a:off x="2543190" y="4428631"/>
            <a:ext cx="1080120" cy="451485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968307" y="4443958"/>
            <a:ext cx="360038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971600" y="4443958"/>
            <a:ext cx="1296142" cy="4572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程序停止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555949" y="2618606"/>
            <a:ext cx="772395" cy="457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  <a:ea typeface="+mn-ea"/>
              </a:rPr>
              <a:t>开始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  <p:bldP spid="15" grpId="0" animBg="1"/>
      <p:bldP spid="6" grpId="0"/>
      <p:bldP spid="17" grpId="0" animBg="1"/>
      <p:bldP spid="18" grpId="0"/>
      <p:bldP spid="19" grpId="0" animBg="1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内容占位符 5"/>
          <p:cNvSpPr>
            <a:spLocks noGrp="1"/>
          </p:cNvSpPr>
          <p:nvPr>
            <p:ph idx="1"/>
          </p:nvPr>
        </p:nvSpPr>
        <p:spPr>
          <a:xfrm>
            <a:off x="265901" y="843558"/>
            <a:ext cx="8122523" cy="4032448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案例步骤：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创建变量，接收选球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选择红球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选择蓝球、注数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确认是否结束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3074" name="Picture 2" descr="C:\Users\Administrator\Desktop\剪贴画\下载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275606"/>
            <a:ext cx="2965226" cy="246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83568" y="1275606"/>
            <a:ext cx="4536504" cy="2520280"/>
          </a:xfrm>
          <a:prstGeom prst="rect">
            <a:avLst/>
          </a:prstGeom>
          <a:solidFill>
            <a:srgbClr val="E7F4FF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your_choice = [] </a:t>
            </a:r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存储选民选择的所有票</a:t>
            </a:r>
            <a:endParaRPr 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print('</a:t>
            </a:r>
            <a:r>
              <a:rPr lang="zh-CN" altLang="en-US" sz="1600" dirty="0">
                <a:latin typeface="+mn-ea"/>
                <a:ea typeface="+mn-ea"/>
              </a:rPr>
              <a:t>欢迎进入双色球</a:t>
            </a:r>
            <a:r>
              <a:rPr lang="en-US" altLang="zh-CN" sz="1600" dirty="0">
                <a:latin typeface="+mn-ea"/>
                <a:ea typeface="+mn-ea"/>
              </a:rPr>
              <a:t>')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while True:</a:t>
            </a:r>
            <a:endParaRPr lang="en-US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sz="1600" dirty="0">
                <a:solidFill>
                  <a:srgbClr val="FF0000"/>
                </a:solidFill>
                <a:latin typeface="+mn-ea"/>
                <a:ea typeface="+mn-ea"/>
              </a:rPr>
              <a:t>    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存储选民一组选票信息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zh-CN" altLang="en-US" sz="1600" dirty="0">
                <a:latin typeface="+mn-ea"/>
                <a:ea typeface="+mn-ea"/>
              </a:rPr>
              <a:t>    </a:t>
            </a:r>
            <a:r>
              <a:rPr lang="en-US" sz="1600" dirty="0">
                <a:latin typeface="+mn-ea"/>
                <a:ea typeface="+mn-ea"/>
              </a:rPr>
              <a:t>your_balls = {'</a:t>
            </a:r>
            <a:r>
              <a:rPr lang="zh-CN" altLang="en-US" sz="1600" dirty="0">
                <a:latin typeface="+mn-ea"/>
                <a:ea typeface="+mn-ea"/>
              </a:rPr>
              <a:t>红球</a:t>
            </a:r>
            <a:r>
              <a:rPr lang="en-US" altLang="zh-CN" sz="1600" dirty="0">
                <a:latin typeface="+mn-ea"/>
                <a:ea typeface="+mn-ea"/>
              </a:rPr>
              <a:t>': [], '</a:t>
            </a:r>
            <a:r>
              <a:rPr lang="zh-CN" altLang="en-US" sz="1600" dirty="0">
                <a:latin typeface="+mn-ea"/>
                <a:ea typeface="+mn-ea"/>
              </a:rPr>
              <a:t>蓝球</a:t>
            </a:r>
            <a:r>
              <a:rPr lang="en-US" altLang="zh-CN" sz="1600" dirty="0">
                <a:latin typeface="+mn-ea"/>
                <a:ea typeface="+mn-ea"/>
              </a:rPr>
              <a:t>': [], '</a:t>
            </a:r>
            <a:r>
              <a:rPr lang="zh-CN" altLang="en-US" sz="1600" dirty="0">
                <a:latin typeface="+mn-ea"/>
                <a:ea typeface="+mn-ea"/>
              </a:rPr>
              <a:t>注数</a:t>
            </a:r>
            <a:r>
              <a:rPr lang="en-US" altLang="zh-CN" sz="1600" dirty="0">
                <a:latin typeface="+mn-ea"/>
                <a:ea typeface="+mn-ea"/>
              </a:rPr>
              <a:t>': 1}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    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存储选民红球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endParaRPr lang="en-US" sz="1600" dirty="0">
              <a:latin typeface="+mn-ea"/>
              <a:ea typeface="+mn-ea"/>
            </a:endParaRPr>
          </a:p>
          <a:p>
            <a:pPr algn="l"/>
            <a:endParaRPr lang="en-US" sz="1600" dirty="0">
              <a:latin typeface="+mn-ea"/>
              <a:ea typeface="+mn-ea"/>
            </a:endParaRPr>
          </a:p>
          <a:p>
            <a:pPr algn="l"/>
            <a:endParaRPr lang="en-US" sz="1200" dirty="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创建变量，接收选球</a:t>
            </a:r>
            <a:endParaRPr lang="en-US" altLang="zh-CN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矩形标注 1"/>
          <p:cNvSpPr/>
          <p:nvPr/>
        </p:nvSpPr>
        <p:spPr bwMode="auto">
          <a:xfrm>
            <a:off x="6012160" y="915566"/>
            <a:ext cx="1584176" cy="1260140"/>
          </a:xfrm>
          <a:prstGeom prst="wedgeRectCallout">
            <a:avLst>
              <a:gd name="adj1" fmla="val -104061"/>
              <a:gd name="adj2" fmla="val 5759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存储选票，包括所有选票以及某一次的选票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55576" y="1347614"/>
            <a:ext cx="43204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91580" y="2643758"/>
            <a:ext cx="43204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2" grpId="0" animBg="1"/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直接连接符 20"/>
          <p:cNvSpPr>
            <a:spLocks noChangeShapeType="1"/>
          </p:cNvSpPr>
          <p:nvPr/>
        </p:nvSpPr>
        <p:spPr bwMode="auto">
          <a:xfrm>
            <a:off x="4793121" y="1712470"/>
            <a:ext cx="1080000" cy="1588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83568" y="1203598"/>
            <a:ext cx="7704856" cy="3672408"/>
          </a:xfrm>
          <a:prstGeom prst="rect">
            <a:avLst/>
          </a:prstGeom>
          <a:solidFill>
            <a:srgbClr val="E7F4FF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    choice = 1</a:t>
            </a:r>
            <a:endParaRPr lang="en-US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    while True:</a:t>
            </a:r>
            <a:endParaRPr lang="en-US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sz="1600" dirty="0">
                <a:latin typeface="+mn-ea"/>
                <a:ea typeface="+mn-ea"/>
              </a:rPr>
              <a:t>        your_red = </a:t>
            </a:r>
            <a:r>
              <a:rPr lang="en-US" sz="1600" dirty="0" err="1">
                <a:latin typeface="+mn-ea"/>
                <a:ea typeface="+mn-ea"/>
              </a:rPr>
              <a:t>int</a:t>
            </a:r>
            <a:r>
              <a:rPr lang="en-US" sz="1600" dirty="0">
                <a:latin typeface="+mn-ea"/>
                <a:ea typeface="+mn-ea"/>
              </a:rPr>
              <a:t>(input('</a:t>
            </a:r>
            <a:r>
              <a:rPr lang="zh-CN" altLang="en-US" sz="1600" dirty="0">
                <a:latin typeface="+mn-ea"/>
                <a:ea typeface="+mn-ea"/>
              </a:rPr>
              <a:t>请输入你选择的第</a:t>
            </a:r>
            <a:r>
              <a:rPr lang="en-US" altLang="zh-CN" sz="1600" dirty="0">
                <a:latin typeface="+mn-ea"/>
                <a:ea typeface="+mn-ea"/>
              </a:rPr>
              <a:t>%</a:t>
            </a:r>
            <a:r>
              <a:rPr lang="en-US" sz="1600" dirty="0">
                <a:latin typeface="+mn-ea"/>
                <a:ea typeface="+mn-ea"/>
              </a:rPr>
              <a:t>d</a:t>
            </a:r>
            <a:r>
              <a:rPr lang="zh-CN" altLang="en-US" sz="1600" dirty="0">
                <a:latin typeface="+mn-ea"/>
                <a:ea typeface="+mn-ea"/>
              </a:rPr>
              <a:t>个红球数字：</a:t>
            </a:r>
            <a:r>
              <a:rPr lang="en-US" altLang="zh-CN" sz="1600" dirty="0">
                <a:latin typeface="+mn-ea"/>
                <a:ea typeface="+mn-ea"/>
              </a:rPr>
              <a:t>' % </a:t>
            </a:r>
            <a:r>
              <a:rPr lang="en-US" sz="1600" dirty="0">
                <a:latin typeface="+mn-ea"/>
                <a:ea typeface="+mn-ea"/>
              </a:rPr>
              <a:t>choice).strip())</a:t>
            </a:r>
            <a:endParaRPr lang="en-US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if your_red in your_balls['</a:t>
            </a:r>
            <a:r>
              <a:rPr lang="zh-CN" altLang="en-US" sz="1600" dirty="0">
                <a:latin typeface="+mn-ea"/>
              </a:rPr>
              <a:t>红球</a:t>
            </a:r>
            <a:r>
              <a:rPr lang="en-US" altLang="zh-CN" sz="1600" dirty="0">
                <a:latin typeface="+mn-ea"/>
              </a:rPr>
              <a:t>']: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    print('</a:t>
            </a:r>
            <a:r>
              <a:rPr lang="zh-CN" altLang="en-US" sz="1600" dirty="0">
                <a:latin typeface="+mn-ea"/>
              </a:rPr>
              <a:t>已经输入过</a:t>
            </a:r>
            <a:r>
              <a:rPr lang="en-US" altLang="zh-CN" sz="1600" dirty="0">
                <a:latin typeface="+mn-ea"/>
              </a:rPr>
              <a:t>%d,</a:t>
            </a:r>
            <a:r>
              <a:rPr lang="zh-CN" altLang="en-US" sz="1600" dirty="0">
                <a:latin typeface="+mn-ea"/>
              </a:rPr>
              <a:t>请重新输入</a:t>
            </a:r>
            <a:r>
              <a:rPr lang="en-US" altLang="zh-CN" sz="1600" dirty="0">
                <a:latin typeface="+mn-ea"/>
              </a:rPr>
              <a:t>' % your_red)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    continue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else: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    your_balls['</a:t>
            </a:r>
            <a:r>
              <a:rPr lang="zh-CN" altLang="en-US" sz="1600" dirty="0">
                <a:latin typeface="+mn-ea"/>
              </a:rPr>
              <a:t>红球</a:t>
            </a:r>
            <a:r>
              <a:rPr lang="en-US" altLang="zh-CN" sz="1600" dirty="0">
                <a:latin typeface="+mn-ea"/>
              </a:rPr>
              <a:t>'].append(your_red)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    choice += 1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    if choice &gt;= 7: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	break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endParaRPr lang="en-US" sz="1600" dirty="0">
              <a:latin typeface="+mn-ea"/>
              <a:ea typeface="+mn-ea"/>
            </a:endParaRPr>
          </a:p>
          <a:p>
            <a:pPr algn="l"/>
            <a:endParaRPr lang="en-US" sz="1600" dirty="0">
              <a:latin typeface="+mn-ea"/>
              <a:ea typeface="+mn-ea"/>
            </a:endParaRPr>
          </a:p>
          <a:p>
            <a:pPr algn="l"/>
            <a:endParaRPr lang="en-US" sz="1200" dirty="0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选择红球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876415" y="771786"/>
            <a:ext cx="1944216" cy="914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选择红球，判断是否重复以及数量是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6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个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187624" y="2211710"/>
            <a:ext cx="4608512" cy="100811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187624" y="4135388"/>
            <a:ext cx="2808312" cy="59660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2" grpId="0" animBg="1"/>
      <p:bldP spid="3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直接连接符 20"/>
          <p:cNvSpPr>
            <a:spLocks noChangeShapeType="1"/>
          </p:cNvSpPr>
          <p:nvPr/>
        </p:nvSpPr>
        <p:spPr bwMode="auto">
          <a:xfrm>
            <a:off x="4793121" y="1712470"/>
            <a:ext cx="1080000" cy="1588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83568" y="1275606"/>
            <a:ext cx="5400600" cy="3312368"/>
          </a:xfrm>
          <a:prstGeom prst="rect">
            <a:avLst/>
          </a:prstGeom>
          <a:solidFill>
            <a:srgbClr val="E7F4FF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>
              <a:lnSpc>
                <a:spcPts val="25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存储选民蓝球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zh-CN" altLang="en-US" sz="1600" dirty="0">
                <a:latin typeface="+mn-ea"/>
                <a:ea typeface="+mn-ea"/>
              </a:rPr>
              <a:t>    </a:t>
            </a:r>
            <a:r>
              <a:rPr lang="en-US" altLang="zh-CN" sz="1600" dirty="0">
                <a:latin typeface="+mn-ea"/>
                <a:ea typeface="+mn-ea"/>
              </a:rPr>
              <a:t>your_bule = int(input('</a:t>
            </a:r>
            <a:r>
              <a:rPr lang="zh-CN" altLang="en-US" sz="1600" dirty="0">
                <a:latin typeface="+mn-ea"/>
                <a:ea typeface="+mn-ea"/>
              </a:rPr>
              <a:t>请输入你选择的蓝球数字：</a:t>
            </a:r>
            <a:r>
              <a:rPr lang="en-US" altLang="zh-CN" sz="1600" dirty="0">
                <a:latin typeface="+mn-ea"/>
                <a:ea typeface="+mn-ea"/>
              </a:rPr>
              <a:t>'))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    your_balls['</a:t>
            </a:r>
            <a:r>
              <a:rPr lang="zh-CN" altLang="en-US" sz="1600" dirty="0">
                <a:latin typeface="+mn-ea"/>
                <a:ea typeface="+mn-ea"/>
              </a:rPr>
              <a:t>蓝球</a:t>
            </a:r>
            <a:r>
              <a:rPr lang="en-US" altLang="zh-CN" sz="1600" dirty="0">
                <a:latin typeface="+mn-ea"/>
                <a:ea typeface="+mn-ea"/>
              </a:rPr>
              <a:t>'].append(your_bule)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    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存储选民注数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zh-CN" altLang="en-US" sz="1600" dirty="0">
                <a:latin typeface="+mn-ea"/>
                <a:ea typeface="+mn-ea"/>
              </a:rPr>
              <a:t>    </a:t>
            </a:r>
            <a:r>
              <a:rPr lang="en-US" altLang="zh-CN" sz="1600" dirty="0">
                <a:latin typeface="+mn-ea"/>
                <a:ea typeface="+mn-ea"/>
              </a:rPr>
              <a:t>your_numbers = int(input('</a:t>
            </a:r>
            <a:r>
              <a:rPr lang="zh-CN" altLang="en-US" sz="1600" dirty="0">
                <a:latin typeface="+mn-ea"/>
                <a:ea typeface="+mn-ea"/>
              </a:rPr>
              <a:t>请输入你选择加注数：</a:t>
            </a:r>
            <a:r>
              <a:rPr lang="en-US" altLang="zh-CN" sz="1600" dirty="0">
                <a:latin typeface="+mn-ea"/>
                <a:ea typeface="+mn-ea"/>
              </a:rPr>
              <a:t>'))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your_balls['</a:t>
            </a:r>
            <a:r>
              <a:rPr lang="zh-CN" altLang="en-US" sz="1600" dirty="0">
                <a:latin typeface="+mn-ea"/>
              </a:rPr>
              <a:t>注数</a:t>
            </a:r>
            <a:r>
              <a:rPr lang="en-US" altLang="zh-CN" sz="1600" dirty="0">
                <a:latin typeface="+mn-ea"/>
              </a:rPr>
              <a:t>'] = your_numbers    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 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存储选民一张票到所有票列表</a:t>
            </a:r>
            <a:endParaRPr lang="zh-CN" altLang="en-US" sz="1600" dirty="0">
              <a:solidFill>
                <a:srgbClr val="FF0000"/>
              </a:solidFill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zh-CN" altLang="en-US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your_choice.append</a:t>
            </a:r>
            <a:r>
              <a:rPr lang="en-US" altLang="zh-CN" sz="1600" dirty="0">
                <a:latin typeface="+mn-ea"/>
              </a:rPr>
              <a:t>(your_balls)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</a:rPr>
              <a:t>    print(your_balls)</a:t>
            </a:r>
            <a:endParaRPr lang="en-US" altLang="zh-CN" sz="1600" dirty="0">
              <a:latin typeface="+mn-ea"/>
            </a:endParaRPr>
          </a:p>
          <a:p>
            <a:pPr algn="l">
              <a:lnSpc>
                <a:spcPts val="2500"/>
              </a:lnSpc>
            </a:pP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选择蓝球、注数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71600" y="1635646"/>
            <a:ext cx="4824536" cy="6695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971599" y="2622290"/>
            <a:ext cx="4901521" cy="5975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标注 2"/>
          <p:cNvSpPr/>
          <p:nvPr/>
        </p:nvSpPr>
        <p:spPr bwMode="auto">
          <a:xfrm>
            <a:off x="7236296" y="1275605"/>
            <a:ext cx="1490464" cy="916649"/>
          </a:xfrm>
          <a:prstGeom prst="wedgeRectCallout">
            <a:avLst>
              <a:gd name="adj1" fmla="val -126123"/>
              <a:gd name="adj2" fmla="val 4387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/>
            <a:r>
              <a:rPr lang="zh-CN" altLang="en-US" dirty="0">
                <a:latin typeface="+mn-ea"/>
              </a:rPr>
              <a:t>选择蓝球，确认注数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 animBg="1"/>
      <p:bldP spid="10" grpId="0" animBg="1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直接连接符 20"/>
          <p:cNvSpPr>
            <a:spLocks noChangeShapeType="1"/>
          </p:cNvSpPr>
          <p:nvPr/>
        </p:nvSpPr>
        <p:spPr bwMode="auto">
          <a:xfrm>
            <a:off x="4793121" y="1712470"/>
            <a:ext cx="1080000" cy="1588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83568" y="1131590"/>
            <a:ext cx="5400600" cy="3096344"/>
          </a:xfrm>
          <a:prstGeom prst="rect">
            <a:avLst/>
          </a:prstGeom>
          <a:solidFill>
            <a:srgbClr val="E7F4FF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>
              <a:lnSpc>
                <a:spcPts val="25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     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是否继续选票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zh-CN" altLang="en-US" sz="1600" dirty="0">
                <a:latin typeface="+mn-ea"/>
                <a:ea typeface="+mn-ea"/>
              </a:rPr>
              <a:t>    </a:t>
            </a:r>
            <a:r>
              <a:rPr lang="en-US" altLang="zh-CN" sz="1600" dirty="0">
                <a:latin typeface="+mn-ea"/>
                <a:ea typeface="+mn-ea"/>
              </a:rPr>
              <a:t>flag = input('</a:t>
            </a:r>
            <a:r>
              <a:rPr lang="zh-CN" altLang="en-US" sz="1600" dirty="0">
                <a:latin typeface="+mn-ea"/>
                <a:ea typeface="+mn-ea"/>
              </a:rPr>
              <a:t>是否继续选择？（</a:t>
            </a:r>
            <a:r>
              <a:rPr lang="en-US" altLang="zh-CN" sz="1600" dirty="0">
                <a:latin typeface="+mn-ea"/>
                <a:ea typeface="+mn-ea"/>
              </a:rPr>
              <a:t>y/n）:')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    if flag == 'n':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        break 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#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退出选票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print('\033[1;33;44m', end='')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print('</a:t>
            </a:r>
            <a:r>
              <a:rPr lang="zh-CN" altLang="en-US" sz="1600" dirty="0">
                <a:latin typeface="+mn-ea"/>
                <a:ea typeface="+mn-ea"/>
              </a:rPr>
              <a:t>你的选择的双色球</a:t>
            </a:r>
            <a:r>
              <a:rPr lang="en-US" altLang="zh-CN" sz="1600" dirty="0">
                <a:latin typeface="+mn-ea"/>
                <a:ea typeface="+mn-ea"/>
              </a:rPr>
              <a:t>:', end='')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print('\033[0m')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ts val="2500"/>
              </a:lnSpc>
            </a:pPr>
            <a:r>
              <a:rPr lang="en-US" altLang="zh-CN" sz="1600" dirty="0">
                <a:latin typeface="+mn-ea"/>
                <a:ea typeface="+mn-ea"/>
              </a:rPr>
              <a:t>print(your_choice)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731480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确认是否结束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827584" y="1491630"/>
            <a:ext cx="4320480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标注 8"/>
          <p:cNvSpPr/>
          <p:nvPr/>
        </p:nvSpPr>
        <p:spPr bwMode="auto">
          <a:xfrm>
            <a:off x="7226829" y="820139"/>
            <a:ext cx="1584176" cy="916649"/>
          </a:xfrm>
          <a:prstGeom prst="wedgeRectCallout">
            <a:avLst>
              <a:gd name="adj1" fmla="val -126123"/>
              <a:gd name="adj2" fmla="val 4387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l"/>
            <a:r>
              <a:rPr lang="zh-CN" altLang="en-US" dirty="0">
                <a:latin typeface="+mn-ea"/>
              </a:rPr>
              <a:t>确认是否继续选票，否则打印已选彩票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6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250349" y="133227"/>
            <a:ext cx="6768877" cy="36933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贯穿案例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6" name="直接连接符 20"/>
          <p:cNvSpPr>
            <a:spLocks noChangeShapeType="1"/>
          </p:cNvSpPr>
          <p:nvPr/>
        </p:nvSpPr>
        <p:spPr bwMode="auto">
          <a:xfrm>
            <a:off x="4793121" y="1712470"/>
            <a:ext cx="1080000" cy="1588"/>
          </a:xfrm>
          <a:prstGeom prst="line">
            <a:avLst/>
          </a:prstGeom>
          <a:noFill/>
          <a:ln w="9525" cap="flat" cmpd="sng">
            <a:solidFill>
              <a:schemeClr val="bg1"/>
            </a:solidFill>
            <a:prstDash val="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07269"/>
            <a:ext cx="6687822" cy="32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51520" y="731480"/>
            <a:ext cx="15568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输出结果</a:t>
            </a:r>
            <a:endParaRPr lang="zh-CN" altLang="en-US" sz="20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用多种方法遍历上节课创建的双色球字典。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AutoShape 17"/>
          <p:cNvSpPr>
            <a:spLocks noChangeArrowheads="1"/>
          </p:cNvSpPr>
          <p:nvPr/>
        </p:nvSpPr>
        <p:spPr bwMode="auto">
          <a:xfrm>
            <a:off x="2892956" y="3923111"/>
            <a:ext cx="2733607" cy="373663"/>
          </a:xfrm>
          <a:prstGeom prst="wedgeRoundRectCallout">
            <a:avLst>
              <a:gd name="adj1" fmla="val -30079"/>
              <a:gd name="adj2" fmla="val -52764"/>
              <a:gd name="adj3" fmla="val 16667"/>
            </a:avLst>
          </a:prstGeom>
          <a:solidFill>
            <a:srgbClr val="0070C0"/>
          </a:solidFill>
          <a:ln w="9525">
            <a:solidFill>
              <a:srgbClr val="F2F2F2"/>
            </a:solidFill>
            <a:miter lim="800000"/>
          </a:ln>
          <a:effectLst>
            <a:outerShdw dist="38100" dir="5400000" algn="ctr" rotWithShape="0">
              <a:srgbClr val="000000">
                <a:alpha val="37000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0" lvl="1" indent="457200" eaLnBrk="0" hangingPunct="0">
              <a:buClr>
                <a:srgbClr val="233DA9"/>
              </a:buClr>
              <a:buSzPct val="80000"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完成时间：</a:t>
            </a:r>
            <a:r>
              <a:rPr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分钟</a:t>
            </a:r>
            <a:endParaRPr lang="zh-CN" altLang="en-US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dirty="0"/>
              <a:t>单元总结</a:t>
            </a:r>
            <a:endParaRPr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 dirty="0"/>
              <a:t>/47</a:t>
            </a:r>
            <a:endParaRPr lang="zh-CN" altLang="en-US" sz="180" dirty="0"/>
          </a:p>
        </p:txBody>
      </p:sp>
      <p:sp>
        <p:nvSpPr>
          <p:cNvPr id="6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67544" y="769483"/>
            <a:ext cx="5256584" cy="2810379"/>
          </a:xfrm>
          <a:prstGeom prst="rect">
            <a:avLst/>
          </a:prstGeom>
        </p:spPr>
        <p:txBody>
          <a:bodyPr/>
          <a:lstStyle>
            <a:lvl1pPr marL="227330" indent="-227330" algn="l" rtl="0" eaLnBrk="0" fontAlgn="base" hangingPunct="0">
              <a:lnSpc>
                <a:spcPts val="2500"/>
              </a:lnSpc>
              <a:spcBef>
                <a:spcPts val="1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45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u"/>
              <a:defRPr sz="16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2pPr>
            <a:lvl3pPr marL="1141730" indent="-227330" algn="l" rtl="0" eaLnBrk="0" fontAlgn="base" hangingPunct="0">
              <a:lnSpc>
                <a:spcPts val="2500"/>
              </a:lnSpc>
              <a:spcBef>
                <a:spcPts val="500"/>
              </a:spcBef>
              <a:spcAft>
                <a:spcPct val="0"/>
              </a:spcAft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3pPr>
            <a:lvl4pPr marL="15989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613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zh-CN" dirty="0">
              <a:latin typeface="+mj-ea"/>
            </a:endParaRPr>
          </a:p>
          <a:p>
            <a:pPr>
              <a:defRPr/>
            </a:pPr>
            <a:r>
              <a:rPr lang="zh-CN" altLang="en-US" dirty="0">
                <a:latin typeface="+mj-ea"/>
              </a:rPr>
              <a:t>什么是字典</a:t>
            </a:r>
            <a:endParaRPr lang="en-US" altLang="zh-CN" dirty="0">
              <a:latin typeface="+mj-ea"/>
            </a:endParaRPr>
          </a:p>
          <a:p>
            <a:pPr>
              <a:defRPr/>
            </a:pPr>
            <a:r>
              <a:rPr lang="zh-CN" altLang="en-US" dirty="0">
                <a:latin typeface="+mj-ea"/>
              </a:rPr>
              <a:t>字典的特征</a:t>
            </a:r>
            <a:endParaRPr lang="en-US" altLang="zh-CN" dirty="0">
              <a:latin typeface="+mj-ea"/>
            </a:endParaRPr>
          </a:p>
          <a:p>
            <a:pPr>
              <a:defRPr/>
            </a:pPr>
            <a:r>
              <a:rPr lang="zh-CN" altLang="en-US" dirty="0">
                <a:latin typeface="+mj-ea"/>
              </a:rPr>
              <a:t>字典的删除方法以及它们之间的区别</a:t>
            </a:r>
            <a:endParaRPr lang="en-US" altLang="zh-CN" dirty="0">
              <a:latin typeface="+mj-ea"/>
            </a:endParaRPr>
          </a:p>
          <a:p>
            <a:pPr>
              <a:defRPr/>
            </a:pPr>
            <a:r>
              <a:rPr lang="zh-CN" altLang="en-US" dirty="0"/>
              <a:t>字典的修改、赋值、添加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字典遍历的方式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概念图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385" y="668655"/>
            <a:ext cx="7390765" cy="4326890"/>
          </a:xfrm>
          <a:prstGeom prst="rect">
            <a:avLst/>
          </a:prstGeom>
        </p:spPr>
      </p:pic>
      <p:sp>
        <p:nvSpPr>
          <p:cNvPr id="4" name="矩形 17"/>
          <p:cNvSpPr>
            <a:spLocks noChangeArrowheads="1"/>
          </p:cNvSpPr>
          <p:nvPr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作业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课后作业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完成编程题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复习指引</a:t>
            </a:r>
            <a:endParaRPr lang="zh-CN" altLang="en-US" dirty="0"/>
          </a:p>
          <a:p>
            <a:pPr lvl="1"/>
            <a:r>
              <a:rPr lang="zh-CN" altLang="en-US" dirty="0"/>
              <a:t>字典的定义和作用</a:t>
            </a:r>
            <a:endParaRPr lang="en-US" altLang="zh-CN" dirty="0"/>
          </a:p>
          <a:p>
            <a:pPr lvl="1"/>
            <a:r>
              <a:rPr lang="zh-CN" altLang="en-US" dirty="0"/>
              <a:t>字典相关方法的使用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预习作业</a:t>
            </a:r>
            <a:endParaRPr lang="en-US" altLang="zh-CN" dirty="0"/>
          </a:p>
          <a:p>
            <a:pPr lvl="1"/>
            <a:r>
              <a:rPr lang="zh-CN" altLang="en-US" dirty="0"/>
              <a:t>什么是集合及其使用场景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</a:fld>
            <a:r>
              <a:rPr lang="en-US" altLang="zh-CN" sz="180" dirty="0"/>
              <a:t>/47</a:t>
            </a:r>
            <a:endParaRPr lang="zh-CN" altLang="en-US" sz="18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5484</Words>
  <Application>WPS 演示</Application>
  <PresentationFormat>全屏显示(16:9)</PresentationFormat>
  <Paragraphs>686</Paragraphs>
  <Slides>58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7" baseType="lpstr">
      <vt:lpstr>Arial</vt:lpstr>
      <vt:lpstr>宋体</vt:lpstr>
      <vt:lpstr>Wingdings</vt:lpstr>
      <vt:lpstr>黑体</vt:lpstr>
      <vt:lpstr>Calibri</vt:lpstr>
      <vt:lpstr>微软雅黑</vt:lpstr>
      <vt:lpstr>Browallia New</vt:lpstr>
      <vt:lpstr>Tahoma</vt:lpstr>
      <vt:lpstr>Times New Roman</vt:lpstr>
      <vt:lpstr>楷体_GB2312</vt:lpstr>
      <vt:lpstr>Wingdings</vt:lpstr>
      <vt:lpstr>Arial Unicode MS</vt:lpstr>
      <vt:lpstr>方正兰亭粗黑_GBK</vt:lpstr>
      <vt:lpstr>Impact</vt:lpstr>
      <vt:lpstr>方正兰亭粗黑_GBK</vt:lpstr>
      <vt:lpstr>新宋体</vt:lpstr>
      <vt:lpstr>A new day begins</vt:lpstr>
      <vt:lpstr>方正兰亭黑_GBK</vt:lpstr>
      <vt:lpstr>Office 主题</vt:lpstr>
      <vt:lpstr>第十单元</vt:lpstr>
      <vt:lpstr>第一课时</vt:lpstr>
      <vt:lpstr>知识回顾</vt:lpstr>
      <vt:lpstr>贯穿案例</vt:lpstr>
      <vt:lpstr>知识目标</vt:lpstr>
      <vt:lpstr>为什么使用字典</vt:lpstr>
      <vt:lpstr>为什么使用字典</vt:lpstr>
      <vt:lpstr>什么是字典</vt:lpstr>
      <vt:lpstr>什么是字典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字典特征</vt:lpstr>
      <vt:lpstr>字典特征</vt:lpstr>
      <vt:lpstr>字典特征</vt:lpstr>
      <vt:lpstr>字典特征</vt:lpstr>
      <vt:lpstr>课堂练习</vt:lpstr>
      <vt:lpstr>第二课时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课堂练习</vt:lpstr>
      <vt:lpstr>课堂编程</vt:lpstr>
      <vt:lpstr>课堂小结</vt:lpstr>
      <vt:lpstr>第三课时</vt:lpstr>
      <vt:lpstr>知识回顾</vt:lpstr>
      <vt:lpstr>如何使用字典</vt:lpstr>
      <vt:lpstr>如何使用字典</vt:lpstr>
      <vt:lpstr>如何使用字典</vt:lpstr>
      <vt:lpstr>如何使用字典</vt:lpstr>
      <vt:lpstr>如何使用字典</vt:lpstr>
      <vt:lpstr>如何使用字典</vt:lpstr>
      <vt:lpstr>课堂编程</vt:lpstr>
      <vt:lpstr>字典的作用</vt:lpstr>
      <vt:lpstr>第四课时</vt:lpstr>
      <vt:lpstr>贯穿案例</vt:lpstr>
      <vt:lpstr>贯穿案例</vt:lpstr>
      <vt:lpstr>贯穿案例</vt:lpstr>
      <vt:lpstr>贯穿案例</vt:lpstr>
      <vt:lpstr>贯穿案例</vt:lpstr>
      <vt:lpstr>贯穿案例</vt:lpstr>
      <vt:lpstr>贯穿案例</vt:lpstr>
      <vt:lpstr>贯穿案例</vt:lpstr>
      <vt:lpstr>课堂编程</vt:lpstr>
      <vt:lpstr>单元总结</vt:lpstr>
      <vt:lpstr>概念图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改逸</cp:lastModifiedBy>
  <cp:revision>3466</cp:revision>
  <dcterms:created xsi:type="dcterms:W3CDTF">2021-08-19T01:11:00Z</dcterms:created>
  <dcterms:modified xsi:type="dcterms:W3CDTF">2026-03-01T08:51:12Z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32EBA337F13C414593817E6204639A4E_12</vt:lpwstr>
  </property>
</Properties>
</file>