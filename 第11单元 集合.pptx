
<file path=[Content_Types].xml><?xml version="1.0" encoding="utf-8"?>
<Types xmlns="http://schemas.openxmlformats.org/package/2006/content-types">
  <Default Extension="jpeg" ContentType="image/jpe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47"/>
  </p:handoutMasterIdLst>
  <p:sldIdLst>
    <p:sldId id="516" r:id="rId3"/>
    <p:sldId id="1677" r:id="rId5"/>
    <p:sldId id="1636" r:id="rId6"/>
    <p:sldId id="1873" r:id="rId7"/>
    <p:sldId id="1718" r:id="rId8"/>
    <p:sldId id="1814" r:id="rId9"/>
    <p:sldId id="1720" r:id="rId10"/>
    <p:sldId id="1932" r:id="rId11"/>
    <p:sldId id="1763" r:id="rId12"/>
    <p:sldId id="1646" r:id="rId13"/>
    <p:sldId id="1764" r:id="rId14"/>
    <p:sldId id="1648" r:id="rId15"/>
    <p:sldId id="1653" r:id="rId16"/>
    <p:sldId id="1993" r:id="rId17"/>
    <p:sldId id="1655" r:id="rId18"/>
    <p:sldId id="1656" r:id="rId19"/>
    <p:sldId id="2026" r:id="rId20"/>
    <p:sldId id="1874" r:id="rId21"/>
    <p:sldId id="1679" r:id="rId22"/>
    <p:sldId id="1657" r:id="rId23"/>
    <p:sldId id="1727" r:id="rId24"/>
    <p:sldId id="1995" r:id="rId25"/>
    <p:sldId id="1660" r:id="rId26"/>
    <p:sldId id="1661" r:id="rId27"/>
    <p:sldId id="1659" r:id="rId28"/>
    <p:sldId id="1662" r:id="rId29"/>
    <p:sldId id="1663" r:id="rId30"/>
    <p:sldId id="1664" r:id="rId31"/>
    <p:sldId id="1665" r:id="rId32"/>
    <p:sldId id="1994" r:id="rId33"/>
    <p:sldId id="1680" r:id="rId34"/>
    <p:sldId id="1986" r:id="rId35"/>
    <p:sldId id="1779" r:id="rId36"/>
    <p:sldId id="1667" r:id="rId37"/>
    <p:sldId id="1630" r:id="rId38"/>
    <p:sldId id="1988" r:id="rId39"/>
    <p:sldId id="1781" r:id="rId40"/>
    <p:sldId id="1633" r:id="rId41"/>
    <p:sldId id="1989" r:id="rId42"/>
    <p:sldId id="1996" r:id="rId43"/>
    <p:sldId id="1815" r:id="rId44"/>
    <p:sldId id="1668" r:id="rId45"/>
    <p:sldId id="515" r:id="rId46"/>
  </p:sldIdLst>
  <p:sldSz cx="9144000" cy="5143500" type="screen16x9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黑体" panose="02010609060101010101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黑体" panose="02010609060101010101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黑体" panose="02010609060101010101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黑体" panose="02010609060101010101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黑体" panose="0201060906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黑体" panose="0201060906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黑体" panose="0201060906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黑体" panose="0201060906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黑体" panose="0201060906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D4E94A47-AE49-4D84-A65D-A02351B52E99}">
          <p14:sldIdLst>
            <p14:sldId id="516"/>
            <p14:sldId id="1677"/>
            <p14:sldId id="1636"/>
            <p14:sldId id="1873"/>
            <p14:sldId id="1718"/>
            <p14:sldId id="1814"/>
            <p14:sldId id="1720"/>
            <p14:sldId id="1932"/>
            <p14:sldId id="1763"/>
            <p14:sldId id="1646"/>
            <p14:sldId id="1764"/>
            <p14:sldId id="1648"/>
          </p14:sldIdLst>
        </p14:section>
        <p14:section name="无标题节" id="{C6A02319-FC08-480E-94C9-FDBDE0A27CE3}">
          <p14:sldIdLst>
            <p14:sldId id="1653"/>
            <p14:sldId id="1993"/>
            <p14:sldId id="1655"/>
            <p14:sldId id="1656"/>
            <p14:sldId id="2026"/>
            <p14:sldId id="1874"/>
            <p14:sldId id="1679"/>
            <p14:sldId id="1657"/>
            <p14:sldId id="1727"/>
            <p14:sldId id="1995"/>
            <p14:sldId id="1660"/>
            <p14:sldId id="1661"/>
            <p14:sldId id="1659"/>
            <p14:sldId id="1662"/>
            <p14:sldId id="1663"/>
            <p14:sldId id="1664"/>
            <p14:sldId id="1665"/>
            <p14:sldId id="1994"/>
            <p14:sldId id="1680"/>
            <p14:sldId id="1986"/>
            <p14:sldId id="1779"/>
            <p14:sldId id="1667"/>
            <p14:sldId id="1630"/>
            <p14:sldId id="1988"/>
            <p14:sldId id="1781"/>
            <p14:sldId id="1633"/>
            <p14:sldId id="1989"/>
            <p14:sldId id="1996"/>
            <p14:sldId id="1815"/>
            <p14:sldId id="1668"/>
            <p14:sldId id="515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作者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FEFF"/>
    <a:srgbClr val="5AADD6"/>
    <a:srgbClr val="C00000"/>
    <a:srgbClr val="0C037D"/>
    <a:srgbClr val="FDFEE8"/>
    <a:srgbClr val="F4F4F4"/>
    <a:srgbClr val="F3F3F3"/>
    <a:srgbClr val="FDF0E7"/>
    <a:srgbClr val="E7F4FF"/>
    <a:srgbClr val="D5E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56" autoAdjust="0"/>
    <p:restoredTop sz="96852" autoAdjust="0"/>
  </p:normalViewPr>
  <p:slideViewPr>
    <p:cSldViewPr>
      <p:cViewPr varScale="1">
        <p:scale>
          <a:sx n="87" d="100"/>
          <a:sy n="87" d="100"/>
        </p:scale>
        <p:origin x="24" y="106"/>
      </p:cViewPr>
      <p:guideLst>
        <p:guide orient="horz" pos="1720"/>
        <p:guide orient="horz" pos="2164"/>
        <p:guide pos="280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-2610" y="-84"/>
      </p:cViewPr>
      <p:guideLst>
        <p:guide orient="horz" pos="3058"/>
        <p:guide pos="210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1" Type="http://schemas.openxmlformats.org/officeDocument/2006/relationships/commentAuthors" Target="commentAuthors.xml"/><Relationship Id="rId50" Type="http://schemas.openxmlformats.org/officeDocument/2006/relationships/tableStyles" Target="tableStyles.xml"/><Relationship Id="rId5" Type="http://schemas.openxmlformats.org/officeDocument/2006/relationships/slide" Target="slides/slide2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handoutMaster" Target="handoutMasters/handoutMaster1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#2">
  <dgm:title val=""/>
  <dgm:desc val=""/>
  <dgm:catLst>
    <dgm:cat type="colorful" pri="10500"/>
  </dgm:catLst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#1">
  <dgm:title val=""/>
  <dgm:desc val=""/>
  <dgm:catLst>
    <dgm:cat type="accent2" pri="11200"/>
  </dgm:catLst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06C2808-4946-4D10-B3C6-CFECB6B88B69}" type="doc">
      <dgm:prSet loTypeId="urn:microsoft.com/office/officeart/2005/8/layout/radial5" loCatId="relationship" qsTypeId="urn:microsoft.com/office/officeart/2005/8/quickstyle/simple5#3" qsCatId="simple" csTypeId="urn:microsoft.com/office/officeart/2005/8/colors/colorful5#2" csCatId="accent1" phldr="1"/>
      <dgm:spPr/>
      <dgm:t>
        <a:bodyPr/>
        <a:lstStyle/>
        <a:p>
          <a:endParaRPr lang="zh-CN" altLang="en-US"/>
        </a:p>
      </dgm:t>
    </dgm:pt>
    <dgm:pt modelId="{606C32C2-2B81-43D2-8731-7AA5BC539E85}">
      <dgm:prSet phldrT="[文本]" phldr="0" custT="0"/>
      <dgm:spPr/>
      <dgm:t>
        <a:bodyPr vert="horz" wrap="square"/>
        <a:lstStyle>
          <a:lvl1pPr algn="ctr">
            <a:defRPr sz="1100"/>
          </a:lvl1pPr>
          <a:lvl2pPr marL="57150" indent="-57150" algn="ctr">
            <a:defRPr sz="800"/>
          </a:lvl2pPr>
          <a:lvl3pPr marL="114300" indent="-57150" algn="ctr">
            <a:defRPr sz="800"/>
          </a:lvl3pPr>
          <a:lvl4pPr marL="171450" indent="-57150" algn="ctr">
            <a:defRPr sz="800"/>
          </a:lvl4pPr>
          <a:lvl5pPr marL="228600" indent="-57150" algn="ctr">
            <a:defRPr sz="800"/>
          </a:lvl5pPr>
          <a:lvl6pPr marL="285750" indent="-57150" algn="ctr">
            <a:defRPr sz="800"/>
          </a:lvl6pPr>
          <a:lvl7pPr marL="342900" indent="-57150" algn="ctr">
            <a:defRPr sz="800"/>
          </a:lvl7pPr>
          <a:lvl8pPr marL="400050" indent="-57150" algn="ctr">
            <a:defRPr sz="800"/>
          </a:lvl8pPr>
          <a:lvl9pPr marL="457200" indent="-57150" algn="ctr">
            <a:defRPr sz="800"/>
          </a:lvl9pPr>
        </a:lstStyle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 dirty="0"/>
            <a:t>集合 </a:t>
          </a:r>
        </a:p>
      </dgm:t>
    </dgm:pt>
    <dgm:pt modelId="{6A930F7C-102B-4B74-A810-0EF8A77C9C80}" cxnId="{B95136EB-F250-455A-868E-4A9A2E7C2553}" type="parTrans">
      <dgm:prSet/>
      <dgm:spPr/>
      <dgm:t>
        <a:bodyPr/>
        <a:lstStyle/>
        <a:p>
          <a:endParaRPr lang="zh-CN" altLang="en-US"/>
        </a:p>
      </dgm:t>
    </dgm:pt>
    <dgm:pt modelId="{6834A72C-D888-4AEC-9D62-346A2EEC237F}" cxnId="{B95136EB-F250-455A-868E-4A9A2E7C2553}" type="sibTrans">
      <dgm:prSet/>
      <dgm:spPr/>
      <dgm:t>
        <a:bodyPr/>
        <a:lstStyle/>
        <a:p>
          <a:endParaRPr lang="zh-CN" altLang="en-US"/>
        </a:p>
      </dgm:t>
    </dgm:pt>
    <dgm:pt modelId="{9EB41CF7-2687-4840-AAF4-087A996B7653}">
      <dgm:prSet phldrT="[文本]" phldr="0" custT="0"/>
      <dgm:spPr/>
      <dgm:t>
        <a:bodyPr vert="horz" wrap="square"/>
        <a:lstStyle>
          <a:lvl1pPr algn="ctr">
            <a:defRPr sz="2600"/>
          </a:lvl1pPr>
          <a:lvl2pPr marL="228600" indent="-228600" algn="ctr">
            <a:defRPr sz="2000"/>
          </a:lvl2pPr>
          <a:lvl3pPr marL="457200" indent="-228600" algn="ctr">
            <a:defRPr sz="2000"/>
          </a:lvl3pPr>
          <a:lvl4pPr marL="685800" indent="-228600" algn="ctr">
            <a:defRPr sz="2000"/>
          </a:lvl4pPr>
          <a:lvl5pPr marL="914400" indent="-228600" algn="ctr">
            <a:defRPr sz="2000"/>
          </a:lvl5pPr>
          <a:lvl6pPr marL="1143000" indent="-228600" algn="ctr">
            <a:defRPr sz="2000"/>
          </a:lvl6pPr>
          <a:lvl7pPr marL="1371600" indent="-228600" algn="ctr">
            <a:defRPr sz="2000"/>
          </a:lvl7pPr>
          <a:lvl8pPr marL="1600200" indent="-228600" algn="ctr">
            <a:defRPr sz="2000"/>
          </a:lvl8pPr>
          <a:lvl9pPr marL="1828800" indent="-228600" algn="ctr">
            <a:defRPr sz="2000"/>
          </a:lvl9pPr>
        </a:lstStyle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/>
            <a:t>差集</a:t>
          </a:r>
        </a:p>
      </dgm:t>
    </dgm:pt>
    <dgm:pt modelId="{F725B255-70E4-4BF2-A614-1EEFDC4C0EBD}" cxnId="{A80183BB-0B66-479E-820E-44FB64BD026E}" type="parTrans">
      <dgm:prSet/>
      <dgm:spPr/>
      <dgm:t>
        <a:bodyPr/>
        <a:lstStyle/>
        <a:p>
          <a:endParaRPr lang="zh-CN" altLang="en-US"/>
        </a:p>
      </dgm:t>
    </dgm:pt>
    <dgm:pt modelId="{BE024001-52C8-4377-9A93-EA2645AD60B3}" cxnId="{A80183BB-0B66-479E-820E-44FB64BD026E}" type="sibTrans">
      <dgm:prSet/>
      <dgm:spPr/>
      <dgm:t>
        <a:bodyPr/>
        <a:lstStyle/>
        <a:p>
          <a:endParaRPr lang="zh-CN" altLang="en-US"/>
        </a:p>
      </dgm:t>
    </dgm:pt>
    <dgm:pt modelId="{1FD7F08B-44CE-4CDA-8621-DB00C9588F7D}">
      <dgm:prSet phldrT="[文本]" phldr="0" custT="0"/>
      <dgm:spPr/>
      <dgm:t>
        <a:bodyPr vert="horz" wrap="square"/>
        <a:lstStyle>
          <a:lvl1pPr algn="ctr">
            <a:defRPr sz="2600"/>
          </a:lvl1pPr>
          <a:lvl2pPr marL="228600" indent="-228600" algn="ctr">
            <a:defRPr sz="2000"/>
          </a:lvl2pPr>
          <a:lvl3pPr marL="457200" indent="-228600" algn="ctr">
            <a:defRPr sz="2000"/>
          </a:lvl3pPr>
          <a:lvl4pPr marL="685800" indent="-228600" algn="ctr">
            <a:defRPr sz="2000"/>
          </a:lvl4pPr>
          <a:lvl5pPr marL="914400" indent="-228600" algn="ctr">
            <a:defRPr sz="2000"/>
          </a:lvl5pPr>
          <a:lvl6pPr marL="1143000" indent="-228600" algn="ctr">
            <a:defRPr sz="2000"/>
          </a:lvl6pPr>
          <a:lvl7pPr marL="1371600" indent="-228600" algn="ctr">
            <a:defRPr sz="2000"/>
          </a:lvl7pPr>
          <a:lvl8pPr marL="1600200" indent="-228600" algn="ctr">
            <a:defRPr sz="2000"/>
          </a:lvl8pPr>
          <a:lvl9pPr marL="1828800" indent="-228600" algn="ctr">
            <a:defRPr sz="2000"/>
          </a:lvl9pPr>
        </a:lstStyle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/>
            <a:t>交集</a:t>
          </a:r>
        </a:p>
      </dgm:t>
    </dgm:pt>
    <dgm:pt modelId="{3006E1B4-77FC-4EBD-A8B7-17D26EF2CDA2}" cxnId="{56C0A48D-3B65-42BA-A14F-67656FCF5CD4}" type="parTrans">
      <dgm:prSet/>
      <dgm:spPr/>
      <dgm:t>
        <a:bodyPr/>
        <a:lstStyle/>
        <a:p>
          <a:endParaRPr lang="zh-CN" altLang="en-US"/>
        </a:p>
      </dgm:t>
    </dgm:pt>
    <dgm:pt modelId="{397A3741-028F-425D-9B8D-8571BF64A664}" cxnId="{56C0A48D-3B65-42BA-A14F-67656FCF5CD4}" type="sibTrans">
      <dgm:prSet/>
      <dgm:spPr/>
      <dgm:t>
        <a:bodyPr/>
        <a:lstStyle/>
        <a:p>
          <a:endParaRPr lang="zh-CN" altLang="en-US"/>
        </a:p>
      </dgm:t>
    </dgm:pt>
    <dgm:pt modelId="{31D1D303-25E8-4D32-91E3-085595839514}">
      <dgm:prSet phldrT="[文本]" phldr="0" custT="0"/>
      <dgm:spPr/>
      <dgm:t>
        <a:bodyPr vert="horz" wrap="square"/>
        <a:lstStyle>
          <a:lvl1pPr algn="ctr">
            <a:defRPr sz="2600"/>
          </a:lvl1pPr>
          <a:lvl2pPr marL="228600" indent="-228600" algn="ctr">
            <a:defRPr sz="2000"/>
          </a:lvl2pPr>
          <a:lvl3pPr marL="457200" indent="-228600" algn="ctr">
            <a:defRPr sz="2000"/>
          </a:lvl3pPr>
          <a:lvl4pPr marL="685800" indent="-228600" algn="ctr">
            <a:defRPr sz="2000"/>
          </a:lvl4pPr>
          <a:lvl5pPr marL="914400" indent="-228600" algn="ctr">
            <a:defRPr sz="2000"/>
          </a:lvl5pPr>
          <a:lvl6pPr marL="1143000" indent="-228600" algn="ctr">
            <a:defRPr sz="2000"/>
          </a:lvl6pPr>
          <a:lvl7pPr marL="1371600" indent="-228600" algn="ctr">
            <a:defRPr sz="2000"/>
          </a:lvl7pPr>
          <a:lvl8pPr marL="1600200" indent="-228600" algn="ctr">
            <a:defRPr sz="2000"/>
          </a:lvl8pPr>
          <a:lvl9pPr marL="1828800" indent="-228600" algn="ctr">
            <a:defRPr sz="2000"/>
          </a:lvl9pPr>
        </a:lstStyle>
        <a:p>
          <a:pPr>
            <a:lnSpc>
              <a:spcPts val="1000"/>
            </a:lnSpc>
            <a:spcBef>
              <a:spcPct val="0"/>
            </a:spcBef>
            <a:spcAft>
              <a:spcPct val="35000"/>
            </a:spcAft>
          </a:pPr>
          <a:endParaRPr lang="en-US" altLang="zh-CN" b="1" dirty="0"/>
        </a:p>
        <a:p>
          <a:pPr>
            <a:lnSpc>
              <a:spcPts val="1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 dirty="0"/>
            <a:t>交叉</a:t>
          </a:r>
          <a:endParaRPr lang="en-US" altLang="zh-CN" b="1" dirty="0"/>
        </a:p>
        <a:p>
          <a:pPr>
            <a:lnSpc>
              <a:spcPts val="1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 dirty="0"/>
            <a:t>补集</a:t>
          </a:r>
        </a:p>
      </dgm:t>
    </dgm:pt>
    <dgm:pt modelId="{E7143639-131F-4238-BF6C-40B660E1F12E}" cxnId="{09F4B52E-BAEB-455A-A507-EF1CB4015F51}" type="parTrans">
      <dgm:prSet/>
      <dgm:spPr/>
      <dgm:t>
        <a:bodyPr/>
        <a:lstStyle/>
        <a:p>
          <a:endParaRPr lang="zh-CN" altLang="en-US"/>
        </a:p>
      </dgm:t>
    </dgm:pt>
    <dgm:pt modelId="{5A4727C6-0B9F-4DBB-9FD5-4817C9BACE96}" cxnId="{09F4B52E-BAEB-455A-A507-EF1CB4015F51}" type="sibTrans">
      <dgm:prSet/>
      <dgm:spPr/>
      <dgm:t>
        <a:bodyPr/>
        <a:lstStyle/>
        <a:p>
          <a:endParaRPr lang="zh-CN" altLang="en-US"/>
        </a:p>
      </dgm:t>
    </dgm:pt>
    <dgm:pt modelId="{ACC556BC-B091-4088-80C6-AED14A312FB5}">
      <dgm:prSet phldrT="[文本]" phldr="0" custT="0"/>
      <dgm:spPr/>
      <dgm:t>
        <a:bodyPr vert="horz" wrap="square"/>
        <a:lstStyle>
          <a:lvl1pPr algn="ctr">
            <a:defRPr sz="2600"/>
          </a:lvl1pPr>
          <a:lvl2pPr marL="228600" indent="-228600" algn="ctr">
            <a:defRPr sz="2000"/>
          </a:lvl2pPr>
          <a:lvl3pPr marL="457200" indent="-228600" algn="ctr">
            <a:defRPr sz="2000"/>
          </a:lvl3pPr>
          <a:lvl4pPr marL="685800" indent="-228600" algn="ctr">
            <a:defRPr sz="2000"/>
          </a:lvl4pPr>
          <a:lvl5pPr marL="914400" indent="-228600" algn="ctr">
            <a:defRPr sz="2000"/>
          </a:lvl5pPr>
          <a:lvl6pPr marL="1143000" indent="-228600" algn="ctr">
            <a:defRPr sz="2000"/>
          </a:lvl6pPr>
          <a:lvl7pPr marL="1371600" indent="-228600" algn="ctr">
            <a:defRPr sz="2000"/>
          </a:lvl7pPr>
          <a:lvl8pPr marL="1600200" indent="-228600" algn="ctr">
            <a:defRPr sz="2000"/>
          </a:lvl8pPr>
          <a:lvl9pPr marL="1828800" indent="-228600" algn="ctr">
            <a:defRPr sz="2000"/>
          </a:lvl9pPr>
        </a:lstStyle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/>
            <a:t>并集</a:t>
          </a:r>
        </a:p>
      </dgm:t>
    </dgm:pt>
    <dgm:pt modelId="{D8C837FD-B8AC-4CC7-A639-B541B9D52215}" cxnId="{CAEB79F8-26D4-4540-A674-EBC1BFD16CE2}" type="parTrans">
      <dgm:prSet/>
      <dgm:spPr/>
      <dgm:t>
        <a:bodyPr/>
        <a:lstStyle/>
        <a:p>
          <a:endParaRPr lang="zh-CN" altLang="en-US"/>
        </a:p>
      </dgm:t>
    </dgm:pt>
    <dgm:pt modelId="{F98D1FBC-D7A2-45AF-ABA0-D342C8F70BC4}" cxnId="{CAEB79F8-26D4-4540-A674-EBC1BFD16CE2}" type="sibTrans">
      <dgm:prSet/>
      <dgm:spPr/>
      <dgm:t>
        <a:bodyPr/>
        <a:lstStyle/>
        <a:p>
          <a:endParaRPr lang="zh-CN" altLang="en-US"/>
        </a:p>
      </dgm:t>
    </dgm:pt>
    <dgm:pt modelId="{3159887D-BC34-4F44-B574-5DC0809E4A70}" type="pres">
      <dgm:prSet presAssocID="{E06C2808-4946-4D10-B3C6-CFECB6B88B69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B49960C0-2478-4BCF-A9C0-745AB8F5088C}" type="pres">
      <dgm:prSet presAssocID="{606C32C2-2B81-43D2-8731-7AA5BC539E85}" presName="centerShape" presStyleLbl="node0" presStyleIdx="0" presStyleCnt="1"/>
      <dgm:spPr/>
    </dgm:pt>
    <dgm:pt modelId="{EC0B8BA3-D1A0-4681-887A-385E8DD367D4}" type="pres">
      <dgm:prSet presAssocID="{F725B255-70E4-4BF2-A614-1EEFDC4C0EBD}" presName="parTrans" presStyleLbl="sibTrans2D1" presStyleIdx="0" presStyleCnt="4"/>
      <dgm:spPr/>
    </dgm:pt>
    <dgm:pt modelId="{3EC7B1D9-2BD6-405A-B2BE-EE40634A0814}" type="pres">
      <dgm:prSet presAssocID="{F725B255-70E4-4BF2-A614-1EEFDC4C0EBD}" presName="connectorText" presStyleLbl="sibTrans2D1" presStyleIdx="0" presStyleCnt="4"/>
      <dgm:spPr/>
    </dgm:pt>
    <dgm:pt modelId="{E439FB7C-643C-454F-9092-F27C7C66C5B0}" type="pres">
      <dgm:prSet presAssocID="{9EB41CF7-2687-4840-AAF4-087A996B7653}" presName="node" presStyleLbl="node1" presStyleIdx="0" presStyleCnt="4">
        <dgm:presLayoutVars>
          <dgm:bulletEnabled val="1"/>
        </dgm:presLayoutVars>
      </dgm:prSet>
      <dgm:spPr/>
    </dgm:pt>
    <dgm:pt modelId="{7B6555EF-08DC-4AF8-B351-7FF0D98BC600}" type="pres">
      <dgm:prSet presAssocID="{3006E1B4-77FC-4EBD-A8B7-17D26EF2CDA2}" presName="parTrans" presStyleLbl="sibTrans2D1" presStyleIdx="1" presStyleCnt="4"/>
      <dgm:spPr/>
    </dgm:pt>
    <dgm:pt modelId="{54D044D7-DDFF-4962-9EA3-1FA11B88BED4}" type="pres">
      <dgm:prSet presAssocID="{3006E1B4-77FC-4EBD-A8B7-17D26EF2CDA2}" presName="connectorText" presStyleLbl="sibTrans2D1" presStyleIdx="1" presStyleCnt="4"/>
      <dgm:spPr/>
    </dgm:pt>
    <dgm:pt modelId="{DA72E5D4-62CF-433D-B5E8-B21F597C9891}" type="pres">
      <dgm:prSet presAssocID="{1FD7F08B-44CE-4CDA-8621-DB00C9588F7D}" presName="node" presStyleLbl="node1" presStyleIdx="1" presStyleCnt="4">
        <dgm:presLayoutVars>
          <dgm:bulletEnabled val="1"/>
        </dgm:presLayoutVars>
      </dgm:prSet>
      <dgm:spPr/>
    </dgm:pt>
    <dgm:pt modelId="{BAA4AF61-D85D-4172-B49F-287A0B9C89FD}" type="pres">
      <dgm:prSet presAssocID="{E7143639-131F-4238-BF6C-40B660E1F12E}" presName="parTrans" presStyleLbl="sibTrans2D1" presStyleIdx="2" presStyleCnt="4"/>
      <dgm:spPr/>
    </dgm:pt>
    <dgm:pt modelId="{0EA34702-5ACE-401D-9EDC-0AEAC90B2447}" type="pres">
      <dgm:prSet presAssocID="{E7143639-131F-4238-BF6C-40B660E1F12E}" presName="connectorText" presStyleLbl="sibTrans2D1" presStyleIdx="2" presStyleCnt="4"/>
      <dgm:spPr/>
    </dgm:pt>
    <dgm:pt modelId="{9E9F3594-8892-41E8-B3EB-FCDEECCFF202}" type="pres">
      <dgm:prSet presAssocID="{31D1D303-25E8-4D32-91E3-085595839514}" presName="node" presStyleLbl="node1" presStyleIdx="2" presStyleCnt="4">
        <dgm:presLayoutVars>
          <dgm:bulletEnabled val="1"/>
        </dgm:presLayoutVars>
      </dgm:prSet>
      <dgm:spPr/>
    </dgm:pt>
    <dgm:pt modelId="{61326397-1233-4C08-8969-7FBCBC2B26B2}" type="pres">
      <dgm:prSet presAssocID="{D8C837FD-B8AC-4CC7-A639-B541B9D52215}" presName="parTrans" presStyleLbl="sibTrans2D1" presStyleIdx="3" presStyleCnt="4"/>
      <dgm:spPr/>
    </dgm:pt>
    <dgm:pt modelId="{6505D330-90B3-4BB2-8F76-B02E19E3B067}" type="pres">
      <dgm:prSet presAssocID="{D8C837FD-B8AC-4CC7-A639-B541B9D52215}" presName="connectorText" presStyleLbl="sibTrans2D1" presStyleIdx="3" presStyleCnt="4"/>
      <dgm:spPr/>
    </dgm:pt>
    <dgm:pt modelId="{EFD94A1D-1705-44D4-9F71-52ACA21AC469}" type="pres">
      <dgm:prSet presAssocID="{ACC556BC-B091-4088-80C6-AED14A312FB5}" presName="node" presStyleLbl="node1" presStyleIdx="3" presStyleCnt="4">
        <dgm:presLayoutVars>
          <dgm:bulletEnabled val="1"/>
        </dgm:presLayoutVars>
      </dgm:prSet>
      <dgm:spPr/>
    </dgm:pt>
  </dgm:ptLst>
  <dgm:cxnLst>
    <dgm:cxn modelId="{DB28BF00-C317-483A-9CE1-E72DF109865D}" type="presOf" srcId="{ACC556BC-B091-4088-80C6-AED14A312FB5}" destId="{EFD94A1D-1705-44D4-9F71-52ACA21AC469}" srcOrd="0" destOrd="0" presId="urn:microsoft.com/office/officeart/2005/8/layout/radial5"/>
    <dgm:cxn modelId="{2F509701-2717-4D8D-8AF4-F27191B3F1C6}" type="presOf" srcId="{3006E1B4-77FC-4EBD-A8B7-17D26EF2CDA2}" destId="{7B6555EF-08DC-4AF8-B351-7FF0D98BC600}" srcOrd="0" destOrd="0" presId="urn:microsoft.com/office/officeart/2005/8/layout/radial5"/>
    <dgm:cxn modelId="{EC21E70D-B8F0-4126-9C59-FA0F625A1F51}" type="presOf" srcId="{F725B255-70E4-4BF2-A614-1EEFDC4C0EBD}" destId="{3EC7B1D9-2BD6-405A-B2BE-EE40634A0814}" srcOrd="1" destOrd="0" presId="urn:microsoft.com/office/officeart/2005/8/layout/radial5"/>
    <dgm:cxn modelId="{FD507D15-7322-43EA-8238-F818B690CF8E}" type="presOf" srcId="{1FD7F08B-44CE-4CDA-8621-DB00C9588F7D}" destId="{DA72E5D4-62CF-433D-B5E8-B21F597C9891}" srcOrd="0" destOrd="0" presId="urn:microsoft.com/office/officeart/2005/8/layout/radial5"/>
    <dgm:cxn modelId="{09F4B52E-BAEB-455A-A507-EF1CB4015F51}" srcId="{606C32C2-2B81-43D2-8731-7AA5BC539E85}" destId="{31D1D303-25E8-4D32-91E3-085595839514}" srcOrd="2" destOrd="0" parTransId="{E7143639-131F-4238-BF6C-40B660E1F12E}" sibTransId="{5A4727C6-0B9F-4DBB-9FD5-4817C9BACE96}"/>
    <dgm:cxn modelId="{CDD22768-AE0D-44F8-B2B1-2683F1EE01DC}" type="presOf" srcId="{E7143639-131F-4238-BF6C-40B660E1F12E}" destId="{BAA4AF61-D85D-4172-B49F-287A0B9C89FD}" srcOrd="0" destOrd="0" presId="urn:microsoft.com/office/officeart/2005/8/layout/radial5"/>
    <dgm:cxn modelId="{D3294048-9905-49D9-9C06-E827A77C609C}" type="presOf" srcId="{E06C2808-4946-4D10-B3C6-CFECB6B88B69}" destId="{3159887D-BC34-4F44-B574-5DC0809E4A70}" srcOrd="0" destOrd="0" presId="urn:microsoft.com/office/officeart/2005/8/layout/radial5"/>
    <dgm:cxn modelId="{3249D779-8C21-41A5-8E9C-2A21288EE3E9}" type="presOf" srcId="{606C32C2-2B81-43D2-8731-7AA5BC539E85}" destId="{B49960C0-2478-4BCF-A9C0-745AB8F5088C}" srcOrd="0" destOrd="0" presId="urn:microsoft.com/office/officeart/2005/8/layout/radial5"/>
    <dgm:cxn modelId="{0036A37D-FF7C-4F40-BAB6-A6265848F53D}" type="presOf" srcId="{3006E1B4-77FC-4EBD-A8B7-17D26EF2CDA2}" destId="{54D044D7-DDFF-4962-9EA3-1FA11B88BED4}" srcOrd="1" destOrd="0" presId="urn:microsoft.com/office/officeart/2005/8/layout/radial5"/>
    <dgm:cxn modelId="{56C0A48D-3B65-42BA-A14F-67656FCF5CD4}" srcId="{606C32C2-2B81-43D2-8731-7AA5BC539E85}" destId="{1FD7F08B-44CE-4CDA-8621-DB00C9588F7D}" srcOrd="1" destOrd="0" parTransId="{3006E1B4-77FC-4EBD-A8B7-17D26EF2CDA2}" sibTransId="{397A3741-028F-425D-9B8D-8571BF64A664}"/>
    <dgm:cxn modelId="{D2941C8F-F2DE-4F4E-AA8D-D6BB88DC751E}" type="presOf" srcId="{31D1D303-25E8-4D32-91E3-085595839514}" destId="{9E9F3594-8892-41E8-B3EB-FCDEECCFF202}" srcOrd="0" destOrd="0" presId="urn:microsoft.com/office/officeart/2005/8/layout/radial5"/>
    <dgm:cxn modelId="{656787A9-4EA8-40F5-9150-67B2E5D3D4CC}" type="presOf" srcId="{D8C837FD-B8AC-4CC7-A639-B541B9D52215}" destId="{61326397-1233-4C08-8969-7FBCBC2B26B2}" srcOrd="0" destOrd="0" presId="urn:microsoft.com/office/officeart/2005/8/layout/radial5"/>
    <dgm:cxn modelId="{A80183BB-0B66-479E-820E-44FB64BD026E}" srcId="{606C32C2-2B81-43D2-8731-7AA5BC539E85}" destId="{9EB41CF7-2687-4840-AAF4-087A996B7653}" srcOrd="0" destOrd="0" parTransId="{F725B255-70E4-4BF2-A614-1EEFDC4C0EBD}" sibTransId="{BE024001-52C8-4377-9A93-EA2645AD60B3}"/>
    <dgm:cxn modelId="{A7699CD1-4DAF-41C2-A5BA-5F679F982B3C}" type="presOf" srcId="{D8C837FD-B8AC-4CC7-A639-B541B9D52215}" destId="{6505D330-90B3-4BB2-8F76-B02E19E3B067}" srcOrd="1" destOrd="0" presId="urn:microsoft.com/office/officeart/2005/8/layout/radial5"/>
    <dgm:cxn modelId="{79FAF0D2-B2D7-4D03-BB69-FCB8F150A6D9}" type="presOf" srcId="{E7143639-131F-4238-BF6C-40B660E1F12E}" destId="{0EA34702-5ACE-401D-9EDC-0AEAC90B2447}" srcOrd="1" destOrd="0" presId="urn:microsoft.com/office/officeart/2005/8/layout/radial5"/>
    <dgm:cxn modelId="{26A351D5-FC58-43A2-9274-733CC97CD690}" type="presOf" srcId="{9EB41CF7-2687-4840-AAF4-087A996B7653}" destId="{E439FB7C-643C-454F-9092-F27C7C66C5B0}" srcOrd="0" destOrd="0" presId="urn:microsoft.com/office/officeart/2005/8/layout/radial5"/>
    <dgm:cxn modelId="{001F8ED6-5B94-4B43-86F2-7A2E8562996B}" type="presOf" srcId="{F725B255-70E4-4BF2-A614-1EEFDC4C0EBD}" destId="{EC0B8BA3-D1A0-4681-887A-385E8DD367D4}" srcOrd="0" destOrd="0" presId="urn:microsoft.com/office/officeart/2005/8/layout/radial5"/>
    <dgm:cxn modelId="{B95136EB-F250-455A-868E-4A9A2E7C2553}" srcId="{E06C2808-4946-4D10-B3C6-CFECB6B88B69}" destId="{606C32C2-2B81-43D2-8731-7AA5BC539E85}" srcOrd="0" destOrd="0" parTransId="{6A930F7C-102B-4B74-A810-0EF8A77C9C80}" sibTransId="{6834A72C-D888-4AEC-9D62-346A2EEC237F}"/>
    <dgm:cxn modelId="{CAEB79F8-26D4-4540-A674-EBC1BFD16CE2}" srcId="{606C32C2-2B81-43D2-8731-7AA5BC539E85}" destId="{ACC556BC-B091-4088-80C6-AED14A312FB5}" srcOrd="3" destOrd="0" parTransId="{D8C837FD-B8AC-4CC7-A639-B541B9D52215}" sibTransId="{F98D1FBC-D7A2-45AF-ABA0-D342C8F70BC4}"/>
    <dgm:cxn modelId="{A48D13B4-2537-408F-A54D-55ADD8973C34}" type="presParOf" srcId="{3159887D-BC34-4F44-B574-5DC0809E4A70}" destId="{B49960C0-2478-4BCF-A9C0-745AB8F5088C}" srcOrd="0" destOrd="0" presId="urn:microsoft.com/office/officeart/2005/8/layout/radial5"/>
    <dgm:cxn modelId="{893919D2-5766-41AF-A8CD-E73A0F9EE15A}" type="presParOf" srcId="{3159887D-BC34-4F44-B574-5DC0809E4A70}" destId="{EC0B8BA3-D1A0-4681-887A-385E8DD367D4}" srcOrd="1" destOrd="0" presId="urn:microsoft.com/office/officeart/2005/8/layout/radial5"/>
    <dgm:cxn modelId="{9E1BD3D3-41B0-4A11-88D0-96ED6DBBEBAF}" type="presParOf" srcId="{EC0B8BA3-D1A0-4681-887A-385E8DD367D4}" destId="{3EC7B1D9-2BD6-405A-B2BE-EE40634A0814}" srcOrd="0" destOrd="0" presId="urn:microsoft.com/office/officeart/2005/8/layout/radial5"/>
    <dgm:cxn modelId="{4DF859FD-0356-410F-AB6B-9BF8FA89C886}" type="presParOf" srcId="{3159887D-BC34-4F44-B574-5DC0809E4A70}" destId="{E439FB7C-643C-454F-9092-F27C7C66C5B0}" srcOrd="2" destOrd="0" presId="urn:microsoft.com/office/officeart/2005/8/layout/radial5"/>
    <dgm:cxn modelId="{D0C8FFC7-01D8-40F4-97B0-8BA0BF1935E0}" type="presParOf" srcId="{3159887D-BC34-4F44-B574-5DC0809E4A70}" destId="{7B6555EF-08DC-4AF8-B351-7FF0D98BC600}" srcOrd="3" destOrd="0" presId="urn:microsoft.com/office/officeart/2005/8/layout/radial5"/>
    <dgm:cxn modelId="{EBB43626-3BF2-4C28-84D1-862C869920F8}" type="presParOf" srcId="{7B6555EF-08DC-4AF8-B351-7FF0D98BC600}" destId="{54D044D7-DDFF-4962-9EA3-1FA11B88BED4}" srcOrd="0" destOrd="0" presId="urn:microsoft.com/office/officeart/2005/8/layout/radial5"/>
    <dgm:cxn modelId="{9739A902-A2E8-4497-9001-2845F9E4A5F8}" type="presParOf" srcId="{3159887D-BC34-4F44-B574-5DC0809E4A70}" destId="{DA72E5D4-62CF-433D-B5E8-B21F597C9891}" srcOrd="4" destOrd="0" presId="urn:microsoft.com/office/officeart/2005/8/layout/radial5"/>
    <dgm:cxn modelId="{6EC294DA-19F1-4AC4-9B50-E1F37C73171A}" type="presParOf" srcId="{3159887D-BC34-4F44-B574-5DC0809E4A70}" destId="{BAA4AF61-D85D-4172-B49F-287A0B9C89FD}" srcOrd="5" destOrd="0" presId="urn:microsoft.com/office/officeart/2005/8/layout/radial5"/>
    <dgm:cxn modelId="{1F721F2E-7206-47BA-A342-C75B6323493F}" type="presParOf" srcId="{BAA4AF61-D85D-4172-B49F-287A0B9C89FD}" destId="{0EA34702-5ACE-401D-9EDC-0AEAC90B2447}" srcOrd="0" destOrd="0" presId="urn:microsoft.com/office/officeart/2005/8/layout/radial5"/>
    <dgm:cxn modelId="{CD70D6E1-3C21-483E-B12E-BF50F9F976B1}" type="presParOf" srcId="{3159887D-BC34-4F44-B574-5DC0809E4A70}" destId="{9E9F3594-8892-41E8-B3EB-FCDEECCFF202}" srcOrd="6" destOrd="0" presId="urn:microsoft.com/office/officeart/2005/8/layout/radial5"/>
    <dgm:cxn modelId="{B5DEE56E-8F0E-4175-809C-130BBAB1E5CF}" type="presParOf" srcId="{3159887D-BC34-4F44-B574-5DC0809E4A70}" destId="{61326397-1233-4C08-8969-7FBCBC2B26B2}" srcOrd="7" destOrd="0" presId="urn:microsoft.com/office/officeart/2005/8/layout/radial5"/>
    <dgm:cxn modelId="{58B572FB-524F-4987-AC02-9623A4C2FBCD}" type="presParOf" srcId="{61326397-1233-4C08-8969-7FBCBC2B26B2}" destId="{6505D330-90B3-4BB2-8F76-B02E19E3B067}" srcOrd="0" destOrd="0" presId="urn:microsoft.com/office/officeart/2005/8/layout/radial5"/>
    <dgm:cxn modelId="{EA445FF4-B49B-4985-A706-38D7697A2597}" type="presParOf" srcId="{3159887D-BC34-4F44-B574-5DC0809E4A70}" destId="{EFD94A1D-1705-44D4-9F71-52ACA21AC469}" srcOrd="8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60AC3EC-7ED7-4014-86F6-A40291F8D7C1}" type="doc">
      <dgm:prSet loTypeId="urn:microsoft.com/office/officeart/2005/8/layout/arrow4" loCatId="relationship" qsTypeId="urn:microsoft.com/office/officeart/2005/8/quickstyle/3d7#1" qsCatId="3D" csTypeId="urn:microsoft.com/office/officeart/2005/8/colors/accent2_2#1" csCatId="accent2" phldr="1"/>
      <dgm:spPr/>
      <dgm:t>
        <a:bodyPr/>
        <a:lstStyle/>
        <a:p>
          <a:endParaRPr lang="zh-CN" altLang="en-US"/>
        </a:p>
      </dgm:t>
    </dgm:pt>
    <dgm:pt modelId="{8554FEC3-CE11-4113-B98E-4183465EFF74}">
      <dgm:prSet phldrT="[文本]"/>
      <dgm:spPr/>
      <dgm:t>
        <a:bodyPr/>
        <a:lstStyle/>
        <a:p>
          <a:r>
            <a:rPr lang="zh-CN" altLang="en-US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rPr>
            <a:t>手选方案</a:t>
          </a:r>
          <a:endParaRPr lang="en-US" altLang="zh-CN" b="1" cap="none" spc="0" dirty="0">
            <a:ln w="6600">
              <a:solidFill>
                <a:schemeClr val="accent2"/>
              </a:solidFill>
              <a:prstDash val="solid"/>
            </a:ln>
            <a:solidFill>
              <a:srgbClr val="FFFFFF"/>
            </a:solidFill>
            <a:effectLst>
              <a:outerShdw dist="38100" dir="2700000" algn="tl" rotWithShape="0">
                <a:schemeClr val="accent2"/>
              </a:outerShdw>
            </a:effectLst>
          </a:endParaRPr>
        </a:p>
        <a:p>
          <a:r>
            <a:rPr lang="zh-CN" altLang="en-US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rPr>
            <a:t>用户自己选出</a:t>
          </a:r>
          <a:r>
            <a:rPr lang="en-US" altLang="zh-CN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rPr>
            <a:t>6</a:t>
          </a:r>
          <a:r>
            <a:rPr lang="zh-CN" altLang="en-US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rPr>
            <a:t>个目标球</a:t>
          </a:r>
          <a:endParaRPr lang="en-US" altLang="zh-CN" b="1" cap="none" spc="0" dirty="0">
            <a:ln w="22225">
              <a:solidFill>
                <a:schemeClr val="accent2"/>
              </a:solidFill>
              <a:prstDash val="solid"/>
            </a:ln>
            <a:solidFill>
              <a:schemeClr val="accent2">
                <a:lumMod val="40000"/>
                <a:lumOff val="60000"/>
              </a:schemeClr>
            </a:solidFill>
            <a:effectLst/>
          </a:endParaRPr>
        </a:p>
      </dgm:t>
    </dgm:pt>
    <dgm:pt modelId="{E5293ADE-1D32-46E1-8CB7-F3627DB338B3}" cxnId="{1DA50285-71DA-4DCB-8F34-93EB3B3F5F90}" type="parTrans">
      <dgm:prSet/>
      <dgm:spPr/>
      <dgm:t>
        <a:bodyPr/>
        <a:lstStyle/>
        <a:p>
          <a:endParaRPr lang="zh-CN" altLang="en-US"/>
        </a:p>
      </dgm:t>
    </dgm:pt>
    <dgm:pt modelId="{AF8054A7-3341-4206-BAA8-B5BAD1757344}" cxnId="{1DA50285-71DA-4DCB-8F34-93EB3B3F5F90}" type="sibTrans">
      <dgm:prSet/>
      <dgm:spPr/>
      <dgm:t>
        <a:bodyPr/>
        <a:lstStyle/>
        <a:p>
          <a:endParaRPr lang="zh-CN" altLang="en-US"/>
        </a:p>
      </dgm:t>
    </dgm:pt>
    <dgm:pt modelId="{982E6798-0F92-42C7-9D2C-19B92AF155AE}">
      <dgm:prSet phldrT="[文本]"/>
      <dgm:spPr/>
      <dgm:t>
        <a:bodyPr/>
        <a:lstStyle/>
        <a:p>
          <a:r>
            <a:rPr lang="zh-CN" altLang="en-US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rPr>
            <a:t>机选方案</a:t>
          </a:r>
          <a:endParaRPr lang="en-US" altLang="zh-CN" b="1" cap="none" spc="0" dirty="0">
            <a:ln w="6600">
              <a:solidFill>
                <a:schemeClr val="accent2"/>
              </a:solidFill>
              <a:prstDash val="solid"/>
            </a:ln>
            <a:solidFill>
              <a:srgbClr val="FFFFFF"/>
            </a:solidFill>
            <a:effectLst>
              <a:outerShdw dist="38100" dir="2700000" algn="tl" rotWithShape="0">
                <a:schemeClr val="accent2"/>
              </a:outerShdw>
            </a:effectLst>
          </a:endParaRPr>
        </a:p>
        <a:p>
          <a:r>
            <a:rPr lang="zh-CN" altLang="en-US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rPr>
            <a:t>电脑随机选出</a:t>
          </a:r>
          <a:r>
            <a:rPr lang="en-US" altLang="zh-CN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rPr>
            <a:t>6</a:t>
          </a:r>
          <a:r>
            <a:rPr lang="zh-CN" altLang="en-US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rPr>
            <a:t>个目标球</a:t>
          </a:r>
        </a:p>
      </dgm:t>
    </dgm:pt>
    <dgm:pt modelId="{C04B4AEA-DBEB-4965-B92F-CD7784949546}" cxnId="{44A698F0-B06A-4252-A9EA-00CC1197F88B}" type="parTrans">
      <dgm:prSet/>
      <dgm:spPr/>
      <dgm:t>
        <a:bodyPr/>
        <a:lstStyle/>
        <a:p>
          <a:endParaRPr lang="zh-CN" altLang="en-US"/>
        </a:p>
      </dgm:t>
    </dgm:pt>
    <dgm:pt modelId="{C4241E05-6426-4B98-86D0-36296361E308}" cxnId="{44A698F0-B06A-4252-A9EA-00CC1197F88B}" type="sibTrans">
      <dgm:prSet/>
      <dgm:spPr/>
      <dgm:t>
        <a:bodyPr/>
        <a:lstStyle/>
        <a:p>
          <a:endParaRPr lang="zh-CN" altLang="en-US"/>
        </a:p>
      </dgm:t>
    </dgm:pt>
    <dgm:pt modelId="{1CE5683C-73FE-476A-988D-F1686A742251}" type="pres">
      <dgm:prSet presAssocID="{A60AC3EC-7ED7-4014-86F6-A40291F8D7C1}" presName="compositeShape" presStyleCnt="0">
        <dgm:presLayoutVars>
          <dgm:chMax val="2"/>
          <dgm:dir/>
          <dgm:resizeHandles val="exact"/>
        </dgm:presLayoutVars>
      </dgm:prSet>
      <dgm:spPr/>
    </dgm:pt>
    <dgm:pt modelId="{FBE10FC2-CC8C-4A1A-8CDA-8735C79EED04}" type="pres">
      <dgm:prSet presAssocID="{8554FEC3-CE11-4113-B98E-4183465EFF74}" presName="upArrow" presStyleLbl="node1" presStyleIdx="0" presStyleCnt="2"/>
      <dgm:spPr/>
    </dgm:pt>
    <dgm:pt modelId="{A3153AD7-7788-44B5-BDC0-32FEB64F1B85}" type="pres">
      <dgm:prSet presAssocID="{8554FEC3-CE11-4113-B98E-4183465EFF74}" presName="upArrowText" presStyleLbl="revTx" presStyleIdx="0" presStyleCnt="2">
        <dgm:presLayoutVars>
          <dgm:chMax val="0"/>
          <dgm:bulletEnabled val="1"/>
        </dgm:presLayoutVars>
      </dgm:prSet>
      <dgm:spPr/>
    </dgm:pt>
    <dgm:pt modelId="{75D37277-5356-4A49-8DA5-1BAD8D16B012}" type="pres">
      <dgm:prSet presAssocID="{982E6798-0F92-42C7-9D2C-19B92AF155AE}" presName="downArrow" presStyleLbl="node1" presStyleIdx="1" presStyleCnt="2"/>
      <dgm:spPr/>
    </dgm:pt>
    <dgm:pt modelId="{4300625F-318B-4DF8-A5FC-B25A2597D377}" type="pres">
      <dgm:prSet presAssocID="{982E6798-0F92-42C7-9D2C-19B92AF155AE}" presName="downArrowText" presStyleLbl="revTx" presStyleIdx="1" presStyleCnt="2">
        <dgm:presLayoutVars>
          <dgm:chMax val="0"/>
          <dgm:bulletEnabled val="1"/>
        </dgm:presLayoutVars>
      </dgm:prSet>
      <dgm:spPr/>
    </dgm:pt>
  </dgm:ptLst>
  <dgm:cxnLst>
    <dgm:cxn modelId="{21827D20-76D1-4D20-B19C-E33A538FCC24}" type="presOf" srcId="{A60AC3EC-7ED7-4014-86F6-A40291F8D7C1}" destId="{1CE5683C-73FE-476A-988D-F1686A742251}" srcOrd="0" destOrd="0" presId="urn:microsoft.com/office/officeart/2005/8/layout/arrow4"/>
    <dgm:cxn modelId="{2DF2EC3E-9939-40DC-8624-754E3B3CA278}" type="presOf" srcId="{8554FEC3-CE11-4113-B98E-4183465EFF74}" destId="{A3153AD7-7788-44B5-BDC0-32FEB64F1B85}" srcOrd="0" destOrd="0" presId="urn:microsoft.com/office/officeart/2005/8/layout/arrow4"/>
    <dgm:cxn modelId="{1DA50285-71DA-4DCB-8F34-93EB3B3F5F90}" srcId="{A60AC3EC-7ED7-4014-86F6-A40291F8D7C1}" destId="{8554FEC3-CE11-4113-B98E-4183465EFF74}" srcOrd="0" destOrd="0" parTransId="{E5293ADE-1D32-46E1-8CB7-F3627DB338B3}" sibTransId="{AF8054A7-3341-4206-BAA8-B5BAD1757344}"/>
    <dgm:cxn modelId="{44A698F0-B06A-4252-A9EA-00CC1197F88B}" srcId="{A60AC3EC-7ED7-4014-86F6-A40291F8D7C1}" destId="{982E6798-0F92-42C7-9D2C-19B92AF155AE}" srcOrd="1" destOrd="0" parTransId="{C04B4AEA-DBEB-4965-B92F-CD7784949546}" sibTransId="{C4241E05-6426-4B98-86D0-36296361E308}"/>
    <dgm:cxn modelId="{E59D21F3-D677-4188-89D1-51879555F237}" type="presOf" srcId="{982E6798-0F92-42C7-9D2C-19B92AF155AE}" destId="{4300625F-318B-4DF8-A5FC-B25A2597D377}" srcOrd="0" destOrd="0" presId="urn:microsoft.com/office/officeart/2005/8/layout/arrow4"/>
    <dgm:cxn modelId="{FA2B63F3-B36E-4F1D-9BF5-BCDEEE78C694}" type="presParOf" srcId="{1CE5683C-73FE-476A-988D-F1686A742251}" destId="{FBE10FC2-CC8C-4A1A-8CDA-8735C79EED04}" srcOrd="0" destOrd="0" presId="urn:microsoft.com/office/officeart/2005/8/layout/arrow4"/>
    <dgm:cxn modelId="{459A29F9-4139-4E2F-B1CF-B051BCE8EE22}" type="presParOf" srcId="{1CE5683C-73FE-476A-988D-F1686A742251}" destId="{A3153AD7-7788-44B5-BDC0-32FEB64F1B85}" srcOrd="1" destOrd="0" presId="urn:microsoft.com/office/officeart/2005/8/layout/arrow4"/>
    <dgm:cxn modelId="{07A6C18C-D6CC-41D5-B541-B0DEBBA4A70D}" type="presParOf" srcId="{1CE5683C-73FE-476A-988D-F1686A742251}" destId="{75D37277-5356-4A49-8DA5-1BAD8D16B012}" srcOrd="2" destOrd="0" presId="urn:microsoft.com/office/officeart/2005/8/layout/arrow4"/>
    <dgm:cxn modelId="{CAC9BDEE-9DD8-4495-A965-4BBED53D27BE}" type="presParOf" srcId="{1CE5683C-73FE-476A-988D-F1686A742251}" destId="{4300625F-318B-4DF8-A5FC-B25A2597D377}" srcOrd="3" destOrd="0" presId="urn:microsoft.com/office/officeart/2005/8/layout/arrow4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9960C0-2478-4BCF-A9C0-745AB8F5088C}">
      <dsp:nvSpPr>
        <dsp:cNvPr id="0" name=""/>
        <dsp:cNvSpPr/>
      </dsp:nvSpPr>
      <dsp:spPr>
        <a:xfrm>
          <a:off x="2616764" y="1470272"/>
          <a:ext cx="1049160" cy="1049160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600" b="1" kern="1200" dirty="0"/>
            <a:t>集合 </a:t>
          </a:r>
        </a:p>
      </dsp:txBody>
      <dsp:txXfrm>
        <a:off x="2770410" y="1623918"/>
        <a:ext cx="741868" cy="741868"/>
      </dsp:txXfrm>
    </dsp:sp>
    <dsp:sp modelId="{EC0B8BA3-D1A0-4681-887A-385E8DD367D4}">
      <dsp:nvSpPr>
        <dsp:cNvPr id="0" name=""/>
        <dsp:cNvSpPr/>
      </dsp:nvSpPr>
      <dsp:spPr>
        <a:xfrm rot="16200000">
          <a:off x="3030404" y="1088873"/>
          <a:ext cx="221880" cy="35671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500" kern="1200"/>
        </a:p>
      </dsp:txBody>
      <dsp:txXfrm>
        <a:off x="3063686" y="1193498"/>
        <a:ext cx="155316" cy="214028"/>
      </dsp:txXfrm>
    </dsp:sp>
    <dsp:sp modelId="{E439FB7C-643C-454F-9092-F27C7C66C5B0}">
      <dsp:nvSpPr>
        <dsp:cNvPr id="0" name=""/>
        <dsp:cNvSpPr/>
      </dsp:nvSpPr>
      <dsp:spPr>
        <a:xfrm>
          <a:off x="2616764" y="2470"/>
          <a:ext cx="1049160" cy="1049160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/>
            <a:t>差集</a:t>
          </a:r>
        </a:p>
      </dsp:txBody>
      <dsp:txXfrm>
        <a:off x="2770410" y="156116"/>
        <a:ext cx="741868" cy="741868"/>
      </dsp:txXfrm>
    </dsp:sp>
    <dsp:sp modelId="{7B6555EF-08DC-4AF8-B351-7FF0D98BC600}">
      <dsp:nvSpPr>
        <dsp:cNvPr id="0" name=""/>
        <dsp:cNvSpPr/>
      </dsp:nvSpPr>
      <dsp:spPr>
        <a:xfrm>
          <a:off x="3758026" y="1816495"/>
          <a:ext cx="221880" cy="35671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-3783652"/>
                <a:satOff val="5744"/>
                <a:lumOff val="-100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783652"/>
                <a:satOff val="5744"/>
                <a:lumOff val="-100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783652"/>
                <a:satOff val="5744"/>
                <a:lumOff val="-100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500" kern="1200"/>
        </a:p>
      </dsp:txBody>
      <dsp:txXfrm>
        <a:off x="3758026" y="1887838"/>
        <a:ext cx="155316" cy="214028"/>
      </dsp:txXfrm>
    </dsp:sp>
    <dsp:sp modelId="{DA72E5D4-62CF-433D-B5E8-B21F597C9891}">
      <dsp:nvSpPr>
        <dsp:cNvPr id="0" name=""/>
        <dsp:cNvSpPr/>
      </dsp:nvSpPr>
      <dsp:spPr>
        <a:xfrm>
          <a:off x="4084567" y="1470272"/>
          <a:ext cx="1049160" cy="1049160"/>
        </a:xfrm>
        <a:prstGeom prst="ellipse">
          <a:avLst/>
        </a:prstGeom>
        <a:gradFill rotWithShape="0">
          <a:gsLst>
            <a:gs pos="0">
              <a:schemeClr val="accent5">
                <a:hueOff val="-3783652"/>
                <a:satOff val="5744"/>
                <a:lumOff val="-100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783652"/>
                <a:satOff val="5744"/>
                <a:lumOff val="-100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783652"/>
                <a:satOff val="5744"/>
                <a:lumOff val="-100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/>
            <a:t>交集</a:t>
          </a:r>
        </a:p>
      </dsp:txBody>
      <dsp:txXfrm>
        <a:off x="4238213" y="1623918"/>
        <a:ext cx="741868" cy="741868"/>
      </dsp:txXfrm>
    </dsp:sp>
    <dsp:sp modelId="{BAA4AF61-D85D-4172-B49F-287A0B9C89FD}">
      <dsp:nvSpPr>
        <dsp:cNvPr id="0" name=""/>
        <dsp:cNvSpPr/>
      </dsp:nvSpPr>
      <dsp:spPr>
        <a:xfrm rot="5400000">
          <a:off x="3030404" y="2544116"/>
          <a:ext cx="221880" cy="35671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-7567303"/>
                <a:satOff val="11489"/>
                <a:lumOff val="-2013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7567303"/>
                <a:satOff val="11489"/>
                <a:lumOff val="-2013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7567303"/>
                <a:satOff val="11489"/>
                <a:lumOff val="-2013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500" kern="1200"/>
        </a:p>
      </dsp:txBody>
      <dsp:txXfrm>
        <a:off x="3063686" y="2582177"/>
        <a:ext cx="155316" cy="214028"/>
      </dsp:txXfrm>
    </dsp:sp>
    <dsp:sp modelId="{9E9F3594-8892-41E8-B3EB-FCDEECCFF202}">
      <dsp:nvSpPr>
        <dsp:cNvPr id="0" name=""/>
        <dsp:cNvSpPr/>
      </dsp:nvSpPr>
      <dsp:spPr>
        <a:xfrm>
          <a:off x="2616764" y="2938074"/>
          <a:ext cx="1049160" cy="1049160"/>
        </a:xfrm>
        <a:prstGeom prst="ellipse">
          <a:avLst/>
        </a:prstGeom>
        <a:gradFill rotWithShape="0">
          <a:gsLst>
            <a:gs pos="0">
              <a:schemeClr val="accent5">
                <a:hueOff val="-7567303"/>
                <a:satOff val="11489"/>
                <a:lumOff val="-2013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7567303"/>
                <a:satOff val="11489"/>
                <a:lumOff val="-2013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7567303"/>
                <a:satOff val="11489"/>
                <a:lumOff val="-2013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ts val="1000"/>
            </a:lnSpc>
            <a:spcBef>
              <a:spcPct val="0"/>
            </a:spcBef>
            <a:spcAft>
              <a:spcPct val="35000"/>
            </a:spcAft>
            <a:buNone/>
          </a:pPr>
          <a:endParaRPr lang="en-US" altLang="zh-CN" sz="1800" b="1" kern="1200" dirty="0"/>
        </a:p>
        <a:p>
          <a:pPr marL="0" lvl="0" indent="0" algn="ctr" defTabSz="800100">
            <a:lnSpc>
              <a:spcPts val="1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/>
            <a:t>交叉</a:t>
          </a:r>
          <a:endParaRPr lang="en-US" altLang="zh-CN" sz="1800" b="1" kern="1200" dirty="0"/>
        </a:p>
        <a:p>
          <a:pPr marL="0" lvl="0" indent="0" algn="ctr" defTabSz="800100">
            <a:lnSpc>
              <a:spcPts val="1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/>
            <a:t>补集</a:t>
          </a:r>
        </a:p>
      </dsp:txBody>
      <dsp:txXfrm>
        <a:off x="2770410" y="3091720"/>
        <a:ext cx="741868" cy="741868"/>
      </dsp:txXfrm>
    </dsp:sp>
    <dsp:sp modelId="{61326397-1233-4C08-8969-7FBCBC2B26B2}">
      <dsp:nvSpPr>
        <dsp:cNvPr id="0" name=""/>
        <dsp:cNvSpPr/>
      </dsp:nvSpPr>
      <dsp:spPr>
        <a:xfrm rot="10800000">
          <a:off x="2302783" y="1816495"/>
          <a:ext cx="221880" cy="35671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-11350954"/>
                <a:satOff val="17233"/>
                <a:lumOff val="-3019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1350954"/>
                <a:satOff val="17233"/>
                <a:lumOff val="-3019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1350954"/>
                <a:satOff val="17233"/>
                <a:lumOff val="-3019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500" kern="1200"/>
        </a:p>
      </dsp:txBody>
      <dsp:txXfrm rot="10800000">
        <a:off x="2369347" y="1887838"/>
        <a:ext cx="155316" cy="214028"/>
      </dsp:txXfrm>
    </dsp:sp>
    <dsp:sp modelId="{EFD94A1D-1705-44D4-9F71-52ACA21AC469}">
      <dsp:nvSpPr>
        <dsp:cNvPr id="0" name=""/>
        <dsp:cNvSpPr/>
      </dsp:nvSpPr>
      <dsp:spPr>
        <a:xfrm>
          <a:off x="1148962" y="1470272"/>
          <a:ext cx="1049160" cy="1049160"/>
        </a:xfrm>
        <a:prstGeom prst="ellipse">
          <a:avLst/>
        </a:prstGeom>
        <a:gradFill rotWithShape="0">
          <a:gsLst>
            <a:gs pos="0">
              <a:schemeClr val="accent5">
                <a:hueOff val="-11350954"/>
                <a:satOff val="17233"/>
                <a:lumOff val="-3019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1350954"/>
                <a:satOff val="17233"/>
                <a:lumOff val="-3019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1350954"/>
                <a:satOff val="17233"/>
                <a:lumOff val="-3019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/>
            <a:t>并集</a:t>
          </a:r>
        </a:p>
      </dsp:txBody>
      <dsp:txXfrm>
        <a:off x="1302608" y="1623918"/>
        <a:ext cx="741868" cy="7418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E10FC2-CC8C-4A1A-8CDA-8735C79EED04}">
      <dsp:nvSpPr>
        <dsp:cNvPr id="0" name=""/>
        <dsp:cNvSpPr/>
      </dsp:nvSpPr>
      <dsp:spPr>
        <a:xfrm>
          <a:off x="307132" y="0"/>
          <a:ext cx="2396744" cy="1797558"/>
        </a:xfrm>
        <a:prstGeom prst="upArrow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A3153AD7-7788-44B5-BDC0-32FEB64F1B85}">
      <dsp:nvSpPr>
        <dsp:cNvPr id="0" name=""/>
        <dsp:cNvSpPr/>
      </dsp:nvSpPr>
      <dsp:spPr>
        <a:xfrm>
          <a:off x="2775779" y="0"/>
          <a:ext cx="4838826" cy="1797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0" rIns="227584" bIns="227584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200" b="1" kern="1200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rPr>
            <a:t>手选方案</a:t>
          </a:r>
          <a:endParaRPr lang="en-US" altLang="zh-CN" sz="3200" b="1" kern="1200" cap="none" spc="0" dirty="0">
            <a:ln w="6600">
              <a:solidFill>
                <a:schemeClr val="accent2"/>
              </a:solidFill>
              <a:prstDash val="solid"/>
            </a:ln>
            <a:solidFill>
              <a:srgbClr val="FFFFFF"/>
            </a:solidFill>
            <a:effectLst>
              <a:outerShdw dist="38100" dir="2700000" algn="tl" rotWithShape="0">
                <a:schemeClr val="accent2"/>
              </a:outerShdw>
            </a:effectLst>
          </a:endParaRPr>
        </a:p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200" b="1" kern="1200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rPr>
            <a:t>用户自己选出</a:t>
          </a:r>
          <a:r>
            <a:rPr lang="en-US" altLang="zh-CN" sz="3200" b="1" kern="1200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rPr>
            <a:t>6</a:t>
          </a:r>
          <a:r>
            <a:rPr lang="zh-CN" altLang="en-US" sz="3200" b="1" kern="1200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rPr>
            <a:t>个目标球</a:t>
          </a:r>
          <a:endParaRPr lang="en-US" altLang="zh-CN" sz="3200" b="1" kern="1200" cap="none" spc="0" dirty="0">
            <a:ln w="22225">
              <a:solidFill>
                <a:schemeClr val="accent2"/>
              </a:solidFill>
              <a:prstDash val="solid"/>
            </a:ln>
            <a:solidFill>
              <a:schemeClr val="accent2">
                <a:lumMod val="40000"/>
                <a:lumOff val="60000"/>
              </a:schemeClr>
            </a:solidFill>
            <a:effectLst/>
          </a:endParaRPr>
        </a:p>
      </dsp:txBody>
      <dsp:txXfrm>
        <a:off x="2775779" y="0"/>
        <a:ext cx="4838826" cy="1797558"/>
      </dsp:txXfrm>
    </dsp:sp>
    <dsp:sp modelId="{75D37277-5356-4A49-8DA5-1BAD8D16B012}">
      <dsp:nvSpPr>
        <dsp:cNvPr id="0" name=""/>
        <dsp:cNvSpPr/>
      </dsp:nvSpPr>
      <dsp:spPr>
        <a:xfrm>
          <a:off x="1026155" y="1947354"/>
          <a:ext cx="2396744" cy="1797558"/>
        </a:xfrm>
        <a:prstGeom prst="downArrow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4300625F-318B-4DF8-A5FC-B25A2597D377}">
      <dsp:nvSpPr>
        <dsp:cNvPr id="0" name=""/>
        <dsp:cNvSpPr/>
      </dsp:nvSpPr>
      <dsp:spPr>
        <a:xfrm>
          <a:off x="3494802" y="1947354"/>
          <a:ext cx="4838826" cy="1797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0" rIns="227584" bIns="227584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200" b="1" kern="1200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rPr>
            <a:t>机选方案</a:t>
          </a:r>
          <a:endParaRPr lang="en-US" altLang="zh-CN" sz="3200" b="1" kern="1200" cap="none" spc="0" dirty="0">
            <a:ln w="6600">
              <a:solidFill>
                <a:schemeClr val="accent2"/>
              </a:solidFill>
              <a:prstDash val="solid"/>
            </a:ln>
            <a:solidFill>
              <a:srgbClr val="FFFFFF"/>
            </a:solidFill>
            <a:effectLst>
              <a:outerShdw dist="38100" dir="2700000" algn="tl" rotWithShape="0">
                <a:schemeClr val="accent2"/>
              </a:outerShdw>
            </a:effectLst>
          </a:endParaRPr>
        </a:p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200" b="1" kern="1200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rPr>
            <a:t>电脑随机选出</a:t>
          </a:r>
          <a:r>
            <a:rPr lang="en-US" altLang="zh-CN" sz="3200" b="1" kern="1200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rPr>
            <a:t>6</a:t>
          </a:r>
          <a:r>
            <a:rPr lang="zh-CN" altLang="en-US" sz="3200" b="1" kern="1200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rPr>
            <a:t>个目标球</a:t>
          </a:r>
        </a:p>
      </dsp:txBody>
      <dsp:txXfrm>
        <a:off x="3494802" y="1947354"/>
        <a:ext cx="4838826" cy="17975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4">
  <dgm:title val=""/>
  <dgm:desc val=""/>
  <dgm:catLst>
    <dgm:cat type="relationship" pri="8000"/>
    <dgm:cat type="process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lte" val="1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/>
              <dgm:constr type="b" for="ch" forName="upArrow" refType="h" fact="0.48"/>
              <dgm:constr type="l" for="ch" forName="upArrow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/>
              <dgm:constr type="b" for="ch" forName="upArrowText" refType="h" fact="0.48"/>
              <dgm:constr type="l" for="ch" forName="upArrowText" refType="w" refFor="ch" refForName="upArrow" fact="1.03"/>
            </dgm:constrLst>
          </dgm:if>
          <dgm:else name="Name4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 fact="0.48"/>
              <dgm:constr type="b" for="ch" forName="upArrow" refType="h" fact="0.48"/>
              <dgm:constr type="l" for="ch" forName="upArrow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 fact="0.48"/>
              <dgm:constr type="b" for="ch" forName="upArrowText" refType="h" fact="0.48"/>
              <dgm:constr type="l" for="ch" forName="upArrowText" refType="w" refFor="ch" refForName="upArrow" fact="1.03"/>
              <dgm:constr type="w" for="ch" forName="downArrow" refType="w" fact="0.33"/>
              <dgm:constr type="h" for="ch" forName="downArrow" refType="h" fact="0.48"/>
              <dgm:constr type="t" for="ch" forName="downArrow" refType="h" fact="0.52"/>
              <dgm:constr type="l" for="ch" forName="downArrow" refType="w" refFor="ch" refForName="downArrow" fact="0.3"/>
              <dgm:constr type="h" for="ch" forName="downArrow" refType="w" refFor="ch" refForName="downArrow" op="gte" fact="0.75"/>
              <dgm:constr type="w" for="ch" forName="downArrowText" refType="w" fact="0.56"/>
              <dgm:constr type="h" for="ch" forName="downArrowText" refType="h" fact="0.48"/>
              <dgm:constr type="t" for="ch" forName="downArrowText" refType="h" fact="0.52"/>
              <dgm:constr type="l" for="ch" forName="downArrowText" refType="w" refFor="ch" refForName="downArrow" fact="1.33"/>
            </dgm:constrLst>
          </dgm:else>
        </dgm:choose>
      </dgm:if>
      <dgm:else name="Name5">
        <dgm:choose name="Name6">
          <dgm:if name="Name7" axis="ch" ptType="node" func="cnt" op="lte" val="1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/>
              <dgm:constr type="t" for="ch" forName="upArrow"/>
              <dgm:constr type="l" for="ch" forName="upArrow" refType="w" fact="0.67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/>
              <dgm:constr type="t" for="ch" forName="upArrowText"/>
              <dgm:constr type="l" for="ch" forName="upArrowText" refType="w" fact="0.1"/>
            </dgm:constrLst>
          </dgm:if>
          <dgm:else name="Name8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 fact="0.48"/>
              <dgm:constr type="t" for="ch" forName="upArrow"/>
              <dgm:constr type="l" for="ch" forName="upArrow" refType="w" fact="0.67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 fact="0.48"/>
              <dgm:constr type="t" for="ch" forName="upArrowText"/>
              <dgm:constr type="l" for="ch" forName="upArrowText" refType="w" fact="0.1"/>
              <dgm:constr type="w" for="ch" forName="downArrow" refType="w" fact="0.33"/>
              <dgm:constr type="h" for="ch" forName="downArrow" refType="h" fact="0.48"/>
              <dgm:constr type="t" for="ch" forName="downArrow" refType="h" fact="0.52"/>
              <dgm:constr type="l" for="ch" forName="downArrow" refType="w" fact="0.57"/>
              <dgm:constr type="h" for="ch" forName="downArrow" refType="w" refFor="ch" refForName="downArrow" op="gte" fact="0.75"/>
              <dgm:constr type="w" for="ch" forName="downArrowText" refType="w" fact="0.56"/>
              <dgm:constr type="h" for="ch" forName="downArrowText" refType="h" fact="0.48"/>
              <dgm:constr type="t" for="ch" forName="downArrowText" refType="h" fact="0.52"/>
              <dgm:constr type="l" for="ch" forName="downArrowText"/>
            </dgm:constrLst>
          </dgm:else>
        </dgm:choose>
      </dgm:else>
    </dgm:choose>
    <dgm:ruleLst/>
    <dgm:forEach name="Name9" axis="ch" ptType="node" cnt="1">
      <dgm:layoutNode name="upArrow" styleLbl="node1">
        <dgm:alg type="sp"/>
        <dgm:shape xmlns:r="http://schemas.openxmlformats.org/officeDocument/2006/relationships" type="upArrow" r:blip="">
          <dgm:adjLst/>
        </dgm:shape>
        <dgm:presOf/>
        <dgm:constrLst/>
        <dgm:ruleLst/>
      </dgm:layoutNode>
      <dgm:layoutNode name="upArrowText" styleLbl="revTx">
        <dgm:varLst>
          <dgm:chMax val="0"/>
          <dgm:bulletEnabled val="1"/>
        </dgm:varLst>
        <dgm:choose name="Name10">
          <dgm:if name="Name1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12">
            <dgm:choose name="Name13">
              <dgm:if name="Name14" func="var" arg="dir" op="equ" val="norm">
                <dgm:alg type="tx">
                  <dgm:param type="parTxLTRAlign" val="l"/>
                  <dgm:param type="parTxRTLAlign" val="l"/>
                  <dgm:param type="txAnchorVertCh" val="mid"/>
                </dgm:alg>
              </dgm:if>
              <dgm:else name="Name15">
                <dgm:alg type="tx">
                  <dgm:param type="parTxLTRAlign" val="r"/>
                  <dgm:param type="parTxRTLAlign" val="r"/>
                  <dgm:param type="txAnchorVertCh" val="mid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tMarg"/>
        </dgm:constrLst>
        <dgm:ruleLst>
          <dgm:rule type="primFontSz" val="5" fact="NaN" max="NaN"/>
        </dgm:ruleLst>
      </dgm:layoutNode>
    </dgm:forEach>
    <dgm:forEach name="Name16" axis="ch" ptType="node" st="2" cnt="1">
      <dgm:layoutNode name="downArrow" styleLbl="node1">
        <dgm:alg type="sp"/>
        <dgm:shape xmlns:r="http://schemas.openxmlformats.org/officeDocument/2006/relationships" type="downArrow" r:blip="">
          <dgm:adjLst/>
        </dgm:shape>
        <dgm:presOf/>
        <dgm:constrLst/>
        <dgm:ruleLst/>
      </dgm:layoutNode>
      <dgm:layoutNode name="downArrowText" styleLbl="revTx">
        <dgm:varLst>
          <dgm:chMax val="0"/>
          <dgm:bulletEnabled val="1"/>
        </dgm:varLst>
        <dgm:choose name="Name17">
          <dgm:if name="Name18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19">
            <dgm:choose name="Name20">
              <dgm:if name="Name21" func="var" arg="dir" op="equ" val="norm">
                <dgm:alg type="tx">
                  <dgm:param type="parTxLTRAlign" val="l"/>
                  <dgm:param type="parTxRTLAlign" val="l"/>
                  <dgm:param type="txAnchorVertCh" val="mid"/>
                </dgm:alg>
              </dgm:if>
              <dgm:else name="Name22">
                <dgm:alg type="tx">
                  <dgm:param type="parTxLTRAlign" val="r"/>
                  <dgm:param type="parTxRTLAlign" val="r"/>
                  <dgm:param type="txAnchorVertCh" val="mid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tMarg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#3">
  <dgm:title val=""/>
  <dgm:desc val=""/>
  <dgm:catLst>
    <dgm:cat type="simple" pri="105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fld id="{DB3C531B-D83C-493A-84AD-316F78881EC3}" type="slidenum">
              <a:rPr lang="zh-CN" altLang="en-US"/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81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481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  <a:endParaRPr lang="en-US" altLang="zh-CN" noProof="0"/>
          </a:p>
          <a:p>
            <a:pPr lvl="1"/>
            <a:r>
              <a:rPr lang="en-US" altLang="zh-CN" noProof="0"/>
              <a:t>Second level</a:t>
            </a:r>
            <a:endParaRPr lang="en-US" altLang="zh-CN" noProof="0"/>
          </a:p>
          <a:p>
            <a:pPr lvl="2"/>
            <a:r>
              <a:rPr lang="en-US" altLang="zh-CN" noProof="0"/>
              <a:t>Third level</a:t>
            </a:r>
            <a:endParaRPr lang="en-US" altLang="zh-CN" noProof="0"/>
          </a:p>
          <a:p>
            <a:pPr lvl="3"/>
            <a:r>
              <a:rPr lang="en-US" altLang="zh-CN" noProof="0"/>
              <a:t>Fourth level</a:t>
            </a:r>
            <a:endParaRPr lang="en-US" altLang="zh-CN" noProof="0"/>
          </a:p>
          <a:p>
            <a:pPr lvl="4"/>
            <a:r>
              <a:rPr lang="en-US" altLang="zh-CN" noProof="0"/>
              <a:t>Fifth level</a:t>
            </a:r>
            <a:endParaRPr lang="en-US" altLang="zh-CN" noProof="0"/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fld id="{CB801823-96DB-4EC2-991A-2DEE593AD1DA}" type="slidenum">
              <a:rPr lang="zh-CN" altLang="en-US"/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大家知道比特币吗？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比特币是一种基于密码学理论构建的去中心化数字货币，由于比特币的技术是开源的，在比特币诞生之后又出现了很多模仿比特币的项目，这些项目被成为山寨币。</a:t>
            </a:r>
            <a:r>
              <a:rPr lang="zh-CN" altLang="en-US" b="1"/>
              <a:t>（讲师翻</a:t>
            </a:r>
            <a:r>
              <a:rPr lang="en-US" altLang="zh-CN" b="1" dirty="0"/>
              <a:t>PPT</a:t>
            </a:r>
            <a:r>
              <a:rPr lang="zh-CN" altLang="en-US" b="1"/>
              <a:t>出现山寨币列表）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这些项目为了推广自身，普遍使用微信群空投糖果的方式。</a:t>
            </a:r>
            <a:r>
              <a:rPr lang="zh-CN" altLang="en-US" b="1"/>
              <a:t>（讲师翻</a:t>
            </a:r>
            <a:r>
              <a:rPr lang="en-US" altLang="zh-CN" b="1" dirty="0"/>
              <a:t>PPT</a:t>
            </a:r>
            <a:r>
              <a:rPr lang="zh-CN" altLang="en-US" b="1"/>
              <a:t>出现微信群列表）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所谓糖果就是小额的这些山寨币，所谓空投就是直接发送到你的数字货币账户中。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在空投开始之后，不少山寨币项目方都希望确定群内的人，都是单独的人，而不是很多人的小号。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如何确认呢？通常会使用身份证号</a:t>
            </a:r>
            <a:r>
              <a:rPr lang="en-US" altLang="zh-CN" dirty="0"/>
              <a:t>+</a:t>
            </a:r>
            <a:r>
              <a:rPr lang="zh-CN" altLang="en-US"/>
              <a:t>名字，然后跳转到支付宝进行人脸识别，支付宝确认了你的身份，你才具备那个身份证号所指称的身份。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这样，每个人只能用自己的身份去微信群中领取所谓糖果，而不能有任何小号。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这个去除微信小号的过程，就是去除微信群水分的过程，就是提取粉丝真人大号【集合】的过程。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我们来回顾一下上节课的知识点。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kern="100" dirty="0">
                <a:solidFill>
                  <a:srgbClr val="000000"/>
                </a:solidFill>
                <a:latin typeface="+mn-ea"/>
                <a:ea typeface="+mn-ea"/>
                <a:cs typeface="Times New Roman" panose="02020503050405090304" pitchFamily="18" charset="0"/>
                <a:sym typeface="+mn-ea"/>
              </a:rPr>
              <a:t>这节课我们继续来学习集合。</a:t>
            </a:r>
            <a:endParaRPr lang="en-US" altLang="zh-CN" kern="100" dirty="0">
              <a:solidFill>
                <a:srgbClr val="000000"/>
              </a:solidFill>
              <a:latin typeface="+mn-ea"/>
              <a:ea typeface="+mn-ea"/>
              <a:cs typeface="Times New Roman" panose="02020503050405090304" pitchFamily="18" charset="0"/>
              <a:sym typeface="+mn-ea"/>
            </a:endParaRPr>
          </a:p>
          <a:p>
            <a:endParaRPr lang="en-US" altLang="zh-CN" kern="100" dirty="0">
              <a:solidFill>
                <a:srgbClr val="000000"/>
              </a:solidFill>
              <a:latin typeface="+mn-ea"/>
              <a:ea typeface="+mn-ea"/>
              <a:cs typeface="Times New Roman" panose="02020503050405090304" pitchFamily="18" charset="0"/>
              <a:sym typeface="+mn-ea"/>
            </a:endParaRPr>
          </a:p>
          <a:p>
            <a:r>
              <a:rPr lang="zh-CN" altLang="zh-CN" kern="100" dirty="0">
                <a:solidFill>
                  <a:srgbClr val="000000"/>
                </a:solidFill>
                <a:latin typeface="+mn-ea"/>
                <a:ea typeface="+mn-ea"/>
                <a:cs typeface="Times New Roman" panose="02020503050405090304" pitchFamily="18" charset="0"/>
                <a:sym typeface="+mn-ea"/>
              </a:rPr>
              <a:t>在</a:t>
            </a:r>
            <a:r>
              <a:rPr lang="en-US" altLang="zh-CN" kern="100" dirty="0">
                <a:solidFill>
                  <a:srgbClr val="000000"/>
                </a:solidFill>
                <a:latin typeface="+mn-ea"/>
                <a:ea typeface="+mn-ea"/>
                <a:cs typeface="Times New Roman" panose="02020503050405090304" pitchFamily="18" charset="0"/>
                <a:sym typeface="+mn-ea"/>
              </a:rPr>
              <a:t>Python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ea typeface="+mn-ea"/>
                <a:cs typeface="Times New Roman" panose="02020503050405090304" pitchFamily="18" charset="0"/>
                <a:sym typeface="+mn-ea"/>
              </a:rPr>
              <a:t>中</a:t>
            </a:r>
            <a:r>
              <a:rPr lang="zh-CN" altLang="en-US" kern="100" dirty="0">
                <a:solidFill>
                  <a:srgbClr val="000000"/>
                </a:solidFill>
                <a:latin typeface="+mn-ea"/>
                <a:ea typeface="+mn-ea"/>
                <a:cs typeface="Times New Roman" panose="02020503050405090304" pitchFamily="18" charset="0"/>
                <a:sym typeface="+mn-ea"/>
              </a:rPr>
              <a:t>，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ea typeface="+mn-ea"/>
                <a:cs typeface="Times New Roman" panose="02020503050405090304" pitchFamily="18" charset="0"/>
                <a:sym typeface="+mn-ea"/>
              </a:rPr>
              <a:t>集合同样可以计算一个集合是否是另一集合的子集</a:t>
            </a:r>
            <a:r>
              <a:rPr lang="zh-CN" altLang="en-US" kern="100" dirty="0">
                <a:solidFill>
                  <a:srgbClr val="000000"/>
                </a:solidFill>
                <a:latin typeface="+mn-ea"/>
                <a:ea typeface="+mn-ea"/>
                <a:cs typeface="Times New Roman" panose="02020503050405090304" pitchFamily="18" charset="0"/>
                <a:sym typeface="+mn-ea"/>
              </a:rPr>
              <a:t>，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ea typeface="+mn-ea"/>
                <a:cs typeface="Times New Roman" panose="02020503050405090304" pitchFamily="18" charset="0"/>
                <a:sym typeface="+mn-ea"/>
              </a:rPr>
              <a:t>并集</a:t>
            </a:r>
            <a:r>
              <a:rPr lang="zh-CN" altLang="en-US" kern="100" dirty="0">
                <a:solidFill>
                  <a:srgbClr val="000000"/>
                </a:solidFill>
                <a:latin typeface="+mn-ea"/>
                <a:ea typeface="+mn-ea"/>
                <a:cs typeface="Times New Roman" panose="02020503050405090304" pitchFamily="18" charset="0"/>
                <a:sym typeface="+mn-ea"/>
              </a:rPr>
              <a:t>，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ea typeface="+mn-ea"/>
                <a:cs typeface="Times New Roman" panose="02020503050405090304" pitchFamily="18" charset="0"/>
                <a:sym typeface="+mn-ea"/>
              </a:rPr>
              <a:t>差集</a:t>
            </a:r>
            <a:r>
              <a:rPr lang="zh-CN" altLang="en-US" kern="100" dirty="0">
                <a:solidFill>
                  <a:srgbClr val="000000"/>
                </a:solidFill>
                <a:latin typeface="+mn-ea"/>
                <a:ea typeface="+mn-ea"/>
                <a:cs typeface="Times New Roman" panose="02020503050405090304" pitchFamily="18" charset="0"/>
                <a:sym typeface="+mn-ea"/>
              </a:rPr>
              <a:t>，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ea typeface="+mn-ea"/>
                <a:cs typeface="Times New Roman" panose="02020503050405090304" pitchFamily="18" charset="0"/>
                <a:sym typeface="+mn-ea"/>
              </a:rPr>
              <a:t>交集等</a:t>
            </a:r>
            <a:endParaRPr lang="zh-CN" altLang="en-US" dirty="0">
              <a:latin typeface="+mn-ea"/>
              <a:ea typeface="+mn-ea"/>
            </a:endParaRPr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回到我们今天开始时给大家介绍的案例，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回到我们今天开始时给大家介绍的案例，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830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/>
              <a:t>教学指导：</a:t>
            </a:r>
            <a:endParaRPr lang="en-US" altLang="zh-CN"/>
          </a:p>
          <a:p>
            <a:pPr eaLnBrk="1" hangingPunct="1"/>
            <a:r>
              <a:rPr lang="zh-CN" altLang="en-US"/>
              <a:t>预习作业测试题用于下次上课前进行全班同学集中测试。因此教员要在本次课布置下去。布置预习测试题的目的是要求学员进行预习，保障下次学员学习质量。</a:t>
            </a:r>
            <a:endParaRPr lang="en-US" altLang="zh-CN"/>
          </a:p>
          <a:p>
            <a:pPr eaLnBrk="1" hangingPunct="1"/>
            <a:r>
              <a:rPr lang="zh-CN" altLang="en-US"/>
              <a:t>不少于</a:t>
            </a:r>
            <a:r>
              <a:rPr lang="en-US" altLang="zh-CN"/>
              <a:t>4</a:t>
            </a:r>
            <a:r>
              <a:rPr lang="zh-CN" altLang="en-US"/>
              <a:t>道题，其中至少包含一道简述题，主要了解学员对重要知识点的理解程度</a:t>
            </a:r>
            <a:endParaRPr lang="en-US" altLang="zh-CN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04090E-D64E-40C3-B961-86ECD906704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830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 dirty="0"/>
              <a:t>教学指导：</a:t>
            </a:r>
            <a:endParaRPr lang="en-US" altLang="zh-CN" dirty="0"/>
          </a:p>
          <a:p>
            <a:pPr eaLnBrk="1" hangingPunct="1"/>
            <a:r>
              <a:rPr lang="zh-CN" altLang="en-US" dirty="0"/>
              <a:t>预习作业测试题用于下次上课前进行全班同学集中测试。因此教员要在本次课布置下去。布置预习测试题的目的是要求学员进行预习，保障下次学员学习质量。</a:t>
            </a:r>
            <a:endParaRPr lang="en-US" altLang="zh-CN" dirty="0"/>
          </a:p>
          <a:p>
            <a:pPr eaLnBrk="1" hangingPunct="1"/>
            <a:r>
              <a:rPr lang="zh-CN" altLang="en-US" dirty="0"/>
              <a:t>不少于</a:t>
            </a:r>
            <a:r>
              <a:rPr lang="en-US" altLang="zh-CN" dirty="0"/>
              <a:t>4</a:t>
            </a:r>
            <a:r>
              <a:rPr lang="zh-CN" altLang="en-US" dirty="0"/>
              <a:t>道题，其中至少包含一道简述题，主要了解学员对重要知识点的理解程度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04090E-D64E-40C3-B961-86ECD9067041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有导航栏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接连接符 14"/>
          <p:cNvSpPr>
            <a:spLocks noChangeShapeType="1"/>
          </p:cNvSpPr>
          <p:nvPr userDrawn="1"/>
        </p:nvSpPr>
        <p:spPr bwMode="auto">
          <a:xfrm>
            <a:off x="1671638" y="951313"/>
            <a:ext cx="0" cy="419219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zh-CN" altLang="en-US" sz="2000" b="0" dirty="0">
                <a:solidFill>
                  <a:srgbClr val="0070C0"/>
                </a:solidFill>
              </a:defRPr>
            </a:lvl1pPr>
          </a:lstStyle>
          <a:p>
            <a:pPr lvl="0" algn="r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1835696" y="843559"/>
            <a:ext cx="6984776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0" hasCustomPrompt="1"/>
          </p:nvPr>
        </p:nvSpPr>
        <p:spPr>
          <a:xfrm>
            <a:off x="107504" y="843558"/>
            <a:ext cx="1440160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单击此处编辑式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没有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zh-CN" altLang="en-US" sz="2000" b="0" dirty="0">
                <a:solidFill>
                  <a:srgbClr val="0070C0"/>
                </a:solidFill>
              </a:defRPr>
            </a:lvl1pPr>
          </a:lstStyle>
          <a:p>
            <a:pPr lvl="0" algn="r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首页">
    <p:bg>
      <p:bgPr>
        <a:blipFill>
          <a:blip r:embed="rId2" cstate="print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ctrTitle"/>
          </p:nvPr>
        </p:nvSpPr>
        <p:spPr>
          <a:xfrm>
            <a:off x="685800" y="1253209"/>
            <a:ext cx="7772400" cy="1102519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4" name="副标题 2"/>
          <p:cNvSpPr>
            <a:spLocks noGrp="1"/>
          </p:cNvSpPr>
          <p:nvPr>
            <p:ph type="subTitle" idx="1"/>
          </p:nvPr>
        </p:nvSpPr>
        <p:spPr>
          <a:xfrm>
            <a:off x="683568" y="2283718"/>
            <a:ext cx="7776864" cy="59406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pic>
        <p:nvPicPr>
          <p:cNvPr id="23" name="图片 61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113" y="3082826"/>
            <a:ext cx="9155113" cy="2081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圆角矩形 4"/>
          <p:cNvSpPr>
            <a:spLocks noChangeArrowheads="1"/>
          </p:cNvSpPr>
          <p:nvPr userDrawn="1"/>
        </p:nvSpPr>
        <p:spPr bwMode="auto">
          <a:xfrm>
            <a:off x="2442815" y="3962401"/>
            <a:ext cx="4289425" cy="359569"/>
          </a:xfrm>
          <a:prstGeom prst="roundRect">
            <a:avLst>
              <a:gd name="adj" fmla="val 7292"/>
            </a:avLst>
          </a:prstGeom>
          <a:solidFill>
            <a:srgbClr val="FFFFFF">
              <a:alpha val="3215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90204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知识很简单  学习很快乐</a:t>
            </a:r>
            <a:endParaRPr lang="zh-CN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不带方块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771550"/>
            <a:ext cx="8640960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771550"/>
            <a:ext cx="8640960" cy="3672408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740"/>
            <a:ext cx="8229600" cy="8572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739"/>
            <a:ext cx="2133600" cy="272891"/>
          </a:xfrm>
        </p:spPr>
        <p:txBody>
          <a:bodyPr/>
          <a:lstStyle>
            <a:lvl1pPr>
              <a:defRPr/>
            </a:lvl1pPr>
          </a:lstStyle>
          <a:p>
            <a:fld id="{AC84F06B-68BB-49FF-9082-040D3B5B474B}" type="datetime1">
              <a:rPr lang="zh-CN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67739"/>
            <a:ext cx="2895600" cy="272891"/>
          </a:xfrm>
        </p:spPr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7739"/>
            <a:ext cx="2133600" cy="272891"/>
          </a:xfrm>
        </p:spPr>
        <p:txBody>
          <a:bodyPr/>
          <a:lstStyle>
            <a:lvl1pPr>
              <a:defRPr/>
            </a:lvl1pPr>
          </a:lstStyle>
          <a:p>
            <a:fld id="{00E0E93F-4BAF-4B04-AF3C-1DA2743F9C80}" type="slidenum">
              <a:rPr lang="zh-CN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203598"/>
            <a:ext cx="8352928" cy="3137572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副标题 2"/>
          <p:cNvSpPr>
            <a:spLocks noGrp="1"/>
          </p:cNvSpPr>
          <p:nvPr>
            <p:ph type="subTitle" idx="10" hasCustomPrompt="1"/>
          </p:nvPr>
        </p:nvSpPr>
        <p:spPr>
          <a:xfrm>
            <a:off x="467544" y="771550"/>
            <a:ext cx="7488832" cy="3600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</a:t>
            </a:r>
            <a:endParaRPr lang="zh-CN" altLang="en-US" dirty="0"/>
          </a:p>
        </p:txBody>
      </p:sp>
      <p:sp>
        <p:nvSpPr>
          <p:cNvPr id="10" name="矩形 17"/>
          <p:cNvSpPr>
            <a:spLocks noChangeArrowheads="1"/>
          </p:cNvSpPr>
          <p:nvPr userDrawn="1"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image" Target="../media/image5.png"/><Relationship Id="rId10" Type="http://schemas.microsoft.com/office/2007/relationships/hdphoto" Target="../media/image4.wdp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3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矩形 17"/>
          <p:cNvSpPr>
            <a:spLocks noChangeArrowheads="1"/>
          </p:cNvSpPr>
          <p:nvPr/>
        </p:nvSpPr>
        <p:spPr bwMode="auto">
          <a:xfrm>
            <a:off x="8623697" y="4693446"/>
            <a:ext cx="52268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028" name="矩形 31"/>
          <p:cNvSpPr>
            <a:spLocks noChangeArrowheads="1"/>
          </p:cNvSpPr>
          <p:nvPr/>
        </p:nvSpPr>
        <p:spPr bwMode="auto">
          <a:xfrm flipV="1">
            <a:off x="3" y="555526"/>
            <a:ext cx="9146381" cy="41126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029" name="TextBox 15"/>
          <p:cNvSpPr>
            <a:spLocks noChangeArrowheads="1"/>
          </p:cNvSpPr>
          <p:nvPr/>
        </p:nvSpPr>
        <p:spPr bwMode="auto">
          <a:xfrm>
            <a:off x="8792769" y="4731544"/>
            <a:ext cx="4716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fld id="{F0D41CE8-2465-49E5-8469-C528E9CDFDF7}" type="slidenum">
              <a:rPr lang="zh-CN" altLang="en-US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</a:fld>
            <a:r>
              <a:rPr lang="zh-CN" altLang="en-US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 </a:t>
            </a:r>
            <a:endParaRPr lang="zh-CN" altLang="en-US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9" name="图片 3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8438"/>
            <a:ext cx="1547664" cy="395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Browallia New" panose="020B0604020202020204" charset="0"/>
        </a:defRPr>
      </a:lvl1pPr>
      <a:lvl2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pitchFamily="34" charset="-122"/>
          <a:sym typeface="Browallia New" panose="020B0604020202020204" charset="0"/>
        </a:defRPr>
      </a:lvl2pPr>
      <a:lvl3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pitchFamily="34" charset="-122"/>
          <a:sym typeface="Browallia New" panose="020B0604020202020204" charset="0"/>
        </a:defRPr>
      </a:lvl3pPr>
      <a:lvl4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pitchFamily="34" charset="-122"/>
          <a:sym typeface="Browallia New" panose="020B0604020202020204" charset="0"/>
        </a:defRPr>
      </a:lvl4pPr>
      <a:lvl5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pitchFamily="34" charset="-122"/>
          <a:sym typeface="Browallia New" panose="020B0604020202020204" charset="0"/>
        </a:defRPr>
      </a:lvl5pPr>
      <a:lvl6pPr marL="13716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pitchFamily="34" charset="-122"/>
          <a:sym typeface="Browallia New" panose="020B0604020202020204" charset="0"/>
        </a:defRPr>
      </a:lvl6pPr>
      <a:lvl7pPr marL="18288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pitchFamily="34" charset="-122"/>
          <a:sym typeface="Browallia New" panose="020B0604020202020204" charset="0"/>
        </a:defRPr>
      </a:lvl7pPr>
      <a:lvl8pPr marL="22860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pitchFamily="34" charset="-122"/>
          <a:sym typeface="Browallia New" panose="020B0604020202020204" charset="0"/>
        </a:defRPr>
      </a:lvl8pPr>
      <a:lvl9pPr marL="27432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pitchFamily="34" charset="-122"/>
          <a:sym typeface="Browallia New" panose="020B0604020202020204" charset="0"/>
        </a:defRPr>
      </a:lvl9pPr>
    </p:titleStyle>
    <p:bodyStyle>
      <a:lvl1pPr marL="227330" indent="-22733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6845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17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5989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61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5.png"/><Relationship Id="rId1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jpeg"/><Relationship Id="rId8" Type="http://schemas.openxmlformats.org/officeDocument/2006/relationships/image" Target="../media/image25.jpeg"/><Relationship Id="rId7" Type="http://schemas.openxmlformats.org/officeDocument/2006/relationships/image" Target="../media/image24.jpeg"/><Relationship Id="rId6" Type="http://schemas.openxmlformats.org/officeDocument/2006/relationships/image" Target="../media/image23.jpeg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1" Type="http://schemas.openxmlformats.org/officeDocument/2006/relationships/notesSlide" Target="../notesSlides/notesSlide10.xml"/><Relationship Id="rId10" Type="http://schemas.openxmlformats.org/officeDocument/2006/relationships/slideLayout" Target="../slideLayouts/slideLayout4.xml"/><Relationship Id="rId1" Type="http://schemas.openxmlformats.org/officeDocument/2006/relationships/diagramData" Target="../diagrams/data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7.png"/><Relationship Id="rId1" Type="http://schemas.openxmlformats.org/officeDocument/2006/relationships/image" Target="../media/image23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8.png"/><Relationship Id="rId1" Type="http://schemas.openxmlformats.org/officeDocument/2006/relationships/image" Target="../media/image24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9.png"/><Relationship Id="rId1" Type="http://schemas.openxmlformats.org/officeDocument/2006/relationships/image" Target="../media/image25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0.png"/><Relationship Id="rId1" Type="http://schemas.openxmlformats.org/officeDocument/2006/relationships/image" Target="../media/image26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3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4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3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4.jpeg"/><Relationship Id="rId1" Type="http://schemas.openxmlformats.org/officeDocument/2006/relationships/image" Target="../media/image32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35.png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第十一单元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集合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"/>
    </mc:Choice>
    <mc:Fallback>
      <p:transition spd="slow" advTm="964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第一二课时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83568" y="2283718"/>
            <a:ext cx="7776864" cy="594066"/>
          </a:xfrm>
        </p:spPr>
        <p:txBody>
          <a:bodyPr/>
          <a:lstStyle/>
          <a:p>
            <a:r>
              <a:rPr lang="zh-CN" altLang="en-US" dirty="0"/>
              <a:t>集合的基本概念及操作</a:t>
            </a:r>
            <a:r>
              <a:rPr lang="en-US" altLang="zh-CN" dirty="0"/>
              <a:t>1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"/>
    </mc:Choice>
    <mc:Fallback>
      <p:transition spd="slow" advTm="96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77026"/>
          </a:xfrm>
        </p:spPr>
        <p:txBody>
          <a:bodyPr/>
          <a:lstStyle/>
          <a:p>
            <a:r>
              <a:rPr lang="zh-CN" altLang="en-US" dirty="0"/>
              <a:t>知识回顾</a:t>
            </a:r>
            <a:endParaRPr lang="zh-CN" altLang="en-US" dirty="0"/>
          </a:p>
        </p:txBody>
      </p:sp>
      <p:sp>
        <p:nvSpPr>
          <p:cNvPr id="6" name="文本框 2"/>
          <p:cNvSpPr txBox="1"/>
          <p:nvPr/>
        </p:nvSpPr>
        <p:spPr>
          <a:xfrm>
            <a:off x="395536" y="1174234"/>
            <a:ext cx="7590790" cy="1505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70000"/>
              </a:lnSpc>
            </a:pPr>
            <a:r>
              <a:rPr lang="zh-CN" altLang="en-US" dirty="0"/>
              <a:t>■</a:t>
            </a:r>
            <a:r>
              <a:rPr lang="zh-CN" altLang="en-US" dirty="0">
                <a:latin typeface="+mn-ea"/>
                <a:ea typeface="+mn-ea"/>
              </a:rPr>
              <a:t>字典的特征</a:t>
            </a:r>
            <a:endParaRPr lang="en-US" altLang="zh-CN" dirty="0">
              <a:latin typeface="+mn-ea"/>
              <a:ea typeface="+mn-ea"/>
            </a:endParaRPr>
          </a:p>
          <a:p>
            <a:pPr algn="l">
              <a:lnSpc>
                <a:spcPct val="170000"/>
              </a:lnSpc>
            </a:pPr>
            <a:r>
              <a:rPr lang="zh-CN" altLang="en-US" dirty="0">
                <a:sym typeface="+mn-ea"/>
              </a:rPr>
              <a:t>■</a:t>
            </a:r>
            <a:r>
              <a:rPr lang="zh-CN" altLang="en-US" dirty="0">
                <a:latin typeface="+mn-ea"/>
                <a:ea typeface="+mn-ea"/>
                <a:sym typeface="+mn-ea"/>
              </a:rPr>
              <a:t>字典的增删改查</a:t>
            </a:r>
            <a:endParaRPr lang="en-US" altLang="zh-CN" dirty="0">
              <a:latin typeface="+mn-ea"/>
              <a:ea typeface="+mn-ea"/>
              <a:sym typeface="+mn-ea"/>
            </a:endParaRPr>
          </a:p>
          <a:p>
            <a:pPr algn="l">
              <a:lnSpc>
                <a:spcPct val="170000"/>
              </a:lnSpc>
            </a:pPr>
            <a:r>
              <a:rPr lang="zh-CN" altLang="en-US" dirty="0">
                <a:sym typeface="+mn-ea"/>
              </a:rPr>
              <a:t>■</a:t>
            </a:r>
            <a:r>
              <a:rPr lang="zh-CN" altLang="en-US" dirty="0">
                <a:latin typeface="+mn-ea"/>
                <a:ea typeface="+mn-ea"/>
                <a:sym typeface="+mn-ea"/>
              </a:rPr>
              <a:t>字典的遍历</a:t>
            </a:r>
            <a:endParaRPr lang="en-US" altLang="zh-CN" dirty="0">
              <a:latin typeface="+mn-ea"/>
              <a:ea typeface="+mn-ea"/>
              <a:sym typeface="+mn-ea"/>
            </a:endParaRPr>
          </a:p>
        </p:txBody>
      </p:sp>
      <p:sp>
        <p:nvSpPr>
          <p:cNvPr id="9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9552" y="771550"/>
            <a:ext cx="1728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dirty="0">
                <a:solidFill>
                  <a:srgbClr val="0070C0"/>
                </a:solidFill>
                <a:latin typeface="+mj-ea"/>
                <a:ea typeface="+mj-ea"/>
              </a:rPr>
              <a:t>现场提问</a:t>
            </a:r>
            <a:endParaRPr lang="zh-CN" altLang="en-US" sz="2000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pic>
        <p:nvPicPr>
          <p:cNvPr id="11" name="图片 10" descr="现场提问3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79512" y="723157"/>
            <a:ext cx="405385" cy="40843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贯穿案例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771550"/>
            <a:ext cx="8640960" cy="4104456"/>
          </a:xfrm>
        </p:spPr>
        <p:txBody>
          <a:bodyPr/>
          <a:lstStyle/>
          <a:p>
            <a:r>
              <a:rPr lang="zh-CN" altLang="en-US" dirty="0">
                <a:solidFill>
                  <a:srgbClr val="0070C0"/>
                </a:solidFill>
                <a:effectLst/>
              </a:rPr>
              <a:t>双色球的选球系统</a:t>
            </a:r>
            <a:endParaRPr lang="en-US" altLang="zh-CN" dirty="0">
              <a:solidFill>
                <a:srgbClr val="0070C0"/>
              </a:solidFill>
              <a:effectLst/>
            </a:endParaRPr>
          </a:p>
          <a:p>
            <a:endParaRPr lang="en-US" altLang="zh-CN" b="1" dirty="0">
              <a:solidFill>
                <a:schemeClr val="accent1"/>
              </a:solidFill>
            </a:endParaRPr>
          </a:p>
          <a:p>
            <a:endParaRPr lang="en-US" altLang="zh-CN" b="1" dirty="0">
              <a:solidFill>
                <a:schemeClr val="accent1"/>
              </a:solidFill>
            </a:endParaRPr>
          </a:p>
          <a:p>
            <a:endParaRPr lang="en-US" altLang="zh-CN" b="1" dirty="0">
              <a:solidFill>
                <a:schemeClr val="accent1"/>
              </a:solidFill>
            </a:endParaRPr>
          </a:p>
          <a:p>
            <a:endParaRPr lang="zh-CN" altLang="en-US" dirty="0"/>
          </a:p>
          <a:p>
            <a:pPr lvl="1"/>
            <a:r>
              <a:rPr lang="zh-CN" altLang="en-US" dirty="0"/>
              <a:t>“双色球”每注投注号码由6个红色球号码和1个蓝色球号码组成。</a:t>
            </a:r>
            <a:endParaRPr lang="zh-CN" altLang="en-US" dirty="0"/>
          </a:p>
          <a:p>
            <a:pPr lvl="1"/>
            <a:r>
              <a:rPr lang="zh-CN" altLang="en-US" dirty="0"/>
              <a:t>红色球号码从1—33中选择。</a:t>
            </a:r>
            <a:endParaRPr lang="zh-CN" altLang="en-US" dirty="0"/>
          </a:p>
          <a:p>
            <a:pPr lvl="1"/>
            <a:r>
              <a:rPr lang="zh-CN" altLang="en-US" dirty="0"/>
              <a:t>蓝色球号码从1—16中选择。</a:t>
            </a:r>
            <a:endParaRPr lang="en-US" altLang="zh-CN" dirty="0"/>
          </a:p>
          <a:p>
            <a:pPr lvl="2"/>
            <a:endParaRPr lang="zh-CN" altLang="en-US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zh-CN" altLang="en-US" sz="1400" dirty="0"/>
          </a:p>
          <a:p>
            <a:pPr marL="914400" lvl="2" indent="0">
              <a:buNone/>
            </a:pPr>
            <a:endParaRPr lang="en-US" altLang="zh-CN" dirty="0"/>
          </a:p>
          <a:p>
            <a:pPr lvl="1"/>
            <a:endParaRPr lang="zh-CN" altLang="en-US" dirty="0"/>
          </a:p>
        </p:txBody>
      </p:sp>
      <p:pic>
        <p:nvPicPr>
          <p:cNvPr id="6" name="图片 5" hidden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0" y="1812925"/>
            <a:ext cx="3959225" cy="2703195"/>
          </a:xfrm>
          <a:prstGeom prst="rect">
            <a:avLst/>
          </a:prstGeom>
        </p:spPr>
      </p:pic>
      <p:pic>
        <p:nvPicPr>
          <p:cNvPr id="7" name="图片 6" hidden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4535" y="1812925"/>
            <a:ext cx="4228465" cy="2703195"/>
          </a:xfrm>
          <a:prstGeom prst="rect">
            <a:avLst/>
          </a:prstGeom>
        </p:spPr>
      </p:pic>
      <p:pic>
        <p:nvPicPr>
          <p:cNvPr id="4" name="图片 3" hidden="1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19405" y="1648460"/>
            <a:ext cx="3995420" cy="3270250"/>
          </a:xfrm>
          <a:prstGeom prst="rect">
            <a:avLst/>
          </a:prstGeom>
        </p:spPr>
      </p:pic>
      <p:pic>
        <p:nvPicPr>
          <p:cNvPr id="8" name="Picture 1" descr="C:\Users\Administrator\AppData\Roaming\Tencent\Users\499232999\QQ\WinTemp\RichOle\@NFXXR}7@_~7B%V08DC%@GK.png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843558"/>
            <a:ext cx="5314950" cy="210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贯穿案例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771550"/>
            <a:ext cx="8640960" cy="1504288"/>
          </a:xfrm>
        </p:spPr>
        <p:txBody>
          <a:bodyPr/>
          <a:lstStyle/>
          <a:p>
            <a:r>
              <a:rPr lang="zh-CN" altLang="en-US" dirty="0">
                <a:solidFill>
                  <a:srgbClr val="0070C0"/>
                </a:solidFill>
                <a:latin typeface="+mj-ea"/>
              </a:rPr>
              <a:t>需求说明</a:t>
            </a:r>
            <a:endParaRPr lang="en-US" altLang="zh-CN" dirty="0"/>
          </a:p>
          <a:p>
            <a:pPr lvl="1"/>
            <a:r>
              <a:rPr lang="zh-CN" altLang="en-US" dirty="0">
                <a:sym typeface="+mn-ea"/>
              </a:rPr>
              <a:t>使用集合实现红球选号方案。</a:t>
            </a:r>
            <a:endParaRPr lang="zh-CN" altLang="en-US" dirty="0">
              <a:sym typeface="+mn-ea"/>
            </a:endParaRPr>
          </a:p>
          <a:p>
            <a:pPr marL="457200" lvl="1" indent="0">
              <a:buNone/>
            </a:pPr>
            <a:r>
              <a:rPr lang="en-US" altLang="zh-CN" dirty="0">
                <a:sym typeface="+mn-ea"/>
              </a:rPr>
              <a:t>      1</a:t>
            </a:r>
            <a:r>
              <a:rPr lang="zh-CN" altLang="en-US" dirty="0">
                <a:sym typeface="+mn-ea"/>
              </a:rPr>
              <a:t>、用户手动选择</a:t>
            </a:r>
            <a:r>
              <a:rPr lang="en-US" altLang="zh-CN" dirty="0">
                <a:sym typeface="+mn-ea"/>
              </a:rPr>
              <a:t>6</a:t>
            </a:r>
            <a:r>
              <a:rPr lang="zh-CN" altLang="en-US" dirty="0">
                <a:sym typeface="+mn-ea"/>
              </a:rPr>
              <a:t>个红球。</a:t>
            </a:r>
            <a:endParaRPr lang="zh-CN" altLang="en-US" dirty="0">
              <a:sym typeface="+mn-ea"/>
            </a:endParaRPr>
          </a:p>
          <a:p>
            <a:pPr marL="457200" lvl="1" indent="0">
              <a:buNone/>
            </a:pPr>
            <a:r>
              <a:rPr lang="en-US" altLang="zh-CN" dirty="0">
                <a:sym typeface="+mn-ea"/>
              </a:rPr>
              <a:t>      2</a:t>
            </a:r>
            <a:r>
              <a:rPr lang="zh-CN" altLang="en-US" dirty="0">
                <a:sym typeface="+mn-ea"/>
              </a:rPr>
              <a:t>、程序随机选择</a:t>
            </a:r>
            <a:r>
              <a:rPr lang="en-US" altLang="zh-CN" dirty="0">
                <a:sym typeface="+mn-ea"/>
              </a:rPr>
              <a:t>6</a:t>
            </a:r>
            <a:r>
              <a:rPr lang="zh-CN" altLang="en-US" dirty="0">
                <a:sym typeface="+mn-ea"/>
              </a:rPr>
              <a:t>个红球。</a:t>
            </a:r>
            <a:endParaRPr lang="zh-CN" altLang="en-US" dirty="0"/>
          </a:p>
          <a:p>
            <a:pPr lvl="1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zh-CN" altLang="en-US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zh-CN" altLang="en-US" sz="1400" dirty="0"/>
          </a:p>
          <a:p>
            <a:pPr lvl="2"/>
            <a:endParaRPr lang="en-US" altLang="zh-CN" dirty="0"/>
          </a:p>
          <a:p>
            <a:pPr lvl="1"/>
            <a:endParaRPr lang="zh-CN" altLang="en-US" dirty="0"/>
          </a:p>
        </p:txBody>
      </p:sp>
      <p:pic>
        <p:nvPicPr>
          <p:cNvPr id="6" name="图片 5" hidden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0" y="1812925"/>
            <a:ext cx="3959225" cy="2703195"/>
          </a:xfrm>
          <a:prstGeom prst="rect">
            <a:avLst/>
          </a:prstGeom>
        </p:spPr>
      </p:pic>
      <p:pic>
        <p:nvPicPr>
          <p:cNvPr id="7" name="图片 6" hidden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4535" y="1812925"/>
            <a:ext cx="4228465" cy="2703195"/>
          </a:xfrm>
          <a:prstGeom prst="rect">
            <a:avLst/>
          </a:prstGeom>
        </p:spPr>
      </p:pic>
      <p:pic>
        <p:nvPicPr>
          <p:cNvPr id="4" name="图片 3" hidden="1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19405" y="1648460"/>
            <a:ext cx="3995420" cy="3270250"/>
          </a:xfrm>
          <a:prstGeom prst="rect">
            <a:avLst/>
          </a:prstGeom>
        </p:spPr>
      </p:pic>
      <p:sp>
        <p:nvSpPr>
          <p:cNvPr id="9" name="矩形 17"/>
          <p:cNvSpPr>
            <a:spLocks noChangeArrowheads="1"/>
          </p:cNvSpPr>
          <p:nvPr/>
        </p:nvSpPr>
        <p:spPr bwMode="auto">
          <a:xfrm>
            <a:off x="0" y="800596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8" name="AutoShape 1" descr="C:\Users\Administrator\AppData\Roaming\Tencent\Users\499232999\QQ\WinTemp\RichOle\XG]XIuJO4A$PY9QPZXC{H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" name="AutoShape 2" descr="C:\Users\Administrator\AppData\Roaming\Tencent\Users\499232999\QQ\WinTemp\RichOle\XG]XIuJO4A$PY9QPZXC{H.png"/>
          <p:cNvSpPr>
            <a:spLocks noChangeAspect="1" noChangeArrowheads="1"/>
          </p:cNvSpPr>
          <p:nvPr/>
        </p:nvSpPr>
        <p:spPr bwMode="auto">
          <a:xfrm>
            <a:off x="152400" y="15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696458"/>
            <a:ext cx="2592288" cy="1981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矩形 12"/>
          <p:cNvSpPr/>
          <p:nvPr/>
        </p:nvSpPr>
        <p:spPr>
          <a:xfrm>
            <a:off x="971600" y="2234793"/>
            <a:ext cx="1296144" cy="461665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600" dirty="0">
                <a:latin typeface="+mn-ea"/>
                <a:ea typeface="+mn-ea"/>
              </a:rPr>
              <a:t>手选结果</a:t>
            </a:r>
            <a:endParaRPr lang="en-US" sz="1600" dirty="0">
              <a:latin typeface="+mn-ea"/>
              <a:ea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427984" y="2275838"/>
            <a:ext cx="1296144" cy="418191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600" dirty="0">
                <a:latin typeface="+mn-ea"/>
                <a:ea typeface="+mn-ea"/>
              </a:rPr>
              <a:t>机选结果</a:t>
            </a:r>
            <a:endParaRPr lang="en-US" sz="1600" dirty="0">
              <a:latin typeface="+mn-ea"/>
              <a:ea typeface="+mn-ea"/>
            </a:endParaRPr>
          </a:p>
        </p:txBody>
      </p:sp>
      <p:pic>
        <p:nvPicPr>
          <p:cNvPr id="1031" name="Picture 7" descr="C:\Users\Administrator\AppData\Roaming\Tencent\Users\499232999\QQ\WinTemp\RichOle\NH8CU]V$0O7WGEKW8({QQ]S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715766"/>
            <a:ext cx="329565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3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pPr algn="r"/>
            <a:r>
              <a:rPr lang="zh-CN" altLang="en-US" dirty="0"/>
              <a:t>知识目标</a:t>
            </a:r>
            <a:endParaRPr lang="zh-CN" altLang="en-US" dirty="0"/>
          </a:p>
        </p:txBody>
      </p:sp>
      <p:pic>
        <p:nvPicPr>
          <p:cNvPr id="1025" name="Picture 1" descr="C:\Users\Administrator\AppData\Roaming\Tencent\Users\499232999\QQ\WinTemp\RichOle\21@[PKA(DECYR9%Q2A0HAOF.png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599109"/>
            <a:ext cx="6120680" cy="4399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为什么使用集合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4774607" y="4039097"/>
            <a:ext cx="3274191" cy="499624"/>
          </a:xfrm>
          <a:prstGeom prst="rect">
            <a:avLst/>
          </a:prstGeom>
          <a:solidFill>
            <a:srgbClr val="FF0000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chemeClr val="bg1"/>
                </a:solidFill>
                <a:latin typeface="+mn-ea"/>
                <a:ea typeface="+mn-ea"/>
              </a:rPr>
              <a:t>使用集合可以避免这个问题</a:t>
            </a:r>
            <a:endParaRPr lang="en-US" sz="20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4" name="Picture 2" descr="C:\Users\Administrator\Desktop\剪贴画\u=2063033260,2644955465&amp;fm=26&amp;gp=0.jpg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107" y="923405"/>
            <a:ext cx="4360885" cy="3994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8442" y="1059582"/>
            <a:ext cx="3200356" cy="100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5"/>
          <p:cNvSpPr/>
          <p:nvPr/>
        </p:nvSpPr>
        <p:spPr>
          <a:xfrm>
            <a:off x="6588224" y="1347614"/>
            <a:ext cx="864096" cy="216024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7" name="椭圆形标注 6"/>
          <p:cNvSpPr/>
          <p:nvPr/>
        </p:nvSpPr>
        <p:spPr>
          <a:xfrm>
            <a:off x="5260488" y="1951528"/>
            <a:ext cx="2376264" cy="1298377"/>
          </a:xfrm>
          <a:prstGeom prst="wedgeEllipseCallout">
            <a:avLst>
              <a:gd name="adj1" fmla="val 17864"/>
              <a:gd name="adj2" fmla="val -72246"/>
            </a:avLst>
          </a:prstGeom>
          <a:solidFill>
            <a:srgbClr val="E7F4FF"/>
          </a:solidFill>
          <a:ln w="28575" cap="flat" cmpd="sng" algn="ctr">
            <a:solidFill>
              <a:srgbClr val="5AADD6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dirty="0">
                <a:latin typeface="+mn-ea"/>
              </a:rPr>
              <a:t>列表存储则会出现重复号码</a:t>
            </a:r>
            <a:endParaRPr lang="en-US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pPr algn="r"/>
            <a:r>
              <a:t>什么是集合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289585" y="627534"/>
            <a:ext cx="41936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300"/>
              </a:spcBef>
              <a:spcAft>
                <a:spcPts val="300"/>
              </a:spcAft>
              <a:buFont typeface="Wingdings" panose="05000000000000000000" charset="0"/>
              <a:buChar char="n"/>
            </a:pPr>
            <a:r>
              <a:rPr lang="en-US" altLang="zh-CN" sz="2000" kern="100" dirty="0">
                <a:solidFill>
                  <a:srgbClr val="0070C0"/>
                </a:solidFill>
                <a:latin typeface="Times New Roman" panose="02020503050405090304" pitchFamily="18" charset="0"/>
                <a:ea typeface="微软雅黑" panose="020B0503020204020204" pitchFamily="34" charset="-122"/>
              </a:rPr>
              <a:t> s</a:t>
            </a:r>
            <a:r>
              <a:rPr lang="zh-CN" altLang="en-US" sz="2000" kern="100" dirty="0">
                <a:solidFill>
                  <a:srgbClr val="0070C0"/>
                </a:solidFill>
                <a:latin typeface="Times New Roman" panose="02020503050405090304" pitchFamily="18" charset="0"/>
                <a:ea typeface="微软雅黑" panose="020B0503020204020204" pitchFamily="34" charset="-122"/>
              </a:rPr>
              <a:t>et </a:t>
            </a:r>
            <a:r>
              <a:rPr lang="en-US" altLang="zh-CN" sz="2000" kern="100" dirty="0">
                <a:solidFill>
                  <a:srgbClr val="0070C0"/>
                </a:solidFill>
                <a:latin typeface="Times New Roman" panose="02020503050405090304" pitchFamily="18" charset="0"/>
                <a:ea typeface="微软雅黑" panose="020B0503020204020204" pitchFamily="34" charset="-122"/>
              </a:rPr>
              <a:t>: </a:t>
            </a:r>
            <a:r>
              <a:rPr lang="zh-CN" altLang="en-US" sz="2000" kern="100" dirty="0">
                <a:solidFill>
                  <a:srgbClr val="0070C0"/>
                </a:solidFill>
                <a:latin typeface="Times New Roman" panose="02020503050405090304" pitchFamily="18" charset="0"/>
                <a:ea typeface="微软雅黑" panose="020B0503020204020204" pitchFamily="34" charset="-122"/>
              </a:rPr>
              <a:t>n.</a:t>
            </a:r>
            <a:r>
              <a:rPr lang="zh-CN" altLang="en-US" sz="2000" kern="100" dirty="0">
                <a:solidFill>
                  <a:srgbClr val="FF0000"/>
                </a:solidFill>
                <a:latin typeface="Times New Roman" panose="02020503050405090304" pitchFamily="18" charset="0"/>
                <a:ea typeface="微软雅黑" panose="020B0503020204020204" pitchFamily="34" charset="-122"/>
              </a:rPr>
              <a:t>集合</a:t>
            </a:r>
            <a:r>
              <a:rPr lang="zh-CN" altLang="en-US" sz="2000" kern="100" dirty="0">
                <a:solidFill>
                  <a:srgbClr val="0070C0"/>
                </a:solidFill>
                <a:latin typeface="Times New Roman" panose="02020503050405090304" pitchFamily="18" charset="0"/>
                <a:ea typeface="微软雅黑" panose="020B0503020204020204" pitchFamily="34" charset="-122"/>
              </a:rPr>
              <a:t>; 一套，一副; </a:t>
            </a:r>
            <a:endParaRPr lang="zh-CN" altLang="en-US" sz="2000" kern="100" dirty="0">
              <a:solidFill>
                <a:srgbClr val="0070C0"/>
              </a:solidFill>
              <a:latin typeface="Times New Roman" panose="02020503050405090304" pitchFamily="18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9725" y="641226"/>
            <a:ext cx="1832293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marL="342900" indent="-342900" algn="just">
              <a:spcBef>
                <a:spcPts val="300"/>
              </a:spcBef>
              <a:spcAft>
                <a:spcPts val="300"/>
              </a:spcAft>
              <a:buFont typeface="Wingdings" panose="05000000000000000000" charset="0"/>
              <a:buChar char="n"/>
            </a:pPr>
            <a:r>
              <a:rPr lang="zh-CN" altLang="en-US" sz="2000" kern="100" dirty="0">
                <a:solidFill>
                  <a:srgbClr val="0070C0"/>
                </a:solidFill>
                <a:latin typeface="Times New Roman" panose="02020503050405090304" pitchFamily="18" charset="0"/>
                <a:ea typeface="微软雅黑" panose="020B0503020204020204" pitchFamily="34" charset="-122"/>
              </a:rPr>
              <a:t>名词解释</a:t>
            </a:r>
            <a:endParaRPr lang="zh-CN" altLang="en-US" sz="2000" kern="100" dirty="0">
              <a:solidFill>
                <a:srgbClr val="0070C0"/>
              </a:solidFill>
              <a:latin typeface="Times New Roman" panose="02020503050405090304" pitchFamily="18" charset="0"/>
              <a:ea typeface="微软雅黑" panose="020B0503020204020204" pitchFamily="34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579755" y="2121992"/>
            <a:ext cx="998538" cy="1055688"/>
          </a:xfrm>
          <a:prstGeom prst="ellipse">
            <a:avLst/>
          </a:prstGeom>
          <a:gradFill>
            <a:gsLst>
              <a:gs pos="0">
                <a:schemeClr val="bg1"/>
              </a:gs>
              <a:gs pos="51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18900000" scaled="0"/>
          </a:gradFill>
          <a:ln>
            <a:noFill/>
          </a:ln>
          <a:effectLst>
            <a:outerShdw blurRad="444500" dist="254000" dir="8100000" sx="86000" sy="86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en-US" altLang="zh-CN" sz="2000" b="1" strike="noStrike" noProof="1">
              <a:solidFill>
                <a:schemeClr val="accent1"/>
              </a:solidFill>
            </a:endParaRPr>
          </a:p>
          <a:p>
            <a:pPr algn="ctr" fontAlgn="base"/>
            <a:r>
              <a:rPr lang="zh-CN" altLang="en-US" sz="2000" b="1" strike="noStrike" noProof="1">
                <a:solidFill>
                  <a:schemeClr val="accent1"/>
                </a:solidFill>
              </a:rPr>
              <a:t>集合</a:t>
            </a:r>
            <a:endParaRPr lang="zh-CN" altLang="en-US" sz="2000" b="1" strike="noStrike" noProof="1">
              <a:solidFill>
                <a:schemeClr val="accent1"/>
              </a:solidFill>
            </a:endParaRPr>
          </a:p>
          <a:p>
            <a:pPr algn="ctr" fontAlgn="base"/>
            <a:endParaRPr lang="en-US" altLang="zh-CN" sz="2000" b="1" strike="noStrike" noProof="1">
              <a:solidFill>
                <a:schemeClr val="accent1"/>
              </a:solidFill>
            </a:endParaRPr>
          </a:p>
        </p:txBody>
      </p:sp>
      <p:sp>
        <p:nvSpPr>
          <p:cNvPr id="6" name="Text Box 14"/>
          <p:cNvSpPr txBox="1"/>
          <p:nvPr/>
        </p:nvSpPr>
        <p:spPr>
          <a:xfrm>
            <a:off x="149543" y="1733235"/>
            <a:ext cx="18573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概念名</a:t>
            </a:r>
            <a:endParaRPr lang="zh-CN" altLang="en-US" sz="1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Box 8"/>
          <p:cNvSpPr txBox="1"/>
          <p:nvPr/>
        </p:nvSpPr>
        <p:spPr>
          <a:xfrm>
            <a:off x="2006600" y="1707654"/>
            <a:ext cx="132969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临近的属</a:t>
            </a:r>
            <a:endParaRPr lang="zh-CN" altLang="en-US" sz="1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2172018" y="2075954"/>
            <a:ext cx="998538" cy="1055688"/>
          </a:xfrm>
          <a:prstGeom prst="ellipse">
            <a:avLst/>
          </a:prstGeom>
          <a:gradFill>
            <a:gsLst>
              <a:gs pos="0">
                <a:schemeClr val="bg1"/>
              </a:gs>
              <a:gs pos="51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18900000" scaled="0"/>
          </a:gra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zh-CN" altLang="en-US" sz="2000" b="1" noProof="1">
                <a:solidFill>
                  <a:schemeClr val="accent1"/>
                </a:solidFill>
                <a:latin typeface="+mn-ea"/>
                <a:sym typeface="+mn-ea"/>
              </a:rPr>
              <a:t>数据类型</a:t>
            </a:r>
            <a:endParaRPr lang="zh-CN" sz="2000" b="1" strike="noStrike" noProof="1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9" name="Text Box 12"/>
          <p:cNvSpPr txBox="1"/>
          <p:nvPr/>
        </p:nvSpPr>
        <p:spPr>
          <a:xfrm>
            <a:off x="5812155" y="1707654"/>
            <a:ext cx="177165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种差（内涵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5840095" y="2159775"/>
            <a:ext cx="2980377" cy="971868"/>
            <a:chOff x="4304043" y="1286668"/>
            <a:chExt cx="3837944" cy="2757793"/>
          </a:xfrm>
          <a:effectLst>
            <a:outerShdw blurRad="381000" dist="2540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1" name="圆角矩形 10"/>
            <p:cNvSpPr/>
            <p:nvPr/>
          </p:nvSpPr>
          <p:spPr>
            <a:xfrm>
              <a:off x="4304043" y="1286668"/>
              <a:ext cx="3837944" cy="2757793"/>
            </a:xfrm>
            <a:prstGeom prst="roundRect">
              <a:avLst/>
            </a:prstGeom>
            <a:gradFill>
              <a:gsLst>
                <a:gs pos="62000">
                  <a:schemeClr val="bg1">
                    <a:lumMod val="95000"/>
                  </a:schemeClr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800" strike="noStrike" noProof="1"/>
            </a:p>
          </p:txBody>
        </p:sp>
        <p:sp>
          <p:nvSpPr>
            <p:cNvPr id="12" name="圆角矩形 11"/>
            <p:cNvSpPr/>
            <p:nvPr/>
          </p:nvSpPr>
          <p:spPr>
            <a:xfrm>
              <a:off x="4351931" y="1367703"/>
              <a:ext cx="3742172" cy="2595722"/>
            </a:xfrm>
            <a:prstGeom prst="roundRect">
              <a:avLst/>
            </a:prstGeom>
            <a:gradFill>
              <a:gsLst>
                <a:gs pos="42000">
                  <a:srgbClr val="F0F0F0"/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800" strike="noStrike" noProof="1"/>
            </a:p>
          </p:txBody>
        </p:sp>
      </p:grpSp>
      <p:sp>
        <p:nvSpPr>
          <p:cNvPr id="13" name="TextBox 22"/>
          <p:cNvSpPr txBox="1"/>
          <p:nvPr/>
        </p:nvSpPr>
        <p:spPr>
          <a:xfrm>
            <a:off x="5840095" y="2195334"/>
            <a:ext cx="2404313" cy="954071"/>
          </a:xfrm>
          <a:prstGeom prst="rect">
            <a:avLst/>
          </a:prstGeom>
          <a:noFill/>
          <a:ln w="9525">
            <a:noFill/>
          </a:ln>
        </p:spPr>
        <p:txBody>
          <a:bodyPr wrap="square" lIns="91404" tIns="45702" rIns="91404" bIns="4570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600" dirty="0">
                <a:solidFill>
                  <a:srgbClr val="262626"/>
                </a:solidFill>
                <a:latin typeface="+mn-ea"/>
                <a:ea typeface="+mn-ea"/>
                <a:sym typeface="Calibri" panose="020F0502020204030204" pitchFamily="34" charset="0"/>
              </a:rPr>
              <a:t>1</a:t>
            </a:r>
            <a:r>
              <a:rPr lang="zh-CN" altLang="en-US" sz="1600" dirty="0">
                <a:solidFill>
                  <a:srgbClr val="262626"/>
                </a:solidFill>
                <a:latin typeface="+mn-ea"/>
                <a:ea typeface="+mn-ea"/>
                <a:sym typeface="Calibri" panose="020F0502020204030204" pitchFamily="34" charset="0"/>
              </a:rPr>
              <a:t>、元素无序</a:t>
            </a:r>
            <a:endParaRPr lang="zh-CN" altLang="en-US" sz="1600" dirty="0">
              <a:solidFill>
                <a:srgbClr val="262626"/>
              </a:solidFill>
              <a:latin typeface="+mn-ea"/>
              <a:ea typeface="+mn-ea"/>
              <a:sym typeface="Calibri" panose="020F0502020204030204" pitchFamily="34" charset="0"/>
            </a:endParaRPr>
          </a:p>
          <a:p>
            <a:pPr algn="l">
              <a:lnSpc>
                <a:spcPct val="120000"/>
              </a:lnSpc>
            </a:pPr>
            <a:r>
              <a:rPr lang="en-US" altLang="zh-CN" sz="1600" dirty="0">
                <a:solidFill>
                  <a:srgbClr val="262626"/>
                </a:solidFill>
                <a:latin typeface="+mn-ea"/>
                <a:ea typeface="+mn-ea"/>
                <a:sym typeface="Calibri" panose="020F0502020204030204" pitchFamily="34" charset="0"/>
              </a:rPr>
              <a:t>2</a:t>
            </a:r>
            <a:r>
              <a:rPr lang="zh-CN" altLang="en-US" sz="1600" dirty="0">
                <a:solidFill>
                  <a:srgbClr val="262626"/>
                </a:solidFill>
                <a:latin typeface="+mn-ea"/>
                <a:ea typeface="+mn-ea"/>
                <a:sym typeface="Calibri" panose="020F0502020204030204" pitchFamily="34" charset="0"/>
              </a:rPr>
              <a:t>、元素不重复</a:t>
            </a:r>
            <a:endParaRPr sz="1600" b="1" dirty="0">
              <a:sym typeface="+mn-ea"/>
            </a:endParaRPr>
          </a:p>
          <a:p>
            <a:pPr algn="l" eaLnBrk="1" latinLnBrk="0" hangingPunct="1">
              <a:lnSpc>
                <a:spcPct val="110000"/>
              </a:lnSpc>
            </a:pPr>
            <a:endParaRPr sz="1600" b="1" dirty="0">
              <a:sym typeface="+mn-ea"/>
            </a:endParaRPr>
          </a:p>
        </p:txBody>
      </p:sp>
      <p:sp>
        <p:nvSpPr>
          <p:cNvPr id="14" name="Text Box 8"/>
          <p:cNvSpPr txBox="1"/>
          <p:nvPr/>
        </p:nvSpPr>
        <p:spPr>
          <a:xfrm>
            <a:off x="3550920" y="1707654"/>
            <a:ext cx="20415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同属的其它种</a:t>
            </a:r>
            <a:endParaRPr lang="zh-CN" altLang="en-US" sz="1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3635896" y="2075954"/>
            <a:ext cx="1793240" cy="1056005"/>
          </a:xfrm>
          <a:prstGeom prst="ellipse">
            <a:avLst/>
          </a:prstGeom>
          <a:gradFill>
            <a:gsLst>
              <a:gs pos="0">
                <a:schemeClr val="bg1"/>
              </a:gs>
              <a:gs pos="51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18900000" scaled="0"/>
          </a:gra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zh-CN" altLang="en-US" sz="1600" b="1" noProof="1">
                <a:solidFill>
                  <a:schemeClr val="accent1"/>
                </a:solidFill>
              </a:rPr>
              <a:t>列表、</a:t>
            </a:r>
            <a:endParaRPr lang="en-US" altLang="zh-CN" sz="1600" b="1" noProof="1">
              <a:solidFill>
                <a:schemeClr val="accent1"/>
              </a:solidFill>
            </a:endParaRPr>
          </a:p>
          <a:p>
            <a:pPr fontAlgn="base"/>
            <a:r>
              <a:rPr lang="zh-CN" altLang="en-US" sz="1600" b="1" noProof="1">
                <a:solidFill>
                  <a:schemeClr val="accent1"/>
                </a:solidFill>
              </a:rPr>
              <a:t>字符串</a:t>
            </a:r>
            <a:endParaRPr lang="en-US" altLang="zh-CN" sz="1600" b="1" strike="noStrike" noProof="1">
              <a:solidFill>
                <a:schemeClr val="accent1"/>
              </a:solidFill>
            </a:endParaRPr>
          </a:p>
        </p:txBody>
      </p:sp>
      <p:sp>
        <p:nvSpPr>
          <p:cNvPr id="16" name="文本框 9"/>
          <p:cNvSpPr txBox="1"/>
          <p:nvPr/>
        </p:nvSpPr>
        <p:spPr>
          <a:xfrm>
            <a:off x="2123728" y="3786594"/>
            <a:ext cx="448872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b="1" noProof="1">
                <a:ea typeface="黑体" panose="02010609060101010101" pitchFamily="2" charset="-122"/>
              </a:rPr>
              <a:t>定义</a:t>
            </a:r>
            <a:r>
              <a:rPr lang="en-US" altLang="zh-CN" b="1" noProof="1">
                <a:ea typeface="黑体" panose="02010609060101010101" pitchFamily="2" charset="-122"/>
              </a:rPr>
              <a:t>:</a:t>
            </a:r>
            <a:r>
              <a:rPr lang="en-US" altLang="zh-CN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集合是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</a:t>
            </a: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无序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元素</a:t>
            </a: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不重复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的数据类型</a:t>
            </a:r>
            <a:endParaRPr lang="en-US" altLang="zh-CN" sz="1600" noProof="1"/>
          </a:p>
        </p:txBody>
      </p:sp>
      <p:sp>
        <p:nvSpPr>
          <p:cNvPr id="17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bldLvl="0" animBg="1"/>
      <p:bldP spid="6" grpId="0"/>
      <p:bldP spid="7" grpId="0"/>
      <p:bldP spid="8" grpId="0" bldLvl="0" animBg="1"/>
      <p:bldP spid="9" grpId="0"/>
      <p:bldP spid="13" grpId="0"/>
      <p:bldP spid="14" grpId="0"/>
      <p:bldP spid="15" grpId="0" bldLvl="0" animBg="1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/>
              <a:t>如何使用集合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84346" y="650309"/>
            <a:ext cx="553616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300"/>
              </a:spcBef>
              <a:spcAft>
                <a:spcPts val="300"/>
              </a:spcAft>
              <a:buFont typeface="Wingdings" panose="05000000000000000000" charset="0"/>
              <a:buChar char="n"/>
            </a:pPr>
            <a:r>
              <a:rPr lang="zh-CN" altLang="en-US" sz="2000" kern="100" dirty="0">
                <a:solidFill>
                  <a:srgbClr val="0070C0"/>
                </a:solidFill>
                <a:latin typeface="Times New Roman" panose="02020503050405090304" pitchFamily="18" charset="0"/>
                <a:ea typeface="微软雅黑" panose="020B0503020204020204" pitchFamily="34" charset="-122"/>
              </a:rPr>
              <a:t>第一种创建集合的方式</a:t>
            </a:r>
            <a:endParaRPr lang="zh-CN" altLang="zh-CN" sz="2000" kern="100" dirty="0">
              <a:solidFill>
                <a:srgbClr val="0070C0"/>
              </a:solidFill>
              <a:latin typeface="Times New Roman" panose="02020503050405090304" pitchFamily="18" charset="0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655070" y="1779662"/>
            <a:ext cx="5509217" cy="1015663"/>
          </a:xfrm>
          <a:prstGeom prst="rect">
            <a:avLst/>
          </a:prstGeom>
          <a:solidFill>
            <a:srgbClr val="E7F4FF"/>
          </a:solidFill>
          <a:ln w="28575" cap="flat" cmpd="sng" algn="ctr">
            <a:solidFill>
              <a:srgbClr val="5AADD6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000" dirty="0">
                <a:latin typeface="+mn-ea"/>
                <a:ea typeface="+mn-ea"/>
              </a:rPr>
              <a:t>a_set = </a:t>
            </a:r>
            <a:r>
              <a:rPr lang="en-US" altLang="zh-CN" sz="2000" dirty="0">
                <a:latin typeface="+mn-ea"/>
              </a:rPr>
              <a:t>{'</a:t>
            </a:r>
            <a:r>
              <a:rPr lang="en-US" altLang="zh-CN" sz="2000" dirty="0" err="1">
                <a:latin typeface="+mn-ea"/>
              </a:rPr>
              <a:t>美国</a:t>
            </a:r>
            <a:r>
              <a:rPr lang="en-US" altLang="zh-CN" sz="2000" dirty="0">
                <a:latin typeface="+mn-ea"/>
              </a:rPr>
              <a:t>', '</a:t>
            </a:r>
            <a:r>
              <a:rPr lang="en-US" altLang="zh-CN" sz="2000" dirty="0" err="1">
                <a:latin typeface="+mn-ea"/>
              </a:rPr>
              <a:t>中国</a:t>
            </a:r>
            <a:r>
              <a:rPr lang="en-US" altLang="zh-CN" sz="2000" dirty="0">
                <a:latin typeface="+mn-ea"/>
              </a:rPr>
              <a:t>', '</a:t>
            </a:r>
            <a:r>
              <a:rPr lang="en-US" altLang="zh-CN" sz="2000" dirty="0" err="1">
                <a:latin typeface="+mn-ea"/>
              </a:rPr>
              <a:t>俄罗斯</a:t>
            </a:r>
            <a:r>
              <a:rPr lang="en-US" altLang="zh-CN" sz="2000" dirty="0">
                <a:latin typeface="+mn-ea"/>
              </a:rPr>
              <a:t>', '</a:t>
            </a:r>
            <a:r>
              <a:rPr lang="en-US" altLang="zh-CN" sz="2000" dirty="0" err="1">
                <a:latin typeface="+mn-ea"/>
              </a:rPr>
              <a:t>日本</a:t>
            </a:r>
            <a:r>
              <a:rPr lang="en-US" altLang="zh-CN" sz="2000" dirty="0">
                <a:latin typeface="+mn-ea"/>
              </a:rPr>
              <a:t>'} </a:t>
            </a:r>
            <a:r>
              <a:rPr lang="en-US" sz="2000" dirty="0">
                <a:latin typeface="+mn-ea"/>
                <a:ea typeface="+mn-ea"/>
              </a:rPr>
              <a:t>print(</a:t>
            </a:r>
            <a:r>
              <a:rPr lang="en-US" sz="2000" dirty="0" err="1">
                <a:latin typeface="+mn-ea"/>
                <a:ea typeface="+mn-ea"/>
              </a:rPr>
              <a:t>a_set</a:t>
            </a:r>
            <a:r>
              <a:rPr lang="en-US" sz="2000" dirty="0">
                <a:latin typeface="+mn-ea"/>
                <a:ea typeface="+mn-ea"/>
              </a:rPr>
              <a:t>)</a:t>
            </a:r>
            <a:endParaRPr lang="en-US" sz="2000" dirty="0">
              <a:latin typeface="+mn-ea"/>
              <a:ea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90239" y="1061978"/>
            <a:ext cx="1368152" cy="499624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代码示例：</a:t>
            </a:r>
            <a:endParaRPr lang="en-US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90239" y="3003798"/>
            <a:ext cx="1368152" cy="499624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运行结果：</a:t>
            </a:r>
            <a:endParaRPr lang="en-US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10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2050" name="Picture 2" descr="C:\Users\Administrator\AppData\Roaming\Tencent\Users\499232999\QQ\WinTemp\RichOle\@@C(VMP%$A[0FTRT}IGI$CE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070" y="3503422"/>
            <a:ext cx="5100292" cy="868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如何使用集合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84346" y="650309"/>
            <a:ext cx="553616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300"/>
              </a:spcBef>
              <a:spcAft>
                <a:spcPts val="300"/>
              </a:spcAft>
              <a:buFont typeface="Wingdings" panose="05000000000000000000" charset="0"/>
              <a:buChar char="n"/>
            </a:pPr>
            <a:r>
              <a:rPr lang="zh-CN" altLang="en-US" sz="2000" kern="100" dirty="0">
                <a:solidFill>
                  <a:srgbClr val="0070C0"/>
                </a:solidFill>
                <a:latin typeface="Times New Roman" panose="02020503050405090304" pitchFamily="18" charset="0"/>
                <a:ea typeface="微软雅黑" panose="020B0503020204020204" pitchFamily="34" charset="-122"/>
              </a:rPr>
              <a:t>第二种创建集合的方式</a:t>
            </a:r>
            <a:endParaRPr lang="zh-CN" altLang="zh-CN" sz="2000" kern="100" dirty="0">
              <a:solidFill>
                <a:srgbClr val="0070C0"/>
              </a:solidFill>
              <a:latin typeface="Times New Roman" panose="02020503050405090304" pitchFamily="18" charset="0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709654" y="1550137"/>
            <a:ext cx="5472608" cy="1477328"/>
          </a:xfrm>
          <a:prstGeom prst="rect">
            <a:avLst/>
          </a:prstGeom>
          <a:solidFill>
            <a:srgbClr val="E7F4FF"/>
          </a:solidFill>
          <a:ln w="28575" cap="flat" cmpd="sng" algn="ctr">
            <a:solidFill>
              <a:srgbClr val="5AADD6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en-US" altLang="zh-CN" sz="2000" dirty="0" err="1">
                <a:latin typeface="+mn-ea"/>
                <a:ea typeface="+mn-ea"/>
              </a:rPr>
              <a:t>a_list</a:t>
            </a:r>
            <a:r>
              <a:rPr lang="en-US" altLang="zh-CN" sz="2000" dirty="0">
                <a:latin typeface="+mn-ea"/>
                <a:ea typeface="+mn-ea"/>
              </a:rPr>
              <a:t> = </a:t>
            </a:r>
            <a:r>
              <a:rPr lang="en-US" altLang="zh-CN" sz="2000" dirty="0">
                <a:latin typeface="+mn-ea"/>
              </a:rPr>
              <a:t>['</a:t>
            </a:r>
            <a:r>
              <a:rPr lang="en-US" altLang="zh-CN" sz="2000" dirty="0" err="1">
                <a:latin typeface="+mn-ea"/>
              </a:rPr>
              <a:t>美国</a:t>
            </a:r>
            <a:r>
              <a:rPr lang="en-US" altLang="zh-CN" sz="2000" dirty="0">
                <a:latin typeface="+mn-ea"/>
              </a:rPr>
              <a:t>', '</a:t>
            </a:r>
            <a:r>
              <a:rPr lang="en-US" altLang="zh-CN" sz="2000" dirty="0" err="1">
                <a:latin typeface="+mn-ea"/>
              </a:rPr>
              <a:t>中国</a:t>
            </a:r>
            <a:r>
              <a:rPr lang="en-US" altLang="zh-CN" sz="2000" dirty="0">
                <a:latin typeface="+mn-ea"/>
              </a:rPr>
              <a:t>', '</a:t>
            </a:r>
            <a:r>
              <a:rPr lang="en-US" altLang="zh-CN" sz="2000" dirty="0" err="1">
                <a:latin typeface="+mn-ea"/>
              </a:rPr>
              <a:t>俄罗斯</a:t>
            </a:r>
            <a:r>
              <a:rPr lang="en-US" altLang="zh-CN" sz="2000" dirty="0">
                <a:latin typeface="+mn-ea"/>
              </a:rPr>
              <a:t>', '</a:t>
            </a:r>
            <a:r>
              <a:rPr lang="en-US" altLang="zh-CN" sz="2000" dirty="0" err="1">
                <a:latin typeface="+mn-ea"/>
              </a:rPr>
              <a:t>日本</a:t>
            </a:r>
            <a:r>
              <a:rPr lang="en-US" altLang="zh-CN" sz="2000" dirty="0">
                <a:latin typeface="+mn-ea"/>
              </a:rPr>
              <a:t>',]</a:t>
            </a:r>
            <a:endParaRPr lang="en-US" sz="2000" dirty="0">
              <a:latin typeface="+mn-ea"/>
              <a:ea typeface="+mn-ea"/>
            </a:endParaRPr>
          </a:p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en-US" sz="2000" dirty="0" err="1">
                <a:latin typeface="+mn-ea"/>
                <a:ea typeface="+mn-ea"/>
              </a:rPr>
              <a:t>a_set</a:t>
            </a:r>
            <a:r>
              <a:rPr lang="en-US" sz="2000" dirty="0">
                <a:latin typeface="+mn-ea"/>
                <a:ea typeface="+mn-ea"/>
              </a:rPr>
              <a:t> = set(</a:t>
            </a:r>
            <a:r>
              <a:rPr lang="en-US" sz="2000" dirty="0" err="1">
                <a:latin typeface="+mn-ea"/>
              </a:rPr>
              <a:t>a_list</a:t>
            </a:r>
            <a:r>
              <a:rPr lang="en-US" sz="2000" dirty="0">
                <a:latin typeface="+mn-ea"/>
                <a:ea typeface="+mn-ea"/>
              </a:rPr>
              <a:t>)</a:t>
            </a:r>
            <a:endParaRPr lang="en-US" sz="2000" dirty="0">
              <a:latin typeface="+mn-ea"/>
              <a:ea typeface="+mn-ea"/>
            </a:endParaRPr>
          </a:p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000" dirty="0">
                <a:latin typeface="+mn-ea"/>
                <a:ea typeface="+mn-ea"/>
              </a:rPr>
              <a:t>print(a_set)</a:t>
            </a:r>
            <a:endParaRPr lang="en-US" sz="2000" dirty="0">
              <a:latin typeface="+mn-ea"/>
              <a:ea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15616" y="1063286"/>
            <a:ext cx="1368152" cy="499624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代码示例：</a:t>
            </a:r>
            <a:endParaRPr lang="en-US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15616" y="3005106"/>
            <a:ext cx="1368152" cy="499624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运行结果：</a:t>
            </a:r>
            <a:endParaRPr lang="en-US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11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12" name="Picture 2" descr="C:\Users\Administrator\AppData\Roaming\Tencent\Users\499232999\QQ\WinTemp\RichOle\@@C(VMP%$A[0FTRT}IGI$CE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3575430"/>
            <a:ext cx="5100292" cy="868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8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如何使用集合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84346" y="650309"/>
            <a:ext cx="553616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300"/>
              </a:spcBef>
              <a:spcAft>
                <a:spcPts val="300"/>
              </a:spcAft>
              <a:buFont typeface="Wingdings" panose="05000000000000000000" charset="0"/>
              <a:buChar char="n"/>
            </a:pPr>
            <a:r>
              <a:rPr lang="zh-CN" altLang="en-US" sz="2000" kern="100" dirty="0">
                <a:solidFill>
                  <a:srgbClr val="0070C0"/>
                </a:solidFill>
                <a:latin typeface="Times New Roman" panose="02020503050405090304" pitchFamily="18" charset="0"/>
                <a:ea typeface="微软雅黑" panose="020B0503020204020204" pitchFamily="34" charset="-122"/>
              </a:rPr>
              <a:t>第三种创建集合的方式</a:t>
            </a:r>
            <a:endParaRPr lang="zh-CN" altLang="zh-CN" sz="2000" kern="100" dirty="0">
              <a:solidFill>
                <a:srgbClr val="0070C0"/>
              </a:solidFill>
              <a:latin typeface="Times New Roman" panose="02020503050405090304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763688" y="1708961"/>
            <a:ext cx="5472608" cy="1015663"/>
          </a:xfrm>
          <a:prstGeom prst="rect">
            <a:avLst/>
          </a:prstGeom>
          <a:solidFill>
            <a:srgbClr val="E7F4FF"/>
          </a:solidFill>
          <a:ln w="28575" cap="flat" cmpd="sng" algn="ctr">
            <a:solidFill>
              <a:srgbClr val="5AADD6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en-US" sz="2000" dirty="0">
                <a:latin typeface="+mn-ea"/>
                <a:ea typeface="+mn-ea"/>
              </a:rPr>
              <a:t>a_set = set(</a:t>
            </a:r>
            <a:r>
              <a:rPr lang="en-US" altLang="zh-CN" sz="2000" dirty="0">
                <a:latin typeface="+mn-ea"/>
              </a:rPr>
              <a:t>'hello world'</a:t>
            </a:r>
            <a:r>
              <a:rPr lang="en-US" sz="2000" dirty="0">
                <a:latin typeface="+mn-ea"/>
              </a:rPr>
              <a:t>)</a:t>
            </a:r>
            <a:endParaRPr lang="en-US" sz="2000" dirty="0">
              <a:latin typeface="+mn-ea"/>
              <a:ea typeface="+mn-ea"/>
            </a:endParaRPr>
          </a:p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000" dirty="0">
                <a:latin typeface="+mn-ea"/>
                <a:ea typeface="+mn-ea"/>
              </a:rPr>
              <a:t>print(a_set)</a:t>
            </a:r>
            <a:endParaRPr lang="en-US" sz="2000" dirty="0">
              <a:latin typeface="+mn-ea"/>
              <a:ea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69650" y="991278"/>
            <a:ext cx="1368152" cy="499624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代码示例：</a:t>
            </a:r>
            <a:endParaRPr lang="en-US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69650" y="2933098"/>
            <a:ext cx="1368152" cy="499624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运行结果：</a:t>
            </a:r>
            <a:endParaRPr lang="en-US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11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1025" name="Picture 1" descr="C:\Users\Administrator\AppData\Roaming\Tencent\Users\499232999\QQ\WinTemp\RichOle\WTW5Y_T}%OZB~`34B3(]{@7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7" y="3432722"/>
            <a:ext cx="5333605" cy="651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animBg="1"/>
      <p:bldP spid="8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如何使用集合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251520" y="627534"/>
            <a:ext cx="7200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spcAft>
                <a:spcPts val="0"/>
              </a:spcAft>
              <a:buFont typeface="Wingdings" panose="05000000000000000000" charset="0"/>
              <a:buChar char="n"/>
            </a:pPr>
            <a:r>
              <a:rPr lang="zh-CN" altLang="en-US" sz="2000" kern="100" dirty="0">
                <a:solidFill>
                  <a:srgbClr val="0070C0"/>
                </a:solidFill>
                <a:latin typeface="+mn-ea"/>
                <a:ea typeface="+mn-ea"/>
              </a:rPr>
              <a:t>添加元素（</a:t>
            </a:r>
            <a:r>
              <a:rPr lang="en-US" altLang="zh-CN" sz="2000" kern="100" dirty="0">
                <a:solidFill>
                  <a:srgbClr val="0070C0"/>
                </a:solidFill>
                <a:latin typeface="+mn-ea"/>
                <a:ea typeface="+mn-ea"/>
              </a:rPr>
              <a:t>add</a:t>
            </a:r>
            <a:r>
              <a:rPr lang="zh-CN" altLang="en-US" sz="2000" kern="100" dirty="0">
                <a:solidFill>
                  <a:srgbClr val="0070C0"/>
                </a:solidFill>
                <a:latin typeface="+mn-ea"/>
                <a:ea typeface="+mn-ea"/>
              </a:rPr>
              <a:t>）</a:t>
            </a:r>
            <a:endParaRPr lang="zh-CN" altLang="zh-CN" sz="2000" kern="1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55576" y="2157700"/>
            <a:ext cx="2088232" cy="2862322"/>
          </a:xfrm>
          <a:prstGeom prst="rect">
            <a:avLst/>
          </a:prstGeom>
          <a:solidFill>
            <a:srgbClr val="E7F4FF"/>
          </a:solidFill>
          <a:ln w="28575" cap="flat" cmpd="sng" algn="ctr">
            <a:solidFill>
              <a:srgbClr val="5AADD6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en-US" sz="2000" dirty="0">
                <a:latin typeface="+mn-ea"/>
                <a:ea typeface="+mn-ea"/>
              </a:rPr>
              <a:t>s = set('apple')</a:t>
            </a:r>
            <a:endParaRPr lang="en-US" sz="2000" dirty="0">
              <a:latin typeface="+mn-ea"/>
              <a:ea typeface="+mn-ea"/>
            </a:endParaRPr>
          </a:p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en-US" sz="2000" dirty="0">
                <a:latin typeface="+mn-ea"/>
                <a:ea typeface="+mn-ea"/>
              </a:rPr>
              <a:t>print(s)</a:t>
            </a:r>
            <a:endParaRPr lang="en-US" sz="2000" dirty="0">
              <a:latin typeface="+mn-ea"/>
              <a:ea typeface="+mn-ea"/>
            </a:endParaRPr>
          </a:p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en-US" sz="2000" dirty="0" err="1">
                <a:latin typeface="+mn-ea"/>
                <a:ea typeface="+mn-ea"/>
              </a:rPr>
              <a:t>s.add</a:t>
            </a:r>
            <a:r>
              <a:rPr lang="en-US" sz="2000" dirty="0">
                <a:latin typeface="+mn-ea"/>
                <a:ea typeface="+mn-ea"/>
              </a:rPr>
              <a:t>('b')</a:t>
            </a:r>
            <a:endParaRPr lang="en-US" sz="2000" dirty="0">
              <a:latin typeface="+mn-ea"/>
              <a:ea typeface="+mn-ea"/>
            </a:endParaRPr>
          </a:p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en-US" sz="2000" dirty="0">
                <a:latin typeface="+mn-ea"/>
                <a:ea typeface="+mn-ea"/>
              </a:rPr>
              <a:t>print(s)</a:t>
            </a:r>
            <a:endParaRPr lang="en-US" sz="2000" dirty="0">
              <a:latin typeface="+mn-ea"/>
              <a:ea typeface="+mn-ea"/>
            </a:endParaRPr>
          </a:p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en-US" sz="2000" dirty="0" err="1">
                <a:latin typeface="+mn-ea"/>
                <a:ea typeface="+mn-ea"/>
              </a:rPr>
              <a:t>s.add</a:t>
            </a:r>
            <a:r>
              <a:rPr lang="en-US" sz="2000" dirty="0">
                <a:latin typeface="+mn-ea"/>
                <a:ea typeface="+mn-ea"/>
              </a:rPr>
              <a:t>('b')</a:t>
            </a:r>
            <a:endParaRPr lang="en-US" sz="2000" dirty="0">
              <a:latin typeface="+mn-ea"/>
              <a:ea typeface="+mn-ea"/>
            </a:endParaRPr>
          </a:p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en-US" sz="2000" dirty="0">
                <a:latin typeface="+mn-ea"/>
                <a:ea typeface="+mn-ea"/>
              </a:rPr>
              <a:t>print(s)</a:t>
            </a:r>
            <a:endParaRPr lang="en-US" sz="2000" dirty="0">
              <a:latin typeface="+mn-ea"/>
              <a:ea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11560" y="1595919"/>
            <a:ext cx="1368152" cy="499624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代码举例：</a:t>
            </a:r>
            <a:endParaRPr lang="en-US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517966" y="1578714"/>
            <a:ext cx="1611950" cy="499624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输出结果：</a:t>
            </a:r>
            <a:endParaRPr lang="en-US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8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2049" name="Picture 1" descr="C:\Users\Administrator\AppData\Roaming\Tencent\Users\499232999\QQ\WinTemp\RichOle\FT[3W0L@2F4M$5LH8C35J$U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2139702"/>
            <a:ext cx="3543722" cy="12770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矩形 8"/>
          <p:cNvSpPr/>
          <p:nvPr/>
        </p:nvSpPr>
        <p:spPr>
          <a:xfrm>
            <a:off x="611560" y="960387"/>
            <a:ext cx="5616624" cy="553998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语法格式：</a:t>
            </a:r>
            <a:r>
              <a:rPr lang="zh-CN" altLang="en-US" b="1" dirty="0">
                <a:latin typeface="+mn-ea"/>
                <a:ea typeface="+mn-ea"/>
              </a:rPr>
              <a:t>集合名</a:t>
            </a:r>
            <a:r>
              <a:rPr lang="en-US" altLang="zh-CN" b="1" dirty="0">
                <a:latin typeface="+mn-ea"/>
                <a:ea typeface="+mn-ea"/>
              </a:rPr>
              <a:t>.add</a:t>
            </a:r>
            <a:r>
              <a:rPr lang="zh-CN" altLang="en-US" b="1" dirty="0">
                <a:latin typeface="+mn-ea"/>
                <a:ea typeface="+mn-ea"/>
              </a:rPr>
              <a:t>（字符）</a:t>
            </a:r>
            <a:endParaRPr lang="en-US" b="1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0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 animBg="1"/>
      <p:bldP spid="12" grpId="0"/>
      <p:bldP spid="13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如何使用集合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774727" y="1393691"/>
            <a:ext cx="34372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Wingdings" panose="05000000000000000000" charset="0"/>
              <a:buChar char="n"/>
            </a:pPr>
            <a:r>
              <a:rPr lang="en-US" altLang="zh-CN" sz="2000" dirty="0">
                <a:solidFill>
                  <a:srgbClr val="0070C0"/>
                </a:solidFill>
                <a:latin typeface="+mn-ea"/>
                <a:ea typeface="+mn-ea"/>
              </a:rPr>
              <a:t>remove</a:t>
            </a:r>
            <a:endParaRPr lang="en-US" altLang="zh-CN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259632" y="2870280"/>
            <a:ext cx="2630096" cy="523220"/>
          </a:xfrm>
          <a:prstGeom prst="rect">
            <a:avLst/>
          </a:prstGeom>
          <a:solidFill>
            <a:srgbClr val="E7F4FF"/>
          </a:solidFill>
          <a:ln w="28575" cap="flat" cmpd="sng" algn="ctr">
            <a:solidFill>
              <a:srgbClr val="5AADD6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l"/>
            <a:r>
              <a:rPr lang="en-US" altLang="zh-CN" sz="1400" dirty="0">
                <a:latin typeface="+mn-ea"/>
              </a:rPr>
              <a:t>a_set = set('hello world!')</a:t>
            </a:r>
            <a:endParaRPr lang="en-US" altLang="zh-CN" sz="1400" dirty="0">
              <a:latin typeface="+mn-ea"/>
            </a:endParaRPr>
          </a:p>
          <a:p>
            <a:pPr algn="l"/>
            <a:r>
              <a:rPr lang="en-US" altLang="zh-CN" sz="1400" dirty="0">
                <a:latin typeface="+mn-ea"/>
              </a:rPr>
              <a:t>a_set.remove('a')</a:t>
            </a:r>
            <a:endParaRPr lang="zh-CN" altLang="zh-CN" sz="1400" dirty="0">
              <a:latin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74727" y="2430352"/>
            <a:ext cx="1368152" cy="418191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600" dirty="0">
                <a:solidFill>
                  <a:srgbClr val="0070C0"/>
                </a:solidFill>
                <a:latin typeface="+mn-ea"/>
                <a:ea typeface="+mn-ea"/>
              </a:rPr>
              <a:t>代码举例：</a:t>
            </a:r>
            <a:endParaRPr lang="en-US" sz="16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74727" y="3446568"/>
            <a:ext cx="1368152" cy="418191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600" dirty="0">
                <a:solidFill>
                  <a:srgbClr val="0070C0"/>
                </a:solidFill>
                <a:latin typeface="+mn-ea"/>
                <a:ea typeface="+mn-ea"/>
              </a:rPr>
              <a:t>输出结果：</a:t>
            </a:r>
            <a:endParaRPr lang="en-US" sz="16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607012" y="2939670"/>
            <a:ext cx="2630096" cy="523220"/>
          </a:xfrm>
          <a:prstGeom prst="rect">
            <a:avLst/>
          </a:prstGeom>
          <a:solidFill>
            <a:srgbClr val="E7F4FF"/>
          </a:solidFill>
          <a:ln w="28575" cap="flat" cmpd="sng" algn="ctr">
            <a:solidFill>
              <a:srgbClr val="5AADD6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l"/>
            <a:r>
              <a:rPr lang="en-US" altLang="zh-CN" sz="1400" dirty="0">
                <a:latin typeface="+mn-ea"/>
              </a:rPr>
              <a:t>a_set = set('hello world!')</a:t>
            </a:r>
            <a:endParaRPr lang="en-US" altLang="zh-CN" sz="1400" dirty="0">
              <a:latin typeface="+mn-ea"/>
            </a:endParaRPr>
          </a:p>
          <a:p>
            <a:pPr algn="l"/>
            <a:r>
              <a:rPr lang="en-US" altLang="zh-CN" sz="1400" dirty="0">
                <a:latin typeface="+mn-ea"/>
              </a:rPr>
              <a:t>a_set.discard('a')</a:t>
            </a:r>
            <a:endParaRPr lang="zh-CN" altLang="zh-CN" sz="1400" dirty="0">
              <a:latin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122107" y="2499742"/>
            <a:ext cx="1368152" cy="418191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600" dirty="0">
                <a:solidFill>
                  <a:srgbClr val="0070C0"/>
                </a:solidFill>
                <a:latin typeface="+mn-ea"/>
                <a:ea typeface="+mn-ea"/>
              </a:rPr>
              <a:t>代码举例：</a:t>
            </a:r>
            <a:endParaRPr lang="en-US" sz="16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122107" y="3515958"/>
            <a:ext cx="1368152" cy="418191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600" dirty="0">
                <a:solidFill>
                  <a:srgbClr val="0070C0"/>
                </a:solidFill>
                <a:latin typeface="+mn-ea"/>
                <a:ea typeface="+mn-ea"/>
              </a:rPr>
              <a:t>输出结果：</a:t>
            </a:r>
            <a:endParaRPr lang="en-US" sz="16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14" name="文本框 2"/>
          <p:cNvSpPr txBox="1"/>
          <p:nvPr/>
        </p:nvSpPr>
        <p:spPr>
          <a:xfrm>
            <a:off x="5122107" y="1393691"/>
            <a:ext cx="3115001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marL="285750" indent="-285750" algn="l">
              <a:buFont typeface="Wingdings" panose="05000000000000000000" charset="0"/>
              <a:buChar char="n"/>
            </a:pPr>
            <a:r>
              <a:rPr lang="en-US" altLang="zh-CN" sz="2000" dirty="0">
                <a:solidFill>
                  <a:srgbClr val="0070C0"/>
                </a:solidFill>
                <a:latin typeface="+mn-ea"/>
                <a:ea typeface="+mn-ea"/>
              </a:rPr>
              <a:t>discard</a:t>
            </a:r>
            <a:endParaRPr lang="en-US" altLang="zh-CN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39552" y="1393691"/>
            <a:ext cx="4392488" cy="3482315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ysDot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 dirty="0"/>
          </a:p>
        </p:txBody>
      </p:sp>
      <p:sp>
        <p:nvSpPr>
          <p:cNvPr id="16" name="矩形 15"/>
          <p:cNvSpPr/>
          <p:nvPr/>
        </p:nvSpPr>
        <p:spPr>
          <a:xfrm>
            <a:off x="5076056" y="1393691"/>
            <a:ext cx="3410333" cy="3482315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ysDot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 dirty="0"/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6145" name="Picture 1" descr="C:\Users\Administrator\AppData\Roaming\Tencent\Users\499232999\QQ\WinTemp\RichOle\F1X[40ZJW]]%7{K{PV@PW8E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3934149"/>
            <a:ext cx="2630096" cy="56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C:\Users\Administrator\AppData\Roaming\Tencent\Users\499232999\QQ\WinTemp\RichOle\B`M1OSA8%]K61ZF06OB{X%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7012" y="3998509"/>
            <a:ext cx="2717003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矩形 18"/>
          <p:cNvSpPr/>
          <p:nvPr/>
        </p:nvSpPr>
        <p:spPr>
          <a:xfrm>
            <a:off x="774726" y="1809309"/>
            <a:ext cx="3365226" cy="461665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600" dirty="0">
                <a:solidFill>
                  <a:srgbClr val="0070C0"/>
                </a:solidFill>
                <a:latin typeface="+mn-ea"/>
                <a:ea typeface="+mn-ea"/>
              </a:rPr>
              <a:t>语法格式：</a:t>
            </a:r>
            <a:r>
              <a:rPr lang="zh-CN" altLang="en-US" sz="1600" b="1" dirty="0">
                <a:latin typeface="+mn-ea"/>
                <a:ea typeface="+mn-ea"/>
              </a:rPr>
              <a:t>集合名</a:t>
            </a:r>
            <a:r>
              <a:rPr lang="en-US" altLang="zh-CN" sz="1600" b="1" dirty="0">
                <a:latin typeface="+mn-ea"/>
                <a:ea typeface="+mn-ea"/>
              </a:rPr>
              <a:t>.remove(</a:t>
            </a:r>
            <a:r>
              <a:rPr lang="zh-CN" altLang="en-US" sz="1600" b="1" dirty="0">
                <a:latin typeface="+mn-ea"/>
                <a:ea typeface="+mn-ea"/>
              </a:rPr>
              <a:t>字符</a:t>
            </a:r>
            <a:r>
              <a:rPr lang="en-US" altLang="zh-CN" sz="1600" b="1" dirty="0">
                <a:latin typeface="+mn-ea"/>
                <a:ea typeface="+mn-ea"/>
              </a:rPr>
              <a:t>)</a:t>
            </a:r>
            <a:endParaRPr lang="en-US" sz="1600" b="1" dirty="0">
              <a:latin typeface="+mn-ea"/>
              <a:ea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076056" y="1983446"/>
            <a:ext cx="3115001" cy="418191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600" dirty="0">
                <a:solidFill>
                  <a:srgbClr val="0070C0"/>
                </a:solidFill>
                <a:latin typeface="+mn-ea"/>
                <a:ea typeface="+mn-ea"/>
              </a:rPr>
              <a:t>语法格式：</a:t>
            </a:r>
            <a:r>
              <a:rPr lang="zh-CN" altLang="en-US" sz="1600" b="1" dirty="0">
                <a:latin typeface="+mn-ea"/>
                <a:ea typeface="+mn-ea"/>
              </a:rPr>
              <a:t>集合名</a:t>
            </a:r>
            <a:r>
              <a:rPr lang="en-US" altLang="zh-CN" sz="1600" b="1" dirty="0">
                <a:latin typeface="+mn-ea"/>
                <a:ea typeface="+mn-ea"/>
              </a:rPr>
              <a:t>.discard(</a:t>
            </a:r>
            <a:r>
              <a:rPr lang="zh-CN" altLang="en-US" sz="1600" b="1" dirty="0">
                <a:latin typeface="+mn-ea"/>
                <a:ea typeface="+mn-ea"/>
              </a:rPr>
              <a:t>字符</a:t>
            </a:r>
            <a:r>
              <a:rPr lang="en-US" altLang="zh-CN" sz="1600" b="1" dirty="0">
                <a:latin typeface="+mn-ea"/>
                <a:ea typeface="+mn-ea"/>
              </a:rPr>
              <a:t>)</a:t>
            </a:r>
            <a:endParaRPr lang="en-US" sz="1600" b="1" dirty="0">
              <a:latin typeface="+mn-ea"/>
              <a:ea typeface="+mn-ea"/>
            </a:endParaRPr>
          </a:p>
        </p:txBody>
      </p:sp>
      <p:sp>
        <p:nvSpPr>
          <p:cNvPr id="21" name="文本框 2"/>
          <p:cNvSpPr txBox="1"/>
          <p:nvPr/>
        </p:nvSpPr>
        <p:spPr>
          <a:xfrm>
            <a:off x="277495" y="732790"/>
            <a:ext cx="4179570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元素的删除</a:t>
            </a:r>
            <a:endParaRPr lang="zh-CN" altLang="en-US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6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8" grpId="0"/>
      <p:bldP spid="9" grpId="0"/>
      <p:bldP spid="10" grpId="0" animBg="1"/>
      <p:bldP spid="12" grpId="0"/>
      <p:bldP spid="13" grpId="0"/>
      <p:bldP spid="14" grpId="0"/>
      <p:bldP spid="15" grpId="0" animBg="1"/>
      <p:bldP spid="16" grpId="0" animBg="1"/>
      <p:bldP spid="19" grpId="0"/>
      <p:bldP spid="20" grpId="0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下箭头 10"/>
          <p:cNvSpPr/>
          <p:nvPr/>
        </p:nvSpPr>
        <p:spPr>
          <a:xfrm rot="10800000">
            <a:off x="5171139" y="3103280"/>
            <a:ext cx="2736304" cy="1772726"/>
          </a:xfrm>
          <a:prstGeom prst="downArrow">
            <a:avLst/>
          </a:prstGeom>
          <a:solidFill>
            <a:srgbClr val="E7FEFF"/>
          </a:solidFill>
          <a:ln w="28575" cap="flat" cmpd="sng" algn="ctr">
            <a:solidFill>
              <a:srgbClr val="5AADD6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8" name="下箭头 7"/>
          <p:cNvSpPr/>
          <p:nvPr/>
        </p:nvSpPr>
        <p:spPr>
          <a:xfrm>
            <a:off x="1187624" y="1275606"/>
            <a:ext cx="2736304" cy="1772726"/>
          </a:xfrm>
          <a:prstGeom prst="downArrow">
            <a:avLst/>
          </a:prstGeom>
          <a:solidFill>
            <a:srgbClr val="E7FEFF"/>
          </a:solidFill>
          <a:ln w="28575" cap="flat" cmpd="sng" algn="ctr">
            <a:solidFill>
              <a:srgbClr val="5AADD6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如何使用集合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691680" y="2067694"/>
            <a:ext cx="164660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500" dirty="0"/>
              <a:t>remove(a)</a:t>
            </a:r>
            <a:endParaRPr lang="zh-CN" altLang="en-US" sz="2500" dirty="0"/>
          </a:p>
        </p:txBody>
      </p:sp>
      <p:sp>
        <p:nvSpPr>
          <p:cNvPr id="6" name="文本框 5"/>
          <p:cNvSpPr txBox="1"/>
          <p:nvPr/>
        </p:nvSpPr>
        <p:spPr>
          <a:xfrm>
            <a:off x="5734423" y="3579862"/>
            <a:ext cx="160973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500" dirty="0"/>
              <a:t>discard(a)</a:t>
            </a:r>
            <a:endParaRPr lang="zh-CN" altLang="en-US" sz="2500" dirty="0"/>
          </a:p>
        </p:txBody>
      </p:sp>
      <p:sp>
        <p:nvSpPr>
          <p:cNvPr id="7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0" name="减号 9"/>
          <p:cNvSpPr/>
          <p:nvPr/>
        </p:nvSpPr>
        <p:spPr>
          <a:xfrm rot="21185095">
            <a:off x="-383235" y="2858677"/>
            <a:ext cx="9262397" cy="519078"/>
          </a:xfrm>
          <a:prstGeom prst="mathMinus">
            <a:avLst/>
          </a:prstGeom>
          <a:solidFill>
            <a:srgbClr val="E7FEFF"/>
          </a:solidFill>
          <a:ln w="3175" cap="flat" cmpd="sng" algn="ctr">
            <a:solidFill>
              <a:srgbClr val="5AADD6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12" name="矩形 11"/>
          <p:cNvSpPr/>
          <p:nvPr/>
        </p:nvSpPr>
        <p:spPr>
          <a:xfrm>
            <a:off x="1619672" y="4083918"/>
            <a:ext cx="1944216" cy="369332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lvl="0"/>
            <a:r>
              <a:rPr lang="zh-CN" altLang="en-US" dirty="0"/>
              <a:t>缺失</a:t>
            </a:r>
            <a:r>
              <a:rPr lang="en-US" altLang="zh-CN" dirty="0"/>
              <a:t>a</a:t>
            </a:r>
            <a:r>
              <a:rPr lang="zh-CN" altLang="en-US" dirty="0"/>
              <a:t>，将报错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5567182" y="1369095"/>
            <a:ext cx="1944216" cy="369332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lvl="0"/>
            <a:r>
              <a:rPr lang="zh-CN" altLang="en-US" dirty="0"/>
              <a:t>缺失</a:t>
            </a:r>
            <a:r>
              <a:rPr lang="en-US" altLang="zh-CN" dirty="0"/>
              <a:t>a</a:t>
            </a:r>
            <a:r>
              <a:rPr lang="zh-CN" altLang="en-US" dirty="0"/>
              <a:t>，不报错</a:t>
            </a:r>
            <a:endParaRPr lang="zh-CN" altLang="en-US" dirty="0"/>
          </a:p>
        </p:txBody>
      </p:sp>
      <p:sp>
        <p:nvSpPr>
          <p:cNvPr id="14" name="文本框 2"/>
          <p:cNvSpPr txBox="1"/>
          <p:nvPr/>
        </p:nvSpPr>
        <p:spPr>
          <a:xfrm>
            <a:off x="277495" y="732790"/>
            <a:ext cx="4179570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元素的删除</a:t>
            </a:r>
            <a:endParaRPr lang="zh-CN" altLang="en-US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8" grpId="0" animBg="1"/>
      <p:bldP spid="5" grpId="0"/>
      <p:bldP spid="6" grpId="0"/>
      <p:bldP spid="10" grpId="0" animBg="1"/>
      <p:bldP spid="12" grpId="0"/>
      <p:bldP spid="13" grpId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如何使用集合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794562" y="1836806"/>
            <a:ext cx="1368152" cy="418191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600" dirty="0">
                <a:solidFill>
                  <a:srgbClr val="0070C0"/>
                </a:solidFill>
                <a:latin typeface="+mn-ea"/>
                <a:ea typeface="+mn-ea"/>
              </a:rPr>
              <a:t>代码举例：</a:t>
            </a:r>
            <a:endParaRPr lang="en-US" sz="16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560005" y="1836805"/>
            <a:ext cx="1368152" cy="418191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600" dirty="0">
                <a:solidFill>
                  <a:srgbClr val="0070C0"/>
                </a:solidFill>
                <a:latin typeface="+mn-ea"/>
                <a:ea typeface="+mn-ea"/>
              </a:rPr>
              <a:t>输出结果：</a:t>
            </a:r>
            <a:endParaRPr lang="en-US" sz="16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30919" y="2415324"/>
            <a:ext cx="2630096" cy="1884618"/>
          </a:xfrm>
          <a:prstGeom prst="rect">
            <a:avLst/>
          </a:prstGeom>
          <a:solidFill>
            <a:srgbClr val="E7F4FF"/>
          </a:solidFill>
          <a:ln w="28575" cap="flat" cmpd="sng" algn="ctr">
            <a:solidFill>
              <a:srgbClr val="5AADD6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en-US" altLang="zh-CN" sz="2000" dirty="0">
                <a:latin typeface="+mn-ea"/>
                <a:ea typeface="+mn-ea"/>
              </a:rPr>
              <a:t>s = set('apple')</a:t>
            </a:r>
            <a:endParaRPr lang="zh-CN" altLang="zh-CN" sz="2000" dirty="0">
              <a:latin typeface="+mn-ea"/>
              <a:ea typeface="+mn-ea"/>
            </a:endParaRPr>
          </a:p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en-US" altLang="zh-CN" sz="2000" dirty="0">
                <a:latin typeface="+mn-ea"/>
                <a:ea typeface="+mn-ea"/>
              </a:rPr>
              <a:t>print(s)  </a:t>
            </a:r>
            <a:endParaRPr lang="zh-CN" altLang="zh-CN" sz="2000" dirty="0">
              <a:latin typeface="+mn-ea"/>
              <a:ea typeface="+mn-ea"/>
            </a:endParaRPr>
          </a:p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en-US" altLang="zh-CN" sz="2000" dirty="0">
                <a:latin typeface="+mn-ea"/>
                <a:ea typeface="+mn-ea"/>
              </a:rPr>
              <a:t>print(s.pop())  </a:t>
            </a:r>
            <a:endParaRPr lang="zh-CN" altLang="zh-CN" sz="2000" dirty="0">
              <a:latin typeface="+mn-ea"/>
              <a:ea typeface="+mn-ea"/>
            </a:endParaRPr>
          </a:p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en-US" altLang="zh-CN" sz="2000" dirty="0">
                <a:latin typeface="+mn-ea"/>
                <a:ea typeface="+mn-ea"/>
              </a:rPr>
              <a:t>print(s)  </a:t>
            </a:r>
            <a:endParaRPr lang="zh-CN" altLang="zh-CN" sz="2000" dirty="0">
              <a:latin typeface="+mn-ea"/>
              <a:ea typeface="+mn-ea"/>
            </a:endParaRPr>
          </a:p>
        </p:txBody>
      </p:sp>
      <p:sp>
        <p:nvSpPr>
          <p:cNvPr id="9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69" name="Picture 1" descr="C:\Users\Administrator\AppData\Roaming\Tencent\Users\499232999\QQ\WinTemp\RichOle\X}}4XVW8EUUEU)Y$LO8E4UH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1478" y="2384498"/>
            <a:ext cx="2358794" cy="1051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矩形 12"/>
          <p:cNvSpPr/>
          <p:nvPr/>
        </p:nvSpPr>
        <p:spPr>
          <a:xfrm>
            <a:off x="774726" y="1326990"/>
            <a:ext cx="3115001" cy="418191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600" dirty="0">
                <a:solidFill>
                  <a:srgbClr val="0070C0"/>
                </a:solidFill>
                <a:latin typeface="+mn-ea"/>
                <a:ea typeface="+mn-ea"/>
              </a:rPr>
              <a:t>语法格式：</a:t>
            </a:r>
            <a:r>
              <a:rPr lang="zh-CN" altLang="en-US" sz="1600" b="1" dirty="0">
                <a:latin typeface="+mn-ea"/>
                <a:ea typeface="+mn-ea"/>
              </a:rPr>
              <a:t>集合名</a:t>
            </a:r>
            <a:r>
              <a:rPr lang="en-US" altLang="zh-CN" sz="1600" b="1" dirty="0">
                <a:latin typeface="+mn-ea"/>
                <a:ea typeface="+mn-ea"/>
              </a:rPr>
              <a:t>.pop()</a:t>
            </a:r>
            <a:endParaRPr lang="en-US" sz="1600" b="1" dirty="0">
              <a:latin typeface="+mn-ea"/>
              <a:ea typeface="+mn-ea"/>
            </a:endParaRPr>
          </a:p>
        </p:txBody>
      </p:sp>
      <p:sp>
        <p:nvSpPr>
          <p:cNvPr id="14" name="文本框 2"/>
          <p:cNvSpPr txBox="1"/>
          <p:nvPr/>
        </p:nvSpPr>
        <p:spPr>
          <a:xfrm>
            <a:off x="277495" y="732790"/>
            <a:ext cx="2328512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marL="285750" indent="-285750" algn="l">
              <a:buFont typeface="Wingdings" panose="05000000000000000000" charset="0"/>
              <a:buChar char="n"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弹出</a:t>
            </a:r>
            <a:r>
              <a:rPr lang="en-US" altLang="zh-CN" sz="2000" dirty="0">
                <a:solidFill>
                  <a:srgbClr val="0070C0"/>
                </a:solidFill>
                <a:latin typeface="+mn-ea"/>
                <a:ea typeface="+mn-ea"/>
              </a:rPr>
              <a:t>(pop)</a:t>
            </a:r>
            <a:endParaRPr lang="en-US" altLang="zh-CN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 animBg="1"/>
      <p:bldP spid="13" grpId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如何使用集合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899592" y="2642899"/>
            <a:ext cx="2630096" cy="1884618"/>
          </a:xfrm>
          <a:prstGeom prst="rect">
            <a:avLst/>
          </a:prstGeom>
          <a:solidFill>
            <a:srgbClr val="E7F4FF"/>
          </a:solidFill>
          <a:ln w="28575" cap="flat" cmpd="sng" algn="ctr">
            <a:solidFill>
              <a:srgbClr val="5AADD6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en-US" altLang="zh-CN" sz="2000" dirty="0">
                <a:latin typeface="+mn-ea"/>
                <a:ea typeface="+mn-ea"/>
              </a:rPr>
              <a:t>s = set('apple')</a:t>
            </a:r>
            <a:endParaRPr lang="zh-CN" altLang="zh-CN" sz="2000" dirty="0">
              <a:latin typeface="+mn-ea"/>
              <a:ea typeface="+mn-ea"/>
            </a:endParaRPr>
          </a:p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en-US" altLang="zh-CN" sz="2000" dirty="0">
                <a:latin typeface="+mn-ea"/>
                <a:ea typeface="+mn-ea"/>
              </a:rPr>
              <a:t>print(s)  </a:t>
            </a:r>
            <a:endParaRPr lang="zh-CN" altLang="zh-CN" sz="2000" dirty="0">
              <a:latin typeface="+mn-ea"/>
              <a:ea typeface="+mn-ea"/>
            </a:endParaRPr>
          </a:p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en-US" altLang="zh-CN" sz="2000" dirty="0">
                <a:latin typeface="+mn-ea"/>
                <a:ea typeface="+mn-ea"/>
              </a:rPr>
              <a:t>print(s.clear())  </a:t>
            </a:r>
            <a:endParaRPr lang="zh-CN" altLang="zh-CN" sz="2000" dirty="0">
              <a:latin typeface="+mn-ea"/>
              <a:ea typeface="+mn-ea"/>
            </a:endParaRPr>
          </a:p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en-US" altLang="zh-CN" sz="2000" dirty="0">
                <a:latin typeface="+mn-ea"/>
                <a:ea typeface="+mn-ea"/>
              </a:rPr>
              <a:t>print(s)  </a:t>
            </a:r>
            <a:endParaRPr lang="zh-CN" altLang="zh-CN" sz="2000" dirty="0">
              <a:latin typeface="+mn-ea"/>
              <a:ea typeface="+mn-ea"/>
            </a:endParaRPr>
          </a:p>
        </p:txBody>
      </p:sp>
      <p:sp>
        <p:nvSpPr>
          <p:cNvPr id="8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8193" name="Picture 1" descr="C:\Users\Administrator\AppData\Roaming\Tencent\Users\499232999\QQ\WinTemp\RichOle\U373LB]T59K~MVK5XS1WH9F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8088" y="2637305"/>
            <a:ext cx="211616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矩形 11"/>
          <p:cNvSpPr/>
          <p:nvPr/>
        </p:nvSpPr>
        <p:spPr>
          <a:xfrm>
            <a:off x="774726" y="1305253"/>
            <a:ext cx="3293218" cy="461665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600" dirty="0">
                <a:solidFill>
                  <a:srgbClr val="0070C0"/>
                </a:solidFill>
                <a:latin typeface="+mn-ea"/>
                <a:ea typeface="+mn-ea"/>
              </a:rPr>
              <a:t>语法格式：</a:t>
            </a:r>
            <a:r>
              <a:rPr lang="zh-CN" altLang="en-US" sz="1600" b="1" dirty="0">
                <a:latin typeface="+mn-ea"/>
                <a:ea typeface="+mn-ea"/>
              </a:rPr>
              <a:t>集合名</a:t>
            </a:r>
            <a:r>
              <a:rPr lang="en-US" altLang="zh-CN" sz="1600" b="1" dirty="0">
                <a:latin typeface="+mn-ea"/>
                <a:ea typeface="+mn-ea"/>
              </a:rPr>
              <a:t>.clear(</a:t>
            </a:r>
            <a:r>
              <a:rPr lang="zh-CN" altLang="en-US" sz="1600" b="1" dirty="0">
                <a:latin typeface="+mn-ea"/>
                <a:ea typeface="+mn-ea"/>
              </a:rPr>
              <a:t>字符</a:t>
            </a:r>
            <a:r>
              <a:rPr lang="en-US" altLang="zh-CN" sz="1600" b="1" dirty="0">
                <a:latin typeface="+mn-ea"/>
                <a:ea typeface="+mn-ea"/>
              </a:rPr>
              <a:t>)</a:t>
            </a:r>
            <a:endParaRPr lang="en-US" sz="1600" b="1" dirty="0">
              <a:latin typeface="+mn-ea"/>
              <a:ea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94562" y="2009543"/>
            <a:ext cx="1368152" cy="418191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600" dirty="0">
                <a:solidFill>
                  <a:srgbClr val="0070C0"/>
                </a:solidFill>
                <a:latin typeface="+mn-ea"/>
                <a:ea typeface="+mn-ea"/>
              </a:rPr>
              <a:t>代码举例：</a:t>
            </a:r>
            <a:endParaRPr lang="en-US" sz="16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560005" y="2009542"/>
            <a:ext cx="1368152" cy="418191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600" dirty="0">
                <a:solidFill>
                  <a:srgbClr val="0070C0"/>
                </a:solidFill>
                <a:latin typeface="+mn-ea"/>
                <a:ea typeface="+mn-ea"/>
              </a:rPr>
              <a:t>输出结果：</a:t>
            </a:r>
            <a:endParaRPr lang="en-US" sz="16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10" name="文本框 2"/>
          <p:cNvSpPr txBox="1"/>
          <p:nvPr/>
        </p:nvSpPr>
        <p:spPr>
          <a:xfrm>
            <a:off x="277494" y="732790"/>
            <a:ext cx="2638321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marL="285750" indent="-285750" algn="l">
              <a:buFont typeface="Wingdings" panose="05000000000000000000" charset="0"/>
              <a:buChar char="n"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清空</a:t>
            </a:r>
            <a:r>
              <a:rPr lang="en-US" altLang="zh-CN" sz="2000" dirty="0">
                <a:solidFill>
                  <a:srgbClr val="0070C0"/>
                </a:solidFill>
                <a:latin typeface="+mn-ea"/>
                <a:ea typeface="+mn-ea"/>
              </a:rPr>
              <a:t>(clear)</a:t>
            </a:r>
            <a:endParaRPr lang="en-US" altLang="zh-CN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4" grpId="0"/>
      <p:bldP spid="15" grpId="0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课堂练习</a:t>
            </a:r>
            <a:endParaRPr lang="zh-CN" altLang="en-US" dirty="0"/>
          </a:p>
        </p:txBody>
      </p:sp>
      <p:sp>
        <p:nvSpPr>
          <p:cNvPr id="8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74726" y="1305898"/>
            <a:ext cx="3293218" cy="460375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 sz="1600" b="1" dirty="0">
              <a:latin typeface="+mn-ea"/>
              <a:ea typeface="+mn-ea"/>
            </a:endParaRPr>
          </a:p>
        </p:txBody>
      </p:sp>
      <p:sp>
        <p:nvSpPr>
          <p:cNvPr id="10" name="文本框 2"/>
          <p:cNvSpPr txBox="1"/>
          <p:nvPr/>
        </p:nvSpPr>
        <p:spPr>
          <a:xfrm>
            <a:off x="277494" y="736600"/>
            <a:ext cx="2638321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marL="285750" indent="-285750" algn="l">
              <a:buFont typeface="Wingdings" panose="05000000000000000000" charset="0"/>
              <a:buChar char="n"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课堂练习</a:t>
            </a:r>
            <a:endParaRPr lang="zh-CN" altLang="en-US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0995" y="1102360"/>
            <a:ext cx="517398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/>
              <a:t>fruits = {"apple", "banana", "orange"}</a:t>
            </a:r>
            <a:endParaRPr lang="zh-CN" altLang="en-US"/>
          </a:p>
          <a:p>
            <a:pPr marL="342900" indent="-342900" algn="l">
              <a:buAutoNum type="arabicPeriod"/>
            </a:pPr>
            <a:r>
              <a:rPr lang="zh-CN" altLang="en-US"/>
              <a:t>给集合添加一个水果 cherry</a:t>
            </a:r>
            <a:endParaRPr lang="zh-CN" altLang="en-US"/>
          </a:p>
          <a:p>
            <a:pPr marL="342900" indent="-342900" algn="l">
              <a:buAutoNum type="arabicPeriod"/>
            </a:pPr>
            <a:r>
              <a:rPr lang="zh-CN" altLang="en-US"/>
              <a:t>给集合添加一个水果 apple</a:t>
            </a:r>
            <a:endParaRPr lang="zh-CN" altLang="en-US"/>
          </a:p>
          <a:p>
            <a:pPr marL="342900" indent="-342900" algn="l">
              <a:buAutoNum type="arabicPeriod"/>
            </a:pPr>
            <a:r>
              <a:rPr lang="zh-CN" altLang="en-US"/>
              <a:t>给集合添加一堆水果 ['西瓜', '甜瓜', '芒果']</a:t>
            </a:r>
            <a:endParaRPr lang="zh-CN" altLang="en-US"/>
          </a:p>
          <a:p>
            <a:pPr marL="342900" indent="-342900" algn="l">
              <a:buAutoNum type="arabicPeriod"/>
            </a:pPr>
            <a:r>
              <a:rPr lang="zh-CN" altLang="en-US"/>
              <a:t>使用pop删除集合的一个元素</a:t>
            </a:r>
            <a:endParaRPr lang="zh-CN" altLang="en-US"/>
          </a:p>
          <a:p>
            <a:pPr marL="342900" indent="-342900" algn="l">
              <a:buAutoNum type="arabicPeriod"/>
            </a:pPr>
            <a:r>
              <a:rPr lang="zh-CN" altLang="en-US"/>
              <a:t>使用remove删除集合的cherry</a:t>
            </a:r>
            <a:endParaRPr lang="zh-CN" altLang="en-US"/>
          </a:p>
          <a:p>
            <a:pPr marL="342900" indent="-342900" algn="l">
              <a:buAutoNum type="arabicPeriod"/>
            </a:pPr>
            <a:r>
              <a:rPr lang="zh-CN" altLang="en-US"/>
              <a:t>使用remove删除集合的melon</a:t>
            </a:r>
            <a:endParaRPr lang="zh-CN" altLang="en-US"/>
          </a:p>
          <a:p>
            <a:pPr marL="342900" indent="-342900" algn="l">
              <a:buAutoNum type="arabicPeriod"/>
            </a:pPr>
            <a:r>
              <a:rPr lang="zh-CN" altLang="en-US"/>
              <a:t>使用discard删除集合的cherry</a:t>
            </a:r>
            <a:endParaRPr lang="zh-CN" altLang="en-US"/>
          </a:p>
          <a:p>
            <a:pPr marL="342900" indent="-342900" algn="l">
              <a:buAutoNum type="arabicPeriod"/>
            </a:pPr>
            <a:r>
              <a:rPr lang="zh-CN" altLang="en-US"/>
              <a:t>使用discard删除集合的melon</a:t>
            </a:r>
            <a:endParaRPr lang="zh-CN" altLang="en-US"/>
          </a:p>
          <a:p>
            <a:pPr marL="342900" indent="-342900" algn="l">
              <a:buAutoNum type="arabicPeriod"/>
            </a:pPr>
            <a:r>
              <a:rPr lang="zh-CN" altLang="en-US"/>
              <a:t>计算集合元素个数</a:t>
            </a:r>
            <a:endParaRPr lang="zh-CN" altLang="en-US"/>
          </a:p>
          <a:p>
            <a:pPr marL="342900" indent="-342900" algn="l">
              <a:buAutoNum type="arabicPeriod"/>
            </a:pPr>
            <a:r>
              <a:rPr lang="zh-CN" altLang="en-US"/>
              <a:t>清空集合</a:t>
            </a:r>
            <a:endParaRPr lang="zh-CN" altLang="en-US"/>
          </a:p>
          <a:p>
            <a:pPr marL="342900" indent="-342900" algn="l">
              <a:buAutoNum type="arabicPeriod"/>
            </a:pPr>
            <a:r>
              <a:rPr lang="zh-CN" altLang="en-US"/>
              <a:t>判断元素甜瓜是否在集合中存在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课堂小结</a:t>
            </a:r>
            <a:endParaRPr lang="zh-CN" altLang="en-US" dirty="0"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4" name="文本框 2"/>
          <p:cNvSpPr txBox="1"/>
          <p:nvPr/>
        </p:nvSpPr>
        <p:spPr>
          <a:xfrm>
            <a:off x="467544" y="1175802"/>
            <a:ext cx="2781531" cy="21698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n"/>
            </a:pPr>
            <a:r>
              <a:rPr lang="zh-CN" altLang="en-US" dirty="0">
                <a:latin typeface="+mn-ea"/>
                <a:ea typeface="+mn-ea"/>
              </a:rPr>
              <a:t>集合的定义</a:t>
            </a:r>
            <a:endParaRPr lang="en-US" altLang="zh-CN" dirty="0">
              <a:latin typeface="+mn-ea"/>
              <a:ea typeface="+mn-ea"/>
            </a:endParaRPr>
          </a:p>
          <a:p>
            <a:pPr marL="285750" indent="-285750" algn="l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n"/>
            </a:pPr>
            <a:r>
              <a:rPr lang="zh-CN" altLang="en-US" dirty="0">
                <a:latin typeface="+mn-ea"/>
                <a:ea typeface="+mn-ea"/>
              </a:rPr>
              <a:t>如何创建集合</a:t>
            </a:r>
            <a:endParaRPr lang="en-US" altLang="zh-CN" dirty="0">
              <a:latin typeface="+mn-ea"/>
              <a:ea typeface="+mn-ea"/>
            </a:endParaRPr>
          </a:p>
          <a:p>
            <a:pPr marL="285750" indent="-285750" algn="l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n"/>
            </a:pPr>
            <a:r>
              <a:rPr lang="zh-CN" altLang="en-US" dirty="0">
                <a:latin typeface="+mn-ea"/>
                <a:ea typeface="+mn-ea"/>
              </a:rPr>
              <a:t>如何向集合中添加元素</a:t>
            </a:r>
            <a:endParaRPr lang="en-US" altLang="zh-CN" dirty="0">
              <a:latin typeface="+mn-ea"/>
              <a:ea typeface="+mn-ea"/>
            </a:endParaRPr>
          </a:p>
          <a:p>
            <a:pPr marL="285750" indent="-285750" algn="l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n"/>
            </a:pPr>
            <a:r>
              <a:rPr lang="zh-CN" altLang="en-US" dirty="0">
                <a:latin typeface="+mn-ea"/>
                <a:ea typeface="+mn-ea"/>
              </a:rPr>
              <a:t>如何删除集合中的元素</a:t>
            </a:r>
            <a:endParaRPr lang="en-US" altLang="zh-CN" dirty="0">
              <a:latin typeface="+mn-ea"/>
              <a:ea typeface="+mn-ea"/>
            </a:endParaRPr>
          </a:p>
          <a:p>
            <a:pPr marL="285750" indent="-285750" algn="l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n"/>
            </a:pPr>
            <a:r>
              <a:rPr lang="zh-CN" altLang="en-US" dirty="0">
                <a:latin typeface="+mn-ea"/>
                <a:ea typeface="+mn-ea"/>
              </a:rPr>
              <a:t>如何清空集合中的元素</a:t>
            </a:r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5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第三课时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83568" y="2283718"/>
            <a:ext cx="7776864" cy="594066"/>
          </a:xfrm>
        </p:spPr>
        <p:txBody>
          <a:bodyPr/>
          <a:lstStyle/>
          <a:p>
            <a:r>
              <a:rPr lang="zh-CN" altLang="en-US" dirty="0"/>
              <a:t>集合的操作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"/>
    </mc:Choice>
    <mc:Fallback>
      <p:transition spd="slow" advTm="964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</p:spPr>
        <p:txBody>
          <a:bodyPr/>
          <a:lstStyle/>
          <a:p>
            <a:r>
              <a:rPr lang="zh-CN" altLang="en-US" dirty="0"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课堂回顾</a:t>
            </a:r>
            <a:endParaRPr lang="zh-CN" altLang="en-US" dirty="0"/>
          </a:p>
        </p:txBody>
      </p:sp>
      <p:sp>
        <p:nvSpPr>
          <p:cNvPr id="14" name="文本框 2"/>
          <p:cNvSpPr txBox="1"/>
          <p:nvPr/>
        </p:nvSpPr>
        <p:spPr>
          <a:xfrm>
            <a:off x="467544" y="1247810"/>
            <a:ext cx="2781531" cy="21160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n"/>
            </a:pPr>
            <a:r>
              <a:rPr lang="zh-CN" altLang="en-US" dirty="0">
                <a:latin typeface="+mn-ea"/>
                <a:ea typeface="+mn-ea"/>
              </a:rPr>
              <a:t>集合的定义</a:t>
            </a:r>
            <a:endParaRPr lang="en-US" altLang="zh-CN" dirty="0">
              <a:latin typeface="+mn-ea"/>
              <a:ea typeface="+mn-ea"/>
            </a:endParaRPr>
          </a:p>
          <a:p>
            <a:pPr marL="285750" indent="-285750" algn="l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n"/>
            </a:pPr>
            <a:r>
              <a:rPr lang="zh-CN" altLang="en-US" dirty="0">
                <a:latin typeface="+mn-ea"/>
                <a:ea typeface="+mn-ea"/>
              </a:rPr>
              <a:t>如何创建集合</a:t>
            </a:r>
            <a:endParaRPr lang="en-US" altLang="zh-CN" dirty="0">
              <a:latin typeface="+mn-ea"/>
              <a:ea typeface="+mn-ea"/>
            </a:endParaRPr>
          </a:p>
          <a:p>
            <a:pPr marL="285750" indent="-285750" algn="l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n"/>
            </a:pPr>
            <a:r>
              <a:rPr lang="zh-CN" altLang="en-US" dirty="0">
                <a:latin typeface="+mn-ea"/>
                <a:ea typeface="+mn-ea"/>
              </a:rPr>
              <a:t>如何向集合中添加元素</a:t>
            </a:r>
            <a:endParaRPr lang="en-US" altLang="zh-CN" dirty="0">
              <a:latin typeface="+mn-ea"/>
              <a:ea typeface="+mn-ea"/>
            </a:endParaRPr>
          </a:p>
          <a:p>
            <a:pPr marL="285750" indent="-285750" algn="l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n"/>
            </a:pPr>
            <a:r>
              <a:rPr lang="zh-CN" altLang="en-US" dirty="0">
                <a:latin typeface="+mn-ea"/>
                <a:ea typeface="+mn-ea"/>
              </a:rPr>
              <a:t>如何删除集合中的元素</a:t>
            </a:r>
            <a:endParaRPr lang="en-US" altLang="zh-CN" dirty="0">
              <a:latin typeface="+mn-ea"/>
              <a:ea typeface="+mn-ea"/>
            </a:endParaRPr>
          </a:p>
          <a:p>
            <a:pPr marL="285750" indent="-285750" algn="l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n"/>
            </a:pPr>
            <a:r>
              <a:rPr lang="zh-CN" altLang="en-US" dirty="0">
                <a:latin typeface="+mn-ea"/>
                <a:ea typeface="+mn-ea"/>
              </a:rPr>
              <a:t>如何清空集合中的元素</a:t>
            </a:r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4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如何使用集合</a:t>
            </a:r>
            <a:endParaRPr lang="zh-CN" altLang="en-US" dirty="0">
              <a:latin typeface="+mn-ea"/>
              <a:ea typeface="+mn-ea"/>
            </a:endParaRPr>
          </a:p>
        </p:txBody>
      </p:sp>
      <p:graphicFrame>
        <p:nvGraphicFramePr>
          <p:cNvPr id="3" name="图示 2"/>
          <p:cNvGraphicFramePr/>
          <p:nvPr/>
        </p:nvGraphicFramePr>
        <p:xfrm>
          <a:off x="1929742" y="944309"/>
          <a:ext cx="6282690" cy="39897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cxnSp>
        <p:nvCxnSpPr>
          <p:cNvPr id="5" name="直接箭头连接符 4"/>
          <p:cNvCxnSpPr/>
          <p:nvPr/>
        </p:nvCxnSpPr>
        <p:spPr bwMode="auto">
          <a:xfrm flipH="1">
            <a:off x="3630927" y="1483869"/>
            <a:ext cx="1080120" cy="0"/>
          </a:xfrm>
          <a:prstGeom prst="straightConnector1">
            <a:avLst/>
          </a:prstGeom>
          <a:ln w="38100"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 bwMode="auto">
          <a:xfrm>
            <a:off x="5431127" y="4398419"/>
            <a:ext cx="1008112" cy="0"/>
          </a:xfrm>
          <a:prstGeom prst="straightConnector1">
            <a:avLst/>
          </a:prstGeom>
          <a:ln w="38100">
            <a:solidFill>
              <a:srgbClr val="92D050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 bwMode="auto">
          <a:xfrm flipV="1">
            <a:off x="6732240" y="1973401"/>
            <a:ext cx="432048" cy="648074"/>
          </a:xfrm>
          <a:prstGeom prst="straightConnector1">
            <a:avLst/>
          </a:prstGeom>
          <a:ln w="38100">
            <a:solidFill>
              <a:srgbClr val="0C037D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 bwMode="auto">
          <a:xfrm flipH="1">
            <a:off x="3126871" y="3291830"/>
            <a:ext cx="293001" cy="576064"/>
          </a:xfrm>
          <a:prstGeom prst="straightConnector1">
            <a:avLst/>
          </a:prstGeom>
          <a:ln w="38100">
            <a:headEnd type="none" w="med" len="med"/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4" name="Picture 2" descr="C:\Users\Administrator\Desktop\剪贴画\交集.jpg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8591" y="965036"/>
            <a:ext cx="2068323" cy="1224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Administrator\Desktop\剪贴画\并集.jpg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8368" y="3704809"/>
            <a:ext cx="2233273" cy="1387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C:\Users\Administrator\Desktop\剪贴画\差集.jpg"/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BFF"/>
              </a:clrFrom>
              <a:clrTo>
                <a:srgbClr val="FFFB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5584" y="1007734"/>
            <a:ext cx="2156296" cy="14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5" descr="C:\Users\Administrator\Desktop\剪贴画\交叉补集.jpg"/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9239" y="3617705"/>
            <a:ext cx="2294323" cy="1433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文本框 2"/>
          <p:cNvSpPr txBox="1"/>
          <p:nvPr/>
        </p:nvSpPr>
        <p:spPr>
          <a:xfrm>
            <a:off x="341962" y="768350"/>
            <a:ext cx="2069798" cy="400110"/>
          </a:xfrm>
          <a:prstGeom prst="rect">
            <a:avLst/>
          </a:prstGeom>
          <a:noFill/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集合间的关系</a:t>
            </a:r>
            <a:endParaRPr lang="zh-CN" altLang="en-US" sz="2000" dirty="0">
              <a:solidFill>
                <a:srgbClr val="0070C0"/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17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如何使用集合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755576" y="2825755"/>
            <a:ext cx="3024336" cy="16312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US" altLang="zh-CN" sz="2000" dirty="0">
                <a:latin typeface="+mn-ea"/>
                <a:ea typeface="+mn-ea"/>
              </a:rPr>
              <a:t>s = set('apple')</a:t>
            </a:r>
            <a:endParaRPr lang="zh-CN" altLang="zh-CN" sz="2000" dirty="0">
              <a:latin typeface="+mn-ea"/>
              <a:ea typeface="+mn-ea"/>
            </a:endParaRPr>
          </a:p>
          <a:p>
            <a:pPr algn="l"/>
            <a:r>
              <a:rPr lang="en-US" altLang="zh-CN" sz="2000" dirty="0">
                <a:latin typeface="+mn-ea"/>
                <a:ea typeface="+mn-ea"/>
              </a:rPr>
              <a:t>b = set('pen')</a:t>
            </a:r>
            <a:endParaRPr lang="zh-CN" altLang="zh-CN" sz="2000" dirty="0">
              <a:latin typeface="+mn-ea"/>
              <a:ea typeface="+mn-ea"/>
            </a:endParaRPr>
          </a:p>
          <a:p>
            <a:pPr algn="l"/>
            <a:r>
              <a:rPr lang="en-US" altLang="zh-CN" sz="2000" dirty="0">
                <a:latin typeface="+mn-ea"/>
                <a:ea typeface="+mn-ea"/>
              </a:rPr>
              <a:t>print(s)  </a:t>
            </a:r>
            <a:endParaRPr lang="zh-CN" altLang="zh-CN" sz="2000" dirty="0">
              <a:latin typeface="+mn-ea"/>
              <a:ea typeface="+mn-ea"/>
            </a:endParaRPr>
          </a:p>
          <a:p>
            <a:pPr algn="l"/>
            <a:r>
              <a:rPr lang="en-US" altLang="zh-CN" sz="2000" dirty="0">
                <a:latin typeface="+mn-ea"/>
                <a:ea typeface="+mn-ea"/>
              </a:rPr>
              <a:t>print(b) </a:t>
            </a:r>
            <a:endParaRPr lang="zh-CN" altLang="zh-CN" sz="2000" dirty="0">
              <a:latin typeface="+mn-ea"/>
              <a:ea typeface="+mn-ea"/>
            </a:endParaRPr>
          </a:p>
          <a:p>
            <a:pPr algn="l"/>
            <a:r>
              <a:rPr lang="en-US" altLang="zh-CN" sz="2000" dirty="0">
                <a:latin typeface="+mn-ea"/>
                <a:ea typeface="+mn-ea"/>
              </a:rPr>
              <a:t>print(s &amp; b)  </a:t>
            </a:r>
            <a:endParaRPr lang="zh-CN" altLang="zh-CN" sz="2000" dirty="0">
              <a:latin typeface="+mn-ea"/>
              <a:ea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7229" y="768350"/>
            <a:ext cx="1476686" cy="400110"/>
          </a:xfrm>
          <a:prstGeom prst="rect">
            <a:avLst/>
          </a:prstGeom>
          <a:noFill/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交集</a:t>
            </a:r>
            <a:r>
              <a:rPr lang="en-US" altLang="zh-CN" sz="2000" dirty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(</a:t>
            </a:r>
            <a:r>
              <a:rPr lang="en-US" altLang="zh-CN" sz="2000" dirty="0">
                <a:solidFill>
                  <a:srgbClr val="0070C0"/>
                </a:solidFill>
                <a:latin typeface="+mn-ea"/>
              </a:rPr>
              <a:t>&amp;)</a:t>
            </a:r>
            <a:endParaRPr lang="zh-CN" altLang="en-US" sz="2000" dirty="0">
              <a:solidFill>
                <a:srgbClr val="0070C0"/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3146" y="2139702"/>
            <a:ext cx="1368152" cy="553998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dirty="0">
                <a:latin typeface="+mn-ea"/>
                <a:ea typeface="+mn-ea"/>
              </a:rPr>
              <a:t>代码示例：</a:t>
            </a:r>
            <a:endParaRPr lang="en-US" sz="2000" dirty="0">
              <a:latin typeface="+mn-ea"/>
              <a:ea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310953" y="2166889"/>
            <a:ext cx="1368152" cy="499624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dirty="0">
                <a:latin typeface="+mn-ea"/>
                <a:ea typeface="+mn-ea"/>
              </a:rPr>
              <a:t>运行结果：</a:t>
            </a:r>
            <a:endParaRPr lang="en-US" sz="2000" dirty="0">
              <a:latin typeface="+mn-ea"/>
              <a:ea typeface="+mn-ea"/>
            </a:endParaRPr>
          </a:p>
        </p:txBody>
      </p:sp>
      <p:sp>
        <p:nvSpPr>
          <p:cNvPr id="9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10" name="Picture 2" descr="C:\Users\Administrator\Desktop\剪贴画\交集.jpg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2630" y="768350"/>
            <a:ext cx="2068323" cy="1224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7" name="Picture 1" descr="C:\Users\Administrator\AppData\Roaming\Tencent\Users\499232999\QQ\WinTemp\RichOle\Y0KK518XQMV38DK)~@CN6Z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2825755"/>
            <a:ext cx="3441468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/>
      <p:bldP spid="7" grpId="0"/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如何使用集合</a:t>
            </a:r>
            <a:endParaRPr lang="zh-CN" altLang="en-US" dirty="0"/>
          </a:p>
        </p:txBody>
      </p:sp>
      <p:cxnSp>
        <p:nvCxnSpPr>
          <p:cNvPr id="4" name="直接连接符 3"/>
          <p:cNvCxnSpPr/>
          <p:nvPr/>
        </p:nvCxnSpPr>
        <p:spPr>
          <a:xfrm>
            <a:off x="5260975" y="6645275"/>
            <a:ext cx="3883025" cy="0"/>
          </a:xfrm>
          <a:prstGeom prst="line">
            <a:avLst/>
          </a:prstGeom>
          <a:ln>
            <a:gradFill>
              <a:gsLst>
                <a:gs pos="0">
                  <a:srgbClr val="003366"/>
                </a:gs>
                <a:gs pos="100000">
                  <a:srgbClr val="FFFFFF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899592" y="2164670"/>
            <a:ext cx="2952328" cy="16312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US" altLang="zh-CN" sz="2000" dirty="0">
                <a:latin typeface="+mn-ea"/>
                <a:ea typeface="+mn-ea"/>
              </a:rPr>
              <a:t>s = set('apple')</a:t>
            </a:r>
            <a:endParaRPr lang="zh-CN" altLang="zh-CN" sz="2000" dirty="0">
              <a:latin typeface="+mn-ea"/>
              <a:ea typeface="+mn-ea"/>
            </a:endParaRPr>
          </a:p>
          <a:p>
            <a:pPr algn="l"/>
            <a:r>
              <a:rPr lang="en-US" altLang="zh-CN" sz="2000" dirty="0">
                <a:latin typeface="+mn-ea"/>
                <a:ea typeface="+mn-ea"/>
              </a:rPr>
              <a:t>b = set('pen')</a:t>
            </a:r>
            <a:endParaRPr lang="zh-CN" altLang="zh-CN" sz="2000" dirty="0">
              <a:latin typeface="+mn-ea"/>
              <a:ea typeface="+mn-ea"/>
            </a:endParaRPr>
          </a:p>
          <a:p>
            <a:pPr algn="l"/>
            <a:r>
              <a:rPr lang="en-US" altLang="zh-CN" sz="2000" dirty="0">
                <a:latin typeface="+mn-ea"/>
                <a:ea typeface="+mn-ea"/>
              </a:rPr>
              <a:t>print(s)  </a:t>
            </a:r>
            <a:endParaRPr lang="zh-CN" altLang="zh-CN" sz="2000" dirty="0">
              <a:latin typeface="+mn-ea"/>
              <a:ea typeface="+mn-ea"/>
            </a:endParaRPr>
          </a:p>
          <a:p>
            <a:pPr algn="l"/>
            <a:r>
              <a:rPr lang="en-US" altLang="zh-CN" sz="2000" dirty="0">
                <a:latin typeface="+mn-ea"/>
                <a:ea typeface="+mn-ea"/>
              </a:rPr>
              <a:t>print(b)  </a:t>
            </a:r>
            <a:endParaRPr lang="zh-CN" altLang="zh-CN" sz="2000" dirty="0">
              <a:latin typeface="+mn-ea"/>
              <a:ea typeface="+mn-ea"/>
            </a:endParaRPr>
          </a:p>
          <a:p>
            <a:pPr algn="l"/>
            <a:r>
              <a:rPr lang="en-US" altLang="zh-CN" sz="2000" dirty="0">
                <a:latin typeface="+mn-ea"/>
                <a:ea typeface="+mn-ea"/>
              </a:rPr>
              <a:t>print(s.intersection(b))  </a:t>
            </a:r>
            <a:endParaRPr lang="zh-CN" altLang="zh-CN" sz="2000" dirty="0">
              <a:latin typeface="+mn-ea"/>
              <a:ea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06294" y="1194306"/>
            <a:ext cx="467602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zh-CN" sz="2000" kern="100" dirty="0">
                <a:solidFill>
                  <a:srgbClr val="000000"/>
                </a:solidFill>
                <a:latin typeface="+mn-ea"/>
                <a:ea typeface="+mn-ea"/>
                <a:cs typeface="宋体" panose="02010600030101010101" pitchFamily="2" charset="-122"/>
              </a:rPr>
              <a:t>求交集的时候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ea typeface="+mn-ea"/>
                <a:cs typeface="宋体" panose="02010600030101010101" pitchFamily="2" charset="-122"/>
              </a:rPr>
              <a:t>&amp;</a:t>
            </a:r>
            <a:r>
              <a:rPr lang="zh-CN" altLang="zh-CN" sz="2000" kern="100" dirty="0">
                <a:solidFill>
                  <a:srgbClr val="000000"/>
                </a:solidFill>
                <a:latin typeface="+mn-ea"/>
                <a:ea typeface="+mn-ea"/>
                <a:cs typeface="宋体" panose="02010600030101010101" pitchFamily="2" charset="-122"/>
              </a:rPr>
              <a:t>和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ea typeface="+mn-ea"/>
                <a:cs typeface="宋体" panose="02010600030101010101" pitchFamily="2" charset="-122"/>
              </a:rPr>
              <a:t>intersection</a:t>
            </a:r>
            <a:r>
              <a:rPr lang="zh-CN" altLang="zh-CN" sz="2000" kern="100" dirty="0">
                <a:solidFill>
                  <a:srgbClr val="000000"/>
                </a:solidFill>
                <a:latin typeface="+mn-ea"/>
                <a:ea typeface="+mn-ea"/>
                <a:cs typeface="宋体" panose="02010600030101010101" pitchFamily="2" charset="-122"/>
              </a:rPr>
              <a:t>是等价的</a:t>
            </a:r>
            <a:endParaRPr lang="zh-CN" altLang="en-US" sz="2000" dirty="0">
              <a:latin typeface="+mn-ea"/>
              <a:ea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92185" y="1637464"/>
            <a:ext cx="1368152" cy="553998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dirty="0">
                <a:latin typeface="+mn-ea"/>
                <a:ea typeface="+mn-ea"/>
              </a:rPr>
              <a:t>代码示例：</a:t>
            </a:r>
            <a:endParaRPr lang="en-US" sz="2000" dirty="0">
              <a:latin typeface="+mn-ea"/>
              <a:ea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499992" y="1664651"/>
            <a:ext cx="1368152" cy="499624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dirty="0">
                <a:latin typeface="+mn-ea"/>
                <a:ea typeface="+mn-ea"/>
              </a:rPr>
              <a:t>运行结果：</a:t>
            </a:r>
            <a:endParaRPr lang="en-US" sz="2000" dirty="0">
              <a:latin typeface="+mn-ea"/>
              <a:ea typeface="+mn-ea"/>
            </a:endParaRPr>
          </a:p>
        </p:txBody>
      </p:sp>
      <p:sp>
        <p:nvSpPr>
          <p:cNvPr id="11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2" name="文本框 2"/>
          <p:cNvSpPr txBox="1"/>
          <p:nvPr/>
        </p:nvSpPr>
        <p:spPr>
          <a:xfrm>
            <a:off x="395536" y="786288"/>
            <a:ext cx="2661049" cy="400110"/>
          </a:xfrm>
          <a:prstGeom prst="rect">
            <a:avLst/>
          </a:prstGeom>
          <a:noFill/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交集</a:t>
            </a:r>
            <a:r>
              <a:rPr lang="en-US" altLang="zh-CN" sz="2000" dirty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(</a:t>
            </a:r>
            <a:r>
              <a:rPr lang="en-US" altLang="zh-CN" sz="2000" kern="100" dirty="0">
                <a:solidFill>
                  <a:srgbClr val="0070C0"/>
                </a:solidFill>
                <a:latin typeface="+mn-ea"/>
                <a:cs typeface="宋体" panose="02010600030101010101" pitchFamily="2" charset="-122"/>
              </a:rPr>
              <a:t>intersection</a:t>
            </a:r>
            <a:r>
              <a:rPr lang="en-US" altLang="zh-CN" sz="2000" dirty="0">
                <a:solidFill>
                  <a:srgbClr val="0070C0"/>
                </a:solidFill>
                <a:latin typeface="+mn-ea"/>
              </a:rPr>
              <a:t>)</a:t>
            </a:r>
            <a:endParaRPr lang="zh-CN" altLang="en-US" sz="2000" dirty="0">
              <a:solidFill>
                <a:srgbClr val="0070C0"/>
              </a:solidFill>
              <a:latin typeface="+mn-ea"/>
              <a:ea typeface="+mn-ea"/>
              <a:sym typeface="+mn-ea"/>
            </a:endParaRPr>
          </a:p>
        </p:txBody>
      </p:sp>
      <p:pic>
        <p:nvPicPr>
          <p:cNvPr id="13" name="Picture 1" descr="C:\Users\Administrator\AppData\Roaming\Tencent\Users\499232999\QQ\WinTemp\RichOle\Y0KK518XQMV38DK)~@CN6ZA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9168" y="2139702"/>
            <a:ext cx="3441468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  <p:bldP spid="10" grpId="0"/>
      <p:bldP spid="1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如何使用集合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899592" y="2636912"/>
            <a:ext cx="2808312" cy="16927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US" altLang="zh-CN" sz="2000" dirty="0">
                <a:latin typeface="+mn-ea"/>
                <a:ea typeface="+mn-ea"/>
              </a:rPr>
              <a:t>s = set('apple')</a:t>
            </a:r>
            <a:endParaRPr lang="zh-CN" altLang="zh-CN" sz="2000" dirty="0">
              <a:latin typeface="+mn-ea"/>
              <a:ea typeface="+mn-ea"/>
            </a:endParaRPr>
          </a:p>
          <a:p>
            <a:pPr algn="l"/>
            <a:r>
              <a:rPr lang="en-US" altLang="zh-CN" sz="2000" dirty="0">
                <a:latin typeface="+mn-ea"/>
                <a:ea typeface="+mn-ea"/>
              </a:rPr>
              <a:t>b = set('pen')</a:t>
            </a:r>
            <a:endParaRPr lang="zh-CN" altLang="zh-CN" sz="2000" dirty="0">
              <a:latin typeface="+mn-ea"/>
              <a:ea typeface="+mn-ea"/>
            </a:endParaRPr>
          </a:p>
          <a:p>
            <a:pPr algn="l"/>
            <a:r>
              <a:rPr lang="en-US" altLang="zh-CN" sz="2000" dirty="0">
                <a:latin typeface="+mn-ea"/>
                <a:ea typeface="+mn-ea"/>
              </a:rPr>
              <a:t>print(s)  </a:t>
            </a:r>
            <a:endParaRPr lang="zh-CN" altLang="zh-CN" sz="2000" dirty="0">
              <a:latin typeface="+mn-ea"/>
              <a:ea typeface="+mn-ea"/>
            </a:endParaRPr>
          </a:p>
          <a:p>
            <a:pPr algn="l"/>
            <a:r>
              <a:rPr lang="en-US" altLang="zh-CN" sz="2000" dirty="0">
                <a:latin typeface="+mn-ea"/>
                <a:ea typeface="+mn-ea"/>
              </a:rPr>
              <a:t>print(b)  </a:t>
            </a:r>
            <a:endParaRPr lang="zh-CN" altLang="zh-CN" sz="2000" dirty="0">
              <a:latin typeface="+mn-ea"/>
              <a:ea typeface="+mn-ea"/>
            </a:endParaRPr>
          </a:p>
          <a:p>
            <a:pPr algn="l"/>
            <a:r>
              <a:rPr lang="en-US" altLang="zh-CN" sz="2000" dirty="0">
                <a:latin typeface="+mn-ea"/>
                <a:ea typeface="+mn-ea"/>
              </a:rPr>
              <a:t>print(s | b)  </a:t>
            </a:r>
            <a:endParaRPr lang="zh-CN" altLang="zh-CN" sz="2000" dirty="0">
              <a:latin typeface="+mn-ea"/>
              <a:ea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92185" y="2067694"/>
            <a:ext cx="1368152" cy="553998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dirty="0">
                <a:latin typeface="+mn-ea"/>
                <a:ea typeface="+mn-ea"/>
              </a:rPr>
              <a:t>代码示例：</a:t>
            </a:r>
            <a:endParaRPr lang="en-US" sz="2000" dirty="0">
              <a:latin typeface="+mn-ea"/>
              <a:ea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499992" y="2094881"/>
            <a:ext cx="1368152" cy="499624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dirty="0">
                <a:latin typeface="+mn-ea"/>
                <a:ea typeface="+mn-ea"/>
              </a:rPr>
              <a:t>运行结果：</a:t>
            </a:r>
            <a:endParaRPr lang="en-US" sz="2000" dirty="0">
              <a:latin typeface="+mn-ea"/>
              <a:ea typeface="+mn-ea"/>
            </a:endParaRPr>
          </a:p>
        </p:txBody>
      </p:sp>
      <p:sp>
        <p:nvSpPr>
          <p:cNvPr id="8" name="文本框 2"/>
          <p:cNvSpPr txBox="1"/>
          <p:nvPr/>
        </p:nvSpPr>
        <p:spPr>
          <a:xfrm>
            <a:off x="440128" y="768350"/>
            <a:ext cx="1330814" cy="400110"/>
          </a:xfrm>
          <a:prstGeom prst="rect">
            <a:avLst/>
          </a:prstGeom>
          <a:noFill/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marL="342900" indent="-342900">
              <a:buFont typeface="Wingdings" panose="05000000000000000000" charset="0"/>
              <a:buChar char="n"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并集</a:t>
            </a:r>
            <a:r>
              <a:rPr lang="en-US" altLang="zh-CN" sz="2000" dirty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(</a:t>
            </a:r>
            <a:r>
              <a:rPr lang="en-US" altLang="zh-CN" sz="2000" dirty="0">
                <a:solidFill>
                  <a:srgbClr val="0070C0"/>
                </a:solidFill>
                <a:latin typeface="+mn-ea"/>
                <a:sym typeface="+mn-ea"/>
              </a:rPr>
              <a:t>|</a:t>
            </a:r>
            <a:r>
              <a:rPr lang="en-US" altLang="zh-CN" sz="2000" dirty="0">
                <a:solidFill>
                  <a:srgbClr val="0070C0"/>
                </a:solidFill>
                <a:latin typeface="+mn-ea"/>
              </a:rPr>
              <a:t>)</a:t>
            </a:r>
            <a:endParaRPr lang="zh-CN" altLang="en-US" sz="2000" dirty="0">
              <a:solidFill>
                <a:srgbClr val="0070C0"/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9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10" name="Picture 3" descr="C:\Users\Administrator\Desktop\剪贴画\并集.jpg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917" y="707660"/>
            <a:ext cx="2233273" cy="1387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1" name="Picture 1" descr="C:\Users\Administrator\AppData\Roaming\Tencent\Users\499232999\QQ\WinTemp\RichOle\D]0`JHWLI](IDC8{L)JWAU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2594504"/>
            <a:ext cx="3740860" cy="1345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7" grpId="0"/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如何使用集合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971600" y="2535163"/>
            <a:ext cx="2592288" cy="16927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US" altLang="zh-CN" sz="2000" dirty="0">
                <a:latin typeface="+mn-ea"/>
                <a:ea typeface="+mn-ea"/>
              </a:rPr>
              <a:t>s = set('apple')</a:t>
            </a:r>
            <a:endParaRPr lang="zh-CN" altLang="zh-CN" sz="2000" dirty="0">
              <a:latin typeface="+mn-ea"/>
              <a:ea typeface="+mn-ea"/>
            </a:endParaRPr>
          </a:p>
          <a:p>
            <a:pPr algn="l"/>
            <a:r>
              <a:rPr lang="en-US" altLang="zh-CN" sz="2000" dirty="0">
                <a:latin typeface="+mn-ea"/>
                <a:ea typeface="+mn-ea"/>
              </a:rPr>
              <a:t>b = set('pen')</a:t>
            </a:r>
            <a:endParaRPr lang="zh-CN" altLang="zh-CN" sz="2000" dirty="0">
              <a:latin typeface="+mn-ea"/>
              <a:ea typeface="+mn-ea"/>
            </a:endParaRPr>
          </a:p>
          <a:p>
            <a:pPr algn="l"/>
            <a:r>
              <a:rPr lang="en-US" altLang="zh-CN" sz="2000" dirty="0">
                <a:latin typeface="+mn-ea"/>
                <a:ea typeface="+mn-ea"/>
              </a:rPr>
              <a:t>print(s) </a:t>
            </a:r>
            <a:endParaRPr lang="en-US" altLang="zh-CN" sz="2000" dirty="0">
              <a:latin typeface="+mn-ea"/>
              <a:ea typeface="+mn-ea"/>
            </a:endParaRPr>
          </a:p>
          <a:p>
            <a:pPr algn="l"/>
            <a:r>
              <a:rPr lang="en-US" altLang="zh-CN" sz="2000" dirty="0">
                <a:latin typeface="+mn-ea"/>
                <a:ea typeface="+mn-ea"/>
              </a:rPr>
              <a:t>print(b) </a:t>
            </a:r>
            <a:endParaRPr lang="en-US" altLang="zh-CN" sz="2000" dirty="0">
              <a:latin typeface="+mn-ea"/>
              <a:ea typeface="+mn-ea"/>
            </a:endParaRPr>
          </a:p>
          <a:p>
            <a:pPr algn="l"/>
            <a:r>
              <a:rPr lang="en-US" altLang="zh-CN" sz="2000" dirty="0">
                <a:latin typeface="+mn-ea"/>
                <a:ea typeface="+mn-ea"/>
              </a:rPr>
              <a:t>print(s.union(b))</a:t>
            </a:r>
            <a:endParaRPr lang="zh-CN" altLang="zh-CN" sz="2000" dirty="0">
              <a:latin typeface="+mn-ea"/>
              <a:ea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55576" y="1347614"/>
            <a:ext cx="37529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zh-CN" sz="2000" kern="100" dirty="0">
                <a:solidFill>
                  <a:srgbClr val="000000"/>
                </a:solidFill>
                <a:latin typeface="+mn-ea"/>
                <a:ea typeface="+mn-ea"/>
                <a:cs typeface="宋体" panose="02010600030101010101" pitchFamily="2" charset="-122"/>
              </a:rPr>
              <a:t>并集的时候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ea typeface="+mn-ea"/>
                <a:cs typeface="宋体" panose="02010600030101010101" pitchFamily="2" charset="-122"/>
              </a:rPr>
              <a:t> | </a:t>
            </a:r>
            <a:r>
              <a:rPr lang="zh-CN" altLang="zh-CN" sz="2000" kern="100" dirty="0">
                <a:solidFill>
                  <a:srgbClr val="000000"/>
                </a:solidFill>
                <a:latin typeface="+mn-ea"/>
                <a:ea typeface="+mn-ea"/>
                <a:cs typeface="宋体" panose="02010600030101010101" pitchFamily="2" charset="-122"/>
              </a:rPr>
              <a:t>和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ea typeface="+mn-ea"/>
                <a:cs typeface="宋体" panose="02010600030101010101" pitchFamily="2" charset="-122"/>
              </a:rPr>
              <a:t> union</a:t>
            </a:r>
            <a:r>
              <a:rPr lang="zh-CN" altLang="zh-CN" sz="2000" kern="100" dirty="0">
                <a:solidFill>
                  <a:srgbClr val="000000"/>
                </a:solidFill>
                <a:latin typeface="+mn-ea"/>
                <a:ea typeface="+mn-ea"/>
                <a:cs typeface="宋体" panose="02010600030101010101" pitchFamily="2" charset="-122"/>
              </a:rPr>
              <a:t>是等价的</a:t>
            </a:r>
            <a:endParaRPr lang="zh-CN" altLang="en-US" sz="2000" dirty="0">
              <a:latin typeface="+mn-ea"/>
              <a:ea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92185" y="1923678"/>
            <a:ext cx="1368152" cy="553998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dirty="0">
                <a:latin typeface="+mn-ea"/>
                <a:ea typeface="+mn-ea"/>
              </a:rPr>
              <a:t>代码示例：</a:t>
            </a:r>
            <a:endParaRPr lang="en-US" sz="2000" dirty="0">
              <a:latin typeface="+mn-ea"/>
              <a:ea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499992" y="1950865"/>
            <a:ext cx="1368152" cy="499624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dirty="0">
                <a:latin typeface="+mn-ea"/>
                <a:ea typeface="+mn-ea"/>
              </a:rPr>
              <a:t>运行结果：</a:t>
            </a:r>
            <a:endParaRPr lang="en-US" sz="2000" dirty="0">
              <a:latin typeface="+mn-ea"/>
              <a:ea typeface="+mn-ea"/>
            </a:endParaRPr>
          </a:p>
        </p:txBody>
      </p:sp>
      <p:sp>
        <p:nvSpPr>
          <p:cNvPr id="10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1" name="文本框 2"/>
          <p:cNvSpPr txBox="1"/>
          <p:nvPr/>
        </p:nvSpPr>
        <p:spPr>
          <a:xfrm>
            <a:off x="464174" y="768350"/>
            <a:ext cx="1986441" cy="400110"/>
          </a:xfrm>
          <a:prstGeom prst="rect">
            <a:avLst/>
          </a:prstGeom>
          <a:noFill/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并集</a:t>
            </a:r>
            <a:r>
              <a:rPr lang="en-US" altLang="zh-CN" sz="2000" dirty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(</a:t>
            </a:r>
            <a:r>
              <a:rPr lang="en-US" altLang="zh-CN" sz="2000" kern="100" dirty="0">
                <a:solidFill>
                  <a:srgbClr val="0070C0"/>
                </a:solidFill>
                <a:latin typeface="+mn-ea"/>
                <a:cs typeface="宋体" panose="02010600030101010101" pitchFamily="2" charset="-122"/>
              </a:rPr>
              <a:t>union</a:t>
            </a:r>
            <a:r>
              <a:rPr lang="en-US" altLang="zh-CN" sz="2000" dirty="0">
                <a:solidFill>
                  <a:srgbClr val="0070C0"/>
                </a:solidFill>
                <a:latin typeface="+mn-ea"/>
              </a:rPr>
              <a:t>)</a:t>
            </a:r>
            <a:endParaRPr lang="zh-CN" altLang="en-US" sz="2000" dirty="0">
              <a:solidFill>
                <a:srgbClr val="0070C0"/>
              </a:solidFill>
              <a:latin typeface="+mn-ea"/>
              <a:ea typeface="+mn-ea"/>
              <a:sym typeface="+mn-ea"/>
            </a:endParaRPr>
          </a:p>
        </p:txBody>
      </p:sp>
      <p:pic>
        <p:nvPicPr>
          <p:cNvPr id="12289" name="Picture 1" descr="C:\Users\Administrator\AppData\Roaming\Tencent\Users\499232999\QQ\WinTemp\RichOle\D]0`JHWLI](IDC8{L)JWAUT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9741" y="2535162"/>
            <a:ext cx="3705642" cy="1332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8" grpId="0"/>
      <p:bldP spid="9" grpId="0"/>
      <p:bldP spid="1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如何使用集合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827584" y="2474188"/>
            <a:ext cx="2952328" cy="19697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US" altLang="zh-CN" sz="2000" dirty="0">
                <a:latin typeface="+mn-ea"/>
                <a:ea typeface="+mn-ea"/>
              </a:rPr>
              <a:t>b = set('apple')</a:t>
            </a:r>
            <a:endParaRPr lang="zh-CN" altLang="zh-CN" sz="2000" dirty="0">
              <a:latin typeface="+mn-ea"/>
              <a:ea typeface="+mn-ea"/>
            </a:endParaRPr>
          </a:p>
          <a:p>
            <a:pPr algn="l"/>
            <a:r>
              <a:rPr lang="en-US" altLang="zh-CN" sz="2000" dirty="0">
                <a:latin typeface="+mn-ea"/>
                <a:ea typeface="+mn-ea"/>
              </a:rPr>
              <a:t>a = set('pen')</a:t>
            </a:r>
            <a:endParaRPr lang="zh-CN" altLang="zh-CN" sz="2000" dirty="0">
              <a:latin typeface="+mn-ea"/>
              <a:ea typeface="+mn-ea"/>
            </a:endParaRPr>
          </a:p>
          <a:p>
            <a:pPr algn="l"/>
            <a:r>
              <a:rPr lang="en-US" altLang="zh-CN" sz="2000" dirty="0">
                <a:latin typeface="+mn-ea"/>
                <a:ea typeface="+mn-ea"/>
              </a:rPr>
              <a:t>print(b)  </a:t>
            </a:r>
            <a:endParaRPr lang="zh-CN" altLang="zh-CN" sz="2000" dirty="0">
              <a:latin typeface="+mn-ea"/>
              <a:ea typeface="+mn-ea"/>
            </a:endParaRPr>
          </a:p>
          <a:p>
            <a:pPr algn="l"/>
            <a:r>
              <a:rPr lang="en-US" altLang="zh-CN" sz="2000" dirty="0">
                <a:latin typeface="+mn-ea"/>
                <a:ea typeface="+mn-ea"/>
              </a:rPr>
              <a:t>print(a) </a:t>
            </a:r>
            <a:endParaRPr lang="zh-CN" altLang="zh-CN" sz="2000" dirty="0">
              <a:latin typeface="+mn-ea"/>
              <a:ea typeface="+mn-ea"/>
            </a:endParaRPr>
          </a:p>
          <a:p>
            <a:pPr algn="l"/>
            <a:r>
              <a:rPr lang="en-US" altLang="zh-CN" sz="2000" dirty="0">
                <a:latin typeface="+mn-ea"/>
                <a:ea typeface="+mn-ea"/>
              </a:rPr>
              <a:t>c = b - a</a:t>
            </a:r>
            <a:endParaRPr lang="zh-CN" altLang="zh-CN" sz="2000" dirty="0">
              <a:latin typeface="+mn-ea"/>
              <a:ea typeface="+mn-ea"/>
            </a:endParaRPr>
          </a:p>
          <a:p>
            <a:pPr algn="l"/>
            <a:r>
              <a:rPr lang="en-US" altLang="zh-CN" sz="2000" dirty="0">
                <a:latin typeface="+mn-ea"/>
                <a:ea typeface="+mn-ea"/>
              </a:rPr>
              <a:t>print(c)  </a:t>
            </a:r>
            <a:endParaRPr lang="zh-CN" altLang="en-US" sz="2000" dirty="0">
              <a:latin typeface="+mn-ea"/>
              <a:ea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83568" y="1851670"/>
            <a:ext cx="1368152" cy="553998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dirty="0">
                <a:latin typeface="+mn-ea"/>
                <a:ea typeface="+mn-ea"/>
              </a:rPr>
              <a:t>代码示例：</a:t>
            </a:r>
            <a:endParaRPr lang="en-US" sz="2000" dirty="0">
              <a:latin typeface="+mn-ea"/>
              <a:ea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391375" y="1878857"/>
            <a:ext cx="1368152" cy="499624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dirty="0">
                <a:latin typeface="+mn-ea"/>
                <a:ea typeface="+mn-ea"/>
              </a:rPr>
              <a:t>运行结果：</a:t>
            </a:r>
            <a:endParaRPr lang="en-US" sz="2000" dirty="0">
              <a:latin typeface="+mn-ea"/>
              <a:ea typeface="+mn-ea"/>
            </a:endParaRPr>
          </a:p>
        </p:txBody>
      </p:sp>
      <p:sp>
        <p:nvSpPr>
          <p:cNvPr id="9" name="文本框 2"/>
          <p:cNvSpPr txBox="1"/>
          <p:nvPr/>
        </p:nvSpPr>
        <p:spPr>
          <a:xfrm>
            <a:off x="428106" y="768350"/>
            <a:ext cx="1354859" cy="400110"/>
          </a:xfrm>
          <a:prstGeom prst="rect">
            <a:avLst/>
          </a:prstGeom>
          <a:noFill/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marL="342900" indent="-342900">
              <a:buFont typeface="Wingdings" panose="05000000000000000000" charset="0"/>
              <a:buChar char="n"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差集</a:t>
            </a:r>
            <a:r>
              <a:rPr lang="en-US" altLang="zh-CN" sz="2000" dirty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(</a:t>
            </a:r>
            <a:r>
              <a:rPr lang="en-US" altLang="zh-CN" sz="2000" dirty="0">
                <a:solidFill>
                  <a:srgbClr val="0070C0"/>
                </a:solidFill>
                <a:latin typeface="+mn-ea"/>
                <a:sym typeface="+mn-ea"/>
              </a:rPr>
              <a:t>-</a:t>
            </a:r>
            <a:r>
              <a:rPr lang="en-US" altLang="zh-CN" sz="2000" dirty="0">
                <a:solidFill>
                  <a:srgbClr val="0070C0"/>
                </a:solidFill>
                <a:latin typeface="+mn-ea"/>
              </a:rPr>
              <a:t>)</a:t>
            </a:r>
            <a:endParaRPr lang="zh-CN" altLang="en-US" sz="2000" dirty="0">
              <a:solidFill>
                <a:srgbClr val="0070C0"/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10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11" name="Picture 4" descr="C:\Users\Administrator\Desktop\剪贴画\差集.jpg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BFF"/>
              </a:clrFrom>
              <a:clrTo>
                <a:srgbClr val="FFFB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635401"/>
            <a:ext cx="2156296" cy="14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3" name="Picture 1" descr="C:\Users\Administrator\AppData\Roaming\Tencent\Users\499232999\QQ\WinTemp\RichOle\CVH2TJHR1E)DUJ`YR`1FBM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2236" y="2474188"/>
            <a:ext cx="3945929" cy="1753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3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8" grpId="0"/>
      <p:bldP spid="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如何使用集合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43608" y="2443410"/>
            <a:ext cx="2549180" cy="2000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US" altLang="zh-CN" sz="2000" dirty="0">
                <a:latin typeface="+mn-ea"/>
                <a:ea typeface="+mn-ea"/>
              </a:rPr>
              <a:t>b = set('apple')</a:t>
            </a:r>
            <a:endParaRPr lang="zh-CN" altLang="zh-CN" sz="2000" dirty="0">
              <a:latin typeface="+mn-ea"/>
              <a:ea typeface="+mn-ea"/>
            </a:endParaRPr>
          </a:p>
          <a:p>
            <a:pPr algn="l"/>
            <a:r>
              <a:rPr lang="en-US" altLang="zh-CN" sz="2000" dirty="0">
                <a:latin typeface="+mn-ea"/>
                <a:ea typeface="+mn-ea"/>
              </a:rPr>
              <a:t>a = set('pen')</a:t>
            </a:r>
            <a:endParaRPr lang="zh-CN" altLang="zh-CN" sz="2000" dirty="0">
              <a:latin typeface="+mn-ea"/>
              <a:ea typeface="+mn-ea"/>
            </a:endParaRPr>
          </a:p>
          <a:p>
            <a:pPr algn="l"/>
            <a:r>
              <a:rPr lang="en-US" altLang="zh-CN" sz="2000" dirty="0">
                <a:latin typeface="+mn-ea"/>
                <a:ea typeface="+mn-ea"/>
              </a:rPr>
              <a:t>print(b) </a:t>
            </a:r>
            <a:endParaRPr lang="en-US" altLang="zh-CN" sz="2000" dirty="0">
              <a:latin typeface="+mn-ea"/>
              <a:ea typeface="+mn-ea"/>
            </a:endParaRPr>
          </a:p>
          <a:p>
            <a:pPr algn="l"/>
            <a:r>
              <a:rPr lang="en-US" altLang="zh-CN" sz="2000" dirty="0">
                <a:latin typeface="+mn-ea"/>
                <a:ea typeface="+mn-ea"/>
              </a:rPr>
              <a:t>print(a)  </a:t>
            </a:r>
            <a:endParaRPr lang="zh-CN" altLang="zh-CN" sz="2000" dirty="0">
              <a:latin typeface="+mn-ea"/>
              <a:ea typeface="+mn-ea"/>
            </a:endParaRPr>
          </a:p>
          <a:p>
            <a:pPr algn="l"/>
            <a:r>
              <a:rPr lang="en-US" altLang="zh-CN" sz="2000" dirty="0">
                <a:latin typeface="+mn-ea"/>
                <a:ea typeface="+mn-ea"/>
              </a:rPr>
              <a:t>c = </a:t>
            </a:r>
            <a:r>
              <a:rPr lang="en-US" altLang="zh-CN" sz="2000" dirty="0" err="1">
                <a:latin typeface="+mn-ea"/>
                <a:ea typeface="+mn-ea"/>
              </a:rPr>
              <a:t>b.difference</a:t>
            </a:r>
            <a:r>
              <a:rPr lang="en-US" altLang="zh-CN" sz="2000" dirty="0">
                <a:latin typeface="+mn-ea"/>
                <a:ea typeface="+mn-ea"/>
              </a:rPr>
              <a:t>(a)</a:t>
            </a:r>
            <a:endParaRPr lang="zh-CN" altLang="zh-CN" sz="2000" dirty="0">
              <a:latin typeface="+mn-ea"/>
              <a:ea typeface="+mn-ea"/>
            </a:endParaRPr>
          </a:p>
          <a:p>
            <a:pPr algn="l"/>
            <a:r>
              <a:rPr lang="en-US" altLang="zh-CN" sz="2000" dirty="0">
                <a:latin typeface="+mn-ea"/>
                <a:ea typeface="+mn-ea"/>
              </a:rPr>
              <a:t>print(c)  </a:t>
            </a:r>
            <a:endParaRPr lang="zh-CN" altLang="zh-CN" sz="2000" dirty="0">
              <a:latin typeface="+mn-ea"/>
              <a:ea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99592" y="1275606"/>
            <a:ext cx="40020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zh-CN" kern="100" dirty="0">
                <a:solidFill>
                  <a:srgbClr val="000000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求差集的时候 </a:t>
            </a:r>
            <a:r>
              <a:rPr lang="en-US" altLang="zh-CN" kern="100" dirty="0">
                <a:solidFill>
                  <a:srgbClr val="000000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- </a:t>
            </a:r>
            <a:r>
              <a:rPr lang="zh-CN" altLang="zh-CN" kern="100" dirty="0">
                <a:solidFill>
                  <a:srgbClr val="000000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和 </a:t>
            </a:r>
            <a:r>
              <a:rPr lang="en-US" altLang="zh-CN" kern="100" dirty="0">
                <a:solidFill>
                  <a:srgbClr val="000000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difference</a:t>
            </a:r>
            <a:r>
              <a:rPr lang="zh-CN" altLang="zh-CN" kern="100" dirty="0">
                <a:solidFill>
                  <a:srgbClr val="000000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是等价的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899592" y="1851670"/>
            <a:ext cx="1368152" cy="553998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dirty="0">
                <a:latin typeface="+mn-ea"/>
                <a:ea typeface="+mn-ea"/>
              </a:rPr>
              <a:t>代码示例：</a:t>
            </a:r>
            <a:endParaRPr lang="en-US" sz="2000" dirty="0">
              <a:latin typeface="+mn-ea"/>
              <a:ea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607399" y="1878857"/>
            <a:ext cx="1368152" cy="499624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dirty="0">
                <a:latin typeface="+mn-ea"/>
                <a:ea typeface="+mn-ea"/>
              </a:rPr>
              <a:t>运行结果：</a:t>
            </a:r>
            <a:endParaRPr lang="en-US" sz="2000" dirty="0">
              <a:latin typeface="+mn-ea"/>
              <a:ea typeface="+mn-ea"/>
            </a:endParaRPr>
          </a:p>
        </p:txBody>
      </p:sp>
      <p:sp>
        <p:nvSpPr>
          <p:cNvPr id="11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2" name="文本框 2"/>
          <p:cNvSpPr txBox="1"/>
          <p:nvPr/>
        </p:nvSpPr>
        <p:spPr>
          <a:xfrm>
            <a:off x="443334" y="768350"/>
            <a:ext cx="2441246" cy="400110"/>
          </a:xfrm>
          <a:prstGeom prst="rect">
            <a:avLst/>
          </a:prstGeom>
          <a:noFill/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差集</a:t>
            </a:r>
            <a:r>
              <a:rPr lang="en-US" altLang="zh-CN" sz="2000" dirty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(</a:t>
            </a:r>
            <a:r>
              <a:rPr lang="en-US" altLang="zh-CN" sz="2000" kern="100" dirty="0">
                <a:solidFill>
                  <a:srgbClr val="0070C0"/>
                </a:solidFill>
                <a:latin typeface="+mn-ea"/>
                <a:ea typeface="+mn-ea"/>
                <a:cs typeface="宋体" panose="02010600030101010101" pitchFamily="2" charset="-122"/>
              </a:rPr>
              <a:t>difference</a:t>
            </a:r>
            <a:r>
              <a:rPr lang="en-US" altLang="zh-CN" sz="2000" dirty="0">
                <a:solidFill>
                  <a:srgbClr val="0070C0"/>
                </a:solidFill>
                <a:latin typeface="+mn-ea"/>
                <a:ea typeface="+mn-ea"/>
              </a:rPr>
              <a:t>)</a:t>
            </a:r>
            <a:endParaRPr lang="zh-CN" altLang="en-US" sz="2000" dirty="0">
              <a:solidFill>
                <a:srgbClr val="0070C0"/>
              </a:solidFill>
              <a:latin typeface="+mn-ea"/>
              <a:ea typeface="+mn-ea"/>
              <a:sym typeface="+mn-ea"/>
            </a:endParaRPr>
          </a:p>
        </p:txBody>
      </p:sp>
      <p:pic>
        <p:nvPicPr>
          <p:cNvPr id="13" name="Picture 1" descr="C:\Users\Administrator\AppData\Roaming\Tencent\Users\499232999\QQ\WinTemp\RichOle\CVH2TJHR1E)DUJ`YR`1FBM7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5663" y="2443410"/>
            <a:ext cx="3945929" cy="1753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8" grpId="0"/>
      <p:bldP spid="9" grpId="0"/>
      <p:bldP spid="1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</p:spPr>
        <p:txBody>
          <a:bodyPr/>
          <a:lstStyle/>
          <a:p>
            <a:r>
              <a:rPr lang="zh-CN" altLang="en-US" dirty="0"/>
              <a:t>如何使用集合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899592" y="2587426"/>
            <a:ext cx="2448272" cy="2000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US" altLang="zh-CN" sz="2000" dirty="0">
                <a:latin typeface="+mn-ea"/>
                <a:ea typeface="+mn-ea"/>
              </a:rPr>
              <a:t>s = set('apple')</a:t>
            </a:r>
            <a:endParaRPr lang="zh-CN" altLang="zh-CN" sz="2000" dirty="0">
              <a:latin typeface="+mn-ea"/>
              <a:ea typeface="+mn-ea"/>
            </a:endParaRPr>
          </a:p>
          <a:p>
            <a:pPr algn="l"/>
            <a:r>
              <a:rPr lang="en-US" altLang="zh-CN" sz="2000" dirty="0">
                <a:latin typeface="+mn-ea"/>
                <a:ea typeface="+mn-ea"/>
              </a:rPr>
              <a:t>b = set('pen')</a:t>
            </a:r>
            <a:endParaRPr lang="zh-CN" altLang="zh-CN" sz="2000" dirty="0">
              <a:latin typeface="+mn-ea"/>
              <a:ea typeface="+mn-ea"/>
            </a:endParaRPr>
          </a:p>
          <a:p>
            <a:pPr algn="l"/>
            <a:r>
              <a:rPr lang="en-US" altLang="zh-CN" sz="2000" dirty="0">
                <a:latin typeface="+mn-ea"/>
                <a:ea typeface="+mn-ea"/>
              </a:rPr>
              <a:t>print(s) </a:t>
            </a:r>
            <a:endParaRPr lang="en-US" altLang="zh-CN" sz="2000" dirty="0">
              <a:latin typeface="+mn-ea"/>
              <a:ea typeface="+mn-ea"/>
            </a:endParaRPr>
          </a:p>
          <a:p>
            <a:pPr algn="l"/>
            <a:r>
              <a:rPr lang="en-US" altLang="zh-CN" sz="2000" dirty="0">
                <a:latin typeface="+mn-ea"/>
                <a:ea typeface="+mn-ea"/>
              </a:rPr>
              <a:t>print(b)</a:t>
            </a:r>
            <a:endParaRPr lang="zh-CN" altLang="zh-CN" sz="2000" dirty="0">
              <a:latin typeface="+mn-ea"/>
              <a:ea typeface="+mn-ea"/>
            </a:endParaRPr>
          </a:p>
          <a:p>
            <a:pPr algn="l"/>
            <a:r>
              <a:rPr lang="en-US" altLang="zh-CN" sz="2000" dirty="0">
                <a:latin typeface="+mn-ea"/>
                <a:ea typeface="+mn-ea"/>
              </a:rPr>
              <a:t>c = s ^ b</a:t>
            </a:r>
            <a:endParaRPr lang="zh-CN" altLang="zh-CN" sz="2000" dirty="0">
              <a:latin typeface="+mn-ea"/>
              <a:ea typeface="+mn-ea"/>
            </a:endParaRPr>
          </a:p>
          <a:p>
            <a:pPr algn="l"/>
            <a:r>
              <a:rPr lang="en-US" altLang="zh-CN" sz="2000" dirty="0">
                <a:latin typeface="+mn-ea"/>
                <a:ea typeface="+mn-ea"/>
              </a:rPr>
              <a:t>print(c)  </a:t>
            </a:r>
            <a:endParaRPr lang="zh-CN" altLang="zh-CN" sz="2000" dirty="0">
              <a:latin typeface="+mn-ea"/>
              <a:ea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55576" y="1995686"/>
            <a:ext cx="1368152" cy="553998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dirty="0">
                <a:latin typeface="+mn-ea"/>
                <a:ea typeface="+mn-ea"/>
              </a:rPr>
              <a:t>代码示例：</a:t>
            </a:r>
            <a:endParaRPr lang="en-US" sz="2000" dirty="0">
              <a:latin typeface="+mn-ea"/>
              <a:ea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463383" y="2022873"/>
            <a:ext cx="1368152" cy="499624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dirty="0">
                <a:latin typeface="+mn-ea"/>
                <a:ea typeface="+mn-ea"/>
              </a:rPr>
              <a:t>运行结果：</a:t>
            </a:r>
            <a:endParaRPr lang="en-US" sz="2000" dirty="0">
              <a:latin typeface="+mn-ea"/>
              <a:ea typeface="+mn-ea"/>
            </a:endParaRPr>
          </a:p>
        </p:txBody>
      </p:sp>
      <p:sp>
        <p:nvSpPr>
          <p:cNvPr id="9" name="文本框 2"/>
          <p:cNvSpPr txBox="1"/>
          <p:nvPr/>
        </p:nvSpPr>
        <p:spPr>
          <a:xfrm>
            <a:off x="338755" y="768350"/>
            <a:ext cx="1951176" cy="400110"/>
          </a:xfrm>
          <a:prstGeom prst="rect">
            <a:avLst/>
          </a:prstGeom>
          <a:noFill/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marL="342900" indent="-342900">
              <a:buFont typeface="Wingdings" panose="05000000000000000000" charset="0"/>
              <a:buChar char="n"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交叉补集</a:t>
            </a:r>
            <a:r>
              <a:rPr lang="en-US" altLang="zh-CN" sz="2000" dirty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(</a:t>
            </a:r>
            <a:r>
              <a:rPr lang="en-US" altLang="zh-CN" sz="2000" dirty="0">
                <a:solidFill>
                  <a:srgbClr val="0070C0"/>
                </a:solidFill>
                <a:latin typeface="+mn-ea"/>
              </a:rPr>
              <a:t>^)</a:t>
            </a:r>
            <a:endParaRPr lang="zh-CN" altLang="en-US" sz="2000" dirty="0">
              <a:solidFill>
                <a:srgbClr val="0070C0"/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10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11" name="Picture 5" descr="C:\Users\Administrator\Desktop\剪贴画\交叉补集.jpg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768350"/>
            <a:ext cx="2294323" cy="1433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37" name="Picture 1" descr="C:\Users\Administrator\AppData\Roaming\Tencent\Users\499232999\QQ\WinTemp\RichOle\8%KD2]}3OO[WUFO@J$6LQH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2237" y="2587426"/>
            <a:ext cx="3289806" cy="13524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3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8" grpId="0"/>
      <p:bldP spid="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如何使用集合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611560" y="2629237"/>
            <a:ext cx="3744416" cy="19389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US" altLang="zh-CN" sz="2000" dirty="0">
                <a:latin typeface="+mn-ea"/>
                <a:ea typeface="+mn-ea"/>
              </a:rPr>
              <a:t>s = set('apple')</a:t>
            </a:r>
            <a:endParaRPr lang="zh-CN" altLang="zh-CN" sz="2000" dirty="0">
              <a:latin typeface="+mn-ea"/>
              <a:ea typeface="+mn-ea"/>
            </a:endParaRPr>
          </a:p>
          <a:p>
            <a:pPr algn="l"/>
            <a:r>
              <a:rPr lang="en-US" altLang="zh-CN" sz="2000" dirty="0">
                <a:latin typeface="+mn-ea"/>
                <a:ea typeface="+mn-ea"/>
              </a:rPr>
              <a:t>b = set('pen')</a:t>
            </a:r>
            <a:endParaRPr lang="zh-CN" altLang="zh-CN" sz="2000" dirty="0">
              <a:latin typeface="+mn-ea"/>
              <a:ea typeface="+mn-ea"/>
            </a:endParaRPr>
          </a:p>
          <a:p>
            <a:pPr algn="l"/>
            <a:r>
              <a:rPr lang="en-US" altLang="zh-CN" sz="2000" dirty="0">
                <a:latin typeface="+mn-ea"/>
                <a:ea typeface="+mn-ea"/>
              </a:rPr>
              <a:t>print(s)  </a:t>
            </a:r>
            <a:endParaRPr lang="zh-CN" altLang="zh-CN" sz="2000" dirty="0">
              <a:latin typeface="+mn-ea"/>
              <a:ea typeface="+mn-ea"/>
            </a:endParaRPr>
          </a:p>
          <a:p>
            <a:pPr algn="l"/>
            <a:r>
              <a:rPr lang="en-US" altLang="zh-CN" sz="2000" dirty="0">
                <a:latin typeface="+mn-ea"/>
                <a:ea typeface="+mn-ea"/>
              </a:rPr>
              <a:t>print(b) </a:t>
            </a:r>
            <a:endParaRPr lang="zh-CN" altLang="zh-CN" sz="2000" dirty="0">
              <a:latin typeface="+mn-ea"/>
              <a:ea typeface="+mn-ea"/>
            </a:endParaRPr>
          </a:p>
          <a:p>
            <a:pPr algn="l"/>
            <a:r>
              <a:rPr lang="en-US" altLang="zh-CN" sz="2000" dirty="0">
                <a:latin typeface="+mn-ea"/>
                <a:ea typeface="+mn-ea"/>
              </a:rPr>
              <a:t>c = s.symmetric_difference(b)</a:t>
            </a:r>
            <a:endParaRPr lang="zh-CN" altLang="zh-CN" sz="2000" dirty="0">
              <a:latin typeface="+mn-ea"/>
              <a:ea typeface="+mn-ea"/>
            </a:endParaRPr>
          </a:p>
          <a:p>
            <a:pPr algn="l"/>
            <a:r>
              <a:rPr lang="en-US" altLang="zh-CN" sz="2000" dirty="0">
                <a:latin typeface="+mn-ea"/>
                <a:ea typeface="+mn-ea"/>
              </a:rPr>
              <a:t>print(c)  </a:t>
            </a:r>
            <a:endParaRPr lang="zh-CN" altLang="zh-CN" sz="2000" dirty="0">
              <a:latin typeface="+mn-ea"/>
              <a:ea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67544" y="1379489"/>
            <a:ext cx="59766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zh-CN" kern="100" dirty="0">
                <a:solidFill>
                  <a:srgbClr val="000000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求对称差的时候 </a:t>
            </a:r>
            <a:r>
              <a:rPr lang="en-US" altLang="zh-CN" kern="100" dirty="0">
                <a:solidFill>
                  <a:srgbClr val="000000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^ </a:t>
            </a:r>
            <a:r>
              <a:rPr lang="zh-CN" altLang="zh-CN" kern="100" dirty="0">
                <a:solidFill>
                  <a:srgbClr val="000000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和</a:t>
            </a:r>
            <a:r>
              <a:rPr lang="en-US" altLang="zh-CN" kern="100" dirty="0">
                <a:solidFill>
                  <a:srgbClr val="000000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symmetric_difference</a:t>
            </a:r>
            <a:r>
              <a:rPr lang="zh-CN" altLang="zh-CN" kern="100" dirty="0">
                <a:solidFill>
                  <a:srgbClr val="000000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是等价的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467544" y="2016725"/>
            <a:ext cx="1368152" cy="553998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dirty="0">
                <a:latin typeface="+mn-ea"/>
                <a:ea typeface="+mn-ea"/>
              </a:rPr>
              <a:t>代码示例：</a:t>
            </a:r>
            <a:endParaRPr lang="en-US" sz="2000" dirty="0">
              <a:latin typeface="+mn-ea"/>
              <a:ea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716016" y="2043912"/>
            <a:ext cx="1368152" cy="499624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dirty="0">
                <a:latin typeface="+mn-ea"/>
                <a:ea typeface="+mn-ea"/>
              </a:rPr>
              <a:t>运行结果：</a:t>
            </a:r>
            <a:endParaRPr lang="en-US" sz="2000" dirty="0">
              <a:latin typeface="+mn-ea"/>
              <a:ea typeface="+mn-ea"/>
            </a:endParaRPr>
          </a:p>
        </p:txBody>
      </p:sp>
      <p:sp>
        <p:nvSpPr>
          <p:cNvPr id="11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2" name="文本框 2"/>
          <p:cNvSpPr txBox="1"/>
          <p:nvPr/>
        </p:nvSpPr>
        <p:spPr>
          <a:xfrm>
            <a:off x="230875" y="771550"/>
            <a:ext cx="4342406" cy="400110"/>
          </a:xfrm>
          <a:prstGeom prst="rect">
            <a:avLst/>
          </a:prstGeom>
          <a:noFill/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marL="342900" indent="-342900">
              <a:buFont typeface="Wingdings" panose="05000000000000000000" charset="0"/>
              <a:buChar char="n"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交叉补集</a:t>
            </a:r>
            <a:r>
              <a:rPr lang="en-US" altLang="zh-CN" sz="2000" dirty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(</a:t>
            </a:r>
            <a:r>
              <a:rPr lang="en-US" altLang="zh-CN" sz="2000" kern="100" dirty="0" err="1">
                <a:solidFill>
                  <a:srgbClr val="0070C0"/>
                </a:solidFill>
                <a:latin typeface="+mn-ea"/>
                <a:ea typeface="+mn-ea"/>
                <a:cs typeface="宋体" panose="02010600030101010101" pitchFamily="2" charset="-122"/>
              </a:rPr>
              <a:t>symmetric_difference</a:t>
            </a:r>
            <a:r>
              <a:rPr lang="en-US" altLang="zh-CN" sz="2000" dirty="0">
                <a:solidFill>
                  <a:srgbClr val="0070C0"/>
                </a:solidFill>
                <a:latin typeface="+mn-ea"/>
                <a:ea typeface="+mn-ea"/>
              </a:rPr>
              <a:t>)</a:t>
            </a:r>
            <a:endParaRPr lang="zh-CN" altLang="en-US" sz="2000" dirty="0">
              <a:solidFill>
                <a:srgbClr val="0070C0"/>
              </a:solidFill>
              <a:latin typeface="+mn-ea"/>
              <a:ea typeface="+mn-ea"/>
              <a:sym typeface="+mn-ea"/>
            </a:endParaRPr>
          </a:p>
        </p:txBody>
      </p:sp>
      <p:pic>
        <p:nvPicPr>
          <p:cNvPr id="13" name="Picture 1" descr="C:\Users\Administrator\AppData\Roaming\Tencent\Users\499232999\QQ\WinTemp\RichOle\8%KD2]}3OO[WUFO@J$6LQH7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9305" y="2629237"/>
            <a:ext cx="3289806" cy="13524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8" grpId="0"/>
      <p:bldP spid="9" grpId="0"/>
      <p:bldP spid="1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</p:spPr>
        <p:txBody>
          <a:bodyPr/>
          <a:lstStyle/>
          <a:p>
            <a:r>
              <a:rPr lang="zh-CN" altLang="en-US" dirty="0"/>
              <a:t>集合的作用</a:t>
            </a:r>
            <a:endParaRPr lang="zh-CN" altLang="en-US" dirty="0"/>
          </a:p>
        </p:txBody>
      </p:sp>
      <p:sp>
        <p:nvSpPr>
          <p:cNvPr id="4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55576" y="1203598"/>
            <a:ext cx="4032448" cy="13234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/>
            </a:solidFill>
          </a:ln>
        </p:spPr>
        <p:txBody>
          <a:bodyPr wrap="square"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+mn-ea"/>
              </a:rPr>
              <a:t>可以把一个列表中重复的数据去掉，而不需要你写判断去重。</a:t>
            </a:r>
            <a:endParaRPr lang="en-US" altLang="zh-CN" sz="2000" dirty="0">
              <a:latin typeface="+mn-ea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+mn-ea"/>
                <a:sym typeface="微软雅黑" panose="020B0503020204020204" pitchFamily="34" charset="-122"/>
              </a:rPr>
              <a:t>可以做关系型测试以及操作</a:t>
            </a:r>
            <a:endParaRPr lang="zh-CN" altLang="en-US" sz="2000" dirty="0">
              <a:latin typeface="+mn-ea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第四课时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83568" y="2283718"/>
            <a:ext cx="7776864" cy="594066"/>
          </a:xfrm>
        </p:spPr>
        <p:txBody>
          <a:bodyPr/>
          <a:lstStyle/>
          <a:p>
            <a:r>
              <a:rPr lang="zh-CN" altLang="en-US" dirty="0"/>
              <a:t>双色球案例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"/>
    </mc:Choice>
    <mc:Fallback>
      <p:transition spd="slow" advTm="964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如何实现双色球案例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70C0"/>
                </a:solidFill>
              </a:rPr>
              <a:t>需求说明</a:t>
            </a:r>
            <a:endParaRPr lang="zh-CN" altLang="en-US" dirty="0">
              <a:solidFill>
                <a:srgbClr val="0070C0"/>
              </a:solidFill>
            </a:endParaRPr>
          </a:p>
          <a:p>
            <a:pPr lvl="1"/>
            <a:r>
              <a:rPr lang="zh-CN" altLang="en-US" dirty="0">
                <a:sym typeface="+mn-ea"/>
              </a:rPr>
              <a:t>使用集合实现红球选号方案。</a:t>
            </a:r>
            <a:endParaRPr lang="zh-CN" altLang="en-US" dirty="0">
              <a:sym typeface="+mn-ea"/>
            </a:endParaRPr>
          </a:p>
          <a:p>
            <a:pPr lvl="2"/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、用户手动选择</a:t>
            </a:r>
            <a:r>
              <a:rPr lang="en-US" altLang="zh-CN" dirty="0">
                <a:sym typeface="+mn-ea"/>
              </a:rPr>
              <a:t>6</a:t>
            </a:r>
            <a:r>
              <a:rPr lang="zh-CN" altLang="en-US" dirty="0">
                <a:sym typeface="+mn-ea"/>
              </a:rPr>
              <a:t>个红球。</a:t>
            </a:r>
            <a:endParaRPr lang="zh-CN" altLang="en-US" dirty="0">
              <a:sym typeface="+mn-ea"/>
            </a:endParaRPr>
          </a:p>
          <a:p>
            <a:pPr lvl="2"/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、程序随机选择</a:t>
            </a:r>
            <a:r>
              <a:rPr lang="en-US" altLang="zh-CN" dirty="0">
                <a:sym typeface="+mn-ea"/>
              </a:rPr>
              <a:t>6</a:t>
            </a:r>
            <a:r>
              <a:rPr lang="zh-CN" altLang="en-US" dirty="0">
                <a:sym typeface="+mn-ea"/>
              </a:rPr>
              <a:t>个红球。</a:t>
            </a:r>
            <a:endParaRPr lang="zh-CN" altLang="en-US" dirty="0"/>
          </a:p>
          <a:p>
            <a:pPr lvl="1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zh-CN" altLang="en-US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zh-CN" altLang="en-US" dirty="0"/>
          </a:p>
          <a:p>
            <a:pPr lvl="2"/>
            <a:endParaRPr lang="en-US" altLang="zh-CN" dirty="0"/>
          </a:p>
          <a:p>
            <a:pPr lvl="1"/>
            <a:endParaRPr lang="zh-CN" altLang="en-US" dirty="0"/>
          </a:p>
        </p:txBody>
      </p:sp>
      <p:pic>
        <p:nvPicPr>
          <p:cNvPr id="6" name="图片 5" hidden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0" y="1812925"/>
            <a:ext cx="3959225" cy="2703195"/>
          </a:xfrm>
          <a:prstGeom prst="rect">
            <a:avLst/>
          </a:prstGeom>
        </p:spPr>
      </p:pic>
      <p:pic>
        <p:nvPicPr>
          <p:cNvPr id="7" name="图片 6" hidden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4535" y="1812925"/>
            <a:ext cx="4228465" cy="2703195"/>
          </a:xfrm>
          <a:prstGeom prst="rect">
            <a:avLst/>
          </a:prstGeom>
        </p:spPr>
      </p:pic>
      <p:pic>
        <p:nvPicPr>
          <p:cNvPr id="4" name="图片 3" hidden="1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19405" y="1648460"/>
            <a:ext cx="3995420" cy="3270250"/>
          </a:xfrm>
          <a:prstGeom prst="rect">
            <a:avLst/>
          </a:prstGeom>
        </p:spPr>
      </p:pic>
      <p:sp>
        <p:nvSpPr>
          <p:cNvPr id="9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13" name="Picture 1" descr="C:\Users\Administrator\AppData\Roaming\Tencent\Users\499232999\QQ\WinTemp\RichOle\H0`B~R2E8_{M(F$PRZJ@7YS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283718"/>
            <a:ext cx="3189711" cy="2604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9" name="Picture 1" descr="C:\Users\Administrator\AppData\Roaming\Tencent\Users\499232999\QQ\WinTemp\RichOle\O2DL9R_EQ~WRZ~6GW8L~_MM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283718"/>
            <a:ext cx="4010046" cy="504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77026"/>
          </a:xfrm>
        </p:spPr>
        <p:txBody>
          <a:bodyPr/>
          <a:lstStyle/>
          <a:p>
            <a:r>
              <a:rPr lang="zh-CN" altLang="en-US" dirty="0"/>
              <a:t>如何实现双色球案例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179388" y="771525"/>
          <a:ext cx="8640762" cy="37449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5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6" name="文本框 3"/>
          <p:cNvSpPr txBox="1"/>
          <p:nvPr/>
        </p:nvSpPr>
        <p:spPr>
          <a:xfrm>
            <a:off x="251520" y="732810"/>
            <a:ext cx="7404556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000" dirty="0">
                <a:solidFill>
                  <a:srgbClr val="0070C0"/>
                </a:solidFill>
                <a:ea typeface="微软雅黑" panose="020B0503020204020204" pitchFamily="34" charset="-122"/>
              </a:rPr>
              <a:t>方案</a:t>
            </a:r>
            <a:endParaRPr lang="zh-CN" altLang="en-US" sz="2000" dirty="0">
              <a:solidFill>
                <a:srgbClr val="0070C0"/>
              </a:solidFill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BE10FC2-CC8C-4A1A-8CDA-8735C79EED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FBE10FC2-CC8C-4A1A-8CDA-8735C79EED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FBE10FC2-CC8C-4A1A-8CDA-8735C79EED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3153AD7-7788-44B5-BDC0-32FEB64F1B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graphicEl>
                                              <a:dgm id="{A3153AD7-7788-44B5-BDC0-32FEB64F1B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graphicEl>
                                              <a:dgm id="{A3153AD7-7788-44B5-BDC0-32FEB64F1B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5D37277-5356-4A49-8DA5-1BAD8D16B01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graphicEl>
                                              <a:dgm id="{75D37277-5356-4A49-8DA5-1BAD8D16B01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graphicEl>
                                              <a:dgm id="{75D37277-5356-4A49-8DA5-1BAD8D16B01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300625F-318B-4DF8-A5FC-B25A2597D3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graphicEl>
                                              <a:dgm id="{4300625F-318B-4DF8-A5FC-B25A2597D3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graphicEl>
                                              <a:dgm id="{4300625F-318B-4DF8-A5FC-B25A2597D3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Dgm bld="one"/>
        </p:bldSub>
      </p:bldGraphic>
      <p:bldP spid="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如何实现双色球案例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251520" y="732810"/>
            <a:ext cx="7404556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000" dirty="0">
                <a:solidFill>
                  <a:srgbClr val="0070C0"/>
                </a:solidFill>
                <a:ea typeface="微软雅黑" panose="020B0503020204020204" pitchFamily="34" charset="-122"/>
              </a:rPr>
              <a:t>思路讲解</a:t>
            </a:r>
            <a:r>
              <a:rPr lang="en-US" altLang="zh-CN" sz="2000" dirty="0">
                <a:solidFill>
                  <a:srgbClr val="0070C0"/>
                </a:solidFill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solidFill>
                  <a:srgbClr val="0070C0"/>
                </a:solidFill>
                <a:ea typeface="微软雅黑" panose="020B0503020204020204" pitchFamily="34" charset="-122"/>
              </a:rPr>
              <a:t>手选方案</a:t>
            </a:r>
            <a:r>
              <a:rPr lang="en-US" altLang="zh-CN" sz="2000" dirty="0">
                <a:solidFill>
                  <a:srgbClr val="0070C0"/>
                </a:solidFill>
                <a:ea typeface="微软雅黑" panose="020B0503020204020204" pitchFamily="34" charset="-122"/>
              </a:rPr>
              <a:t>)</a:t>
            </a:r>
            <a:endParaRPr lang="zh-CN" altLang="en-US" sz="2000" dirty="0">
              <a:solidFill>
                <a:srgbClr val="0070C0"/>
              </a:solidFill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83568" y="2822614"/>
            <a:ext cx="7404556" cy="132343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 algn="l"/>
            <a:r>
              <a:rPr lang="en-US" altLang="zh-CN" sz="1600" dirty="0">
                <a:ln w="0"/>
                <a:solidFill>
                  <a:srgbClr val="0070C0"/>
                </a:solidFill>
                <a:latin typeface="+mn-ea"/>
              </a:rPr>
              <a:t>1</a:t>
            </a:r>
            <a:r>
              <a:rPr lang="zh-CN" altLang="en-US" sz="1600" dirty="0">
                <a:ln w="0"/>
                <a:solidFill>
                  <a:srgbClr val="0070C0"/>
                </a:solidFill>
                <a:latin typeface="+mn-ea"/>
              </a:rPr>
              <a:t>、建立结果集用户存储用户输入</a:t>
            </a:r>
            <a:endParaRPr lang="en-US" altLang="zh-CN" sz="1600" dirty="0">
              <a:ln w="0"/>
              <a:solidFill>
                <a:srgbClr val="0070C0"/>
              </a:solidFill>
              <a:latin typeface="+mn-ea"/>
            </a:endParaRPr>
          </a:p>
          <a:p>
            <a:pPr marL="0" indent="0" algn="l"/>
            <a:r>
              <a:rPr lang="en-US" altLang="zh-CN" sz="1600" dirty="0">
                <a:ln w="0"/>
                <a:solidFill>
                  <a:srgbClr val="0070C0"/>
                </a:solidFill>
                <a:latin typeface="+mn-ea"/>
              </a:rPr>
              <a:t>2</a:t>
            </a:r>
            <a:r>
              <a:rPr lang="zh-CN" altLang="en-US" sz="1600" dirty="0">
                <a:ln w="0"/>
                <a:solidFill>
                  <a:srgbClr val="0070C0"/>
                </a:solidFill>
                <a:latin typeface="+mn-ea"/>
              </a:rPr>
              <a:t>、循环提示用户输入新选择的球号</a:t>
            </a:r>
            <a:endParaRPr lang="en-US" altLang="zh-CN" sz="1600" dirty="0">
              <a:ln w="0"/>
              <a:solidFill>
                <a:srgbClr val="0070C0"/>
              </a:solidFill>
              <a:latin typeface="+mn-ea"/>
            </a:endParaRPr>
          </a:p>
          <a:p>
            <a:pPr marL="0" indent="0" algn="l"/>
            <a:r>
              <a:rPr lang="en-US" altLang="zh-CN" sz="1600" dirty="0">
                <a:ln w="0"/>
                <a:solidFill>
                  <a:srgbClr val="0070C0"/>
                </a:solidFill>
                <a:latin typeface="+mn-ea"/>
              </a:rPr>
              <a:t>3</a:t>
            </a:r>
            <a:r>
              <a:rPr lang="zh-CN" altLang="en-US" sz="1600" dirty="0">
                <a:ln w="0"/>
                <a:solidFill>
                  <a:srgbClr val="0070C0"/>
                </a:solidFill>
                <a:latin typeface="+mn-ea"/>
              </a:rPr>
              <a:t>、利用结果集去重</a:t>
            </a:r>
            <a:endParaRPr lang="en-US" altLang="zh-CN" sz="1600" dirty="0">
              <a:ln w="0"/>
              <a:solidFill>
                <a:srgbClr val="0070C0"/>
              </a:solidFill>
              <a:latin typeface="+mn-ea"/>
            </a:endParaRPr>
          </a:p>
          <a:p>
            <a:pPr marL="0" indent="0" algn="l"/>
            <a:r>
              <a:rPr lang="en-US" altLang="zh-CN" sz="1600" dirty="0">
                <a:ln w="0"/>
                <a:solidFill>
                  <a:srgbClr val="0070C0"/>
                </a:solidFill>
                <a:latin typeface="+mn-ea"/>
              </a:rPr>
              <a:t>4</a:t>
            </a:r>
            <a:r>
              <a:rPr lang="zh-CN" altLang="en-US" sz="1600" dirty="0">
                <a:ln w="0"/>
                <a:solidFill>
                  <a:srgbClr val="0070C0"/>
                </a:solidFill>
                <a:latin typeface="+mn-ea"/>
              </a:rPr>
              <a:t>、结果集满足</a:t>
            </a:r>
            <a:r>
              <a:rPr lang="en-US" altLang="zh-CN" sz="1600" dirty="0">
                <a:ln w="0"/>
                <a:solidFill>
                  <a:srgbClr val="0070C0"/>
                </a:solidFill>
                <a:latin typeface="+mn-ea"/>
              </a:rPr>
              <a:t>6</a:t>
            </a:r>
            <a:r>
              <a:rPr lang="zh-CN" altLang="en-US" sz="1600" dirty="0">
                <a:ln w="0"/>
                <a:solidFill>
                  <a:srgbClr val="0070C0"/>
                </a:solidFill>
                <a:latin typeface="+mn-ea"/>
              </a:rPr>
              <a:t>个球号的时候就停止循环</a:t>
            </a:r>
            <a:endParaRPr lang="en-US" altLang="zh-CN" sz="1600" dirty="0">
              <a:ln w="0"/>
              <a:solidFill>
                <a:srgbClr val="0070C0"/>
              </a:solidFill>
              <a:latin typeface="+mn-ea"/>
            </a:endParaRPr>
          </a:p>
          <a:p>
            <a:pPr marL="0" indent="0" algn="l"/>
            <a:r>
              <a:rPr lang="en-US" altLang="zh-CN" sz="1600" dirty="0">
                <a:ln w="0"/>
                <a:solidFill>
                  <a:srgbClr val="0070C0"/>
                </a:solidFill>
                <a:latin typeface="+mn-ea"/>
              </a:rPr>
              <a:t>5</a:t>
            </a:r>
            <a:r>
              <a:rPr lang="zh-CN" altLang="en-US" sz="1600" dirty="0">
                <a:ln w="0"/>
                <a:solidFill>
                  <a:srgbClr val="0070C0"/>
                </a:solidFill>
                <a:latin typeface="+mn-ea"/>
              </a:rPr>
              <a:t>、打印用户选出的结果</a:t>
            </a:r>
            <a:endParaRPr lang="zh-CN" sz="1600" dirty="0">
              <a:ln w="0"/>
              <a:solidFill>
                <a:srgbClr val="0070C0"/>
              </a:solidFill>
              <a:latin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568" y="1406311"/>
            <a:ext cx="4399089" cy="1136101"/>
          </a:xfrm>
          <a:prstGeom prst="rect">
            <a:avLst/>
          </a:prstGeom>
        </p:spPr>
      </p:pic>
      <p:sp>
        <p:nvSpPr>
          <p:cNvPr id="6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</p:spPr>
        <p:txBody>
          <a:bodyPr/>
          <a:lstStyle/>
          <a:p>
            <a:r>
              <a:rPr lang="zh-CN" altLang="en-US" dirty="0"/>
              <a:t>如何实现双色球案例</a:t>
            </a:r>
            <a:endParaRPr lang="zh-CN" altLang="en-US" dirty="0"/>
          </a:p>
        </p:txBody>
      </p:sp>
      <p:sp>
        <p:nvSpPr>
          <p:cNvPr id="4" name="AutoShape 2"/>
          <p:cNvSpPr/>
          <p:nvPr/>
        </p:nvSpPr>
        <p:spPr>
          <a:xfrm>
            <a:off x="755576" y="1635646"/>
            <a:ext cx="6991376" cy="3046988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28575" cap="flat" cmpd="sng">
            <a:solidFill>
              <a:srgbClr val="11A8FF"/>
            </a:solidFill>
            <a:prstDash val="solid"/>
            <a:miter/>
            <a:headEnd type="none" w="med" len="med"/>
            <a:tailEnd type="none" w="med" len="med"/>
          </a:ln>
          <a:effectLst>
            <a:outerShdw sx="100999" sy="100999" algn="ctr" rotWithShape="0">
              <a:srgbClr val="000000">
                <a:alpha val="7999"/>
              </a:srgbClr>
            </a:outerShdw>
          </a:effectLst>
        </p:spPr>
        <p:txBody>
          <a:bodyPr wrap="square" anchor="t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l"/>
            <a:r>
              <a:rPr lang="en-US" altLang="zh-CN" sz="1600" dirty="0">
                <a:solidFill>
                  <a:schemeClr val="accent4"/>
                </a:solidFill>
                <a:latin typeface="+mn-ea"/>
                <a:ea typeface="+mn-ea"/>
                <a:cs typeface="+mj-ea"/>
                <a:sym typeface="+mn-ea"/>
              </a:rPr>
              <a:t>print('</a:t>
            </a:r>
            <a:r>
              <a:rPr lang="zh-CN" altLang="en-US" sz="1600" dirty="0">
                <a:solidFill>
                  <a:schemeClr val="accent4"/>
                </a:solidFill>
                <a:latin typeface="+mn-ea"/>
                <a:ea typeface="+mn-ea"/>
                <a:cs typeface="+mj-ea"/>
                <a:sym typeface="+mn-ea"/>
              </a:rPr>
              <a:t>欢迎进入双色球</a:t>
            </a:r>
            <a:r>
              <a:rPr lang="en-US" altLang="zh-CN" sz="1600" dirty="0">
                <a:solidFill>
                  <a:schemeClr val="accent4"/>
                </a:solidFill>
                <a:latin typeface="+mn-ea"/>
                <a:ea typeface="+mn-ea"/>
                <a:cs typeface="+mj-ea"/>
                <a:sym typeface="+mn-ea"/>
              </a:rPr>
              <a:t>')</a:t>
            </a:r>
            <a:endParaRPr lang="en-US" altLang="zh-CN" sz="1600" dirty="0">
              <a:solidFill>
                <a:schemeClr val="accent4"/>
              </a:solidFill>
              <a:latin typeface="+mn-ea"/>
              <a:ea typeface="+mn-ea"/>
              <a:cs typeface="+mj-ea"/>
              <a:sym typeface="+mn-ea"/>
            </a:endParaRPr>
          </a:p>
          <a:p>
            <a:pPr algn="l"/>
            <a:r>
              <a:rPr lang="en-US" altLang="zh-CN" sz="1600" dirty="0">
                <a:ln w="0"/>
                <a:solidFill>
                  <a:schemeClr val="accent1"/>
                </a:solidFill>
                <a:latin typeface="+mn-ea"/>
                <a:ea typeface="+mn-ea"/>
                <a:cs typeface="+mj-ea"/>
                <a:sym typeface="+mn-ea"/>
              </a:rPr>
              <a:t># </a:t>
            </a:r>
            <a:r>
              <a:rPr lang="zh-CN" altLang="en-US" sz="1600" dirty="0">
                <a:ln w="0"/>
                <a:solidFill>
                  <a:schemeClr val="accent1"/>
                </a:solidFill>
                <a:latin typeface="+mn-ea"/>
                <a:ea typeface="+mn-ea"/>
                <a:cs typeface="+mj-ea"/>
                <a:sym typeface="+mn-ea"/>
              </a:rPr>
              <a:t>存储彩民选出的一组红球</a:t>
            </a:r>
            <a:endParaRPr lang="zh-CN" altLang="en-US" sz="1600" dirty="0">
              <a:ln w="0"/>
              <a:solidFill>
                <a:schemeClr val="accent1"/>
              </a:solidFill>
              <a:latin typeface="+mn-ea"/>
              <a:ea typeface="+mn-ea"/>
              <a:cs typeface="+mj-ea"/>
              <a:sym typeface="+mn-ea"/>
            </a:endParaRPr>
          </a:p>
          <a:p>
            <a:pPr algn="l"/>
            <a:r>
              <a:rPr lang="en-US" altLang="zh-CN" sz="1600" dirty="0">
                <a:solidFill>
                  <a:schemeClr val="accent4"/>
                </a:solidFill>
                <a:latin typeface="+mn-ea"/>
                <a:ea typeface="+mn-ea"/>
                <a:cs typeface="+mj-ea"/>
                <a:sym typeface="+mn-ea"/>
              </a:rPr>
              <a:t>your_red_balls = set()</a:t>
            </a:r>
            <a:endParaRPr lang="en-US" altLang="zh-CN" sz="1600" dirty="0">
              <a:solidFill>
                <a:schemeClr val="accent4"/>
              </a:solidFill>
              <a:latin typeface="+mn-ea"/>
              <a:ea typeface="+mn-ea"/>
              <a:cs typeface="+mj-ea"/>
              <a:sym typeface="+mn-ea"/>
            </a:endParaRPr>
          </a:p>
          <a:p>
            <a:pPr algn="l"/>
            <a:r>
              <a:rPr lang="en-US" altLang="zh-CN" sz="1600" dirty="0">
                <a:ln w="0"/>
                <a:solidFill>
                  <a:schemeClr val="accent1"/>
                </a:solidFill>
                <a:latin typeface="+mn-ea"/>
                <a:ea typeface="+mn-ea"/>
                <a:cs typeface="+mj-ea"/>
                <a:sym typeface="+mn-ea"/>
              </a:rPr>
              <a:t># </a:t>
            </a:r>
            <a:r>
              <a:rPr lang="zh-CN" altLang="en-US" sz="1600" dirty="0">
                <a:ln w="0"/>
                <a:solidFill>
                  <a:schemeClr val="accent1"/>
                </a:solidFill>
                <a:latin typeface="+mn-ea"/>
                <a:ea typeface="+mn-ea"/>
                <a:cs typeface="+mj-ea"/>
                <a:sym typeface="+mn-ea"/>
              </a:rPr>
              <a:t>持续接受彩民的球号选择并去重</a:t>
            </a:r>
            <a:endParaRPr lang="zh-CN" altLang="en-US" sz="1600" dirty="0">
              <a:ln w="0"/>
              <a:solidFill>
                <a:schemeClr val="accent1"/>
              </a:solidFill>
              <a:latin typeface="+mn-ea"/>
              <a:ea typeface="+mn-ea"/>
              <a:cs typeface="+mj-ea"/>
              <a:sym typeface="+mn-ea"/>
            </a:endParaRPr>
          </a:p>
          <a:p>
            <a:pPr algn="l"/>
            <a:r>
              <a:rPr lang="en-US" altLang="zh-CN" sz="1600" dirty="0">
                <a:solidFill>
                  <a:schemeClr val="accent4"/>
                </a:solidFill>
                <a:latin typeface="+mn-ea"/>
                <a:ea typeface="+mn-ea"/>
                <a:cs typeface="+mj-ea"/>
                <a:sym typeface="+mn-ea"/>
              </a:rPr>
              <a:t>while True:</a:t>
            </a:r>
            <a:endParaRPr lang="en-US" altLang="zh-CN" sz="1600" dirty="0">
              <a:solidFill>
                <a:schemeClr val="accent4"/>
              </a:solidFill>
              <a:latin typeface="+mn-ea"/>
              <a:ea typeface="+mn-ea"/>
              <a:cs typeface="+mj-ea"/>
              <a:sym typeface="+mn-ea"/>
            </a:endParaRPr>
          </a:p>
          <a:p>
            <a:pPr algn="l"/>
            <a:r>
              <a:rPr lang="en-US" altLang="zh-CN" sz="1600" dirty="0">
                <a:solidFill>
                  <a:schemeClr val="accent4"/>
                </a:solidFill>
                <a:latin typeface="+mn-ea"/>
                <a:ea typeface="+mn-ea"/>
                <a:cs typeface="+mj-ea"/>
                <a:sym typeface="+mn-ea"/>
              </a:rPr>
              <a:t>    your_red = int(input('</a:t>
            </a:r>
            <a:r>
              <a:rPr lang="zh-CN" altLang="en-US" sz="1600" dirty="0">
                <a:solidFill>
                  <a:schemeClr val="accent4"/>
                </a:solidFill>
                <a:latin typeface="+mn-ea"/>
                <a:ea typeface="+mn-ea"/>
                <a:cs typeface="+mj-ea"/>
                <a:sym typeface="+mn-ea"/>
              </a:rPr>
              <a:t>请输入你选择的红球数字：</a:t>
            </a:r>
            <a:r>
              <a:rPr lang="en-US" altLang="zh-CN" sz="1600" dirty="0">
                <a:solidFill>
                  <a:schemeClr val="accent4"/>
                </a:solidFill>
                <a:latin typeface="+mn-ea"/>
                <a:ea typeface="+mn-ea"/>
                <a:cs typeface="+mj-ea"/>
                <a:sym typeface="+mn-ea"/>
              </a:rPr>
              <a:t>').strip())</a:t>
            </a:r>
            <a:endParaRPr lang="en-US" altLang="zh-CN" sz="1600" dirty="0">
              <a:solidFill>
                <a:schemeClr val="accent4"/>
              </a:solidFill>
              <a:latin typeface="+mn-ea"/>
              <a:ea typeface="+mn-ea"/>
              <a:cs typeface="+mj-ea"/>
              <a:sym typeface="+mn-ea"/>
            </a:endParaRPr>
          </a:p>
          <a:p>
            <a:pPr algn="l"/>
            <a:r>
              <a:rPr lang="en-US" altLang="zh-CN" sz="1600" dirty="0">
                <a:solidFill>
                  <a:schemeClr val="accent4"/>
                </a:solidFill>
                <a:latin typeface="+mn-ea"/>
                <a:ea typeface="+mn-ea"/>
                <a:cs typeface="+mj-ea"/>
                <a:sym typeface="+mn-ea"/>
              </a:rPr>
              <a:t>    </a:t>
            </a:r>
            <a:r>
              <a:rPr lang="en-US" altLang="zh-CN" sz="1600" dirty="0" err="1">
                <a:solidFill>
                  <a:schemeClr val="accent4"/>
                </a:solidFill>
                <a:latin typeface="+mn-ea"/>
                <a:ea typeface="+mn-ea"/>
                <a:cs typeface="+mj-ea"/>
                <a:sym typeface="+mn-ea"/>
              </a:rPr>
              <a:t>your_red_balls.add</a:t>
            </a:r>
            <a:r>
              <a:rPr lang="en-US" altLang="zh-CN" sz="1600" dirty="0">
                <a:solidFill>
                  <a:schemeClr val="accent4"/>
                </a:solidFill>
                <a:latin typeface="+mn-ea"/>
                <a:ea typeface="+mn-ea"/>
                <a:cs typeface="+mj-ea"/>
                <a:sym typeface="+mn-ea"/>
              </a:rPr>
              <a:t>(</a:t>
            </a:r>
            <a:r>
              <a:rPr lang="en-US" altLang="zh-CN" sz="1600" dirty="0" err="1">
                <a:solidFill>
                  <a:schemeClr val="accent4"/>
                </a:solidFill>
                <a:latin typeface="+mn-ea"/>
                <a:ea typeface="+mn-ea"/>
                <a:cs typeface="+mj-ea"/>
                <a:sym typeface="+mn-ea"/>
              </a:rPr>
              <a:t>your_red</a:t>
            </a:r>
            <a:r>
              <a:rPr lang="en-US" altLang="zh-CN" sz="1600" dirty="0">
                <a:solidFill>
                  <a:schemeClr val="accent4"/>
                </a:solidFill>
                <a:latin typeface="+mn-ea"/>
                <a:ea typeface="+mn-ea"/>
                <a:cs typeface="+mj-ea"/>
                <a:sym typeface="+mn-ea"/>
              </a:rPr>
              <a:t>)</a:t>
            </a:r>
            <a:endParaRPr lang="en-US" altLang="zh-CN" sz="1600" dirty="0">
              <a:solidFill>
                <a:schemeClr val="accent4"/>
              </a:solidFill>
              <a:latin typeface="+mn-ea"/>
              <a:ea typeface="+mn-ea"/>
              <a:cs typeface="+mj-ea"/>
              <a:sym typeface="+mn-ea"/>
            </a:endParaRPr>
          </a:p>
          <a:p>
            <a:pPr algn="l"/>
            <a:r>
              <a:rPr lang="en-US" altLang="zh-CN" sz="1600" dirty="0">
                <a:solidFill>
                  <a:schemeClr val="accent4"/>
                </a:solidFill>
                <a:latin typeface="+mn-ea"/>
                <a:ea typeface="+mn-ea"/>
                <a:cs typeface="+mj-ea"/>
                <a:sym typeface="+mn-ea"/>
              </a:rPr>
              <a:t>    </a:t>
            </a:r>
            <a:r>
              <a:rPr lang="en-US" altLang="zh-CN" sz="1600" dirty="0">
                <a:ln w="0"/>
                <a:solidFill>
                  <a:schemeClr val="accent1"/>
                </a:solidFill>
                <a:latin typeface="+mn-ea"/>
                <a:ea typeface="+mn-ea"/>
                <a:cs typeface="+mj-ea"/>
                <a:sym typeface="+mn-ea"/>
              </a:rPr>
              <a:t># </a:t>
            </a:r>
            <a:r>
              <a:rPr lang="zh-CN" altLang="en-US" sz="1600" dirty="0">
                <a:ln w="0"/>
                <a:solidFill>
                  <a:schemeClr val="accent1"/>
                </a:solidFill>
                <a:latin typeface="+mn-ea"/>
                <a:ea typeface="+mn-ea"/>
                <a:cs typeface="+mj-ea"/>
                <a:sym typeface="+mn-ea"/>
              </a:rPr>
              <a:t>直到不同的数字选择达到了</a:t>
            </a:r>
            <a:r>
              <a:rPr lang="en-US" altLang="zh-CN" sz="1600" dirty="0">
                <a:ln w="0"/>
                <a:solidFill>
                  <a:schemeClr val="accent1"/>
                </a:solidFill>
                <a:latin typeface="+mn-ea"/>
                <a:ea typeface="+mn-ea"/>
                <a:cs typeface="+mj-ea"/>
                <a:sym typeface="+mn-ea"/>
              </a:rPr>
              <a:t>6</a:t>
            </a:r>
            <a:r>
              <a:rPr lang="zh-CN" altLang="en-US" sz="1600" dirty="0">
                <a:ln w="0"/>
                <a:solidFill>
                  <a:schemeClr val="accent1"/>
                </a:solidFill>
                <a:latin typeface="+mn-ea"/>
                <a:ea typeface="+mn-ea"/>
                <a:cs typeface="+mj-ea"/>
                <a:sym typeface="+mn-ea"/>
              </a:rPr>
              <a:t>个</a:t>
            </a:r>
            <a:endParaRPr lang="zh-CN" altLang="en-US" sz="1600" dirty="0">
              <a:ln w="0"/>
              <a:solidFill>
                <a:schemeClr val="accent1"/>
              </a:solidFill>
              <a:latin typeface="+mn-ea"/>
              <a:ea typeface="+mn-ea"/>
              <a:cs typeface="+mj-ea"/>
              <a:sym typeface="+mn-ea"/>
            </a:endParaRPr>
          </a:p>
          <a:p>
            <a:pPr algn="l"/>
            <a:r>
              <a:rPr lang="zh-CN" altLang="en-US" sz="1600" dirty="0">
                <a:solidFill>
                  <a:schemeClr val="accent4"/>
                </a:solidFill>
                <a:latin typeface="+mn-ea"/>
                <a:ea typeface="+mn-ea"/>
                <a:cs typeface="+mj-ea"/>
                <a:sym typeface="+mn-ea"/>
              </a:rPr>
              <a:t>    </a:t>
            </a:r>
            <a:r>
              <a:rPr lang="en-US" altLang="zh-CN" sz="1600" dirty="0">
                <a:solidFill>
                  <a:schemeClr val="accent4"/>
                </a:solidFill>
                <a:latin typeface="+mn-ea"/>
                <a:ea typeface="+mn-ea"/>
                <a:cs typeface="+mj-ea"/>
                <a:sym typeface="+mn-ea"/>
              </a:rPr>
              <a:t>if len(your_red_balls ) &gt;= 6:</a:t>
            </a:r>
            <a:endParaRPr lang="en-US" altLang="zh-CN" sz="1600" dirty="0">
              <a:solidFill>
                <a:schemeClr val="accent4"/>
              </a:solidFill>
              <a:latin typeface="+mn-ea"/>
              <a:ea typeface="+mn-ea"/>
              <a:cs typeface="+mj-ea"/>
              <a:sym typeface="+mn-ea"/>
            </a:endParaRPr>
          </a:p>
          <a:p>
            <a:pPr algn="l"/>
            <a:r>
              <a:rPr lang="en-US" altLang="zh-CN" sz="1600" dirty="0">
                <a:solidFill>
                  <a:schemeClr val="accent4"/>
                </a:solidFill>
                <a:latin typeface="+mn-ea"/>
                <a:ea typeface="+mn-ea"/>
                <a:cs typeface="+mj-ea"/>
                <a:sym typeface="+mn-ea"/>
              </a:rPr>
              <a:t>        break</a:t>
            </a:r>
            <a:endParaRPr lang="en-US" altLang="zh-CN" sz="1600" dirty="0">
              <a:solidFill>
                <a:schemeClr val="accent4"/>
              </a:solidFill>
              <a:latin typeface="+mn-ea"/>
              <a:ea typeface="+mn-ea"/>
              <a:cs typeface="+mj-ea"/>
              <a:sym typeface="+mn-ea"/>
            </a:endParaRPr>
          </a:p>
          <a:p>
            <a:pPr algn="l"/>
            <a:r>
              <a:rPr lang="en-US" altLang="zh-CN" sz="1600" dirty="0">
                <a:ln w="0"/>
                <a:solidFill>
                  <a:schemeClr val="accent1"/>
                </a:solidFill>
                <a:latin typeface="+mn-ea"/>
                <a:ea typeface="+mn-ea"/>
                <a:cs typeface="+mj-ea"/>
                <a:sym typeface="+mn-ea"/>
              </a:rPr>
              <a:t>print('</a:t>
            </a:r>
            <a:r>
              <a:rPr lang="zh-CN" altLang="en-US" sz="1600" dirty="0">
                <a:ln w="0"/>
                <a:solidFill>
                  <a:schemeClr val="accent1"/>
                </a:solidFill>
                <a:latin typeface="+mn-ea"/>
                <a:ea typeface="+mn-ea"/>
                <a:cs typeface="+mj-ea"/>
                <a:sym typeface="+mn-ea"/>
              </a:rPr>
              <a:t>你的选择的双色球</a:t>
            </a:r>
            <a:r>
              <a:rPr lang="en-US" altLang="zh-CN" sz="1600" dirty="0">
                <a:ln w="0"/>
                <a:solidFill>
                  <a:schemeClr val="accent1"/>
                </a:solidFill>
                <a:latin typeface="+mn-ea"/>
                <a:ea typeface="+mn-ea"/>
                <a:cs typeface="+mj-ea"/>
                <a:sym typeface="+mn-ea"/>
              </a:rPr>
              <a:t>:')</a:t>
            </a:r>
            <a:endParaRPr lang="en-US" altLang="zh-CN" sz="1600" dirty="0">
              <a:ln w="0"/>
              <a:solidFill>
                <a:schemeClr val="accent1"/>
              </a:solidFill>
              <a:latin typeface="+mn-ea"/>
              <a:ea typeface="+mn-ea"/>
              <a:cs typeface="+mj-ea"/>
              <a:sym typeface="+mn-ea"/>
            </a:endParaRPr>
          </a:p>
          <a:p>
            <a:pPr algn="l"/>
            <a:r>
              <a:rPr lang="en-US" altLang="zh-CN" sz="1600" dirty="0">
                <a:solidFill>
                  <a:schemeClr val="accent4"/>
                </a:solidFill>
                <a:latin typeface="+mn-ea"/>
                <a:ea typeface="+mn-ea"/>
                <a:cs typeface="+mj-ea"/>
                <a:sym typeface="+mn-ea"/>
              </a:rPr>
              <a:t>print(your_red_balls )</a:t>
            </a:r>
            <a:endParaRPr lang="en-US" altLang="zh-CN" sz="1600" dirty="0">
              <a:solidFill>
                <a:schemeClr val="accent4"/>
              </a:solidFill>
              <a:latin typeface="+mn-ea"/>
              <a:ea typeface="+mn-ea"/>
              <a:cs typeface="+mj-ea"/>
              <a:sym typeface="+mn-ea"/>
            </a:endParaRPr>
          </a:p>
        </p:txBody>
      </p:sp>
      <p:sp>
        <p:nvSpPr>
          <p:cNvPr id="6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7" name="文本框 3"/>
          <p:cNvSpPr txBox="1"/>
          <p:nvPr/>
        </p:nvSpPr>
        <p:spPr>
          <a:xfrm>
            <a:off x="251520" y="732810"/>
            <a:ext cx="7404556" cy="4001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手选方案代码实现</a:t>
            </a:r>
            <a:endParaRPr lang="zh-CN" altLang="en-US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</p:spPr>
        <p:txBody>
          <a:bodyPr/>
          <a:lstStyle/>
          <a:p>
            <a:r>
              <a:rPr lang="zh-CN" altLang="en-US" dirty="0"/>
              <a:t>如何实现双色球案例</a:t>
            </a:r>
            <a:endParaRPr lang="zh-CN" altLang="en-US" dirty="0"/>
          </a:p>
        </p:txBody>
      </p:sp>
      <p:sp>
        <p:nvSpPr>
          <p:cNvPr id="6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16385" name="Picture 1" descr="C:\Users\Administrator\AppData\Roaming\Tencent\Users\499232999\QQ\WinTemp\RichOle\H0`B~R2E8_{M(F$PRZJ@7YS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551867"/>
            <a:ext cx="3366116" cy="2748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3"/>
          <p:cNvSpPr txBox="1"/>
          <p:nvPr/>
        </p:nvSpPr>
        <p:spPr>
          <a:xfrm>
            <a:off x="251520" y="732810"/>
            <a:ext cx="7404556" cy="4001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手选方案运行结果</a:t>
            </a:r>
            <a:endParaRPr lang="zh-CN" altLang="en-US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3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3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如何实现双色球案例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323528" y="732810"/>
            <a:ext cx="7404556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思路讲解</a:t>
            </a:r>
            <a:r>
              <a:rPr lang="en-US" altLang="zh-CN" sz="2000" dirty="0">
                <a:solidFill>
                  <a:srgbClr val="0070C0"/>
                </a:solidFill>
                <a:latin typeface="+mn-ea"/>
                <a:ea typeface="+mn-ea"/>
              </a:rPr>
              <a:t>(</a:t>
            </a: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机选方案</a:t>
            </a:r>
            <a:r>
              <a:rPr lang="en-US" altLang="zh-CN" sz="2000" dirty="0">
                <a:solidFill>
                  <a:srgbClr val="0070C0"/>
                </a:solidFill>
                <a:latin typeface="+mn-ea"/>
                <a:ea typeface="+mn-ea"/>
              </a:rPr>
              <a:t>)</a:t>
            </a:r>
            <a:endParaRPr lang="zh-CN" altLang="en-US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27584" y="2822614"/>
            <a:ext cx="7404556" cy="17543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zh-CN" altLang="en-US" dirty="0">
                <a:ln w="0"/>
                <a:solidFill>
                  <a:schemeClr val="accent1"/>
                </a:solidFill>
                <a:ea typeface="微软雅黑" panose="020B0503020204020204" pitchFamily="34" charset="-122"/>
              </a:rPr>
              <a:t>建立结果集用户存储用户输入</a:t>
            </a:r>
            <a:endParaRPr lang="en-US" altLang="zh-CN" dirty="0">
              <a:ln w="0"/>
              <a:solidFill>
                <a:schemeClr val="accent1"/>
              </a:solidFill>
              <a:ea typeface="微软雅黑" panose="020B0503020204020204" pitchFamily="34" charset="-122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CN" altLang="en-US" dirty="0">
                <a:ln w="0"/>
                <a:solidFill>
                  <a:schemeClr val="accent1"/>
                </a:solidFill>
                <a:ea typeface="微软雅黑" panose="020B0503020204020204" pitchFamily="34" charset="-122"/>
              </a:rPr>
              <a:t>建立</a:t>
            </a:r>
            <a:r>
              <a:rPr lang="en-US" altLang="zh-CN" dirty="0">
                <a:ln w="0"/>
                <a:solidFill>
                  <a:schemeClr val="accent1"/>
                </a:solidFill>
                <a:ea typeface="微软雅黑" panose="020B0503020204020204" pitchFamily="34" charset="-122"/>
              </a:rPr>
              <a:t>34</a:t>
            </a:r>
            <a:r>
              <a:rPr lang="zh-CN" altLang="en-US" dirty="0">
                <a:ln w="0"/>
                <a:solidFill>
                  <a:schemeClr val="accent1"/>
                </a:solidFill>
                <a:ea typeface="微软雅黑" panose="020B0503020204020204" pitchFamily="34" charset="-122"/>
              </a:rPr>
              <a:t>个备选红球组成的列表</a:t>
            </a:r>
            <a:endParaRPr lang="en-US" altLang="zh-CN" dirty="0">
              <a:ln w="0"/>
              <a:solidFill>
                <a:schemeClr val="accent1"/>
              </a:solidFill>
              <a:ea typeface="微软雅黑" panose="020B0503020204020204" pitchFamily="34" charset="-122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CN" altLang="en-US" dirty="0">
                <a:ln w="0"/>
                <a:solidFill>
                  <a:schemeClr val="accent1"/>
                </a:solidFill>
                <a:ea typeface="微软雅黑" panose="020B0503020204020204" pitchFamily="34" charset="-122"/>
              </a:rPr>
              <a:t>循环从备选列表中抽取红球</a:t>
            </a:r>
            <a:endParaRPr lang="en-US" altLang="zh-CN" dirty="0">
              <a:ln w="0"/>
              <a:solidFill>
                <a:schemeClr val="accent1"/>
              </a:solidFill>
              <a:ea typeface="微软雅黑" panose="020B0503020204020204" pitchFamily="34" charset="-122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CN" altLang="en-US" dirty="0">
                <a:ln w="0"/>
                <a:solidFill>
                  <a:schemeClr val="accent1"/>
                </a:solidFill>
                <a:ea typeface="微软雅黑" panose="020B0503020204020204" pitchFamily="34" charset="-122"/>
              </a:rPr>
              <a:t>利用结果集去重</a:t>
            </a:r>
            <a:endParaRPr lang="en-US" altLang="zh-CN" dirty="0">
              <a:ln w="0"/>
              <a:solidFill>
                <a:schemeClr val="accent1"/>
              </a:solidFill>
              <a:ea typeface="微软雅黑" panose="020B0503020204020204" pitchFamily="34" charset="-122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CN" altLang="en-US" dirty="0">
                <a:ln w="0"/>
                <a:solidFill>
                  <a:schemeClr val="accent1"/>
                </a:solidFill>
                <a:ea typeface="微软雅黑" panose="020B0503020204020204" pitchFamily="34" charset="-122"/>
              </a:rPr>
              <a:t>结果集满足</a:t>
            </a:r>
            <a:r>
              <a:rPr lang="en-US" altLang="zh-CN" dirty="0">
                <a:ln w="0"/>
                <a:solidFill>
                  <a:schemeClr val="accent1"/>
                </a:solidFill>
                <a:ea typeface="微软雅黑" panose="020B0503020204020204" pitchFamily="34" charset="-122"/>
              </a:rPr>
              <a:t>6</a:t>
            </a:r>
            <a:r>
              <a:rPr lang="zh-CN" altLang="en-US" dirty="0">
                <a:ln w="0"/>
                <a:solidFill>
                  <a:schemeClr val="accent1"/>
                </a:solidFill>
                <a:ea typeface="微软雅黑" panose="020B0503020204020204" pitchFamily="34" charset="-122"/>
              </a:rPr>
              <a:t>个球号的时候就停止循环</a:t>
            </a:r>
            <a:endParaRPr lang="en-US" altLang="zh-CN" dirty="0">
              <a:ln w="0"/>
              <a:solidFill>
                <a:schemeClr val="accent1"/>
              </a:solidFill>
              <a:ea typeface="微软雅黑" panose="020B0503020204020204" pitchFamily="34" charset="-122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CN" altLang="en-US" dirty="0">
                <a:ln w="0"/>
                <a:solidFill>
                  <a:schemeClr val="accent1"/>
                </a:solidFill>
                <a:ea typeface="微软雅黑" panose="020B0503020204020204" pitchFamily="34" charset="-122"/>
              </a:rPr>
              <a:t>打印用户选出的结果</a:t>
            </a:r>
            <a:endParaRPr lang="zh-CN" dirty="0">
              <a:ln w="0"/>
              <a:solidFill>
                <a:schemeClr val="accent1"/>
              </a:solidFill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983" y="1406311"/>
            <a:ext cx="4399089" cy="1136101"/>
          </a:xfrm>
          <a:prstGeom prst="rect">
            <a:avLst/>
          </a:prstGeom>
        </p:spPr>
      </p:pic>
      <p:sp>
        <p:nvSpPr>
          <p:cNvPr id="6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</p:spPr>
        <p:txBody>
          <a:bodyPr/>
          <a:lstStyle/>
          <a:p>
            <a:r>
              <a:rPr lang="zh-CN" altLang="en-US" dirty="0"/>
              <a:t>如何实现双色球案例</a:t>
            </a:r>
            <a:endParaRPr lang="zh-CN" altLang="en-US" dirty="0"/>
          </a:p>
        </p:txBody>
      </p:sp>
      <p:sp>
        <p:nvSpPr>
          <p:cNvPr id="5" name="AutoShape 2"/>
          <p:cNvSpPr/>
          <p:nvPr/>
        </p:nvSpPr>
        <p:spPr>
          <a:xfrm>
            <a:off x="755576" y="1491630"/>
            <a:ext cx="6984776" cy="2893100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28575" cap="flat" cmpd="sng">
            <a:solidFill>
              <a:srgbClr val="11A8FF"/>
            </a:solidFill>
            <a:prstDash val="solid"/>
            <a:miter/>
            <a:headEnd type="none" w="med" len="med"/>
            <a:tailEnd type="none" w="med" len="med"/>
          </a:ln>
          <a:effectLst>
            <a:outerShdw sx="100999" sy="100999" algn="ctr" rotWithShape="0">
              <a:srgbClr val="000000">
                <a:alpha val="7999"/>
              </a:srgbClr>
            </a:outerShdw>
          </a:effectLst>
        </p:spPr>
        <p:txBody>
          <a:bodyPr wrap="square" anchor="t">
            <a:spAutoFit/>
          </a:bodyPr>
          <a:lstStyle/>
          <a:p>
            <a:pPr marL="0" indent="0" algn="l"/>
            <a:r>
              <a:rPr lang="en-US" altLang="zh-CN" sz="1400" dirty="0">
                <a:ln w="0"/>
                <a:solidFill>
                  <a:schemeClr val="accent1"/>
                </a:solidFill>
                <a:latin typeface="+mn-ea"/>
                <a:ea typeface="+mn-ea"/>
              </a:rPr>
              <a:t># </a:t>
            </a:r>
            <a:r>
              <a:rPr lang="zh-CN" altLang="en-US" sz="1400" dirty="0">
                <a:ln w="0"/>
                <a:solidFill>
                  <a:schemeClr val="accent1"/>
                </a:solidFill>
                <a:latin typeface="+mn-ea"/>
                <a:ea typeface="+mn-ea"/>
              </a:rPr>
              <a:t>存储机选结果</a:t>
            </a:r>
            <a:endParaRPr lang="zh-CN" altLang="en-US" sz="1400" dirty="0">
              <a:ln w="0"/>
              <a:solidFill>
                <a:schemeClr val="accent1"/>
              </a:solidFill>
              <a:latin typeface="+mn-ea"/>
              <a:ea typeface="+mn-ea"/>
            </a:endParaRPr>
          </a:p>
          <a:p>
            <a:pPr marL="0" indent="0" algn="l"/>
            <a:r>
              <a:rPr lang="en-US" altLang="zh-CN" sz="1400" dirty="0">
                <a:ln w="0"/>
                <a:latin typeface="+mn-ea"/>
                <a:ea typeface="+mn-ea"/>
              </a:rPr>
              <a:t>result_6_red_balls = set()</a:t>
            </a:r>
            <a:endParaRPr lang="en-US" altLang="zh-CN" sz="1400" dirty="0">
              <a:solidFill>
                <a:srgbClr val="000000"/>
              </a:solidFill>
              <a:latin typeface="+mn-ea"/>
              <a:ea typeface="+mn-ea"/>
            </a:endParaRPr>
          </a:p>
          <a:p>
            <a:pPr marL="0" indent="0" algn="l"/>
            <a:r>
              <a:rPr lang="en-US" altLang="zh-CN" sz="1400" dirty="0">
                <a:ln w="0"/>
                <a:solidFill>
                  <a:schemeClr val="accent1"/>
                </a:solidFill>
                <a:latin typeface="+mn-ea"/>
                <a:ea typeface="+mn-ea"/>
              </a:rPr>
              <a:t># </a:t>
            </a:r>
            <a:r>
              <a:rPr lang="zh-CN" altLang="en-US" sz="1400" dirty="0">
                <a:ln w="0"/>
                <a:solidFill>
                  <a:schemeClr val="accent1"/>
                </a:solidFill>
                <a:latin typeface="+mn-ea"/>
                <a:ea typeface="+mn-ea"/>
              </a:rPr>
              <a:t>红球列表，机选过程从中随机选</a:t>
            </a:r>
            <a:r>
              <a:rPr lang="en-US" altLang="zh-CN" sz="1400" dirty="0">
                <a:ln w="0"/>
                <a:solidFill>
                  <a:schemeClr val="accent1"/>
                </a:solidFill>
                <a:latin typeface="+mn-ea"/>
                <a:ea typeface="+mn-ea"/>
              </a:rPr>
              <a:t>6</a:t>
            </a:r>
            <a:r>
              <a:rPr lang="zh-CN" altLang="en-US" sz="1400" dirty="0">
                <a:ln w="0"/>
                <a:solidFill>
                  <a:schemeClr val="accent1"/>
                </a:solidFill>
                <a:latin typeface="+mn-ea"/>
                <a:ea typeface="+mn-ea"/>
              </a:rPr>
              <a:t>个</a:t>
            </a:r>
            <a:endParaRPr lang="zh-CN" altLang="en-US" sz="1400" dirty="0">
              <a:ln w="0"/>
              <a:solidFill>
                <a:schemeClr val="accent1"/>
              </a:solidFill>
              <a:latin typeface="+mn-ea"/>
              <a:ea typeface="+mn-ea"/>
            </a:endParaRPr>
          </a:p>
          <a:p>
            <a:pPr marL="0" indent="0" algn="l"/>
            <a:r>
              <a:rPr lang="en-US" altLang="zh-CN" sz="1400" dirty="0">
                <a:ln w="0"/>
                <a:latin typeface="+mn-ea"/>
                <a:ea typeface="+mn-ea"/>
              </a:rPr>
              <a:t>all_34_red_balls = [i for i in range(1, 34)]</a:t>
            </a:r>
            <a:endParaRPr lang="en-US" altLang="zh-CN" sz="1400" dirty="0">
              <a:solidFill>
                <a:srgbClr val="000000"/>
              </a:solidFill>
              <a:latin typeface="+mn-ea"/>
              <a:ea typeface="+mn-ea"/>
            </a:endParaRPr>
          </a:p>
          <a:p>
            <a:pPr marL="0" indent="0" algn="l"/>
            <a:r>
              <a:rPr lang="en-US" altLang="zh-CN" sz="1400" dirty="0">
                <a:solidFill>
                  <a:srgbClr val="000000"/>
                </a:solidFill>
                <a:latin typeface="+mn-ea"/>
                <a:ea typeface="+mn-ea"/>
              </a:rPr>
              <a:t>while True:</a:t>
            </a:r>
            <a:endParaRPr lang="en-US" altLang="zh-CN" sz="1400" dirty="0">
              <a:solidFill>
                <a:srgbClr val="000000"/>
              </a:solidFill>
              <a:latin typeface="+mn-ea"/>
              <a:ea typeface="+mn-ea"/>
            </a:endParaRPr>
          </a:p>
          <a:p>
            <a:pPr marL="0" indent="0" algn="l"/>
            <a:r>
              <a:rPr lang="en-US" altLang="zh-CN" sz="1400" dirty="0">
                <a:solidFill>
                  <a:srgbClr val="000000"/>
                </a:solidFill>
                <a:latin typeface="+mn-ea"/>
                <a:ea typeface="+mn-ea"/>
              </a:rPr>
              <a:t>    </a:t>
            </a:r>
            <a:r>
              <a:rPr lang="en-US" altLang="zh-CN" sz="1400" dirty="0">
                <a:ln w="0"/>
                <a:solidFill>
                  <a:schemeClr val="accent1"/>
                </a:solidFill>
                <a:latin typeface="+mn-ea"/>
                <a:ea typeface="+mn-ea"/>
              </a:rPr>
              <a:t># </a:t>
            </a:r>
            <a:r>
              <a:rPr lang="zh-CN" altLang="en-US" sz="1400" dirty="0">
                <a:ln w="0"/>
                <a:solidFill>
                  <a:schemeClr val="accent1"/>
                </a:solidFill>
                <a:latin typeface="+mn-ea"/>
                <a:ea typeface="+mn-ea"/>
              </a:rPr>
              <a:t>开始随机选择</a:t>
            </a:r>
            <a:endParaRPr lang="zh-CN" altLang="en-US" sz="1400" dirty="0">
              <a:solidFill>
                <a:srgbClr val="000000"/>
              </a:solidFill>
              <a:latin typeface="+mn-ea"/>
              <a:ea typeface="+mn-ea"/>
            </a:endParaRPr>
          </a:p>
          <a:p>
            <a:pPr marL="0" indent="0" algn="l"/>
            <a:r>
              <a:rPr lang="zh-CN" altLang="en-US" sz="1400" dirty="0">
                <a:solidFill>
                  <a:srgbClr val="000000"/>
                </a:solidFill>
                <a:latin typeface="+mn-ea"/>
                <a:ea typeface="+mn-ea"/>
              </a:rPr>
              <a:t>    </a:t>
            </a:r>
            <a:r>
              <a:rPr lang="en-US" altLang="zh-CN" sz="1400" dirty="0">
                <a:ln w="0"/>
                <a:latin typeface="+mn-ea"/>
                <a:ea typeface="+mn-ea"/>
              </a:rPr>
              <a:t>a_red_ball = </a:t>
            </a:r>
            <a:r>
              <a:rPr lang="en-US" altLang="zh-CN" sz="1400" dirty="0" err="1">
                <a:ln w="0"/>
                <a:latin typeface="+mn-ea"/>
                <a:ea typeface="+mn-ea"/>
              </a:rPr>
              <a:t>random.choice</a:t>
            </a:r>
            <a:r>
              <a:rPr lang="en-US" altLang="zh-CN" sz="1400" dirty="0">
                <a:ln w="0"/>
                <a:latin typeface="+mn-ea"/>
                <a:ea typeface="+mn-ea"/>
              </a:rPr>
              <a:t>(all_34_red_balls)</a:t>
            </a:r>
            <a:endParaRPr lang="en-US" altLang="zh-CN" sz="1400" dirty="0">
              <a:solidFill>
                <a:srgbClr val="000000"/>
              </a:solidFill>
              <a:latin typeface="+mn-ea"/>
              <a:ea typeface="+mn-ea"/>
            </a:endParaRPr>
          </a:p>
          <a:p>
            <a:pPr marL="0" indent="0" algn="l"/>
            <a:r>
              <a:rPr lang="en-US" altLang="zh-CN" sz="1400" dirty="0">
                <a:solidFill>
                  <a:srgbClr val="000000"/>
                </a:solidFill>
                <a:latin typeface="+mn-ea"/>
                <a:ea typeface="+mn-ea"/>
              </a:rPr>
              <a:t>    </a:t>
            </a:r>
            <a:r>
              <a:rPr lang="en-US" altLang="zh-CN" sz="1400" dirty="0">
                <a:ln w="0"/>
                <a:solidFill>
                  <a:schemeClr val="accent1"/>
                </a:solidFill>
                <a:latin typeface="+mn-ea"/>
                <a:ea typeface="+mn-ea"/>
              </a:rPr>
              <a:t># </a:t>
            </a:r>
            <a:r>
              <a:rPr lang="zh-CN" altLang="en-US" sz="1400" dirty="0">
                <a:ln w="0"/>
                <a:solidFill>
                  <a:schemeClr val="accent1"/>
                </a:solidFill>
                <a:latin typeface="+mn-ea"/>
                <a:ea typeface="+mn-ea"/>
              </a:rPr>
              <a:t>加入结果集合并去重</a:t>
            </a:r>
            <a:endParaRPr lang="zh-CN" altLang="en-US" sz="1400" dirty="0">
              <a:solidFill>
                <a:srgbClr val="000000"/>
              </a:solidFill>
              <a:latin typeface="+mn-ea"/>
              <a:ea typeface="+mn-ea"/>
            </a:endParaRPr>
          </a:p>
          <a:p>
            <a:pPr marL="0" indent="0" algn="l"/>
            <a:r>
              <a:rPr lang="zh-CN" altLang="en-US" sz="1400" dirty="0">
                <a:solidFill>
                  <a:srgbClr val="000000"/>
                </a:solidFill>
                <a:latin typeface="+mn-ea"/>
                <a:ea typeface="+mn-ea"/>
              </a:rPr>
              <a:t>    </a:t>
            </a:r>
            <a:r>
              <a:rPr lang="en-US" altLang="zh-CN" sz="1400" dirty="0">
                <a:ln w="0"/>
                <a:latin typeface="+mn-ea"/>
                <a:ea typeface="+mn-ea"/>
              </a:rPr>
              <a:t>result_6_red_balls.add(</a:t>
            </a:r>
            <a:r>
              <a:rPr lang="en-US" altLang="zh-CN" sz="1400" dirty="0" err="1">
                <a:ln w="0"/>
                <a:latin typeface="+mn-ea"/>
                <a:ea typeface="+mn-ea"/>
              </a:rPr>
              <a:t>a_red_ball</a:t>
            </a:r>
            <a:r>
              <a:rPr lang="en-US" altLang="zh-CN" sz="1400" dirty="0">
                <a:ln w="0"/>
                <a:latin typeface="+mn-ea"/>
                <a:ea typeface="+mn-ea"/>
              </a:rPr>
              <a:t>)</a:t>
            </a:r>
            <a:endParaRPr lang="en-US" altLang="zh-CN" sz="1400" dirty="0">
              <a:solidFill>
                <a:srgbClr val="000000"/>
              </a:solidFill>
              <a:latin typeface="+mn-ea"/>
              <a:ea typeface="+mn-ea"/>
            </a:endParaRPr>
          </a:p>
          <a:p>
            <a:pPr marL="0" indent="0" algn="l"/>
            <a:r>
              <a:rPr lang="en-US" altLang="zh-CN" sz="1400" dirty="0">
                <a:solidFill>
                  <a:srgbClr val="000000"/>
                </a:solidFill>
                <a:latin typeface="+mn-ea"/>
                <a:ea typeface="+mn-ea"/>
              </a:rPr>
              <a:t>    </a:t>
            </a:r>
            <a:r>
              <a:rPr lang="en-US" altLang="zh-CN" sz="1400" dirty="0">
                <a:ln w="0"/>
                <a:solidFill>
                  <a:schemeClr val="accent1"/>
                </a:solidFill>
                <a:latin typeface="+mn-ea"/>
                <a:ea typeface="+mn-ea"/>
              </a:rPr>
              <a:t># </a:t>
            </a:r>
            <a:r>
              <a:rPr lang="zh-CN" altLang="en-US" sz="1400" dirty="0">
                <a:ln w="0"/>
                <a:solidFill>
                  <a:schemeClr val="accent1"/>
                </a:solidFill>
                <a:latin typeface="+mn-ea"/>
                <a:ea typeface="+mn-ea"/>
              </a:rPr>
              <a:t>检查结果集大小是否满足机选要求</a:t>
            </a:r>
            <a:endParaRPr lang="zh-CN" altLang="en-US" sz="1400" dirty="0">
              <a:solidFill>
                <a:srgbClr val="000000"/>
              </a:solidFill>
              <a:latin typeface="+mn-ea"/>
              <a:ea typeface="+mn-ea"/>
            </a:endParaRPr>
          </a:p>
          <a:p>
            <a:pPr marL="0" indent="0" algn="l"/>
            <a:r>
              <a:rPr lang="zh-CN" altLang="en-US" sz="1400" dirty="0">
                <a:solidFill>
                  <a:srgbClr val="000000"/>
                </a:solidFill>
                <a:latin typeface="+mn-ea"/>
                <a:ea typeface="+mn-ea"/>
              </a:rPr>
              <a:t>    </a:t>
            </a:r>
            <a:r>
              <a:rPr lang="en-US" altLang="zh-CN" sz="1400" dirty="0">
                <a:ln w="0"/>
                <a:latin typeface="+mn-ea"/>
                <a:ea typeface="+mn-ea"/>
              </a:rPr>
              <a:t>if len(result_6_red_balls) &gt;= 6:</a:t>
            </a:r>
            <a:endParaRPr lang="en-US" altLang="zh-CN" sz="1400" dirty="0">
              <a:ln w="0"/>
              <a:latin typeface="+mn-ea"/>
              <a:ea typeface="+mn-ea"/>
            </a:endParaRPr>
          </a:p>
          <a:p>
            <a:pPr marL="0" indent="0" algn="l"/>
            <a:r>
              <a:rPr lang="en-US" altLang="zh-CN" sz="1400" dirty="0">
                <a:ln w="0"/>
                <a:latin typeface="+mn-ea"/>
                <a:ea typeface="+mn-ea"/>
              </a:rPr>
              <a:t>        break</a:t>
            </a:r>
            <a:endParaRPr lang="en-US" altLang="zh-CN" sz="1400" dirty="0">
              <a:solidFill>
                <a:srgbClr val="000000"/>
              </a:solidFill>
              <a:latin typeface="+mn-ea"/>
              <a:ea typeface="+mn-ea"/>
            </a:endParaRPr>
          </a:p>
          <a:p>
            <a:pPr marL="0" indent="0" algn="l"/>
            <a:r>
              <a:rPr lang="en-US" altLang="zh-CN" sz="1400" dirty="0">
                <a:ln w="0"/>
                <a:latin typeface="+mn-ea"/>
                <a:ea typeface="+mn-ea"/>
              </a:rPr>
              <a:t>print('</a:t>
            </a:r>
            <a:r>
              <a:rPr lang="zh-CN" altLang="en-US" sz="1400" dirty="0">
                <a:ln w="0"/>
                <a:latin typeface="+mn-ea"/>
                <a:ea typeface="+mn-ea"/>
              </a:rPr>
              <a:t>双色球机选红球结果</a:t>
            </a:r>
            <a:r>
              <a:rPr lang="en-US" altLang="zh-CN" sz="1400" dirty="0">
                <a:ln w="0"/>
                <a:latin typeface="+mn-ea"/>
                <a:ea typeface="+mn-ea"/>
              </a:rPr>
              <a:t>: {}'.format(result_6_red_balls))</a:t>
            </a:r>
            <a:endParaRPr lang="zh-CN" altLang="zh-CN" sz="1400" dirty="0">
              <a:ln w="0"/>
              <a:latin typeface="+mn-ea"/>
              <a:ea typeface="+mn-ea"/>
            </a:endParaRPr>
          </a:p>
        </p:txBody>
      </p:sp>
      <p:sp>
        <p:nvSpPr>
          <p:cNvPr id="4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6" name="文本框 3"/>
          <p:cNvSpPr txBox="1"/>
          <p:nvPr/>
        </p:nvSpPr>
        <p:spPr>
          <a:xfrm>
            <a:off x="251520" y="732810"/>
            <a:ext cx="7404556" cy="4001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机选方案代码实现</a:t>
            </a:r>
            <a:endParaRPr lang="zh-CN" altLang="en-US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Picture 1" descr="C:\Users\Administrator\AppData\Roaming\Tencent\Users\499232999\QQ\WinTemp\RichOle\O2DL9R_EQ~WRZ~6GW8L~_MM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260077"/>
            <a:ext cx="4706451" cy="591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</p:spPr>
        <p:txBody>
          <a:bodyPr/>
          <a:lstStyle/>
          <a:p>
            <a:r>
              <a:rPr lang="zh-CN" altLang="en-US" dirty="0"/>
              <a:t>如何实现双色球案例</a:t>
            </a:r>
            <a:endParaRPr lang="zh-CN" altLang="en-US" dirty="0"/>
          </a:p>
        </p:txBody>
      </p:sp>
      <p:pic>
        <p:nvPicPr>
          <p:cNvPr id="1026" name="Picture 2" descr="C:\Users\Administrator\Desktop\剪贴画\timg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699542"/>
            <a:ext cx="3456384" cy="3456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7" name="文本框 3"/>
          <p:cNvSpPr txBox="1"/>
          <p:nvPr/>
        </p:nvSpPr>
        <p:spPr>
          <a:xfrm>
            <a:off x="251520" y="732810"/>
            <a:ext cx="7404556" cy="4001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机选方案运行结果</a:t>
            </a:r>
            <a:endParaRPr lang="zh-CN" altLang="en-US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pPr>
              <a:defRPr/>
            </a:pPr>
            <a:r>
              <a:rPr lang="zh-CN" dirty="0"/>
              <a:t>单元总结</a:t>
            </a:r>
            <a:endParaRPr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12912" y="627534"/>
            <a:ext cx="3715072" cy="3379043"/>
          </a:xfrm>
        </p:spPr>
        <p:txBody>
          <a:bodyPr/>
          <a:lstStyle/>
          <a:p>
            <a:pPr>
              <a:defRPr/>
            </a:pP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集合的交集</a:t>
            </a:r>
            <a:endParaRPr lang="en-US" altLang="zh-CN" dirty="0">
              <a:sym typeface="+mn-ea"/>
            </a:endParaRPr>
          </a:p>
          <a:p>
            <a:pPr lvl="0"/>
            <a:r>
              <a:rPr lang="zh-CN" altLang="en-US" dirty="0"/>
              <a:t>集合的并集</a:t>
            </a:r>
            <a:endParaRPr lang="en-US" altLang="zh-CN" dirty="0"/>
          </a:p>
          <a:p>
            <a:pPr lvl="0"/>
            <a:r>
              <a:rPr lang="zh-CN" altLang="en-US" dirty="0"/>
              <a:t>集合的差集</a:t>
            </a:r>
            <a:endParaRPr lang="en-US" altLang="zh-CN" dirty="0"/>
          </a:p>
          <a:p>
            <a:pPr lvl="0"/>
            <a:r>
              <a:rPr lang="zh-CN" altLang="en-US" dirty="0"/>
              <a:t>集合的交叉补集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7010400" y="4816475"/>
            <a:ext cx="2133600" cy="274638"/>
          </a:xfrm>
        </p:spPr>
        <p:txBody>
          <a:bodyPr/>
          <a:lstStyle/>
          <a:p>
            <a:pPr>
              <a:defRPr/>
            </a:pPr>
            <a:fld id="{20A3C244-A2EA-421B-AA84-7941BACD046B}" type="slidenum">
              <a:rPr lang="zh-CN" altLang="en-US" sz="180" smtClean="0"/>
            </a:fld>
            <a:r>
              <a:rPr lang="en-US" altLang="zh-CN" sz="180"/>
              <a:t>/47</a:t>
            </a:r>
            <a:endParaRPr lang="zh-CN" altLang="en-US" sz="180" dirty="0"/>
          </a:p>
        </p:txBody>
      </p:sp>
      <p:sp>
        <p:nvSpPr>
          <p:cNvPr id="6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pPr algn="r"/>
            <a:r>
              <a:rPr lang="zh-CN" altLang="en-US" dirty="0"/>
              <a:t>概念图</a:t>
            </a:r>
            <a:endParaRPr lang="zh-CN" altLang="en-US" dirty="0"/>
          </a:p>
        </p:txBody>
      </p:sp>
      <p:pic>
        <p:nvPicPr>
          <p:cNvPr id="4" name="Picture 1" descr="C:\Users\Administrator\AppData\Roaming\Tencent\Users\499232999\QQ\WinTemp\RichOle\21@[PKA(DECYR9%Q2A0HAOF.png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599109"/>
            <a:ext cx="6120680" cy="4399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dirty="0"/>
              <a:t>作业</a:t>
            </a:r>
            <a:endParaRPr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课后作业</a:t>
            </a:r>
            <a:endParaRPr lang="en-US" dirty="0"/>
          </a:p>
          <a:p>
            <a:pPr lvl="1">
              <a:defRPr/>
            </a:pPr>
            <a:r>
              <a:rPr lang="zh-CN" altLang="en-US" dirty="0"/>
              <a:t>完成练习手册中的选择题填空题、简答题和编程题</a:t>
            </a:r>
            <a:endParaRPr lang="zh-CN" altLang="en-US" dirty="0"/>
          </a:p>
          <a:p>
            <a:pPr>
              <a:defRPr/>
            </a:pPr>
            <a:r>
              <a:rPr lang="zh-CN" altLang="en-US" dirty="0"/>
              <a:t>复习指引</a:t>
            </a:r>
            <a:endParaRPr lang="zh-CN" altLang="en-US" dirty="0"/>
          </a:p>
          <a:p>
            <a:pPr lvl="1"/>
            <a:r>
              <a:rPr lang="zh-CN" altLang="en-US" dirty="0"/>
              <a:t>理解集合的特点。</a:t>
            </a:r>
            <a:endParaRPr lang="en-US" altLang="zh-CN" dirty="0"/>
          </a:p>
          <a:p>
            <a:pPr lvl="1"/>
            <a:r>
              <a:rPr lang="zh-CN" altLang="en-US" dirty="0"/>
              <a:t>集合的增删改查操作。</a:t>
            </a:r>
            <a:endParaRPr lang="zh-CN" altLang="en-US" dirty="0"/>
          </a:p>
          <a:p>
            <a:pPr>
              <a:defRPr/>
            </a:pPr>
            <a:r>
              <a:rPr lang="zh-CN" altLang="en-US" dirty="0"/>
              <a:t>预习作业</a:t>
            </a:r>
            <a:endParaRPr lang="en-US" altLang="zh-CN" dirty="0"/>
          </a:p>
          <a:p>
            <a:pPr lvl="1"/>
            <a:r>
              <a:rPr lang="zh-CN" altLang="en-US" dirty="0"/>
              <a:t>什么是函数。</a:t>
            </a:r>
            <a:endParaRPr lang="zh-CN" altLang="en-US" dirty="0"/>
          </a:p>
          <a:p>
            <a:pPr lvl="1"/>
            <a:r>
              <a:rPr lang="zh-CN" altLang="en-US" dirty="0"/>
              <a:t>函数有哪些特点。</a:t>
            </a: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7010400" y="4816475"/>
            <a:ext cx="2133600" cy="274638"/>
          </a:xfrm>
        </p:spPr>
        <p:txBody>
          <a:bodyPr/>
          <a:lstStyle/>
          <a:p>
            <a:pPr>
              <a:defRPr/>
            </a:pPr>
            <a:fld id="{20A3C244-A2EA-421B-AA84-7941BACD046B}" type="slidenum">
              <a:rPr lang="zh-CN" altLang="en-US" sz="180" smtClean="0"/>
            </a:fld>
            <a:r>
              <a:rPr lang="en-US" altLang="zh-CN" sz="180" dirty="0"/>
              <a:t>/47</a:t>
            </a:r>
            <a:endParaRPr lang="zh-CN" altLang="en-US" sz="180" dirty="0"/>
          </a:p>
        </p:txBody>
      </p:sp>
      <p:sp>
        <p:nvSpPr>
          <p:cNvPr id="6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61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07" y="3102770"/>
            <a:ext cx="9144001" cy="2081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/>
          <p:cNvGrpSpPr/>
          <p:nvPr/>
        </p:nvGrpSpPr>
        <p:grpSpPr bwMode="auto">
          <a:xfrm>
            <a:off x="0" y="-204696"/>
            <a:ext cx="9151144" cy="3852068"/>
            <a:chOff x="0" y="107177"/>
            <a:chExt cx="9151144" cy="3852791"/>
          </a:xfrm>
        </p:grpSpPr>
        <p:sp>
          <p:nvSpPr>
            <p:cNvPr id="5" name="矩形 254"/>
            <p:cNvSpPr>
              <a:spLocks noChangeArrowheads="1"/>
            </p:cNvSpPr>
            <p:nvPr/>
          </p:nvSpPr>
          <p:spPr bwMode="auto">
            <a:xfrm>
              <a:off x="0" y="113953"/>
              <a:ext cx="9144000" cy="3846015"/>
            </a:xfrm>
            <a:custGeom>
              <a:avLst/>
              <a:gdLst>
                <a:gd name="T0" fmla="*/ 0 w 9144000"/>
                <a:gd name="T1" fmla="*/ 0 h 3846015"/>
                <a:gd name="T2" fmla="*/ 9144000 w 9144000"/>
                <a:gd name="T3" fmla="*/ 3846015 h 3846015"/>
              </a:gdLst>
              <a:ahLst/>
              <a:cxnLst/>
              <a:rect l="T0" t="T1" r="T2" b="T3"/>
              <a:pathLst>
                <a:path w="9144000" h="3846015">
                  <a:moveTo>
                    <a:pt x="0" y="0"/>
                  </a:moveTo>
                  <a:lnTo>
                    <a:pt x="9144000" y="0"/>
                  </a:lnTo>
                  <a:lnTo>
                    <a:pt x="9144000" y="3651870"/>
                  </a:lnTo>
                  <a:lnTo>
                    <a:pt x="4766144" y="3651870"/>
                  </a:lnTo>
                  <a:lnTo>
                    <a:pt x="4571999" y="3846015"/>
                  </a:lnTo>
                  <a:lnTo>
                    <a:pt x="4377855" y="3651870"/>
                  </a:lnTo>
                  <a:lnTo>
                    <a:pt x="0" y="3651870"/>
                  </a:lnTo>
                  <a:close/>
                </a:path>
              </a:pathLst>
            </a:custGeom>
            <a:solidFill>
              <a:srgbClr val="292929">
                <a:alpha val="2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" name="矩形 254"/>
            <p:cNvSpPr>
              <a:spLocks noChangeArrowheads="1"/>
            </p:cNvSpPr>
            <p:nvPr/>
          </p:nvSpPr>
          <p:spPr bwMode="auto">
            <a:xfrm>
              <a:off x="0" y="107177"/>
              <a:ext cx="9151144" cy="3738838"/>
            </a:xfrm>
            <a:custGeom>
              <a:avLst/>
              <a:gdLst>
                <a:gd name="T0" fmla="*/ 0 w 9144000"/>
                <a:gd name="T1" fmla="*/ 0 h 3846015"/>
                <a:gd name="T2" fmla="*/ 9144000 w 9144000"/>
                <a:gd name="T3" fmla="*/ 3846015 h 3846015"/>
                <a:gd name="connsiteX0" fmla="*/ 42863 w 9144000"/>
                <a:gd name="connsiteY0" fmla="*/ 643058 h 3846015"/>
                <a:gd name="connsiteX1" fmla="*/ 9144000 w 9144000"/>
                <a:gd name="connsiteY1" fmla="*/ 0 h 3846015"/>
                <a:gd name="connsiteX2" fmla="*/ 9144000 w 9144000"/>
                <a:gd name="connsiteY2" fmla="*/ 3651870 h 3846015"/>
                <a:gd name="connsiteX3" fmla="*/ 4766144 w 9144000"/>
                <a:gd name="connsiteY3" fmla="*/ 3651870 h 3846015"/>
                <a:gd name="connsiteX4" fmla="*/ 4571999 w 9144000"/>
                <a:gd name="connsiteY4" fmla="*/ 3846015 h 3846015"/>
                <a:gd name="connsiteX5" fmla="*/ 4377855 w 9144000"/>
                <a:gd name="connsiteY5" fmla="*/ 3651870 h 3846015"/>
                <a:gd name="connsiteX6" fmla="*/ 0 w 9144000"/>
                <a:gd name="connsiteY6" fmla="*/ 3651870 h 3846015"/>
                <a:gd name="connsiteX7" fmla="*/ 42863 w 9144000"/>
                <a:gd name="connsiteY7" fmla="*/ 643058 h 3846015"/>
                <a:gd name="connsiteX0-1" fmla="*/ 7145 w 9144000"/>
                <a:gd name="connsiteY0-2" fmla="*/ 121467 h 3846015"/>
                <a:gd name="connsiteX1-3" fmla="*/ 9144000 w 9144000"/>
                <a:gd name="connsiteY1-4" fmla="*/ 0 h 3846015"/>
                <a:gd name="connsiteX2-5" fmla="*/ 9144000 w 9144000"/>
                <a:gd name="connsiteY2-6" fmla="*/ 3651870 h 3846015"/>
                <a:gd name="connsiteX3-7" fmla="*/ 4766144 w 9144000"/>
                <a:gd name="connsiteY3-8" fmla="*/ 3651870 h 3846015"/>
                <a:gd name="connsiteX4-9" fmla="*/ 4571999 w 9144000"/>
                <a:gd name="connsiteY4-10" fmla="*/ 3846015 h 3846015"/>
                <a:gd name="connsiteX5-11" fmla="*/ 4377855 w 9144000"/>
                <a:gd name="connsiteY5-12" fmla="*/ 3651870 h 3846015"/>
                <a:gd name="connsiteX6-13" fmla="*/ 0 w 9144000"/>
                <a:gd name="connsiteY6-14" fmla="*/ 3651870 h 3846015"/>
                <a:gd name="connsiteX7-15" fmla="*/ 7145 w 9144000"/>
                <a:gd name="connsiteY7-16" fmla="*/ 121467 h 3846015"/>
                <a:gd name="connsiteX0-17" fmla="*/ 7145 w 9144000"/>
                <a:gd name="connsiteY0-18" fmla="*/ 0 h 3724548"/>
                <a:gd name="connsiteX1-19" fmla="*/ 8851106 w 9144000"/>
                <a:gd name="connsiteY1-20" fmla="*/ 392980 h 3724548"/>
                <a:gd name="connsiteX2-21" fmla="*/ 9144000 w 9144000"/>
                <a:gd name="connsiteY2-22" fmla="*/ 3530403 h 3724548"/>
                <a:gd name="connsiteX3-23" fmla="*/ 4766144 w 9144000"/>
                <a:gd name="connsiteY3-24" fmla="*/ 3530403 h 3724548"/>
                <a:gd name="connsiteX4-25" fmla="*/ 4571999 w 9144000"/>
                <a:gd name="connsiteY4-26" fmla="*/ 3724548 h 3724548"/>
                <a:gd name="connsiteX5-27" fmla="*/ 4377855 w 9144000"/>
                <a:gd name="connsiteY5-28" fmla="*/ 3530403 h 3724548"/>
                <a:gd name="connsiteX6-29" fmla="*/ 0 w 9144000"/>
                <a:gd name="connsiteY6-30" fmla="*/ 3530403 h 3724548"/>
                <a:gd name="connsiteX7-31" fmla="*/ 7145 w 9144000"/>
                <a:gd name="connsiteY7-32" fmla="*/ 0 h 3724548"/>
                <a:gd name="connsiteX0-33" fmla="*/ 7145 w 9151144"/>
                <a:gd name="connsiteY0-34" fmla="*/ 14290 h 3738838"/>
                <a:gd name="connsiteX1-35" fmla="*/ 9151144 w 9151144"/>
                <a:gd name="connsiteY1-36" fmla="*/ 0 h 3738838"/>
                <a:gd name="connsiteX2-37" fmla="*/ 9144000 w 9151144"/>
                <a:gd name="connsiteY2-38" fmla="*/ 3544693 h 3738838"/>
                <a:gd name="connsiteX3-39" fmla="*/ 4766144 w 9151144"/>
                <a:gd name="connsiteY3-40" fmla="*/ 3544693 h 3738838"/>
                <a:gd name="connsiteX4-41" fmla="*/ 4571999 w 9151144"/>
                <a:gd name="connsiteY4-42" fmla="*/ 3738838 h 3738838"/>
                <a:gd name="connsiteX5-43" fmla="*/ 4377855 w 9151144"/>
                <a:gd name="connsiteY5-44" fmla="*/ 3544693 h 3738838"/>
                <a:gd name="connsiteX6-45" fmla="*/ 0 w 9151144"/>
                <a:gd name="connsiteY6-46" fmla="*/ 3544693 h 3738838"/>
                <a:gd name="connsiteX7-47" fmla="*/ 7145 w 9151144"/>
                <a:gd name="connsiteY7-48" fmla="*/ 14290 h 3738838"/>
                <a:gd name="connsiteX0-49" fmla="*/ 7145 w 9151144"/>
                <a:gd name="connsiteY0-50" fmla="*/ 7145 h 3738838"/>
                <a:gd name="connsiteX1-51" fmla="*/ 9151144 w 9151144"/>
                <a:gd name="connsiteY1-52" fmla="*/ 0 h 3738838"/>
                <a:gd name="connsiteX2-53" fmla="*/ 9144000 w 9151144"/>
                <a:gd name="connsiteY2-54" fmla="*/ 3544693 h 3738838"/>
                <a:gd name="connsiteX3-55" fmla="*/ 4766144 w 9151144"/>
                <a:gd name="connsiteY3-56" fmla="*/ 3544693 h 3738838"/>
                <a:gd name="connsiteX4-57" fmla="*/ 4571999 w 9151144"/>
                <a:gd name="connsiteY4-58" fmla="*/ 3738838 h 3738838"/>
                <a:gd name="connsiteX5-59" fmla="*/ 4377855 w 9151144"/>
                <a:gd name="connsiteY5-60" fmla="*/ 3544693 h 3738838"/>
                <a:gd name="connsiteX6-61" fmla="*/ 0 w 9151144"/>
                <a:gd name="connsiteY6-62" fmla="*/ 3544693 h 3738838"/>
                <a:gd name="connsiteX7-63" fmla="*/ 7145 w 9151144"/>
                <a:gd name="connsiteY7-64" fmla="*/ 7145 h 373883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</a:cxnLst>
              <a:rect l="l" t="t" r="r" b="b"/>
              <a:pathLst>
                <a:path w="9151144" h="3738838">
                  <a:moveTo>
                    <a:pt x="7145" y="7145"/>
                  </a:moveTo>
                  <a:lnTo>
                    <a:pt x="9151144" y="0"/>
                  </a:lnTo>
                  <a:cubicBezTo>
                    <a:pt x="9148763" y="1181564"/>
                    <a:pt x="9146381" y="2363129"/>
                    <a:pt x="9144000" y="3544693"/>
                  </a:cubicBezTo>
                  <a:lnTo>
                    <a:pt x="4766144" y="3544693"/>
                  </a:lnTo>
                  <a:lnTo>
                    <a:pt x="4571999" y="3738838"/>
                  </a:lnTo>
                  <a:lnTo>
                    <a:pt x="4377855" y="3544693"/>
                  </a:lnTo>
                  <a:lnTo>
                    <a:pt x="0" y="3544693"/>
                  </a:lnTo>
                  <a:cubicBezTo>
                    <a:pt x="0" y="2327403"/>
                    <a:pt x="7145" y="1224435"/>
                    <a:pt x="7145" y="714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7" name="矩形 259"/>
          <p:cNvSpPr>
            <a:spLocks noChangeArrowheads="1"/>
          </p:cNvSpPr>
          <p:nvPr/>
        </p:nvSpPr>
        <p:spPr bwMode="auto">
          <a:xfrm>
            <a:off x="16723" y="3983478"/>
            <a:ext cx="91440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lvl="2" algn="ctr"/>
            <a:r>
              <a:rPr lang="zh-CN" altLang="en-US" sz="4800" b="1" dirty="0">
                <a:solidFill>
                  <a:schemeClr val="bg1"/>
                </a:solidFill>
                <a:latin typeface="+mn-ea"/>
                <a:ea typeface="+mn-ea"/>
              </a:rPr>
              <a:t>创新教育</a:t>
            </a:r>
            <a:r>
              <a:rPr lang="en-US" altLang="zh-CN" sz="4800" b="1" dirty="0">
                <a:solidFill>
                  <a:schemeClr val="bg1"/>
                </a:solidFill>
                <a:latin typeface="+mn-ea"/>
                <a:ea typeface="+mn-ea"/>
              </a:rPr>
              <a:t>  </a:t>
            </a:r>
            <a:r>
              <a:rPr lang="zh-CN" altLang="en-US" sz="4800" b="1" dirty="0">
                <a:solidFill>
                  <a:schemeClr val="bg1"/>
                </a:solidFill>
                <a:latin typeface="+mn-ea"/>
                <a:ea typeface="+mn-ea"/>
              </a:rPr>
              <a:t>引领未来</a:t>
            </a:r>
            <a:endParaRPr lang="zh-CN" altLang="en-US" sz="4800" b="1" dirty="0">
              <a:solidFill>
                <a:schemeClr val="bg1"/>
              </a:solidFill>
              <a:latin typeface="+mn-ea"/>
              <a:ea typeface="+mn-ea"/>
              <a:sym typeface="Impact" panose="020B0806030902050204" pitchFamily="34" charset="0"/>
            </a:endParaRPr>
          </a:p>
        </p:txBody>
      </p:sp>
      <p:grpSp>
        <p:nvGrpSpPr>
          <p:cNvPr id="14" name="组合 46"/>
          <p:cNvGrpSpPr/>
          <p:nvPr/>
        </p:nvGrpSpPr>
        <p:grpSpPr bwMode="auto">
          <a:xfrm>
            <a:off x="3795175" y="970438"/>
            <a:ext cx="1587103" cy="1587103"/>
            <a:chOff x="0" y="0"/>
            <a:chExt cx="2116920" cy="2116920"/>
          </a:xfrm>
        </p:grpSpPr>
        <p:sp>
          <p:nvSpPr>
            <p:cNvPr id="15" name="椭圆 47"/>
            <p:cNvSpPr>
              <a:spLocks noChangeArrowheads="1"/>
            </p:cNvSpPr>
            <p:nvPr/>
          </p:nvSpPr>
          <p:spPr bwMode="auto">
            <a:xfrm>
              <a:off x="0" y="0"/>
              <a:ext cx="2116920" cy="2116920"/>
            </a:xfrm>
            <a:prstGeom prst="ellipse">
              <a:avLst/>
            </a:prstGeom>
            <a:solidFill>
              <a:srgbClr val="F2F2F2"/>
            </a:solidFill>
            <a:ln w="57150">
              <a:solidFill>
                <a:srgbClr val="1D8DE5"/>
              </a:solidFill>
              <a:beve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90204" pitchFamily="34" charset="0"/>
                <a:buNone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grpSp>
          <p:nvGrpSpPr>
            <p:cNvPr id="16" name="组合 48"/>
            <p:cNvGrpSpPr/>
            <p:nvPr/>
          </p:nvGrpSpPr>
          <p:grpSpPr bwMode="auto">
            <a:xfrm>
              <a:off x="461855" y="280091"/>
              <a:ext cx="1193210" cy="1836829"/>
              <a:chOff x="0" y="0"/>
              <a:chExt cx="2598738" cy="4000499"/>
            </a:xfrm>
          </p:grpSpPr>
          <p:sp>
            <p:nvSpPr>
              <p:cNvPr id="17" name="Freeform 1281"/>
              <p:cNvSpPr>
                <a:spLocks noChangeArrowheads="1"/>
              </p:cNvSpPr>
              <p:nvPr/>
            </p:nvSpPr>
            <p:spPr bwMode="auto">
              <a:xfrm>
                <a:off x="1435100" y="3543299"/>
                <a:ext cx="327025" cy="457200"/>
              </a:xfrm>
              <a:custGeom>
                <a:avLst/>
                <a:gdLst>
                  <a:gd name="T0" fmla="*/ 519152188 w 206"/>
                  <a:gd name="T1" fmla="*/ 0 h 288"/>
                  <a:gd name="T2" fmla="*/ 367942813 w 206"/>
                  <a:gd name="T3" fmla="*/ 0 h 288"/>
                  <a:gd name="T4" fmla="*/ 153730325 w 206"/>
                  <a:gd name="T5" fmla="*/ 0 h 288"/>
                  <a:gd name="T6" fmla="*/ 0 w 206"/>
                  <a:gd name="T7" fmla="*/ 0 h 288"/>
                  <a:gd name="T8" fmla="*/ 0 w 206"/>
                  <a:gd name="T9" fmla="*/ 20161250 h 288"/>
                  <a:gd name="T10" fmla="*/ 153730325 w 206"/>
                  <a:gd name="T11" fmla="*/ 20161250 h 288"/>
                  <a:gd name="T12" fmla="*/ 153730325 w 206"/>
                  <a:gd name="T13" fmla="*/ 725805000 h 288"/>
                  <a:gd name="T14" fmla="*/ 153730325 w 206"/>
                  <a:gd name="T15" fmla="*/ 725805000 h 288"/>
                  <a:gd name="T16" fmla="*/ 367942813 w 206"/>
                  <a:gd name="T17" fmla="*/ 725805000 h 288"/>
                  <a:gd name="T18" fmla="*/ 367942813 w 206"/>
                  <a:gd name="T19" fmla="*/ 725805000 h 288"/>
                  <a:gd name="T20" fmla="*/ 367942813 w 206"/>
                  <a:gd name="T21" fmla="*/ 20161250 h 288"/>
                  <a:gd name="T22" fmla="*/ 519152188 w 206"/>
                  <a:gd name="T23" fmla="*/ 20161250 h 288"/>
                  <a:gd name="T24" fmla="*/ 519152188 w 206"/>
                  <a:gd name="T25" fmla="*/ 0 h 28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06"/>
                  <a:gd name="T40" fmla="*/ 0 h 288"/>
                  <a:gd name="T41" fmla="*/ 206 w 206"/>
                  <a:gd name="T42" fmla="*/ 288 h 288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06" h="288">
                    <a:moveTo>
                      <a:pt x="206" y="0"/>
                    </a:moveTo>
                    <a:lnTo>
                      <a:pt x="146" y="0"/>
                    </a:lnTo>
                    <a:lnTo>
                      <a:pt x="61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61" y="8"/>
                    </a:lnTo>
                    <a:lnTo>
                      <a:pt x="61" y="288"/>
                    </a:lnTo>
                    <a:lnTo>
                      <a:pt x="146" y="288"/>
                    </a:lnTo>
                    <a:lnTo>
                      <a:pt x="146" y="8"/>
                    </a:lnTo>
                    <a:lnTo>
                      <a:pt x="206" y="8"/>
                    </a:lnTo>
                    <a:lnTo>
                      <a:pt x="20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Freeform 1283"/>
              <p:cNvSpPr>
                <a:spLocks noChangeArrowheads="1"/>
              </p:cNvSpPr>
              <p:nvPr/>
            </p:nvSpPr>
            <p:spPr bwMode="auto">
              <a:xfrm>
                <a:off x="1820863" y="3541712"/>
                <a:ext cx="328613" cy="458787"/>
              </a:xfrm>
              <a:custGeom>
                <a:avLst/>
                <a:gdLst>
                  <a:gd name="T0" fmla="*/ 521673931 w 207"/>
                  <a:gd name="T1" fmla="*/ 0 h 289"/>
                  <a:gd name="T2" fmla="*/ 214214401 w 207"/>
                  <a:gd name="T3" fmla="*/ 0 h 289"/>
                  <a:gd name="T4" fmla="*/ 138609598 w 207"/>
                  <a:gd name="T5" fmla="*/ 0 h 289"/>
                  <a:gd name="T6" fmla="*/ 0 w 207"/>
                  <a:gd name="T7" fmla="*/ 0 h 289"/>
                  <a:gd name="T8" fmla="*/ 0 w 207"/>
                  <a:gd name="T9" fmla="*/ 728323569 h 289"/>
                  <a:gd name="T10" fmla="*/ 138609598 w 207"/>
                  <a:gd name="T11" fmla="*/ 728323569 h 289"/>
                  <a:gd name="T12" fmla="*/ 214214401 w 207"/>
                  <a:gd name="T13" fmla="*/ 728323569 h 289"/>
                  <a:gd name="T14" fmla="*/ 521673931 w 207"/>
                  <a:gd name="T15" fmla="*/ 728323569 h 289"/>
                  <a:gd name="T16" fmla="*/ 521673931 w 207"/>
                  <a:gd name="T17" fmla="*/ 708162341 h 289"/>
                  <a:gd name="T18" fmla="*/ 214214401 w 207"/>
                  <a:gd name="T19" fmla="*/ 708162341 h 289"/>
                  <a:gd name="T20" fmla="*/ 214214401 w 207"/>
                  <a:gd name="T21" fmla="*/ 161289824 h 289"/>
                  <a:gd name="T22" fmla="*/ 405746567 w 207"/>
                  <a:gd name="T23" fmla="*/ 161289824 h 289"/>
                  <a:gd name="T24" fmla="*/ 405746567 w 207"/>
                  <a:gd name="T25" fmla="*/ 141128596 h 289"/>
                  <a:gd name="T26" fmla="*/ 214214401 w 207"/>
                  <a:gd name="T27" fmla="*/ 141128596 h 289"/>
                  <a:gd name="T28" fmla="*/ 214214401 w 207"/>
                  <a:gd name="T29" fmla="*/ 20161228 h 289"/>
                  <a:gd name="T30" fmla="*/ 521673931 w 207"/>
                  <a:gd name="T31" fmla="*/ 20161228 h 289"/>
                  <a:gd name="T32" fmla="*/ 521673931 w 207"/>
                  <a:gd name="T33" fmla="*/ 0 h 289"/>
                  <a:gd name="T34" fmla="*/ 521673931 w 207"/>
                  <a:gd name="T35" fmla="*/ 0 h 28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07"/>
                  <a:gd name="T55" fmla="*/ 0 h 289"/>
                  <a:gd name="T56" fmla="*/ 207 w 207"/>
                  <a:gd name="T57" fmla="*/ 289 h 289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07" h="289">
                    <a:moveTo>
                      <a:pt x="207" y="0"/>
                    </a:moveTo>
                    <a:lnTo>
                      <a:pt x="85" y="0"/>
                    </a:lnTo>
                    <a:lnTo>
                      <a:pt x="55" y="0"/>
                    </a:lnTo>
                    <a:lnTo>
                      <a:pt x="0" y="0"/>
                    </a:lnTo>
                    <a:lnTo>
                      <a:pt x="0" y="289"/>
                    </a:lnTo>
                    <a:lnTo>
                      <a:pt x="55" y="289"/>
                    </a:lnTo>
                    <a:lnTo>
                      <a:pt x="85" y="289"/>
                    </a:lnTo>
                    <a:lnTo>
                      <a:pt x="207" y="289"/>
                    </a:lnTo>
                    <a:lnTo>
                      <a:pt x="207" y="281"/>
                    </a:lnTo>
                    <a:lnTo>
                      <a:pt x="85" y="281"/>
                    </a:lnTo>
                    <a:lnTo>
                      <a:pt x="85" y="64"/>
                    </a:lnTo>
                    <a:lnTo>
                      <a:pt x="161" y="64"/>
                    </a:lnTo>
                    <a:lnTo>
                      <a:pt x="161" y="56"/>
                    </a:lnTo>
                    <a:lnTo>
                      <a:pt x="85" y="56"/>
                    </a:lnTo>
                    <a:lnTo>
                      <a:pt x="85" y="8"/>
                    </a:lnTo>
                    <a:lnTo>
                      <a:pt x="207" y="8"/>
                    </a:lnTo>
                    <a:lnTo>
                      <a:pt x="20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Freeform 1284"/>
              <p:cNvSpPr>
                <a:spLocks noChangeArrowheads="1"/>
              </p:cNvSpPr>
              <p:nvPr/>
            </p:nvSpPr>
            <p:spPr bwMode="auto">
              <a:xfrm>
                <a:off x="2598738" y="3733799"/>
                <a:ext cx="1" cy="3175"/>
              </a:xfrm>
              <a:custGeom>
                <a:avLst/>
                <a:gdLst>
                  <a:gd name="T0" fmla="*/ 0 w 1"/>
                  <a:gd name="T1" fmla="*/ 0 h 2"/>
                  <a:gd name="T2" fmla="*/ 0 w 1"/>
                  <a:gd name="T3" fmla="*/ 2520950 h 2"/>
                  <a:gd name="T4" fmla="*/ 0 w 1"/>
                  <a:gd name="T5" fmla="*/ 5040313 h 2"/>
                  <a:gd name="T6" fmla="*/ 0 w 1"/>
                  <a:gd name="T7" fmla="*/ 0 h 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"/>
                  <a:gd name="T13" fmla="*/ 0 h 2"/>
                  <a:gd name="T14" fmla="*/ 1 w 1"/>
                  <a:gd name="T15" fmla="*/ 2 h 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" h="2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" name="Freeform 1289"/>
              <p:cNvSpPr>
                <a:spLocks noChangeArrowheads="1"/>
              </p:cNvSpPr>
              <p:nvPr/>
            </p:nvSpPr>
            <p:spPr bwMode="auto">
              <a:xfrm>
                <a:off x="1112838" y="3733799"/>
                <a:ext cx="1" cy="3175"/>
              </a:xfrm>
              <a:custGeom>
                <a:avLst/>
                <a:gdLst>
                  <a:gd name="T0" fmla="*/ 0 w 1"/>
                  <a:gd name="T1" fmla="*/ 0 h 3"/>
                  <a:gd name="T2" fmla="*/ 0 w 1"/>
                  <a:gd name="T3" fmla="*/ 2240492 h 3"/>
                  <a:gd name="T4" fmla="*/ 0 w 1"/>
                  <a:gd name="T5" fmla="*/ 3360208 h 3"/>
                  <a:gd name="T6" fmla="*/ 0 w 1"/>
                  <a:gd name="T7" fmla="*/ 0 h 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"/>
                  <a:gd name="T13" fmla="*/ 0 h 3"/>
                  <a:gd name="T14" fmla="*/ 1 w 1"/>
                  <a:gd name="T15" fmla="*/ 3 h 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" h="3">
                    <a:moveTo>
                      <a:pt x="0" y="0"/>
                    </a:moveTo>
                    <a:cubicBezTo>
                      <a:pt x="0" y="1"/>
                      <a:pt x="0" y="1"/>
                      <a:pt x="0" y="2"/>
                    </a:cubicBezTo>
                    <a:cubicBezTo>
                      <a:pt x="0" y="2"/>
                      <a:pt x="0" y="3"/>
                      <a:pt x="0" y="3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" name="Freeform 1292"/>
              <p:cNvSpPr>
                <a:spLocks noChangeArrowheads="1"/>
              </p:cNvSpPr>
              <p:nvPr/>
            </p:nvSpPr>
            <p:spPr bwMode="auto">
              <a:xfrm>
                <a:off x="0" y="3543299"/>
                <a:ext cx="395288" cy="457200"/>
              </a:xfrm>
              <a:custGeom>
                <a:avLst/>
                <a:gdLst>
                  <a:gd name="T0" fmla="*/ 627520494 w 249"/>
                  <a:gd name="T1" fmla="*/ 0 h 288"/>
                  <a:gd name="T2" fmla="*/ 521673797 w 249"/>
                  <a:gd name="T3" fmla="*/ 0 h 288"/>
                  <a:gd name="T4" fmla="*/ 413306148 w 249"/>
                  <a:gd name="T5" fmla="*/ 0 h 288"/>
                  <a:gd name="T6" fmla="*/ 413306148 w 249"/>
                  <a:gd name="T7" fmla="*/ 138609388 h 288"/>
                  <a:gd name="T8" fmla="*/ 214214346 w 249"/>
                  <a:gd name="T9" fmla="*/ 138609388 h 288"/>
                  <a:gd name="T10" fmla="*/ 214214346 w 249"/>
                  <a:gd name="T11" fmla="*/ 0 h 288"/>
                  <a:gd name="T12" fmla="*/ 0 w 249"/>
                  <a:gd name="T13" fmla="*/ 0 h 288"/>
                  <a:gd name="T14" fmla="*/ 0 w 249"/>
                  <a:gd name="T15" fmla="*/ 725805000 h 288"/>
                  <a:gd name="T16" fmla="*/ 214214346 w 249"/>
                  <a:gd name="T17" fmla="*/ 725805000 h 288"/>
                  <a:gd name="T18" fmla="*/ 214214346 w 249"/>
                  <a:gd name="T19" fmla="*/ 161290000 h 288"/>
                  <a:gd name="T20" fmla="*/ 413306148 w 249"/>
                  <a:gd name="T21" fmla="*/ 161290000 h 288"/>
                  <a:gd name="T22" fmla="*/ 413306148 w 249"/>
                  <a:gd name="T23" fmla="*/ 725805000 h 288"/>
                  <a:gd name="T24" fmla="*/ 521673797 w 249"/>
                  <a:gd name="T25" fmla="*/ 725805000 h 288"/>
                  <a:gd name="T26" fmla="*/ 627520494 w 249"/>
                  <a:gd name="T27" fmla="*/ 725805000 h 288"/>
                  <a:gd name="T28" fmla="*/ 627520494 w 249"/>
                  <a:gd name="T29" fmla="*/ 725805000 h 288"/>
                  <a:gd name="T30" fmla="*/ 627520494 w 249"/>
                  <a:gd name="T31" fmla="*/ 0 h 288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249"/>
                  <a:gd name="T49" fmla="*/ 0 h 288"/>
                  <a:gd name="T50" fmla="*/ 249 w 249"/>
                  <a:gd name="T51" fmla="*/ 288 h 288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249" h="288">
                    <a:moveTo>
                      <a:pt x="249" y="0"/>
                    </a:moveTo>
                    <a:lnTo>
                      <a:pt x="207" y="0"/>
                    </a:lnTo>
                    <a:lnTo>
                      <a:pt x="164" y="0"/>
                    </a:lnTo>
                    <a:lnTo>
                      <a:pt x="164" y="55"/>
                    </a:lnTo>
                    <a:lnTo>
                      <a:pt x="85" y="55"/>
                    </a:lnTo>
                    <a:lnTo>
                      <a:pt x="85" y="0"/>
                    </a:lnTo>
                    <a:lnTo>
                      <a:pt x="0" y="0"/>
                    </a:lnTo>
                    <a:lnTo>
                      <a:pt x="0" y="288"/>
                    </a:lnTo>
                    <a:lnTo>
                      <a:pt x="85" y="288"/>
                    </a:lnTo>
                    <a:lnTo>
                      <a:pt x="85" y="64"/>
                    </a:lnTo>
                    <a:lnTo>
                      <a:pt x="164" y="64"/>
                    </a:lnTo>
                    <a:lnTo>
                      <a:pt x="164" y="288"/>
                    </a:lnTo>
                    <a:lnTo>
                      <a:pt x="207" y="288"/>
                    </a:lnTo>
                    <a:lnTo>
                      <a:pt x="249" y="288"/>
                    </a:lnTo>
                    <a:lnTo>
                      <a:pt x="24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Freeform 1293"/>
              <p:cNvSpPr>
                <a:spLocks noEditPoints="1" noChangeArrowheads="1"/>
              </p:cNvSpPr>
              <p:nvPr/>
            </p:nvSpPr>
            <p:spPr bwMode="auto">
              <a:xfrm>
                <a:off x="319088" y="1646237"/>
                <a:ext cx="1916113" cy="677862"/>
              </a:xfrm>
              <a:custGeom>
                <a:avLst/>
                <a:gdLst>
                  <a:gd name="T0" fmla="*/ 2147483646 w 1660"/>
                  <a:gd name="T1" fmla="*/ 137354242 h 587"/>
                  <a:gd name="T2" fmla="*/ 2126468733 w 1660"/>
                  <a:gd name="T3" fmla="*/ 90681076 h 587"/>
                  <a:gd name="T4" fmla="*/ 1460281260 w 1660"/>
                  <a:gd name="T5" fmla="*/ 52008298 h 587"/>
                  <a:gd name="T6" fmla="*/ 1115196235 w 1660"/>
                  <a:gd name="T7" fmla="*/ 198697866 h 587"/>
                  <a:gd name="T8" fmla="*/ 1096544144 w 1660"/>
                  <a:gd name="T9" fmla="*/ 198697866 h 587"/>
                  <a:gd name="T10" fmla="*/ 751459119 w 1660"/>
                  <a:gd name="T11" fmla="*/ 52008298 h 587"/>
                  <a:gd name="T12" fmla="*/ 85271646 w 1660"/>
                  <a:gd name="T13" fmla="*/ 90681076 h 587"/>
                  <a:gd name="T14" fmla="*/ 2665244 w 1660"/>
                  <a:gd name="T15" fmla="*/ 137354242 h 587"/>
                  <a:gd name="T16" fmla="*/ 35974444 w 1660"/>
                  <a:gd name="T17" fmla="*/ 214699797 h 587"/>
                  <a:gd name="T18" fmla="*/ 130572712 w 1660"/>
                  <a:gd name="T19" fmla="*/ 394728165 h 587"/>
                  <a:gd name="T20" fmla="*/ 285128003 w 1660"/>
                  <a:gd name="T21" fmla="*/ 721446102 h 587"/>
                  <a:gd name="T22" fmla="*/ 818077520 w 1660"/>
                  <a:gd name="T23" fmla="*/ 716110970 h 587"/>
                  <a:gd name="T24" fmla="*/ 1103205523 w 1660"/>
                  <a:gd name="T25" fmla="*/ 317382610 h 587"/>
                  <a:gd name="T26" fmla="*/ 1108534856 w 1660"/>
                  <a:gd name="T27" fmla="*/ 317382610 h 587"/>
                  <a:gd name="T28" fmla="*/ 1393662859 w 1660"/>
                  <a:gd name="T29" fmla="*/ 716110970 h 587"/>
                  <a:gd name="T30" fmla="*/ 1926612376 w 1660"/>
                  <a:gd name="T31" fmla="*/ 721446102 h 587"/>
                  <a:gd name="T32" fmla="*/ 2081167666 w 1660"/>
                  <a:gd name="T33" fmla="*/ 394728165 h 587"/>
                  <a:gd name="T34" fmla="*/ 2147483646 w 1660"/>
                  <a:gd name="T35" fmla="*/ 214699797 h 587"/>
                  <a:gd name="T36" fmla="*/ 2147483646 w 1660"/>
                  <a:gd name="T37" fmla="*/ 137354242 h 587"/>
                  <a:gd name="T38" fmla="*/ 892690498 w 1660"/>
                  <a:gd name="T39" fmla="*/ 454738006 h 587"/>
                  <a:gd name="T40" fmla="*/ 783436274 w 1660"/>
                  <a:gd name="T41" fmla="*/ 652102089 h 587"/>
                  <a:gd name="T42" fmla="*/ 547605473 w 1660"/>
                  <a:gd name="T43" fmla="*/ 692107495 h 587"/>
                  <a:gd name="T44" fmla="*/ 311775825 w 1660"/>
                  <a:gd name="T45" fmla="*/ 653434717 h 587"/>
                  <a:gd name="T46" fmla="*/ 213180268 w 1660"/>
                  <a:gd name="T47" fmla="*/ 421399206 h 587"/>
                  <a:gd name="T48" fmla="*/ 194527024 w 1660"/>
                  <a:gd name="T49" fmla="*/ 176027019 h 587"/>
                  <a:gd name="T50" fmla="*/ 539610895 w 1660"/>
                  <a:gd name="T51" fmla="*/ 118684744 h 587"/>
                  <a:gd name="T52" fmla="*/ 935326321 w 1660"/>
                  <a:gd name="T53" fmla="*/ 226701534 h 587"/>
                  <a:gd name="T54" fmla="*/ 892690498 w 1660"/>
                  <a:gd name="T55" fmla="*/ 454738006 h 587"/>
                  <a:gd name="T56" fmla="*/ 1998560110 w 1660"/>
                  <a:gd name="T57" fmla="*/ 421399206 h 587"/>
                  <a:gd name="T58" fmla="*/ 1899964554 w 1660"/>
                  <a:gd name="T59" fmla="*/ 653434717 h 587"/>
                  <a:gd name="T60" fmla="*/ 1664134906 w 1660"/>
                  <a:gd name="T61" fmla="*/ 692107495 h 587"/>
                  <a:gd name="T62" fmla="*/ 1428304104 w 1660"/>
                  <a:gd name="T63" fmla="*/ 652102089 h 587"/>
                  <a:gd name="T64" fmla="*/ 1319049881 w 1660"/>
                  <a:gd name="T65" fmla="*/ 454738006 h 587"/>
                  <a:gd name="T66" fmla="*/ 1276414058 w 1660"/>
                  <a:gd name="T67" fmla="*/ 226701534 h 587"/>
                  <a:gd name="T68" fmla="*/ 1672129484 w 1660"/>
                  <a:gd name="T69" fmla="*/ 118684744 h 587"/>
                  <a:gd name="T70" fmla="*/ 2017213355 w 1660"/>
                  <a:gd name="T71" fmla="*/ 176027019 h 587"/>
                  <a:gd name="T72" fmla="*/ 1998560110 w 1660"/>
                  <a:gd name="T73" fmla="*/ 421399206 h 587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660"/>
                  <a:gd name="T112" fmla="*/ 0 h 587"/>
                  <a:gd name="T113" fmla="*/ 1660 w 1660"/>
                  <a:gd name="T114" fmla="*/ 587 h 587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660" h="587">
                    <a:moveTo>
                      <a:pt x="1658" y="103"/>
                    </a:moveTo>
                    <a:cubicBezTo>
                      <a:pt x="1658" y="71"/>
                      <a:pt x="1653" y="83"/>
                      <a:pt x="1596" y="68"/>
                    </a:cubicBezTo>
                    <a:cubicBezTo>
                      <a:pt x="1539" y="52"/>
                      <a:pt x="1364" y="0"/>
                      <a:pt x="1096" y="39"/>
                    </a:cubicBezTo>
                    <a:cubicBezTo>
                      <a:pt x="872" y="72"/>
                      <a:pt x="929" y="146"/>
                      <a:pt x="837" y="149"/>
                    </a:cubicBezTo>
                    <a:cubicBezTo>
                      <a:pt x="823" y="149"/>
                      <a:pt x="823" y="149"/>
                      <a:pt x="823" y="149"/>
                    </a:cubicBezTo>
                    <a:cubicBezTo>
                      <a:pt x="731" y="146"/>
                      <a:pt x="788" y="72"/>
                      <a:pt x="564" y="39"/>
                    </a:cubicBezTo>
                    <a:cubicBezTo>
                      <a:pt x="296" y="0"/>
                      <a:pt x="121" y="52"/>
                      <a:pt x="64" y="68"/>
                    </a:cubicBezTo>
                    <a:cubicBezTo>
                      <a:pt x="7" y="83"/>
                      <a:pt x="2" y="71"/>
                      <a:pt x="2" y="103"/>
                    </a:cubicBezTo>
                    <a:cubicBezTo>
                      <a:pt x="3" y="135"/>
                      <a:pt x="0" y="161"/>
                      <a:pt x="27" y="161"/>
                    </a:cubicBezTo>
                    <a:cubicBezTo>
                      <a:pt x="55" y="161"/>
                      <a:pt x="55" y="161"/>
                      <a:pt x="98" y="296"/>
                    </a:cubicBezTo>
                    <a:cubicBezTo>
                      <a:pt x="150" y="458"/>
                      <a:pt x="164" y="504"/>
                      <a:pt x="214" y="541"/>
                    </a:cubicBezTo>
                    <a:cubicBezTo>
                      <a:pt x="275" y="587"/>
                      <a:pt x="531" y="587"/>
                      <a:pt x="614" y="537"/>
                    </a:cubicBezTo>
                    <a:cubicBezTo>
                      <a:pt x="717" y="475"/>
                      <a:pt x="704" y="241"/>
                      <a:pt x="828" y="238"/>
                    </a:cubicBezTo>
                    <a:cubicBezTo>
                      <a:pt x="829" y="238"/>
                      <a:pt x="831" y="238"/>
                      <a:pt x="832" y="238"/>
                    </a:cubicBezTo>
                    <a:cubicBezTo>
                      <a:pt x="956" y="241"/>
                      <a:pt x="943" y="475"/>
                      <a:pt x="1046" y="537"/>
                    </a:cubicBezTo>
                    <a:cubicBezTo>
                      <a:pt x="1129" y="587"/>
                      <a:pt x="1385" y="587"/>
                      <a:pt x="1446" y="541"/>
                    </a:cubicBezTo>
                    <a:cubicBezTo>
                      <a:pt x="1496" y="504"/>
                      <a:pt x="1510" y="458"/>
                      <a:pt x="1562" y="296"/>
                    </a:cubicBezTo>
                    <a:cubicBezTo>
                      <a:pt x="1605" y="161"/>
                      <a:pt x="1605" y="161"/>
                      <a:pt x="1633" y="161"/>
                    </a:cubicBezTo>
                    <a:cubicBezTo>
                      <a:pt x="1660" y="161"/>
                      <a:pt x="1657" y="135"/>
                      <a:pt x="1658" y="103"/>
                    </a:cubicBezTo>
                    <a:close/>
                    <a:moveTo>
                      <a:pt x="670" y="341"/>
                    </a:moveTo>
                    <a:cubicBezTo>
                      <a:pt x="644" y="407"/>
                      <a:pt x="624" y="465"/>
                      <a:pt x="588" y="489"/>
                    </a:cubicBezTo>
                    <a:cubicBezTo>
                      <a:pt x="550" y="515"/>
                      <a:pt x="494" y="520"/>
                      <a:pt x="411" y="519"/>
                    </a:cubicBezTo>
                    <a:cubicBezTo>
                      <a:pt x="341" y="517"/>
                      <a:pt x="266" y="520"/>
                      <a:pt x="234" y="490"/>
                    </a:cubicBezTo>
                    <a:cubicBezTo>
                      <a:pt x="208" y="465"/>
                      <a:pt x="182" y="386"/>
                      <a:pt x="160" y="316"/>
                    </a:cubicBezTo>
                    <a:cubicBezTo>
                      <a:pt x="129" y="219"/>
                      <a:pt x="115" y="161"/>
                      <a:pt x="146" y="132"/>
                    </a:cubicBezTo>
                    <a:cubicBezTo>
                      <a:pt x="185" y="97"/>
                      <a:pt x="286" y="91"/>
                      <a:pt x="405" y="89"/>
                    </a:cubicBezTo>
                    <a:cubicBezTo>
                      <a:pt x="524" y="88"/>
                      <a:pt x="682" y="123"/>
                      <a:pt x="702" y="170"/>
                    </a:cubicBezTo>
                    <a:cubicBezTo>
                      <a:pt x="718" y="205"/>
                      <a:pt x="693" y="282"/>
                      <a:pt x="670" y="341"/>
                    </a:cubicBezTo>
                    <a:close/>
                    <a:moveTo>
                      <a:pt x="1500" y="316"/>
                    </a:moveTo>
                    <a:cubicBezTo>
                      <a:pt x="1478" y="386"/>
                      <a:pt x="1452" y="465"/>
                      <a:pt x="1426" y="490"/>
                    </a:cubicBezTo>
                    <a:cubicBezTo>
                      <a:pt x="1394" y="520"/>
                      <a:pt x="1319" y="517"/>
                      <a:pt x="1249" y="519"/>
                    </a:cubicBezTo>
                    <a:cubicBezTo>
                      <a:pt x="1166" y="520"/>
                      <a:pt x="1110" y="515"/>
                      <a:pt x="1072" y="489"/>
                    </a:cubicBezTo>
                    <a:cubicBezTo>
                      <a:pt x="1036" y="465"/>
                      <a:pt x="1016" y="407"/>
                      <a:pt x="990" y="341"/>
                    </a:cubicBezTo>
                    <a:cubicBezTo>
                      <a:pt x="967" y="282"/>
                      <a:pt x="942" y="205"/>
                      <a:pt x="958" y="170"/>
                    </a:cubicBezTo>
                    <a:cubicBezTo>
                      <a:pt x="978" y="123"/>
                      <a:pt x="1136" y="88"/>
                      <a:pt x="1255" y="89"/>
                    </a:cubicBezTo>
                    <a:cubicBezTo>
                      <a:pt x="1374" y="91"/>
                      <a:pt x="1475" y="97"/>
                      <a:pt x="1514" y="132"/>
                    </a:cubicBezTo>
                    <a:cubicBezTo>
                      <a:pt x="1546" y="161"/>
                      <a:pt x="1531" y="219"/>
                      <a:pt x="1500" y="316"/>
                    </a:cubicBezTo>
                    <a:close/>
                  </a:path>
                </a:pathLst>
              </a:cu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Freeform 1294"/>
              <p:cNvSpPr>
                <a:spLocks noChangeArrowheads="1"/>
              </p:cNvSpPr>
              <p:nvPr/>
            </p:nvSpPr>
            <p:spPr bwMode="auto">
              <a:xfrm>
                <a:off x="663575" y="2454274"/>
                <a:ext cx="622300" cy="488950"/>
              </a:xfrm>
              <a:custGeom>
                <a:avLst/>
                <a:gdLst>
                  <a:gd name="T0" fmla="*/ 0 w 538"/>
                  <a:gd name="T1" fmla="*/ 461452328 h 424"/>
                  <a:gd name="T2" fmla="*/ 204704313 w 538"/>
                  <a:gd name="T3" fmla="*/ 398949758 h 424"/>
                  <a:gd name="T4" fmla="*/ 457573257 w 538"/>
                  <a:gd name="T5" fmla="*/ 216762836 h 424"/>
                  <a:gd name="T6" fmla="*/ 709105067 w 538"/>
                  <a:gd name="T7" fmla="*/ 115695487 h 424"/>
                  <a:gd name="T8" fmla="*/ 544539104 w 538"/>
                  <a:gd name="T9" fmla="*/ 2659242 h 424"/>
                  <a:gd name="T10" fmla="*/ 198014009 w 538"/>
                  <a:gd name="T11" fmla="*/ 239369855 h 424"/>
                  <a:gd name="T12" fmla="*/ 109711027 w 538"/>
                  <a:gd name="T13" fmla="*/ 433525672 h 424"/>
                  <a:gd name="T14" fmla="*/ 0 w 538"/>
                  <a:gd name="T15" fmla="*/ 461452328 h 4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38"/>
                  <a:gd name="T25" fmla="*/ 0 h 424"/>
                  <a:gd name="T26" fmla="*/ 538 w 538"/>
                  <a:gd name="T27" fmla="*/ 424 h 42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38" h="424">
                    <a:moveTo>
                      <a:pt x="0" y="347"/>
                    </a:moveTo>
                    <a:cubicBezTo>
                      <a:pt x="0" y="347"/>
                      <a:pt x="82" y="424"/>
                      <a:pt x="153" y="300"/>
                    </a:cubicBezTo>
                    <a:cubicBezTo>
                      <a:pt x="209" y="203"/>
                      <a:pt x="220" y="166"/>
                      <a:pt x="342" y="163"/>
                    </a:cubicBezTo>
                    <a:cubicBezTo>
                      <a:pt x="465" y="160"/>
                      <a:pt x="522" y="141"/>
                      <a:pt x="530" y="87"/>
                    </a:cubicBezTo>
                    <a:cubicBezTo>
                      <a:pt x="538" y="33"/>
                      <a:pt x="492" y="0"/>
                      <a:pt x="407" y="2"/>
                    </a:cubicBezTo>
                    <a:cubicBezTo>
                      <a:pt x="323" y="4"/>
                      <a:pt x="210" y="54"/>
                      <a:pt x="148" y="180"/>
                    </a:cubicBezTo>
                    <a:cubicBezTo>
                      <a:pt x="104" y="269"/>
                      <a:pt x="108" y="298"/>
                      <a:pt x="82" y="326"/>
                    </a:cubicBezTo>
                    <a:cubicBezTo>
                      <a:pt x="56" y="354"/>
                      <a:pt x="0" y="347"/>
                      <a:pt x="0" y="347"/>
                    </a:cubicBezTo>
                    <a:close/>
                  </a:path>
                </a:pathLst>
              </a:cu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Freeform 1295"/>
              <p:cNvSpPr>
                <a:spLocks noChangeArrowheads="1"/>
              </p:cNvSpPr>
              <p:nvPr/>
            </p:nvSpPr>
            <p:spPr bwMode="auto">
              <a:xfrm>
                <a:off x="1268413" y="2454274"/>
                <a:ext cx="622300" cy="488950"/>
              </a:xfrm>
              <a:custGeom>
                <a:avLst/>
                <a:gdLst>
                  <a:gd name="T0" fmla="*/ 719809089 w 538"/>
                  <a:gd name="T1" fmla="*/ 461452328 h 424"/>
                  <a:gd name="T2" fmla="*/ 515104777 w 538"/>
                  <a:gd name="T3" fmla="*/ 398949758 h 424"/>
                  <a:gd name="T4" fmla="*/ 262235832 w 538"/>
                  <a:gd name="T5" fmla="*/ 216762836 h 424"/>
                  <a:gd name="T6" fmla="*/ 10704023 w 538"/>
                  <a:gd name="T7" fmla="*/ 115695487 h 424"/>
                  <a:gd name="T8" fmla="*/ 175269985 w 538"/>
                  <a:gd name="T9" fmla="*/ 2659242 h 424"/>
                  <a:gd name="T10" fmla="*/ 521795080 w 538"/>
                  <a:gd name="T11" fmla="*/ 239369855 h 424"/>
                  <a:gd name="T12" fmla="*/ 610098062 w 538"/>
                  <a:gd name="T13" fmla="*/ 433525672 h 424"/>
                  <a:gd name="T14" fmla="*/ 719809089 w 538"/>
                  <a:gd name="T15" fmla="*/ 461452328 h 4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38"/>
                  <a:gd name="T25" fmla="*/ 0 h 424"/>
                  <a:gd name="T26" fmla="*/ 538 w 538"/>
                  <a:gd name="T27" fmla="*/ 424 h 42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38" h="424">
                    <a:moveTo>
                      <a:pt x="538" y="347"/>
                    </a:moveTo>
                    <a:cubicBezTo>
                      <a:pt x="538" y="347"/>
                      <a:pt x="456" y="424"/>
                      <a:pt x="385" y="300"/>
                    </a:cubicBezTo>
                    <a:cubicBezTo>
                      <a:pt x="329" y="203"/>
                      <a:pt x="318" y="166"/>
                      <a:pt x="196" y="163"/>
                    </a:cubicBezTo>
                    <a:cubicBezTo>
                      <a:pt x="74" y="160"/>
                      <a:pt x="16" y="141"/>
                      <a:pt x="8" y="87"/>
                    </a:cubicBezTo>
                    <a:cubicBezTo>
                      <a:pt x="0" y="33"/>
                      <a:pt x="46" y="0"/>
                      <a:pt x="131" y="2"/>
                    </a:cubicBezTo>
                    <a:cubicBezTo>
                      <a:pt x="215" y="4"/>
                      <a:pt x="328" y="54"/>
                      <a:pt x="390" y="180"/>
                    </a:cubicBezTo>
                    <a:cubicBezTo>
                      <a:pt x="434" y="269"/>
                      <a:pt x="430" y="298"/>
                      <a:pt x="456" y="326"/>
                    </a:cubicBezTo>
                    <a:cubicBezTo>
                      <a:pt x="482" y="354"/>
                      <a:pt x="538" y="347"/>
                      <a:pt x="538" y="347"/>
                    </a:cubicBezTo>
                    <a:close/>
                  </a:path>
                </a:pathLst>
              </a:cu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Freeform 1296"/>
              <p:cNvSpPr>
                <a:spLocks noChangeArrowheads="1"/>
              </p:cNvSpPr>
              <p:nvPr/>
            </p:nvSpPr>
            <p:spPr bwMode="auto">
              <a:xfrm>
                <a:off x="454025" y="2387599"/>
                <a:ext cx="1647825" cy="1027112"/>
              </a:xfrm>
              <a:custGeom>
                <a:avLst/>
                <a:gdLst>
                  <a:gd name="T0" fmla="*/ 1680137151 w 1427"/>
                  <a:gd name="T1" fmla="*/ 299666273 h 890"/>
                  <a:gd name="T2" fmla="*/ 1357444054 w 1427"/>
                  <a:gd name="T3" fmla="*/ 728522463 h 890"/>
                  <a:gd name="T4" fmla="*/ 1056086077 w 1427"/>
                  <a:gd name="T5" fmla="*/ 554049602 h 890"/>
                  <a:gd name="T6" fmla="*/ 950744216 w 1427"/>
                  <a:gd name="T7" fmla="*/ 499444174 h 890"/>
                  <a:gd name="T8" fmla="*/ 845402355 w 1427"/>
                  <a:gd name="T9" fmla="*/ 554049602 h 890"/>
                  <a:gd name="T10" fmla="*/ 544044378 w 1427"/>
                  <a:gd name="T11" fmla="*/ 728522463 h 890"/>
                  <a:gd name="T12" fmla="*/ 221351281 w 1427"/>
                  <a:gd name="T13" fmla="*/ 299666273 h 890"/>
                  <a:gd name="T14" fmla="*/ 0 w 1427"/>
                  <a:gd name="T15" fmla="*/ 0 h 890"/>
                  <a:gd name="T16" fmla="*/ 120009467 w 1427"/>
                  <a:gd name="T17" fmla="*/ 594005413 h 890"/>
                  <a:gd name="T18" fmla="*/ 616049827 w 1427"/>
                  <a:gd name="T19" fmla="*/ 1049498425 h 890"/>
                  <a:gd name="T20" fmla="*/ 950744216 w 1427"/>
                  <a:gd name="T21" fmla="*/ 1172028271 h 890"/>
                  <a:gd name="T22" fmla="*/ 1285438605 w 1427"/>
                  <a:gd name="T23" fmla="*/ 1049498425 h 890"/>
                  <a:gd name="T24" fmla="*/ 1781478966 w 1427"/>
                  <a:gd name="T25" fmla="*/ 594005413 h 890"/>
                  <a:gd name="T26" fmla="*/ 1902822166 w 1427"/>
                  <a:gd name="T27" fmla="*/ 0 h 890"/>
                  <a:gd name="T28" fmla="*/ 1680137151 w 1427"/>
                  <a:gd name="T29" fmla="*/ 299666273 h 89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427"/>
                  <a:gd name="T46" fmla="*/ 0 h 890"/>
                  <a:gd name="T47" fmla="*/ 1427 w 1427"/>
                  <a:gd name="T48" fmla="*/ 890 h 890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427" h="890">
                    <a:moveTo>
                      <a:pt x="1260" y="225"/>
                    </a:moveTo>
                    <a:cubicBezTo>
                      <a:pt x="1249" y="317"/>
                      <a:pt x="1157" y="492"/>
                      <a:pt x="1018" y="547"/>
                    </a:cubicBezTo>
                    <a:cubicBezTo>
                      <a:pt x="879" y="602"/>
                      <a:pt x="841" y="467"/>
                      <a:pt x="792" y="416"/>
                    </a:cubicBezTo>
                    <a:cubicBezTo>
                      <a:pt x="753" y="376"/>
                      <a:pt x="724" y="374"/>
                      <a:pt x="713" y="375"/>
                    </a:cubicBezTo>
                    <a:cubicBezTo>
                      <a:pt x="702" y="374"/>
                      <a:pt x="673" y="376"/>
                      <a:pt x="634" y="416"/>
                    </a:cubicBezTo>
                    <a:cubicBezTo>
                      <a:pt x="585" y="467"/>
                      <a:pt x="547" y="602"/>
                      <a:pt x="408" y="547"/>
                    </a:cubicBezTo>
                    <a:cubicBezTo>
                      <a:pt x="269" y="492"/>
                      <a:pt x="177" y="317"/>
                      <a:pt x="166" y="225"/>
                    </a:cubicBezTo>
                    <a:cubicBezTo>
                      <a:pt x="143" y="32"/>
                      <a:pt x="0" y="0"/>
                      <a:pt x="0" y="0"/>
                    </a:cubicBezTo>
                    <a:cubicBezTo>
                      <a:pt x="0" y="0"/>
                      <a:pt x="41" y="368"/>
                      <a:pt x="90" y="446"/>
                    </a:cubicBezTo>
                    <a:cubicBezTo>
                      <a:pt x="139" y="523"/>
                      <a:pt x="332" y="684"/>
                      <a:pt x="462" y="788"/>
                    </a:cubicBezTo>
                    <a:cubicBezTo>
                      <a:pt x="590" y="890"/>
                      <a:pt x="643" y="880"/>
                      <a:pt x="713" y="880"/>
                    </a:cubicBezTo>
                    <a:cubicBezTo>
                      <a:pt x="783" y="880"/>
                      <a:pt x="836" y="890"/>
                      <a:pt x="964" y="788"/>
                    </a:cubicBezTo>
                    <a:cubicBezTo>
                      <a:pt x="1095" y="684"/>
                      <a:pt x="1287" y="523"/>
                      <a:pt x="1336" y="446"/>
                    </a:cubicBezTo>
                    <a:cubicBezTo>
                      <a:pt x="1385" y="368"/>
                      <a:pt x="1427" y="0"/>
                      <a:pt x="1427" y="0"/>
                    </a:cubicBezTo>
                    <a:cubicBezTo>
                      <a:pt x="1427" y="0"/>
                      <a:pt x="1284" y="32"/>
                      <a:pt x="1260" y="225"/>
                    </a:cubicBezTo>
                    <a:close/>
                  </a:path>
                </a:pathLst>
              </a:cu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Oval 1297"/>
              <p:cNvSpPr>
                <a:spLocks noChangeArrowheads="1"/>
              </p:cNvSpPr>
              <p:nvPr/>
            </p:nvSpPr>
            <p:spPr bwMode="auto">
              <a:xfrm>
                <a:off x="19050" y="719137"/>
                <a:ext cx="2516188" cy="909637"/>
              </a:xfrm>
              <a:prstGeom prst="ellipse">
                <a:avLst/>
              </a:pr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9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Calibri" panose="020F0502020204030204" pitchFamily="34" charset="0"/>
                  <a:ea typeface="微软雅黑" panose="020B0503020204020204" pitchFamily="34" charset="-122"/>
                  <a:sym typeface="Calibri" panose="020F0502020204030204" pitchFamily="34" charset="0"/>
                </a:endParaRPr>
              </a:p>
            </p:txBody>
          </p:sp>
          <p:sp>
            <p:nvSpPr>
              <p:cNvPr id="27" name="Freeform 1298"/>
              <p:cNvSpPr>
                <a:spLocks noChangeArrowheads="1"/>
              </p:cNvSpPr>
              <p:nvPr/>
            </p:nvSpPr>
            <p:spPr bwMode="auto">
              <a:xfrm>
                <a:off x="449263" y="0"/>
                <a:ext cx="1655763" cy="1004887"/>
              </a:xfrm>
              <a:custGeom>
                <a:avLst/>
                <a:gdLst>
                  <a:gd name="T0" fmla="*/ 1906487547 w 1434"/>
                  <a:gd name="T1" fmla="*/ 897865379 h 870"/>
                  <a:gd name="T2" fmla="*/ 1906487547 w 1434"/>
                  <a:gd name="T3" fmla="*/ 896531305 h 870"/>
                  <a:gd name="T4" fmla="*/ 1905155085 w 1434"/>
                  <a:gd name="T5" fmla="*/ 895197231 h 870"/>
                  <a:gd name="T6" fmla="*/ 1541188588 w 1434"/>
                  <a:gd name="T7" fmla="*/ 126741662 h 870"/>
                  <a:gd name="T8" fmla="*/ 990573493 w 1434"/>
                  <a:gd name="T9" fmla="*/ 269493368 h 870"/>
                  <a:gd name="T10" fmla="*/ 525284461 w 1434"/>
                  <a:gd name="T11" fmla="*/ 69374164 h 870"/>
                  <a:gd name="T12" fmla="*/ 5333312 w 1434"/>
                  <a:gd name="T13" fmla="*/ 896531305 h 870"/>
                  <a:gd name="T14" fmla="*/ 5333312 w 1434"/>
                  <a:gd name="T15" fmla="*/ 896531305 h 870"/>
                  <a:gd name="T16" fmla="*/ 0 w 1434"/>
                  <a:gd name="T17" fmla="*/ 921878714 h 870"/>
                  <a:gd name="T18" fmla="*/ 79992751 w 1434"/>
                  <a:gd name="T19" fmla="*/ 1016601441 h 870"/>
                  <a:gd name="T20" fmla="*/ 955909852 w 1434"/>
                  <a:gd name="T21" fmla="*/ 1160687222 h 870"/>
                  <a:gd name="T22" fmla="*/ 1831828108 w 1434"/>
                  <a:gd name="T23" fmla="*/ 1016601441 h 870"/>
                  <a:gd name="T24" fmla="*/ 1911820859 w 1434"/>
                  <a:gd name="T25" fmla="*/ 921878714 h 870"/>
                  <a:gd name="T26" fmla="*/ 1906487547 w 1434"/>
                  <a:gd name="T27" fmla="*/ 897865379 h 87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434"/>
                  <a:gd name="T43" fmla="*/ 0 h 870"/>
                  <a:gd name="T44" fmla="*/ 1434 w 1434"/>
                  <a:gd name="T45" fmla="*/ 870 h 870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434" h="870">
                    <a:moveTo>
                      <a:pt x="1430" y="673"/>
                    </a:moveTo>
                    <a:cubicBezTo>
                      <a:pt x="1430" y="672"/>
                      <a:pt x="1430" y="672"/>
                      <a:pt x="1430" y="672"/>
                    </a:cubicBezTo>
                    <a:cubicBezTo>
                      <a:pt x="1429" y="671"/>
                      <a:pt x="1429" y="671"/>
                      <a:pt x="1429" y="671"/>
                    </a:cubicBezTo>
                    <a:cubicBezTo>
                      <a:pt x="1429" y="671"/>
                      <a:pt x="1245" y="189"/>
                      <a:pt x="1156" y="95"/>
                    </a:cubicBezTo>
                    <a:cubicBezTo>
                      <a:pt x="1067" y="0"/>
                      <a:pt x="934" y="156"/>
                      <a:pt x="743" y="202"/>
                    </a:cubicBezTo>
                    <a:cubicBezTo>
                      <a:pt x="606" y="234"/>
                      <a:pt x="550" y="74"/>
                      <a:pt x="394" y="52"/>
                    </a:cubicBezTo>
                    <a:cubicBezTo>
                      <a:pt x="262" y="34"/>
                      <a:pt x="14" y="646"/>
                      <a:pt x="4" y="672"/>
                    </a:cubicBezTo>
                    <a:cubicBezTo>
                      <a:pt x="4" y="672"/>
                      <a:pt x="4" y="672"/>
                      <a:pt x="4" y="672"/>
                    </a:cubicBezTo>
                    <a:cubicBezTo>
                      <a:pt x="1" y="678"/>
                      <a:pt x="0" y="684"/>
                      <a:pt x="0" y="691"/>
                    </a:cubicBezTo>
                    <a:cubicBezTo>
                      <a:pt x="0" y="716"/>
                      <a:pt x="22" y="740"/>
                      <a:pt x="60" y="762"/>
                    </a:cubicBezTo>
                    <a:cubicBezTo>
                      <a:pt x="171" y="826"/>
                      <a:pt x="423" y="870"/>
                      <a:pt x="717" y="870"/>
                    </a:cubicBezTo>
                    <a:cubicBezTo>
                      <a:pt x="1011" y="870"/>
                      <a:pt x="1263" y="826"/>
                      <a:pt x="1374" y="762"/>
                    </a:cubicBezTo>
                    <a:cubicBezTo>
                      <a:pt x="1412" y="740"/>
                      <a:pt x="1434" y="716"/>
                      <a:pt x="1434" y="691"/>
                    </a:cubicBezTo>
                    <a:cubicBezTo>
                      <a:pt x="1434" y="685"/>
                      <a:pt x="1433" y="679"/>
                      <a:pt x="1430" y="673"/>
                    </a:cubicBezTo>
                    <a:close/>
                  </a:path>
                </a:pathLst>
              </a:cu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" name="Freeform 1299"/>
              <p:cNvSpPr>
                <a:spLocks noChangeArrowheads="1"/>
              </p:cNvSpPr>
              <p:nvPr/>
            </p:nvSpPr>
            <p:spPr bwMode="auto">
              <a:xfrm>
                <a:off x="433388" y="785812"/>
                <a:ext cx="25400" cy="44450"/>
              </a:xfrm>
              <a:custGeom>
                <a:avLst/>
                <a:gdLst>
                  <a:gd name="T0" fmla="*/ 17328573 w 22"/>
                  <a:gd name="T1" fmla="*/ 14288965 h 39"/>
                  <a:gd name="T2" fmla="*/ 18662073 w 22"/>
                  <a:gd name="T3" fmla="*/ 0 h 39"/>
                  <a:gd name="T4" fmla="*/ 18662073 w 22"/>
                  <a:gd name="T5" fmla="*/ 0 h 39"/>
                  <a:gd name="T6" fmla="*/ 0 w 22"/>
                  <a:gd name="T7" fmla="*/ 48064127 h 39"/>
                  <a:gd name="T8" fmla="*/ 29325455 w 22"/>
                  <a:gd name="T9" fmla="*/ 50661603 h 39"/>
                  <a:gd name="T10" fmla="*/ 17328573 w 22"/>
                  <a:gd name="T11" fmla="*/ 14288965 h 3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2"/>
                  <a:gd name="T19" fmla="*/ 0 h 39"/>
                  <a:gd name="T20" fmla="*/ 22 w 22"/>
                  <a:gd name="T21" fmla="*/ 39 h 3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2" h="39">
                    <a:moveTo>
                      <a:pt x="13" y="11"/>
                    </a:moveTo>
                    <a:cubicBezTo>
                      <a:pt x="13" y="7"/>
                      <a:pt x="14" y="3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22" y="39"/>
                      <a:pt x="22" y="39"/>
                      <a:pt x="22" y="39"/>
                    </a:cubicBezTo>
                    <a:cubicBezTo>
                      <a:pt x="16" y="30"/>
                      <a:pt x="13" y="20"/>
                      <a:pt x="13" y="11"/>
                    </a:cubicBezTo>
                    <a:close/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" name="Freeform 1300"/>
              <p:cNvSpPr>
                <a:spLocks noChangeArrowheads="1"/>
              </p:cNvSpPr>
              <p:nvPr/>
            </p:nvSpPr>
            <p:spPr bwMode="auto">
              <a:xfrm>
                <a:off x="760413" y="1246187"/>
                <a:ext cx="411163" cy="38100"/>
              </a:xfrm>
              <a:custGeom>
                <a:avLst/>
                <a:gdLst>
                  <a:gd name="T0" fmla="*/ 0 w 355"/>
                  <a:gd name="T1" fmla="*/ 1333500 h 33"/>
                  <a:gd name="T2" fmla="*/ 335359599 w 355"/>
                  <a:gd name="T3" fmla="*/ 43988182 h 33"/>
                  <a:gd name="T4" fmla="*/ 476211303 w 355"/>
                  <a:gd name="T5" fmla="*/ 0 h 33"/>
                  <a:gd name="T6" fmla="*/ 0 w 355"/>
                  <a:gd name="T7" fmla="*/ 1333500 h 3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55"/>
                  <a:gd name="T13" fmla="*/ 0 h 33"/>
                  <a:gd name="T14" fmla="*/ 355 w 355"/>
                  <a:gd name="T15" fmla="*/ 33 h 3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55" h="33">
                    <a:moveTo>
                      <a:pt x="0" y="1"/>
                    </a:moveTo>
                    <a:cubicBezTo>
                      <a:pt x="75" y="16"/>
                      <a:pt x="159" y="27"/>
                      <a:pt x="250" y="33"/>
                    </a:cubicBezTo>
                    <a:cubicBezTo>
                      <a:pt x="355" y="0"/>
                      <a:pt x="355" y="0"/>
                      <a:pt x="355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" name="Freeform 1301"/>
              <p:cNvSpPr>
                <a:spLocks noChangeArrowheads="1"/>
              </p:cNvSpPr>
              <p:nvPr/>
            </p:nvSpPr>
            <p:spPr bwMode="auto">
              <a:xfrm>
                <a:off x="450850" y="776287"/>
                <a:ext cx="3175" cy="9525"/>
              </a:xfrm>
              <a:custGeom>
                <a:avLst/>
                <a:gdLst>
                  <a:gd name="T0" fmla="*/ 3360208 w 3"/>
                  <a:gd name="T1" fmla="*/ 0 h 8"/>
                  <a:gd name="T2" fmla="*/ 3360208 w 3"/>
                  <a:gd name="T3" fmla="*/ 1418034 h 8"/>
                  <a:gd name="T4" fmla="*/ 0 w 3"/>
                  <a:gd name="T5" fmla="*/ 11340703 h 8"/>
                  <a:gd name="T6" fmla="*/ 0 w 3"/>
                  <a:gd name="T7" fmla="*/ 11340703 h 8"/>
                  <a:gd name="T8" fmla="*/ 3360208 w 3"/>
                  <a:gd name="T9" fmla="*/ 0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"/>
                  <a:gd name="T16" fmla="*/ 0 h 8"/>
                  <a:gd name="T17" fmla="*/ 3 w 3"/>
                  <a:gd name="T18" fmla="*/ 8 h 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" h="8">
                    <a:moveTo>
                      <a:pt x="3" y="0"/>
                    </a:moveTo>
                    <a:cubicBezTo>
                      <a:pt x="3" y="1"/>
                      <a:pt x="3" y="1"/>
                      <a:pt x="3" y="1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1" y="5"/>
                      <a:pt x="2" y="3"/>
                      <a:pt x="3" y="0"/>
                    </a:cubicBez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Freeform 1302"/>
              <p:cNvSpPr>
                <a:spLocks noChangeArrowheads="1"/>
              </p:cNvSpPr>
              <p:nvPr/>
            </p:nvSpPr>
            <p:spPr bwMode="auto">
              <a:xfrm>
                <a:off x="1355725" y="1117599"/>
                <a:ext cx="485775" cy="128587"/>
              </a:xfrm>
              <a:custGeom>
                <a:avLst/>
                <a:gdLst>
                  <a:gd name="T0" fmla="*/ 0 w 421"/>
                  <a:gd name="T1" fmla="*/ 113358625 h 112"/>
                  <a:gd name="T2" fmla="*/ 508591425 w 421"/>
                  <a:gd name="T3" fmla="*/ 147630505 h 112"/>
                  <a:gd name="T4" fmla="*/ 560516272 w 421"/>
                  <a:gd name="T5" fmla="*/ 137085223 h 112"/>
                  <a:gd name="T6" fmla="*/ 426045444 w 421"/>
                  <a:gd name="T7" fmla="*/ 0 h 112"/>
                  <a:gd name="T8" fmla="*/ 0 w 421"/>
                  <a:gd name="T9" fmla="*/ 113358625 h 1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21"/>
                  <a:gd name="T16" fmla="*/ 0 h 112"/>
                  <a:gd name="T17" fmla="*/ 421 w 421"/>
                  <a:gd name="T18" fmla="*/ 112 h 1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21" h="112">
                    <a:moveTo>
                      <a:pt x="0" y="86"/>
                    </a:moveTo>
                    <a:cubicBezTo>
                      <a:pt x="382" y="112"/>
                      <a:pt x="382" y="112"/>
                      <a:pt x="382" y="112"/>
                    </a:cubicBezTo>
                    <a:cubicBezTo>
                      <a:pt x="395" y="109"/>
                      <a:pt x="408" y="107"/>
                      <a:pt x="421" y="104"/>
                    </a:cubicBezTo>
                    <a:cubicBezTo>
                      <a:pt x="320" y="0"/>
                      <a:pt x="320" y="0"/>
                      <a:pt x="320" y="0"/>
                    </a:cubicBezTo>
                    <a:lnTo>
                      <a:pt x="0" y="86"/>
                    </a:lnTo>
                    <a:close/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" name="Freeform 1303"/>
              <p:cNvSpPr>
                <a:spLocks noChangeArrowheads="1"/>
              </p:cNvSpPr>
              <p:nvPr/>
            </p:nvSpPr>
            <p:spPr bwMode="auto">
              <a:xfrm>
                <a:off x="1065213" y="998537"/>
                <a:ext cx="180975" cy="47625"/>
              </a:xfrm>
              <a:custGeom>
                <a:avLst/>
                <a:gdLst>
                  <a:gd name="T0" fmla="*/ 209948401 w 156"/>
                  <a:gd name="T1" fmla="*/ 7715250 h 42"/>
                  <a:gd name="T2" fmla="*/ 0 w 156"/>
                  <a:gd name="T3" fmla="*/ 0 h 42"/>
                  <a:gd name="T4" fmla="*/ 14803987 w 156"/>
                  <a:gd name="T5" fmla="*/ 54003348 h 42"/>
                  <a:gd name="T6" fmla="*/ 209948401 w 156"/>
                  <a:gd name="T7" fmla="*/ 7715250 h 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6"/>
                  <a:gd name="T13" fmla="*/ 0 h 42"/>
                  <a:gd name="T14" fmla="*/ 156 w 156"/>
                  <a:gd name="T15" fmla="*/ 42 h 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6" h="42">
                    <a:moveTo>
                      <a:pt x="156" y="6"/>
                    </a:moveTo>
                    <a:cubicBezTo>
                      <a:pt x="102" y="5"/>
                      <a:pt x="50" y="3"/>
                      <a:pt x="0" y="0"/>
                    </a:cubicBezTo>
                    <a:cubicBezTo>
                      <a:pt x="11" y="42"/>
                      <a:pt x="11" y="42"/>
                      <a:pt x="11" y="42"/>
                    </a:cubicBezTo>
                    <a:lnTo>
                      <a:pt x="156" y="6"/>
                    </a:ln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" name="Freeform 1304"/>
              <p:cNvSpPr>
                <a:spLocks noChangeArrowheads="1"/>
              </p:cNvSpPr>
              <p:nvPr/>
            </p:nvSpPr>
            <p:spPr bwMode="auto">
              <a:xfrm>
                <a:off x="1077913" y="1004887"/>
                <a:ext cx="244475" cy="60325"/>
              </a:xfrm>
              <a:custGeom>
                <a:avLst/>
                <a:gdLst>
                  <a:gd name="T0" fmla="*/ 193314841 w 211"/>
                  <a:gd name="T1" fmla="*/ 69982800 h 52"/>
                  <a:gd name="T2" fmla="*/ 283260785 w 211"/>
                  <a:gd name="T3" fmla="*/ 0 h 52"/>
                  <a:gd name="T4" fmla="*/ 230904900 w 211"/>
                  <a:gd name="T5" fmla="*/ 0 h 52"/>
                  <a:gd name="T6" fmla="*/ 194657715 w 211"/>
                  <a:gd name="T7" fmla="*/ 0 h 52"/>
                  <a:gd name="T8" fmla="*/ 0 w 211"/>
                  <a:gd name="T9" fmla="*/ 48449096 h 52"/>
                  <a:gd name="T10" fmla="*/ 193314841 w 211"/>
                  <a:gd name="T11" fmla="*/ 69982800 h 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11"/>
                  <a:gd name="T19" fmla="*/ 0 h 52"/>
                  <a:gd name="T20" fmla="*/ 211 w 211"/>
                  <a:gd name="T21" fmla="*/ 52 h 5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1" h="52">
                    <a:moveTo>
                      <a:pt x="144" y="52"/>
                    </a:moveTo>
                    <a:cubicBezTo>
                      <a:pt x="211" y="0"/>
                      <a:pt x="211" y="0"/>
                      <a:pt x="211" y="0"/>
                    </a:cubicBezTo>
                    <a:cubicBezTo>
                      <a:pt x="198" y="0"/>
                      <a:pt x="185" y="0"/>
                      <a:pt x="172" y="0"/>
                    </a:cubicBezTo>
                    <a:cubicBezTo>
                      <a:pt x="163" y="0"/>
                      <a:pt x="154" y="0"/>
                      <a:pt x="145" y="0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144" y="52"/>
                    </a:lnTo>
                    <a:close/>
                  </a:path>
                </a:pathLst>
              </a:custGeom>
              <a:solidFill>
                <a:srgbClr val="2F6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" name="Freeform 1305"/>
              <p:cNvSpPr>
                <a:spLocks noChangeArrowheads="1"/>
              </p:cNvSpPr>
              <p:nvPr/>
            </p:nvSpPr>
            <p:spPr bwMode="auto">
              <a:xfrm>
                <a:off x="633413" y="927099"/>
                <a:ext cx="1588" cy="1587"/>
              </a:xfrm>
              <a:custGeom>
                <a:avLst/>
                <a:gdLst>
                  <a:gd name="T0" fmla="*/ 1260872 w 2"/>
                  <a:gd name="T1" fmla="*/ 2518569 h 1"/>
                  <a:gd name="T2" fmla="*/ 0 w 2"/>
                  <a:gd name="T3" fmla="*/ 0 h 1"/>
                  <a:gd name="T4" fmla="*/ 1260872 w 2"/>
                  <a:gd name="T5" fmla="*/ 2518569 h 1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"/>
                  <a:gd name="T11" fmla="*/ 2 w 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">
                    <a:moveTo>
                      <a:pt x="2" y="1"/>
                    </a:moveTo>
                    <a:cubicBezTo>
                      <a:pt x="1" y="1"/>
                      <a:pt x="1" y="0"/>
                      <a:pt x="0" y="0"/>
                    </a:cubicBezTo>
                    <a:cubicBezTo>
                      <a:pt x="2" y="1"/>
                      <a:pt x="2" y="1"/>
                      <a:pt x="2" y="1"/>
                    </a:cubicBez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" name="Freeform 1306"/>
              <p:cNvSpPr>
                <a:spLocks noChangeArrowheads="1"/>
              </p:cNvSpPr>
              <p:nvPr/>
            </p:nvSpPr>
            <p:spPr bwMode="auto">
              <a:xfrm>
                <a:off x="423863" y="828674"/>
                <a:ext cx="158750" cy="80962"/>
              </a:xfrm>
              <a:custGeom>
                <a:avLst/>
                <a:gdLst>
                  <a:gd name="T0" fmla="*/ 110102974 w 137"/>
                  <a:gd name="T1" fmla="*/ 58513860 h 71"/>
                  <a:gd name="T2" fmla="*/ 41624945 w 137"/>
                  <a:gd name="T3" fmla="*/ 2601047 h 71"/>
                  <a:gd name="T4" fmla="*/ 12084699 w 137"/>
                  <a:gd name="T5" fmla="*/ 0 h 71"/>
                  <a:gd name="T6" fmla="*/ 0 w 137"/>
                  <a:gd name="T7" fmla="*/ 29906907 h 71"/>
                  <a:gd name="T8" fmla="*/ 183953011 w 137"/>
                  <a:gd name="T9" fmla="*/ 92321767 h 71"/>
                  <a:gd name="T10" fmla="*/ 110102974 w 137"/>
                  <a:gd name="T11" fmla="*/ 58513860 h 7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7"/>
                  <a:gd name="T19" fmla="*/ 0 h 71"/>
                  <a:gd name="T20" fmla="*/ 137 w 137"/>
                  <a:gd name="T21" fmla="*/ 71 h 7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7" h="71">
                    <a:moveTo>
                      <a:pt x="82" y="45"/>
                    </a:moveTo>
                    <a:cubicBezTo>
                      <a:pt x="58" y="32"/>
                      <a:pt x="41" y="17"/>
                      <a:pt x="31" y="2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137" y="71"/>
                      <a:pt x="137" y="71"/>
                      <a:pt x="137" y="71"/>
                    </a:cubicBezTo>
                    <a:cubicBezTo>
                      <a:pt x="116" y="63"/>
                      <a:pt x="98" y="54"/>
                      <a:pt x="82" y="45"/>
                    </a:cubicBez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" name="Freeform 1307"/>
              <p:cNvSpPr>
                <a:spLocks noChangeArrowheads="1"/>
              </p:cNvSpPr>
              <p:nvPr/>
            </p:nvSpPr>
            <p:spPr bwMode="auto">
              <a:xfrm>
                <a:off x="361950" y="855662"/>
                <a:ext cx="273050" cy="247650"/>
              </a:xfrm>
              <a:custGeom>
                <a:avLst/>
                <a:gdLst>
                  <a:gd name="T0" fmla="*/ 313239258 w 236"/>
                  <a:gd name="T1" fmla="*/ 83587058 h 215"/>
                  <a:gd name="T2" fmla="*/ 254339133 w 236"/>
                  <a:gd name="T3" fmla="*/ 63685213 h 215"/>
                  <a:gd name="T4" fmla="*/ 70947877 w 236"/>
                  <a:gd name="T5" fmla="*/ 0 h 215"/>
                  <a:gd name="T6" fmla="*/ 6693196 w 236"/>
                  <a:gd name="T7" fmla="*/ 164521382 h 215"/>
                  <a:gd name="T8" fmla="*/ 5354557 w 236"/>
                  <a:gd name="T9" fmla="*/ 169828003 h 215"/>
                  <a:gd name="T10" fmla="*/ 4015918 w 236"/>
                  <a:gd name="T11" fmla="*/ 172481890 h 215"/>
                  <a:gd name="T12" fmla="*/ 4015918 w 236"/>
                  <a:gd name="T13" fmla="*/ 172481890 h 215"/>
                  <a:gd name="T14" fmla="*/ 0 w 236"/>
                  <a:gd name="T15" fmla="*/ 199017299 h 215"/>
                  <a:gd name="T16" fmla="*/ 42836454 w 236"/>
                  <a:gd name="T17" fmla="*/ 285258244 h 215"/>
                  <a:gd name="T18" fmla="*/ 315916536 w 236"/>
                  <a:gd name="T19" fmla="*/ 84914002 h 215"/>
                  <a:gd name="T20" fmla="*/ 313239258 w 236"/>
                  <a:gd name="T21" fmla="*/ 83587058 h 21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36"/>
                  <a:gd name="T34" fmla="*/ 0 h 215"/>
                  <a:gd name="T35" fmla="*/ 236 w 236"/>
                  <a:gd name="T36" fmla="*/ 215 h 21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36" h="215">
                    <a:moveTo>
                      <a:pt x="234" y="63"/>
                    </a:moveTo>
                    <a:cubicBezTo>
                      <a:pt x="218" y="58"/>
                      <a:pt x="204" y="53"/>
                      <a:pt x="190" y="48"/>
                    </a:cubicBezTo>
                    <a:cubicBezTo>
                      <a:pt x="53" y="0"/>
                      <a:pt x="53" y="0"/>
                      <a:pt x="53" y="0"/>
                    </a:cubicBezTo>
                    <a:cubicBezTo>
                      <a:pt x="5" y="124"/>
                      <a:pt x="5" y="124"/>
                      <a:pt x="5" y="124"/>
                    </a:cubicBezTo>
                    <a:cubicBezTo>
                      <a:pt x="4" y="128"/>
                      <a:pt x="4" y="128"/>
                      <a:pt x="4" y="128"/>
                    </a:cubicBezTo>
                    <a:cubicBezTo>
                      <a:pt x="3" y="130"/>
                      <a:pt x="3" y="130"/>
                      <a:pt x="3" y="130"/>
                    </a:cubicBezTo>
                    <a:cubicBezTo>
                      <a:pt x="3" y="130"/>
                      <a:pt x="3" y="130"/>
                      <a:pt x="3" y="130"/>
                    </a:cubicBezTo>
                    <a:cubicBezTo>
                      <a:pt x="1" y="137"/>
                      <a:pt x="0" y="144"/>
                      <a:pt x="0" y="150"/>
                    </a:cubicBezTo>
                    <a:cubicBezTo>
                      <a:pt x="0" y="173"/>
                      <a:pt x="11" y="194"/>
                      <a:pt x="32" y="215"/>
                    </a:cubicBezTo>
                    <a:cubicBezTo>
                      <a:pt x="236" y="64"/>
                      <a:pt x="236" y="64"/>
                      <a:pt x="236" y="64"/>
                    </a:cubicBezTo>
                    <a:lnTo>
                      <a:pt x="234" y="63"/>
                    </a:ln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Freeform 1308"/>
              <p:cNvSpPr>
                <a:spLocks noChangeArrowheads="1"/>
              </p:cNvSpPr>
              <p:nvPr/>
            </p:nvSpPr>
            <p:spPr bwMode="auto">
              <a:xfrm>
                <a:off x="1355725" y="1216024"/>
                <a:ext cx="441325" cy="58737"/>
              </a:xfrm>
              <a:custGeom>
                <a:avLst/>
                <a:gdLst>
                  <a:gd name="T0" fmla="*/ 289633973 w 382"/>
                  <a:gd name="T1" fmla="*/ 67647748 h 51"/>
                  <a:gd name="T2" fmla="*/ 509863235 w 382"/>
                  <a:gd name="T3" fmla="*/ 34486681 h 51"/>
                  <a:gd name="T4" fmla="*/ 0 w 382"/>
                  <a:gd name="T5" fmla="*/ 0 h 51"/>
                  <a:gd name="T6" fmla="*/ 289633973 w 382"/>
                  <a:gd name="T7" fmla="*/ 67647748 h 5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82"/>
                  <a:gd name="T13" fmla="*/ 0 h 51"/>
                  <a:gd name="T14" fmla="*/ 382 w 382"/>
                  <a:gd name="T15" fmla="*/ 51 h 5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82" h="51">
                    <a:moveTo>
                      <a:pt x="217" y="51"/>
                    </a:moveTo>
                    <a:cubicBezTo>
                      <a:pt x="276" y="45"/>
                      <a:pt x="331" y="36"/>
                      <a:pt x="382" y="26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217" y="51"/>
                    </a:ln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" name="Freeform 1309"/>
              <p:cNvSpPr>
                <a:spLocks noChangeArrowheads="1"/>
              </p:cNvSpPr>
              <p:nvPr/>
            </p:nvSpPr>
            <p:spPr bwMode="auto">
              <a:xfrm>
                <a:off x="1077913" y="1046162"/>
                <a:ext cx="166688" cy="38100"/>
              </a:xfrm>
              <a:custGeom>
                <a:avLst/>
                <a:gdLst>
                  <a:gd name="T0" fmla="*/ 264617994 w 105"/>
                  <a:gd name="T1" fmla="*/ 30241875 h 24"/>
                  <a:gd name="T2" fmla="*/ 0 w 105"/>
                  <a:gd name="T3" fmla="*/ 0 h 24"/>
                  <a:gd name="T4" fmla="*/ 206653432 w 105"/>
                  <a:gd name="T5" fmla="*/ 60483750 h 24"/>
                  <a:gd name="T6" fmla="*/ 264617994 w 105"/>
                  <a:gd name="T7" fmla="*/ 30241875 h 2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5"/>
                  <a:gd name="T13" fmla="*/ 0 h 24"/>
                  <a:gd name="T14" fmla="*/ 105 w 105"/>
                  <a:gd name="T15" fmla="*/ 24 h 2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5" h="24">
                    <a:moveTo>
                      <a:pt x="105" y="12"/>
                    </a:moveTo>
                    <a:lnTo>
                      <a:pt x="0" y="0"/>
                    </a:lnTo>
                    <a:lnTo>
                      <a:pt x="82" y="24"/>
                    </a:lnTo>
                    <a:lnTo>
                      <a:pt x="105" y="12"/>
                    </a:lnTo>
                    <a:close/>
                  </a:path>
                </a:pathLst>
              </a:custGeom>
              <a:solidFill>
                <a:srgbClr val="C102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" name="Freeform 1310"/>
              <p:cNvSpPr>
                <a:spLocks noChangeArrowheads="1"/>
              </p:cNvSpPr>
              <p:nvPr/>
            </p:nvSpPr>
            <p:spPr bwMode="auto">
              <a:xfrm>
                <a:off x="1171575" y="1084262"/>
                <a:ext cx="184150" cy="161925"/>
              </a:xfrm>
              <a:custGeom>
                <a:avLst/>
                <a:gdLst>
                  <a:gd name="T0" fmla="*/ 0 w 116"/>
                  <a:gd name="T1" fmla="*/ 257055938 h 102"/>
                  <a:gd name="T2" fmla="*/ 292338125 w 116"/>
                  <a:gd name="T3" fmla="*/ 209173763 h 102"/>
                  <a:gd name="T4" fmla="*/ 57964388 w 116"/>
                  <a:gd name="T5" fmla="*/ 0 h 102"/>
                  <a:gd name="T6" fmla="*/ 0 w 116"/>
                  <a:gd name="T7" fmla="*/ 257055938 h 10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6"/>
                  <a:gd name="T13" fmla="*/ 0 h 102"/>
                  <a:gd name="T14" fmla="*/ 116 w 116"/>
                  <a:gd name="T15" fmla="*/ 102 h 10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6" h="102">
                    <a:moveTo>
                      <a:pt x="0" y="102"/>
                    </a:moveTo>
                    <a:lnTo>
                      <a:pt x="116" y="83"/>
                    </a:lnTo>
                    <a:lnTo>
                      <a:pt x="23" y="0"/>
                    </a:lnTo>
                    <a:lnTo>
                      <a:pt x="0" y="102"/>
                    </a:lnTo>
                    <a:close/>
                  </a:path>
                </a:pathLst>
              </a:custGeom>
              <a:solidFill>
                <a:srgbClr val="C102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Freeform 1311"/>
              <p:cNvSpPr>
                <a:spLocks noChangeArrowheads="1"/>
              </p:cNvSpPr>
              <p:nvPr/>
            </p:nvSpPr>
            <p:spPr bwMode="auto">
              <a:xfrm>
                <a:off x="1208088" y="1065212"/>
                <a:ext cx="147638" cy="150812"/>
              </a:xfrm>
              <a:custGeom>
                <a:avLst/>
                <a:gdLst>
                  <a:gd name="T0" fmla="*/ 0 w 93"/>
                  <a:gd name="T1" fmla="*/ 30241775 h 95"/>
                  <a:gd name="T2" fmla="*/ 234376119 w 93"/>
                  <a:gd name="T3" fmla="*/ 239413256 h 95"/>
                  <a:gd name="T4" fmla="*/ 57964584 w 93"/>
                  <a:gd name="T5" fmla="*/ 0 h 95"/>
                  <a:gd name="T6" fmla="*/ 0 w 93"/>
                  <a:gd name="T7" fmla="*/ 30241775 h 9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3"/>
                  <a:gd name="T13" fmla="*/ 0 h 95"/>
                  <a:gd name="T14" fmla="*/ 93 w 93"/>
                  <a:gd name="T15" fmla="*/ 95 h 9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3" h="95">
                    <a:moveTo>
                      <a:pt x="0" y="12"/>
                    </a:moveTo>
                    <a:lnTo>
                      <a:pt x="93" y="95"/>
                    </a:lnTo>
                    <a:lnTo>
                      <a:pt x="23" y="0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Rectangle 1312"/>
              <p:cNvSpPr>
                <a:spLocks noChangeArrowheads="1"/>
              </p:cNvSpPr>
              <p:nvPr/>
            </p:nvSpPr>
            <p:spPr bwMode="auto">
              <a:xfrm>
                <a:off x="635000" y="928687"/>
                <a:ext cx="1588" cy="158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9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Calibri" panose="020F0502020204030204" pitchFamily="34" charset="0"/>
                  <a:ea typeface="微软雅黑" panose="020B0503020204020204" pitchFamily="34" charset="-122"/>
                  <a:sym typeface="Calibri" panose="020F0502020204030204" pitchFamily="34" charset="0"/>
                </a:endParaRPr>
              </a:p>
            </p:txBody>
          </p:sp>
          <p:sp>
            <p:nvSpPr>
              <p:cNvPr id="42" name="Freeform 1313"/>
              <p:cNvSpPr>
                <a:spLocks noChangeArrowheads="1"/>
              </p:cNvSpPr>
              <p:nvPr/>
            </p:nvSpPr>
            <p:spPr bwMode="auto">
              <a:xfrm>
                <a:off x="661988" y="1065212"/>
                <a:ext cx="509588" cy="182562"/>
              </a:xfrm>
              <a:custGeom>
                <a:avLst/>
                <a:gdLst>
                  <a:gd name="T0" fmla="*/ 204292789 w 441"/>
                  <a:gd name="T1" fmla="*/ 0 h 158"/>
                  <a:gd name="T2" fmla="*/ 0 w 441"/>
                  <a:gd name="T3" fmla="*/ 184240877 h 158"/>
                  <a:gd name="T4" fmla="*/ 114830629 w 441"/>
                  <a:gd name="T5" fmla="*/ 210942303 h 158"/>
                  <a:gd name="T6" fmla="*/ 588843378 w 441"/>
                  <a:gd name="T7" fmla="*/ 209607751 h 158"/>
                  <a:gd name="T8" fmla="*/ 204292789 w 441"/>
                  <a:gd name="T9" fmla="*/ 0 h 15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41"/>
                  <a:gd name="T16" fmla="*/ 0 h 158"/>
                  <a:gd name="T17" fmla="*/ 441 w 441"/>
                  <a:gd name="T18" fmla="*/ 158 h 15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41" h="158">
                    <a:moveTo>
                      <a:pt x="153" y="0"/>
                    </a:moveTo>
                    <a:cubicBezTo>
                      <a:pt x="0" y="138"/>
                      <a:pt x="0" y="138"/>
                      <a:pt x="0" y="138"/>
                    </a:cubicBezTo>
                    <a:cubicBezTo>
                      <a:pt x="27" y="145"/>
                      <a:pt x="56" y="152"/>
                      <a:pt x="86" y="158"/>
                    </a:cubicBezTo>
                    <a:cubicBezTo>
                      <a:pt x="441" y="157"/>
                      <a:pt x="441" y="157"/>
                      <a:pt x="441" y="157"/>
                    </a:cubicBezTo>
                    <a:lnTo>
                      <a:pt x="153" y="0"/>
                    </a:ln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" name="Freeform 1314"/>
              <p:cNvSpPr>
                <a:spLocks noChangeArrowheads="1"/>
              </p:cNvSpPr>
              <p:nvPr/>
            </p:nvSpPr>
            <p:spPr bwMode="auto">
              <a:xfrm>
                <a:off x="635000" y="928687"/>
                <a:ext cx="307975" cy="136525"/>
              </a:xfrm>
              <a:custGeom>
                <a:avLst/>
                <a:gdLst>
                  <a:gd name="T0" fmla="*/ 234164812 w 267"/>
                  <a:gd name="T1" fmla="*/ 157958268 h 118"/>
                  <a:gd name="T2" fmla="*/ 355238205 w 267"/>
                  <a:gd name="T3" fmla="*/ 68270599 h 118"/>
                  <a:gd name="T4" fmla="*/ 1329944 w 267"/>
                  <a:gd name="T5" fmla="*/ 0 h 118"/>
                  <a:gd name="T6" fmla="*/ 0 w 267"/>
                  <a:gd name="T7" fmla="*/ 0 h 118"/>
                  <a:gd name="T8" fmla="*/ 234164812 w 267"/>
                  <a:gd name="T9" fmla="*/ 157958268 h 1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7"/>
                  <a:gd name="T16" fmla="*/ 0 h 118"/>
                  <a:gd name="T17" fmla="*/ 267 w 267"/>
                  <a:gd name="T18" fmla="*/ 118 h 1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7" h="118">
                    <a:moveTo>
                      <a:pt x="176" y="118"/>
                    </a:moveTo>
                    <a:cubicBezTo>
                      <a:pt x="267" y="51"/>
                      <a:pt x="267" y="51"/>
                      <a:pt x="267" y="51"/>
                    </a:cubicBezTo>
                    <a:cubicBezTo>
                      <a:pt x="163" y="39"/>
                      <a:pt x="72" y="22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76" y="118"/>
                    </a:lnTo>
                    <a:close/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" name="Freeform 1315"/>
              <p:cNvSpPr>
                <a:spLocks noChangeArrowheads="1"/>
              </p:cNvSpPr>
              <p:nvPr/>
            </p:nvSpPr>
            <p:spPr bwMode="auto">
              <a:xfrm>
                <a:off x="838200" y="987424"/>
                <a:ext cx="239713" cy="77787"/>
              </a:xfrm>
              <a:custGeom>
                <a:avLst/>
                <a:gdLst>
                  <a:gd name="T0" fmla="*/ 276261165 w 208"/>
                  <a:gd name="T1" fmla="*/ 68743971 h 67"/>
                  <a:gd name="T2" fmla="*/ 261651349 w 208"/>
                  <a:gd name="T3" fmla="*/ 12131289 h 67"/>
                  <a:gd name="T4" fmla="*/ 120863756 w 208"/>
                  <a:gd name="T5" fmla="*/ 0 h 67"/>
                  <a:gd name="T6" fmla="*/ 0 w 208"/>
                  <a:gd name="T7" fmla="*/ 90310707 h 67"/>
                  <a:gd name="T8" fmla="*/ 276261165 w 208"/>
                  <a:gd name="T9" fmla="*/ 68743971 h 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8"/>
                  <a:gd name="T16" fmla="*/ 0 h 67"/>
                  <a:gd name="T17" fmla="*/ 208 w 208"/>
                  <a:gd name="T18" fmla="*/ 67 h 6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8" h="67">
                    <a:moveTo>
                      <a:pt x="208" y="51"/>
                    </a:moveTo>
                    <a:cubicBezTo>
                      <a:pt x="197" y="9"/>
                      <a:pt x="197" y="9"/>
                      <a:pt x="197" y="9"/>
                    </a:cubicBezTo>
                    <a:cubicBezTo>
                      <a:pt x="160" y="7"/>
                      <a:pt x="125" y="4"/>
                      <a:pt x="91" y="0"/>
                    </a:cubicBezTo>
                    <a:cubicBezTo>
                      <a:pt x="0" y="67"/>
                      <a:pt x="0" y="67"/>
                      <a:pt x="0" y="67"/>
                    </a:cubicBezTo>
                    <a:lnTo>
                      <a:pt x="208" y="51"/>
                    </a:ln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" name="Freeform 1316"/>
              <p:cNvSpPr>
                <a:spLocks noChangeArrowheads="1"/>
              </p:cNvSpPr>
              <p:nvPr/>
            </p:nvSpPr>
            <p:spPr bwMode="auto">
              <a:xfrm>
                <a:off x="838200" y="1046162"/>
                <a:ext cx="369888" cy="38100"/>
              </a:xfrm>
              <a:custGeom>
                <a:avLst/>
                <a:gdLst>
                  <a:gd name="T0" fmla="*/ 380544902 w 233"/>
                  <a:gd name="T1" fmla="*/ 0 h 24"/>
                  <a:gd name="T2" fmla="*/ 0 w 233"/>
                  <a:gd name="T3" fmla="*/ 30241875 h 24"/>
                  <a:gd name="T4" fmla="*/ 587197994 w 233"/>
                  <a:gd name="T5" fmla="*/ 60483750 h 24"/>
                  <a:gd name="T6" fmla="*/ 380544902 w 233"/>
                  <a:gd name="T7" fmla="*/ 0 h 2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3"/>
                  <a:gd name="T13" fmla="*/ 0 h 24"/>
                  <a:gd name="T14" fmla="*/ 233 w 233"/>
                  <a:gd name="T15" fmla="*/ 24 h 2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3" h="24">
                    <a:moveTo>
                      <a:pt x="151" y="0"/>
                    </a:moveTo>
                    <a:lnTo>
                      <a:pt x="0" y="12"/>
                    </a:lnTo>
                    <a:lnTo>
                      <a:pt x="233" y="24"/>
                    </a:lnTo>
                    <a:lnTo>
                      <a:pt x="1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" name="Freeform 1317"/>
              <p:cNvSpPr>
                <a:spLocks noChangeArrowheads="1"/>
              </p:cNvSpPr>
              <p:nvPr/>
            </p:nvSpPr>
            <p:spPr bwMode="auto">
              <a:xfrm>
                <a:off x="838200" y="1065212"/>
                <a:ext cx="369888" cy="180975"/>
              </a:xfrm>
              <a:custGeom>
                <a:avLst/>
                <a:gdLst>
                  <a:gd name="T0" fmla="*/ 0 w 233"/>
                  <a:gd name="T1" fmla="*/ 0 h 114"/>
                  <a:gd name="T2" fmla="*/ 529233528 w 233"/>
                  <a:gd name="T3" fmla="*/ 287297813 h 114"/>
                  <a:gd name="T4" fmla="*/ 587197994 w 233"/>
                  <a:gd name="T5" fmla="*/ 30241875 h 114"/>
                  <a:gd name="T6" fmla="*/ 0 w 233"/>
                  <a:gd name="T7" fmla="*/ 0 h 11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3"/>
                  <a:gd name="T13" fmla="*/ 0 h 114"/>
                  <a:gd name="T14" fmla="*/ 233 w 233"/>
                  <a:gd name="T15" fmla="*/ 114 h 11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3" h="114">
                    <a:moveTo>
                      <a:pt x="0" y="0"/>
                    </a:moveTo>
                    <a:lnTo>
                      <a:pt x="210" y="114"/>
                    </a:lnTo>
                    <a:lnTo>
                      <a:pt x="233" y="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" name="Freeform 1318"/>
              <p:cNvSpPr>
                <a:spLocks noChangeArrowheads="1"/>
              </p:cNvSpPr>
              <p:nvPr/>
            </p:nvSpPr>
            <p:spPr bwMode="auto">
              <a:xfrm>
                <a:off x="642938" y="1065212"/>
                <a:ext cx="195263" cy="158750"/>
              </a:xfrm>
              <a:custGeom>
                <a:avLst/>
                <a:gdLst>
                  <a:gd name="T0" fmla="*/ 33373797 w 169"/>
                  <a:gd name="T1" fmla="*/ 59549656 h 138"/>
                  <a:gd name="T2" fmla="*/ 0 w 169"/>
                  <a:gd name="T3" fmla="*/ 177327201 h 138"/>
                  <a:gd name="T4" fmla="*/ 21358768 w 169"/>
                  <a:gd name="T5" fmla="*/ 182620018 h 138"/>
                  <a:gd name="T6" fmla="*/ 225607332 w 169"/>
                  <a:gd name="T7" fmla="*/ 0 h 138"/>
                  <a:gd name="T8" fmla="*/ 33373797 w 169"/>
                  <a:gd name="T9" fmla="*/ 59549656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9"/>
                  <a:gd name="T16" fmla="*/ 0 h 138"/>
                  <a:gd name="T17" fmla="*/ 169 w 169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9" h="138">
                    <a:moveTo>
                      <a:pt x="25" y="45"/>
                    </a:moveTo>
                    <a:cubicBezTo>
                      <a:pt x="0" y="134"/>
                      <a:pt x="0" y="134"/>
                      <a:pt x="0" y="134"/>
                    </a:cubicBezTo>
                    <a:cubicBezTo>
                      <a:pt x="5" y="135"/>
                      <a:pt x="11" y="136"/>
                      <a:pt x="16" y="138"/>
                    </a:cubicBezTo>
                    <a:cubicBezTo>
                      <a:pt x="169" y="0"/>
                      <a:pt x="169" y="0"/>
                      <a:pt x="169" y="0"/>
                    </a:cubicBezTo>
                    <a:lnTo>
                      <a:pt x="25" y="4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" name="Freeform 1319"/>
              <p:cNvSpPr>
                <a:spLocks noChangeArrowheads="1"/>
              </p:cNvSpPr>
              <p:nvPr/>
            </p:nvSpPr>
            <p:spPr bwMode="auto">
              <a:xfrm>
                <a:off x="635000" y="928687"/>
                <a:ext cx="203200" cy="188912"/>
              </a:xfrm>
              <a:custGeom>
                <a:avLst/>
                <a:gdLst>
                  <a:gd name="T0" fmla="*/ 57964388 w 128"/>
                  <a:gd name="T1" fmla="*/ 299897006 h 119"/>
                  <a:gd name="T2" fmla="*/ 322580000 w 128"/>
                  <a:gd name="T3" fmla="*/ 216732864 h 119"/>
                  <a:gd name="T4" fmla="*/ 0 w 128"/>
                  <a:gd name="T5" fmla="*/ 0 h 119"/>
                  <a:gd name="T6" fmla="*/ 57964388 w 128"/>
                  <a:gd name="T7" fmla="*/ 299897006 h 11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8"/>
                  <a:gd name="T13" fmla="*/ 0 h 119"/>
                  <a:gd name="T14" fmla="*/ 128 w 128"/>
                  <a:gd name="T15" fmla="*/ 119 h 11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8" h="119">
                    <a:moveTo>
                      <a:pt x="23" y="119"/>
                    </a:moveTo>
                    <a:lnTo>
                      <a:pt x="128" y="86"/>
                    </a:lnTo>
                    <a:lnTo>
                      <a:pt x="0" y="0"/>
                    </a:lnTo>
                    <a:lnTo>
                      <a:pt x="23" y="119"/>
                    </a:ln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" name="Freeform 1320"/>
              <p:cNvSpPr>
                <a:spLocks noChangeArrowheads="1"/>
              </p:cNvSpPr>
              <p:nvPr/>
            </p:nvSpPr>
            <p:spPr bwMode="auto">
              <a:xfrm>
                <a:off x="463550" y="1117599"/>
                <a:ext cx="207963" cy="103187"/>
              </a:xfrm>
              <a:custGeom>
                <a:avLst/>
                <a:gdLst>
                  <a:gd name="T0" fmla="*/ 0 w 181"/>
                  <a:gd name="T1" fmla="*/ 37637748 h 89"/>
                  <a:gd name="T2" fmla="*/ 205939669 w 181"/>
                  <a:gd name="T3" fmla="*/ 119635472 h 89"/>
                  <a:gd name="T4" fmla="*/ 238942593 w 181"/>
                  <a:gd name="T5" fmla="*/ 0 h 89"/>
                  <a:gd name="T6" fmla="*/ 0 w 181"/>
                  <a:gd name="T7" fmla="*/ 37637748 h 8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81"/>
                  <a:gd name="T13" fmla="*/ 0 h 89"/>
                  <a:gd name="T14" fmla="*/ 181 w 181"/>
                  <a:gd name="T15" fmla="*/ 89 h 8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81" h="89">
                    <a:moveTo>
                      <a:pt x="0" y="28"/>
                    </a:moveTo>
                    <a:cubicBezTo>
                      <a:pt x="41" y="51"/>
                      <a:pt x="93" y="71"/>
                      <a:pt x="156" y="89"/>
                    </a:cubicBezTo>
                    <a:cubicBezTo>
                      <a:pt x="181" y="0"/>
                      <a:pt x="181" y="0"/>
                      <a:pt x="181" y="0"/>
                    </a:cubicBez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" name="Freeform 1321"/>
              <p:cNvSpPr>
                <a:spLocks noChangeArrowheads="1"/>
              </p:cNvSpPr>
              <p:nvPr/>
            </p:nvSpPr>
            <p:spPr bwMode="auto">
              <a:xfrm>
                <a:off x="400050" y="928687"/>
                <a:ext cx="271463" cy="220662"/>
              </a:xfrm>
              <a:custGeom>
                <a:avLst/>
                <a:gdLst>
                  <a:gd name="T0" fmla="*/ 269914741 w 236"/>
                  <a:gd name="T1" fmla="*/ 0 h 191"/>
                  <a:gd name="T2" fmla="*/ 0 w 236"/>
                  <a:gd name="T3" fmla="*/ 201541811 h 191"/>
                  <a:gd name="T4" fmla="*/ 72771639 w 236"/>
                  <a:gd name="T5" fmla="*/ 254930462 h 191"/>
                  <a:gd name="T6" fmla="*/ 312254917 w 236"/>
                  <a:gd name="T7" fmla="*/ 217558868 h 191"/>
                  <a:gd name="T8" fmla="*/ 269914741 w 236"/>
                  <a:gd name="T9" fmla="*/ 0 h 19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6"/>
                  <a:gd name="T16" fmla="*/ 0 h 191"/>
                  <a:gd name="T17" fmla="*/ 236 w 236"/>
                  <a:gd name="T18" fmla="*/ 191 h 19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6" h="191">
                    <a:moveTo>
                      <a:pt x="204" y="0"/>
                    </a:moveTo>
                    <a:cubicBezTo>
                      <a:pt x="0" y="151"/>
                      <a:pt x="0" y="151"/>
                      <a:pt x="0" y="151"/>
                    </a:cubicBezTo>
                    <a:cubicBezTo>
                      <a:pt x="14" y="165"/>
                      <a:pt x="33" y="178"/>
                      <a:pt x="55" y="191"/>
                    </a:cubicBezTo>
                    <a:cubicBezTo>
                      <a:pt x="236" y="163"/>
                      <a:pt x="236" y="163"/>
                      <a:pt x="236" y="163"/>
                    </a:cubicBezTo>
                    <a:lnTo>
                      <a:pt x="204" y="0"/>
                    </a:lnTo>
                    <a:close/>
                  </a:path>
                </a:pathLst>
              </a:custGeom>
              <a:solidFill>
                <a:srgbClr val="2F6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" name="Freeform 1322"/>
              <p:cNvSpPr>
                <a:spLocks noChangeArrowheads="1"/>
              </p:cNvSpPr>
              <p:nvPr/>
            </p:nvSpPr>
            <p:spPr bwMode="auto">
              <a:xfrm>
                <a:off x="1049338" y="1246187"/>
                <a:ext cx="220663" cy="47625"/>
              </a:xfrm>
              <a:custGeom>
                <a:avLst/>
                <a:gdLst>
                  <a:gd name="T0" fmla="*/ 0 w 191"/>
                  <a:gd name="T1" fmla="*/ 44525890 h 41"/>
                  <a:gd name="T2" fmla="*/ 254932773 w 191"/>
                  <a:gd name="T3" fmla="*/ 55320503 h 41"/>
                  <a:gd name="T4" fmla="*/ 140146422 w 191"/>
                  <a:gd name="T5" fmla="*/ 0 h 41"/>
                  <a:gd name="T6" fmla="*/ 0 w 191"/>
                  <a:gd name="T7" fmla="*/ 44525890 h 4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1"/>
                  <a:gd name="T13" fmla="*/ 0 h 41"/>
                  <a:gd name="T14" fmla="*/ 191 w 191"/>
                  <a:gd name="T15" fmla="*/ 41 h 4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1" h="41">
                    <a:moveTo>
                      <a:pt x="0" y="33"/>
                    </a:moveTo>
                    <a:cubicBezTo>
                      <a:pt x="61" y="38"/>
                      <a:pt x="125" y="40"/>
                      <a:pt x="191" y="41"/>
                    </a:cubicBezTo>
                    <a:cubicBezTo>
                      <a:pt x="105" y="0"/>
                      <a:pt x="105" y="0"/>
                      <a:pt x="105" y="0"/>
                    </a:cubicBez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Freeform 1323"/>
              <p:cNvSpPr>
                <a:spLocks noChangeArrowheads="1"/>
              </p:cNvSpPr>
              <p:nvPr/>
            </p:nvSpPr>
            <p:spPr bwMode="auto">
              <a:xfrm>
                <a:off x="1171575" y="1216024"/>
                <a:ext cx="184150" cy="77787"/>
              </a:xfrm>
              <a:custGeom>
                <a:avLst/>
                <a:gdLst>
                  <a:gd name="T0" fmla="*/ 0 w 160"/>
                  <a:gd name="T1" fmla="*/ 35045946 h 67"/>
                  <a:gd name="T2" fmla="*/ 113920945 w 160"/>
                  <a:gd name="T3" fmla="*/ 90310707 h 67"/>
                  <a:gd name="T4" fmla="*/ 121868168 w 160"/>
                  <a:gd name="T5" fmla="*/ 90310707 h 67"/>
                  <a:gd name="T6" fmla="*/ 180153945 w 160"/>
                  <a:gd name="T7" fmla="*/ 88962786 h 67"/>
                  <a:gd name="T8" fmla="*/ 211945141 w 160"/>
                  <a:gd name="T9" fmla="*/ 0 h 67"/>
                  <a:gd name="T10" fmla="*/ 0 w 160"/>
                  <a:gd name="T11" fmla="*/ 35045946 h 6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60"/>
                  <a:gd name="T19" fmla="*/ 0 h 67"/>
                  <a:gd name="T20" fmla="*/ 160 w 160"/>
                  <a:gd name="T21" fmla="*/ 67 h 6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60" h="67">
                    <a:moveTo>
                      <a:pt x="0" y="26"/>
                    </a:moveTo>
                    <a:cubicBezTo>
                      <a:pt x="86" y="67"/>
                      <a:pt x="86" y="67"/>
                      <a:pt x="86" y="67"/>
                    </a:cubicBezTo>
                    <a:cubicBezTo>
                      <a:pt x="88" y="67"/>
                      <a:pt x="90" y="67"/>
                      <a:pt x="92" y="67"/>
                    </a:cubicBezTo>
                    <a:cubicBezTo>
                      <a:pt x="107" y="67"/>
                      <a:pt x="121" y="66"/>
                      <a:pt x="136" y="66"/>
                    </a:cubicBezTo>
                    <a:cubicBezTo>
                      <a:pt x="160" y="0"/>
                      <a:pt x="160" y="0"/>
                      <a:pt x="160" y="0"/>
                    </a:cubicBez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" name="Freeform 1324"/>
              <p:cNvSpPr>
                <a:spLocks noChangeArrowheads="1"/>
              </p:cNvSpPr>
              <p:nvPr/>
            </p:nvSpPr>
            <p:spPr bwMode="auto">
              <a:xfrm>
                <a:off x="1328738" y="1216024"/>
                <a:ext cx="277813" cy="76200"/>
              </a:xfrm>
              <a:custGeom>
                <a:avLst/>
                <a:gdLst>
                  <a:gd name="T0" fmla="*/ 0 w 241"/>
                  <a:gd name="T1" fmla="*/ 87976364 h 66"/>
                  <a:gd name="T2" fmla="*/ 320249224 w 241"/>
                  <a:gd name="T3" fmla="*/ 67981945 h 66"/>
                  <a:gd name="T4" fmla="*/ 31892010 w 241"/>
                  <a:gd name="T5" fmla="*/ 0 h 66"/>
                  <a:gd name="T6" fmla="*/ 0 w 241"/>
                  <a:gd name="T7" fmla="*/ 87976364 h 6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41"/>
                  <a:gd name="T13" fmla="*/ 0 h 66"/>
                  <a:gd name="T14" fmla="*/ 241 w 241"/>
                  <a:gd name="T15" fmla="*/ 66 h 6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41" h="66">
                    <a:moveTo>
                      <a:pt x="0" y="66"/>
                    </a:moveTo>
                    <a:cubicBezTo>
                      <a:pt x="84" y="65"/>
                      <a:pt x="165" y="60"/>
                      <a:pt x="241" y="51"/>
                    </a:cubicBezTo>
                    <a:cubicBezTo>
                      <a:pt x="24" y="0"/>
                      <a:pt x="24" y="0"/>
                      <a:pt x="24" y="0"/>
                    </a:cubicBezTo>
                    <a:lnTo>
                      <a:pt x="0" y="66"/>
                    </a:lnTo>
                    <a:close/>
                  </a:path>
                </a:pathLst>
              </a:custGeom>
              <a:solidFill>
                <a:srgbClr val="C102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" name="Freeform 1325"/>
              <p:cNvSpPr>
                <a:spLocks noChangeArrowheads="1"/>
              </p:cNvSpPr>
              <p:nvPr/>
            </p:nvSpPr>
            <p:spPr bwMode="auto">
              <a:xfrm>
                <a:off x="1725613" y="1117599"/>
                <a:ext cx="358775" cy="119062"/>
              </a:xfrm>
              <a:custGeom>
                <a:avLst/>
                <a:gdLst>
                  <a:gd name="T0" fmla="*/ 134413727 w 311"/>
                  <a:gd name="T1" fmla="*/ 136305383 h 104"/>
                  <a:gd name="T2" fmla="*/ 413889070 w 311"/>
                  <a:gd name="T3" fmla="*/ 40629908 h 104"/>
                  <a:gd name="T4" fmla="*/ 0 w 311"/>
                  <a:gd name="T5" fmla="*/ 0 h 104"/>
                  <a:gd name="T6" fmla="*/ 134413727 w 311"/>
                  <a:gd name="T7" fmla="*/ 136305383 h 10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1"/>
                  <a:gd name="T13" fmla="*/ 0 h 104"/>
                  <a:gd name="T14" fmla="*/ 311 w 311"/>
                  <a:gd name="T15" fmla="*/ 104 h 10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1" h="104">
                    <a:moveTo>
                      <a:pt x="101" y="104"/>
                    </a:moveTo>
                    <a:cubicBezTo>
                      <a:pt x="188" y="84"/>
                      <a:pt x="259" y="59"/>
                      <a:pt x="311" y="31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01" y="104"/>
                    </a:ln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" name="Freeform 1326"/>
              <p:cNvSpPr>
                <a:spLocks noChangeArrowheads="1"/>
              </p:cNvSpPr>
              <p:nvPr/>
            </p:nvSpPr>
            <p:spPr bwMode="auto">
              <a:xfrm>
                <a:off x="2085975" y="811212"/>
                <a:ext cx="106363" cy="315912"/>
              </a:xfrm>
              <a:custGeom>
                <a:avLst/>
                <a:gdLst>
                  <a:gd name="T0" fmla="*/ 0 w 91"/>
                  <a:gd name="T1" fmla="*/ 34816280 h 273"/>
                  <a:gd name="T2" fmla="*/ 49181784 w 91"/>
                  <a:gd name="T3" fmla="*/ 365569201 h 273"/>
                  <a:gd name="T4" fmla="*/ 124319646 w 91"/>
                  <a:gd name="T5" fmla="*/ 251747148 h 273"/>
                  <a:gd name="T6" fmla="*/ 117489037 w 91"/>
                  <a:gd name="T7" fmla="*/ 216930869 h 273"/>
                  <a:gd name="T8" fmla="*/ 117489037 w 91"/>
                  <a:gd name="T9" fmla="*/ 216930869 h 273"/>
                  <a:gd name="T10" fmla="*/ 49181784 w 91"/>
                  <a:gd name="T11" fmla="*/ 44189493 h 273"/>
                  <a:gd name="T12" fmla="*/ 19126639 w 91"/>
                  <a:gd name="T13" fmla="*/ 0 h 273"/>
                  <a:gd name="T14" fmla="*/ 0 w 91"/>
                  <a:gd name="T15" fmla="*/ 34816280 h 27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91"/>
                  <a:gd name="T25" fmla="*/ 0 h 273"/>
                  <a:gd name="T26" fmla="*/ 91 w 91"/>
                  <a:gd name="T27" fmla="*/ 273 h 273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91" h="273">
                    <a:moveTo>
                      <a:pt x="0" y="26"/>
                    </a:moveTo>
                    <a:cubicBezTo>
                      <a:pt x="36" y="273"/>
                      <a:pt x="36" y="273"/>
                      <a:pt x="36" y="273"/>
                    </a:cubicBezTo>
                    <a:cubicBezTo>
                      <a:pt x="71" y="247"/>
                      <a:pt x="91" y="218"/>
                      <a:pt x="91" y="188"/>
                    </a:cubicBezTo>
                    <a:cubicBezTo>
                      <a:pt x="91" y="179"/>
                      <a:pt x="89" y="171"/>
                      <a:pt x="86" y="162"/>
                    </a:cubicBezTo>
                    <a:cubicBezTo>
                      <a:pt x="86" y="162"/>
                      <a:pt x="86" y="162"/>
                      <a:pt x="86" y="162"/>
                    </a:cubicBezTo>
                    <a:cubicBezTo>
                      <a:pt x="36" y="33"/>
                      <a:pt x="36" y="33"/>
                      <a:pt x="36" y="33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2" y="9"/>
                      <a:pt x="7" y="18"/>
                      <a:pt x="0" y="26"/>
                    </a:cubicBezTo>
                    <a:close/>
                  </a:path>
                </a:pathLst>
              </a:custGeom>
              <a:solidFill>
                <a:srgbClr val="2F6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" name="Freeform 1327"/>
              <p:cNvSpPr>
                <a:spLocks noChangeArrowheads="1"/>
              </p:cNvSpPr>
              <p:nvPr/>
            </p:nvSpPr>
            <p:spPr bwMode="auto">
              <a:xfrm>
                <a:off x="1725613" y="841374"/>
                <a:ext cx="403225" cy="311150"/>
              </a:xfrm>
              <a:custGeom>
                <a:avLst/>
                <a:gdLst>
                  <a:gd name="T0" fmla="*/ 359083994 w 349"/>
                  <a:gd name="T1" fmla="*/ 45153627 h 270"/>
                  <a:gd name="T2" fmla="*/ 220255591 w 349"/>
                  <a:gd name="T3" fmla="*/ 102258871 h 270"/>
                  <a:gd name="T4" fmla="*/ 0 w 349"/>
                  <a:gd name="T5" fmla="*/ 317401810 h 270"/>
                  <a:gd name="T6" fmla="*/ 415149599 w 349"/>
                  <a:gd name="T7" fmla="*/ 358571565 h 270"/>
                  <a:gd name="T8" fmla="*/ 465875073 w 349"/>
                  <a:gd name="T9" fmla="*/ 328027006 h 270"/>
                  <a:gd name="T10" fmla="*/ 417819665 w 349"/>
                  <a:gd name="T11" fmla="*/ 0 h 270"/>
                  <a:gd name="T12" fmla="*/ 359083994 w 349"/>
                  <a:gd name="T13" fmla="*/ 45153627 h 27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49"/>
                  <a:gd name="T22" fmla="*/ 0 h 270"/>
                  <a:gd name="T23" fmla="*/ 349 w 349"/>
                  <a:gd name="T24" fmla="*/ 270 h 27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49" h="270">
                    <a:moveTo>
                      <a:pt x="269" y="34"/>
                    </a:moveTo>
                    <a:cubicBezTo>
                      <a:pt x="242" y="50"/>
                      <a:pt x="207" y="64"/>
                      <a:pt x="165" y="77"/>
                    </a:cubicBezTo>
                    <a:cubicBezTo>
                      <a:pt x="0" y="239"/>
                      <a:pt x="0" y="239"/>
                      <a:pt x="0" y="239"/>
                    </a:cubicBezTo>
                    <a:cubicBezTo>
                      <a:pt x="311" y="270"/>
                      <a:pt x="311" y="270"/>
                      <a:pt x="311" y="270"/>
                    </a:cubicBezTo>
                    <a:cubicBezTo>
                      <a:pt x="325" y="262"/>
                      <a:pt x="338" y="255"/>
                      <a:pt x="349" y="247"/>
                    </a:cubicBezTo>
                    <a:cubicBezTo>
                      <a:pt x="313" y="0"/>
                      <a:pt x="313" y="0"/>
                      <a:pt x="313" y="0"/>
                    </a:cubicBezTo>
                    <a:cubicBezTo>
                      <a:pt x="303" y="12"/>
                      <a:pt x="288" y="23"/>
                      <a:pt x="269" y="34"/>
                    </a:cubicBez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" name="Rectangle 1328"/>
              <p:cNvSpPr>
                <a:spLocks noChangeArrowheads="1"/>
              </p:cNvSpPr>
              <p:nvPr/>
            </p:nvSpPr>
            <p:spPr bwMode="auto">
              <a:xfrm>
                <a:off x="635000" y="928687"/>
                <a:ext cx="1588" cy="1587"/>
              </a:xfrm>
              <a:prstGeom prst="rect">
                <a:avLst/>
              </a:prstGeom>
              <a:solidFill>
                <a:srgbClr val="2F6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9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Calibri" panose="020F0502020204030204" pitchFamily="34" charset="0"/>
                  <a:ea typeface="微软雅黑" panose="020B0503020204020204" pitchFamily="34" charset="-122"/>
                  <a:sym typeface="Calibri" panose="020F0502020204030204" pitchFamily="34" charset="0"/>
                </a:endParaRPr>
              </a:p>
            </p:txBody>
          </p:sp>
          <p:sp>
            <p:nvSpPr>
              <p:cNvPr id="58" name="Freeform 1329"/>
              <p:cNvSpPr>
                <a:spLocks noChangeArrowheads="1"/>
              </p:cNvSpPr>
              <p:nvPr/>
            </p:nvSpPr>
            <p:spPr bwMode="auto">
              <a:xfrm>
                <a:off x="635000" y="928687"/>
                <a:ext cx="1588" cy="1"/>
              </a:xfrm>
              <a:custGeom>
                <a:avLst/>
                <a:gdLst>
                  <a:gd name="T0" fmla="*/ 2521744 w 1"/>
                  <a:gd name="T1" fmla="*/ 0 h 1"/>
                  <a:gd name="T2" fmla="*/ 2521744 w 1"/>
                  <a:gd name="T3" fmla="*/ 0 h 1"/>
                  <a:gd name="T4" fmla="*/ 0 w 1"/>
                  <a:gd name="T5" fmla="*/ 0 h 1"/>
                  <a:gd name="T6" fmla="*/ 2521744 w 1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"/>
                  <a:gd name="T13" fmla="*/ 0 h 1"/>
                  <a:gd name="T14" fmla="*/ 1 w 1"/>
                  <a:gd name="T15" fmla="*/ 1 h 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" h="1">
                    <a:moveTo>
                      <a:pt x="1" y="0"/>
                    </a:moveTo>
                    <a:lnTo>
                      <a:pt x="1" y="0"/>
                    </a:lnTo>
                    <a:lnTo>
                      <a:pt x="0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" name="Freeform 1330"/>
              <p:cNvSpPr>
                <a:spLocks noChangeArrowheads="1"/>
              </p:cNvSpPr>
              <p:nvPr/>
            </p:nvSpPr>
            <p:spPr bwMode="auto">
              <a:xfrm>
                <a:off x="1244600" y="1065212"/>
                <a:ext cx="369888" cy="150812"/>
              </a:xfrm>
              <a:custGeom>
                <a:avLst/>
                <a:gdLst>
                  <a:gd name="T0" fmla="*/ 0 w 233"/>
                  <a:gd name="T1" fmla="*/ 0 h 95"/>
                  <a:gd name="T2" fmla="*/ 176411176 w 233"/>
                  <a:gd name="T3" fmla="*/ 239413256 h 95"/>
                  <a:gd name="T4" fmla="*/ 587197994 w 233"/>
                  <a:gd name="T5" fmla="*/ 32761129 h 95"/>
                  <a:gd name="T6" fmla="*/ 0 w 233"/>
                  <a:gd name="T7" fmla="*/ 0 h 9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3"/>
                  <a:gd name="T13" fmla="*/ 0 h 95"/>
                  <a:gd name="T14" fmla="*/ 233 w 233"/>
                  <a:gd name="T15" fmla="*/ 95 h 9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3" h="95">
                    <a:moveTo>
                      <a:pt x="0" y="0"/>
                    </a:moveTo>
                    <a:lnTo>
                      <a:pt x="70" y="95"/>
                    </a:lnTo>
                    <a:lnTo>
                      <a:pt x="233" y="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" name="Freeform 1331"/>
              <p:cNvSpPr>
                <a:spLocks noChangeArrowheads="1"/>
              </p:cNvSpPr>
              <p:nvPr/>
            </p:nvSpPr>
            <p:spPr bwMode="auto">
              <a:xfrm>
                <a:off x="1244600" y="1003299"/>
                <a:ext cx="369888" cy="82550"/>
              </a:xfrm>
              <a:custGeom>
                <a:avLst/>
                <a:gdLst>
                  <a:gd name="T0" fmla="*/ 427553539 w 320"/>
                  <a:gd name="T1" fmla="*/ 94645868 h 72"/>
                  <a:gd name="T2" fmla="*/ 197743281 w 320"/>
                  <a:gd name="T3" fmla="*/ 0 h 72"/>
                  <a:gd name="T4" fmla="*/ 89518676 w 320"/>
                  <a:gd name="T5" fmla="*/ 2628988 h 72"/>
                  <a:gd name="T6" fmla="*/ 0 w 320"/>
                  <a:gd name="T7" fmla="*/ 70984974 h 72"/>
                  <a:gd name="T8" fmla="*/ 427553539 w 320"/>
                  <a:gd name="T9" fmla="*/ 94645868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0"/>
                  <a:gd name="T16" fmla="*/ 0 h 72"/>
                  <a:gd name="T17" fmla="*/ 320 w 320"/>
                  <a:gd name="T18" fmla="*/ 72 h 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0" h="72">
                    <a:moveTo>
                      <a:pt x="320" y="72"/>
                    </a:moveTo>
                    <a:cubicBezTo>
                      <a:pt x="148" y="0"/>
                      <a:pt x="148" y="0"/>
                      <a:pt x="148" y="0"/>
                    </a:cubicBezTo>
                    <a:cubicBezTo>
                      <a:pt x="121" y="1"/>
                      <a:pt x="94" y="1"/>
                      <a:pt x="67" y="2"/>
                    </a:cubicBezTo>
                    <a:cubicBezTo>
                      <a:pt x="0" y="54"/>
                      <a:pt x="0" y="54"/>
                      <a:pt x="0" y="54"/>
                    </a:cubicBezTo>
                    <a:lnTo>
                      <a:pt x="320" y="72"/>
                    </a:lnTo>
                    <a:close/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" name="Freeform 1332"/>
              <p:cNvSpPr>
                <a:spLocks noChangeArrowheads="1"/>
              </p:cNvSpPr>
              <p:nvPr/>
            </p:nvSpPr>
            <p:spPr bwMode="auto">
              <a:xfrm>
                <a:off x="1355725" y="1085849"/>
                <a:ext cx="369888" cy="130175"/>
              </a:xfrm>
              <a:custGeom>
                <a:avLst/>
                <a:gdLst>
                  <a:gd name="T0" fmla="*/ 0 w 233"/>
                  <a:gd name="T1" fmla="*/ 206652813 h 82"/>
                  <a:gd name="T2" fmla="*/ 587197994 w 233"/>
                  <a:gd name="T3" fmla="*/ 50403125 h 82"/>
                  <a:gd name="T4" fmla="*/ 410786818 w 233"/>
                  <a:gd name="T5" fmla="*/ 0 h 82"/>
                  <a:gd name="T6" fmla="*/ 0 w 233"/>
                  <a:gd name="T7" fmla="*/ 206652813 h 8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3"/>
                  <a:gd name="T13" fmla="*/ 0 h 82"/>
                  <a:gd name="T14" fmla="*/ 233 w 233"/>
                  <a:gd name="T15" fmla="*/ 82 h 8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3" h="82">
                    <a:moveTo>
                      <a:pt x="0" y="82"/>
                    </a:moveTo>
                    <a:lnTo>
                      <a:pt x="233" y="20"/>
                    </a:lnTo>
                    <a:lnTo>
                      <a:pt x="163" y="0"/>
                    </a:ln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2F6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" name="Freeform 1333"/>
              <p:cNvSpPr>
                <a:spLocks noChangeArrowheads="1"/>
              </p:cNvSpPr>
              <p:nvPr/>
            </p:nvSpPr>
            <p:spPr bwMode="auto">
              <a:xfrm>
                <a:off x="1416050" y="985837"/>
                <a:ext cx="206375" cy="100012"/>
              </a:xfrm>
              <a:custGeom>
                <a:avLst/>
                <a:gdLst>
                  <a:gd name="T0" fmla="*/ 237936540 w 179"/>
                  <a:gd name="T1" fmla="*/ 0 h 86"/>
                  <a:gd name="T2" fmla="*/ 0 w 179"/>
                  <a:gd name="T3" fmla="*/ 18933667 h 86"/>
                  <a:gd name="T4" fmla="*/ 228631218 w 179"/>
                  <a:gd name="T5" fmla="*/ 116306978 h 86"/>
                  <a:gd name="T6" fmla="*/ 237936540 w 179"/>
                  <a:gd name="T7" fmla="*/ 0 h 8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79"/>
                  <a:gd name="T13" fmla="*/ 0 h 86"/>
                  <a:gd name="T14" fmla="*/ 179 w 179"/>
                  <a:gd name="T15" fmla="*/ 86 h 8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79" h="86">
                    <a:moveTo>
                      <a:pt x="179" y="0"/>
                    </a:moveTo>
                    <a:cubicBezTo>
                      <a:pt x="123" y="6"/>
                      <a:pt x="63" y="11"/>
                      <a:pt x="0" y="14"/>
                    </a:cubicBezTo>
                    <a:cubicBezTo>
                      <a:pt x="172" y="86"/>
                      <a:pt x="172" y="86"/>
                      <a:pt x="172" y="86"/>
                    </a:cubicBezTo>
                    <a:lnTo>
                      <a:pt x="179" y="0"/>
                    </a:ln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" name="Freeform 1334"/>
              <p:cNvSpPr>
                <a:spLocks noChangeArrowheads="1"/>
              </p:cNvSpPr>
              <p:nvPr/>
            </p:nvSpPr>
            <p:spPr bwMode="auto">
              <a:xfrm>
                <a:off x="1614488" y="957262"/>
                <a:ext cx="188913" cy="128587"/>
              </a:xfrm>
              <a:custGeom>
                <a:avLst/>
                <a:gdLst>
                  <a:gd name="T0" fmla="*/ 218945531 w 163"/>
                  <a:gd name="T1" fmla="*/ 0 h 111"/>
                  <a:gd name="T2" fmla="*/ 9402768 w 163"/>
                  <a:gd name="T3" fmla="*/ 33549623 h 111"/>
                  <a:gd name="T4" fmla="*/ 0 w 163"/>
                  <a:gd name="T5" fmla="*/ 148960510 h 111"/>
                  <a:gd name="T6" fmla="*/ 218945531 w 163"/>
                  <a:gd name="T7" fmla="*/ 0 h 11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63"/>
                  <a:gd name="T13" fmla="*/ 0 h 111"/>
                  <a:gd name="T14" fmla="*/ 163 w 163"/>
                  <a:gd name="T15" fmla="*/ 111 h 11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63" h="111">
                    <a:moveTo>
                      <a:pt x="163" y="0"/>
                    </a:moveTo>
                    <a:cubicBezTo>
                      <a:pt x="116" y="10"/>
                      <a:pt x="63" y="18"/>
                      <a:pt x="7" y="25"/>
                    </a:cubicBezTo>
                    <a:cubicBezTo>
                      <a:pt x="0" y="111"/>
                      <a:pt x="0" y="111"/>
                      <a:pt x="0" y="111"/>
                    </a:cubicBezTo>
                    <a:lnTo>
                      <a:pt x="163" y="0"/>
                    </a:ln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" name="Freeform 1335"/>
              <p:cNvSpPr>
                <a:spLocks noChangeArrowheads="1"/>
              </p:cNvSpPr>
              <p:nvPr/>
            </p:nvSpPr>
            <p:spPr bwMode="auto">
              <a:xfrm>
                <a:off x="1614488" y="930274"/>
                <a:ext cx="301625" cy="187325"/>
              </a:xfrm>
              <a:custGeom>
                <a:avLst/>
                <a:gdLst>
                  <a:gd name="T0" fmla="*/ 128211427 w 261"/>
                  <a:gd name="T1" fmla="*/ 216608985 h 162"/>
                  <a:gd name="T2" fmla="*/ 348573336 w 261"/>
                  <a:gd name="T3" fmla="*/ 0 h 162"/>
                  <a:gd name="T4" fmla="*/ 217691199 w 261"/>
                  <a:gd name="T5" fmla="*/ 32090391 h 162"/>
                  <a:gd name="T6" fmla="*/ 0 w 261"/>
                  <a:gd name="T7" fmla="*/ 180507295 h 162"/>
                  <a:gd name="T8" fmla="*/ 128211427 w 261"/>
                  <a:gd name="T9" fmla="*/ 216608985 h 1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1"/>
                  <a:gd name="T16" fmla="*/ 0 h 162"/>
                  <a:gd name="T17" fmla="*/ 261 w 261"/>
                  <a:gd name="T18" fmla="*/ 162 h 16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1" h="162">
                    <a:moveTo>
                      <a:pt x="96" y="162"/>
                    </a:moveTo>
                    <a:cubicBezTo>
                      <a:pt x="261" y="0"/>
                      <a:pt x="261" y="0"/>
                      <a:pt x="261" y="0"/>
                    </a:cubicBezTo>
                    <a:cubicBezTo>
                      <a:pt x="232" y="9"/>
                      <a:pt x="199" y="17"/>
                      <a:pt x="163" y="24"/>
                    </a:cubicBezTo>
                    <a:cubicBezTo>
                      <a:pt x="0" y="135"/>
                      <a:pt x="0" y="135"/>
                      <a:pt x="0" y="135"/>
                    </a:cubicBezTo>
                    <a:lnTo>
                      <a:pt x="96" y="1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" name="Freeform 1336"/>
              <p:cNvSpPr>
                <a:spLocks noChangeArrowheads="1"/>
              </p:cNvSpPr>
              <p:nvPr/>
            </p:nvSpPr>
            <p:spPr bwMode="auto">
              <a:xfrm>
                <a:off x="2100263" y="777874"/>
                <a:ext cx="28575" cy="71437"/>
              </a:xfrm>
              <a:custGeom>
                <a:avLst/>
                <a:gdLst>
                  <a:gd name="T0" fmla="*/ 5670947 w 24"/>
                  <a:gd name="T1" fmla="*/ 23896829 h 62"/>
                  <a:gd name="T2" fmla="*/ 2834878 w 24"/>
                  <a:gd name="T3" fmla="*/ 38499934 h 62"/>
                  <a:gd name="T4" fmla="*/ 34022109 w 24"/>
                  <a:gd name="T5" fmla="*/ 82310403 h 62"/>
                  <a:gd name="T6" fmla="*/ 0 w 24"/>
                  <a:gd name="T7" fmla="*/ 0 h 62"/>
                  <a:gd name="T8" fmla="*/ 5670947 w 24"/>
                  <a:gd name="T9" fmla="*/ 23896829 h 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"/>
                  <a:gd name="T16" fmla="*/ 0 h 62"/>
                  <a:gd name="T17" fmla="*/ 24 w 24"/>
                  <a:gd name="T18" fmla="*/ 62 h 6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" h="62">
                    <a:moveTo>
                      <a:pt x="4" y="18"/>
                    </a:moveTo>
                    <a:cubicBezTo>
                      <a:pt x="4" y="21"/>
                      <a:pt x="3" y="25"/>
                      <a:pt x="2" y="29"/>
                    </a:cubicBezTo>
                    <a:cubicBezTo>
                      <a:pt x="24" y="62"/>
                      <a:pt x="24" y="62"/>
                      <a:pt x="24" y="6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" y="6"/>
                      <a:pt x="4" y="12"/>
                      <a:pt x="4" y="18"/>
                    </a:cubicBez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66" name="任意多边形 98"/>
          <p:cNvSpPr>
            <a:spLocks noChangeArrowheads="1"/>
          </p:cNvSpPr>
          <p:nvPr/>
        </p:nvSpPr>
        <p:spPr bwMode="auto">
          <a:xfrm>
            <a:off x="3715403" y="2356325"/>
            <a:ext cx="1746647" cy="360759"/>
          </a:xfrm>
          <a:custGeom>
            <a:avLst/>
            <a:gdLst>
              <a:gd name="T0" fmla="*/ 0 w 2541974"/>
              <a:gd name="T1" fmla="*/ 0 h 636814"/>
              <a:gd name="T2" fmla="*/ 2133619 w 2541974"/>
              <a:gd name="T3" fmla="*/ 0 h 636814"/>
              <a:gd name="T4" fmla="*/ 1991723 w 2541974"/>
              <a:gd name="T5" fmla="*/ 181664 h 636814"/>
              <a:gd name="T6" fmla="*/ 2133619 w 2541974"/>
              <a:gd name="T7" fmla="*/ 363328 h 636814"/>
              <a:gd name="T8" fmla="*/ 0 w 2541974"/>
              <a:gd name="T9" fmla="*/ 363328 h 636814"/>
              <a:gd name="T10" fmla="*/ 141809 w 2541974"/>
              <a:gd name="T11" fmla="*/ 181664 h 63681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41974"/>
              <a:gd name="T19" fmla="*/ 0 h 636814"/>
              <a:gd name="T20" fmla="*/ 2541974 w 2541974"/>
              <a:gd name="T21" fmla="*/ 636814 h 63681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41974" h="636814">
                <a:moveTo>
                  <a:pt x="0" y="0"/>
                </a:moveTo>
                <a:lnTo>
                  <a:pt x="2541974" y="0"/>
                </a:lnTo>
                <a:lnTo>
                  <a:pt x="2372921" y="318407"/>
                </a:lnTo>
                <a:lnTo>
                  <a:pt x="2541974" y="636814"/>
                </a:lnTo>
                <a:lnTo>
                  <a:pt x="0" y="636814"/>
                </a:lnTo>
                <a:lnTo>
                  <a:pt x="168950" y="318407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 cstate="print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</a14:hiddenLine>
            </a:ext>
          </a:extLst>
        </p:spPr>
        <p:txBody>
          <a:bodyPr anchor="ctr"/>
          <a:lstStyle/>
          <a:p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谢谢聆听</a:t>
            </a:r>
            <a:endParaRPr lang="zh-CN" altLang="en-US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67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8438"/>
            <a:ext cx="1547664" cy="395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 主题">
      <a:majorFont>
        <a:latin typeface="Browallia New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7F4FF"/>
        </a:solidFill>
        <a:ln w="28575" cap="flat" cmpd="sng" algn="ctr">
          <a:solidFill>
            <a:srgbClr val="5AADD6"/>
          </a:solidFill>
          <a:prstDash val="solid"/>
          <a:round/>
          <a:headEnd type="none" w="med" len="med"/>
          <a:tailEnd type="none" w="med" len="med"/>
        </a:ln>
        <a:effectLst>
          <a:outerShdw blurRad="38100" sx="101000" sy="101000" algn="ctr" rotWithShape="0">
            <a:prstClr val="black">
              <a:alpha val="10000"/>
            </a:prstClr>
          </a:outerShdw>
        </a:effectLst>
      </a:spPr>
      <a:bodyPr wrap="square">
        <a:spAutoFit/>
      </a:bodyPr>
      <a:lstStyle>
        <a:defPPr marL="224155" indent="-224155" algn="l" defTabSz="381000">
          <a:lnSpc>
            <a:spcPct val="150000"/>
          </a:lnSpc>
          <a:buClr>
            <a:schemeClr val="folHlink"/>
          </a:buClr>
          <a:buSzPct val="60000"/>
          <a:buFont typeface="Wingdings" panose="05000000000000000000" pitchFamily="2" charset="2"/>
          <a:buNone/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9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3357</Words>
  <Application>WPS 文字</Application>
  <PresentationFormat>全屏显示(16:9)</PresentationFormat>
  <Paragraphs>493</Paragraphs>
  <Slides>43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64" baseType="lpstr">
      <vt:lpstr>Arial</vt:lpstr>
      <vt:lpstr>方正书宋_GBK</vt:lpstr>
      <vt:lpstr>Wingdings</vt:lpstr>
      <vt:lpstr>黑体</vt:lpstr>
      <vt:lpstr>汉仪中黑KW</vt:lpstr>
      <vt:lpstr>宋体</vt:lpstr>
      <vt:lpstr>汉仪书宋二KW</vt:lpstr>
      <vt:lpstr>Calibri</vt:lpstr>
      <vt:lpstr>Helvetica Neue</vt:lpstr>
      <vt:lpstr>微软雅黑</vt:lpstr>
      <vt:lpstr>Browallia New</vt:lpstr>
      <vt:lpstr>汉仪旗黑</vt:lpstr>
      <vt:lpstr>Tahoma</vt:lpstr>
      <vt:lpstr>Times New Roman</vt:lpstr>
      <vt:lpstr>Wingdings</vt:lpstr>
      <vt:lpstr>Impact</vt:lpstr>
      <vt:lpstr>宋体</vt:lpstr>
      <vt:lpstr>Arial Unicode MS</vt:lpstr>
      <vt:lpstr>苹方-简</vt:lpstr>
      <vt:lpstr>微软雅黑</vt:lpstr>
      <vt:lpstr>Office 主题</vt:lpstr>
      <vt:lpstr>第十一单元</vt:lpstr>
      <vt:lpstr>第一课时</vt:lpstr>
      <vt:lpstr>知识回顾</vt:lpstr>
      <vt:lpstr>贯穿案例</vt:lpstr>
      <vt:lpstr>贯穿案例</vt:lpstr>
      <vt:lpstr>知识目标</vt:lpstr>
      <vt:lpstr>为什么使用集合</vt:lpstr>
      <vt:lpstr>什么是集合</vt:lpstr>
      <vt:lpstr>如何使用集合</vt:lpstr>
      <vt:lpstr>如何使用集合</vt:lpstr>
      <vt:lpstr>如何使用集合</vt:lpstr>
      <vt:lpstr>如何使用集合</vt:lpstr>
      <vt:lpstr>如何使用集合</vt:lpstr>
      <vt:lpstr>如何使用集合</vt:lpstr>
      <vt:lpstr>如何使用集合</vt:lpstr>
      <vt:lpstr>如何使用集合</vt:lpstr>
      <vt:lpstr>如何使用集合</vt:lpstr>
      <vt:lpstr>课堂小结</vt:lpstr>
      <vt:lpstr>第三课时</vt:lpstr>
      <vt:lpstr>课堂回顾</vt:lpstr>
      <vt:lpstr>如何使用集合</vt:lpstr>
      <vt:lpstr>如何使用集合</vt:lpstr>
      <vt:lpstr>如何使用集合</vt:lpstr>
      <vt:lpstr>如何使用集合</vt:lpstr>
      <vt:lpstr>如何使用集合</vt:lpstr>
      <vt:lpstr>如何使用集合</vt:lpstr>
      <vt:lpstr>如何使用集合</vt:lpstr>
      <vt:lpstr>如何使用集合</vt:lpstr>
      <vt:lpstr>如何使用集合</vt:lpstr>
      <vt:lpstr>集合的作用</vt:lpstr>
      <vt:lpstr>第四课时</vt:lpstr>
      <vt:lpstr>如何实现双色球案例</vt:lpstr>
      <vt:lpstr>如何实现双色球案例</vt:lpstr>
      <vt:lpstr>如何实现双色球案例</vt:lpstr>
      <vt:lpstr>如何实现双色球案例</vt:lpstr>
      <vt:lpstr>如何实现双色球案例</vt:lpstr>
      <vt:lpstr>如何实现双色球案例</vt:lpstr>
      <vt:lpstr>如何实现双色球案例</vt:lpstr>
      <vt:lpstr>如何实现双色球案例</vt:lpstr>
      <vt:lpstr>单元总结</vt:lpstr>
      <vt:lpstr>概念图</vt:lpstr>
      <vt:lpstr>作业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第1章内容回顾</dc:title>
  <dc:creator>xiaojing.dai</dc:creator>
  <cp:lastModifiedBy>wenjie</cp:lastModifiedBy>
  <cp:revision>2951</cp:revision>
  <dcterms:created xsi:type="dcterms:W3CDTF">2021-08-20T08:54:53Z</dcterms:created>
  <dcterms:modified xsi:type="dcterms:W3CDTF">2021-08-20T08:54:53Z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2052-3.1.1.4956</vt:lpwstr>
  </property>
</Properties>
</file>