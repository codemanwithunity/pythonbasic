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516" r:id="rId3"/>
    <p:sldId id="1379" r:id="rId5"/>
    <p:sldId id="1381" r:id="rId6"/>
    <p:sldId id="1005" r:id="rId7"/>
    <p:sldId id="1742" r:id="rId8"/>
    <p:sldId id="1007" r:id="rId9"/>
    <p:sldId id="1113" r:id="rId10"/>
    <p:sldId id="1107" r:id="rId11"/>
    <p:sldId id="1267" r:id="rId12"/>
    <p:sldId id="1270" r:id="rId13"/>
    <p:sldId id="1268" r:id="rId14"/>
    <p:sldId id="2038" r:id="rId15"/>
    <p:sldId id="1271" r:id="rId16"/>
    <p:sldId id="1269" r:id="rId17"/>
    <p:sldId id="2039" r:id="rId18"/>
    <p:sldId id="2046" r:id="rId19"/>
    <p:sldId id="2047" r:id="rId20"/>
    <p:sldId id="2048" r:id="rId21"/>
    <p:sldId id="2049" r:id="rId22"/>
    <p:sldId id="2050" r:id="rId23"/>
    <p:sldId id="1426" r:id="rId24"/>
    <p:sldId id="1992" r:id="rId25"/>
    <p:sldId id="1210" r:id="rId26"/>
    <p:sldId id="2043" r:id="rId27"/>
    <p:sldId id="2044" r:id="rId28"/>
    <p:sldId id="2045" r:id="rId29"/>
    <p:sldId id="1926" r:id="rId30"/>
    <p:sldId id="1204" r:id="rId31"/>
    <p:sldId id="1203" r:id="rId32"/>
    <p:sldId id="515" r:id="rId33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9DC3E6"/>
    <a:srgbClr val="EBEBEB"/>
    <a:srgbClr val="EE3636"/>
    <a:srgbClr val="D2DEEF"/>
    <a:srgbClr val="F49022"/>
    <a:srgbClr val="BBE0E3"/>
    <a:srgbClr val="586A6C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9" autoAdjust="0"/>
    <p:restoredTop sz="70436" autoAdjust="0"/>
  </p:normalViewPr>
  <p:slideViewPr>
    <p:cSldViewPr>
      <p:cViewPr varScale="1">
        <p:scale>
          <a:sx n="68" d="100"/>
          <a:sy n="68" d="100"/>
        </p:scale>
        <p:origin x="715" y="29"/>
      </p:cViewPr>
      <p:guideLst>
        <p:guide orient="horz" pos="1632"/>
        <p:guide orient="horz" pos="2281"/>
        <p:guide pos="295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10" y="-84"/>
      </p:cViewPr>
      <p:guideLst>
        <p:guide orient="horz" pos="2902"/>
        <p:guide pos="2213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、讲师需要讲解飞机类中，哪些是属性，哪些是方法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/>
          </a:p>
          <a:p>
            <a:pPr eaLnBrk="1" hangingPunct="1"/>
            <a:r>
              <a:rPr lang="zh-CN" altLang="en-US"/>
              <a:t>不少于</a:t>
            </a:r>
            <a:r>
              <a:rPr lang="en-US" altLang="zh-CN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5" y="214296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350" b="1">
                <a:latin typeface="+mn-lt"/>
                <a:ea typeface="+mn-ea"/>
              </a:defRPr>
            </a:lvl4pPr>
            <a:lvl5pPr>
              <a:defRPr sz="12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79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BC04B-702B-4CBB-87CA-63CD96333525}" type="slidenum">
              <a:rPr lang="zh-CN" altLang="en-US" smtClean="0"/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5.png"/><Relationship Id="rId11" Type="http://schemas.microsoft.com/office/2007/relationships/hdphoto" Target="../media/image4.wdp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55526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GIF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第十二</a:t>
            </a:r>
            <a:r>
              <a:rPr lang="zh-CN" altLang="en-US"/>
              <a:t>单元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</a:t>
            </a:r>
            <a:r>
              <a:rPr lang="zh-CN" altLang="en-US" dirty="0"/>
              <a:t>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81663" y="2034798"/>
            <a:ext cx="7776864" cy="594066"/>
          </a:xfrm>
        </p:spPr>
        <p:txBody>
          <a:bodyPr/>
          <a:lstStyle/>
          <a:p>
            <a:r>
              <a:rPr lang="zh-CN" altLang="en-US" dirty="0"/>
              <a:t>点餐系统</a:t>
            </a:r>
            <a:endParaRPr lang="zh-CN" altLang="en-US" dirty="0"/>
          </a:p>
          <a:p>
            <a:r>
              <a:rPr lang="zh-CN" altLang="en-US" dirty="0"/>
              <a:t>界面</a:t>
            </a:r>
            <a:r>
              <a:rPr lang="en-US" altLang="zh-CN" dirty="0"/>
              <a:t>/</a:t>
            </a:r>
            <a:r>
              <a:rPr lang="zh-CN" altLang="en-US" dirty="0"/>
              <a:t>菜品展示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28782"/>
            <a:ext cx="6768877" cy="368300"/>
          </a:xfrm>
        </p:spPr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851535" y="2262268"/>
            <a:ext cx="5242560" cy="973926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scene3d>
            <a:camera prst="obliqueTopLeft"/>
            <a:lightRig rig="threePt" dir="t"/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lnSpc>
                <a:spcPct val="150000"/>
              </a:lnSpc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、序列有哪些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？</a:t>
            </a:r>
            <a:endParaRPr lang="en-US" altLang="zh-CN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-285750" algn="l" eaLnBrk="0" hangingPunct="0">
              <a:lnSpc>
                <a:spcPct val="150000"/>
              </a:lnSpc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、如何定义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  <a:endParaRPr lang="zh-CN" altLang="en-US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9" name="图片 8" descr="现场提问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  <p:pic>
        <p:nvPicPr>
          <p:cNvPr id="6" name="图片 5" descr="b40c9469ad2207f7b3ea6b9352f481f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205" y="1740535"/>
            <a:ext cx="2043430" cy="201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3" name="图片 12" descr="C:\Users\易航\Desktop\timg (6).jpgtimg (6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52270" y="3072765"/>
            <a:ext cx="2455545" cy="1681480"/>
          </a:xfrm>
          <a:prstGeom prst="rect">
            <a:avLst/>
          </a:prstGeom>
        </p:spPr>
      </p:pic>
      <p:pic>
        <p:nvPicPr>
          <p:cNvPr id="15" name="图片 14" descr="timg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70" y="1167765"/>
            <a:ext cx="2455545" cy="16814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33562"/>
          <a:stretch>
            <a:fillRect/>
          </a:stretch>
        </p:blipFill>
        <p:spPr>
          <a:xfrm>
            <a:off x="4707890" y="1123315"/>
            <a:ext cx="2455545" cy="1681480"/>
          </a:xfrm>
          <a:prstGeom prst="rect">
            <a:avLst/>
          </a:prstGeom>
        </p:spPr>
      </p:pic>
      <p:pic>
        <p:nvPicPr>
          <p:cNvPr id="18" name="图片 17" descr="timg (8)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rcRect l="20052" t="13308" r="18959" b="26381"/>
          <a:stretch>
            <a:fillRect/>
          </a:stretch>
        </p:blipFill>
        <p:spPr>
          <a:xfrm>
            <a:off x="4707890" y="3028315"/>
            <a:ext cx="2455545" cy="168148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277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模块展示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8395" y="1321435"/>
            <a:ext cx="428625" cy="12052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菜单展示</a:t>
            </a:r>
            <a:endParaRPr lang="zh-CN" altLang="en-US" sz="1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2345" y="3266440"/>
            <a:ext cx="428625" cy="12052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留言模块</a:t>
            </a:r>
            <a:endParaRPr lang="zh-CN" altLang="en-US" sz="1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8395" y="3343910"/>
            <a:ext cx="428625" cy="12052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点餐模块</a:t>
            </a:r>
            <a:endParaRPr lang="zh-CN" altLang="en-US" sz="1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32345" y="1391285"/>
            <a:ext cx="428625" cy="12052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结账模块</a:t>
            </a:r>
            <a:endParaRPr lang="zh-CN" altLang="en-US" sz="1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9" name="Rectangle 3"/>
          <p:cNvSpPr>
            <a:spLocks noGrp="1" noChangeArrowheads="1"/>
          </p:cNvSpPr>
          <p:nvPr>
            <p:ph idx="1"/>
          </p:nvPr>
        </p:nvSpPr>
        <p:spPr>
          <a:xfrm>
            <a:off x="612045" y="828265"/>
            <a:ext cx="8352928" cy="3137572"/>
          </a:xfr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t" anchorCtr="0" compatLnSpc="1"/>
          <a:lstStyle/>
          <a:p>
            <a:r>
              <a:t>需求说明</a:t>
            </a:r>
            <a:endParaRPr dirty="0"/>
          </a:p>
          <a:p>
            <a:pPr lvl="1"/>
            <a:r>
              <a:rPr lang="zh-CN" sz="2000" dirty="0"/>
              <a:t>设计饭店点餐系统</a:t>
            </a:r>
            <a:endParaRPr lang="zh-CN" sz="2000" dirty="0"/>
          </a:p>
          <a:p>
            <a:pPr lvl="1"/>
            <a:endParaRPr lang="zh-CN" sz="2000" dirty="0"/>
          </a:p>
          <a:p>
            <a:pPr lvl="1"/>
            <a:endParaRPr sz="2000" dirty="0"/>
          </a:p>
          <a:p>
            <a:r>
              <a:rPr dirty="0"/>
              <a:t>思路</a:t>
            </a:r>
            <a:r>
              <a:rPr lang="zh-CN" dirty="0"/>
              <a:t>分析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1800">
                <a:solidFill>
                  <a:schemeClr val="accent5">
                    <a:lumMod val="50000"/>
                  </a:schemeClr>
                </a:solidFill>
                <a:sym typeface="+mn-ea"/>
              </a:rPr>
              <a:t>设计菜品展示模块</a:t>
            </a:r>
            <a:endParaRPr lang="zh-CN" altLang="en-US" sz="1800">
              <a:solidFill>
                <a:schemeClr val="accent5">
                  <a:lumMod val="50000"/>
                </a:schemeClr>
              </a:solidFill>
              <a:sym typeface="+mn-ea"/>
            </a:endParaRPr>
          </a:p>
          <a:p>
            <a:pPr lvl="1"/>
            <a:r>
              <a:rPr lang="zh-CN" altLang="en-US" sz="1800">
                <a:solidFill>
                  <a:schemeClr val="accent5">
                    <a:lumMod val="50000"/>
                  </a:schemeClr>
                </a:solidFill>
                <a:sym typeface="+mn-ea"/>
              </a:rPr>
              <a:t>设计点餐模块</a:t>
            </a:r>
            <a:endParaRPr lang="zh-CN" altLang="en-US" sz="1800">
              <a:solidFill>
                <a:schemeClr val="accent5">
                  <a:lumMod val="50000"/>
                </a:schemeClr>
              </a:solidFill>
              <a:sym typeface="+mn-ea"/>
            </a:endParaRPr>
          </a:p>
          <a:p>
            <a:pPr lvl="1"/>
            <a:r>
              <a:rPr lang="zh-CN" altLang="en-US" sz="1800">
                <a:solidFill>
                  <a:schemeClr val="accent5">
                    <a:lumMod val="50000"/>
                  </a:schemeClr>
                </a:solidFill>
                <a:sym typeface="+mn-ea"/>
              </a:rPr>
              <a:t>设计结账模块</a:t>
            </a:r>
            <a:endParaRPr lang="zh-CN" altLang="en-US" sz="1800">
              <a:solidFill>
                <a:schemeClr val="accent5">
                  <a:lumMod val="50000"/>
                </a:schemeClr>
              </a:solidFill>
              <a:sym typeface="+mn-ea"/>
            </a:endParaRPr>
          </a:p>
          <a:p>
            <a:pPr lvl="1"/>
            <a:r>
              <a:rPr lang="zh-CN" altLang="en-US" sz="1800">
                <a:solidFill>
                  <a:schemeClr val="accent5">
                    <a:lumMod val="50000"/>
                  </a:schemeClr>
                </a:solidFill>
              </a:rPr>
              <a:t>设计留言模块</a:t>
            </a:r>
            <a:endParaRPr lang="zh-CN" altLang="en-US" sz="180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25" name="Group 29"/>
          <p:cNvGraphicFramePr>
            <a:graphicFrameLocks noGrp="1"/>
          </p:cNvGraphicFramePr>
          <p:nvPr/>
        </p:nvGraphicFramePr>
        <p:xfrm>
          <a:off x="5671185" y="993775"/>
          <a:ext cx="2538095" cy="336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095"/>
              </a:tblGrid>
              <a:tr h="380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BFFFE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饭店点餐系统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BFFFE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72000" marR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  <a:tr h="2634856">
                <a:tc>
                  <a:txBody>
                    <a:bodyPr/>
                    <a:lstStyle/>
                    <a:p>
                      <a:pPr marL="431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欢迎光临八维餐厅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  <a:p>
                      <a:pPr marL="431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、菜品展示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  <a:p>
                      <a:pPr marL="431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、点餐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  <a:p>
                      <a:pPr marL="431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3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、结账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  <a:p>
                      <a:pPr marL="431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4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、留言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72000" marR="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72000" marR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040120" y="1706245"/>
            <a:ext cx="1800225" cy="126619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219075" y="1797368"/>
            <a:ext cx="5531485" cy="15487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6985" indent="0" eaLnBrk="1" latinLnBrk="0" hangingPunct="1"/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1、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菜单展示：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查看菜品，是将所有的菜品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遍历显示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85" indent="0" eaLnBrk="1" latinLnBrk="0" hangingPunct="1"/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2、点餐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：将所选择的菜品存储到用户列表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85" indent="0" eaLnBrk="1" latinLnBrk="0" hangingPunct="1"/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3、结帐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：通过汇总出来的价格进行总账，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付款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85" indent="0" eaLnBrk="1" latinLnBrk="0" hangingPunct="1"/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留言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：为提升服务质量，征求用户的意见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277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需求分析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bldLvl="0" animBg="1" uiExpand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1683385" y="1036320"/>
            <a:ext cx="3204024" cy="394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True: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print('''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欢迎光临八维餐厅，请选择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1、查看菜品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2、点餐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3、自助结帐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4、请留言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''')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input("请选择：")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n == "1":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pass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 == "2":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pass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 == "3":</a:t>
            </a:r>
            <a:endParaRPr lang="zh-CN" altLang="en-US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pass</a:t>
            </a:r>
            <a:endParaRPr lang="en-US" altLang="zh-CN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elif n == 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":</a:t>
            </a:r>
            <a:endParaRPr lang="en-US" altLang="zh-CN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pass</a:t>
            </a:r>
            <a:endParaRPr lang="en-US" altLang="zh-CN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elif 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== 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zh-CN" altLang="en-US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":</a:t>
            </a:r>
            <a:endParaRPr lang="en-US" altLang="zh-CN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pass</a:t>
            </a:r>
            <a:endParaRPr lang="en-US" altLang="zh-CN" sz="12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896110" y="3049871"/>
            <a:ext cx="1152008" cy="1872014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pPr eaLnBrk="1" latinLnBrk="0" hangingPunct="1"/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-2147482601" descr="IMG_25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3650" y="2324100"/>
            <a:ext cx="3022600" cy="2661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277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框架搭建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>
            <a:spLocks noChangeArrowheads="1"/>
          </p:cNvSpPr>
          <p:nvPr/>
        </p:nvSpPr>
        <p:spPr bwMode="auto">
          <a:xfrm>
            <a:off x="297180" y="1301433"/>
            <a:ext cx="8731885" cy="3303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indent="0" eaLnBrk="1" latinLnBrk="0" hangingPunct="1">
              <a:buFont typeface="Wingdings" panose="05000000000000000000" charset="0"/>
              <a:buNone/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首先程序中需要两个变量用于存储所有的菜品和已选的菜品，命名是menu,select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[('宫爆鸡丁',15),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	('红烧肉',30),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	('水煮鱼',58),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	('水果沙拉',20),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	('大拌菜',15)]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select = []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在结帐模块中设定两个变量。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buNone/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	</a:t>
            </a:r>
            <a:r>
              <a:rPr lang="en-US" altLang="zh-CN" sz="14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total:用于统计用户的消费金额，pay用于接收用户的支付金额。</a:t>
            </a:r>
            <a:endParaRPr lang="en-US" altLang="zh-CN" sz="14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buNone/>
            </a:pP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第七单元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7000" y="1023620"/>
            <a:ext cx="2917825" cy="3648710"/>
          </a:xfrm>
          <a:prstGeom prst="rect">
            <a:avLst/>
          </a:prstGeom>
        </p:spPr>
      </p:pic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072026" y="46724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6061710" y="3111500"/>
            <a:ext cx="805815" cy="9315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911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环境变量介绍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uiExpand="1" build="allAtOnce"/>
      <p:bldP spid="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243840" y="1195070"/>
            <a:ext cx="4077970" cy="213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 = [('宫爆鸡丁',15),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  ('红烧肉',30),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  ('水煮鱼',58),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  ('水果沙拉',20),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	  ('大拌菜',15)]</a:t>
            </a: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if n == "1":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for i in menu: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print("菜品：%s，价格%.2f元"%(i[0],i[1]))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5" name="图片 14" descr="timg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515" y="1195070"/>
            <a:ext cx="3057525" cy="20681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3362325"/>
            <a:ext cx="2830830" cy="141986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294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查看菜品模块实现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C:\Users\易航\Desktop\timg (6).jpgtimg (6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50130" y="1462405"/>
            <a:ext cx="3698240" cy="2533015"/>
          </a:xfrm>
          <a:prstGeom prst="rect">
            <a:avLst/>
          </a:prstGeom>
        </p:spPr>
      </p:pic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204741" y="46724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82816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点餐模块思路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080770" y="1318260"/>
          <a:ext cx="2990215" cy="282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" imgW="6527800" imgH="6159500" progId="Visio.Drawing.15">
                  <p:embed/>
                </p:oleObj>
              </mc:Choice>
              <mc:Fallback>
                <p:oleObj name="" r:id="rId2" imgW="6527800" imgH="6159500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0770" y="1318260"/>
                        <a:ext cx="2990215" cy="282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317500" y="1310640"/>
            <a:ext cx="6010275" cy="3518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 = []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if n == "2":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i, j in enumerate(menu):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print("%d %s:%s" % (i, j[0], j[1]))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True: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s = int(input("请输入菜品的序号，-1则退出选择"))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</a:t>
            </a: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if s == -1: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break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select.append(menu[s])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print('您选择的菜品是：')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for i in select: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print(i[0])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print('请稍等，正在准备菜品')</a:t>
            </a:r>
            <a:endParaRPr lang="zh-CN" altLang="en-US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911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点餐模块实现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</a:t>
            </a:r>
            <a:r>
              <a:rPr lang="zh-CN" altLang="en-US" dirty="0"/>
              <a:t>节课</a:t>
            </a:r>
            <a:endParaRPr lang="en-US" altLang="zh-CN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83568" y="2138303"/>
            <a:ext cx="7776864" cy="594066"/>
          </a:xfrm>
        </p:spPr>
        <p:txBody>
          <a:bodyPr/>
          <a:lstStyle/>
          <a:p>
            <a:r>
              <a:rPr lang="zh-CN" altLang="en-US" dirty="0"/>
              <a:t>点餐系统</a:t>
            </a:r>
            <a:endParaRPr lang="zh-CN" altLang="en-US" dirty="0"/>
          </a:p>
          <a:p>
            <a:r>
              <a:rPr lang="zh-CN" altLang="en-US" dirty="0"/>
              <a:t>结账</a:t>
            </a:r>
            <a:r>
              <a:rPr lang="en-US" altLang="zh-CN" dirty="0"/>
              <a:t>/</a:t>
            </a:r>
            <a:r>
              <a:rPr lang="zh-CN" altLang="en-US" dirty="0"/>
              <a:t>留言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33562"/>
          <a:stretch>
            <a:fillRect/>
          </a:stretch>
        </p:blipFill>
        <p:spPr>
          <a:xfrm>
            <a:off x="4276090" y="1338580"/>
            <a:ext cx="4018280" cy="2466975"/>
          </a:xfrm>
          <a:prstGeom prst="rect">
            <a:avLst/>
          </a:prstGeom>
        </p:spPr>
      </p:pic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072026" y="46724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96469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结账模块思路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953770" y="1261745"/>
          <a:ext cx="3166745" cy="262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" r:id="rId2" imgW="7239000" imgH="6172200" progId="Visio.Drawing.15">
                  <p:embed/>
                </p:oleObj>
              </mc:Choice>
              <mc:Fallback>
                <p:oleObj name="" r:id="rId2" imgW="7239000" imgH="6172200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3770" y="1261745"/>
                        <a:ext cx="3166745" cy="2621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379095" y="1275715"/>
            <a:ext cx="4897755" cy="3518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if n == "3":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 = 0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print('您选择的菜品是：')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for i in select:  # 打印所选菜品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print(i)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t += i[1]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print('消费了', t)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while True: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pay = int(input('请付款'))  # 支付金额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if pay &gt;= t:  # 支付金额大于菜钱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print('找零：', pay - t)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break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else: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print('钱不够！')</a:t>
            </a:r>
            <a:endParaRPr lang="zh-CN" altLang="en-US" sz="16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87071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结账模块实现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timg (8)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rcRect l="19769" t="13308" r="18959" b="26381"/>
          <a:stretch>
            <a:fillRect/>
          </a:stretch>
        </p:blipFill>
        <p:spPr>
          <a:xfrm>
            <a:off x="6180455" y="1336040"/>
            <a:ext cx="2512695" cy="1979295"/>
          </a:xfrm>
          <a:prstGeom prst="rect">
            <a:avLst/>
          </a:prstGeom>
        </p:spPr>
      </p:pic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205197" y="45454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845" y="1336040"/>
            <a:ext cx="5557520" cy="200787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</a:t>
            </a:r>
            <a:r>
              <a:rPr lang="en-US" altLang="zh-CN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message</a:t>
            </a:r>
            <a:r>
              <a:rPr lang="zh-CN" altLang="en-US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的空列表，用于存储用户留言</a:t>
            </a:r>
            <a:endParaRPr lang="zh-CN" altLang="en-US" sz="18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当用户输入</a:t>
            </a:r>
            <a:r>
              <a:rPr lang="en-US" altLang="zh-CN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时：</a:t>
            </a:r>
            <a:endParaRPr lang="zh-CN" altLang="en-US" sz="18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提示用户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请您留下宝贵意见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marR="0" lvl="1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当用户输入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时：</a:t>
            </a:r>
            <a:endParaRPr lang="zh-CN" altLang="en-US" sz="18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00150" marR="0" lvl="2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打印输出用户留言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88023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留言模块思路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283845" y="1559560"/>
            <a:ext cx="3577590" cy="2676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message=[]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n=='4' :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 = input('请您留下富贵的意见')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message.append(m)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y = input('按1则可以查看所有评论')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y == '1':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for i in message: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print(i)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3874135" y="2531110"/>
            <a:ext cx="2066290" cy="368300"/>
          </a:xfrm>
          <a:prstGeom prst="rect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r>
              <a:rPr lang="zh-CN" altLang="en-US" sz="120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我们把留言存储到留言列表</a:t>
            </a:r>
            <a:endParaRPr lang="zh-CN" altLang="en-US" sz="1200">
              <a:solidFill>
                <a:schemeClr val="accent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3874135" y="3305175"/>
            <a:ext cx="2326640" cy="368300"/>
          </a:xfrm>
          <a:prstGeom prst="rect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r>
              <a:rPr lang="zh-CN" altLang="en-US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当用户输入</a:t>
            </a:r>
            <a:r>
              <a:rPr lang="en-US" altLang="zh-CN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的时候，查看留言</a:t>
            </a:r>
            <a:endParaRPr lang="zh-CN" altLang="en-US" sz="120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742691" y="2623687"/>
            <a:ext cx="1836014" cy="275721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742950" y="3273425"/>
            <a:ext cx="1728013" cy="900007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留言模块代码展示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8" name="直接箭头连接符 7"/>
          <p:cNvCxnSpPr>
            <a:stCxn id="19" idx="3"/>
            <a:endCxn id="12" idx="1"/>
          </p:cNvCxnSpPr>
          <p:nvPr/>
        </p:nvCxnSpPr>
        <p:spPr>
          <a:xfrm flipV="1">
            <a:off x="2578735" y="2670810"/>
            <a:ext cx="1295400" cy="4635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>
            <a:stCxn id="29" idx="3"/>
            <a:endCxn id="13" idx="1"/>
          </p:cNvCxnSpPr>
          <p:nvPr/>
        </p:nvCxnSpPr>
        <p:spPr>
          <a:xfrm flipV="1">
            <a:off x="2470785" y="3444875"/>
            <a:ext cx="1403350" cy="23431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2" grpId="0" bldLvl="0" animBg="1"/>
      <p:bldP spid="13" grpId="0" bldLvl="0" animBg="1"/>
      <p:bldP spid="19" grpId="0" bldLvl="0" animBg="1"/>
      <p:bldP spid="2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73174"/>
            <a:ext cx="7772400" cy="1102519"/>
          </a:xfrm>
        </p:spPr>
        <p:txBody>
          <a:bodyPr/>
          <a:lstStyle/>
          <a:p>
            <a:r>
              <a:rPr lang="zh-CN" altLang="en-US" dirty="0"/>
              <a:t>第三节课</a:t>
            </a:r>
            <a:endParaRPr lang="en-US" altLang="zh-CN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81663" y="1764923"/>
            <a:ext cx="7776864" cy="594066"/>
          </a:xfrm>
        </p:spPr>
        <p:txBody>
          <a:bodyPr/>
          <a:lstStyle/>
          <a:p>
            <a:r>
              <a:rPr lang="zh-CN" altLang="en-US" dirty="0"/>
              <a:t>拓展功能</a:t>
            </a:r>
            <a:r>
              <a:rPr lang="en-US" altLang="zh-CN" dirty="0"/>
              <a:t>-</a:t>
            </a:r>
            <a:r>
              <a:rPr lang="zh-CN" altLang="en-US" dirty="0"/>
              <a:t>优惠</a:t>
            </a:r>
            <a:endParaRPr lang="zh-CN" altLang="en-US" dirty="0"/>
          </a:p>
          <a:p>
            <a:r>
              <a:rPr lang="zh-CN" altLang="en-US" dirty="0"/>
              <a:t>修改已点</a:t>
            </a:r>
            <a:r>
              <a:rPr lang="zh-CN" altLang="en-US" dirty="0"/>
              <a:t>菜品信息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易航\Desktop\timg (9).jpgtimg (9)"/>
          <p:cNvPicPr>
            <a:picLocks noChangeAspect="1"/>
          </p:cNvPicPr>
          <p:nvPr/>
        </p:nvPicPr>
        <p:blipFill>
          <a:blip r:embed="rId1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rcRect t="1501" b="1967"/>
          <a:stretch>
            <a:fillRect/>
          </a:stretch>
        </p:blipFill>
        <p:spPr>
          <a:xfrm>
            <a:off x="5091430" y="1301750"/>
            <a:ext cx="2654300" cy="2782570"/>
          </a:xfrm>
          <a:prstGeom prst="rect">
            <a:avLst/>
          </a:prstGeom>
        </p:spPr>
      </p:pic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294276" y="45454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 descr="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301750"/>
            <a:ext cx="2654300" cy="278257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优惠模块思路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347345" y="1311910"/>
            <a:ext cx="5605145" cy="3538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n=='3':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print("您本次点餐是：")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total = 0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i in select: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print(i[0])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total += i[1]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print('共消费%d元'%total)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print(''1、打折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2、抹零</a:t>
            </a: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3、不优惠 '')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 = input('请选择：')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if s =='1':</a:t>
            </a:r>
            <a:endParaRPr lang="en-US" altLang="zh-CN" sz="160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total = total*int(input('请输入折扣：'))*0.1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if s =='2':</a:t>
            </a:r>
            <a:endParaRPr lang="en-US" altLang="zh-CN" sz="160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total = total//10*10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print('折扣后的价格是:%f'%total)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80110" y="3578860"/>
            <a:ext cx="4322445" cy="47879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5966460" y="3578860"/>
            <a:ext cx="1109980" cy="275590"/>
          </a:xfrm>
          <a:prstGeom prst="rect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</a:t>
            </a:r>
            <a:r>
              <a:rPr lang="en-US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则打折</a:t>
            </a:r>
            <a:endParaRPr lang="zh-CN" altLang="en-US" sz="120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" name="直接箭头连接符 1"/>
          <p:cNvCxnSpPr>
            <a:stCxn id="14" idx="3"/>
            <a:endCxn id="13" idx="1"/>
          </p:cNvCxnSpPr>
          <p:nvPr/>
        </p:nvCxnSpPr>
        <p:spPr>
          <a:xfrm flipV="1">
            <a:off x="5202555" y="3716655"/>
            <a:ext cx="763905" cy="1016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880110" y="4057650"/>
            <a:ext cx="4322445" cy="47879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5966460" y="4057650"/>
            <a:ext cx="1109980" cy="275590"/>
          </a:xfrm>
          <a:prstGeom prst="rect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</a:t>
            </a:r>
            <a:r>
              <a:rPr lang="en-US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则抹零</a:t>
            </a:r>
            <a:endParaRPr lang="zh-CN" altLang="en-US" sz="120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6" idx="1"/>
          </p:cNvCxnSpPr>
          <p:nvPr/>
        </p:nvCxnSpPr>
        <p:spPr>
          <a:xfrm flipV="1">
            <a:off x="5202555" y="4195445"/>
            <a:ext cx="763905" cy="1016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优惠模块代码展示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4" grpId="0" bldLvl="0" animBg="1"/>
      <p:bldP spid="13" grpId="0" bldLvl="0" animBg="1"/>
      <p:bldP spid="4" grpId="0" bldLvl="0" animBg="1"/>
      <p:bldP spid="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修改已点菜品信息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3845" y="1336040"/>
            <a:ext cx="5557520" cy="10674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删除的要修改的菜品</a:t>
            </a:r>
            <a:endParaRPr lang="zh-CN" altLang="en-US" sz="18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重新点餐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</a:t>
            </a:r>
            <a:r>
              <a:rPr lang="zh-CN" altLang="en-US" dirty="0"/>
              <a:t>节课</a:t>
            </a:r>
            <a:endParaRPr lang="en-US" altLang="zh-CN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83568" y="2076073"/>
            <a:ext cx="7776864" cy="594066"/>
          </a:xfrm>
        </p:spPr>
        <p:txBody>
          <a:bodyPr/>
          <a:lstStyle/>
          <a:p>
            <a:r>
              <a:rPr lang="zh-CN" altLang="en-US" dirty="0"/>
              <a:t>点餐系统</a:t>
            </a:r>
            <a:endParaRPr lang="zh-CN" altLang="en-US" dirty="0"/>
          </a:p>
          <a:p>
            <a:r>
              <a:rPr lang="zh-CN" altLang="en-US" dirty="0"/>
              <a:t>更改菜单菜品信息</a:t>
            </a:r>
            <a:r>
              <a:rPr lang="en-US" altLang="zh-CN" dirty="0"/>
              <a:t>--</a:t>
            </a:r>
            <a:r>
              <a:rPr lang="zh-CN" altLang="en-US" dirty="0"/>
              <a:t>后台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3092981" y="439682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845" y="2037715"/>
            <a:ext cx="4159885" cy="1478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285750" indent="-28575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input('请输入要修改的菜品编号：')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 = input('请输入新菜品名称：')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eaLnBrk="1" latinLnBrk="0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 = input('请输入新菜品价格：')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menu[int(n)] = (name,price)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更改菜品模块思路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6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393065" y="1475740"/>
            <a:ext cx="3589655" cy="2999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i,j in enumerate(menu):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print("%d %s:%s"%(i,j[0],j[1]))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input('请输入要修改的菜品编号：')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 = input('请输入新菜品名称：')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price = input('请输入新菜品价格：')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menu[int(n)] = (name,price)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print('修改成功')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i,j in enumerate(menu):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print("%d %s:%s"%(i,j[0],j[1]))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52755" y="2240280"/>
            <a:ext cx="3240024" cy="900007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4027805" y="2240280"/>
            <a:ext cx="1606550" cy="460375"/>
          </a:xfrm>
          <a:prstGeom prst="rect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输入新菜品的名字、</a:t>
            </a:r>
            <a:endParaRPr lang="zh-CN" altLang="zh-CN" sz="120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价格、进行修改</a:t>
            </a:r>
            <a:endParaRPr lang="zh-CN" altLang="zh-CN" sz="120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" name="直接箭头连接符 1"/>
          <p:cNvCxnSpPr>
            <a:stCxn id="14" idx="3"/>
            <a:endCxn id="13" idx="1"/>
          </p:cNvCxnSpPr>
          <p:nvPr/>
        </p:nvCxnSpPr>
        <p:spPr>
          <a:xfrm flipV="1">
            <a:off x="3692525" y="2470785"/>
            <a:ext cx="335280" cy="2197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229298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更改菜品代码展示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357505" y="1274445"/>
            <a:ext cx="4030345" cy="3561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print('''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欢迎光临八维餐厅，请选择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1、查看菜品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2、点餐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3、自助结帐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4、请留言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''')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input("请选择：")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 == "1":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pass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 == "2":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pass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n == "3":</a:t>
            </a:r>
            <a:endParaRPr lang="zh-CN" altLang="en-US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14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pass</a:t>
            </a:r>
            <a:endParaRPr lang="en-US" altLang="zh-CN" sz="14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406190" y="2948956"/>
            <a:ext cx="1908014" cy="275721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406190" y="3763026"/>
            <a:ext cx="1080008" cy="21600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>
            <a:stCxn id="3" idx="3"/>
            <a:endCxn id="11" idx="1"/>
          </p:cNvCxnSpPr>
          <p:nvPr/>
        </p:nvCxnSpPr>
        <p:spPr>
          <a:xfrm flipV="1">
            <a:off x="1486535" y="3788410"/>
            <a:ext cx="820420" cy="8255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流程图: 可选过程 10"/>
          <p:cNvSpPr/>
          <p:nvPr/>
        </p:nvSpPr>
        <p:spPr>
          <a:xfrm>
            <a:off x="2306955" y="3519805"/>
            <a:ext cx="2080895" cy="537210"/>
          </a:xfrm>
          <a:prstGeom prst="flowChartAlternateProcess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因为输入的是字符串的数字，这里要用字符串类型的</a:t>
            </a:r>
            <a:endParaRPr kumimoji="0" lang="zh-CN" altLang="zh-CN" sz="1200" b="0" i="0" u="none" strike="noStrike" cap="none" normalizeH="0" baseline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658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常见错误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1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332105" y="1335405"/>
            <a:ext cx="4770120" cy="36252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6985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if n == "2":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for i, j in enumerate(menu):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print("%d %s:%s" % (i, j[0], j[1]))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while True: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s = int(input("请输入菜品的序号，-1则退出选择"))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if s == -1: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break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else: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select.append(menu[s])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print('您选择的菜品是：')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for i in select: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print(i[0])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print('请稍等，正在准备菜品')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592455" y="1677035"/>
            <a:ext cx="2232016" cy="27559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ffectLst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92455" y="3847465"/>
            <a:ext cx="2376018" cy="1044008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ffectLst/>
            </a:endParaRPr>
          </a:p>
        </p:txBody>
      </p:sp>
      <p:cxnSp>
        <p:nvCxnSpPr>
          <p:cNvPr id="10" name="直接箭头连接符 9"/>
          <p:cNvCxnSpPr>
            <a:stCxn id="9" idx="3"/>
            <a:endCxn id="11" idx="1"/>
          </p:cNvCxnSpPr>
          <p:nvPr/>
        </p:nvCxnSpPr>
        <p:spPr>
          <a:xfrm flipV="1">
            <a:off x="2968625" y="3909695"/>
            <a:ext cx="179705" cy="45974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流程图: 可选过程 10"/>
          <p:cNvSpPr/>
          <p:nvPr/>
        </p:nvSpPr>
        <p:spPr>
          <a:xfrm>
            <a:off x="3148330" y="3746500"/>
            <a:ext cx="1856740" cy="325755"/>
          </a:xfrm>
          <a:prstGeom prst="flowChartAlternateProcess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200" b="0" i="0" u="none" strike="noStrike" cap="none" normalizeH="0" baseline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同级代码行，注意对齐</a:t>
            </a:r>
            <a:endParaRPr kumimoji="0" lang="zh-CN" altLang="zh-CN" sz="1200" b="0" i="0" u="none" strike="noStrike" cap="none" normalizeH="0" baseline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/>
          <p:cNvCxnSpPr>
            <a:stCxn id="4" idx="3"/>
            <a:endCxn id="2" idx="1"/>
          </p:cNvCxnSpPr>
          <p:nvPr/>
        </p:nvCxnSpPr>
        <p:spPr>
          <a:xfrm flipV="1">
            <a:off x="2824480" y="1588135"/>
            <a:ext cx="323850" cy="226695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流程图: 可选过程 1"/>
          <p:cNvSpPr/>
          <p:nvPr/>
        </p:nvSpPr>
        <p:spPr>
          <a:xfrm>
            <a:off x="3148330" y="1335405"/>
            <a:ext cx="1953895" cy="505460"/>
          </a:xfrm>
          <a:prstGeom prst="flowChartAlternateProcess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zh-CN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这里用到</a:t>
            </a:r>
            <a:r>
              <a:rPr lang="en-US" altLang="zh-CN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enumerate()</a:t>
            </a:r>
            <a:r>
              <a:rPr lang="zh-CN" altLang="en-US" sz="120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，注意这里用到了下表</a:t>
            </a:r>
            <a:endParaRPr kumimoji="0" lang="zh-CN" altLang="zh-CN" sz="1200" b="0" i="0" u="none" strike="noStrike" cap="none" normalizeH="0" baseline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658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常见错误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4" grpId="0" bldLvl="0" animBg="1"/>
      <p:bldP spid="9" grpId="0" bldLvl="0" animBg="1"/>
      <p:bldP spid="11" grpId="0" bldLvl="0" animBg="1"/>
      <p:bldP spid="2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283845" y="1265238"/>
            <a:ext cx="4538980" cy="3818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0" bIns="72000" anchor="ctr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marL="6985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if n == "3":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print("您本次点餐是：")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total = 0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for i in select: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print(i[0])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total += i[1]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print('共消费%d元' % total)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/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while True: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pay = int(input('请付款：'))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if pay &gt;= total: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print('找零%d元，谢谢光临' % (pay - total))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exit()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else: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985" indent="0" eaLnBrk="1" latinLnBrk="0" hangingPunct="1">
              <a:lnSpc>
                <a:spcPct val="120000"/>
              </a:lnSpc>
            </a:pPr>
            <a:r>
              <a:rPr lang="zh-CN" altLang="en-US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print('支持不足，请重新支持')</a:t>
            </a:r>
            <a:endParaRPr lang="zh-CN" altLang="en-US" sz="140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19430" y="1610995"/>
            <a:ext cx="2232016" cy="1584012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>
            <a:stCxn id="9" idx="3"/>
            <a:endCxn id="23" idx="1"/>
          </p:cNvCxnSpPr>
          <p:nvPr/>
        </p:nvCxnSpPr>
        <p:spPr>
          <a:xfrm flipV="1">
            <a:off x="2751455" y="1558290"/>
            <a:ext cx="242570" cy="845185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2994025" y="1302209"/>
            <a:ext cx="1828800" cy="511351"/>
          </a:xfrm>
          <a:prstGeom prst="wedgeRoundRectCallout">
            <a:avLst>
              <a:gd name="adj1" fmla="val 617"/>
              <a:gd name="adj2" fmla="val 49801"/>
              <a:gd name="adj3" fmla="val 16667"/>
            </a:avLst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b">
            <a:spAutoFit/>
            <a:scene3d>
              <a:camera prst="orthographicFront"/>
              <a:lightRig rig="threePt" dir="t"/>
            </a:scene3d>
          </a:bodyPr>
          <a:lstStyle/>
          <a:p>
            <a:pPr marL="285750" lvl="1" indent="-285750" algn="ctr" defTabSz="381000" eaLnBrk="0" latinLnBrk="0" hangingPunct="0">
              <a:lnSpc>
                <a:spcPct val="100000"/>
              </a:lnSpc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200" kern="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这里在显示餐单的同时</a:t>
            </a:r>
            <a:endParaRPr lang="zh-CN" altLang="en-US" sz="1200" kern="0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algn="ctr" defTabSz="381000" eaLnBrk="0" latinLnBrk="0" hangingPunct="0">
              <a:lnSpc>
                <a:spcPct val="100000"/>
              </a:lnSpc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200" kern="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计算了总价格</a:t>
            </a:r>
            <a:endParaRPr lang="zh-CN" altLang="en-US" sz="1200" kern="0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83845" y="772795"/>
            <a:ext cx="165862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常见错误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如何开发点餐系统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3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课堂总结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910" y="905510"/>
            <a:ext cx="2105025" cy="36099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概念图</a:t>
            </a:r>
            <a:endParaRPr lang="zh-CN" altLang="en-US"/>
          </a:p>
        </p:txBody>
      </p:sp>
      <p:pic>
        <p:nvPicPr>
          <p:cNvPr id="5" name="图片 4" descr="第七单元 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245" y="1064260"/>
            <a:ext cx="7763510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000" y="816750"/>
            <a:ext cx="8352928" cy="31375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dirty="0"/>
              <a:t>课后作业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完成练习手册中的简答题和编程题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复习指引</a:t>
            </a:r>
            <a:endParaRPr lang="zh-CN" altLang="en-US" dirty="0"/>
          </a:p>
          <a:p>
            <a:pPr lvl="1"/>
            <a:r>
              <a:rPr lang="zh-CN" altLang="en-US"/>
              <a:t>练习今天的案例，完善其功能</a:t>
            </a:r>
            <a:endParaRPr lang="en-US" altLang="zh-CN"/>
          </a:p>
          <a:p>
            <a:pPr lvl="1"/>
            <a:r>
              <a:rPr lang="zh-CN" altLang="en-US" dirty="0"/>
              <a:t>熟悉记忆元组的特征和用法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/>
            <a:r>
              <a:rPr lang="zh-CN" altLang="en-US"/>
              <a:t>借助书籍和</a:t>
            </a:r>
            <a:r>
              <a:rPr lang="en-US" altLang="zh-CN"/>
              <a:t>PPT</a:t>
            </a:r>
            <a:r>
              <a:rPr lang="zh-CN" altLang="en-US"/>
              <a:t>完成下一单元的预习工作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OC_GUID" val="{a544b036-d7aa-4e97-8dae-0573fa3d4b5b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3841</Words>
  <Application>WPS 演示</Application>
  <PresentationFormat>全屏显示(16:9)</PresentationFormat>
  <Paragraphs>355</Paragraphs>
  <Slides>30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宋体</vt:lpstr>
      <vt:lpstr>Wingdings</vt:lpstr>
      <vt:lpstr>黑体</vt:lpstr>
      <vt:lpstr>Calibri</vt:lpstr>
      <vt:lpstr>微软雅黑</vt:lpstr>
      <vt:lpstr>Browallia New</vt:lpstr>
      <vt:lpstr>Tahoma</vt:lpstr>
      <vt:lpstr>Times New Roman</vt:lpstr>
      <vt:lpstr>Wingdings</vt:lpstr>
      <vt:lpstr>Arial Unicode MS</vt:lpstr>
      <vt:lpstr>Impact</vt:lpstr>
      <vt:lpstr>Segoe Print</vt:lpstr>
      <vt:lpstr>Office 主题</vt:lpstr>
      <vt:lpstr>Visio.Drawing.15</vt:lpstr>
      <vt:lpstr>Visio.Drawing.15</vt:lpstr>
      <vt:lpstr>第十二单元</vt:lpstr>
      <vt:lpstr>第一节课</vt:lpstr>
      <vt:lpstr>知识回顾</vt:lpstr>
      <vt:lpstr>如何开发点餐系统</vt:lpstr>
      <vt:lpstr>如何开发点餐系统</vt:lpstr>
      <vt:lpstr>如何开发点餐系统</vt:lpstr>
      <vt:lpstr>如何开发点餐系统</vt:lpstr>
      <vt:lpstr>如何开发点餐系统</vt:lpstr>
      <vt:lpstr>如何开发点餐系统</vt:lpstr>
      <vt:lpstr>如何开发点餐系统</vt:lpstr>
      <vt:lpstr>如何开发点餐系统</vt:lpstr>
      <vt:lpstr>第二节课</vt:lpstr>
      <vt:lpstr>如何开发点餐系统</vt:lpstr>
      <vt:lpstr>如何开发点餐系统</vt:lpstr>
      <vt:lpstr>如何开发点餐系统</vt:lpstr>
      <vt:lpstr>如何开发点餐系统</vt:lpstr>
      <vt:lpstr>第三节课</vt:lpstr>
      <vt:lpstr>如何开发点餐系统</vt:lpstr>
      <vt:lpstr>如何开发点餐系统</vt:lpstr>
      <vt:lpstr>如何开发点餐系统</vt:lpstr>
      <vt:lpstr>第四节课</vt:lpstr>
      <vt:lpstr>如何开发点餐系统</vt:lpstr>
      <vt:lpstr>如何开发点餐系统</vt:lpstr>
      <vt:lpstr>如何开发点餐系统</vt:lpstr>
      <vt:lpstr>如何开发点餐系统</vt:lpstr>
      <vt:lpstr>如何开发点餐系统</vt:lpstr>
      <vt:lpstr>课堂总结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姚慧</cp:lastModifiedBy>
  <cp:revision>4604</cp:revision>
  <dcterms:created xsi:type="dcterms:W3CDTF">2006-03-08T06:55:00Z</dcterms:created>
  <dcterms:modified xsi:type="dcterms:W3CDTF">2020-11-16T02:19:39Z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