
<file path=[Content_Types].xml><?xml version="1.0" encoding="utf-8"?>
<Types xmlns="http://schemas.openxmlformats.org/package/2006/content-types">
  <Default Extension="jpeg" ContentType="image/jpeg"/>
  <Default Extension="png" ContentType="image/png"/>
  <Default Extension="gif" ContentType="image/gif"/>
  <Default Extension="wdp" ContentType="image/vnd.ms-photo"/>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8"/>
  </p:handoutMasterIdLst>
  <p:sldIdLst>
    <p:sldId id="1140" r:id="rId3"/>
    <p:sldId id="2398" r:id="rId5"/>
    <p:sldId id="1244" r:id="rId6"/>
    <p:sldId id="1361" r:id="rId7"/>
    <p:sldId id="1987" r:id="rId8"/>
    <p:sldId id="1246" r:id="rId9"/>
    <p:sldId id="2228" r:id="rId10"/>
    <p:sldId id="2299" r:id="rId11"/>
    <p:sldId id="1250" r:id="rId12"/>
    <p:sldId id="1986" r:id="rId13"/>
    <p:sldId id="1985" r:id="rId14"/>
    <p:sldId id="2300" r:id="rId15"/>
    <p:sldId id="2825" r:id="rId16"/>
    <p:sldId id="2470" r:id="rId17"/>
    <p:sldId id="1253" r:id="rId18"/>
    <p:sldId id="1535" r:id="rId19"/>
    <p:sldId id="2888" r:id="rId20"/>
    <p:sldId id="2819" r:id="rId21"/>
    <p:sldId id="2890" r:id="rId22"/>
    <p:sldId id="2889" r:id="rId23"/>
    <p:sldId id="2891" r:id="rId24"/>
    <p:sldId id="2899" r:id="rId25"/>
    <p:sldId id="2892" r:id="rId26"/>
    <p:sldId id="2901" r:id="rId27"/>
    <p:sldId id="2902" r:id="rId28"/>
    <p:sldId id="2903" r:id="rId29"/>
    <p:sldId id="2820" r:id="rId30"/>
    <p:sldId id="2821" r:id="rId31"/>
    <p:sldId id="2822" r:id="rId32"/>
    <p:sldId id="2898" r:id="rId33"/>
    <p:sldId id="2823" r:id="rId34"/>
    <p:sldId id="2909" r:id="rId35"/>
    <p:sldId id="2910" r:id="rId36"/>
    <p:sldId id="2904" r:id="rId37"/>
    <p:sldId id="2911" r:id="rId38"/>
    <p:sldId id="2905" r:id="rId39"/>
    <p:sldId id="1529" r:id="rId40"/>
    <p:sldId id="1531" r:id="rId41"/>
    <p:sldId id="2913" r:id="rId42"/>
    <p:sldId id="1541" r:id="rId43"/>
    <p:sldId id="2912" r:id="rId44"/>
    <p:sldId id="2399" r:id="rId45"/>
    <p:sldId id="2906" r:id="rId46"/>
    <p:sldId id="2907" r:id="rId47"/>
    <p:sldId id="2914" r:id="rId48"/>
    <p:sldId id="1601" r:id="rId49"/>
    <p:sldId id="1603" r:id="rId50"/>
    <p:sldId id="1249" r:id="rId51"/>
    <p:sldId id="2295" r:id="rId52"/>
    <p:sldId id="2915" r:id="rId53"/>
    <p:sldId id="1623" r:id="rId54"/>
    <p:sldId id="2916" r:id="rId55"/>
    <p:sldId id="1364" r:id="rId56"/>
    <p:sldId id="1267" r:id="rId57"/>
  </p:sldIdLst>
  <p:sldSz cx="9144000" cy="5143500" type="screen16x9"/>
  <p:notesSz cx="6858000" cy="9144000"/>
  <p:custDataLst>
    <p:tags r:id="rId63"/>
  </p:custDataLst>
  <p:defaultTextStyle>
    <a:defPPr>
      <a:defRPr lang="en-US"/>
    </a:defPPr>
    <a:lvl1pPr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1pPr>
    <a:lvl2pPr marL="4572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2pPr>
    <a:lvl3pPr marL="9144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3pPr>
    <a:lvl4pPr marL="13716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4pPr>
    <a:lvl5pPr marL="1828800" algn="ctr" rtl="0" fontAlgn="base">
      <a:spcBef>
        <a:spcPct val="0"/>
      </a:spcBef>
      <a:spcAft>
        <a:spcPct val="0"/>
      </a:spcAft>
      <a:defRPr kern="1200">
        <a:solidFill>
          <a:schemeClr val="tx1"/>
        </a:solidFill>
        <a:latin typeface="Arial" panose="020B0604020202020204" pitchFamily="34" charset="0"/>
        <a:ea typeface="黑体" panose="0201060906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黑体" panose="02010609060101010101" pitchFamily="2" charset="-122"/>
        <a:cs typeface="+mn-cs"/>
      </a:defRPr>
    </a:lvl9pPr>
  </p:defaultTextStyle>
  <p:extLst>
    <p:ext uri="{505F2C04-C923-438B-8C0F-E0CD2BADF298}">
      <wppc:fontMiss xmlns:wppc="http://www.wps.cn/officeDocument/PresentationCustomData" type="true"/>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作"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0F04"/>
    <a:srgbClr val="0070C0"/>
    <a:srgbClr val="3F95D2"/>
    <a:srgbClr val="FB3223"/>
    <a:srgbClr val="F9F9F9"/>
    <a:srgbClr val="404A1A"/>
    <a:srgbClr val="00CC99"/>
    <a:srgbClr val="EDF5FD"/>
    <a:srgbClr val="E2F5FE"/>
    <a:srgbClr val="E7F4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41" autoAdjust="0"/>
    <p:restoredTop sz="86292" autoAdjust="0"/>
  </p:normalViewPr>
  <p:slideViewPr>
    <p:cSldViewPr>
      <p:cViewPr>
        <p:scale>
          <a:sx n="75" d="100"/>
          <a:sy n="75" d="100"/>
        </p:scale>
        <p:origin x="226" y="168"/>
      </p:cViewPr>
      <p:guideLst>
        <p:guide orient="horz" pos="1808"/>
        <p:guide orient="horz" pos="2222"/>
        <p:guide pos="2929"/>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5" d="100"/>
          <a:sy n="55" d="100"/>
        </p:scale>
        <p:origin x="-1878" y="-78"/>
      </p:cViewPr>
      <p:guideLst>
        <p:guide orient="horz" pos="3076"/>
        <p:guide pos="2273"/>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tags" Target="tags/tag3.xml"/><Relationship Id="rId62" Type="http://schemas.openxmlformats.org/officeDocument/2006/relationships/commentAuthors" Target="commentAuthors.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3.xml"/><Relationship Id="rId59" Type="http://schemas.openxmlformats.org/officeDocument/2006/relationships/presProps" Target="presProps.xml"/><Relationship Id="rId58" Type="http://schemas.openxmlformats.org/officeDocument/2006/relationships/handoutMaster" Target="handoutMasters/handoutMaster1.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atin typeface="Tahoma" panose="020B0604030504040204" pitchFamily="34" charset="0"/>
                <a:ea typeface="+mn-ea"/>
              </a:defRPr>
            </a:lvl1pPr>
          </a:lstStyle>
          <a:p>
            <a:pPr>
              <a:defRPr/>
            </a:pPr>
            <a:endParaRPr lang="zh-CN" altLang="en-US"/>
          </a:p>
        </p:txBody>
      </p:sp>
      <p:sp>
        <p:nvSpPr>
          <p:cNvPr id="46083"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pitchFamily="34" charset="0"/>
                <a:ea typeface="+mn-ea"/>
              </a:defRPr>
            </a:lvl1pPr>
          </a:lstStyle>
          <a:p>
            <a:pPr>
              <a:defRPr/>
            </a:pPr>
            <a:endParaRPr lang="en-US" altLang="zh-CN"/>
          </a:p>
        </p:txBody>
      </p:sp>
      <p:sp>
        <p:nvSpPr>
          <p:cNvPr id="46084"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atin typeface="Tahoma" panose="020B0604030504040204" pitchFamily="34" charset="0"/>
                <a:ea typeface="+mn-ea"/>
              </a:defRPr>
            </a:lvl1pPr>
          </a:lstStyle>
          <a:p>
            <a:pPr>
              <a:defRPr/>
            </a:pPr>
            <a:endParaRPr lang="en-US" altLang="zh-CN"/>
          </a:p>
        </p:txBody>
      </p:sp>
      <p:sp>
        <p:nvSpPr>
          <p:cNvPr id="46085"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pitchFamily="34" charset="0"/>
                <a:ea typeface="+mn-ea"/>
              </a:defRPr>
            </a:lvl1pPr>
          </a:lstStyle>
          <a:p>
            <a:pPr>
              <a:defRPr/>
            </a:pPr>
            <a:fld id="{DB3C531B-D83C-493A-84AD-316F78881EC3}"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a:latin typeface="Tahoma" panose="020B0604030504040204" pitchFamily="34" charset="0"/>
                <a:ea typeface="+mn-ea"/>
              </a:defRPr>
            </a:lvl1pPr>
          </a:lstStyle>
          <a:p>
            <a:pPr>
              <a:defRPr/>
            </a:pPr>
            <a:endParaRPr lang="zh-CN" altLang="en-US"/>
          </a:p>
        </p:txBody>
      </p:sp>
      <p:sp>
        <p:nvSpPr>
          <p:cNvPr id="4813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pitchFamily="34" charset="0"/>
                <a:ea typeface="+mn-ea"/>
              </a:defRPr>
            </a:lvl1pPr>
          </a:lstStyle>
          <a:p>
            <a:pPr>
              <a:defRPr/>
            </a:pPr>
            <a:endParaRPr lang="en-US" altLang="zh-CN"/>
          </a:p>
        </p:txBody>
      </p:sp>
      <p:sp>
        <p:nvSpPr>
          <p:cNvPr id="4813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p:spPr>
      </p:sp>
      <p:sp>
        <p:nvSpPr>
          <p:cNvPr id="4813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en-US" altLang="zh-CN" noProof="0"/>
              <a:t>Click to edit Master text styles</a:t>
            </a:r>
            <a:endParaRPr lang="en-US" altLang="zh-CN" noProof="0"/>
          </a:p>
          <a:p>
            <a:pPr lvl="1"/>
            <a:r>
              <a:rPr lang="en-US" altLang="zh-CN" noProof="0"/>
              <a:t>Second level</a:t>
            </a:r>
            <a:endParaRPr lang="en-US" altLang="zh-CN" noProof="0"/>
          </a:p>
          <a:p>
            <a:pPr lvl="2"/>
            <a:r>
              <a:rPr lang="en-US" altLang="zh-CN" noProof="0"/>
              <a:t>Third level</a:t>
            </a:r>
            <a:endParaRPr lang="en-US" altLang="zh-CN" noProof="0"/>
          </a:p>
          <a:p>
            <a:pPr lvl="3"/>
            <a:r>
              <a:rPr lang="en-US" altLang="zh-CN" noProof="0"/>
              <a:t>Fourth level</a:t>
            </a:r>
            <a:endParaRPr lang="en-US" altLang="zh-CN" noProof="0"/>
          </a:p>
          <a:p>
            <a:pPr lvl="4"/>
            <a:r>
              <a:rPr lang="en-US" altLang="zh-CN" noProof="0"/>
              <a:t>Fifth level</a:t>
            </a:r>
            <a:endParaRPr lang="en-US" altLang="zh-CN" noProof="0"/>
          </a:p>
        </p:txBody>
      </p:sp>
      <p:sp>
        <p:nvSpPr>
          <p:cNvPr id="4813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a:latin typeface="Tahoma" panose="020B0604030504040204" pitchFamily="34" charset="0"/>
                <a:ea typeface="+mn-ea"/>
              </a:defRPr>
            </a:lvl1pPr>
          </a:lstStyle>
          <a:p>
            <a:pPr>
              <a:defRPr/>
            </a:pPr>
            <a:endParaRPr lang="en-US" altLang="zh-CN"/>
          </a:p>
        </p:txBody>
      </p:sp>
      <p:sp>
        <p:nvSpPr>
          <p:cNvPr id="4813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pitchFamily="34" charset="0"/>
                <a:ea typeface="+mn-ea"/>
              </a:defRPr>
            </a:lvl1pPr>
          </a:lstStyle>
          <a:p>
            <a:pPr>
              <a:defRPr/>
            </a:pPr>
            <a:fld id="{CB801823-96DB-4EC2-991A-2DEE593AD1DA}"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切片</a:t>
            </a:r>
            <a:r>
              <a:rPr lang="en-US" altLang="zh-CN" dirty="0"/>
              <a:t>1</a:t>
            </a:r>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fontAlgn="auto" hangingPunct="1">
              <a:spcBef>
                <a:spcPts val="0"/>
              </a:spcBef>
              <a:spcAft>
                <a:spcPts val="0"/>
              </a:spcAft>
              <a:defRPr/>
            </a:pPr>
            <a:endParaRPr lang="en-US" altLang="zh-CN" dirty="0">
              <a:solidFill>
                <a:schemeClr val="tx1"/>
              </a:solidFill>
              <a:effectLst>
                <a:outerShdw blurRad="38100" dist="19050" dir="2700000" algn="tl" rotWithShape="0">
                  <a:schemeClr val="dk1">
                    <a:alpha val="40000"/>
                  </a:schemeClr>
                </a:outerShdw>
              </a:effectLst>
            </a:endParaRPr>
          </a:p>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eaLnBrk="1" fontAlgn="auto" hangingPunct="1">
              <a:spcBef>
                <a:spcPts val="0"/>
              </a:spcBef>
              <a:spcAft>
                <a:spcPts val="0"/>
              </a:spcAft>
              <a:defRPr/>
            </a:pPr>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kern="1200" dirty="0">
              <a:solidFill>
                <a:schemeClr val="tx1"/>
              </a:solidFill>
              <a:effectLst/>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noTextEdit="1"/>
          </p:cNvSpPr>
          <p:nvPr>
            <p:ph type="sldImg"/>
          </p:nvPr>
        </p:nvSpPr>
        <p:spPr/>
      </p:sp>
      <p:sp>
        <p:nvSpPr>
          <p:cNvPr id="87042" name="备注占位符 2"/>
          <p:cNvSpPr>
            <a:spLocks noGrp="1"/>
          </p:cNvSpPr>
          <p:nvPr>
            <p:ph type="body"/>
          </p:nvPr>
        </p:nvSpPr>
        <p:spPr/>
        <p:txBody>
          <a:bodyPr wrap="square" lIns="91440" tIns="45720" rIns="91440" bIns="45720" anchor="t"/>
          <a:lstStyle/>
          <a:p>
            <a:pPr lvl="0"/>
            <a:endParaRPr lang="zh-CN" altLang="en-US" dirty="0"/>
          </a:p>
        </p:txBody>
      </p:sp>
      <p:sp>
        <p:nvSpPr>
          <p:cNvPr id="87043" name="灯片编号占位符 3"/>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zh-CN" altLang="en-US" sz="1200">
                <a:latin typeface="Tahoma" panose="020B0604030504040204" pitchFamily="34" charset="0"/>
                <a:ea typeface="宋体" panose="02010600030101010101" pitchFamily="2" charset="-122"/>
              </a:rPr>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noTextEdit="1"/>
          </p:cNvSpPr>
          <p:nvPr>
            <p:ph type="sldImg"/>
          </p:nvPr>
        </p:nvSpPr>
        <p:spPr/>
      </p:sp>
      <p:sp>
        <p:nvSpPr>
          <p:cNvPr id="87042" name="备注占位符 2"/>
          <p:cNvSpPr>
            <a:spLocks noGrp="1"/>
          </p:cNvSpPr>
          <p:nvPr>
            <p:ph type="body"/>
          </p:nvPr>
        </p:nvSpPr>
        <p:spPr/>
        <p:txBody>
          <a:bodyPr wrap="square" lIns="91440" tIns="45720" rIns="91440" bIns="45720" anchor="t"/>
          <a:lstStyle/>
          <a:p>
            <a:pPr lvl="0"/>
            <a:endParaRPr lang="zh-CN" altLang="en-US" dirty="0"/>
          </a:p>
        </p:txBody>
      </p:sp>
      <p:sp>
        <p:nvSpPr>
          <p:cNvPr id="87043" name="灯片编号占位符 3"/>
          <p:cNvSpPr>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zh-CN" altLang="en-US" sz="1200">
                <a:latin typeface="Tahoma" panose="020B0604030504040204" pitchFamily="34" charset="0"/>
                <a:ea typeface="宋体" panose="02010600030101010101" pitchFamily="2" charset="-122"/>
              </a:rPr>
            </a:fld>
            <a:endParaRPr lang="zh-CN" altLang="en-US" sz="1200" dirty="0">
              <a:latin typeface="Tahoma" panose="020B060403050404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0</a:t>
            </a:r>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讲师：上节课讲了函数的一些基本概念主要给大家提到了内置函数和自定义函数</a:t>
            </a:r>
            <a:endParaRPr lang="zh-CN" altLang="en-US" dirty="0"/>
          </a:p>
          <a:p>
            <a:r>
              <a:rPr lang="zh-CN" altLang="en-US" dirty="0">
                <a:sym typeface="+mn-ea"/>
              </a:rPr>
              <a:t>讲师：以及创建了普通函数，主要从参数和返回值给大家介绍了</a:t>
            </a:r>
            <a:endParaRPr lang="zh-CN" altLang="en-US" dirty="0">
              <a:sym typeface="+mn-ea"/>
            </a:endParaRPr>
          </a:p>
          <a:p>
            <a:r>
              <a:rPr lang="zh-CN" altLang="en-US" dirty="0">
                <a:sym typeface="+mn-ea"/>
              </a:rPr>
              <a:t>讲师：主要分为无参函数，有参函数，无返回值函数，有返回值函数</a:t>
            </a:r>
            <a:endParaRPr lang="zh-CN" altLang="en-US" dirty="0">
              <a:sym typeface="+mn-ea"/>
            </a:endParaRPr>
          </a:p>
          <a:p>
            <a:r>
              <a:rPr lang="zh-CN" altLang="en-US" dirty="0">
                <a:sym typeface="+mn-ea"/>
              </a:rPr>
              <a:t>讲师：在说有参函数的时候提到参数，但是</a:t>
            </a:r>
            <a:r>
              <a:rPr lang="zh-CN" altLang="en-US" dirty="0"/>
              <a:t>定义函数时候的参数和调用函数时候的参数有什么不同。</a:t>
            </a:r>
            <a:endParaRPr lang="zh-CN" altLang="en-US" dirty="0"/>
          </a:p>
          <a:p>
            <a:r>
              <a:rPr lang="zh-CN" altLang="en-US" dirty="0">
                <a:sym typeface="+mn-ea"/>
              </a:rPr>
              <a:t>讲师：</a:t>
            </a:r>
            <a:r>
              <a:rPr lang="zh-CN" altLang="en-US" dirty="0"/>
              <a:t>其实和</a:t>
            </a:r>
            <a:r>
              <a:rPr lang="en-US" altLang="zh-CN" dirty="0"/>
              <a:t>C</a:t>
            </a:r>
            <a:r>
              <a:rPr lang="zh-CN" altLang="en-US" dirty="0"/>
              <a:t>语言中参数一样，参数也分为实参和形参</a:t>
            </a:r>
            <a:endParaRPr lang="zh-CN" altLang="en-US" dirty="0"/>
          </a:p>
          <a:p>
            <a:r>
              <a:rPr lang="zh-CN" altLang="en-US" dirty="0">
                <a:sym typeface="+mn-ea"/>
              </a:rPr>
              <a:t>讲师：下面我们来具体看看实参和形参</a:t>
            </a:r>
            <a:endParaRPr lang="zh-CN" altLang="en-US" dirty="0"/>
          </a:p>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讲师：上节课讲了函数的一些基本概念主要给大家提到了内置函数和自定义函数</a:t>
            </a:r>
            <a:endParaRPr lang="zh-CN" altLang="en-US" dirty="0"/>
          </a:p>
          <a:p>
            <a:r>
              <a:rPr lang="zh-CN" altLang="en-US" dirty="0">
                <a:sym typeface="+mn-ea"/>
              </a:rPr>
              <a:t>讲师：以及创建了普通函数，主要从参数和返回值给大家介绍了</a:t>
            </a:r>
            <a:endParaRPr lang="zh-CN" altLang="en-US" dirty="0">
              <a:sym typeface="+mn-ea"/>
            </a:endParaRPr>
          </a:p>
          <a:p>
            <a:r>
              <a:rPr lang="zh-CN" altLang="en-US" dirty="0">
                <a:sym typeface="+mn-ea"/>
              </a:rPr>
              <a:t>讲师：主要分为无参函数，有参函数，无返回值函数，有返回值函数</a:t>
            </a:r>
            <a:endParaRPr lang="zh-CN" altLang="en-US" dirty="0">
              <a:sym typeface="+mn-ea"/>
            </a:endParaRPr>
          </a:p>
          <a:p>
            <a:r>
              <a:rPr lang="zh-CN" altLang="en-US" dirty="0">
                <a:sym typeface="+mn-ea"/>
              </a:rPr>
              <a:t>讲师：在说有参函数的时候提到参数，但是</a:t>
            </a:r>
            <a:r>
              <a:rPr lang="zh-CN" altLang="en-US" dirty="0"/>
              <a:t>定义函数时候的参数和调用函数时候的参数有什么不同。</a:t>
            </a:r>
            <a:endParaRPr lang="zh-CN" altLang="en-US" dirty="0"/>
          </a:p>
          <a:p>
            <a:r>
              <a:rPr lang="zh-CN" altLang="en-US" dirty="0">
                <a:sym typeface="+mn-ea"/>
              </a:rPr>
              <a:t>讲师：</a:t>
            </a:r>
            <a:r>
              <a:rPr lang="zh-CN" altLang="en-US" dirty="0"/>
              <a:t>其实和</a:t>
            </a:r>
            <a:r>
              <a:rPr lang="en-US" altLang="zh-CN" dirty="0"/>
              <a:t>C</a:t>
            </a:r>
            <a:r>
              <a:rPr lang="zh-CN" altLang="en-US" dirty="0"/>
              <a:t>语言中参数一样，参数也分为实参和形参</a:t>
            </a:r>
            <a:endParaRPr lang="zh-CN" altLang="en-US" dirty="0"/>
          </a:p>
          <a:p>
            <a:r>
              <a:rPr lang="zh-CN" altLang="en-US" dirty="0">
                <a:sym typeface="+mn-ea"/>
              </a:rPr>
              <a:t>讲师：下面我们来具体看看实参和形参</a:t>
            </a:r>
            <a:endParaRPr lang="zh-CN" altLang="en-US" dirty="0"/>
          </a:p>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讲师：上节课讲了函数的一些基本概念主要给大家提到了内置函数和自定义函数</a:t>
            </a:r>
            <a:endParaRPr lang="zh-CN" altLang="en-US" dirty="0"/>
          </a:p>
          <a:p>
            <a:r>
              <a:rPr lang="zh-CN" altLang="en-US" dirty="0">
                <a:sym typeface="+mn-ea"/>
              </a:rPr>
              <a:t>讲师：以及创建了普通函数，主要从参数和返回值给大家介绍了</a:t>
            </a:r>
            <a:endParaRPr lang="zh-CN" altLang="en-US" dirty="0">
              <a:sym typeface="+mn-ea"/>
            </a:endParaRPr>
          </a:p>
          <a:p>
            <a:r>
              <a:rPr lang="zh-CN" altLang="en-US" dirty="0">
                <a:sym typeface="+mn-ea"/>
              </a:rPr>
              <a:t>讲师：主要分为无参函数，有参函数，无返回值函数，有返回值函数</a:t>
            </a:r>
            <a:endParaRPr lang="zh-CN" altLang="en-US" dirty="0">
              <a:sym typeface="+mn-ea"/>
            </a:endParaRPr>
          </a:p>
          <a:p>
            <a:r>
              <a:rPr lang="zh-CN" altLang="en-US" dirty="0">
                <a:sym typeface="+mn-ea"/>
              </a:rPr>
              <a:t>讲师：在说有参函数的时候提到参数，但是</a:t>
            </a:r>
            <a:r>
              <a:rPr lang="zh-CN" altLang="en-US" dirty="0"/>
              <a:t>定义函数时候的参数和调用函数时候的参数有什么不同。</a:t>
            </a:r>
            <a:endParaRPr lang="zh-CN" altLang="en-US" dirty="0"/>
          </a:p>
          <a:p>
            <a:r>
              <a:rPr lang="zh-CN" altLang="en-US" dirty="0">
                <a:sym typeface="+mn-ea"/>
              </a:rPr>
              <a:t>讲师：</a:t>
            </a:r>
            <a:r>
              <a:rPr lang="zh-CN" altLang="en-US" dirty="0"/>
              <a:t>其实和</a:t>
            </a:r>
            <a:r>
              <a:rPr lang="en-US" altLang="zh-CN" dirty="0"/>
              <a:t>C</a:t>
            </a:r>
            <a:r>
              <a:rPr lang="zh-CN" altLang="en-US" dirty="0"/>
              <a:t>语言中参数一样，参数也分为实参和形参</a:t>
            </a:r>
            <a:endParaRPr lang="zh-CN" altLang="en-US" dirty="0"/>
          </a:p>
          <a:p>
            <a:r>
              <a:rPr lang="zh-CN" altLang="en-US" dirty="0">
                <a:sym typeface="+mn-ea"/>
              </a:rPr>
              <a:t>讲师：下面我们来具体看看实参和形参</a:t>
            </a:r>
            <a:endParaRPr lang="zh-CN" altLang="en-US" dirty="0"/>
          </a:p>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0</a:t>
            </a:r>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讲师：首先看下最简单的单参函数</a:t>
            </a:r>
            <a:endParaRPr lang="zh-CN" altLang="en-US" dirty="0">
              <a:sym typeface="+mn-ea"/>
            </a:endParaRPr>
          </a:p>
          <a:p>
            <a:r>
              <a:rPr lang="zh-CN" altLang="en-US" dirty="0">
                <a:sym typeface="+mn-ea"/>
              </a:rPr>
              <a:t>讲师：在函数调用的时候，小括号内参数是一个</a:t>
            </a:r>
            <a:r>
              <a:rPr lang="en-US" altLang="zh-CN" dirty="0">
                <a:sym typeface="+mn-ea"/>
              </a:rPr>
              <a:t>5</a:t>
            </a:r>
            <a:r>
              <a:rPr lang="zh-CN" altLang="en-US" dirty="0">
                <a:sym typeface="+mn-ea"/>
              </a:rPr>
              <a:t>，这个</a:t>
            </a:r>
            <a:r>
              <a:rPr lang="en-US" altLang="zh-CN" dirty="0">
                <a:sym typeface="+mn-ea"/>
              </a:rPr>
              <a:t>5</a:t>
            </a:r>
            <a:r>
              <a:rPr lang="zh-CN" altLang="en-US" dirty="0">
                <a:sym typeface="+mn-ea"/>
              </a:rPr>
              <a:t>是真正有意义的数据，因此像这样真正有意义的参数，我们称之为实际参数或实参</a:t>
            </a:r>
            <a:endParaRPr lang="zh-CN" altLang="en-US" dirty="0">
              <a:sym typeface="+mn-ea"/>
            </a:endParaRPr>
          </a:p>
          <a:p>
            <a:r>
              <a:rPr lang="zh-CN" altLang="en-US" dirty="0">
                <a:sym typeface="+mn-ea"/>
              </a:rPr>
              <a:t>讲师：而在定义函数的时候，小括号内也有一个参数</a:t>
            </a:r>
            <a:r>
              <a:rPr lang="en-US" altLang="zh-CN" dirty="0">
                <a:sym typeface="+mn-ea"/>
              </a:rPr>
              <a:t>number,</a:t>
            </a:r>
            <a:r>
              <a:rPr lang="zh-CN" altLang="en-US" dirty="0">
                <a:sym typeface="+mn-ea"/>
              </a:rPr>
              <a:t>但是它的功能是接收实参的，当这样当我们调用函数的时候其实这个</a:t>
            </a:r>
            <a:r>
              <a:rPr lang="en-US" altLang="zh-CN" dirty="0">
                <a:sym typeface="+mn-ea"/>
              </a:rPr>
              <a:t>number</a:t>
            </a:r>
            <a:r>
              <a:rPr lang="zh-CN" altLang="en-US" dirty="0">
                <a:sym typeface="+mn-ea"/>
              </a:rPr>
              <a:t>其实就发生了变化</a:t>
            </a:r>
            <a:endParaRPr lang="zh-CN" altLang="en-US" dirty="0">
              <a:sym typeface="+mn-ea"/>
            </a:endParaRPr>
          </a:p>
          <a:p>
            <a:r>
              <a:rPr lang="zh-CN" altLang="en-US" dirty="0">
                <a:sym typeface="+mn-ea"/>
              </a:rPr>
              <a:t>讲师：它先运行</a:t>
            </a:r>
            <a:r>
              <a:rPr lang="en-US" altLang="zh-CN" dirty="0">
                <a:sym typeface="+mn-ea"/>
              </a:rPr>
              <a:t>number=5,</a:t>
            </a:r>
            <a:r>
              <a:rPr lang="zh-CN" altLang="en-US" dirty="0">
                <a:sym typeface="+mn-ea"/>
              </a:rPr>
              <a:t>然后下面再具体的运行程序，比如下面的</a:t>
            </a:r>
            <a:r>
              <a:rPr lang="en-US" altLang="zh-CN" dirty="0">
                <a:sym typeface="+mn-ea"/>
              </a:rPr>
              <a:t>for i  in range(number),</a:t>
            </a:r>
            <a:r>
              <a:rPr lang="zh-CN" altLang="en-US" dirty="0">
                <a:sym typeface="+mn-ea"/>
              </a:rPr>
              <a:t>其实就是</a:t>
            </a:r>
            <a:r>
              <a:rPr lang="en-US" altLang="zh-CN" dirty="0">
                <a:sym typeface="+mn-ea"/>
              </a:rPr>
              <a:t>for i in range(5)</a:t>
            </a:r>
            <a:endParaRPr lang="en-US" altLang="zh-CN" dirty="0">
              <a:sym typeface="+mn-ea"/>
            </a:endParaRPr>
          </a:p>
          <a:p>
            <a:r>
              <a:rPr lang="zh-CN" altLang="en-US" dirty="0">
                <a:sym typeface="+mn-ea"/>
              </a:rPr>
              <a:t>讲师：所以说就会打印</a:t>
            </a:r>
            <a:r>
              <a:rPr lang="en-US" altLang="zh-CN" dirty="0">
                <a:sym typeface="+mn-ea"/>
              </a:rPr>
              <a:t>5</a:t>
            </a:r>
            <a:r>
              <a:rPr lang="zh-CN" altLang="en-US" dirty="0">
                <a:sym typeface="+mn-ea"/>
              </a:rPr>
              <a:t>遍知识简简单单，学习快快乐乐。</a:t>
            </a:r>
            <a:endParaRPr lang="zh-CN" altLang="en-US" dirty="0">
              <a:sym typeface="+mn-ea"/>
            </a:endParaRPr>
          </a:p>
          <a:p>
            <a:r>
              <a:rPr lang="zh-CN" altLang="en-US" dirty="0">
                <a:sym typeface="+mn-ea"/>
              </a:rPr>
              <a:t>讲师：对于形参和实参大家记住了？</a:t>
            </a:r>
            <a:endParaRPr lang="zh-CN" altLang="en-US" dirty="0">
              <a:sym typeface="+mn-ea"/>
            </a:endParaRPr>
          </a:p>
          <a:p>
            <a:r>
              <a:rPr lang="zh-CN" altLang="en-US" dirty="0">
                <a:sym typeface="+mn-ea"/>
              </a:rPr>
              <a:t>学生：记住了</a:t>
            </a:r>
            <a:endParaRPr lang="zh-CN" altLang="en-US" dirty="0">
              <a:sym typeface="+mn-ea"/>
            </a:endParaRPr>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讲师：现在再看一个函数，这个函数有两个参数</a:t>
            </a:r>
            <a:endParaRPr lang="zh-CN" altLang="en-US" dirty="0">
              <a:sym typeface="+mn-ea"/>
            </a:endParaRPr>
          </a:p>
          <a:p>
            <a:r>
              <a:rPr lang="zh-CN" altLang="en-US" dirty="0">
                <a:sym typeface="+mn-ea"/>
              </a:rPr>
              <a:t>讲师：对于创建函数时候的参数我们称之为什么？</a:t>
            </a:r>
            <a:endParaRPr lang="zh-CN" altLang="en-US" dirty="0">
              <a:sym typeface="+mn-ea"/>
            </a:endParaRPr>
          </a:p>
          <a:p>
            <a:r>
              <a:rPr lang="zh-CN" altLang="en-US" dirty="0">
                <a:sym typeface="+mn-ea"/>
              </a:rPr>
              <a:t>学生：形参</a:t>
            </a:r>
            <a:endParaRPr lang="zh-CN" altLang="en-US" dirty="0">
              <a:sym typeface="+mn-ea"/>
            </a:endParaRPr>
          </a:p>
          <a:p>
            <a:r>
              <a:rPr lang="zh-CN" altLang="en-US" dirty="0">
                <a:sym typeface="+mn-ea"/>
              </a:rPr>
              <a:t>讲师：对就是形参，其实形参的作用，用于接收实参，这样下面程序就可以正确运行了</a:t>
            </a:r>
            <a:endParaRPr lang="zh-CN" altLang="en-US" dirty="0">
              <a:sym typeface="+mn-ea"/>
            </a:endParaRPr>
          </a:p>
          <a:p>
            <a:r>
              <a:rPr lang="zh-CN" altLang="en-US" dirty="0">
                <a:sym typeface="+mn-ea"/>
              </a:rPr>
              <a:t>讲师：对于调用函数的时候使用的参数称之为什么？</a:t>
            </a:r>
            <a:endParaRPr lang="zh-CN" altLang="en-US" dirty="0">
              <a:sym typeface="+mn-ea"/>
            </a:endParaRPr>
          </a:p>
          <a:p>
            <a:r>
              <a:rPr lang="zh-CN" altLang="en-US" dirty="0">
                <a:sym typeface="+mn-ea"/>
              </a:rPr>
              <a:t>学生：实参</a:t>
            </a:r>
            <a:endParaRPr lang="zh-CN" altLang="en-US" dirty="0">
              <a:sym typeface="+mn-ea"/>
            </a:endParaRPr>
          </a:p>
          <a:p>
            <a:r>
              <a:rPr lang="zh-CN" altLang="en-US" dirty="0">
                <a:sym typeface="+mn-ea"/>
              </a:rPr>
              <a:t>讲师：对，实参，也就是真正有意义的参数</a:t>
            </a:r>
            <a:endParaRPr lang="zh-CN" altLang="en-US" dirty="0">
              <a:sym typeface="+mn-ea"/>
            </a:endParaRPr>
          </a:p>
          <a:p>
            <a:r>
              <a:rPr lang="zh-CN" altLang="en-US" dirty="0">
                <a:sym typeface="+mn-ea"/>
              </a:rPr>
              <a:t>讲师：但是大家会发现这里我用了一个变量，再使用这个变量的时候先定义等于张三</a:t>
            </a:r>
            <a:endParaRPr lang="zh-CN" altLang="en-US" dirty="0">
              <a:sym typeface="+mn-ea"/>
            </a:endParaRPr>
          </a:p>
          <a:p>
            <a:r>
              <a:rPr lang="zh-CN" altLang="en-US" dirty="0">
                <a:sym typeface="+mn-ea"/>
              </a:rPr>
              <a:t>讲师：这样可行么？</a:t>
            </a:r>
            <a:endParaRPr lang="zh-CN" altLang="en-US" dirty="0">
              <a:sym typeface="+mn-ea"/>
            </a:endParaRPr>
          </a:p>
          <a:p>
            <a:r>
              <a:rPr lang="zh-CN" altLang="en-US" dirty="0">
                <a:sym typeface="+mn-ea"/>
              </a:rPr>
              <a:t>讲师：当然可行，这里的</a:t>
            </a:r>
            <a:r>
              <a:rPr lang="en-US" altLang="zh-CN" dirty="0">
                <a:sym typeface="+mn-ea"/>
              </a:rPr>
              <a:t>n</a:t>
            </a:r>
            <a:r>
              <a:rPr lang="zh-CN" altLang="en-US" dirty="0">
                <a:sym typeface="+mn-ea"/>
              </a:rPr>
              <a:t>其实就是张三这个数据的名字，所以说还是这个</a:t>
            </a:r>
            <a:r>
              <a:rPr lang="en-US" altLang="zh-CN" dirty="0">
                <a:sym typeface="+mn-ea"/>
              </a:rPr>
              <a:t>n</a:t>
            </a:r>
            <a:r>
              <a:rPr lang="zh-CN" altLang="en-US" dirty="0">
                <a:sym typeface="+mn-ea"/>
              </a:rPr>
              <a:t>还是张三</a:t>
            </a:r>
            <a:endParaRPr lang="zh-CN" altLang="en-US" dirty="0">
              <a:sym typeface="+mn-ea"/>
            </a:endParaRPr>
          </a:p>
          <a:p>
            <a:r>
              <a:rPr lang="zh-CN" altLang="en-US" dirty="0">
                <a:sym typeface="+mn-ea"/>
              </a:rPr>
              <a:t>讲师：所以说，最后的输出结果是什么？</a:t>
            </a:r>
            <a:endParaRPr lang="zh-CN" altLang="en-US" dirty="0">
              <a:sym typeface="+mn-ea"/>
            </a:endParaRPr>
          </a:p>
          <a:p>
            <a:r>
              <a:rPr lang="zh-CN" altLang="en-US" dirty="0">
                <a:sym typeface="+mn-ea"/>
              </a:rPr>
              <a:t>学生：</a:t>
            </a:r>
            <a:r>
              <a:rPr lang="en-US" altLang="zh-CN" dirty="0">
                <a:sym typeface="+mn-ea"/>
              </a:rPr>
              <a:t>5</a:t>
            </a:r>
            <a:r>
              <a:rPr lang="zh-CN" altLang="en-US" dirty="0">
                <a:sym typeface="+mn-ea"/>
              </a:rPr>
              <a:t>遍</a:t>
            </a:r>
            <a:r>
              <a:rPr lang="en-US" altLang="zh-CN" dirty="0">
                <a:latin typeface="Calibri" panose="020F0502020204030204" pitchFamily="34" charset="0"/>
                <a:cs typeface="Calibri" panose="020F0502020204030204" pitchFamily="34" charset="0"/>
                <a:sym typeface="+mn-ea"/>
              </a:rPr>
              <a:t>知识简简单单，学习快快乐乐</a:t>
            </a:r>
            <a:endParaRPr lang="en-US" altLang="zh-CN" dirty="0">
              <a:latin typeface="Calibri" panose="020F0502020204030204" pitchFamily="34" charset="0"/>
              <a:cs typeface="Calibri" panose="020F0502020204030204" pitchFamily="34" charset="0"/>
              <a:sym typeface="+mn-ea"/>
            </a:endParaRPr>
          </a:p>
          <a:p>
            <a:r>
              <a:rPr lang="zh-CN" altLang="en-US" dirty="0">
                <a:sym typeface="+mn-ea"/>
              </a:rPr>
              <a:t>讲师：太棒了</a:t>
            </a:r>
            <a:endParaRPr lang="zh-CN" altLang="en-US" dirty="0">
              <a:sym typeface="+mn-ea"/>
            </a:endParaRPr>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讲师：下面认真阅读下面代码，如果错误，请说明原因。</a:t>
            </a:r>
            <a:endParaRPr lang="zh-CN" altLang="en-US" dirty="0">
              <a:sym typeface="+mn-ea"/>
            </a:endParaRPr>
          </a:p>
          <a:p>
            <a:r>
              <a:rPr lang="zh-CN" altLang="en-US" dirty="0">
                <a:sym typeface="+mn-ea"/>
              </a:rPr>
              <a:t>学生：。。。</a:t>
            </a:r>
            <a:endParaRPr lang="zh-CN" altLang="en-US" dirty="0">
              <a:sym typeface="+mn-ea"/>
            </a:endParaRPr>
          </a:p>
          <a:p>
            <a:r>
              <a:rPr lang="zh-CN" altLang="en-US" dirty="0">
                <a:sym typeface="+mn-ea"/>
              </a:rPr>
              <a:t>讲师：对，</a:t>
            </a:r>
            <a:r>
              <a:rPr lang="zh-CN" altLang="en-US" dirty="0">
                <a:solidFill>
                  <a:srgbClr val="F9F9F9"/>
                </a:solidFill>
                <a:latin typeface="+mn-ea"/>
                <a:ea typeface="+mn-ea"/>
                <a:sym typeface="+mn-ea"/>
              </a:rPr>
              <a:t>函数需要的</a:t>
            </a:r>
            <a:r>
              <a:rPr lang="en-US" altLang="zh-CN" dirty="0">
                <a:solidFill>
                  <a:srgbClr val="F9F9F9"/>
                </a:solidFill>
                <a:latin typeface="+mn-ea"/>
                <a:ea typeface="+mn-ea"/>
                <a:sym typeface="+mn-ea"/>
              </a:rPr>
              <a:t>number</a:t>
            </a:r>
            <a:r>
              <a:rPr lang="zh-CN" altLang="en-US" dirty="0">
                <a:solidFill>
                  <a:srgbClr val="F9F9F9"/>
                </a:solidFill>
                <a:latin typeface="+mn-ea"/>
                <a:ea typeface="+mn-ea"/>
                <a:sym typeface="+mn-ea"/>
              </a:rPr>
              <a:t>数据类型是数值型数据类型，</a:t>
            </a:r>
            <a:r>
              <a:rPr lang="zh-CN" altLang="en-US" dirty="0">
                <a:solidFill>
                  <a:srgbClr val="3F3F3F"/>
                </a:solidFill>
                <a:latin typeface="微软雅黑" panose="020B0503020204020204" pitchFamily="34" charset="-122"/>
                <a:ea typeface="微软雅黑" panose="020B0503020204020204" pitchFamily="34" charset="-122"/>
                <a:sym typeface="微软雅黑" panose="020B0503020204020204" pitchFamily="34" charset="-122"/>
              </a:rPr>
              <a:t>实参</a:t>
            </a:r>
            <a:r>
              <a:rPr lang="en-US" altLang="zh-CN" dirty="0">
                <a:solidFill>
                  <a:srgbClr val="3F3F3F"/>
                </a:solidFill>
                <a:latin typeface="微软雅黑" panose="020B0503020204020204" pitchFamily="34" charset="-122"/>
                <a:ea typeface="微软雅黑" panose="020B0503020204020204" pitchFamily="34" charset="-122"/>
                <a:sym typeface="微软雅黑" panose="020B0503020204020204" pitchFamily="34" charset="-122"/>
              </a:rPr>
              <a:t>number</a:t>
            </a:r>
            <a:r>
              <a:rPr lang="zh-CN" altLang="en-US" dirty="0">
                <a:solidFill>
                  <a:srgbClr val="3F3F3F"/>
                </a:solidFill>
                <a:latin typeface="微软雅黑" panose="020B0503020204020204" pitchFamily="34" charset="-122"/>
                <a:ea typeface="微软雅黑" panose="020B0503020204020204" pitchFamily="34" charset="-122"/>
                <a:sym typeface="微软雅黑" panose="020B0503020204020204" pitchFamily="34" charset="-122"/>
              </a:rPr>
              <a:t>是字符型数据，这样是不可以的？</a:t>
            </a:r>
            <a:endParaRPr lang="zh-CN" altLang="en-US" dirty="0">
              <a:solidFill>
                <a:srgbClr val="3F3F3F"/>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dirty="0">
                <a:solidFill>
                  <a:srgbClr val="3F3F3F"/>
                </a:solidFill>
                <a:latin typeface="微软雅黑" panose="020B0503020204020204" pitchFamily="34" charset="-122"/>
                <a:ea typeface="微软雅黑" panose="020B0503020204020204" pitchFamily="34" charset="-122"/>
                <a:sym typeface="微软雅黑" panose="020B0503020204020204" pitchFamily="34" charset="-122"/>
              </a:rPr>
              <a:t>学生：</a:t>
            </a:r>
            <a:endParaRPr lang="zh-CN" altLang="en-US" dirty="0">
              <a:solidFill>
                <a:srgbClr val="3F3F3F"/>
              </a:solidFill>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dirty="0">
                <a:sym typeface="+mn-ea"/>
              </a:rPr>
              <a:t>讲师：对，就是把字符型</a:t>
            </a:r>
            <a:r>
              <a:rPr lang="en-US" altLang="zh-CN" dirty="0">
                <a:sym typeface="+mn-ea"/>
              </a:rPr>
              <a:t>12</a:t>
            </a:r>
            <a:r>
              <a:rPr lang="zh-CN" altLang="en-US" dirty="0">
                <a:sym typeface="+mn-ea"/>
              </a:rPr>
              <a:t>改成数值型</a:t>
            </a:r>
            <a:r>
              <a:rPr lang="en-US" altLang="zh-CN" dirty="0">
                <a:sym typeface="+mn-ea"/>
              </a:rPr>
              <a:t>12</a:t>
            </a:r>
            <a:r>
              <a:rPr lang="zh-CN" altLang="en-US" dirty="0">
                <a:sym typeface="+mn-ea"/>
              </a:rPr>
              <a:t>就可以了</a:t>
            </a:r>
            <a:endParaRPr lang="zh-CN" altLang="en-US" dirty="0">
              <a:sym typeface="+mn-ea"/>
            </a:endParaRPr>
          </a:p>
          <a:p>
            <a:r>
              <a:rPr lang="zh-CN" altLang="en-US" dirty="0">
                <a:sym typeface="+mn-ea"/>
              </a:rPr>
              <a:t>讲师：还有错误么？</a:t>
            </a:r>
            <a:endParaRPr lang="zh-CN" altLang="en-US" dirty="0">
              <a:sym typeface="+mn-ea"/>
            </a:endParaRPr>
          </a:p>
          <a:p>
            <a:r>
              <a:rPr lang="zh-CN" altLang="en-US" dirty="0">
                <a:sym typeface="+mn-ea"/>
              </a:rPr>
              <a:t>学生：。。。</a:t>
            </a:r>
            <a:endParaRPr lang="zh-CN" altLang="en-US" dirty="0">
              <a:sym typeface="+mn-ea"/>
            </a:endParaRPr>
          </a:p>
          <a:p>
            <a:r>
              <a:rPr lang="zh-CN" altLang="en-US" dirty="0">
                <a:sym typeface="+mn-ea"/>
              </a:rPr>
              <a:t>讲师：对，</a:t>
            </a:r>
            <a:r>
              <a:rPr lang="en-US" altLang="zh-CN" dirty="0">
                <a:solidFill>
                  <a:srgbClr val="F9F9F9"/>
                </a:solidFill>
                <a:latin typeface="+mn-ea"/>
                <a:ea typeface="+mn-ea"/>
                <a:sym typeface="+mn-ea"/>
              </a:rPr>
              <a:t>name</a:t>
            </a:r>
            <a:r>
              <a:rPr lang="zh-CN" altLang="en-US" dirty="0">
                <a:solidFill>
                  <a:srgbClr val="F9F9F9"/>
                </a:solidFill>
                <a:latin typeface="+mn-ea"/>
                <a:ea typeface="+mn-ea"/>
                <a:sym typeface="+mn-ea"/>
              </a:rPr>
              <a:t>未赋值直接使用</a:t>
            </a:r>
            <a:r>
              <a:rPr lang="en-US" altLang="zh-CN" dirty="0">
                <a:solidFill>
                  <a:srgbClr val="F9F9F9"/>
                </a:solidFill>
                <a:latin typeface="+mn-ea"/>
                <a:ea typeface="+mn-ea"/>
                <a:sym typeface="+mn-ea"/>
              </a:rPr>
              <a:t>, </a:t>
            </a:r>
            <a:r>
              <a:rPr lang="zh-CN" altLang="en-US" dirty="0">
                <a:solidFill>
                  <a:srgbClr val="F9F9F9"/>
                </a:solidFill>
                <a:latin typeface="+mn-ea"/>
                <a:ea typeface="+mn-ea"/>
                <a:sym typeface="+mn-ea"/>
              </a:rPr>
              <a:t>这个怎么该？</a:t>
            </a:r>
            <a:endParaRPr lang="zh-CN" altLang="en-US" dirty="0">
              <a:solidFill>
                <a:srgbClr val="F9F9F9"/>
              </a:solidFill>
              <a:latin typeface="+mn-ea"/>
              <a:ea typeface="+mn-ea"/>
              <a:sym typeface="+mn-ea"/>
            </a:endParaRPr>
          </a:p>
          <a:p>
            <a:r>
              <a:rPr lang="zh-CN" altLang="en-US" dirty="0">
                <a:solidFill>
                  <a:srgbClr val="F9F9F9"/>
                </a:solidFill>
                <a:latin typeface="+mn-ea"/>
                <a:ea typeface="+mn-ea"/>
                <a:sym typeface="+mn-ea"/>
              </a:rPr>
              <a:t>学生：。。。</a:t>
            </a:r>
            <a:endParaRPr lang="zh-CN" altLang="en-US" dirty="0">
              <a:solidFill>
                <a:srgbClr val="F9F9F9"/>
              </a:solidFill>
              <a:latin typeface="+mn-ea"/>
              <a:ea typeface="+mn-ea"/>
              <a:sym typeface="+mn-ea"/>
            </a:endParaRPr>
          </a:p>
          <a:p>
            <a:r>
              <a:rPr lang="zh-CN" altLang="en-US" dirty="0">
                <a:sym typeface="+mn-ea"/>
              </a:rPr>
              <a:t>讲师：很好，直接对</a:t>
            </a:r>
            <a:r>
              <a:rPr lang="en-US" altLang="zh-CN" dirty="0">
                <a:sym typeface="+mn-ea"/>
              </a:rPr>
              <a:t>name</a:t>
            </a:r>
            <a:r>
              <a:rPr lang="zh-CN" altLang="en-US" dirty="0">
                <a:sym typeface="+mn-ea"/>
              </a:rPr>
              <a:t>赋值就可以了</a:t>
            </a:r>
            <a:endParaRPr lang="zh-CN" altLang="en-US" dirty="0">
              <a:sym typeface="+mn-ea"/>
            </a:endParaRPr>
          </a:p>
          <a:p>
            <a:r>
              <a:rPr lang="zh-CN" altLang="en-US" dirty="0">
                <a:sym typeface="+mn-ea"/>
              </a:rPr>
              <a:t>讲师：下课后大家可以看看，当出现一处错误时候各回出现什么报错提示，这样今后就知道如何修改自己的代码</a:t>
            </a:r>
            <a:endParaRPr lang="zh-CN" altLang="en-US" b="1" dirty="0">
              <a:solidFill>
                <a:srgbClr val="3F3F3F"/>
              </a:solidFill>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讲师：上节课讲了函数的一些基本概念主要给大家提到了内置函数和自定义函数</a:t>
            </a:r>
            <a:endParaRPr lang="zh-CN" altLang="en-US" dirty="0"/>
          </a:p>
          <a:p>
            <a:r>
              <a:rPr lang="zh-CN" altLang="en-US" dirty="0">
                <a:sym typeface="+mn-ea"/>
              </a:rPr>
              <a:t>讲师：以及创建了普通函数，主要从参数和返回值给大家介绍了</a:t>
            </a:r>
            <a:endParaRPr lang="zh-CN" altLang="en-US" dirty="0">
              <a:sym typeface="+mn-ea"/>
            </a:endParaRPr>
          </a:p>
          <a:p>
            <a:r>
              <a:rPr lang="zh-CN" altLang="en-US" dirty="0">
                <a:sym typeface="+mn-ea"/>
              </a:rPr>
              <a:t>讲师：主要分为无参函数，有参函数，无返回值函数，有返回值函数</a:t>
            </a:r>
            <a:endParaRPr lang="zh-CN" altLang="en-US" dirty="0">
              <a:sym typeface="+mn-ea"/>
            </a:endParaRPr>
          </a:p>
          <a:p>
            <a:r>
              <a:rPr lang="zh-CN" altLang="en-US" dirty="0">
                <a:sym typeface="+mn-ea"/>
              </a:rPr>
              <a:t>讲师：在说有参函数的时候提到参数，但是</a:t>
            </a:r>
            <a:r>
              <a:rPr lang="zh-CN" altLang="en-US" dirty="0"/>
              <a:t>定义函数时候的参数和调用函数时候的参数有什么不同。</a:t>
            </a:r>
            <a:endParaRPr lang="zh-CN" altLang="en-US" dirty="0"/>
          </a:p>
          <a:p>
            <a:r>
              <a:rPr lang="zh-CN" altLang="en-US" dirty="0">
                <a:sym typeface="+mn-ea"/>
              </a:rPr>
              <a:t>讲师：</a:t>
            </a:r>
            <a:r>
              <a:rPr lang="zh-CN" altLang="en-US" dirty="0"/>
              <a:t>其实和</a:t>
            </a:r>
            <a:r>
              <a:rPr lang="en-US" altLang="zh-CN" dirty="0"/>
              <a:t>C</a:t>
            </a:r>
            <a:r>
              <a:rPr lang="zh-CN" altLang="en-US" dirty="0"/>
              <a:t>语言中参数一样，参数也分为实参和形参</a:t>
            </a:r>
            <a:endParaRPr lang="zh-CN" altLang="en-US" dirty="0"/>
          </a:p>
          <a:p>
            <a:r>
              <a:rPr lang="zh-CN" altLang="en-US" dirty="0">
                <a:sym typeface="+mn-ea"/>
              </a:rPr>
              <a:t>讲师：下面我们来具体看看实参和形参</a:t>
            </a:r>
            <a:endParaRPr lang="zh-CN" altLang="en-US" dirty="0"/>
          </a:p>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 </a:t>
            </a:r>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idx="5"/>
          </p:nvPr>
        </p:nvSpPr>
        <p:spPr/>
        <p:txBody>
          <a:bodyPr/>
          <a:lstStyle/>
          <a:p>
            <a:pPr>
              <a:defRPr/>
            </a:pPr>
            <a:fld id="{7904090E-D64E-40C3-B961-86ECD9067041}" type="slidenum">
              <a:rPr lang="zh-CN" altLang="en-US" smtClean="0"/>
            </a:fld>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CB801823-96DB-4EC2-991A-2DEE593AD1DA}" type="slidenum">
              <a:rPr lang="zh-CN" altLang="en-US" smtClean="0"/>
            </a:fld>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p:sp>
      <p:sp>
        <p:nvSpPr>
          <p:cNvPr id="98307" name="备注占位符 2"/>
          <p:cNvSpPr>
            <a:spLocks noGrp="1"/>
          </p:cNvSpPr>
          <p:nvPr>
            <p:ph type="body" idx="1"/>
          </p:nvPr>
        </p:nvSpPr>
        <p:spPr>
          <a:noFill/>
        </p:spPr>
        <p:txBody>
          <a:bodyPr/>
          <a:lstStyle/>
          <a:p>
            <a:endParaRPr lang="zh-CN" altLang="en-US"/>
          </a:p>
        </p:txBody>
      </p:sp>
      <p:sp>
        <p:nvSpPr>
          <p:cNvPr id="4" name="灯片编号占位符 3"/>
          <p:cNvSpPr>
            <a:spLocks noGrp="1"/>
          </p:cNvSpPr>
          <p:nvPr>
            <p:ph type="sldNum" sz="quarter" idx="5"/>
          </p:nvPr>
        </p:nvSpPr>
        <p:spPr/>
        <p:txBody>
          <a:bodyPr/>
          <a:lstStyle/>
          <a:p>
            <a:pPr>
              <a:defRPr/>
            </a:pPr>
            <a:fld id="{7904090E-D64E-40C3-B961-86ECD9067041}" type="slidenum">
              <a:rPr lang="zh-CN" altLang="en-US"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357688" y="214297"/>
            <a:ext cx="4606927" cy="392415"/>
          </a:xfrm>
          <a:solidFill>
            <a:schemeClr val="bg1"/>
          </a:solidFill>
        </p:spPr>
        <p:txBody>
          <a:bodyPr>
            <a:spAutoFit/>
          </a:bodyPr>
          <a:lstStyle>
            <a:lvl1pPr>
              <a:defRPr sz="2800" b="1">
                <a:solidFill>
                  <a:schemeClr val="tx2">
                    <a:lumMod val="50000"/>
                  </a:schemeClr>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784254" y="910817"/>
            <a:ext cx="7645398" cy="3857652"/>
          </a:xfrm>
        </p:spPr>
        <p:txBody>
          <a:bodyPr/>
          <a:lstStyle>
            <a:lvl1pPr>
              <a:buSzPct val="100000"/>
              <a:buFont typeface="Wingdings" panose="05000000000000000000" pitchFamily="2" charset="2"/>
              <a:buChar char="n"/>
              <a:defRPr b="1">
                <a:latin typeface="+mn-lt"/>
              </a:defRPr>
            </a:lvl1pPr>
            <a:lvl2pPr>
              <a:buSzPct val="100000"/>
              <a:buFont typeface="Wingdings" panose="05000000000000000000" pitchFamily="2" charset="2"/>
              <a:buChar char="u"/>
              <a:defRPr b="1">
                <a:latin typeface="+mn-lt"/>
              </a:defRPr>
            </a:lvl2pPr>
            <a:lvl3pPr>
              <a:buClr>
                <a:srgbClr val="0E9CDE"/>
              </a:buClr>
              <a:buSzPct val="85000"/>
              <a:buFont typeface="Wingdings" panose="05000000000000000000" pitchFamily="2" charset="2"/>
              <a:buChar char="Ø"/>
              <a:defRPr b="1">
                <a:latin typeface="+mn-lt"/>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5"/>
          <p:cNvSpPr>
            <a:spLocks noGrp="1"/>
          </p:cNvSpPr>
          <p:nvPr>
            <p:ph type="sldNum" sz="quarter" idx="10"/>
          </p:nvPr>
        </p:nvSpPr>
        <p:spPr>
          <a:xfrm>
            <a:off x="6938963" y="4816080"/>
            <a:ext cx="2133600" cy="273844"/>
          </a:xfrm>
        </p:spPr>
        <p:txBody>
          <a:bodyPr/>
          <a:lstStyle>
            <a:lvl1pPr>
              <a:defRPr/>
            </a:lvl1pPr>
          </a:lstStyle>
          <a:p>
            <a:pPr>
              <a:defRPr/>
            </a:pPr>
            <a:fld id="{E1F35F12-52FC-45A8-B539-88DCF394FD7F}" type="slidenum">
              <a:rPr lang="zh-CN" altLang="en-US" smtClean="0"/>
            </a:fld>
            <a:r>
              <a:rPr lang="en-US" altLang="zh-CN" dirty="0"/>
              <a:t>/48</a:t>
            </a:r>
            <a:endParaRPr lang="zh-CN" altLang="en-US" dirty="0"/>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3" name="标题 1"/>
          <p:cNvSpPr>
            <a:spLocks noGrp="1"/>
          </p:cNvSpPr>
          <p:nvPr>
            <p:ph type="title"/>
          </p:nvPr>
        </p:nvSpPr>
        <p:spPr>
          <a:xfrm>
            <a:off x="2195739" y="141482"/>
            <a:ext cx="6768877" cy="480131"/>
          </a:xfrm>
          <a:prstGeom prst="rect">
            <a:avLst/>
          </a:prstGeom>
          <a:noFill/>
        </p:spPr>
        <p:txBody>
          <a:bodyPr wrap="square">
            <a:spAutoFit/>
          </a:bodyPr>
          <a:lstStyle>
            <a:lvl1pPr algn="r">
              <a:defRPr sz="2800" b="1">
                <a:solidFill>
                  <a:schemeClr val="tx2">
                    <a:lumMod val="50000"/>
                  </a:schemeClr>
                </a:solidFill>
              </a:defRPr>
            </a:lvl1pPr>
          </a:lstStyle>
          <a:p>
            <a:r>
              <a:rPr lang="zh-CN" altLang="en-US" dirty="0"/>
              <a:t>单击此处编辑母版标题样式</a:t>
            </a:r>
            <a:endParaRPr lang="zh-CN" altLang="en-US" dirty="0"/>
          </a:p>
        </p:txBody>
      </p:sp>
      <p:sp>
        <p:nvSpPr>
          <p:cNvPr id="5"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bg>
      <p:bgRef idx="1001">
        <a:schemeClr val="bg1"/>
      </p:bgRef>
    </p:bg>
    <p:spTree>
      <p:nvGrpSpPr>
        <p:cNvPr id="1" name=""/>
        <p:cNvGrpSpPr/>
        <p:nvPr/>
      </p:nvGrpSpPr>
      <p:grpSpPr>
        <a:xfrm>
          <a:off x="0" y="0"/>
          <a:ext cx="0" cy="0"/>
          <a:chOff x="0" y="0"/>
          <a:chExt cx="0" cy="0"/>
        </a:xfrm>
      </p:grpSpPr>
      <p:sp>
        <p:nvSpPr>
          <p:cNvPr id="2" name="直接连接符 14"/>
          <p:cNvSpPr>
            <a:spLocks noChangeShapeType="1"/>
          </p:cNvSpPr>
          <p:nvPr userDrawn="1"/>
        </p:nvSpPr>
        <p:spPr bwMode="auto">
          <a:xfrm>
            <a:off x="1671638" y="951313"/>
            <a:ext cx="0" cy="4192190"/>
          </a:xfrm>
          <a:prstGeom prst="line">
            <a:avLst/>
          </a:prstGeom>
          <a:noFill/>
          <a:ln w="9525">
            <a:solidFill>
              <a:schemeClr val="accent1"/>
            </a:solidFill>
            <a:miter lim="800000"/>
            <a:head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5"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不带方块的">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179512" y="771550"/>
            <a:ext cx="8640960" cy="3744416"/>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5"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带方块的">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203598"/>
            <a:ext cx="8352928" cy="3137572"/>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副标题 2"/>
          <p:cNvSpPr>
            <a:spLocks noGrp="1"/>
          </p:cNvSpPr>
          <p:nvPr>
            <p:ph type="subTitle" idx="10" hasCustomPrompt="1"/>
          </p:nvPr>
        </p:nvSpPr>
        <p:spPr>
          <a:xfrm>
            <a:off x="467544" y="771550"/>
            <a:ext cx="7488832" cy="360040"/>
          </a:xfrm>
          <a:prstGeom prst="rect">
            <a:avLst/>
          </a:prstGeom>
        </p:spPr>
        <p:txBody>
          <a:bodyPr/>
          <a:lstStyle>
            <a:lvl1pPr marL="0" indent="0" algn="l">
              <a:buNone/>
              <a:defRPr sz="1600" b="1">
                <a:solidFill>
                  <a:srgbClr val="0070C0"/>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a:t>
            </a:r>
            <a:endParaRPr lang="zh-CN" altLang="en-US" dirty="0"/>
          </a:p>
        </p:txBody>
      </p:sp>
      <p:sp>
        <p:nvSpPr>
          <p:cNvPr id="5"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标题，文本与内容">
    <p:bg>
      <p:bgPr>
        <a:blipFill rotWithShape="0">
          <a:blip r:embed="rId2" cstate="prin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84213" y="195263"/>
            <a:ext cx="8229600" cy="594122"/>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4213" y="1059657"/>
            <a:ext cx="4038600" cy="339447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875213" y="1059657"/>
            <a:ext cx="4038600" cy="3394472"/>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4"/>
          <p:cNvSpPr>
            <a:spLocks noGrp="1"/>
          </p:cNvSpPr>
          <p:nvPr>
            <p:ph type="sldNum" sz="quarter" idx="4"/>
          </p:nvPr>
        </p:nvSpPr>
        <p:spPr bwMode="auto">
          <a:xfrm>
            <a:off x="755650" y="4786313"/>
            <a:ext cx="2133600" cy="161925"/>
          </a:xfrm>
          <a:prstGeom prst="rect">
            <a:avLst/>
          </a:prstGeom>
        </p:spPr>
        <p:txBody>
          <a:bodyPr vert="horz" wrap="square" lIns="91440" tIns="45720" rIns="91440" bIns="45720" numCol="1" anchor="ctr" anchorCtr="0" compatLnSpc="1"/>
          <a:lstStyle/>
          <a:p>
            <a:pPr algn="r"/>
            <a:fld id="{9A0DB2DC-4C9A-4742-B13C-FB6460FD3503}" type="slidenum">
              <a:rPr lang="en-US" altLang="zh-CN" dirty="0"/>
            </a:fld>
            <a:endParaRPr lang="en-US" altLang="zh-CN" dirty="0"/>
          </a:p>
        </p:txBody>
      </p:sp>
      <p:sp>
        <p:nvSpPr>
          <p:cNvPr id="5" name="日期占位符 4"/>
          <p:cNvSpPr>
            <a:spLocks noGrp="1"/>
          </p:cNvSpPr>
          <p:nvPr>
            <p:ph type="dt" sz="half" idx="10"/>
          </p:nvPr>
        </p:nvSpPr>
        <p:spPr>
          <a:xfrm>
            <a:off x="457200" y="4767263"/>
            <a:ext cx="2133600" cy="274638"/>
          </a:xfrm>
        </p:spPr>
        <p:txBody>
          <a:bodyPr/>
          <a:lstStyle/>
          <a:p>
            <a:pPr marL="0" marR="0" lvl="0" indent="0" algn="l" defTabSz="914400" rtl="0" eaLnBrk="1" fontAlgn="base" latinLnBrk="1" hangingPunct="1">
              <a:lnSpc>
                <a:spcPct val="100000"/>
              </a:lnSpc>
              <a:spcBef>
                <a:spcPct val="0"/>
              </a:spcBef>
              <a:spcAft>
                <a:spcPct val="0"/>
              </a:spcAft>
              <a:buClrTx/>
              <a:buSzTx/>
              <a:buFont typeface="Arial" panose="020B0604020202020204" pitchFamily="34" charset="0"/>
              <a:buNone/>
              <a:defRPr/>
            </a:pPr>
            <a:fld id="{7EB241C3-5186-4186-B816-417DFF777CEE}" type="datetime1">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a:xfrm>
            <a:off x="3124200" y="4767263"/>
            <a:ext cx="2895600" cy="274638"/>
          </a:xfrm>
        </p:spPr>
        <p:txBody>
          <a:bodyPr/>
          <a:lstStyle/>
          <a:p>
            <a:pPr marL="0" marR="0" lvl="0" indent="0" algn="ctr" defTabSz="914400" rtl="0" eaLnBrk="1" fontAlgn="base" latinLnBrk="1"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fourObj">
  <p:cSld name="标题和四项内容">
    <p:bg>
      <p:bgPr>
        <a:blipFill rotWithShape="0">
          <a:blip r:embed="rId2" cstate="prin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4213" y="195263"/>
            <a:ext cx="8229600" cy="594122"/>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684213" y="1059656"/>
            <a:ext cx="4038600" cy="163949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875213" y="1059656"/>
            <a:ext cx="4038600" cy="163949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684213" y="2813448"/>
            <a:ext cx="4038600" cy="164068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875213" y="2813448"/>
            <a:ext cx="4038600" cy="1640681"/>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灯片编号占位符 6"/>
          <p:cNvSpPr>
            <a:spLocks noGrp="1"/>
          </p:cNvSpPr>
          <p:nvPr>
            <p:ph type="sldNum" sz="quarter" idx="14"/>
          </p:nvPr>
        </p:nvSpPr>
        <p:spPr bwMode="auto">
          <a:xfrm>
            <a:off x="755650" y="4786313"/>
            <a:ext cx="2133600" cy="161925"/>
          </a:xfrm>
          <a:prstGeom prst="rect">
            <a:avLst/>
          </a:prstGeom>
        </p:spPr>
        <p:txBody>
          <a:bodyPr vert="horz" wrap="square" lIns="91440" tIns="45720" rIns="91440" bIns="45720" numCol="1" anchor="ctr" anchorCtr="0" compatLnSpc="1"/>
          <a:lstStyle/>
          <a:p>
            <a:pPr algn="r"/>
            <a:fld id="{9A0DB2DC-4C9A-4742-B13C-FB6460FD3503}" type="slidenum">
              <a:rPr lang="en-US" altLang="zh-CN" dirty="0"/>
            </a:fld>
            <a:endParaRPr lang="en-US" altLang="zh-CN" dirty="0"/>
          </a:p>
        </p:txBody>
      </p:sp>
      <p:sp>
        <p:nvSpPr>
          <p:cNvPr id="8" name="日期占位符 7"/>
          <p:cNvSpPr>
            <a:spLocks noGrp="1"/>
          </p:cNvSpPr>
          <p:nvPr>
            <p:ph type="dt" sz="half" idx="15"/>
          </p:nvPr>
        </p:nvSpPr>
        <p:spPr>
          <a:xfrm>
            <a:off x="457200" y="4767263"/>
            <a:ext cx="2133600" cy="274638"/>
          </a:xfrm>
        </p:spPr>
        <p:txBody>
          <a:bodyPr/>
          <a:lstStyle/>
          <a:p>
            <a:pPr marL="0" marR="0" lvl="0" indent="0" algn="l" defTabSz="914400" rtl="0" eaLnBrk="1" fontAlgn="base" latinLnBrk="1" hangingPunct="1">
              <a:lnSpc>
                <a:spcPct val="100000"/>
              </a:lnSpc>
              <a:spcBef>
                <a:spcPct val="0"/>
              </a:spcBef>
              <a:spcAft>
                <a:spcPct val="0"/>
              </a:spcAft>
              <a:buClrTx/>
              <a:buSzTx/>
              <a:buFont typeface="Arial" panose="020B0604020202020204" pitchFamily="34" charset="0"/>
              <a:buNone/>
              <a:defRPr/>
            </a:pPr>
            <a:fld id="{7EB241C3-5186-4186-B816-417DFF777CEE}" type="datetime1">
              <a:rPr kumimoji="0" lang="en-US"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rPr>
            </a:fld>
            <a:endParaRPr kumimoji="0" lang="zh-CN" altLang="zh-CN"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页脚占位符 8"/>
          <p:cNvSpPr>
            <a:spLocks noGrp="1"/>
          </p:cNvSpPr>
          <p:nvPr>
            <p:ph type="ftr" sz="quarter" idx="16"/>
          </p:nvPr>
        </p:nvSpPr>
        <p:spPr>
          <a:xfrm>
            <a:off x="3124200" y="4767263"/>
            <a:ext cx="2895600" cy="274638"/>
          </a:xfrm>
        </p:spPr>
        <p:txBody>
          <a:bodyPr/>
          <a:lstStyle/>
          <a:p>
            <a:pPr marL="0" marR="0" lvl="0" indent="0" algn="ctr" defTabSz="914400" rtl="0" eaLnBrk="1" fontAlgn="base" latinLnBrk="1" hangingPunct="1">
              <a:lnSpc>
                <a:spcPct val="100000"/>
              </a:lnSpc>
              <a:spcBef>
                <a:spcPct val="0"/>
              </a:spcBef>
              <a:spcAft>
                <a:spcPct val="0"/>
              </a:spcAft>
              <a:buClrTx/>
              <a:buSzTx/>
              <a:buFont typeface="Arial" panose="020B0604020202020204" pitchFamily="34" charset="0"/>
              <a:buNone/>
              <a:defRPr/>
            </a:pPr>
            <a:endParaRPr kumimoji="0" lang="zh-CN" altLang="zh-CN" sz="1200" b="0" i="0" u="none" strike="noStrike" kern="1200" cap="none" spc="0" normalizeH="0" baseline="0" noProof="0">
              <a:ln>
                <a:noFill/>
              </a:ln>
              <a:solidFill>
                <a:srgbClr val="898989"/>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首页">
    <p:bg>
      <p:bgPr>
        <a:blipFill>
          <a:blip r:embed="rId2" cstate="print"/>
          <a:tile tx="0" ty="0" sx="100000" sy="100000" flip="none" algn="tl"/>
        </a:blipFill>
        <a:effectLst/>
      </p:bgPr>
    </p:bg>
    <p:spTree>
      <p:nvGrpSpPr>
        <p:cNvPr id="1" name=""/>
        <p:cNvGrpSpPr/>
        <p:nvPr/>
      </p:nvGrpSpPr>
      <p:grpSpPr>
        <a:xfrm>
          <a:off x="0" y="0"/>
          <a:ext cx="0" cy="0"/>
          <a:chOff x="0" y="0"/>
          <a:chExt cx="0" cy="0"/>
        </a:xfrm>
      </p:grpSpPr>
      <p:sp>
        <p:nvSpPr>
          <p:cNvPr id="13" name="标题 1"/>
          <p:cNvSpPr>
            <a:spLocks noGrp="1"/>
          </p:cNvSpPr>
          <p:nvPr>
            <p:ph type="ctrTitle"/>
          </p:nvPr>
        </p:nvSpPr>
        <p:spPr>
          <a:xfrm>
            <a:off x="685800" y="1253209"/>
            <a:ext cx="7772400" cy="1102519"/>
          </a:xfrm>
          <a:prstGeom prst="rect">
            <a:avLst/>
          </a:prstGeom>
          <a:noFill/>
        </p:spPr>
        <p:txBody>
          <a:bodyPr anchor="ctr">
            <a:normAutofit/>
          </a:bodyPr>
          <a:lstStyle>
            <a:lvl1pPr algn="ctr">
              <a:defRPr sz="4000" b="1">
                <a:solidFill>
                  <a:schemeClr val="accent5">
                    <a:lumMod val="50000"/>
                  </a:schemeClr>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4" name="副标题 2"/>
          <p:cNvSpPr>
            <a:spLocks noGrp="1"/>
          </p:cNvSpPr>
          <p:nvPr>
            <p:ph type="subTitle" idx="1"/>
          </p:nvPr>
        </p:nvSpPr>
        <p:spPr>
          <a:xfrm>
            <a:off x="683568" y="2391033"/>
            <a:ext cx="7776864" cy="594066"/>
          </a:xfrm>
          <a:prstGeom prst="rect">
            <a:avLst/>
          </a:prstGeom>
        </p:spPr>
        <p:txBody>
          <a:bodyPr/>
          <a:lstStyle>
            <a:lvl1pPr marL="0" indent="0" algn="ctr">
              <a:buNone/>
              <a:defRPr sz="2800" b="1">
                <a:solidFill>
                  <a:schemeClr val="tx1">
                    <a:lumMod val="65000"/>
                    <a:lumOff val="35000"/>
                  </a:schemeClr>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endParaRPr lang="zh-CN" altLang="en-US" dirty="0"/>
          </a:p>
        </p:txBody>
      </p:sp>
      <p:pic>
        <p:nvPicPr>
          <p:cNvPr id="23" name="图片 61"/>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5398" y="3056791"/>
            <a:ext cx="9155113"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圆角矩形 4"/>
          <p:cNvSpPr>
            <a:spLocks noChangeArrowheads="1"/>
          </p:cNvSpPr>
          <p:nvPr userDrawn="1"/>
        </p:nvSpPr>
        <p:spPr bwMode="auto">
          <a:xfrm>
            <a:off x="2442815" y="3962401"/>
            <a:ext cx="4289425" cy="359569"/>
          </a:xfrm>
          <a:prstGeom prst="roundRect">
            <a:avLst>
              <a:gd name="adj" fmla="val 7292"/>
            </a:avLst>
          </a:prstGeom>
          <a:solidFill>
            <a:srgbClr val="FFFFFF">
              <a:alpha val="32156"/>
            </a:srgbClr>
          </a:solidFill>
          <a:ln>
            <a:noFill/>
          </a:ln>
          <a:extLst>
            <a:ext uri="{91240B29-F687-4F45-9708-019B960494DF}">
              <a14:hiddenLine xmlns:a14="http://schemas.microsoft.com/office/drawing/2010/main" w="12700">
                <a:solidFill>
                  <a:srgbClr val="42719B"/>
                </a:solidFill>
                <a:bevel/>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知识很简单  学习很快乐</a:t>
            </a:r>
            <a:endParaRPr lang="zh-CN" altLang="zh-CN" sz="24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1203598"/>
            <a:ext cx="8352928" cy="3137572"/>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副标题 2"/>
          <p:cNvSpPr>
            <a:spLocks noGrp="1"/>
          </p:cNvSpPr>
          <p:nvPr>
            <p:ph type="subTitle" idx="10" hasCustomPrompt="1"/>
          </p:nvPr>
        </p:nvSpPr>
        <p:spPr>
          <a:xfrm>
            <a:off x="467544" y="771550"/>
            <a:ext cx="7488832" cy="360040"/>
          </a:xfrm>
          <a:prstGeom prst="rect">
            <a:avLst/>
          </a:prstGeom>
        </p:spPr>
        <p:txBody>
          <a:bodyPr/>
          <a:lstStyle>
            <a:lvl1pPr marL="0" indent="0" algn="l">
              <a:buNone/>
              <a:defRPr sz="1600" b="1">
                <a:solidFill>
                  <a:srgbClr val="0070C0"/>
                </a:solidFill>
                <a:latin typeface="微软雅黑" panose="020B0503020204020204" pitchFamily="34" charset="-122"/>
                <a:ea typeface="微软雅黑"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a:t>
            </a:r>
            <a:endParaRPr lang="zh-CN" altLang="en-US" dirty="0"/>
          </a:p>
        </p:txBody>
      </p:sp>
      <p:sp>
        <p:nvSpPr>
          <p:cNvPr id="10"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9332"/>
          </a:xfrm>
          <a:prstGeom prst="rect">
            <a:avLst/>
          </a:prstGeom>
          <a:noFill/>
        </p:spPr>
        <p:txBody>
          <a:bodyPr wrap="square">
            <a:spAutoFit/>
          </a:bodyPr>
          <a:lstStyle>
            <a:lvl1pPr algn="r">
              <a:defRPr sz="2000" b="0">
                <a:solidFill>
                  <a:srgbClr val="0070C0"/>
                </a:solidFill>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323528" y="843558"/>
            <a:ext cx="8352928" cy="3600400"/>
          </a:xfrm>
          <a:prstGeom prst="rect">
            <a:avLst/>
          </a:prstGeom>
        </p:spPr>
        <p:txBody>
          <a:bodyPr/>
          <a:lstStyle>
            <a:lvl1pPr>
              <a:lnSpc>
                <a:spcPts val="2500"/>
              </a:lnSpc>
              <a:buSzPct val="100000"/>
              <a:buFont typeface="Wingdings" panose="05000000000000000000" pitchFamily="2" charset="2"/>
              <a:buChar char="n"/>
              <a:defRPr sz="2000" b="0">
                <a:solidFill>
                  <a:schemeClr val="tx1">
                    <a:lumMod val="75000"/>
                    <a:lumOff val="25000"/>
                  </a:schemeClr>
                </a:solidFill>
                <a:latin typeface="+mn-ea"/>
                <a:ea typeface="+mn-ea"/>
              </a:defRPr>
            </a:lvl1pPr>
            <a:lvl2pPr>
              <a:lnSpc>
                <a:spcPts val="2500"/>
              </a:lnSpc>
              <a:buSzPct val="100000"/>
              <a:buFont typeface="Wingdings" panose="05000000000000000000" pitchFamily="2" charset="2"/>
              <a:buChar char="u"/>
              <a:defRPr sz="1600" b="0">
                <a:solidFill>
                  <a:schemeClr val="tx1">
                    <a:lumMod val="75000"/>
                    <a:lumOff val="25000"/>
                  </a:schemeClr>
                </a:solidFill>
                <a:latin typeface="+mn-ea"/>
                <a:ea typeface="+mn-ea"/>
              </a:defRPr>
            </a:lvl2pPr>
            <a:lvl3pPr>
              <a:lnSpc>
                <a:spcPts val="2500"/>
              </a:lnSpc>
              <a:buClr>
                <a:srgbClr val="0E9CDE"/>
              </a:buClr>
              <a:buSzPct val="85000"/>
              <a:buFont typeface="Wingdings" panose="05000000000000000000" pitchFamily="2" charset="2"/>
              <a:buChar char="Ø"/>
              <a:defRPr sz="1400" b="0">
                <a:solidFill>
                  <a:schemeClr val="tx1">
                    <a:lumMod val="75000"/>
                    <a:lumOff val="25000"/>
                  </a:schemeClr>
                </a:solidFill>
                <a:latin typeface="+mn-ea"/>
                <a:ea typeface="+mn-ea"/>
              </a:defRPr>
            </a:lvl3pPr>
            <a:lvl4pPr>
              <a:defRPr sz="1800" b="1">
                <a:latin typeface="+mn-lt"/>
                <a:ea typeface="+mn-ea"/>
              </a:defRPr>
            </a:lvl4pPr>
            <a:lvl5pPr>
              <a:defRPr sz="1600" b="1">
                <a:latin typeface="+mn-lt"/>
                <a:ea typeface="+mn-ea"/>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5"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457200" y="4767264"/>
            <a:ext cx="2133600" cy="273844"/>
          </a:xfrm>
          <a:prstGeom prst="rect">
            <a:avLst/>
          </a:prstGeom>
        </p:spPr>
        <p:txBody>
          <a:bodyPr lIns="65306" tIns="32653" rIns="65306" bIns="32653"/>
          <a:lstStyle/>
          <a:p>
            <a:fld id="{DC92ECF9-1C64-45C7-A351-5C2B04CB53AB}" type="datetimeFigureOut">
              <a:rPr lang="zh-CN" altLang="en-US" smtClean="0"/>
            </a:fld>
            <a:endParaRPr lang="zh-CN" altLang="en-US"/>
          </a:p>
        </p:txBody>
      </p:sp>
      <p:sp>
        <p:nvSpPr>
          <p:cNvPr id="4" name="页脚占位符 3"/>
          <p:cNvSpPr>
            <a:spLocks noGrp="1"/>
          </p:cNvSpPr>
          <p:nvPr>
            <p:ph type="ftr" sz="quarter" idx="11"/>
          </p:nvPr>
        </p:nvSpPr>
        <p:spPr>
          <a:xfrm>
            <a:off x="3124201" y="4767264"/>
            <a:ext cx="2895600" cy="273844"/>
          </a:xfrm>
          <a:prstGeom prst="rect">
            <a:avLst/>
          </a:prstGeom>
        </p:spPr>
        <p:txBody>
          <a:bodyPr lIns="65306" tIns="32653" rIns="65306" bIns="32653"/>
          <a:lstStyle/>
          <a:p>
            <a:endParaRPr lang="zh-CN" altLang="en-US"/>
          </a:p>
        </p:txBody>
      </p:sp>
      <p:sp>
        <p:nvSpPr>
          <p:cNvPr id="5" name="灯片编号占位符 4"/>
          <p:cNvSpPr>
            <a:spLocks noGrp="1"/>
          </p:cNvSpPr>
          <p:nvPr>
            <p:ph type="sldNum" sz="quarter" idx="12"/>
          </p:nvPr>
        </p:nvSpPr>
        <p:spPr>
          <a:xfrm>
            <a:off x="6553200" y="4767264"/>
            <a:ext cx="2133600" cy="273844"/>
          </a:xfrm>
          <a:prstGeom prst="rect">
            <a:avLst/>
          </a:prstGeom>
        </p:spPr>
        <p:txBody>
          <a:bodyPr lIns="65306" tIns="32653" rIns="65306" bIns="32653"/>
          <a:lstStyle/>
          <a:p>
            <a:fld id="{EE00B7EE-1E89-4FFA-B365-5BB8C644522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没有内容">
    <p:spTree>
      <p:nvGrpSpPr>
        <p:cNvPr id="1" name=""/>
        <p:cNvGrpSpPr/>
        <p:nvPr/>
      </p:nvGrpSpPr>
      <p:grpSpPr>
        <a:xfrm>
          <a:off x="0" y="0"/>
          <a:ext cx="0" cy="0"/>
          <a:chOff x="0" y="0"/>
          <a:chExt cx="0" cy="0"/>
        </a:xfrm>
      </p:grpSpPr>
      <p:sp>
        <p:nvSpPr>
          <p:cNvPr id="3" name="标题 1"/>
          <p:cNvSpPr>
            <a:spLocks noGrp="1"/>
          </p:cNvSpPr>
          <p:nvPr>
            <p:ph type="title"/>
          </p:nvPr>
        </p:nvSpPr>
        <p:spPr>
          <a:xfrm>
            <a:off x="2195739" y="141482"/>
            <a:ext cx="6768877" cy="369332"/>
          </a:xfrm>
          <a:prstGeom prst="rect">
            <a:avLst/>
          </a:prstGeom>
          <a:noFill/>
        </p:spPr>
        <p:txBody>
          <a:bodyPr wrap="square">
            <a:spAutoFit/>
          </a:bodyPr>
          <a:lstStyle>
            <a:lvl1pPr>
              <a:defRPr lang="zh-CN" altLang="en-US" sz="2000" b="0" dirty="0">
                <a:solidFill>
                  <a:srgbClr val="0070C0"/>
                </a:solidFill>
              </a:defRPr>
            </a:lvl1pPr>
          </a:lstStyle>
          <a:p>
            <a:pPr lvl="0" algn="r"/>
            <a:r>
              <a:rPr lang="zh-CN" altLang="en-US" dirty="0"/>
              <a:t>单击此处编辑母版标题样式</a:t>
            </a:r>
            <a:endParaRPr lang="zh-CN" altLang="en-US" dirty="0"/>
          </a:p>
        </p:txBody>
      </p:sp>
      <p:sp>
        <p:nvSpPr>
          <p:cNvPr id="5" name="矩形 17"/>
          <p:cNvSpPr>
            <a:spLocks noChangeArrowheads="1"/>
          </p:cNvSpPr>
          <p:nvPr userDrawn="1"/>
        </p:nvSpPr>
        <p:spPr bwMode="auto">
          <a:xfrm>
            <a:off x="0" y="771550"/>
            <a:ext cx="16176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6.png"/><Relationship Id="rId14" Type="http://schemas.microsoft.com/office/2007/relationships/hdphoto" Target="../media/image5.wdp"/><Relationship Id="rId13" Type="http://schemas.openxmlformats.org/officeDocument/2006/relationships/image" Target="../media/image4.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图片 3"/>
          <p:cNvPicPr>
            <a:picLocks noChangeAspect="1" noChangeArrowheads="1"/>
          </p:cNvPicPr>
          <p:nvPr userDrawn="1"/>
        </p:nvPicPr>
        <p:blipFill>
          <a:blip r:embed="rId13" cstate="print">
            <a:extLst>
              <a:ext uri="{BEBA8EAE-BF5A-486C-A8C5-ECC9F3942E4B}">
                <a14:imgProps xmlns:a14="http://schemas.microsoft.com/office/drawing/2010/main">
                  <a14:imgLayer r:embed="rId14">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矩形 17"/>
          <p:cNvSpPr>
            <a:spLocks noChangeArrowheads="1"/>
          </p:cNvSpPr>
          <p:nvPr userDrawn="1"/>
        </p:nvSpPr>
        <p:spPr bwMode="auto">
          <a:xfrm>
            <a:off x="8623697" y="4693446"/>
            <a:ext cx="522684" cy="330994"/>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28" name="矩形 31"/>
          <p:cNvSpPr>
            <a:spLocks noChangeArrowheads="1"/>
          </p:cNvSpPr>
          <p:nvPr userDrawn="1"/>
        </p:nvSpPr>
        <p:spPr bwMode="auto">
          <a:xfrm flipV="1">
            <a:off x="3" y="573529"/>
            <a:ext cx="9146381" cy="41126"/>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a:solidFill>
                <a:srgbClr val="FFFFFF"/>
              </a:solidFill>
              <a:latin typeface="宋体" panose="02010600030101010101" pitchFamily="2" charset="-122"/>
              <a:sym typeface="宋体" panose="02010600030101010101" pitchFamily="2" charset="-122"/>
            </a:endParaRPr>
          </a:p>
        </p:txBody>
      </p:sp>
      <p:sp>
        <p:nvSpPr>
          <p:cNvPr id="1029" name="TextBox 15"/>
          <p:cNvSpPr>
            <a:spLocks noChangeArrowheads="1"/>
          </p:cNvSpPr>
          <p:nvPr userDrawn="1"/>
        </p:nvSpPr>
        <p:spPr bwMode="auto">
          <a:xfrm>
            <a:off x="8792769" y="4731544"/>
            <a:ext cx="4716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F0D41CE8-2465-49E5-8469-C528E9CDFDF7}" type="slidenum">
              <a:rPr lang="zh-CN" altLang="en-US" sz="1600">
                <a:solidFill>
                  <a:schemeClr val="bg1"/>
                </a:solidFill>
                <a:latin typeface="Calibri" panose="020F0502020204030204" pitchFamily="34" charset="0"/>
                <a:sym typeface="宋体" panose="02010600030101010101" pitchFamily="2" charset="-122"/>
              </a:rPr>
            </a:fld>
            <a:r>
              <a:rPr lang="zh-CN" altLang="en-US" sz="1600">
                <a:solidFill>
                  <a:schemeClr val="bg1"/>
                </a:solidFill>
                <a:latin typeface="Calibri" panose="020F0502020204030204" pitchFamily="34" charset="0"/>
                <a:sym typeface="宋体" panose="02010600030101010101" pitchFamily="2" charset="-122"/>
              </a:rPr>
              <a:t> </a:t>
            </a:r>
            <a:endParaRPr lang="zh-CN" altLang="en-US"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030" name="直接连接符 2"/>
          <p:cNvSpPr>
            <a:spLocks noChangeShapeType="1"/>
          </p:cNvSpPr>
          <p:nvPr userDrawn="1"/>
        </p:nvSpPr>
        <p:spPr bwMode="auto">
          <a:xfrm flipH="1">
            <a:off x="2121864" y="3"/>
            <a:ext cx="1864" cy="536711"/>
          </a:xfrm>
          <a:prstGeom prst="line">
            <a:avLst/>
          </a:prstGeom>
          <a:noFill/>
          <a:ln w="9525">
            <a:solidFill>
              <a:schemeClr val="accent1"/>
            </a:solidFill>
            <a:miter lim="800000"/>
            <a:tailEnd type="oval" w="med" len="med"/>
          </a:ln>
          <a:extLst>
            <a:ext uri="{909E8E84-426E-40DD-AFC4-6F175D3DCCD1}">
              <a14:hiddenFill xmlns:a14="http://schemas.microsoft.com/office/drawing/2010/main">
                <a:noFill/>
              </a14:hiddenFill>
            </a:ext>
          </a:extLst>
        </p:spPr>
        <p:txBody>
          <a:bodyPr/>
          <a:lstStyle/>
          <a:p>
            <a:endParaRPr lang="zh-CN" altLang="en-US"/>
          </a:p>
        </p:txBody>
      </p:sp>
      <p:pic>
        <p:nvPicPr>
          <p:cNvPr id="8" name="图片 3"/>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 y="130113"/>
            <a:ext cx="2123728" cy="406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push/>
  </p:transition>
  <p:txStyles>
    <p:titleStyle>
      <a:lvl1pPr marL="913130" indent="-913130" algn="l" rtl="0" eaLnBrk="0" fontAlgn="base" hangingPunct="0">
        <a:lnSpc>
          <a:spcPct val="90000"/>
        </a:lnSpc>
        <a:spcBef>
          <a:spcPct val="0"/>
        </a:spcBef>
        <a:spcAft>
          <a:spcPct val="0"/>
        </a:spcAft>
        <a:defRPr sz="4400" kern="1200">
          <a:solidFill>
            <a:schemeClr val="tx1"/>
          </a:solidFill>
          <a:latin typeface="+mj-lt"/>
          <a:ea typeface="+mj-ea"/>
          <a:cs typeface="+mj-cs"/>
          <a:sym typeface="Browallia New" charset="0"/>
        </a:defRPr>
      </a:lvl1pPr>
      <a:lvl2pPr marL="913130" indent="-913130" algn="l" rtl="0" eaLnBrk="0" fontAlgn="base" hangingPunct="0">
        <a:lnSpc>
          <a:spcPct val="90000"/>
        </a:lnSpc>
        <a:spcBef>
          <a:spcPct val="0"/>
        </a:spcBef>
        <a:spcAft>
          <a:spcPct val="0"/>
        </a:spcAft>
        <a:defRPr sz="4400">
          <a:solidFill>
            <a:schemeClr val="tx1"/>
          </a:solidFill>
          <a:latin typeface="Browallia New" charset="0"/>
          <a:ea typeface="微软雅黑" panose="020B0503020204020204" pitchFamily="34" charset="-122"/>
          <a:sym typeface="Browallia New" charset="0"/>
        </a:defRPr>
      </a:lvl2pPr>
      <a:lvl3pPr marL="913130" indent="-913130" algn="l" rtl="0" eaLnBrk="0" fontAlgn="base" hangingPunct="0">
        <a:lnSpc>
          <a:spcPct val="90000"/>
        </a:lnSpc>
        <a:spcBef>
          <a:spcPct val="0"/>
        </a:spcBef>
        <a:spcAft>
          <a:spcPct val="0"/>
        </a:spcAft>
        <a:defRPr sz="4400">
          <a:solidFill>
            <a:schemeClr val="tx1"/>
          </a:solidFill>
          <a:latin typeface="Browallia New" charset="0"/>
          <a:ea typeface="微软雅黑" panose="020B0503020204020204" pitchFamily="34" charset="-122"/>
          <a:sym typeface="Browallia New" charset="0"/>
        </a:defRPr>
      </a:lvl3pPr>
      <a:lvl4pPr marL="913130" indent="-913130" algn="l" rtl="0" eaLnBrk="0" fontAlgn="base" hangingPunct="0">
        <a:lnSpc>
          <a:spcPct val="90000"/>
        </a:lnSpc>
        <a:spcBef>
          <a:spcPct val="0"/>
        </a:spcBef>
        <a:spcAft>
          <a:spcPct val="0"/>
        </a:spcAft>
        <a:defRPr sz="4400">
          <a:solidFill>
            <a:schemeClr val="tx1"/>
          </a:solidFill>
          <a:latin typeface="Browallia New" charset="0"/>
          <a:ea typeface="微软雅黑" panose="020B0503020204020204" pitchFamily="34" charset="-122"/>
          <a:sym typeface="Browallia New" charset="0"/>
        </a:defRPr>
      </a:lvl4pPr>
      <a:lvl5pPr marL="913130" indent="-913130" algn="l" rtl="0" eaLnBrk="0" fontAlgn="base" hangingPunct="0">
        <a:lnSpc>
          <a:spcPct val="90000"/>
        </a:lnSpc>
        <a:spcBef>
          <a:spcPct val="0"/>
        </a:spcBef>
        <a:spcAft>
          <a:spcPct val="0"/>
        </a:spcAft>
        <a:defRPr sz="4400">
          <a:solidFill>
            <a:schemeClr val="tx1"/>
          </a:solidFill>
          <a:latin typeface="Browallia New" charset="0"/>
          <a:ea typeface="微软雅黑" panose="020B0503020204020204" pitchFamily="34" charset="-122"/>
          <a:sym typeface="Browallia New" charset="0"/>
        </a:defRPr>
      </a:lvl5pPr>
      <a:lvl6pPr marL="1371600" indent="-914400" algn="l" rtl="0" fontAlgn="base">
        <a:lnSpc>
          <a:spcPct val="90000"/>
        </a:lnSpc>
        <a:spcBef>
          <a:spcPct val="0"/>
        </a:spcBef>
        <a:spcAft>
          <a:spcPct val="0"/>
        </a:spcAft>
        <a:defRPr sz="4400">
          <a:solidFill>
            <a:schemeClr val="tx1"/>
          </a:solidFill>
          <a:latin typeface="Browallia New" charset="0"/>
          <a:ea typeface="微软雅黑" panose="020B0503020204020204" pitchFamily="34" charset="-122"/>
          <a:sym typeface="Browallia New" charset="0"/>
        </a:defRPr>
      </a:lvl6pPr>
      <a:lvl7pPr marL="1828800" indent="-914400" algn="l" rtl="0" fontAlgn="base">
        <a:lnSpc>
          <a:spcPct val="90000"/>
        </a:lnSpc>
        <a:spcBef>
          <a:spcPct val="0"/>
        </a:spcBef>
        <a:spcAft>
          <a:spcPct val="0"/>
        </a:spcAft>
        <a:defRPr sz="4400">
          <a:solidFill>
            <a:schemeClr val="tx1"/>
          </a:solidFill>
          <a:latin typeface="Browallia New" charset="0"/>
          <a:ea typeface="微软雅黑" panose="020B0503020204020204" pitchFamily="34" charset="-122"/>
          <a:sym typeface="Browallia New" charset="0"/>
        </a:defRPr>
      </a:lvl7pPr>
      <a:lvl8pPr marL="2286000" indent="-914400" algn="l" rtl="0" fontAlgn="base">
        <a:lnSpc>
          <a:spcPct val="90000"/>
        </a:lnSpc>
        <a:spcBef>
          <a:spcPct val="0"/>
        </a:spcBef>
        <a:spcAft>
          <a:spcPct val="0"/>
        </a:spcAft>
        <a:defRPr sz="4400">
          <a:solidFill>
            <a:schemeClr val="tx1"/>
          </a:solidFill>
          <a:latin typeface="Browallia New" charset="0"/>
          <a:ea typeface="微软雅黑" panose="020B0503020204020204" pitchFamily="34" charset="-122"/>
          <a:sym typeface="Browallia New" charset="0"/>
        </a:defRPr>
      </a:lvl8pPr>
      <a:lvl9pPr marL="2743200" indent="-914400" algn="l" rtl="0" fontAlgn="base">
        <a:lnSpc>
          <a:spcPct val="90000"/>
        </a:lnSpc>
        <a:spcBef>
          <a:spcPct val="0"/>
        </a:spcBef>
        <a:spcAft>
          <a:spcPct val="0"/>
        </a:spcAft>
        <a:defRPr sz="4400">
          <a:solidFill>
            <a:schemeClr val="tx1"/>
          </a:solidFill>
          <a:latin typeface="Browallia New" charset="0"/>
          <a:ea typeface="微软雅黑" panose="020B0503020204020204" pitchFamily="34" charset="-122"/>
          <a:sym typeface="Browallia New" charset="0"/>
        </a:defRPr>
      </a:lvl9pPr>
    </p:titleStyle>
    <p:bodyStyle>
      <a:lvl1pPr marL="227330" indent="-22733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1pPr>
      <a:lvl2pPr marL="684530" indent="-22733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2pPr>
      <a:lvl3pPr marL="1141730" indent="-22733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3pPr>
      <a:lvl4pPr marL="159893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4pPr>
      <a:lvl5pPr marL="2056130" indent="-22733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sym typeface="Calibri" panose="020F0502020204030204" pitchFamily="34" charset="0"/>
        </a:defRPr>
      </a:lvl5pPr>
      <a:lvl6pPr marL="25146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4.xml"/><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9.emf"/></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4.xml"/><Relationship Id="rId3" Type="http://schemas.openxmlformats.org/officeDocument/2006/relationships/image" Target="../media/image12.GIF"/><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image" Target="../media/image13.GIF"/></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5.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image" Target="../media/image2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2.xml"/><Relationship Id="rId1" Type="http://schemas.openxmlformats.org/officeDocument/2006/relationships/tags" Target="../tags/tag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image" Target="../media/image22.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5.xml"/><Relationship Id="rId2" Type="http://schemas.openxmlformats.org/officeDocument/2006/relationships/image" Target="../media/image24.png"/><Relationship Id="rId1" Type="http://schemas.openxmlformats.org/officeDocument/2006/relationships/image" Target="../media/image23.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6.png"/><Relationship Id="rId1" Type="http://schemas.openxmlformats.org/officeDocument/2006/relationships/image" Target="../media/image25.png"/></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5.xml"/><Relationship Id="rId3" Type="http://schemas.openxmlformats.org/officeDocument/2006/relationships/slideLayout" Target="../slideLayouts/slideLayout5.xml"/><Relationship Id="rId2" Type="http://schemas.openxmlformats.org/officeDocument/2006/relationships/image" Target="../media/image26.png"/><Relationship Id="rId1" Type="http://schemas.openxmlformats.org/officeDocument/2006/relationships/image" Target="../media/image25.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4.xml"/><Relationship Id="rId1" Type="http://schemas.openxmlformats.org/officeDocument/2006/relationships/image" Target="../media/image9.e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754817" y="1253209"/>
            <a:ext cx="7772400" cy="1102519"/>
          </a:xfrm>
        </p:spPr>
        <p:txBody>
          <a:bodyPr/>
          <a:lstStyle/>
          <a:p>
            <a:r>
              <a:rPr lang="zh-CN" altLang="en-US"/>
              <a:t>第十二</a:t>
            </a:r>
            <a:r>
              <a:rPr lang="zh-CN" altLang="en-US"/>
              <a:t>单元</a:t>
            </a:r>
            <a:endParaRPr lang="zh-CN" altLang="en-US" dirty="0"/>
          </a:p>
        </p:txBody>
      </p:sp>
      <p:sp>
        <p:nvSpPr>
          <p:cNvPr id="7" name="副标题 6"/>
          <p:cNvSpPr>
            <a:spLocks noGrp="1"/>
          </p:cNvSpPr>
          <p:nvPr>
            <p:ph type="subTitle" idx="1"/>
          </p:nvPr>
        </p:nvSpPr>
        <p:spPr/>
        <p:txBody>
          <a:bodyPr/>
          <a:lstStyle/>
          <a:p>
            <a:r>
              <a:rPr lang="zh-CN" altLang="en-US" dirty="0"/>
              <a:t>函数</a:t>
            </a:r>
            <a:endParaRPr lang="zh-CN" altLang="en-US" dirty="0"/>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第一课时</a:t>
            </a:r>
            <a:endParaRPr lang="zh-CN" altLang="en-US" dirty="0"/>
          </a:p>
        </p:txBody>
      </p:sp>
      <p:sp>
        <p:nvSpPr>
          <p:cNvPr id="7" name="副标题 6"/>
          <p:cNvSpPr>
            <a:spLocks noGrp="1"/>
          </p:cNvSpPr>
          <p:nvPr>
            <p:ph type="subTitle" idx="1"/>
          </p:nvPr>
        </p:nvSpPr>
        <p:spPr/>
        <p:txBody>
          <a:bodyPr/>
          <a:lstStyle/>
          <a:p>
            <a:r>
              <a:rPr lang="zh-CN" altLang="en-US" dirty="0">
                <a:sym typeface="+mn-ea"/>
              </a:rPr>
              <a:t>函数概述</a:t>
            </a:r>
            <a:endParaRPr lang="zh-CN" altLang="en-US" b="1"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964"/>
    </mc:Choice>
    <mc:Fallback>
      <p:transition spd="slow" advTm="96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知识回顾</a:t>
            </a:r>
            <a:endParaRPr lang="zh-CN" altLang="en-US" dirty="0"/>
          </a:p>
        </p:txBody>
      </p:sp>
      <p:sp>
        <p:nvSpPr>
          <p:cNvPr id="3" name="内容占位符 2"/>
          <p:cNvSpPr>
            <a:spLocks noGrp="1"/>
          </p:cNvSpPr>
          <p:nvPr>
            <p:ph idx="1"/>
          </p:nvPr>
        </p:nvSpPr>
        <p:spPr>
          <a:xfrm>
            <a:off x="1911985" y="1299210"/>
            <a:ext cx="4427855" cy="3205480"/>
          </a:xfrm>
        </p:spPr>
        <p:txBody>
          <a:bodyPr/>
          <a:lstStyle/>
          <a:p>
            <a:r>
              <a:rPr lang="zh-CN" altLang="en-US" dirty="0"/>
              <a:t>什么是集合？</a:t>
            </a:r>
            <a:endParaRPr lang="en-US" altLang="zh-CN" dirty="0"/>
          </a:p>
          <a:p>
            <a:r>
              <a:rPr lang="zh-CN" altLang="en-US" dirty="0"/>
              <a:t>如何创建一个集合？</a:t>
            </a:r>
            <a:endParaRPr lang="en-US" altLang="zh-CN" dirty="0"/>
          </a:p>
          <a:p>
            <a:r>
              <a:rPr lang="zh-CN" altLang="en-US" dirty="0"/>
              <a:t>集合间的运算有哪些？</a:t>
            </a:r>
            <a:endParaRPr lang="en-US" altLang="zh-CN" dirty="0"/>
          </a:p>
          <a:p>
            <a:r>
              <a:rPr lang="zh-CN" altLang="en-US" dirty="0"/>
              <a:t>集合删除操作有哪些？</a:t>
            </a:r>
            <a:endParaRPr lang="en-US" altLang="zh-CN" dirty="0"/>
          </a:p>
        </p:txBody>
      </p:sp>
      <p:sp>
        <p:nvSpPr>
          <p:cNvPr id="9" name="TextBox 8"/>
          <p:cNvSpPr txBox="1"/>
          <p:nvPr/>
        </p:nvSpPr>
        <p:spPr>
          <a:xfrm>
            <a:off x="539552" y="771550"/>
            <a:ext cx="1728192" cy="338554"/>
          </a:xfrm>
          <a:prstGeom prst="rect">
            <a:avLst/>
          </a:prstGeom>
          <a:noFill/>
        </p:spPr>
        <p:txBody>
          <a:bodyPr wrap="square" rtlCol="0">
            <a:spAutoFit/>
          </a:bodyPr>
          <a:lstStyle/>
          <a:p>
            <a:pPr algn="l"/>
            <a:r>
              <a:rPr lang="zh-CN" altLang="en-US" sz="1600" b="1" dirty="0">
                <a:solidFill>
                  <a:srgbClr val="0070C0"/>
                </a:solidFill>
                <a:latin typeface="+mj-ea"/>
                <a:ea typeface="+mj-ea"/>
              </a:rPr>
              <a:t>现场提问</a:t>
            </a:r>
            <a:endParaRPr lang="zh-CN" altLang="en-US" sz="1600" b="1" dirty="0">
              <a:solidFill>
                <a:srgbClr val="0070C0"/>
              </a:solidFill>
              <a:latin typeface="+mj-ea"/>
              <a:ea typeface="+mj-ea"/>
            </a:endParaRPr>
          </a:p>
        </p:txBody>
      </p:sp>
      <p:pic>
        <p:nvPicPr>
          <p:cNvPr id="10" name="图片 9" descr="现场提问3.png"/>
          <p:cNvPicPr>
            <a:picLocks noChangeAspect="1"/>
          </p:cNvPicPr>
          <p:nvPr/>
        </p:nvPicPr>
        <p:blipFill>
          <a:blip r:embed="rId1" cstate="print"/>
          <a:stretch>
            <a:fillRect/>
          </a:stretch>
        </p:blipFill>
        <p:spPr>
          <a:xfrm>
            <a:off x="179512" y="723157"/>
            <a:ext cx="405385" cy="408433"/>
          </a:xfrm>
          <a:prstGeom prst="rect">
            <a:avLst/>
          </a:prstGeom>
          <a:noFill/>
        </p:spPr>
      </p:pic>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贯穿案例</a:t>
            </a:r>
            <a:endParaRPr lang="zh-CN" altLang="en-US" dirty="0"/>
          </a:p>
        </p:txBody>
      </p:sp>
      <p:sp>
        <p:nvSpPr>
          <p:cNvPr id="3" name="内容占位符 2"/>
          <p:cNvSpPr>
            <a:spLocks noGrp="1"/>
          </p:cNvSpPr>
          <p:nvPr>
            <p:ph idx="1"/>
          </p:nvPr>
        </p:nvSpPr>
        <p:spPr/>
        <p:txBody>
          <a:bodyPr/>
          <a:lstStyle/>
          <a:p>
            <a:pPr marL="0" indent="0">
              <a:buNone/>
            </a:pPr>
            <a:r>
              <a:rPr lang="en-US" altLang="zh-CN" b="1" dirty="0">
                <a:solidFill>
                  <a:srgbClr val="0070C0"/>
                </a:solidFill>
              </a:rPr>
              <a:t>    </a:t>
            </a:r>
            <a:r>
              <a:rPr lang="zh-CN" altLang="en-US" b="1" dirty="0">
                <a:solidFill>
                  <a:srgbClr val="0070C0"/>
                </a:solidFill>
              </a:rPr>
              <a:t>需求说明</a:t>
            </a:r>
            <a:endParaRPr lang="en-US" altLang="zh-CN" dirty="0"/>
          </a:p>
          <a:p>
            <a:pPr lvl="1"/>
            <a:r>
              <a:rPr lang="zh-CN" altLang="en-US" dirty="0">
                <a:solidFill>
                  <a:schemeClr val="tx1"/>
                </a:solidFill>
              </a:rPr>
              <a:t>改写八维餐厅系统</a:t>
            </a:r>
            <a:endParaRPr lang="en-US" altLang="zh-CN" dirty="0">
              <a:solidFill>
                <a:schemeClr val="tx1"/>
              </a:solidFill>
            </a:endParaRPr>
          </a:p>
          <a:p>
            <a:pPr marL="457200" lvl="1" indent="0">
              <a:buNone/>
            </a:pPr>
            <a:endParaRPr lang="en-US" altLang="zh-CN" b="1" dirty="0"/>
          </a:p>
          <a:p>
            <a:pPr marL="0" indent="0">
              <a:buNone/>
            </a:pPr>
            <a:r>
              <a:rPr lang="zh-CN" altLang="en-US" b="1" dirty="0">
                <a:solidFill>
                  <a:srgbClr val="0070C0"/>
                </a:solidFill>
              </a:rPr>
              <a:t>    思路分析</a:t>
            </a:r>
            <a:endParaRPr lang="en-US" altLang="zh-CN" dirty="0">
              <a:solidFill>
                <a:schemeClr val="tx1"/>
              </a:solidFill>
            </a:endParaRPr>
          </a:p>
          <a:p>
            <a:pPr lvl="1" algn="l" fontAlgn="base">
              <a:lnSpc>
                <a:spcPct val="150000"/>
              </a:lnSpc>
              <a:buFont typeface="Wingdings" panose="05000000000000000000" charset="0"/>
              <a:buChar char="u"/>
            </a:pPr>
            <a:r>
              <a:rPr lang="zh-CN" dirty="0">
                <a:sym typeface="+mn-ea"/>
              </a:rPr>
              <a:t>理清代码功能之间逻辑关系</a:t>
            </a:r>
            <a:r>
              <a:rPr dirty="0">
                <a:sym typeface="+mn-ea"/>
              </a:rPr>
              <a:t>。</a:t>
            </a:r>
            <a:endParaRPr strike="noStrike" noProof="1"/>
          </a:p>
          <a:p>
            <a:pPr lvl="1" algn="l" fontAlgn="base">
              <a:lnSpc>
                <a:spcPct val="150000"/>
              </a:lnSpc>
              <a:buFont typeface="Wingdings" panose="05000000000000000000" charset="0"/>
              <a:buChar char="u"/>
            </a:pPr>
            <a:r>
              <a:rPr lang="zh-CN" dirty="0">
                <a:sym typeface="+mn-ea"/>
              </a:rPr>
              <a:t>理清函数之间关系</a:t>
            </a:r>
            <a:r>
              <a:rPr dirty="0">
                <a:sym typeface="+mn-ea"/>
              </a:rPr>
              <a:t>。</a:t>
            </a:r>
            <a:endParaRPr strike="noStrike" noProof="1"/>
          </a:p>
          <a:p>
            <a:pPr lvl="1" algn="l" fontAlgn="base">
              <a:lnSpc>
                <a:spcPct val="150000"/>
              </a:lnSpc>
              <a:buFont typeface="Wingdings" panose="05000000000000000000" charset="0"/>
              <a:buChar char="u"/>
            </a:pPr>
            <a:r>
              <a:rPr lang="zh-CN" dirty="0">
                <a:sym typeface="+mn-ea"/>
              </a:rPr>
              <a:t>明确函数参数与返回值</a:t>
            </a:r>
            <a:r>
              <a:rPr dirty="0">
                <a:sym typeface="+mn-ea"/>
              </a:rPr>
              <a:t>。</a:t>
            </a:r>
            <a:endParaRPr strike="noStrike" noProof="1"/>
          </a:p>
          <a:p>
            <a:pPr lvl="1" algn="l" fontAlgn="base">
              <a:lnSpc>
                <a:spcPct val="150000"/>
              </a:lnSpc>
              <a:buFont typeface="Wingdings" panose="05000000000000000000" charset="0"/>
              <a:buChar char="u"/>
            </a:pPr>
            <a:r>
              <a:rPr dirty="0">
                <a:sym typeface="+mn-ea"/>
              </a:rPr>
              <a:t>编码必须规范</a:t>
            </a:r>
            <a:r>
              <a:rPr lang="zh-CN" dirty="0">
                <a:sym typeface="+mn-ea"/>
              </a:rPr>
              <a:t>。</a:t>
            </a:r>
            <a:endParaRPr dirty="0">
              <a:sym typeface="+mn-ea"/>
            </a:endParaRPr>
          </a:p>
          <a:p>
            <a:pPr lvl="1" algn="l" fontAlgn="base">
              <a:lnSpc>
                <a:spcPct val="150000"/>
              </a:lnSpc>
              <a:buFont typeface="Wingdings" panose="05000000000000000000" charset="0"/>
              <a:buChar char="u"/>
            </a:pPr>
            <a:r>
              <a:rPr lang="zh-CN" dirty="0">
                <a:sym typeface="+mn-ea"/>
              </a:rPr>
              <a:t>添加注释增强可读性。</a:t>
            </a:r>
            <a:endParaRPr lang="en-US" altLang="zh-CN" dirty="0">
              <a:solidFill>
                <a:schemeClr val="tx1"/>
              </a:solidFill>
            </a:endParaRPr>
          </a:p>
          <a:p>
            <a:pPr marL="0" indent="0">
              <a:buNone/>
            </a:pPr>
            <a:endParaRPr lang="en-US" altLang="zh-CN" dirty="0"/>
          </a:p>
          <a:p>
            <a:pPr lvl="1"/>
            <a:endParaRPr lang="zh-CN" altLang="en-US" dirty="0"/>
          </a:p>
        </p:txBody>
      </p:sp>
      <p:grpSp>
        <p:nvGrpSpPr>
          <p:cNvPr id="5" name="组合 4"/>
          <p:cNvGrpSpPr/>
          <p:nvPr/>
        </p:nvGrpSpPr>
        <p:grpSpPr>
          <a:xfrm>
            <a:off x="215018" y="2074238"/>
            <a:ext cx="247650" cy="244475"/>
            <a:chOff x="6660232" y="1684535"/>
            <a:chExt cx="247650" cy="244475"/>
          </a:xfrm>
        </p:grpSpPr>
        <p:sp>
          <p:nvSpPr>
            <p:cNvPr id="6" name="Oval 70"/>
            <p:cNvSpPr>
              <a:spLocks noChangeArrowheads="1"/>
            </p:cNvSpPr>
            <p:nvPr/>
          </p:nvSpPr>
          <p:spPr bwMode="auto">
            <a:xfrm>
              <a:off x="6709445" y="1736923"/>
              <a:ext cx="146050" cy="146050"/>
            </a:xfrm>
            <a:prstGeom prst="ellipse">
              <a:avLst/>
            </a:pr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71"/>
            <p:cNvSpPr/>
            <p:nvPr/>
          </p:nvSpPr>
          <p:spPr bwMode="auto">
            <a:xfrm>
              <a:off x="6761832" y="1890910"/>
              <a:ext cx="47625" cy="15875"/>
            </a:xfrm>
            <a:custGeom>
              <a:avLst/>
              <a:gdLst>
                <a:gd name="T0" fmla="*/ 0 w 30"/>
                <a:gd name="T1" fmla="*/ 0 h 10"/>
                <a:gd name="T2" fmla="*/ 30 w 30"/>
                <a:gd name="T3" fmla="*/ 0 h 10"/>
                <a:gd name="T4" fmla="*/ 30 w 30"/>
                <a:gd name="T5" fmla="*/ 10 h 10"/>
                <a:gd name="T6" fmla="*/ 0 w 30"/>
                <a:gd name="T7" fmla="*/ 10 h 10"/>
                <a:gd name="T8" fmla="*/ 0 w 30"/>
                <a:gd name="T9" fmla="*/ 0 h 10"/>
                <a:gd name="T10" fmla="*/ 0 w 30"/>
                <a:gd name="T11" fmla="*/ 0 h 10"/>
              </a:gdLst>
              <a:ahLst/>
              <a:cxnLst>
                <a:cxn ang="0">
                  <a:pos x="T0" y="T1"/>
                </a:cxn>
                <a:cxn ang="0">
                  <a:pos x="T2" y="T3"/>
                </a:cxn>
                <a:cxn ang="0">
                  <a:pos x="T4" y="T5"/>
                </a:cxn>
                <a:cxn ang="0">
                  <a:pos x="T6" y="T7"/>
                </a:cxn>
                <a:cxn ang="0">
                  <a:pos x="T8" y="T9"/>
                </a:cxn>
                <a:cxn ang="0">
                  <a:pos x="T10" y="T11"/>
                </a:cxn>
              </a:cxnLst>
              <a:rect l="0" t="0" r="r" b="b"/>
              <a:pathLst>
                <a:path w="30" h="10">
                  <a:moveTo>
                    <a:pt x="0" y="0"/>
                  </a:moveTo>
                  <a:lnTo>
                    <a:pt x="30" y="0"/>
                  </a:lnTo>
                  <a:lnTo>
                    <a:pt x="30" y="10"/>
                  </a:lnTo>
                  <a:lnTo>
                    <a:pt x="0" y="10"/>
                  </a:lnTo>
                  <a:lnTo>
                    <a:pt x="0" y="0"/>
                  </a:lnTo>
                  <a:lnTo>
                    <a:pt x="0" y="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72"/>
            <p:cNvSpPr/>
            <p:nvPr/>
          </p:nvSpPr>
          <p:spPr bwMode="auto">
            <a:xfrm>
              <a:off x="6772945" y="1909960"/>
              <a:ext cx="30163" cy="19050"/>
            </a:xfrm>
            <a:custGeom>
              <a:avLst/>
              <a:gdLst>
                <a:gd name="T0" fmla="*/ 0 w 19"/>
                <a:gd name="T1" fmla="*/ 0 h 12"/>
                <a:gd name="T2" fmla="*/ 19 w 19"/>
                <a:gd name="T3" fmla="*/ 0 h 12"/>
                <a:gd name="T4" fmla="*/ 19 w 19"/>
                <a:gd name="T5" fmla="*/ 12 h 12"/>
                <a:gd name="T6" fmla="*/ 0 w 19"/>
                <a:gd name="T7" fmla="*/ 12 h 12"/>
                <a:gd name="T8" fmla="*/ 0 w 19"/>
                <a:gd name="T9" fmla="*/ 0 h 12"/>
                <a:gd name="T10" fmla="*/ 0 w 19"/>
                <a:gd name="T11" fmla="*/ 0 h 12"/>
              </a:gdLst>
              <a:ahLst/>
              <a:cxnLst>
                <a:cxn ang="0">
                  <a:pos x="T0" y="T1"/>
                </a:cxn>
                <a:cxn ang="0">
                  <a:pos x="T2" y="T3"/>
                </a:cxn>
                <a:cxn ang="0">
                  <a:pos x="T4" y="T5"/>
                </a:cxn>
                <a:cxn ang="0">
                  <a:pos x="T6" y="T7"/>
                </a:cxn>
                <a:cxn ang="0">
                  <a:pos x="T8" y="T9"/>
                </a:cxn>
                <a:cxn ang="0">
                  <a:pos x="T10" y="T11"/>
                </a:cxn>
              </a:cxnLst>
              <a:rect l="0" t="0" r="r" b="b"/>
              <a:pathLst>
                <a:path w="19" h="12">
                  <a:moveTo>
                    <a:pt x="0" y="0"/>
                  </a:moveTo>
                  <a:lnTo>
                    <a:pt x="19" y="0"/>
                  </a:lnTo>
                  <a:lnTo>
                    <a:pt x="19" y="12"/>
                  </a:lnTo>
                  <a:lnTo>
                    <a:pt x="0" y="12"/>
                  </a:lnTo>
                  <a:lnTo>
                    <a:pt x="0" y="0"/>
                  </a:lnTo>
                  <a:lnTo>
                    <a:pt x="0" y="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73"/>
            <p:cNvSpPr/>
            <p:nvPr/>
          </p:nvSpPr>
          <p:spPr bwMode="auto">
            <a:xfrm>
              <a:off x="6772945" y="1684535"/>
              <a:ext cx="22225" cy="38100"/>
            </a:xfrm>
            <a:custGeom>
              <a:avLst/>
              <a:gdLst>
                <a:gd name="T0" fmla="*/ 0 w 14"/>
                <a:gd name="T1" fmla="*/ 0 h 24"/>
                <a:gd name="T2" fmla="*/ 14 w 14"/>
                <a:gd name="T3" fmla="*/ 0 h 24"/>
                <a:gd name="T4" fmla="*/ 14 w 14"/>
                <a:gd name="T5" fmla="*/ 24 h 24"/>
                <a:gd name="T6" fmla="*/ 0 w 14"/>
                <a:gd name="T7" fmla="*/ 24 h 24"/>
                <a:gd name="T8" fmla="*/ 0 w 14"/>
                <a:gd name="T9" fmla="*/ 0 h 24"/>
                <a:gd name="T10" fmla="*/ 0 w 14"/>
                <a:gd name="T11" fmla="*/ 0 h 24"/>
              </a:gdLst>
              <a:ahLst/>
              <a:cxnLst>
                <a:cxn ang="0">
                  <a:pos x="T0" y="T1"/>
                </a:cxn>
                <a:cxn ang="0">
                  <a:pos x="T2" y="T3"/>
                </a:cxn>
                <a:cxn ang="0">
                  <a:pos x="T4" y="T5"/>
                </a:cxn>
                <a:cxn ang="0">
                  <a:pos x="T6" y="T7"/>
                </a:cxn>
                <a:cxn ang="0">
                  <a:pos x="T8" y="T9"/>
                </a:cxn>
                <a:cxn ang="0">
                  <a:pos x="T10" y="T11"/>
                </a:cxn>
              </a:cxnLst>
              <a:rect l="0" t="0" r="r" b="b"/>
              <a:pathLst>
                <a:path w="14" h="24">
                  <a:moveTo>
                    <a:pt x="0" y="0"/>
                  </a:moveTo>
                  <a:lnTo>
                    <a:pt x="14" y="0"/>
                  </a:lnTo>
                  <a:lnTo>
                    <a:pt x="14" y="24"/>
                  </a:lnTo>
                  <a:lnTo>
                    <a:pt x="0" y="24"/>
                  </a:lnTo>
                  <a:lnTo>
                    <a:pt x="0" y="0"/>
                  </a:lnTo>
                  <a:lnTo>
                    <a:pt x="0" y="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74"/>
            <p:cNvSpPr/>
            <p:nvPr/>
          </p:nvSpPr>
          <p:spPr bwMode="auto">
            <a:xfrm>
              <a:off x="6866607" y="1778198"/>
              <a:ext cx="41275" cy="22225"/>
            </a:xfrm>
            <a:custGeom>
              <a:avLst/>
              <a:gdLst>
                <a:gd name="T0" fmla="*/ 0 w 26"/>
                <a:gd name="T1" fmla="*/ 0 h 14"/>
                <a:gd name="T2" fmla="*/ 26 w 26"/>
                <a:gd name="T3" fmla="*/ 0 h 14"/>
                <a:gd name="T4" fmla="*/ 26 w 26"/>
                <a:gd name="T5" fmla="*/ 14 h 14"/>
                <a:gd name="T6" fmla="*/ 0 w 26"/>
                <a:gd name="T7" fmla="*/ 14 h 14"/>
                <a:gd name="T8" fmla="*/ 0 w 26"/>
                <a:gd name="T9" fmla="*/ 0 h 14"/>
                <a:gd name="T10" fmla="*/ 0 w 26"/>
                <a:gd name="T11" fmla="*/ 0 h 14"/>
              </a:gdLst>
              <a:ahLst/>
              <a:cxnLst>
                <a:cxn ang="0">
                  <a:pos x="T0" y="T1"/>
                </a:cxn>
                <a:cxn ang="0">
                  <a:pos x="T2" y="T3"/>
                </a:cxn>
                <a:cxn ang="0">
                  <a:pos x="T4" y="T5"/>
                </a:cxn>
                <a:cxn ang="0">
                  <a:pos x="T6" y="T7"/>
                </a:cxn>
                <a:cxn ang="0">
                  <a:pos x="T8" y="T9"/>
                </a:cxn>
                <a:cxn ang="0">
                  <a:pos x="T10" y="T11"/>
                </a:cxn>
              </a:cxnLst>
              <a:rect l="0" t="0" r="r" b="b"/>
              <a:pathLst>
                <a:path w="26" h="14">
                  <a:moveTo>
                    <a:pt x="0" y="0"/>
                  </a:moveTo>
                  <a:lnTo>
                    <a:pt x="26" y="0"/>
                  </a:lnTo>
                  <a:lnTo>
                    <a:pt x="26" y="14"/>
                  </a:lnTo>
                  <a:lnTo>
                    <a:pt x="0" y="14"/>
                  </a:lnTo>
                  <a:lnTo>
                    <a:pt x="0" y="0"/>
                  </a:lnTo>
                  <a:lnTo>
                    <a:pt x="0" y="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75"/>
            <p:cNvSpPr/>
            <p:nvPr/>
          </p:nvSpPr>
          <p:spPr bwMode="auto">
            <a:xfrm>
              <a:off x="6660232" y="1778198"/>
              <a:ext cx="38100" cy="22225"/>
            </a:xfrm>
            <a:custGeom>
              <a:avLst/>
              <a:gdLst>
                <a:gd name="T0" fmla="*/ 0 w 24"/>
                <a:gd name="T1" fmla="*/ 0 h 14"/>
                <a:gd name="T2" fmla="*/ 24 w 24"/>
                <a:gd name="T3" fmla="*/ 0 h 14"/>
                <a:gd name="T4" fmla="*/ 24 w 24"/>
                <a:gd name="T5" fmla="*/ 14 h 14"/>
                <a:gd name="T6" fmla="*/ 0 w 24"/>
                <a:gd name="T7" fmla="*/ 14 h 14"/>
                <a:gd name="T8" fmla="*/ 0 w 24"/>
                <a:gd name="T9" fmla="*/ 0 h 14"/>
                <a:gd name="T10" fmla="*/ 0 w 24"/>
                <a:gd name="T11" fmla="*/ 0 h 14"/>
              </a:gdLst>
              <a:ahLst/>
              <a:cxnLst>
                <a:cxn ang="0">
                  <a:pos x="T0" y="T1"/>
                </a:cxn>
                <a:cxn ang="0">
                  <a:pos x="T2" y="T3"/>
                </a:cxn>
                <a:cxn ang="0">
                  <a:pos x="T4" y="T5"/>
                </a:cxn>
                <a:cxn ang="0">
                  <a:pos x="T6" y="T7"/>
                </a:cxn>
                <a:cxn ang="0">
                  <a:pos x="T8" y="T9"/>
                </a:cxn>
                <a:cxn ang="0">
                  <a:pos x="T10" y="T11"/>
                </a:cxn>
              </a:cxnLst>
              <a:rect l="0" t="0" r="r" b="b"/>
              <a:pathLst>
                <a:path w="24" h="14">
                  <a:moveTo>
                    <a:pt x="0" y="0"/>
                  </a:moveTo>
                  <a:lnTo>
                    <a:pt x="24" y="0"/>
                  </a:lnTo>
                  <a:lnTo>
                    <a:pt x="24" y="14"/>
                  </a:lnTo>
                  <a:lnTo>
                    <a:pt x="0" y="14"/>
                  </a:lnTo>
                  <a:lnTo>
                    <a:pt x="0" y="0"/>
                  </a:lnTo>
                  <a:lnTo>
                    <a:pt x="0" y="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76"/>
            <p:cNvSpPr/>
            <p:nvPr/>
          </p:nvSpPr>
          <p:spPr bwMode="auto">
            <a:xfrm>
              <a:off x="6701507" y="1717873"/>
              <a:ext cx="33338" cy="34925"/>
            </a:xfrm>
            <a:custGeom>
              <a:avLst/>
              <a:gdLst>
                <a:gd name="T0" fmla="*/ 0 w 21"/>
                <a:gd name="T1" fmla="*/ 12 h 22"/>
                <a:gd name="T2" fmla="*/ 12 w 21"/>
                <a:gd name="T3" fmla="*/ 0 h 22"/>
                <a:gd name="T4" fmla="*/ 21 w 21"/>
                <a:gd name="T5" fmla="*/ 12 h 22"/>
                <a:gd name="T6" fmla="*/ 12 w 21"/>
                <a:gd name="T7" fmla="*/ 22 h 22"/>
                <a:gd name="T8" fmla="*/ 0 w 21"/>
                <a:gd name="T9" fmla="*/ 12 h 22"/>
                <a:gd name="T10" fmla="*/ 0 w 21"/>
                <a:gd name="T11" fmla="*/ 12 h 22"/>
                <a:gd name="T12" fmla="*/ 0 w 21"/>
                <a:gd name="T13" fmla="*/ 12 h 22"/>
              </a:gdLst>
              <a:ahLst/>
              <a:cxnLst>
                <a:cxn ang="0">
                  <a:pos x="T0" y="T1"/>
                </a:cxn>
                <a:cxn ang="0">
                  <a:pos x="T2" y="T3"/>
                </a:cxn>
                <a:cxn ang="0">
                  <a:pos x="T4" y="T5"/>
                </a:cxn>
                <a:cxn ang="0">
                  <a:pos x="T6" y="T7"/>
                </a:cxn>
                <a:cxn ang="0">
                  <a:pos x="T8" y="T9"/>
                </a:cxn>
                <a:cxn ang="0">
                  <a:pos x="T10" y="T11"/>
                </a:cxn>
                <a:cxn ang="0">
                  <a:pos x="T12" y="T13"/>
                </a:cxn>
              </a:cxnLst>
              <a:rect l="0" t="0" r="r" b="b"/>
              <a:pathLst>
                <a:path w="21" h="22">
                  <a:moveTo>
                    <a:pt x="0" y="12"/>
                  </a:moveTo>
                  <a:lnTo>
                    <a:pt x="12" y="0"/>
                  </a:lnTo>
                  <a:lnTo>
                    <a:pt x="21" y="12"/>
                  </a:lnTo>
                  <a:lnTo>
                    <a:pt x="12" y="22"/>
                  </a:lnTo>
                  <a:lnTo>
                    <a:pt x="0" y="12"/>
                  </a:lnTo>
                  <a:lnTo>
                    <a:pt x="0" y="12"/>
                  </a:lnTo>
                  <a:lnTo>
                    <a:pt x="0" y="12"/>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77"/>
            <p:cNvSpPr/>
            <p:nvPr/>
          </p:nvSpPr>
          <p:spPr bwMode="auto">
            <a:xfrm>
              <a:off x="6833270" y="1722635"/>
              <a:ext cx="33338" cy="30163"/>
            </a:xfrm>
            <a:custGeom>
              <a:avLst/>
              <a:gdLst>
                <a:gd name="T0" fmla="*/ 11 w 21"/>
                <a:gd name="T1" fmla="*/ 0 h 19"/>
                <a:gd name="T2" fmla="*/ 21 w 21"/>
                <a:gd name="T3" fmla="*/ 9 h 19"/>
                <a:gd name="T4" fmla="*/ 11 w 21"/>
                <a:gd name="T5" fmla="*/ 19 h 19"/>
                <a:gd name="T6" fmla="*/ 0 w 21"/>
                <a:gd name="T7" fmla="*/ 9 h 19"/>
                <a:gd name="T8" fmla="*/ 11 w 21"/>
                <a:gd name="T9" fmla="*/ 0 h 19"/>
                <a:gd name="T10" fmla="*/ 11 w 21"/>
                <a:gd name="T11" fmla="*/ 0 h 19"/>
                <a:gd name="T12" fmla="*/ 11 w 21"/>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21" h="19">
                  <a:moveTo>
                    <a:pt x="11" y="0"/>
                  </a:moveTo>
                  <a:lnTo>
                    <a:pt x="21" y="9"/>
                  </a:lnTo>
                  <a:lnTo>
                    <a:pt x="11" y="19"/>
                  </a:lnTo>
                  <a:lnTo>
                    <a:pt x="0" y="9"/>
                  </a:lnTo>
                  <a:lnTo>
                    <a:pt x="11" y="0"/>
                  </a:lnTo>
                  <a:lnTo>
                    <a:pt x="11" y="0"/>
                  </a:lnTo>
                  <a:lnTo>
                    <a:pt x="11" y="0"/>
                  </a:lnTo>
                  <a:close/>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pic>
        <p:nvPicPr>
          <p:cNvPr id="14" name="图片 13" descr="现场提问3.png"/>
          <p:cNvPicPr>
            <a:picLocks noChangeAspect="1"/>
          </p:cNvPicPr>
          <p:nvPr/>
        </p:nvPicPr>
        <p:blipFill>
          <a:blip r:embed="rId1" cstate="print"/>
          <a:stretch>
            <a:fillRect/>
          </a:stretch>
        </p:blipFill>
        <p:spPr>
          <a:xfrm>
            <a:off x="179512" y="794912"/>
            <a:ext cx="405385" cy="408433"/>
          </a:xfrm>
          <a:prstGeom prst="rect">
            <a:avLst/>
          </a:prstGeom>
          <a:noFill/>
        </p:spPr>
      </p:pic>
      <p:pic>
        <p:nvPicPr>
          <p:cNvPr id="4" name="图片 3"/>
          <p:cNvPicPr>
            <a:picLocks noChangeAspect="1"/>
          </p:cNvPicPr>
          <p:nvPr/>
        </p:nvPicPr>
        <p:blipFill>
          <a:blip r:embed="rId2"/>
          <a:stretch>
            <a:fillRect/>
          </a:stretch>
        </p:blipFill>
        <p:spPr>
          <a:xfrm>
            <a:off x="5512435" y="706120"/>
            <a:ext cx="2428875" cy="4295775"/>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1000"/>
                                        <p:tgtEl>
                                          <p:spTgt spid="3">
                                            <p:txEl>
                                              <p:pRg st="5" end="5"/>
                                            </p:txEl>
                                          </p:spTgt>
                                        </p:tgtEl>
                                      </p:cBhvr>
                                    </p:animEffect>
                                    <p:anim calcmode="lin" valueType="num">
                                      <p:cBhvr>
                                        <p:cTn id="2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1000"/>
                                        <p:tgtEl>
                                          <p:spTgt spid="3">
                                            <p:txEl>
                                              <p:pRg st="6" end="6"/>
                                            </p:txEl>
                                          </p:spTgt>
                                        </p:tgtEl>
                                      </p:cBhvr>
                                    </p:animEffect>
                                    <p:anim calcmode="lin" valueType="num">
                                      <p:cBhvr>
                                        <p:cTn id="3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1000"/>
                                        <p:tgtEl>
                                          <p:spTgt spid="3">
                                            <p:txEl>
                                              <p:pRg st="7" end="7"/>
                                            </p:txEl>
                                          </p:spTgt>
                                        </p:tgtEl>
                                      </p:cBhvr>
                                    </p:animEffect>
                                    <p:anim calcmode="lin" valueType="num">
                                      <p:cBhvr>
                                        <p:cTn id="38"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3">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知识目标</a:t>
            </a:r>
            <a:endParaRPr lang="zh-CN" altLang="en-US" dirty="0"/>
          </a:p>
        </p:txBody>
      </p:sp>
      <p:pic>
        <p:nvPicPr>
          <p:cNvPr id="7" name="图片 6" descr="10-函数 概念图"/>
          <p:cNvPicPr>
            <a:picLocks noChangeAspect="1"/>
          </p:cNvPicPr>
          <p:nvPr/>
        </p:nvPicPr>
        <p:blipFill>
          <a:blip r:embed="rId1"/>
          <a:stretch>
            <a:fillRect/>
          </a:stretch>
        </p:blipFill>
        <p:spPr>
          <a:xfrm>
            <a:off x="808990" y="653415"/>
            <a:ext cx="7525385" cy="4380865"/>
          </a:xfrm>
          <a:prstGeom prst="rect">
            <a:avLst/>
          </a:prstGeom>
        </p:spPr>
      </p:pic>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a:xfrm>
            <a:off x="2195739" y="141482"/>
            <a:ext cx="6768877" cy="368300"/>
          </a:xfrm>
        </p:spPr>
        <p:txBody>
          <a:bodyPr/>
          <a:lstStyle/>
          <a:p>
            <a:pPr algn="r"/>
            <a:r>
              <a:rPr lang="zh-CN" altLang="en-US" dirty="0">
                <a:sym typeface="+mn-ea"/>
              </a:rPr>
              <a:t>为什么使用函数</a:t>
            </a:r>
            <a:endParaRPr lang="zh-CN" altLang="en-US" dirty="0"/>
          </a:p>
        </p:txBody>
      </p:sp>
      <p:sp>
        <p:nvSpPr>
          <p:cNvPr id="4" name="矩形 3"/>
          <p:cNvSpPr/>
          <p:nvPr/>
        </p:nvSpPr>
        <p:spPr>
          <a:xfrm>
            <a:off x="4447607" y="2387084"/>
            <a:ext cx="248786" cy="369332"/>
          </a:xfrm>
          <a:prstGeom prst="rect">
            <a:avLst/>
          </a:prstGeom>
        </p:spPr>
        <p:txBody>
          <a:bodyPr wrap="none">
            <a:spAutoFit/>
          </a:bodyPr>
          <a:lstStyle/>
          <a:p>
            <a:r>
              <a:rPr lang="zh-CN" altLang="en-US" dirty="0"/>
              <a:t> </a:t>
            </a:r>
            <a:endParaRPr lang="zh-CN" altLang="en-US" dirty="0"/>
          </a:p>
        </p:txBody>
      </p:sp>
      <p:sp>
        <p:nvSpPr>
          <p:cNvPr id="7" name="矩形 6"/>
          <p:cNvSpPr/>
          <p:nvPr/>
        </p:nvSpPr>
        <p:spPr>
          <a:xfrm>
            <a:off x="4447607" y="2387084"/>
            <a:ext cx="248786" cy="369332"/>
          </a:xfrm>
          <a:prstGeom prst="rect">
            <a:avLst/>
          </a:prstGeom>
        </p:spPr>
        <p:txBody>
          <a:bodyPr wrap="none">
            <a:spAutoFit/>
          </a:bodyPr>
          <a:lstStyle/>
          <a:p>
            <a:r>
              <a:rPr lang="zh-CN" altLang="en-US" dirty="0"/>
              <a:t> </a:t>
            </a:r>
            <a:endParaRPr lang="zh-CN" altLang="en-US" dirty="0"/>
          </a:p>
        </p:txBody>
      </p:sp>
      <p:pic>
        <p:nvPicPr>
          <p:cNvPr id="3" name="图片 2"/>
          <p:cNvPicPr>
            <a:picLocks noChangeAspect="1"/>
          </p:cNvPicPr>
          <p:nvPr/>
        </p:nvPicPr>
        <p:blipFill>
          <a:blip r:embed="rId1"/>
          <a:srcRect l="5237" t="9514" r="54544" b="7613"/>
          <a:stretch>
            <a:fillRect/>
          </a:stretch>
        </p:blipFill>
        <p:spPr>
          <a:xfrm>
            <a:off x="549910" y="652780"/>
            <a:ext cx="3477260" cy="4029075"/>
          </a:xfrm>
          <a:prstGeom prst="rect">
            <a:avLst/>
          </a:prstGeom>
        </p:spPr>
      </p:pic>
      <p:sp>
        <p:nvSpPr>
          <p:cNvPr id="8" name="矩形 7"/>
          <p:cNvSpPr/>
          <p:nvPr/>
        </p:nvSpPr>
        <p:spPr>
          <a:xfrm>
            <a:off x="5652135" y="1164590"/>
            <a:ext cx="2690495" cy="439420"/>
          </a:xfrm>
          <a:prstGeom prst="rect">
            <a:avLst/>
          </a:prstGeom>
          <a:solidFill>
            <a:srgbClr val="3F95D2"/>
          </a:solidFill>
          <a:ln w="9525" cap="flat" cmpd="sng" algn="ctr">
            <a:no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lang="zh-CN" altLang="en-US" sz="2400">
                <a:solidFill>
                  <a:schemeClr val="bg1"/>
                </a:solidFill>
                <a:sym typeface="+mn-ea"/>
              </a:rPr>
              <a:t>价格从低到高</a:t>
            </a:r>
            <a:r>
              <a:rPr kumimoji="0" lang="zh-CN" altLang="zh-CN" sz="2400" b="1" i="0" u="none" strike="noStrike" cap="none" normalizeH="0" baseline="0">
                <a:ln>
                  <a:noFill/>
                </a:ln>
                <a:solidFill>
                  <a:schemeClr val="bg1"/>
                </a:solidFill>
                <a:effectLst/>
                <a:latin typeface="Arial" panose="020B0604020202020204" pitchFamily="34" charset="0"/>
                <a:ea typeface="宋体" panose="02010600030101010101" pitchFamily="2" charset="-122"/>
              </a:rPr>
              <a:t>排序</a:t>
            </a:r>
            <a:endParaRPr kumimoji="0" lang="zh-CN" altLang="zh-CN" sz="2400" b="1" i="0" u="none" strike="noStrike" cap="none" normalizeH="0" baseline="0">
              <a:ln>
                <a:noFill/>
              </a:ln>
              <a:solidFill>
                <a:schemeClr val="bg1"/>
              </a:solidFill>
              <a:effectLst/>
              <a:latin typeface="Arial" panose="020B0604020202020204" pitchFamily="34" charset="0"/>
              <a:ea typeface="宋体" panose="02010600030101010101" pitchFamily="2" charset="-122"/>
            </a:endParaRPr>
          </a:p>
        </p:txBody>
      </p:sp>
      <p:sp>
        <p:nvSpPr>
          <p:cNvPr id="2" name="圆角矩形 1"/>
          <p:cNvSpPr/>
          <p:nvPr/>
        </p:nvSpPr>
        <p:spPr bwMode="auto">
          <a:xfrm>
            <a:off x="1137285" y="2386965"/>
            <a:ext cx="1385570" cy="369570"/>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10" name="直接箭头连接符 9"/>
          <p:cNvCxnSpPr>
            <a:endCxn id="8" idx="1"/>
          </p:cNvCxnSpPr>
          <p:nvPr/>
        </p:nvCxnSpPr>
        <p:spPr>
          <a:xfrm flipV="1">
            <a:off x="2799080" y="1384300"/>
            <a:ext cx="2853055" cy="868045"/>
          </a:xfrm>
          <a:prstGeom prst="straightConnector1">
            <a:avLst/>
          </a:prstGeom>
          <a:solidFill>
            <a:schemeClr val="accent1"/>
          </a:solidFill>
          <a:ln w="38100" cap="flat" cmpd="sng" algn="ctr">
            <a:solidFill>
              <a:srgbClr val="FF0000"/>
            </a:solidFill>
            <a:prstDash val="solid"/>
            <a:round/>
            <a:headEnd type="none" w="med" len="med"/>
            <a:tailEnd type="arrow" w="med" len="med"/>
          </a:ln>
        </p:spPr>
      </p:cxnSp>
      <p:pic>
        <p:nvPicPr>
          <p:cNvPr id="11" name="图片 10"/>
          <p:cNvPicPr>
            <a:picLocks noChangeAspect="1"/>
          </p:cNvPicPr>
          <p:nvPr/>
        </p:nvPicPr>
        <p:blipFill>
          <a:blip r:embed="rId2"/>
          <a:stretch>
            <a:fillRect/>
          </a:stretch>
        </p:blipFill>
        <p:spPr>
          <a:xfrm>
            <a:off x="549910" y="652780"/>
            <a:ext cx="4344035" cy="4274185"/>
          </a:xfrm>
          <a:prstGeom prst="rect">
            <a:avLst/>
          </a:prstGeom>
        </p:spPr>
      </p:pic>
      <p:pic>
        <p:nvPicPr>
          <p:cNvPr id="14" name="图片 13" descr="timg"/>
          <p:cNvPicPr>
            <a:picLocks noChangeAspect="1"/>
          </p:cNvPicPr>
          <p:nvPr/>
        </p:nvPicPr>
        <p:blipFill>
          <a:blip r:embed="rId3"/>
          <a:stretch>
            <a:fillRect/>
          </a:stretch>
        </p:blipFill>
        <p:spPr>
          <a:xfrm>
            <a:off x="6650355" y="2971165"/>
            <a:ext cx="3442335" cy="2120900"/>
          </a:xfrm>
          <a:prstGeom prst="rect">
            <a:avLst/>
          </a:prstGeom>
        </p:spPr>
      </p:pic>
      <p:sp>
        <p:nvSpPr>
          <p:cNvPr id="15" name="云形标注 14"/>
          <p:cNvSpPr/>
          <p:nvPr/>
        </p:nvSpPr>
        <p:spPr>
          <a:xfrm>
            <a:off x="6439535" y="1943735"/>
            <a:ext cx="2855595" cy="863600"/>
          </a:xfrm>
          <a:prstGeom prst="cloudCallout">
            <a:avLst/>
          </a:prstGeom>
          <a:ln>
            <a:headEnd type="none" w="med" len="med"/>
            <a:tailEnd type="none" w="med" len="med"/>
          </a:ln>
          <a:extLst>
            <a:ext uri="{909E8E84-426E-40DD-AFC4-6F175D3DCCD1}">
              <a14:hiddenFill xmlns:a14="http://schemas.microsoft.com/office/drawing/2010/main">
                <a:solidFill>
                  <a:schemeClr val="accent1"/>
                </a:solidFill>
              </a14:hiddenFill>
            </a:ext>
          </a:extLst>
        </p:spPr>
        <p:style>
          <a:lnRef idx="2">
            <a:schemeClr val="accent3">
              <a:shade val="50000"/>
            </a:schemeClr>
          </a:lnRef>
          <a:fillRef idx="1">
            <a:schemeClr val="accent3"/>
          </a:fillRef>
          <a:effectRef idx="0">
            <a:schemeClr val="accent3"/>
          </a:effectRef>
          <a:fontRef idx="minor">
            <a:schemeClr val="lt1"/>
          </a:fontRef>
        </p:style>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商品价格这么低</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1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 presetClass="exit" presetSubtype="4" fill="hold" nodeType="clickEffect">
                                  <p:stCondLst>
                                    <p:cond delay="0"/>
                                  </p:stCondLst>
                                  <p:childTnLst>
                                    <p:anim calcmode="lin" valueType="num">
                                      <p:cBhvr additive="base">
                                        <p:cTn id="13" dur="500"/>
                                        <p:tgtEl>
                                          <p:spTgt spid="11"/>
                                        </p:tgtEl>
                                        <p:attrNameLst>
                                          <p:attrName>ppt_x</p:attrName>
                                        </p:attrNameLst>
                                      </p:cBhvr>
                                      <p:tavLst>
                                        <p:tav tm="0">
                                          <p:val>
                                            <p:strVal val="ppt_x"/>
                                          </p:val>
                                        </p:tav>
                                        <p:tav tm="100000">
                                          <p:val>
                                            <p:strVal val="ppt_x"/>
                                          </p:val>
                                        </p:tav>
                                      </p:tavLst>
                                    </p:anim>
                                    <p:anim calcmode="lin" valueType="num">
                                      <p:cBhvr additive="base">
                                        <p:cTn id="14" dur="500"/>
                                        <p:tgtEl>
                                          <p:spTgt spid="11"/>
                                        </p:tgtEl>
                                        <p:attrNameLst>
                                          <p:attrName>ppt_y</p:attrName>
                                        </p:attrNameLst>
                                      </p:cBhvr>
                                      <p:tavLst>
                                        <p:tav tm="0">
                                          <p:val>
                                            <p:strVal val="ppt_y"/>
                                          </p:val>
                                        </p:tav>
                                        <p:tav tm="100000">
                                          <p:val>
                                            <p:strVal val="1+ppt_h/2"/>
                                          </p:val>
                                        </p:tav>
                                      </p:tavLst>
                                    </p:anim>
                                    <p:set>
                                      <p:cBhvr>
                                        <p:cTn id="15" dur="1" fill="hold">
                                          <p:stCondLst>
                                            <p:cond delay="499"/>
                                          </p:stCondLst>
                                        </p:cTn>
                                        <p:tgtEl>
                                          <p:spTgt spid="11"/>
                                        </p:tgtEl>
                                        <p:attrNameLst>
                                          <p:attrName>style.visibility</p:attrName>
                                        </p:attrNameLst>
                                      </p:cBhvr>
                                      <p:to>
                                        <p:strVal val="hidden"/>
                                      </p:to>
                                    </p:set>
                                  </p:childTnLst>
                                </p:cTn>
                              </p:par>
                            </p:childTnLst>
                          </p:cTn>
                        </p:par>
                        <p:par>
                          <p:cTn id="16" fill="hold">
                            <p:stCondLst>
                              <p:cond delay="500"/>
                            </p:stCondLst>
                            <p:childTnLst>
                              <p:par>
                                <p:cTn id="17" presetID="3" presetClass="exit" presetSubtype="10" fill="hold" nodeType="afterEffect">
                                  <p:stCondLst>
                                    <p:cond delay="0"/>
                                  </p:stCondLst>
                                  <p:childTnLst>
                                    <p:animEffect transition="out" filter="blinds(horizontal)">
                                      <p:cBhvr>
                                        <p:cTn id="18" dur="500"/>
                                        <p:tgtEl>
                                          <p:spTgt spid="14"/>
                                        </p:tgtEl>
                                      </p:cBhvr>
                                    </p:animEffect>
                                    <p:set>
                                      <p:cBhvr>
                                        <p:cTn id="19" dur="1" fill="hold">
                                          <p:stCondLst>
                                            <p:cond delay="499"/>
                                          </p:stCondLst>
                                        </p:cTn>
                                        <p:tgtEl>
                                          <p:spTgt spid="14"/>
                                        </p:tgtEl>
                                        <p:attrNameLst>
                                          <p:attrName>style.visibility</p:attrName>
                                        </p:attrNameLst>
                                      </p:cBhvr>
                                      <p:to>
                                        <p:strVal val="hidden"/>
                                      </p:to>
                                    </p:set>
                                  </p:childTnLst>
                                </p:cTn>
                              </p:par>
                              <p:par>
                                <p:cTn id="20" presetID="3" presetClass="exit" presetSubtype="10" fill="hold" grpId="1" nodeType="withEffect">
                                  <p:stCondLst>
                                    <p:cond delay="0"/>
                                  </p:stCondLst>
                                  <p:childTnLst>
                                    <p:animEffect transition="out" filter="blinds(horizontal)">
                                      <p:cBhvr>
                                        <p:cTn id="21" dur="500"/>
                                        <p:tgtEl>
                                          <p:spTgt spid="15"/>
                                        </p:tgtEl>
                                      </p:cBhvr>
                                    </p:animEffect>
                                    <p:set>
                                      <p:cBhvr>
                                        <p:cTn id="22" dur="1" fill="hold">
                                          <p:stCondLst>
                                            <p:cond delay="499"/>
                                          </p:stCondLst>
                                        </p:cTn>
                                        <p:tgtEl>
                                          <p:spTgt spid="15"/>
                                        </p:tgtEl>
                                        <p:attrNameLst>
                                          <p:attrName>style.visibility</p:attrName>
                                        </p:attrNameLst>
                                      </p:cBhvr>
                                      <p:to>
                                        <p:strVal val="hidden"/>
                                      </p:to>
                                    </p:set>
                                  </p:childTnLst>
                                </p:cTn>
                              </p:par>
                            </p:childTnLst>
                          </p:cTn>
                        </p:par>
                        <p:par>
                          <p:cTn id="23" fill="hold">
                            <p:stCondLst>
                              <p:cond delay="1000"/>
                            </p:stCondLst>
                            <p:childTnLst>
                              <p:par>
                                <p:cTn id="24" presetID="1" presetClass="entr" presetSubtype="0" fill="hold" grpId="0" nodeType="afterEffect">
                                  <p:stCondLst>
                                    <p:cond delay="0"/>
                                  </p:stCondLst>
                                  <p:childTnLst>
                                    <p:set>
                                      <p:cBhvr>
                                        <p:cTn id="25" dur="1" fill="hold">
                                          <p:stCondLst>
                                            <p:cond delay="0"/>
                                          </p:stCondLst>
                                        </p:cTn>
                                        <p:tgtEl>
                                          <p:spTgt spid="2"/>
                                        </p:tgtEl>
                                        <p:attrNameLst>
                                          <p:attrName>style.visibility</p:attrName>
                                        </p:attrNameLst>
                                      </p:cBhvr>
                                      <p:to>
                                        <p:strVal val="visible"/>
                                      </p:to>
                                    </p:set>
                                  </p:childTnLst>
                                </p:cTn>
                              </p:par>
                            </p:childTnLst>
                          </p:cTn>
                        </p:par>
                        <p:par>
                          <p:cTn id="26" fill="hold">
                            <p:stCondLst>
                              <p:cond delay="1000"/>
                            </p:stCondLst>
                            <p:childTnLst>
                              <p:par>
                                <p:cTn id="27" presetID="22" presetClass="entr" presetSubtype="4"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down)">
                                      <p:cBhvr>
                                        <p:cTn id="29" dur="500"/>
                                        <p:tgtEl>
                                          <p:spTgt spid="10"/>
                                        </p:tgtEl>
                                      </p:cBhvr>
                                    </p:animEffect>
                                  </p:childTnLst>
                                </p:cTn>
                              </p:par>
                            </p:childTnLst>
                          </p:cTn>
                        </p:par>
                        <p:par>
                          <p:cTn id="30" fill="hold">
                            <p:stCondLst>
                              <p:cond delay="1500"/>
                            </p:stCondLst>
                            <p:childTnLst>
                              <p:par>
                                <p:cTn id="31" presetID="3" presetClass="entr" presetSubtype="10" fill="hold" grpId="0" nodeType="afterEffect">
                                  <p:stCondLst>
                                    <p:cond delay="0"/>
                                  </p:stCondLst>
                                  <p:childTnLst>
                                    <p:set>
                                      <p:cBhvr>
                                        <p:cTn id="32" dur="500" fill="hold">
                                          <p:stCondLst>
                                            <p:cond delay="0"/>
                                          </p:stCondLst>
                                        </p:cTn>
                                        <p:tgtEl>
                                          <p:spTgt spid="8"/>
                                        </p:tgtEl>
                                        <p:attrNameLst>
                                          <p:attrName>style.visibility</p:attrName>
                                        </p:attrNameLst>
                                      </p:cBhvr>
                                      <p:to>
                                        <p:strVal val="visible"/>
                                      </p:to>
                                    </p:set>
                                    <p:animEffect transition="in" filter="blinds(horizontal)">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2" grpId="0" bldLvl="0" animBg="1"/>
      <p:bldP spid="15" grpId="0" animBg="1"/>
      <p:bldP spid="15"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为什么使用函数</a:t>
            </a:r>
            <a:endParaRPr lang="zh-CN" altLang="en-US" dirty="0"/>
          </a:p>
        </p:txBody>
      </p:sp>
      <p:sp>
        <p:nvSpPr>
          <p:cNvPr id="9" name="Rectangle 3"/>
          <p:cNvSpPr txBox="1">
            <a:spLocks noChangeArrowheads="1"/>
          </p:cNvSpPr>
          <p:nvPr/>
        </p:nvSpPr>
        <p:spPr bwMode="auto">
          <a:xfrm>
            <a:off x="182052" y="752500"/>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案例代码</a:t>
            </a:r>
            <a:endParaRPr lang="zh-CN" altLang="en-US" sz="1600" dirty="0"/>
          </a:p>
          <a:p>
            <a:pPr eaLnBrk="0" hangingPunct="0"/>
            <a:endParaRPr lang="zh-CN" altLang="en-US" sz="1600" dirty="0"/>
          </a:p>
          <a:p>
            <a:pPr eaLnBrk="0" hangingPunct="0"/>
            <a:endParaRPr lang="zh-CN" altLang="en-US" sz="1600" dirty="0"/>
          </a:p>
        </p:txBody>
      </p:sp>
      <p:sp>
        <p:nvSpPr>
          <p:cNvPr id="10" name="Rectangle 3"/>
          <p:cNvSpPr txBox="1">
            <a:spLocks noChangeArrowheads="1"/>
          </p:cNvSpPr>
          <p:nvPr/>
        </p:nvSpPr>
        <p:spPr bwMode="auto">
          <a:xfrm>
            <a:off x="182245" y="3839210"/>
            <a:ext cx="1174115" cy="339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algn="l"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输出结果</a:t>
            </a:r>
            <a:endParaRPr lang="zh-CN" altLang="en-US" sz="1600" dirty="0"/>
          </a:p>
          <a:p>
            <a:pPr eaLnBrk="0" hangingPunct="0"/>
            <a:endParaRPr lang="zh-CN" altLang="en-US" sz="1600" dirty="0"/>
          </a:p>
        </p:txBody>
      </p:sp>
      <p:sp>
        <p:nvSpPr>
          <p:cNvPr id="12" name="AutoShape 15"/>
          <p:cNvSpPr>
            <a:spLocks noChangeArrowheads="1"/>
          </p:cNvSpPr>
          <p:nvPr/>
        </p:nvSpPr>
        <p:spPr bwMode="auto">
          <a:xfrm>
            <a:off x="334010" y="4261485"/>
            <a:ext cx="2833370" cy="836545"/>
          </a:xfrm>
          <a:prstGeom prst="roundRect">
            <a:avLst>
              <a:gd name="adj" fmla="val 1347"/>
            </a:avLst>
          </a:prstGeom>
          <a:solidFill>
            <a:schemeClr val="bg1"/>
          </a:solidFill>
          <a:ln w="28575">
            <a:noFill/>
            <a:bevel/>
          </a:ln>
          <a:effectLst>
            <a:outerShdw sx="100999" sy="100999" algn="ctr" rotWithShape="0">
              <a:srgbClr val="000000">
                <a:alpha val="6999"/>
              </a:srgbClr>
            </a:outerShdw>
          </a:effectLst>
        </p:spPr>
        <p:txBody>
          <a:bodyPr wrap="square">
            <a:spAutoFit/>
          </a:bodyPr>
          <a:lstStyle/>
          <a:p>
            <a:pPr marL="0" algn="l">
              <a:lnSpc>
                <a:spcPct val="150000"/>
              </a:lnSpc>
              <a:buFont typeface="+mj-lt"/>
              <a:buNone/>
            </a:pPr>
            <a:r>
              <a:rPr lang="en-US" altLang="zh-CN" sz="1600" dirty="0">
                <a:solidFill>
                  <a:schemeClr val="tx1">
                    <a:lumMod val="75000"/>
                    <a:lumOff val="25000"/>
                  </a:schemeClr>
                </a:solidFill>
                <a:latin typeface="+mn-ea"/>
                <a:ea typeface="+mn-ea"/>
                <a:sym typeface="+mn-ea"/>
              </a:rPr>
              <a:t>排序前列表：</a:t>
            </a:r>
            <a:r>
              <a:rPr lang="en-US" altLang="zh-CN" sz="1600" dirty="0">
                <a:solidFill>
                  <a:schemeClr val="tx1">
                    <a:lumMod val="75000"/>
                    <a:lumOff val="25000"/>
                  </a:schemeClr>
                </a:solidFill>
                <a:latin typeface="+mn-ea"/>
                <a:ea typeface="+mn-ea"/>
              </a:rPr>
              <a:t>[1,8,5,3,1]  </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sym typeface="+mn-ea"/>
              </a:rPr>
              <a:t>排序后列表：[1,1,3,5,8]  </a:t>
            </a:r>
            <a:endParaRPr lang="en-US" altLang="zh-CN" sz="1600" dirty="0">
              <a:solidFill>
                <a:schemeClr val="tx1">
                  <a:lumMod val="75000"/>
                  <a:lumOff val="25000"/>
                </a:schemeClr>
              </a:solidFill>
              <a:latin typeface="+mn-ea"/>
              <a:ea typeface="+mn-ea"/>
            </a:endParaRPr>
          </a:p>
        </p:txBody>
      </p:sp>
      <p:sp>
        <p:nvSpPr>
          <p:cNvPr id="14" name="AutoShape 15"/>
          <p:cNvSpPr>
            <a:spLocks noChangeArrowheads="1"/>
          </p:cNvSpPr>
          <p:nvPr/>
        </p:nvSpPr>
        <p:spPr bwMode="auto">
          <a:xfrm>
            <a:off x="6189980" y="4261485"/>
            <a:ext cx="2688590" cy="834585"/>
          </a:xfrm>
          <a:prstGeom prst="roundRect">
            <a:avLst>
              <a:gd name="adj" fmla="val 1347"/>
            </a:avLst>
          </a:prstGeom>
          <a:solidFill>
            <a:schemeClr val="bg1"/>
          </a:solidFill>
          <a:ln w="28575">
            <a:noFill/>
            <a:bevel/>
          </a:ln>
          <a:effectLst>
            <a:outerShdw sx="100999" sy="100999" algn="ctr" rotWithShape="0">
              <a:srgbClr val="000000">
                <a:alpha val="6999"/>
              </a:srgbClr>
            </a:outerShdw>
          </a:effectLst>
        </p:spPr>
        <p:txBody>
          <a:bodyPr wrap="square">
            <a:spAutoFit/>
          </a:bodyPr>
          <a:lstStyle/>
          <a:p>
            <a:pPr marL="0" algn="l">
              <a:lnSpc>
                <a:spcPct val="150000"/>
              </a:lnSpc>
              <a:buFont typeface="+mj-lt"/>
              <a:buNone/>
            </a:pPr>
            <a:r>
              <a:rPr lang="en-US" altLang="zh-CN" sz="1600" dirty="0">
                <a:solidFill>
                  <a:schemeClr val="tx1">
                    <a:lumMod val="75000"/>
                    <a:lumOff val="25000"/>
                  </a:schemeClr>
                </a:solidFill>
                <a:latin typeface="+mn-ea"/>
                <a:ea typeface="+mn-ea"/>
                <a:sym typeface="+mn-ea"/>
              </a:rPr>
              <a:t>排序前列表：[1,8,5,3,1]  </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sym typeface="+mn-ea"/>
              </a:rPr>
              <a:t>排序后列表：[1,1,3,5,8]  </a:t>
            </a:r>
            <a:endParaRPr lang="en-US" altLang="zh-CN" sz="1600" dirty="0">
              <a:solidFill>
                <a:schemeClr val="tx1">
                  <a:lumMod val="75000"/>
                  <a:lumOff val="25000"/>
                </a:schemeClr>
              </a:solidFill>
              <a:latin typeface="+mn-ea"/>
              <a:ea typeface="+mn-ea"/>
            </a:endParaRPr>
          </a:p>
        </p:txBody>
      </p:sp>
      <p:sp>
        <p:nvSpPr>
          <p:cNvPr id="15" name="下箭头 14"/>
          <p:cNvSpPr/>
          <p:nvPr/>
        </p:nvSpPr>
        <p:spPr>
          <a:xfrm>
            <a:off x="2590165" y="3792855"/>
            <a:ext cx="576580" cy="431800"/>
          </a:xfrm>
          <a:prstGeom prst="downArrow">
            <a:avLst/>
          </a:prstGeom>
          <a:solidFill>
            <a:srgbClr val="00B0F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6" name="下箭头 15"/>
          <p:cNvSpPr/>
          <p:nvPr/>
        </p:nvSpPr>
        <p:spPr>
          <a:xfrm>
            <a:off x="7389495" y="3792855"/>
            <a:ext cx="576580" cy="431800"/>
          </a:xfrm>
          <a:prstGeom prst="downArrow">
            <a:avLst/>
          </a:prstGeom>
          <a:solidFill>
            <a:srgbClr val="00B0F0"/>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7" name="AutoShape 15"/>
          <p:cNvSpPr>
            <a:spLocks noChangeArrowheads="1"/>
          </p:cNvSpPr>
          <p:nvPr/>
        </p:nvSpPr>
        <p:spPr bwMode="auto">
          <a:xfrm>
            <a:off x="334010" y="1034415"/>
            <a:ext cx="5848350" cy="2697811"/>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marL="0" algn="l">
              <a:lnSpc>
                <a:spcPct val="150000"/>
              </a:lnSpc>
              <a:buFont typeface="+mj-lt"/>
              <a:buNone/>
            </a:pPr>
            <a:r>
              <a:rPr lang="en-US" altLang="zh-CN" sz="1600" dirty="0">
                <a:solidFill>
                  <a:schemeClr val="tx1">
                    <a:lumMod val="75000"/>
                    <a:lumOff val="25000"/>
                  </a:schemeClr>
                </a:solidFill>
                <a:latin typeface="+mn-ea"/>
                <a:ea typeface="+mn-ea"/>
              </a:rPr>
              <a:t>prices = [1,8,5,3,1]  # 价格列表</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print("排序前列表：", prices)</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for i in range(len(prices) - 1):  # 排序</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    for j in range(len(prices) - i - 1):  </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        if prices[j] &gt; prices[j + 1]:</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            prices[j], prices[j + 1] = prices[j + 1], prices[j]</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print("排序后列表：", prices)</a:t>
            </a:r>
            <a:endParaRPr lang="en-US" altLang="zh-CN" sz="1600" dirty="0">
              <a:solidFill>
                <a:schemeClr val="tx1">
                  <a:lumMod val="75000"/>
                  <a:lumOff val="25000"/>
                </a:schemeClr>
              </a:solidFill>
              <a:latin typeface="+mn-ea"/>
              <a:ea typeface="+mn-ea"/>
            </a:endParaRPr>
          </a:p>
        </p:txBody>
      </p:sp>
      <p:sp>
        <p:nvSpPr>
          <p:cNvPr id="18" name="AutoShape 15"/>
          <p:cNvSpPr>
            <a:spLocks noChangeArrowheads="1"/>
          </p:cNvSpPr>
          <p:nvPr/>
        </p:nvSpPr>
        <p:spPr bwMode="auto">
          <a:xfrm>
            <a:off x="6191250" y="2154224"/>
            <a:ext cx="2958465" cy="1578002"/>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marL="0" algn="l">
              <a:lnSpc>
                <a:spcPct val="150000"/>
              </a:lnSpc>
              <a:buFont typeface="+mj-lt"/>
              <a:buNone/>
            </a:pPr>
            <a:r>
              <a:rPr lang="en-US" altLang="zh-CN" sz="1600" dirty="0">
                <a:solidFill>
                  <a:schemeClr val="tx1">
                    <a:lumMod val="75000"/>
                    <a:lumOff val="25000"/>
                  </a:schemeClr>
                </a:solidFill>
                <a:latin typeface="+mn-ea"/>
                <a:ea typeface="+mn-ea"/>
              </a:rPr>
              <a:t>prices = [1,8,5,3,1]</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print("排序前列表", prices)</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ps= sorted(prices)</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print("排序后列表：", ps)</a:t>
            </a:r>
            <a:endParaRPr lang="en-US" altLang="zh-CN" sz="1600" dirty="0">
              <a:solidFill>
                <a:schemeClr val="tx1">
                  <a:lumMod val="75000"/>
                  <a:lumOff val="25000"/>
                </a:schemeClr>
              </a:solidFill>
              <a:latin typeface="+mn-ea"/>
              <a:ea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up)">
                                      <p:cBhvr>
                                        <p:cTn id="12" dur="500"/>
                                        <p:tgtEl>
                                          <p:spTgt spid="15"/>
                                        </p:tgtEl>
                                      </p:cBhvr>
                                    </p:animEffect>
                                  </p:childTnLst>
                                </p:cTn>
                              </p:par>
                            </p:childTnLst>
                          </p:cTn>
                        </p:par>
                        <p:par>
                          <p:cTn id="13" fill="hold">
                            <p:stCondLst>
                              <p:cond delay="500"/>
                            </p:stCondLst>
                            <p:childTnLst>
                              <p:par>
                                <p:cTn id="14" presetID="1"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grpId="0" nodeType="after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wipe(up)">
                                      <p:cBhvr>
                                        <p:cTn id="23" dur="500"/>
                                        <p:tgtEl>
                                          <p:spTgt spid="18"/>
                                        </p:tgtEl>
                                      </p:cBhvr>
                                    </p:animEffect>
                                  </p:childTnLst>
                                </p:cTn>
                              </p:par>
                            </p:childTnLst>
                          </p:cTn>
                        </p:par>
                        <p:par>
                          <p:cTn id="24" fill="hold">
                            <p:stCondLst>
                              <p:cond delay="500"/>
                            </p:stCondLst>
                            <p:childTnLst>
                              <p:par>
                                <p:cTn id="25" presetID="22" presetClass="entr" presetSubtype="1" fill="hold" grpId="0"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up)">
                                      <p:cBhvr>
                                        <p:cTn id="27" dur="500"/>
                                        <p:tgtEl>
                                          <p:spTgt spid="16"/>
                                        </p:tgtEl>
                                      </p:cBhvr>
                                    </p:animEffect>
                                  </p:childTnLst>
                                </p:cTn>
                              </p:par>
                            </p:childTnLst>
                          </p:cTn>
                        </p:par>
                        <p:par>
                          <p:cTn id="28" fill="hold">
                            <p:stCondLst>
                              <p:cond delay="1000"/>
                            </p:stCondLst>
                            <p:childTnLst>
                              <p:par>
                                <p:cTn id="29" presetID="1" presetClass="entr" presetSubtype="0" fill="hold" grpId="0" nodeType="after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bldLvl="0" animBg="1"/>
      <p:bldP spid="14" grpId="0" bldLvl="0" animBg="1"/>
      <p:bldP spid="15" grpId="0" bldLvl="0" animBg="1"/>
      <p:bldP spid="16" grpId="0" bldLvl="0" animBg="1"/>
      <p:bldP spid="17" grpId="0" bldLvl="0" animBg="1"/>
      <p:bldP spid="18"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为什么使用函数</a:t>
            </a:r>
            <a:endParaRPr lang="zh-CN" altLang="en-US" dirty="0"/>
          </a:p>
        </p:txBody>
      </p:sp>
      <p:sp>
        <p:nvSpPr>
          <p:cNvPr id="9" name="Rectangle 3"/>
          <p:cNvSpPr txBox="1">
            <a:spLocks noChangeArrowheads="1"/>
          </p:cNvSpPr>
          <p:nvPr/>
        </p:nvSpPr>
        <p:spPr bwMode="auto">
          <a:xfrm>
            <a:off x="193482" y="752500"/>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案例代码</a:t>
            </a:r>
            <a:endParaRPr lang="zh-CN" altLang="en-US" sz="1600" dirty="0"/>
          </a:p>
          <a:p>
            <a:pPr eaLnBrk="0" hangingPunct="0"/>
            <a:endParaRPr lang="zh-CN" altLang="en-US" sz="1600" dirty="0"/>
          </a:p>
          <a:p>
            <a:pPr eaLnBrk="0" hangingPunct="0"/>
            <a:endParaRPr lang="zh-CN" altLang="en-US" sz="1600" dirty="0"/>
          </a:p>
        </p:txBody>
      </p:sp>
      <p:sp>
        <p:nvSpPr>
          <p:cNvPr id="17" name="AutoShape 15"/>
          <p:cNvSpPr>
            <a:spLocks noChangeArrowheads="1"/>
          </p:cNvSpPr>
          <p:nvPr/>
        </p:nvSpPr>
        <p:spPr bwMode="auto">
          <a:xfrm>
            <a:off x="334010" y="1034415"/>
            <a:ext cx="5848350" cy="2697811"/>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marL="0" algn="l">
              <a:lnSpc>
                <a:spcPct val="150000"/>
              </a:lnSpc>
              <a:buFont typeface="+mj-lt"/>
              <a:buNone/>
            </a:pPr>
            <a:r>
              <a:rPr lang="en-US" altLang="zh-CN" sz="1600" dirty="0">
                <a:solidFill>
                  <a:schemeClr val="tx1">
                    <a:lumMod val="75000"/>
                    <a:lumOff val="25000"/>
                  </a:schemeClr>
                </a:solidFill>
                <a:latin typeface="+mn-ea"/>
                <a:ea typeface="+mn-ea"/>
              </a:rPr>
              <a:t>prices = [1,8,5,3,1]  # 价格列表</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print("排序前列表：", prices)</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for i in range(len(prices) - 1):  # 排序</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    for j in range(len(prices) - i - 1):  </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        if prices[j] &gt; prices[j + 1]:</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            prices[j], prices[j + 1] = prices[j + 1], prices[j]</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print("排序后列表：", prices)</a:t>
            </a:r>
            <a:endParaRPr lang="en-US" altLang="zh-CN" sz="1600" dirty="0">
              <a:solidFill>
                <a:schemeClr val="tx1">
                  <a:lumMod val="75000"/>
                  <a:lumOff val="25000"/>
                </a:schemeClr>
              </a:solidFill>
              <a:latin typeface="+mn-ea"/>
              <a:ea typeface="+mn-ea"/>
            </a:endParaRPr>
          </a:p>
        </p:txBody>
      </p:sp>
      <p:sp>
        <p:nvSpPr>
          <p:cNvPr id="18" name="AutoShape 15"/>
          <p:cNvSpPr>
            <a:spLocks noChangeArrowheads="1"/>
          </p:cNvSpPr>
          <p:nvPr/>
        </p:nvSpPr>
        <p:spPr bwMode="auto">
          <a:xfrm>
            <a:off x="6191250" y="2154224"/>
            <a:ext cx="2958465" cy="1578002"/>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marL="0" algn="l">
              <a:lnSpc>
                <a:spcPct val="150000"/>
              </a:lnSpc>
              <a:buFont typeface="+mj-lt"/>
              <a:buNone/>
            </a:pPr>
            <a:r>
              <a:rPr lang="en-US" altLang="zh-CN" sz="1600" dirty="0">
                <a:solidFill>
                  <a:schemeClr val="tx1">
                    <a:lumMod val="75000"/>
                    <a:lumOff val="25000"/>
                  </a:schemeClr>
                </a:solidFill>
                <a:latin typeface="+mn-ea"/>
                <a:ea typeface="+mn-ea"/>
              </a:rPr>
              <a:t>prices = [1,8,5,3,1]</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print("排序前列表", prices)</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ps= sorted(prices)</a:t>
            </a:r>
            <a:endParaRPr lang="en-US" altLang="zh-CN" sz="1600" dirty="0">
              <a:solidFill>
                <a:schemeClr val="tx1">
                  <a:lumMod val="75000"/>
                  <a:lumOff val="25000"/>
                </a:schemeClr>
              </a:solidFill>
              <a:latin typeface="+mn-ea"/>
              <a:ea typeface="+mn-ea"/>
            </a:endParaRPr>
          </a:p>
          <a:p>
            <a:pPr marL="0" algn="l">
              <a:lnSpc>
                <a:spcPct val="150000"/>
              </a:lnSpc>
              <a:buFont typeface="+mj-lt"/>
              <a:buNone/>
            </a:pPr>
            <a:r>
              <a:rPr lang="en-US" altLang="zh-CN" sz="1600" dirty="0">
                <a:solidFill>
                  <a:schemeClr val="tx1">
                    <a:lumMod val="75000"/>
                    <a:lumOff val="25000"/>
                  </a:schemeClr>
                </a:solidFill>
                <a:latin typeface="+mn-ea"/>
                <a:ea typeface="+mn-ea"/>
              </a:rPr>
              <a:t>print("排序后列表：", ps)</a:t>
            </a:r>
            <a:endParaRPr lang="en-US" altLang="zh-CN" sz="1600" dirty="0">
              <a:solidFill>
                <a:schemeClr val="tx1">
                  <a:lumMod val="75000"/>
                  <a:lumOff val="25000"/>
                </a:schemeClr>
              </a:solidFill>
              <a:latin typeface="+mn-ea"/>
              <a:ea typeface="+mn-ea"/>
            </a:endParaRPr>
          </a:p>
        </p:txBody>
      </p:sp>
      <p:sp>
        <p:nvSpPr>
          <p:cNvPr id="4" name="圆角矩形 3"/>
          <p:cNvSpPr/>
          <p:nvPr/>
        </p:nvSpPr>
        <p:spPr bwMode="auto">
          <a:xfrm>
            <a:off x="384810" y="1919605"/>
            <a:ext cx="5792470" cy="1490345"/>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圆角矩形 6"/>
          <p:cNvSpPr/>
          <p:nvPr/>
        </p:nvSpPr>
        <p:spPr bwMode="auto">
          <a:xfrm>
            <a:off x="6276975" y="3048000"/>
            <a:ext cx="2155825" cy="246380"/>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8" name="图片 7" descr="51fc933469154e79b17df533c7216128"/>
          <p:cNvPicPr>
            <a:picLocks noChangeAspect="1"/>
          </p:cNvPicPr>
          <p:nvPr/>
        </p:nvPicPr>
        <p:blipFill>
          <a:blip r:embed="rId1"/>
          <a:stretch>
            <a:fillRect/>
          </a:stretch>
        </p:blipFill>
        <p:spPr>
          <a:xfrm>
            <a:off x="7641590" y="3875405"/>
            <a:ext cx="1512570" cy="1260475"/>
          </a:xfrm>
          <a:prstGeom prst="rect">
            <a:avLst/>
          </a:prstGeom>
        </p:spPr>
      </p:pic>
      <p:sp>
        <p:nvSpPr>
          <p:cNvPr id="6" name="AutoShape 15"/>
          <p:cNvSpPr>
            <a:spLocks noChangeArrowheads="1"/>
          </p:cNvSpPr>
          <p:nvPr/>
        </p:nvSpPr>
        <p:spPr bwMode="auto">
          <a:xfrm>
            <a:off x="3566160" y="4249420"/>
            <a:ext cx="2388870" cy="371228"/>
          </a:xfrm>
          <a:prstGeom prst="roundRect">
            <a:avLst>
              <a:gd name="adj" fmla="val 1347"/>
            </a:avLst>
          </a:prstGeom>
          <a:solidFill>
            <a:srgbClr val="EDF5FD"/>
          </a:solidFill>
          <a:ln w="50800">
            <a:solidFill>
              <a:srgbClr val="0070C0"/>
            </a:solidFill>
            <a:bevel/>
          </a:ln>
          <a:effectLst>
            <a:outerShdw sx="100999" sy="100999" algn="ctr" rotWithShape="0">
              <a:srgbClr val="000000">
                <a:alpha val="6999"/>
              </a:srgbClr>
            </a:outerShdw>
          </a:effectLst>
        </p:spPr>
        <p:txBody>
          <a:bodyPr wrap="square">
            <a:spAutoFit/>
          </a:bodyPr>
          <a:lstStyle/>
          <a:p>
            <a:pPr marL="0" indent="0" algn="l">
              <a:buFont typeface="+mj-lt"/>
              <a:buNone/>
            </a:pPr>
            <a:r>
              <a:rPr lang="zh-CN" altLang="en-US" sz="1800" b="1" dirty="0">
                <a:solidFill>
                  <a:srgbClr val="09131F"/>
                </a:solidFill>
                <a:latin typeface="+mn-ea"/>
                <a:ea typeface="+mn-ea"/>
              </a:rPr>
              <a:t>函数使代码清晰明了</a:t>
            </a:r>
            <a:endParaRPr lang="zh-CN" altLang="en-US" sz="1800" b="1" dirty="0">
              <a:solidFill>
                <a:srgbClr val="09131F"/>
              </a:solidFill>
              <a:latin typeface="+mn-ea"/>
              <a:ea typeface="+mn-ea"/>
            </a:endParaRPr>
          </a:p>
        </p:txBody>
      </p:sp>
    </p:spTree>
  </p:cSld>
  <p:clrMapOvr>
    <a:masterClrMapping/>
  </p:clrMapOvr>
  <p:transition spd="slow">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7" grpId="0" bldLvl="0" animBg="1"/>
      <p:bldP spid="6"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图片 3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35696" y="339502"/>
            <a:ext cx="5350329" cy="4370614"/>
          </a:xfrm>
          <a:prstGeom prst="rect">
            <a:avLst/>
          </a:prstGeom>
        </p:spPr>
      </p:pic>
      <p:pic>
        <p:nvPicPr>
          <p:cNvPr id="40" name="图片 3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6" y="411510"/>
            <a:ext cx="5350329" cy="4370614"/>
          </a:xfrm>
          <a:prstGeom prst="rect">
            <a:avLst/>
          </a:prstGeom>
        </p:spPr>
      </p:pic>
      <p:pic>
        <p:nvPicPr>
          <p:cNvPr id="41" name="图片 4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408591"/>
            <a:ext cx="5350329" cy="4370614"/>
          </a:xfrm>
          <a:prstGeom prst="rect">
            <a:avLst/>
          </a:prstGeom>
        </p:spPr>
      </p:pic>
      <p:sp>
        <p:nvSpPr>
          <p:cNvPr id="2" name="标题 1"/>
          <p:cNvSpPr>
            <a:spLocks noGrp="1"/>
          </p:cNvSpPr>
          <p:nvPr>
            <p:ph type="title"/>
          </p:nvPr>
        </p:nvSpPr>
        <p:spPr>
          <a:xfrm>
            <a:off x="2195739" y="141482"/>
            <a:ext cx="6768877" cy="368300"/>
          </a:xfrm>
        </p:spPr>
        <p:txBody>
          <a:bodyPr/>
          <a:lstStyle/>
          <a:p>
            <a:pPr algn="r"/>
            <a:r>
              <a:rPr lang="zh-CN" altLang="en-US" dirty="0"/>
              <a:t>什么是函数</a:t>
            </a:r>
            <a:endParaRPr lang="zh-CN" altLang="en-US" dirty="0"/>
          </a:p>
        </p:txBody>
      </p:sp>
      <p:sp>
        <p:nvSpPr>
          <p:cNvPr id="13" name="矩形 1"/>
          <p:cNvSpPr>
            <a:spLocks noChangeArrowheads="1"/>
          </p:cNvSpPr>
          <p:nvPr/>
        </p:nvSpPr>
        <p:spPr bwMode="auto">
          <a:xfrm>
            <a:off x="6668963" y="2193241"/>
            <a:ext cx="2295525" cy="1043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lIns="121914" tIns="60957" rIns="121914" bIns="60957">
            <a:spAutoFit/>
          </a:bodyPr>
          <a:lstStyle/>
          <a:p>
            <a:pPr algn="just">
              <a:lnSpc>
                <a:spcPct val="150000"/>
              </a:lnSpc>
            </a:pPr>
            <a:r>
              <a:rPr lang="zh-CN" altLang="en-US" sz="1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好处</a:t>
            </a:r>
            <a:endParaRPr lang="en-US" altLang="zh-CN" sz="1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1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使程序清晰、方便重复利用、</a:t>
            </a:r>
            <a:endParaRPr lang="zh-CN" altLang="en-US" sz="1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1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方便修改</a:t>
            </a:r>
            <a:endParaRPr lang="zh-CN" altLang="en-US" sz="1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任意多边形 51"/>
          <p:cNvSpPr/>
          <p:nvPr/>
        </p:nvSpPr>
        <p:spPr bwMode="auto">
          <a:xfrm flipH="1">
            <a:off x="763216" y="1182156"/>
            <a:ext cx="3160712" cy="741522"/>
          </a:xfrm>
          <a:custGeom>
            <a:avLst/>
            <a:gdLst>
              <a:gd name="T0" fmla="*/ 0 w 2896333"/>
              <a:gd name="T1" fmla="*/ 581025 h 581025"/>
              <a:gd name="T2" fmla="*/ 333375 w 2896333"/>
              <a:gd name="T3" fmla="*/ 0 h 581025"/>
              <a:gd name="T4" fmla="*/ 2896333 w 2896333"/>
              <a:gd name="T5" fmla="*/ 0 h 581025"/>
              <a:gd name="T6" fmla="*/ 0 60000 65536"/>
              <a:gd name="T7" fmla="*/ 0 60000 65536"/>
              <a:gd name="T8" fmla="*/ 0 60000 65536"/>
              <a:gd name="T9" fmla="*/ 0 w 2896333"/>
              <a:gd name="T10" fmla="*/ 0 h 581025"/>
              <a:gd name="T11" fmla="*/ 2896333 w 2896333"/>
              <a:gd name="T12" fmla="*/ 581025 h 581025"/>
            </a:gdLst>
            <a:ahLst/>
            <a:cxnLst>
              <a:cxn ang="T6">
                <a:pos x="T0" y="T1"/>
              </a:cxn>
              <a:cxn ang="T7">
                <a:pos x="T2" y="T3"/>
              </a:cxn>
              <a:cxn ang="T8">
                <a:pos x="T4" y="T5"/>
              </a:cxn>
            </a:cxnLst>
            <a:rect l="T9" t="T10" r="T11" b="T12"/>
            <a:pathLst>
              <a:path w="2896333" h="581025">
                <a:moveTo>
                  <a:pt x="0" y="581025"/>
                </a:moveTo>
                <a:lnTo>
                  <a:pt x="333375" y="0"/>
                </a:lnTo>
                <a:lnTo>
                  <a:pt x="2896333" y="0"/>
                </a:lnTo>
              </a:path>
            </a:pathLst>
          </a:custGeom>
          <a:noFill/>
          <a:ln w="12700" cap="flat" cmpd="sng">
            <a:solidFill>
              <a:srgbClr val="F49022"/>
            </a:solidFill>
            <a:prstDash val="dash"/>
            <a:bevel/>
            <a:headEnd type="oval" w="med" len="med"/>
          </a:ln>
          <a:extLst>
            <a:ext uri="{909E8E84-426E-40DD-AFC4-6F175D3DCCD1}">
              <a14:hiddenFill xmlns:a14="http://schemas.microsoft.com/office/drawing/2010/main">
                <a:solidFill>
                  <a:srgbClr val="FFFFFF"/>
                </a:solidFill>
              </a14:hiddenFill>
            </a:ext>
          </a:extLst>
        </p:spPr>
        <p:txBody>
          <a:bodyPr lIns="121914" tIns="60957" rIns="121914" bIns="60957" anchor="ctr"/>
          <a:lstStyle/>
          <a:p>
            <a:pPr algn="ctr"/>
            <a:endParaRPr lang="zh-CN" altLang="zh-CN" sz="2400">
              <a:solidFill>
                <a:srgbClr val="FFFFFF"/>
              </a:solidFill>
              <a:latin typeface="方正兰亭粗黑_GBK" charset="-122"/>
              <a:sym typeface="宋体" panose="02010600030101010101" pitchFamily="2" charset="-122"/>
            </a:endParaRPr>
          </a:p>
        </p:txBody>
      </p:sp>
      <p:sp>
        <p:nvSpPr>
          <p:cNvPr id="15" name="矩形 1"/>
          <p:cNvSpPr>
            <a:spLocks noChangeArrowheads="1"/>
          </p:cNvSpPr>
          <p:nvPr/>
        </p:nvSpPr>
        <p:spPr bwMode="auto">
          <a:xfrm>
            <a:off x="919849" y="779394"/>
            <a:ext cx="358014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121914" tIns="60957" rIns="121914" bIns="60957">
            <a:spAutoFit/>
          </a:bodyPr>
          <a:lstStyle/>
          <a:p>
            <a:pPr algn="just">
              <a:lnSpc>
                <a:spcPct val="150000"/>
              </a:lnSpc>
            </a:pPr>
            <a:r>
              <a:rPr lang="zh-CN" altLang="en-US" sz="14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组成部分</a:t>
            </a:r>
            <a:endParaRPr lang="en-US" altLang="zh-CN" sz="14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1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代码</a:t>
            </a:r>
            <a:endParaRPr lang="zh-CN" altLang="en-US" sz="1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任意多边形 53"/>
          <p:cNvSpPr/>
          <p:nvPr/>
        </p:nvSpPr>
        <p:spPr bwMode="auto">
          <a:xfrm flipH="1">
            <a:off x="261927" y="2709236"/>
            <a:ext cx="2809875" cy="747237"/>
          </a:xfrm>
          <a:custGeom>
            <a:avLst/>
            <a:gdLst>
              <a:gd name="T0" fmla="*/ 0 w 2528430"/>
              <a:gd name="T1" fmla="*/ 587027 h 587027"/>
              <a:gd name="T2" fmla="*/ 333375 w 2528430"/>
              <a:gd name="T3" fmla="*/ 6002 h 587027"/>
              <a:gd name="T4" fmla="*/ 2528430 w 2528430"/>
              <a:gd name="T5" fmla="*/ 0 h 587027"/>
              <a:gd name="T6" fmla="*/ 0 60000 65536"/>
              <a:gd name="T7" fmla="*/ 0 60000 65536"/>
              <a:gd name="T8" fmla="*/ 0 60000 65536"/>
              <a:gd name="T9" fmla="*/ 0 w 2528430"/>
              <a:gd name="T10" fmla="*/ 0 h 587027"/>
              <a:gd name="T11" fmla="*/ 2528430 w 2528430"/>
              <a:gd name="T12" fmla="*/ 587027 h 587027"/>
            </a:gdLst>
            <a:ahLst/>
            <a:cxnLst>
              <a:cxn ang="T6">
                <a:pos x="T0" y="T1"/>
              </a:cxn>
              <a:cxn ang="T7">
                <a:pos x="T2" y="T3"/>
              </a:cxn>
              <a:cxn ang="T8">
                <a:pos x="T4" y="T5"/>
              </a:cxn>
            </a:cxnLst>
            <a:rect l="T9" t="T10" r="T11" b="T12"/>
            <a:pathLst>
              <a:path w="2528430" h="587027">
                <a:moveTo>
                  <a:pt x="0" y="587027"/>
                </a:moveTo>
                <a:lnTo>
                  <a:pt x="333375" y="6002"/>
                </a:lnTo>
                <a:lnTo>
                  <a:pt x="2528430" y="0"/>
                </a:lnTo>
              </a:path>
            </a:pathLst>
          </a:custGeom>
          <a:noFill/>
          <a:ln w="12700" cap="flat" cmpd="sng">
            <a:solidFill>
              <a:srgbClr val="F49022"/>
            </a:solidFill>
            <a:prstDash val="dash"/>
            <a:bevel/>
            <a:headEnd type="oval" w="med" len="med"/>
          </a:ln>
          <a:extLst>
            <a:ext uri="{909E8E84-426E-40DD-AFC4-6F175D3DCCD1}">
              <a14:hiddenFill xmlns:a14="http://schemas.microsoft.com/office/drawing/2010/main">
                <a:solidFill>
                  <a:srgbClr val="FFFFFF"/>
                </a:solidFill>
              </a14:hiddenFill>
            </a:ext>
          </a:extLst>
        </p:spPr>
        <p:txBody>
          <a:bodyPr lIns="121914" tIns="60957" rIns="121914" bIns="60957" anchor="ctr"/>
          <a:lstStyle/>
          <a:p>
            <a:pPr algn="ctr"/>
            <a:endParaRPr lang="zh-CN" altLang="zh-CN" sz="2400">
              <a:solidFill>
                <a:srgbClr val="FFFFFF"/>
              </a:solidFill>
              <a:latin typeface="方正兰亭粗黑_GBK" charset="-122"/>
              <a:sym typeface="宋体" panose="02010600030101010101" pitchFamily="2" charset="-122"/>
            </a:endParaRPr>
          </a:p>
        </p:txBody>
      </p:sp>
      <p:sp>
        <p:nvSpPr>
          <p:cNvPr id="17" name="矩形 1"/>
          <p:cNvSpPr>
            <a:spLocks noChangeArrowheads="1"/>
          </p:cNvSpPr>
          <p:nvPr/>
        </p:nvSpPr>
        <p:spPr bwMode="auto">
          <a:xfrm>
            <a:off x="816176" y="2306371"/>
            <a:ext cx="2243656" cy="766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wrap="square" lIns="121914" tIns="60957" rIns="121914" bIns="60957">
            <a:spAutoFit/>
          </a:bodyPr>
          <a:lstStyle/>
          <a:p>
            <a:pPr algn="just">
              <a:lnSpc>
                <a:spcPct val="150000"/>
              </a:lnSpc>
            </a:pPr>
            <a:r>
              <a:rPr lang="zh-CN" altLang="en-US" sz="1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功能</a:t>
            </a:r>
            <a:endParaRPr lang="zh-CN" altLang="en-US" sz="1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a:p>
            <a:pPr algn="just">
              <a:lnSpc>
                <a:spcPct val="150000"/>
              </a:lnSpc>
            </a:pPr>
            <a:r>
              <a:rPr lang="zh-CN" altLang="en-US" sz="1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实现一个或多个需求</a:t>
            </a:r>
            <a:endParaRPr lang="zh-CN" altLang="en-US" sz="1200"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Freeform 11"/>
          <p:cNvSpPr>
            <a:spLocks noChangeArrowheads="1"/>
          </p:cNvSpPr>
          <p:nvPr/>
        </p:nvSpPr>
        <p:spPr bwMode="auto">
          <a:xfrm>
            <a:off x="6260703" y="2267536"/>
            <a:ext cx="358775" cy="282893"/>
          </a:xfrm>
          <a:custGeom>
            <a:avLst/>
            <a:gdLst>
              <a:gd name="T0" fmla="*/ 150135761 w 478"/>
              <a:gd name="T1" fmla="*/ 22539537 h 420"/>
              <a:gd name="T2" fmla="*/ 148879634 w 478"/>
              <a:gd name="T3" fmla="*/ 13774223 h 420"/>
              <a:gd name="T4" fmla="*/ 143854005 w 478"/>
              <a:gd name="T5" fmla="*/ 6260858 h 420"/>
              <a:gd name="T6" fmla="*/ 136315561 w 478"/>
              <a:gd name="T7" fmla="*/ 1251948 h 420"/>
              <a:gd name="T8" fmla="*/ 127520991 w 478"/>
              <a:gd name="T9" fmla="*/ 0 h 420"/>
              <a:gd name="T10" fmla="*/ 123123986 w 478"/>
              <a:gd name="T11" fmla="*/ 0 h 420"/>
              <a:gd name="T12" fmla="*/ 114957479 w 478"/>
              <a:gd name="T13" fmla="*/ 3756403 h 420"/>
              <a:gd name="T14" fmla="*/ 109303787 w 478"/>
              <a:gd name="T15" fmla="*/ 9391287 h 420"/>
              <a:gd name="T16" fmla="*/ 105534845 w 478"/>
              <a:gd name="T17" fmla="*/ 17530626 h 420"/>
              <a:gd name="T18" fmla="*/ 105534845 w 478"/>
              <a:gd name="T19" fmla="*/ 22539537 h 420"/>
              <a:gd name="T20" fmla="*/ 107419035 w 478"/>
              <a:gd name="T21" fmla="*/ 31304850 h 420"/>
              <a:gd name="T22" fmla="*/ 112444665 w 478"/>
              <a:gd name="T23" fmla="*/ 38818215 h 420"/>
              <a:gd name="T24" fmla="*/ 65330934 w 478"/>
              <a:gd name="T25" fmla="*/ 52591879 h 420"/>
              <a:gd name="T26" fmla="*/ 30152653 w 478"/>
              <a:gd name="T27" fmla="*/ 70749039 h 420"/>
              <a:gd name="T28" fmla="*/ 26383711 w 478"/>
              <a:gd name="T29" fmla="*/ 69496532 h 420"/>
              <a:gd name="T30" fmla="*/ 22614770 w 478"/>
              <a:gd name="T31" fmla="*/ 69496532 h 420"/>
              <a:gd name="T32" fmla="*/ 13820200 w 478"/>
              <a:gd name="T33" fmla="*/ 70749039 h 420"/>
              <a:gd name="T34" fmla="*/ 6909819 w 478"/>
              <a:gd name="T35" fmla="*/ 75757949 h 420"/>
              <a:gd name="T36" fmla="*/ 1884751 w 478"/>
              <a:gd name="T37" fmla="*/ 82644781 h 420"/>
              <a:gd name="T38" fmla="*/ 0 w 478"/>
              <a:gd name="T39" fmla="*/ 91410095 h 420"/>
              <a:gd name="T40" fmla="*/ 628063 w 478"/>
              <a:gd name="T41" fmla="*/ 96419005 h 420"/>
              <a:gd name="T42" fmla="*/ 4397005 w 478"/>
              <a:gd name="T43" fmla="*/ 104558344 h 420"/>
              <a:gd name="T44" fmla="*/ 10050697 w 478"/>
              <a:gd name="T45" fmla="*/ 110193228 h 420"/>
              <a:gd name="T46" fmla="*/ 18217204 w 478"/>
              <a:gd name="T47" fmla="*/ 113949631 h 420"/>
              <a:gd name="T48" fmla="*/ 22614770 w 478"/>
              <a:gd name="T49" fmla="*/ 113949631 h 420"/>
              <a:gd name="T50" fmla="*/ 31409341 w 478"/>
              <a:gd name="T51" fmla="*/ 112697124 h 420"/>
              <a:gd name="T52" fmla="*/ 38947223 w 478"/>
              <a:gd name="T53" fmla="*/ 107688773 h 420"/>
              <a:gd name="T54" fmla="*/ 43344789 w 478"/>
              <a:gd name="T55" fmla="*/ 100175408 h 420"/>
              <a:gd name="T56" fmla="*/ 45228979 w 478"/>
              <a:gd name="T57" fmla="*/ 91410095 h 420"/>
              <a:gd name="T58" fmla="*/ 45228979 w 478"/>
              <a:gd name="T59" fmla="*/ 87027158 h 420"/>
              <a:gd name="T60" fmla="*/ 76638319 w 478"/>
              <a:gd name="T61" fmla="*/ 131480258 h 420"/>
              <a:gd name="T62" fmla="*/ 133802747 w 478"/>
              <a:gd name="T63" fmla="*/ 43826566 h 420"/>
              <a:gd name="T64" fmla="*/ 136944186 w 478"/>
              <a:gd name="T65" fmla="*/ 42574618 h 420"/>
              <a:gd name="T66" fmla="*/ 143225942 w 478"/>
              <a:gd name="T67" fmla="*/ 38818215 h 420"/>
              <a:gd name="T68" fmla="*/ 147622946 w 478"/>
              <a:gd name="T69" fmla="*/ 33183331 h 420"/>
              <a:gd name="T70" fmla="*/ 150135761 w 478"/>
              <a:gd name="T71" fmla="*/ 26295940 h 420"/>
              <a:gd name="T72" fmla="*/ 150135761 w 478"/>
              <a:gd name="T73" fmla="*/ 22539537 h 42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478"/>
              <a:gd name="T112" fmla="*/ 0 h 420"/>
              <a:gd name="T113" fmla="*/ 478 w 478"/>
              <a:gd name="T114" fmla="*/ 420 h 42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478" h="420">
                <a:moveTo>
                  <a:pt x="478" y="72"/>
                </a:moveTo>
                <a:lnTo>
                  <a:pt x="478" y="72"/>
                </a:lnTo>
                <a:lnTo>
                  <a:pt x="478" y="56"/>
                </a:lnTo>
                <a:lnTo>
                  <a:pt x="474" y="44"/>
                </a:lnTo>
                <a:lnTo>
                  <a:pt x="466" y="30"/>
                </a:lnTo>
                <a:lnTo>
                  <a:pt x="458" y="20"/>
                </a:lnTo>
                <a:lnTo>
                  <a:pt x="448" y="12"/>
                </a:lnTo>
                <a:lnTo>
                  <a:pt x="434" y="4"/>
                </a:lnTo>
                <a:lnTo>
                  <a:pt x="422" y="0"/>
                </a:lnTo>
                <a:lnTo>
                  <a:pt x="406" y="0"/>
                </a:lnTo>
                <a:lnTo>
                  <a:pt x="392" y="0"/>
                </a:lnTo>
                <a:lnTo>
                  <a:pt x="378" y="4"/>
                </a:lnTo>
                <a:lnTo>
                  <a:pt x="366" y="12"/>
                </a:lnTo>
                <a:lnTo>
                  <a:pt x="356" y="20"/>
                </a:lnTo>
                <a:lnTo>
                  <a:pt x="348" y="30"/>
                </a:lnTo>
                <a:lnTo>
                  <a:pt x="340" y="44"/>
                </a:lnTo>
                <a:lnTo>
                  <a:pt x="336" y="56"/>
                </a:lnTo>
                <a:lnTo>
                  <a:pt x="336" y="72"/>
                </a:lnTo>
                <a:lnTo>
                  <a:pt x="336" y="86"/>
                </a:lnTo>
                <a:lnTo>
                  <a:pt x="342" y="100"/>
                </a:lnTo>
                <a:lnTo>
                  <a:pt x="348" y="112"/>
                </a:lnTo>
                <a:lnTo>
                  <a:pt x="358" y="124"/>
                </a:lnTo>
                <a:lnTo>
                  <a:pt x="276" y="318"/>
                </a:lnTo>
                <a:lnTo>
                  <a:pt x="208" y="168"/>
                </a:lnTo>
                <a:lnTo>
                  <a:pt x="148" y="160"/>
                </a:lnTo>
                <a:lnTo>
                  <a:pt x="96" y="226"/>
                </a:lnTo>
                <a:lnTo>
                  <a:pt x="84" y="222"/>
                </a:lnTo>
                <a:lnTo>
                  <a:pt x="72" y="222"/>
                </a:lnTo>
                <a:lnTo>
                  <a:pt x="58" y="222"/>
                </a:lnTo>
                <a:lnTo>
                  <a:pt x="44" y="226"/>
                </a:lnTo>
                <a:lnTo>
                  <a:pt x="32" y="234"/>
                </a:lnTo>
                <a:lnTo>
                  <a:pt x="22" y="242"/>
                </a:lnTo>
                <a:lnTo>
                  <a:pt x="14" y="252"/>
                </a:lnTo>
                <a:lnTo>
                  <a:pt x="6" y="264"/>
                </a:lnTo>
                <a:lnTo>
                  <a:pt x="2" y="278"/>
                </a:lnTo>
                <a:lnTo>
                  <a:pt x="0" y="292"/>
                </a:lnTo>
                <a:lnTo>
                  <a:pt x="2" y="308"/>
                </a:lnTo>
                <a:lnTo>
                  <a:pt x="6" y="320"/>
                </a:lnTo>
                <a:lnTo>
                  <a:pt x="14" y="334"/>
                </a:lnTo>
                <a:lnTo>
                  <a:pt x="22" y="344"/>
                </a:lnTo>
                <a:lnTo>
                  <a:pt x="32" y="352"/>
                </a:lnTo>
                <a:lnTo>
                  <a:pt x="44" y="360"/>
                </a:lnTo>
                <a:lnTo>
                  <a:pt x="58" y="364"/>
                </a:lnTo>
                <a:lnTo>
                  <a:pt x="72" y="364"/>
                </a:lnTo>
                <a:lnTo>
                  <a:pt x="88" y="364"/>
                </a:lnTo>
                <a:lnTo>
                  <a:pt x="100" y="360"/>
                </a:lnTo>
                <a:lnTo>
                  <a:pt x="112" y="352"/>
                </a:lnTo>
                <a:lnTo>
                  <a:pt x="124" y="344"/>
                </a:lnTo>
                <a:lnTo>
                  <a:pt x="132" y="334"/>
                </a:lnTo>
                <a:lnTo>
                  <a:pt x="138" y="320"/>
                </a:lnTo>
                <a:lnTo>
                  <a:pt x="144" y="308"/>
                </a:lnTo>
                <a:lnTo>
                  <a:pt x="144" y="292"/>
                </a:lnTo>
                <a:lnTo>
                  <a:pt x="144" y="278"/>
                </a:lnTo>
                <a:lnTo>
                  <a:pt x="168" y="248"/>
                </a:lnTo>
                <a:lnTo>
                  <a:pt x="244" y="420"/>
                </a:lnTo>
                <a:lnTo>
                  <a:pt x="308" y="418"/>
                </a:lnTo>
                <a:lnTo>
                  <a:pt x="426" y="140"/>
                </a:lnTo>
                <a:lnTo>
                  <a:pt x="436" y="136"/>
                </a:lnTo>
                <a:lnTo>
                  <a:pt x="448" y="130"/>
                </a:lnTo>
                <a:lnTo>
                  <a:pt x="456" y="124"/>
                </a:lnTo>
                <a:lnTo>
                  <a:pt x="464" y="114"/>
                </a:lnTo>
                <a:lnTo>
                  <a:pt x="470" y="106"/>
                </a:lnTo>
                <a:lnTo>
                  <a:pt x="474" y="94"/>
                </a:lnTo>
                <a:lnTo>
                  <a:pt x="478" y="84"/>
                </a:lnTo>
                <a:lnTo>
                  <a:pt x="478" y="72"/>
                </a:lnTo>
                <a:close/>
              </a:path>
            </a:pathLst>
          </a:custGeom>
          <a:solidFill>
            <a:srgbClr val="797770"/>
          </a:solidFill>
          <a:ln>
            <a:noFill/>
          </a:ln>
          <a:extLst>
            <a:ext uri="{91240B29-F687-4F45-9708-019B960494DF}">
              <a14:hiddenLine xmlns:a14="http://schemas.microsoft.com/office/drawing/2010/main" w="9525">
                <a:solidFill>
                  <a:srgbClr val="000000"/>
                </a:solidFill>
                <a:bevel/>
              </a14:hiddenLine>
            </a:ext>
          </a:extLst>
        </p:spPr>
        <p:txBody>
          <a:bodyPr lIns="121914" tIns="60957" rIns="121914" bIns="60957"/>
          <a:lstStyle/>
          <a:p>
            <a:endParaRPr lang="zh-CN" altLang="zh-CN" sz="2400">
              <a:solidFill>
                <a:srgbClr val="000000"/>
              </a:solidFill>
              <a:latin typeface="方正兰亭粗黑_GBK" charset="-122"/>
              <a:sym typeface="宋体" panose="02010600030101010101" pitchFamily="2" charset="-122"/>
            </a:endParaRPr>
          </a:p>
        </p:txBody>
      </p:sp>
      <p:grpSp>
        <p:nvGrpSpPr>
          <p:cNvPr id="20" name="组合 122"/>
          <p:cNvGrpSpPr/>
          <p:nvPr/>
        </p:nvGrpSpPr>
        <p:grpSpPr bwMode="auto">
          <a:xfrm>
            <a:off x="658631" y="898703"/>
            <a:ext cx="257175" cy="232887"/>
            <a:chOff x="0" y="0"/>
            <a:chExt cx="319708" cy="324921"/>
          </a:xfrm>
        </p:grpSpPr>
        <p:sp>
          <p:nvSpPr>
            <p:cNvPr id="21" name="Rectangle 12"/>
            <p:cNvSpPr>
              <a:spLocks noChangeArrowheads="1"/>
            </p:cNvSpPr>
            <p:nvPr/>
          </p:nvSpPr>
          <p:spPr bwMode="auto">
            <a:xfrm>
              <a:off x="0" y="33013"/>
              <a:ext cx="128578" cy="126841"/>
            </a:xfrm>
            <a:prstGeom prst="rect">
              <a:avLst/>
            </a:prstGeom>
            <a:solidFill>
              <a:srgbClr val="79777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2400">
                <a:solidFill>
                  <a:srgbClr val="000000"/>
                </a:solidFill>
                <a:latin typeface="方正兰亭粗黑_GBK" charset="-122"/>
                <a:sym typeface="宋体" panose="02010600030101010101" pitchFamily="2" charset="-122"/>
              </a:endParaRPr>
            </a:p>
          </p:txBody>
        </p:sp>
        <p:sp>
          <p:nvSpPr>
            <p:cNvPr id="22" name="Rectangle 13"/>
            <p:cNvSpPr>
              <a:spLocks noChangeArrowheads="1"/>
            </p:cNvSpPr>
            <p:nvPr/>
          </p:nvSpPr>
          <p:spPr bwMode="auto">
            <a:xfrm>
              <a:off x="159854" y="0"/>
              <a:ext cx="159854" cy="159854"/>
            </a:xfrm>
            <a:prstGeom prst="rect">
              <a:avLst/>
            </a:prstGeom>
            <a:solidFill>
              <a:srgbClr val="79777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2400">
                <a:solidFill>
                  <a:srgbClr val="000000"/>
                </a:solidFill>
                <a:latin typeface="方正兰亭粗黑_GBK" charset="-122"/>
                <a:sym typeface="宋体" panose="02010600030101010101" pitchFamily="2" charset="-122"/>
              </a:endParaRPr>
            </a:p>
          </p:txBody>
        </p:sp>
        <p:sp>
          <p:nvSpPr>
            <p:cNvPr id="23" name="Rectangle 14"/>
            <p:cNvSpPr>
              <a:spLocks noChangeArrowheads="1"/>
            </p:cNvSpPr>
            <p:nvPr/>
          </p:nvSpPr>
          <p:spPr bwMode="auto">
            <a:xfrm>
              <a:off x="0" y="198080"/>
              <a:ext cx="128578" cy="126841"/>
            </a:xfrm>
            <a:prstGeom prst="rect">
              <a:avLst/>
            </a:prstGeom>
            <a:solidFill>
              <a:srgbClr val="79777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2400">
                <a:solidFill>
                  <a:srgbClr val="000000"/>
                </a:solidFill>
                <a:latin typeface="方正兰亭粗黑_GBK" charset="-122"/>
                <a:sym typeface="宋体" panose="02010600030101010101" pitchFamily="2" charset="-122"/>
              </a:endParaRPr>
            </a:p>
          </p:txBody>
        </p:sp>
        <p:sp>
          <p:nvSpPr>
            <p:cNvPr id="24" name="Rectangle 15"/>
            <p:cNvSpPr>
              <a:spLocks noChangeArrowheads="1"/>
            </p:cNvSpPr>
            <p:nvPr/>
          </p:nvSpPr>
          <p:spPr bwMode="auto">
            <a:xfrm>
              <a:off x="159854" y="198080"/>
              <a:ext cx="126841" cy="126841"/>
            </a:xfrm>
            <a:prstGeom prst="rect">
              <a:avLst/>
            </a:prstGeom>
            <a:solidFill>
              <a:srgbClr val="79777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2400">
                <a:solidFill>
                  <a:srgbClr val="000000"/>
                </a:solidFill>
                <a:latin typeface="方正兰亭粗黑_GBK" charset="-122"/>
                <a:sym typeface="宋体" panose="02010600030101010101" pitchFamily="2" charset="-122"/>
              </a:endParaRPr>
            </a:p>
          </p:txBody>
        </p:sp>
      </p:grpSp>
      <p:grpSp>
        <p:nvGrpSpPr>
          <p:cNvPr id="28" name="组合 13322"/>
          <p:cNvGrpSpPr/>
          <p:nvPr/>
        </p:nvGrpSpPr>
        <p:grpSpPr bwMode="auto">
          <a:xfrm>
            <a:off x="474589" y="2373724"/>
            <a:ext cx="280987" cy="270034"/>
            <a:chOff x="0" y="0"/>
            <a:chExt cx="249236" cy="264850"/>
          </a:xfrm>
        </p:grpSpPr>
        <p:sp>
          <p:nvSpPr>
            <p:cNvPr id="29" name="Rectangle 13"/>
            <p:cNvSpPr>
              <a:spLocks noChangeArrowheads="1"/>
            </p:cNvSpPr>
            <p:nvPr/>
          </p:nvSpPr>
          <p:spPr bwMode="auto">
            <a:xfrm>
              <a:off x="0" y="52970"/>
              <a:ext cx="40474" cy="211880"/>
            </a:xfrm>
            <a:prstGeom prst="rect">
              <a:avLst/>
            </a:prstGeom>
            <a:solidFill>
              <a:srgbClr val="79777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2400">
                <a:solidFill>
                  <a:srgbClr val="000000"/>
                </a:solidFill>
                <a:latin typeface="方正兰亭粗黑_GBK" charset="-122"/>
                <a:sym typeface="宋体" panose="02010600030101010101" pitchFamily="2" charset="-122"/>
              </a:endParaRPr>
            </a:p>
          </p:txBody>
        </p:sp>
        <p:sp>
          <p:nvSpPr>
            <p:cNvPr id="30" name="Rectangle 14"/>
            <p:cNvSpPr>
              <a:spLocks noChangeArrowheads="1"/>
            </p:cNvSpPr>
            <p:nvPr/>
          </p:nvSpPr>
          <p:spPr bwMode="auto">
            <a:xfrm>
              <a:off x="70297" y="20867"/>
              <a:ext cx="40474" cy="243983"/>
            </a:xfrm>
            <a:prstGeom prst="rect">
              <a:avLst/>
            </a:prstGeom>
            <a:solidFill>
              <a:srgbClr val="79777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2400">
                <a:solidFill>
                  <a:srgbClr val="000000"/>
                </a:solidFill>
                <a:latin typeface="方正兰亭粗黑_GBK" charset="-122"/>
                <a:sym typeface="宋体" panose="02010600030101010101" pitchFamily="2" charset="-122"/>
              </a:endParaRPr>
            </a:p>
          </p:txBody>
        </p:sp>
        <p:sp>
          <p:nvSpPr>
            <p:cNvPr id="31" name="Rectangle 15"/>
            <p:cNvSpPr>
              <a:spLocks noChangeArrowheads="1"/>
            </p:cNvSpPr>
            <p:nvPr/>
          </p:nvSpPr>
          <p:spPr bwMode="auto">
            <a:xfrm>
              <a:off x="138464" y="0"/>
              <a:ext cx="42604" cy="264850"/>
            </a:xfrm>
            <a:prstGeom prst="rect">
              <a:avLst/>
            </a:prstGeom>
            <a:solidFill>
              <a:srgbClr val="79777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2400">
                <a:solidFill>
                  <a:srgbClr val="000000"/>
                </a:solidFill>
                <a:latin typeface="方正兰亭粗黑_GBK" charset="-122"/>
                <a:sym typeface="宋体" panose="02010600030101010101" pitchFamily="2" charset="-122"/>
              </a:endParaRPr>
            </a:p>
          </p:txBody>
        </p:sp>
        <p:sp>
          <p:nvSpPr>
            <p:cNvPr id="32" name="Rectangle 16"/>
            <p:cNvSpPr>
              <a:spLocks noChangeArrowheads="1"/>
            </p:cNvSpPr>
            <p:nvPr/>
          </p:nvSpPr>
          <p:spPr bwMode="auto">
            <a:xfrm>
              <a:off x="208762" y="131622"/>
              <a:ext cx="40474" cy="133228"/>
            </a:xfrm>
            <a:prstGeom prst="rect">
              <a:avLst/>
            </a:prstGeom>
            <a:solidFill>
              <a:srgbClr val="79777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zh-CN" sz="2400">
                <a:solidFill>
                  <a:srgbClr val="000000"/>
                </a:solidFill>
                <a:latin typeface="方正兰亭粗黑_GBK" charset="-122"/>
                <a:sym typeface="宋体" panose="02010600030101010101" pitchFamily="2" charset="-122"/>
              </a:endParaRPr>
            </a:p>
          </p:txBody>
        </p:sp>
      </p:grpSp>
      <p:sp>
        <p:nvSpPr>
          <p:cNvPr id="33" name="任意多边形 70"/>
          <p:cNvSpPr/>
          <p:nvPr/>
        </p:nvSpPr>
        <p:spPr bwMode="auto">
          <a:xfrm>
            <a:off x="5724128" y="2626783"/>
            <a:ext cx="3197225" cy="742950"/>
          </a:xfrm>
          <a:custGeom>
            <a:avLst/>
            <a:gdLst>
              <a:gd name="T0" fmla="*/ 0 w 2896333"/>
              <a:gd name="T1" fmla="*/ 581025 h 581025"/>
              <a:gd name="T2" fmla="*/ 333375 w 2896333"/>
              <a:gd name="T3" fmla="*/ 0 h 581025"/>
              <a:gd name="T4" fmla="*/ 2896333 w 2896333"/>
              <a:gd name="T5" fmla="*/ 0 h 581025"/>
              <a:gd name="T6" fmla="*/ 0 60000 65536"/>
              <a:gd name="T7" fmla="*/ 0 60000 65536"/>
              <a:gd name="T8" fmla="*/ 0 60000 65536"/>
              <a:gd name="T9" fmla="*/ 0 w 2896333"/>
              <a:gd name="T10" fmla="*/ 0 h 581025"/>
              <a:gd name="T11" fmla="*/ 2896333 w 2896333"/>
              <a:gd name="T12" fmla="*/ 581025 h 581025"/>
            </a:gdLst>
            <a:ahLst/>
            <a:cxnLst>
              <a:cxn ang="T6">
                <a:pos x="T0" y="T1"/>
              </a:cxn>
              <a:cxn ang="T7">
                <a:pos x="T2" y="T3"/>
              </a:cxn>
              <a:cxn ang="T8">
                <a:pos x="T4" y="T5"/>
              </a:cxn>
            </a:cxnLst>
            <a:rect l="T9" t="T10" r="T11" b="T12"/>
            <a:pathLst>
              <a:path w="2896333" h="581025">
                <a:moveTo>
                  <a:pt x="0" y="581025"/>
                </a:moveTo>
                <a:lnTo>
                  <a:pt x="333375" y="0"/>
                </a:lnTo>
                <a:lnTo>
                  <a:pt x="2896333" y="0"/>
                </a:lnTo>
              </a:path>
            </a:pathLst>
          </a:custGeom>
          <a:noFill/>
          <a:ln w="12700" cap="flat" cmpd="sng">
            <a:solidFill>
              <a:srgbClr val="F49022"/>
            </a:solidFill>
            <a:prstDash val="dash"/>
            <a:bevel/>
            <a:headEnd type="oval" w="med" len="med"/>
          </a:ln>
          <a:extLst>
            <a:ext uri="{909E8E84-426E-40DD-AFC4-6F175D3DCCD1}">
              <a14:hiddenFill xmlns:a14="http://schemas.microsoft.com/office/drawing/2010/main">
                <a:solidFill>
                  <a:srgbClr val="FFFFFF"/>
                </a:solidFill>
              </a14:hiddenFill>
            </a:ext>
          </a:extLst>
        </p:spPr>
        <p:txBody>
          <a:bodyPr lIns="121914" tIns="60957" rIns="121914" bIns="60957" anchor="ctr"/>
          <a:lstStyle/>
          <a:p>
            <a:pPr algn="ctr"/>
            <a:endParaRPr lang="zh-CN" altLang="zh-CN" sz="2400" dirty="0">
              <a:solidFill>
                <a:srgbClr val="FFFFFF"/>
              </a:solidFill>
              <a:latin typeface="方正兰亭粗黑_GBK" charset="-122"/>
              <a:sym typeface="宋体" panose="02010600030101010101" pitchFamily="2" charset="-122"/>
            </a:endParaRPr>
          </a:p>
        </p:txBody>
      </p:sp>
      <p:sp>
        <p:nvSpPr>
          <p:cNvPr id="35" name="Oval 54"/>
          <p:cNvSpPr>
            <a:spLocks noChangeArrowheads="1"/>
          </p:cNvSpPr>
          <p:nvPr/>
        </p:nvSpPr>
        <p:spPr bwMode="auto">
          <a:xfrm>
            <a:off x="3858576" y="1856085"/>
            <a:ext cx="111125" cy="98583"/>
          </a:xfrm>
          <a:prstGeom prst="ellipse">
            <a:avLst/>
          </a:prstGeom>
          <a:gradFill rotWithShape="1">
            <a:gsLst>
              <a:gs pos="0">
                <a:srgbClr val="BBBBBB"/>
              </a:gs>
              <a:gs pos="34999">
                <a:srgbClr val="CFCFCF"/>
              </a:gs>
              <a:gs pos="100000">
                <a:srgbClr val="EDEDED"/>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lIns="121914" tIns="60957" rIns="121914" bIns="60957"/>
          <a:lstStyle/>
          <a:p>
            <a:endParaRPr lang="zh-CN" altLang="zh-CN" sz="2400">
              <a:solidFill>
                <a:srgbClr val="000000"/>
              </a:solidFill>
              <a:latin typeface="方正兰亭粗黑_GBK" charset="-122"/>
              <a:sym typeface="宋体" panose="02010600030101010101" pitchFamily="2" charset="-122"/>
            </a:endParaRPr>
          </a:p>
        </p:txBody>
      </p:sp>
      <p:sp>
        <p:nvSpPr>
          <p:cNvPr id="36" name="Oval 54"/>
          <p:cNvSpPr>
            <a:spLocks noChangeArrowheads="1"/>
          </p:cNvSpPr>
          <p:nvPr/>
        </p:nvSpPr>
        <p:spPr bwMode="auto">
          <a:xfrm>
            <a:off x="5668565" y="3320441"/>
            <a:ext cx="111125" cy="98583"/>
          </a:xfrm>
          <a:prstGeom prst="ellipse">
            <a:avLst/>
          </a:prstGeom>
          <a:gradFill rotWithShape="1">
            <a:gsLst>
              <a:gs pos="0">
                <a:srgbClr val="BBBBBB"/>
              </a:gs>
              <a:gs pos="34999">
                <a:srgbClr val="CFCFCF"/>
              </a:gs>
              <a:gs pos="100000">
                <a:srgbClr val="EDEDED"/>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lIns="121914" tIns="60957" rIns="121914" bIns="60957"/>
          <a:lstStyle/>
          <a:p>
            <a:endParaRPr lang="zh-CN" altLang="zh-CN" sz="2400">
              <a:solidFill>
                <a:srgbClr val="000000"/>
              </a:solidFill>
              <a:latin typeface="方正兰亭粗黑_GBK" charset="-122"/>
              <a:sym typeface="宋体" panose="02010600030101010101" pitchFamily="2" charset="-122"/>
            </a:endParaRPr>
          </a:p>
        </p:txBody>
      </p:sp>
      <p:sp>
        <p:nvSpPr>
          <p:cNvPr id="38" name="Oval 54"/>
          <p:cNvSpPr>
            <a:spLocks noChangeArrowheads="1"/>
          </p:cNvSpPr>
          <p:nvPr/>
        </p:nvSpPr>
        <p:spPr bwMode="auto">
          <a:xfrm>
            <a:off x="3016239" y="3369733"/>
            <a:ext cx="111125" cy="98583"/>
          </a:xfrm>
          <a:prstGeom prst="ellipse">
            <a:avLst/>
          </a:prstGeom>
          <a:gradFill rotWithShape="1">
            <a:gsLst>
              <a:gs pos="0">
                <a:srgbClr val="BBBBBB"/>
              </a:gs>
              <a:gs pos="34999">
                <a:srgbClr val="CFCFCF"/>
              </a:gs>
              <a:gs pos="100000">
                <a:srgbClr val="EDEDED"/>
              </a:gs>
            </a:gsLst>
            <a:lin ang="16200000" scaled="1"/>
          </a:gradFill>
          <a:ln>
            <a:noFill/>
          </a:ln>
          <a:extLst>
            <a:ext uri="{91240B29-F687-4F45-9708-019B960494DF}">
              <a14:hiddenLine xmlns:a14="http://schemas.microsoft.com/office/drawing/2010/main" w="9525">
                <a:solidFill>
                  <a:srgbClr val="000000"/>
                </a:solidFill>
                <a:bevel/>
              </a14:hiddenLine>
            </a:ext>
          </a:extLst>
        </p:spPr>
        <p:txBody>
          <a:bodyPr lIns="121914" tIns="60957" rIns="121914" bIns="60957"/>
          <a:lstStyle/>
          <a:p>
            <a:endParaRPr lang="zh-CN" altLang="zh-CN" sz="2400" dirty="0">
              <a:solidFill>
                <a:srgbClr val="000000"/>
              </a:solidFill>
              <a:latin typeface="方正兰亭粗黑_GBK" charset="-122"/>
              <a:sym typeface="宋体" panose="02010600030101010101" pitchFamily="2"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ppt_x</p:attrName>
                                        </p:attrNameLst>
                                      </p:cBhvr>
                                      <p:tavLst>
                                        <p:tav tm="0">
                                          <p:val>
                                            <p:strVal val="#ppt_x"/>
                                          </p:val>
                                        </p:tav>
                                        <p:tav tm="100000">
                                          <p:val>
                                            <p:strVal val="#ppt_x"/>
                                          </p:val>
                                        </p:tav>
                                      </p:tavLst>
                                    </p:anim>
                                    <p:anim calcmode="lin" valueType="num">
                                      <p:cBhvr>
                                        <p:cTn id="8" dur="500" fill="hold"/>
                                        <p:tgtEl>
                                          <p:spTgt spid="15"/>
                                        </p:tgtEl>
                                        <p:attrNameLst>
                                          <p:attrName>ppt_y</p:attrName>
                                        </p:attrNameLst>
                                      </p:cBhvr>
                                      <p:tavLst>
                                        <p:tav tm="0">
                                          <p:val>
                                            <p:strVal val="1+#ppt_h/2"/>
                                          </p:val>
                                        </p:tav>
                                        <p:tav tm="100000">
                                          <p:val>
                                            <p:strVal val="#ppt_y"/>
                                          </p:val>
                                        </p:tav>
                                      </p:tavLst>
                                    </p:anim>
                                  </p:childTnLst>
                                </p:cTn>
                              </p:par>
                              <p:par>
                                <p:cTn id="9" presetID="2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par>
                                <p:cTn id="12" presetID="2" presetClass="entr" presetSubtype="4" fill="hold" nodeType="withEffect">
                                  <p:stCondLst>
                                    <p:cond delay="0"/>
                                  </p:stCondLst>
                                  <p:childTnLst>
                                    <p:set>
                                      <p:cBhvr>
                                        <p:cTn id="13" dur="1" fill="hold">
                                          <p:stCondLst>
                                            <p:cond delay="0"/>
                                          </p:stCondLst>
                                        </p:cTn>
                                        <p:tgtEl>
                                          <p:spTgt spid="20"/>
                                        </p:tgtEl>
                                        <p:attrNameLst>
                                          <p:attrName>style.visibility</p:attrName>
                                        </p:attrNameLst>
                                      </p:cBhvr>
                                      <p:to>
                                        <p:strVal val="visible"/>
                                      </p:to>
                                    </p:set>
                                    <p:anim calcmode="lin" valueType="num">
                                      <p:cBhvr>
                                        <p:cTn id="14" dur="500" fill="hold"/>
                                        <p:tgtEl>
                                          <p:spTgt spid="20"/>
                                        </p:tgtEl>
                                        <p:attrNameLst>
                                          <p:attrName>ppt_x</p:attrName>
                                        </p:attrNameLst>
                                      </p:cBhvr>
                                      <p:tavLst>
                                        <p:tav tm="0">
                                          <p:val>
                                            <p:strVal val="#ppt_x"/>
                                          </p:val>
                                        </p:tav>
                                        <p:tav tm="100000">
                                          <p:val>
                                            <p:strVal val="#ppt_x"/>
                                          </p:val>
                                        </p:tav>
                                      </p:tavLst>
                                    </p:anim>
                                    <p:anim calcmode="lin" valueType="num">
                                      <p:cBhvr>
                                        <p:cTn id="15"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6"/>
                                        </p:tgtEl>
                                        <p:attrNameLst>
                                          <p:attrName>style.visibility</p:attrName>
                                        </p:attrNameLst>
                                      </p:cBhvr>
                                      <p:to>
                                        <p:strVal val="visible"/>
                                      </p:to>
                                    </p:set>
                                    <p:animEffect transition="in" filter="wipe(down)">
                                      <p:cBhvr>
                                        <p:cTn id="20" dur="500"/>
                                        <p:tgtEl>
                                          <p:spTgt spid="16"/>
                                        </p:tgtEl>
                                      </p:cBhvr>
                                    </p:animEffect>
                                  </p:childTnLst>
                                </p:cTn>
                              </p:par>
                              <p:par>
                                <p:cTn id="21" presetID="22" presetClass="entr" presetSubtype="8" fill="hold"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wipe(left)">
                                      <p:cBhvr>
                                        <p:cTn id="23" dur="500"/>
                                        <p:tgtEl>
                                          <p:spTgt spid="38"/>
                                        </p:tgtEl>
                                      </p:cBhvr>
                                    </p:animEffect>
                                  </p:childTnLst>
                                </p:cTn>
                              </p:par>
                              <p:par>
                                <p:cTn id="24" presetID="2" presetClass="entr" presetSubtype="4" fill="hold" nodeType="withEffect">
                                  <p:stCondLst>
                                    <p:cond delay="0"/>
                                  </p:stCondLst>
                                  <p:childTnLst>
                                    <p:set>
                                      <p:cBhvr>
                                        <p:cTn id="25" dur="1" fill="hold">
                                          <p:stCondLst>
                                            <p:cond delay="0"/>
                                          </p:stCondLst>
                                        </p:cTn>
                                        <p:tgtEl>
                                          <p:spTgt spid="28"/>
                                        </p:tgtEl>
                                        <p:attrNameLst>
                                          <p:attrName>style.visibility</p:attrName>
                                        </p:attrNameLst>
                                      </p:cBhvr>
                                      <p:to>
                                        <p:strVal val="visible"/>
                                      </p:to>
                                    </p:set>
                                    <p:anim calcmode="lin" valueType="num">
                                      <p:cBhvr>
                                        <p:cTn id="26" dur="500" fill="hold"/>
                                        <p:tgtEl>
                                          <p:spTgt spid="28"/>
                                        </p:tgtEl>
                                        <p:attrNameLst>
                                          <p:attrName>ppt_x</p:attrName>
                                        </p:attrNameLst>
                                      </p:cBhvr>
                                      <p:tavLst>
                                        <p:tav tm="0">
                                          <p:val>
                                            <p:strVal val="#ppt_x"/>
                                          </p:val>
                                        </p:tav>
                                        <p:tav tm="100000">
                                          <p:val>
                                            <p:strVal val="#ppt_x"/>
                                          </p:val>
                                        </p:tav>
                                      </p:tavLst>
                                    </p:anim>
                                    <p:anim calcmode="lin" valueType="num">
                                      <p:cBhvr>
                                        <p:cTn id="27" dur="500" fill="hold"/>
                                        <p:tgtEl>
                                          <p:spTgt spid="28"/>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 calcmode="lin" valueType="num">
                                      <p:cBhvr>
                                        <p:cTn id="30" dur="500" fill="hold"/>
                                        <p:tgtEl>
                                          <p:spTgt spid="17"/>
                                        </p:tgtEl>
                                        <p:attrNameLst>
                                          <p:attrName>ppt_x</p:attrName>
                                        </p:attrNameLst>
                                      </p:cBhvr>
                                      <p:tavLst>
                                        <p:tav tm="0">
                                          <p:val>
                                            <p:strVal val="#ppt_x"/>
                                          </p:val>
                                        </p:tav>
                                        <p:tav tm="100000">
                                          <p:val>
                                            <p:strVal val="#ppt_x"/>
                                          </p:val>
                                        </p:tav>
                                      </p:tavLst>
                                    </p:anim>
                                    <p:anim calcmode="lin" valueType="num">
                                      <p:cBhvr>
                                        <p:cTn id="31"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animEffect>
                                      <p:cBhvr>
                                        <p:cTn id="36" dur="500"/>
                                        <p:tgtEl>
                                          <p:spTgt spid="33"/>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animEffect>
                                      <p:cBhvr>
                                        <p:cTn id="39" dur="500"/>
                                        <p:tgtEl>
                                          <p:spTgt spid="36"/>
                                        </p:tgtEl>
                                      </p:cBhvr>
                                    </p:animEffect>
                                  </p:childTnLst>
                                </p:cTn>
                              </p:par>
                              <p:par>
                                <p:cTn id="40" presetID="2" presetClass="entr" presetSubtype="4"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ppt_x</p:attrName>
                                        </p:attrNameLst>
                                      </p:cBhvr>
                                      <p:tavLst>
                                        <p:tav tm="0">
                                          <p:val>
                                            <p:strVal val="#ppt_x"/>
                                          </p:val>
                                        </p:tav>
                                        <p:tav tm="100000">
                                          <p:val>
                                            <p:strVal val="#ppt_x"/>
                                          </p:val>
                                        </p:tav>
                                      </p:tavLst>
                                    </p:anim>
                                    <p:anim calcmode="lin" valueType="num">
                                      <p:cBhvr>
                                        <p:cTn id="43" dur="500" fill="hold"/>
                                        <p:tgtEl>
                                          <p:spTgt spid="13"/>
                                        </p:tgtEl>
                                        <p:attrNameLst>
                                          <p:attrName>ppt_y</p:attrName>
                                        </p:attrNameLst>
                                      </p:cBhvr>
                                      <p:tavLst>
                                        <p:tav tm="0">
                                          <p:val>
                                            <p:strVal val="1+#ppt_h/2"/>
                                          </p:val>
                                        </p:tav>
                                        <p:tav tm="100000">
                                          <p:val>
                                            <p:strVal val="#ppt_y"/>
                                          </p:val>
                                        </p:tav>
                                      </p:tavLst>
                                    </p:anim>
                                  </p:childTnLst>
                                </p:cTn>
                              </p:par>
                              <p:par>
                                <p:cTn id="44" presetID="2" presetClass="entr" presetSubtype="4"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 calcmode="lin" valueType="num">
                                      <p:cBhvr>
                                        <p:cTn id="46" dur="500" fill="hold"/>
                                        <p:tgtEl>
                                          <p:spTgt spid="19"/>
                                        </p:tgtEl>
                                        <p:attrNameLst>
                                          <p:attrName>ppt_x</p:attrName>
                                        </p:attrNameLst>
                                      </p:cBhvr>
                                      <p:tavLst>
                                        <p:tav tm="0">
                                          <p:val>
                                            <p:strVal val="#ppt_x"/>
                                          </p:val>
                                        </p:tav>
                                        <p:tav tm="100000">
                                          <p:val>
                                            <p:strVal val="#ppt_x"/>
                                          </p:val>
                                        </p:tav>
                                      </p:tavLst>
                                    </p:anim>
                                    <p:anim calcmode="lin" valueType="num">
                                      <p:cBhvr>
                                        <p:cTn id="47"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utoUpdateAnimBg="0"/>
      <p:bldP spid="14" grpId="0" animBg="1"/>
      <p:bldP spid="15" grpId="0" bldLvl="0" autoUpdateAnimBg="0"/>
      <p:bldP spid="16" grpId="0" animBg="1"/>
      <p:bldP spid="19" grpId="0" bldLvl="0" animBg="1" autoUpdateAnimBg="0"/>
      <p:bldP spid="33" grpId="0" bldLvl="0" animBg="1" autoUpdateAnimBg="0"/>
      <p:bldP spid="36" grpId="0" bldLvl="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p:cNvSpPr>
            <a:spLocks noGrp="1"/>
          </p:cNvSpPr>
          <p:nvPr>
            <p:ph type="title"/>
          </p:nvPr>
        </p:nvSpPr>
        <p:spPr>
          <a:xfrm>
            <a:off x="2195513" y="141288"/>
            <a:ext cx="6769100" cy="368300"/>
          </a:xfrm>
          <a:ln>
            <a:noFill/>
          </a:ln>
        </p:spPr>
        <p:txBody>
          <a:bodyPr wrap="square" anchor="t">
            <a:spAutoFit/>
          </a:bodyPr>
          <a:lstStyle/>
          <a:p>
            <a:pPr algn="r"/>
            <a:r>
              <a:rPr lang="zh-CN" altLang="en-US" dirty="0">
                <a:sym typeface="Browallia New" charset="0"/>
              </a:rPr>
              <a:t>什么是函数</a:t>
            </a:r>
            <a:endParaRPr lang="zh-CN" altLang="en-US" dirty="0">
              <a:sym typeface="Browallia New" charset="0"/>
            </a:endParaRPr>
          </a:p>
        </p:txBody>
      </p:sp>
      <p:sp>
        <p:nvSpPr>
          <p:cNvPr id="2" name="椭圆 1"/>
          <p:cNvSpPr/>
          <p:nvPr/>
        </p:nvSpPr>
        <p:spPr>
          <a:xfrm>
            <a:off x="262255" y="1906905"/>
            <a:ext cx="1352550" cy="124714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z="2000" b="1" strike="noStrike" noProof="1">
              <a:solidFill>
                <a:schemeClr val="accent1"/>
              </a:solidFill>
              <a:latin typeface="微软雅黑" panose="020B0503020204020204" pitchFamily="34" charset="-122"/>
              <a:ea typeface="微软雅黑" panose="020B0503020204020204" pitchFamily="34" charset="-122"/>
            </a:endParaRPr>
          </a:p>
          <a:p>
            <a:pPr algn="ctr" fontAlgn="base"/>
            <a:r>
              <a:rPr lang="zh-CN" altLang="en-US" sz="2000" b="1" strike="noStrike" noProof="1">
                <a:solidFill>
                  <a:schemeClr val="accent1"/>
                </a:solidFill>
                <a:latin typeface="微软雅黑" panose="020B0503020204020204" pitchFamily="34" charset="-122"/>
                <a:ea typeface="微软雅黑" panose="020B0503020204020204" pitchFamily="34" charset="-122"/>
              </a:rPr>
              <a:t>函数</a:t>
            </a:r>
            <a:endParaRPr lang="en-US" altLang="zh-CN" sz="2000" b="1" strike="noStrike" noProof="1">
              <a:solidFill>
                <a:schemeClr val="accent1"/>
              </a:solidFill>
              <a:latin typeface="微软雅黑" panose="020B0503020204020204" pitchFamily="34" charset="-122"/>
              <a:ea typeface="微软雅黑" panose="020B0503020204020204" pitchFamily="34" charset="-122"/>
            </a:endParaRPr>
          </a:p>
          <a:p>
            <a:pPr algn="ctr" fontAlgn="base"/>
            <a:endParaRPr lang="en-US" altLang="zh-CN" sz="2000" b="1" strike="noStrike" noProof="1">
              <a:solidFill>
                <a:schemeClr val="accent1"/>
              </a:solidFill>
              <a:latin typeface="微软雅黑" panose="020B0503020204020204" pitchFamily="34" charset="-122"/>
              <a:ea typeface="微软雅黑" panose="020B0503020204020204" pitchFamily="34" charset="-122"/>
            </a:endParaRPr>
          </a:p>
        </p:txBody>
      </p:sp>
      <p:sp>
        <p:nvSpPr>
          <p:cNvPr id="16" name="Text Box 14"/>
          <p:cNvSpPr txBox="1"/>
          <p:nvPr/>
        </p:nvSpPr>
        <p:spPr>
          <a:xfrm>
            <a:off x="-317" y="1524000"/>
            <a:ext cx="185737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被定义项</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1" name="Text Box 8"/>
          <p:cNvSpPr txBox="1"/>
          <p:nvPr/>
        </p:nvSpPr>
        <p:spPr>
          <a:xfrm>
            <a:off x="1579245" y="1564005"/>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临近的属</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3" name="椭圆 2"/>
          <p:cNvSpPr/>
          <p:nvPr/>
        </p:nvSpPr>
        <p:spPr>
          <a:xfrm>
            <a:off x="1923415" y="1932305"/>
            <a:ext cx="1378585" cy="1222375"/>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000" b="1" strike="noStrike" noProof="1">
                <a:solidFill>
                  <a:schemeClr val="accent1"/>
                </a:solidFill>
                <a:latin typeface="微软雅黑" panose="020B0503020204020204" pitchFamily="34" charset="-122"/>
                <a:ea typeface="微软雅黑" panose="020B0503020204020204" pitchFamily="34" charset="-122"/>
              </a:rPr>
              <a:t>代码块</a:t>
            </a:r>
            <a:endParaRPr lang="zh-CN" altLang="en-US" sz="2000" b="1" strike="noStrike" noProof="1">
              <a:solidFill>
                <a:schemeClr val="accent1"/>
              </a:solidFill>
              <a:latin typeface="微软雅黑" panose="020B0503020204020204" pitchFamily="34" charset="-122"/>
              <a:ea typeface="微软雅黑" panose="020B0503020204020204" pitchFamily="34" charset="-122"/>
            </a:endParaRPr>
          </a:p>
        </p:txBody>
      </p:sp>
      <p:sp>
        <p:nvSpPr>
          <p:cNvPr id="14" name="Text Box 12"/>
          <p:cNvSpPr txBox="1"/>
          <p:nvPr/>
        </p:nvSpPr>
        <p:spPr>
          <a:xfrm>
            <a:off x="5920740" y="1564005"/>
            <a:ext cx="1771650"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种差（内涵</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 name="组合 3"/>
          <p:cNvGrpSpPr/>
          <p:nvPr/>
        </p:nvGrpSpPr>
        <p:grpSpPr>
          <a:xfrm>
            <a:off x="5898515" y="2127250"/>
            <a:ext cx="2927350" cy="933450"/>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latin typeface="微软雅黑" panose="020B0503020204020204" pitchFamily="34" charset="-122"/>
                <a:ea typeface="微软雅黑" panose="020B0503020204020204" pitchFamily="34" charset="-122"/>
              </a:endParaRPr>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latin typeface="微软雅黑" panose="020B0503020204020204" pitchFamily="34" charset="-122"/>
                <a:ea typeface="微软雅黑" panose="020B0503020204020204" pitchFamily="34" charset="-122"/>
              </a:endParaRPr>
            </a:p>
          </p:txBody>
        </p:sp>
      </p:grpSp>
      <p:sp>
        <p:nvSpPr>
          <p:cNvPr id="7" name="TextBox 22"/>
          <p:cNvSpPr txBox="1"/>
          <p:nvPr/>
        </p:nvSpPr>
        <p:spPr>
          <a:xfrm>
            <a:off x="6081395" y="2173605"/>
            <a:ext cx="2305685" cy="680085"/>
          </a:xfrm>
          <a:prstGeom prst="rect">
            <a:avLst/>
          </a:prstGeom>
          <a:noFill/>
          <a:ln w="9525">
            <a:noFill/>
          </a:ln>
        </p:spPr>
        <p:txBody>
          <a:bodyPr wrap="square" lIns="91405" tIns="45702" rIns="91405" bIns="45702" anchor="t">
            <a:spAutoFit/>
          </a:bodyPr>
          <a:lstStyle/>
          <a:p>
            <a:pPr algn="l">
              <a:lnSpc>
                <a:spcPct val="120000"/>
              </a:lnSpc>
            </a:pPr>
            <a:r>
              <a:rPr lang="zh-CN" altLang="en-US" sz="16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rPr>
              <a:t>1.</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能重复使用</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algn="l">
              <a:lnSpc>
                <a:spcPct val="120000"/>
              </a:lnSpc>
            </a:pPr>
            <a:r>
              <a:rPr lang="en-US" altLang="zh-CN" sz="1600"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rPr>
              <a:t>2.</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实现一个或多个需求</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p:txBody>
      </p:sp>
      <p:sp>
        <p:nvSpPr>
          <p:cNvPr id="10" name="文本框 9"/>
          <p:cNvSpPr txBox="1"/>
          <p:nvPr/>
        </p:nvSpPr>
        <p:spPr>
          <a:xfrm>
            <a:off x="2051050" y="3426785"/>
            <a:ext cx="6191885" cy="368300"/>
          </a:xfrm>
          <a:prstGeom prst="rect">
            <a:avLst/>
          </a:prstGeom>
          <a:noFill/>
        </p:spPr>
        <p:txBody>
          <a:bodyPr wrap="none" rtlCol="0">
            <a:spAutoFit/>
          </a:bodyPr>
          <a:lstStyle/>
          <a:p>
            <a:pPr algn="l"/>
            <a:r>
              <a:rPr lang="zh-CN" altLang="en-US" b="1" noProof="1">
                <a:latin typeface="微软雅黑" panose="020B0503020204020204" pitchFamily="34" charset="-122"/>
                <a:ea typeface="微软雅黑" panose="020B0503020204020204" pitchFamily="34" charset="-122"/>
                <a:cs typeface="微软雅黑" panose="020B0503020204020204" pitchFamily="34" charset="-122"/>
              </a:rPr>
              <a:t>定义:函数</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是一段能重复使用，实现一个或多个需求的代码块</a:t>
            </a:r>
            <a:endParaRPr lang="zh-CN" altLang="en-US" b="1" noProof="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Text Box 8"/>
          <p:cNvSpPr txBox="1"/>
          <p:nvPr/>
        </p:nvSpPr>
        <p:spPr>
          <a:xfrm>
            <a:off x="3523615" y="1564005"/>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同属的其它种</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5" name="椭圆 14"/>
          <p:cNvSpPr/>
          <p:nvPr/>
        </p:nvSpPr>
        <p:spPr>
          <a:xfrm>
            <a:off x="3540760" y="1932305"/>
            <a:ext cx="2025015" cy="1222375"/>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en-US" altLang="zh-CN" sz="1800" b="1" strike="noStrike" noProof="1">
                <a:solidFill>
                  <a:schemeClr val="accent1"/>
                </a:solidFill>
                <a:latin typeface="微软雅黑" panose="020B0503020204020204" pitchFamily="34" charset="-122"/>
                <a:ea typeface="微软雅黑" panose="020B0503020204020204" pitchFamily="34" charset="-122"/>
              </a:rPr>
              <a:t> </a:t>
            </a:r>
            <a:r>
              <a:rPr lang="zh-CN" altLang="en-US" sz="1800" b="1" strike="noStrike" noProof="1">
                <a:solidFill>
                  <a:schemeClr val="accent1"/>
                </a:solidFill>
                <a:latin typeface="微软雅黑" panose="020B0503020204020204" pitchFamily="34" charset="-122"/>
                <a:ea typeface="微软雅黑" panose="020B0503020204020204" pitchFamily="34" charset="-122"/>
              </a:rPr>
              <a:t>普通代码块</a:t>
            </a:r>
            <a:endParaRPr lang="zh-CN" altLang="en-US" sz="1800" b="1" strike="noStrike" noProof="1">
              <a:solidFill>
                <a:schemeClr val="accent1"/>
              </a:solidFill>
              <a:latin typeface="微软雅黑" panose="020B0503020204020204" pitchFamily="34" charset="-122"/>
              <a:ea typeface="微软雅黑" panose="020B0503020204020204" pitchFamily="34" charset="-122"/>
            </a:endParaRPr>
          </a:p>
        </p:txBody>
      </p:sp>
      <p:sp>
        <p:nvSpPr>
          <p:cNvPr id="18" name="AutoShape 7"/>
          <p:cNvSpPr/>
          <p:nvPr/>
        </p:nvSpPr>
        <p:spPr>
          <a:xfrm flipH="1">
            <a:off x="688975" y="3226435"/>
            <a:ext cx="248920" cy="864870"/>
          </a:xfrm>
          <a:prstGeom prst="downArrow">
            <a:avLst>
              <a:gd name="adj1" fmla="val 50000"/>
              <a:gd name="adj2" fmla="val 66468"/>
            </a:avLst>
          </a:prstGeom>
          <a:solidFill>
            <a:schemeClr val="accent1"/>
          </a:solidFill>
          <a:ln w="9525" cap="flat" cmpd="sng">
            <a:solidFill>
              <a:schemeClr val="tx1"/>
            </a:solidFill>
            <a:prstDash val="solid"/>
            <a:miter/>
            <a:headEnd type="none" w="med" len="med"/>
            <a:tailEnd type="none" w="med" len="med"/>
          </a:ln>
        </p:spPr>
        <p:txBody>
          <a:bodyPr vert="eaVert" anchor="ctr"/>
          <a:lstStyle/>
          <a:p>
            <a:pPr algn="ctr"/>
            <a:endParaRPr lang="zh-CN" altLang="en-US">
              <a:latin typeface="微软雅黑" panose="020B0503020204020204" pitchFamily="34" charset="-122"/>
              <a:ea typeface="微软雅黑" panose="020B0503020204020204" pitchFamily="34" charset="-122"/>
            </a:endParaRPr>
          </a:p>
        </p:txBody>
      </p:sp>
      <p:sp>
        <p:nvSpPr>
          <p:cNvPr id="19" name="Text Box 8"/>
          <p:cNvSpPr txBox="1"/>
          <p:nvPr/>
        </p:nvSpPr>
        <p:spPr>
          <a:xfrm>
            <a:off x="194700" y="3365035"/>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外延</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33" name="组合 32"/>
          <p:cNvGrpSpPr/>
          <p:nvPr/>
        </p:nvGrpSpPr>
        <p:grpSpPr>
          <a:xfrm>
            <a:off x="3397295" y="4150780"/>
            <a:ext cx="2480356" cy="485918"/>
            <a:chOff x="2782599" y="1459401"/>
            <a:chExt cx="1870251" cy="276935"/>
          </a:xfrm>
          <a:solidFill>
            <a:schemeClr val="accent1"/>
          </a:solidFill>
        </p:grpSpPr>
        <p:sp>
          <p:nvSpPr>
            <p:cNvPr id="34" name="AutoShape 5"/>
            <p:cNvSpPr>
              <a:spLocks noChangeArrowheads="1"/>
            </p:cNvSpPr>
            <p:nvPr/>
          </p:nvSpPr>
          <p:spPr bwMode="auto">
            <a:xfrm>
              <a:off x="2782599" y="1459401"/>
              <a:ext cx="1870251" cy="276935"/>
            </a:xfrm>
            <a:prstGeom prst="chevron">
              <a:avLst>
                <a:gd name="adj" fmla="val 12153"/>
              </a:avLst>
            </a:prstGeom>
          </p:spPr>
          <p:style>
            <a:lnRef idx="1">
              <a:schemeClr val="accent2"/>
            </a:lnRef>
            <a:fillRef idx="3">
              <a:schemeClr val="accent2"/>
            </a:fillRef>
            <a:effectRef idx="2">
              <a:schemeClr val="accent2"/>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微软雅黑" panose="020B0503020204020204" pitchFamily="34" charset="-122"/>
                <a:ea typeface="微软雅黑" panose="020B0503020204020204" pitchFamily="34" charset="-122"/>
              </a:endParaRPr>
            </a:p>
          </p:txBody>
        </p:sp>
        <p:sp>
          <p:nvSpPr>
            <p:cNvPr id="35" name="Text Box 6"/>
            <p:cNvSpPr txBox="1">
              <a:spLocks noChangeArrowheads="1"/>
            </p:cNvSpPr>
            <p:nvPr/>
          </p:nvSpPr>
          <p:spPr bwMode="auto">
            <a:xfrm>
              <a:off x="2997593" y="1507535"/>
              <a:ext cx="1491634" cy="183845"/>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algn="ctr" fontAlgn="base"/>
              <a:r>
                <a:rPr lang="zh-CN" altLang="en-US" sz="21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内置函数</a:t>
              </a:r>
              <a:endParaRPr lang="zh-CN" altLang="zh-CN" sz="2100" b="1" strike="noStrike" kern="0" noProof="1">
                <a:solidFill>
                  <a:srgbClr val="404040"/>
                </a:solidFill>
                <a:latin typeface="微软雅黑" panose="020B0503020204020204" pitchFamily="34" charset="-122"/>
                <a:ea typeface="微软雅黑" panose="020B0503020204020204" pitchFamily="34" charset="-122"/>
                <a:sym typeface="+mn-ea"/>
              </a:endParaRPr>
            </a:p>
          </p:txBody>
        </p:sp>
      </p:grpSp>
      <p:grpSp>
        <p:nvGrpSpPr>
          <p:cNvPr id="36" name="组合 35"/>
          <p:cNvGrpSpPr/>
          <p:nvPr/>
        </p:nvGrpSpPr>
        <p:grpSpPr>
          <a:xfrm>
            <a:off x="715144" y="4150783"/>
            <a:ext cx="2477832" cy="485919"/>
            <a:chOff x="897128" y="1459399"/>
            <a:chExt cx="1868348" cy="276935"/>
          </a:xfrm>
          <a:solidFill>
            <a:schemeClr val="accent1"/>
          </a:solidFill>
        </p:grpSpPr>
        <p:sp>
          <p:nvSpPr>
            <p:cNvPr id="37" name="AutoShape 7"/>
            <p:cNvSpPr>
              <a:spLocks noChangeArrowheads="1"/>
            </p:cNvSpPr>
            <p:nvPr/>
          </p:nvSpPr>
          <p:spPr bwMode="auto">
            <a:xfrm>
              <a:off x="897128" y="1459399"/>
              <a:ext cx="1868348" cy="276935"/>
            </a:xfrm>
            <a:prstGeom prst="homePlate">
              <a:avLst>
                <a:gd name="adj" fmla="val 11944"/>
              </a:avLst>
            </a:prstGeom>
          </p:spPr>
          <p:style>
            <a:lnRef idx="1">
              <a:schemeClr val="accent1"/>
            </a:lnRef>
            <a:fillRef idx="3">
              <a:schemeClr val="accent1"/>
            </a:fillRef>
            <a:effectRef idx="2">
              <a:schemeClr val="accent1"/>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微软雅黑" panose="020B0503020204020204" pitchFamily="34" charset="-122"/>
                <a:ea typeface="微软雅黑" panose="020B0503020204020204" pitchFamily="34" charset="-122"/>
              </a:endParaRPr>
            </a:p>
          </p:txBody>
        </p:sp>
        <p:sp>
          <p:nvSpPr>
            <p:cNvPr id="38" name="Text Box 8"/>
            <p:cNvSpPr txBox="1">
              <a:spLocks noChangeArrowheads="1"/>
            </p:cNvSpPr>
            <p:nvPr/>
          </p:nvSpPr>
          <p:spPr bwMode="auto">
            <a:xfrm>
              <a:off x="978940" y="1507538"/>
              <a:ext cx="1649550" cy="183845"/>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algn="ctr" fontAlgn="base"/>
              <a:r>
                <a:rPr lang="zh-CN" altLang="en-US" sz="21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自定义函数</a:t>
              </a:r>
              <a:endParaRPr lang="zh-CN" altLang="zh-CN" sz="2100" b="1" strike="noStrike" kern="0" noProof="1">
                <a:solidFill>
                  <a:srgbClr val="404040"/>
                </a:solidFill>
                <a:latin typeface="微软雅黑" panose="020B0503020204020204" pitchFamily="34" charset="-122"/>
                <a:ea typeface="微软雅黑" panose="020B0503020204020204" pitchFamily="34" charset="-122"/>
                <a:sym typeface="+mn-ea"/>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linds(horizontal)">
                                      <p:cBhvr>
                                        <p:cTn id="28" dur="500"/>
                                        <p:tgtEl>
                                          <p:spTgt spid="15"/>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25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randombar(horizontal)">
                                      <p:cBhvr>
                                        <p:cTn id="40" dur="75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000" fill="hold">
                                          <p:stCondLst>
                                            <p:cond delay="0"/>
                                          </p:stCondLst>
                                        </p:cTn>
                                        <p:tgtEl>
                                          <p:spTgt spid="10"/>
                                        </p:tgtEl>
                                        <p:attrNameLst>
                                          <p:attrName>style.visibility</p:attrName>
                                        </p:attrNameLst>
                                      </p:cBhvr>
                                      <p:to>
                                        <p:strVal val="visible"/>
                                      </p:to>
                                    </p:set>
                                    <p:animEffect transition="in" filter="fade">
                                      <p:cBhvr>
                                        <p:cTn id="45" dur="1000"/>
                                        <p:tgtEl>
                                          <p:spTgt spid="10"/>
                                        </p:tgtEl>
                                      </p:cBhvr>
                                    </p:animEffect>
                                    <p:anim calcmode="lin" valueType="num">
                                      <p:cBhvr>
                                        <p:cTn id="46" dur="1000" fill="hold"/>
                                        <p:tgtEl>
                                          <p:spTgt spid="10"/>
                                        </p:tgtEl>
                                        <p:attrNameLst>
                                          <p:attrName>ppt_x</p:attrName>
                                        </p:attrNameLst>
                                      </p:cBhvr>
                                      <p:tavLst>
                                        <p:tav tm="0">
                                          <p:val>
                                            <p:strVal val="#ppt_x"/>
                                          </p:val>
                                        </p:tav>
                                        <p:tav tm="100000">
                                          <p:val>
                                            <p:strVal val="#ppt_x"/>
                                          </p:val>
                                        </p:tav>
                                      </p:tavLst>
                                    </p:anim>
                                    <p:anim calcmode="lin" valueType="num">
                                      <p:cBhvr>
                                        <p:cTn id="4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up)">
                                      <p:cBhvr>
                                        <p:cTn id="52" dur="500"/>
                                        <p:tgtEl>
                                          <p:spTgt spid="18"/>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500"/>
                                        <p:tgtEl>
                                          <p:spTgt spid="19"/>
                                        </p:tgtEl>
                                      </p:cBhvr>
                                    </p:animEffect>
                                  </p:childTnLst>
                                </p:cTn>
                              </p:par>
                            </p:childTnLst>
                          </p:cTn>
                        </p:par>
                        <p:par>
                          <p:cTn id="57" fill="hold">
                            <p:stCondLst>
                              <p:cond delay="1000"/>
                            </p:stCondLst>
                            <p:childTnLst>
                              <p:par>
                                <p:cTn id="58" presetID="22" presetClass="entr" presetSubtype="8" fill="hold" nodeType="after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wipe(left)">
                                      <p:cBhvr>
                                        <p:cTn id="60" dur="500"/>
                                        <p:tgtEl>
                                          <p:spTgt spid="36"/>
                                        </p:tgtEl>
                                      </p:cBhvr>
                                    </p:animEffect>
                                  </p:childTnLst>
                                </p:cTn>
                              </p:par>
                            </p:childTnLst>
                          </p:cTn>
                        </p:par>
                        <p:par>
                          <p:cTn id="61" fill="hold">
                            <p:stCondLst>
                              <p:cond delay="1500"/>
                            </p:stCondLst>
                            <p:childTnLst>
                              <p:par>
                                <p:cTn id="62" presetID="22" presetClass="entr" presetSubtype="8" fill="hold" nodeType="afterEffect">
                                  <p:stCondLst>
                                    <p:cond delay="0"/>
                                  </p:stCondLst>
                                  <p:childTnLst>
                                    <p:set>
                                      <p:cBhvr>
                                        <p:cTn id="63" dur="500" fill="hold">
                                          <p:stCondLst>
                                            <p:cond delay="0"/>
                                          </p:stCondLst>
                                        </p:cTn>
                                        <p:tgtEl>
                                          <p:spTgt spid="33"/>
                                        </p:tgtEl>
                                        <p:attrNameLst>
                                          <p:attrName>style.visibility</p:attrName>
                                        </p:attrNameLst>
                                      </p:cBhvr>
                                      <p:to>
                                        <p:strVal val="visible"/>
                                      </p:to>
                                    </p:set>
                                    <p:animEffect transition="in" filter="wipe(left)">
                                      <p:cBhvr>
                                        <p:cTn id="6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6" grpId="0"/>
      <p:bldP spid="11" grpId="0"/>
      <p:bldP spid="3" grpId="0" bldLvl="0" animBg="1"/>
      <p:bldP spid="14" grpId="0"/>
      <p:bldP spid="7" grpId="0"/>
      <p:bldP spid="10" grpId="0"/>
      <p:bldP spid="12" grpId="0"/>
      <p:bldP spid="15" grpId="0" bldLvl="0" animBg="1"/>
      <p:bldP spid="18" grpId="0" bldLvl="0" animBg="1"/>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标题 1"/>
          <p:cNvSpPr>
            <a:spLocks noGrp="1"/>
          </p:cNvSpPr>
          <p:nvPr>
            <p:ph type="title"/>
          </p:nvPr>
        </p:nvSpPr>
        <p:spPr>
          <a:xfrm>
            <a:off x="2195513" y="141288"/>
            <a:ext cx="6769100" cy="368300"/>
          </a:xfrm>
          <a:ln>
            <a:noFill/>
          </a:ln>
        </p:spPr>
        <p:txBody>
          <a:bodyPr wrap="square" anchor="t">
            <a:spAutoFit/>
          </a:bodyPr>
          <a:lstStyle/>
          <a:p>
            <a:pPr algn="r"/>
            <a:r>
              <a:rPr lang="zh-CN" altLang="en-US" dirty="0">
                <a:sym typeface="Browallia New" charset="0"/>
              </a:rPr>
              <a:t>什么是函数</a:t>
            </a:r>
            <a:endParaRPr lang="zh-CN" altLang="en-US" dirty="0">
              <a:sym typeface="Browallia New" charset="0"/>
            </a:endParaRPr>
          </a:p>
        </p:txBody>
      </p:sp>
      <p:sp>
        <p:nvSpPr>
          <p:cNvPr id="2" name="椭圆 1"/>
          <p:cNvSpPr/>
          <p:nvPr/>
        </p:nvSpPr>
        <p:spPr>
          <a:xfrm>
            <a:off x="473075" y="1835150"/>
            <a:ext cx="1494155" cy="124714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000" b="1">
                <a:solidFill>
                  <a:schemeClr val="accent1"/>
                </a:solidFill>
                <a:latin typeface="微软雅黑" panose="020B0503020204020204" pitchFamily="34" charset="-122"/>
                <a:ea typeface="微软雅黑" panose="020B0503020204020204" pitchFamily="34" charset="-122"/>
                <a:sym typeface="+mn-ea"/>
              </a:rPr>
              <a:t>自定义函数</a:t>
            </a:r>
            <a:endParaRPr lang="zh-CN" altLang="en-US" sz="2000" b="1" strike="noStrike" noProof="1">
              <a:solidFill>
                <a:schemeClr val="accent1"/>
              </a:solidFill>
              <a:latin typeface="微软雅黑" panose="020B0503020204020204" pitchFamily="34" charset="-122"/>
              <a:ea typeface="微软雅黑" panose="020B0503020204020204" pitchFamily="34" charset="-122"/>
            </a:endParaRPr>
          </a:p>
        </p:txBody>
      </p:sp>
      <p:sp>
        <p:nvSpPr>
          <p:cNvPr id="16" name="Text Box 14"/>
          <p:cNvSpPr txBox="1"/>
          <p:nvPr/>
        </p:nvSpPr>
        <p:spPr>
          <a:xfrm>
            <a:off x="258128" y="1492250"/>
            <a:ext cx="185737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被定义项</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1" name="Text Box 8"/>
          <p:cNvSpPr txBox="1"/>
          <p:nvPr/>
        </p:nvSpPr>
        <p:spPr>
          <a:xfrm>
            <a:off x="1866265" y="1492250"/>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临近的属</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3" name="椭圆 2"/>
          <p:cNvSpPr/>
          <p:nvPr/>
        </p:nvSpPr>
        <p:spPr>
          <a:xfrm>
            <a:off x="2342515" y="1859915"/>
            <a:ext cx="1323975" cy="1223010"/>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000" b="1" strike="noStrike" noProof="1">
                <a:solidFill>
                  <a:schemeClr val="accent1"/>
                </a:solidFill>
                <a:latin typeface="微软雅黑" panose="020B0503020204020204" pitchFamily="34" charset="-122"/>
                <a:ea typeface="微软雅黑" panose="020B0503020204020204" pitchFamily="34" charset="-122"/>
              </a:rPr>
              <a:t>函数</a:t>
            </a:r>
            <a:endParaRPr lang="zh-CN" altLang="en-US" sz="2000" b="1" strike="noStrike" noProof="1">
              <a:solidFill>
                <a:schemeClr val="accent1"/>
              </a:solidFill>
              <a:latin typeface="微软雅黑" panose="020B0503020204020204" pitchFamily="34" charset="-122"/>
              <a:ea typeface="微软雅黑" panose="020B0503020204020204" pitchFamily="34" charset="-122"/>
            </a:endParaRPr>
          </a:p>
        </p:txBody>
      </p:sp>
      <p:sp>
        <p:nvSpPr>
          <p:cNvPr id="14" name="Text Box 12"/>
          <p:cNvSpPr txBox="1"/>
          <p:nvPr/>
        </p:nvSpPr>
        <p:spPr>
          <a:xfrm>
            <a:off x="5920740" y="1492250"/>
            <a:ext cx="1771650"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种差（内涵</a:t>
            </a:r>
            <a:r>
              <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4" name="组合 3"/>
          <p:cNvGrpSpPr/>
          <p:nvPr/>
        </p:nvGrpSpPr>
        <p:grpSpPr>
          <a:xfrm>
            <a:off x="5898515" y="1983740"/>
            <a:ext cx="2870835" cy="932815"/>
            <a:chOff x="4304043" y="1286668"/>
            <a:chExt cx="3837944" cy="2757793"/>
          </a:xfrm>
          <a:effectLst>
            <a:outerShdw blurRad="381000" dist="254000" dir="8100000" algn="tr" rotWithShape="0">
              <a:prstClr val="black">
                <a:alpha val="40000"/>
              </a:prstClr>
            </a:outerShdw>
          </a:effectLst>
        </p:grpSpPr>
        <p:sp>
          <p:nvSpPr>
            <p:cNvPr id="5" name="圆角矩形 4"/>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latin typeface="微软雅黑" panose="020B0503020204020204" pitchFamily="34" charset="-122"/>
                <a:ea typeface="微软雅黑" panose="020B0503020204020204" pitchFamily="34" charset="-122"/>
              </a:endParaRPr>
            </a:p>
          </p:txBody>
        </p:sp>
        <p:sp>
          <p:nvSpPr>
            <p:cNvPr id="6" name="圆角矩形 5"/>
            <p:cNvSpPr/>
            <p:nvPr/>
          </p:nvSpPr>
          <p:spPr>
            <a:xfrm>
              <a:off x="4351931" y="1367703"/>
              <a:ext cx="3742172" cy="25957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latin typeface="微软雅黑" panose="020B0503020204020204" pitchFamily="34" charset="-122"/>
                <a:ea typeface="微软雅黑" panose="020B0503020204020204" pitchFamily="34" charset="-122"/>
              </a:endParaRPr>
            </a:p>
          </p:txBody>
        </p:sp>
      </p:grpSp>
      <p:sp>
        <p:nvSpPr>
          <p:cNvPr id="7" name="TextBox 22"/>
          <p:cNvSpPr txBox="1"/>
          <p:nvPr/>
        </p:nvSpPr>
        <p:spPr>
          <a:xfrm>
            <a:off x="6153150" y="2245360"/>
            <a:ext cx="2277745" cy="680085"/>
          </a:xfrm>
          <a:prstGeom prst="rect">
            <a:avLst/>
          </a:prstGeom>
          <a:noFill/>
          <a:ln w="9525">
            <a:noFill/>
          </a:ln>
        </p:spPr>
        <p:txBody>
          <a:bodyPr wrap="square" lIns="91405" tIns="45702" rIns="91405" bIns="45702" anchor="t">
            <a:spAutoFit/>
          </a:bodyPr>
          <a:lstStyle/>
          <a:p>
            <a:pPr algn="l">
              <a:lnSpc>
                <a:spcPct val="120000"/>
              </a:lnSpc>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Calibri" panose="020F0502020204030204" pitchFamily="34" charset="0"/>
              </a:rPr>
              <a:t>1.</a:t>
            </a: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rPr>
              <a:t>开发人员自己定义</a:t>
            </a: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mn-ea"/>
            </a:endParaRPr>
          </a:p>
          <a:p>
            <a:pPr algn="l">
              <a:lnSpc>
                <a:spcPct val="120000"/>
              </a:lnSpc>
            </a:pPr>
            <a:endPar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sym typeface="Calibri" panose="020F0502020204030204" pitchFamily="34" charset="0"/>
            </a:endParaRPr>
          </a:p>
        </p:txBody>
      </p:sp>
      <p:sp>
        <p:nvSpPr>
          <p:cNvPr id="10" name="文本框 9"/>
          <p:cNvSpPr txBox="1"/>
          <p:nvPr/>
        </p:nvSpPr>
        <p:spPr>
          <a:xfrm>
            <a:off x="2409825" y="3211520"/>
            <a:ext cx="4591685" cy="368300"/>
          </a:xfrm>
          <a:prstGeom prst="rect">
            <a:avLst/>
          </a:prstGeom>
          <a:noFill/>
        </p:spPr>
        <p:txBody>
          <a:bodyPr wrap="none" rtlCol="0">
            <a:spAutoFit/>
          </a:bodyPr>
          <a:lstStyle/>
          <a:p>
            <a:pPr algn="l"/>
            <a:r>
              <a:rPr lang="zh-CN" altLang="en-US" b="1" noProof="1">
                <a:latin typeface="微软雅黑" panose="020B0503020204020204" pitchFamily="34" charset="-122"/>
                <a:ea typeface="微软雅黑" panose="020B0503020204020204" pitchFamily="34" charset="-122"/>
                <a:cs typeface="微软雅黑" panose="020B0503020204020204" pitchFamily="34" charset="-122"/>
              </a:rPr>
              <a:t>定义:自定义函数</a:t>
            </a:r>
            <a:r>
              <a:rPr lang="zh-CN" altLang="en-US" b="1">
                <a:latin typeface="微软雅黑" panose="020B0503020204020204" pitchFamily="34" charset="-122"/>
                <a:ea typeface="微软雅黑" panose="020B0503020204020204" pitchFamily="34" charset="-122"/>
                <a:cs typeface="微软雅黑" panose="020B0503020204020204" pitchFamily="34" charset="-122"/>
                <a:sym typeface="+mn-ea"/>
              </a:rPr>
              <a:t>是开发人员自己定义的函数</a:t>
            </a:r>
            <a:endParaRPr lang="zh-CN" altLang="en-US" b="1" noProof="1">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Text Box 8"/>
          <p:cNvSpPr txBox="1"/>
          <p:nvPr/>
        </p:nvSpPr>
        <p:spPr>
          <a:xfrm>
            <a:off x="3667125" y="1492250"/>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同属的其它种</a:t>
            </a:r>
            <a:endParaRPr lang="zh-CN" altLang="en-US" dirty="0">
              <a:solidFill>
                <a:srgbClr val="FF0000"/>
              </a:solidFill>
              <a:latin typeface="微软雅黑" panose="020B0503020204020204" pitchFamily="34" charset="-122"/>
              <a:ea typeface="微软雅黑" panose="020B0503020204020204" pitchFamily="34" charset="-122"/>
            </a:endParaRPr>
          </a:p>
        </p:txBody>
      </p:sp>
      <p:sp>
        <p:nvSpPr>
          <p:cNvPr id="15" name="椭圆 14"/>
          <p:cNvSpPr/>
          <p:nvPr/>
        </p:nvSpPr>
        <p:spPr>
          <a:xfrm>
            <a:off x="4045585" y="1860550"/>
            <a:ext cx="1283970" cy="1222375"/>
          </a:xfrm>
          <a:prstGeom prst="ellipse">
            <a:avLst/>
          </a:prstGeom>
          <a:gradFill>
            <a:gsLst>
              <a:gs pos="0">
                <a:schemeClr val="bg1"/>
              </a:gs>
              <a:gs pos="51000">
                <a:schemeClr val="bg1">
                  <a:lumMod val="95000"/>
                </a:schemeClr>
              </a:gs>
              <a:gs pos="100000">
                <a:schemeClr val="bg1">
                  <a:lumMod val="75000"/>
                </a:schemeClr>
              </a:gs>
            </a:gsLst>
            <a:lin ang="189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r>
              <a:rPr lang="zh-CN" altLang="en-US" sz="2000" b="1" strike="noStrike" noProof="1">
                <a:solidFill>
                  <a:schemeClr val="accent1"/>
                </a:solidFill>
                <a:latin typeface="微软雅黑" panose="020B0503020204020204" pitchFamily="34" charset="-122"/>
                <a:ea typeface="微软雅黑" panose="020B0503020204020204" pitchFamily="34" charset="-122"/>
              </a:rPr>
              <a:t>内置  函数</a:t>
            </a:r>
            <a:endParaRPr lang="zh-CN" altLang="en-US" sz="2000" b="1" strike="noStrike" noProof="1">
              <a:solidFill>
                <a:schemeClr val="accent1"/>
              </a:solidFill>
              <a:latin typeface="微软雅黑" panose="020B0503020204020204" pitchFamily="34" charset="-122"/>
              <a:ea typeface="微软雅黑" panose="020B0503020204020204" pitchFamily="34" charset="-122"/>
            </a:endParaRPr>
          </a:p>
        </p:txBody>
      </p:sp>
      <p:sp>
        <p:nvSpPr>
          <p:cNvPr id="18" name="AutoShape 7"/>
          <p:cNvSpPr/>
          <p:nvPr/>
        </p:nvSpPr>
        <p:spPr>
          <a:xfrm flipH="1">
            <a:off x="1080453" y="3154680"/>
            <a:ext cx="215900" cy="576263"/>
          </a:xfrm>
          <a:prstGeom prst="downArrow">
            <a:avLst>
              <a:gd name="adj1" fmla="val 50000"/>
              <a:gd name="adj2" fmla="val 66468"/>
            </a:avLst>
          </a:prstGeom>
          <a:solidFill>
            <a:schemeClr val="accent1"/>
          </a:solidFill>
          <a:ln w="9525" cap="flat" cmpd="sng">
            <a:solidFill>
              <a:schemeClr val="tx1"/>
            </a:solidFill>
            <a:prstDash val="solid"/>
            <a:miter/>
            <a:headEnd type="none" w="med" len="med"/>
            <a:tailEnd type="none" w="med" len="med"/>
          </a:ln>
        </p:spPr>
        <p:txBody>
          <a:bodyPr vert="eaVert" anchor="ctr"/>
          <a:lstStyle/>
          <a:p>
            <a:pPr algn="ctr"/>
            <a:endParaRPr lang="zh-CN" altLang="en-US">
              <a:latin typeface="微软雅黑" panose="020B0503020204020204" pitchFamily="34" charset="-122"/>
              <a:ea typeface="微软雅黑" panose="020B0503020204020204" pitchFamily="34" charset="-122"/>
            </a:endParaRPr>
          </a:p>
        </p:txBody>
      </p:sp>
      <p:sp>
        <p:nvSpPr>
          <p:cNvPr id="19" name="Text Box 8"/>
          <p:cNvSpPr txBox="1"/>
          <p:nvPr/>
        </p:nvSpPr>
        <p:spPr>
          <a:xfrm>
            <a:off x="584590" y="3363130"/>
            <a:ext cx="2041525" cy="368300"/>
          </a:xfrm>
          <a:prstGeom prst="rect">
            <a:avLst/>
          </a:prstGeom>
          <a:noFill/>
          <a:ln w="9525">
            <a:noFill/>
          </a:ln>
        </p:spPr>
        <p:txBody>
          <a:bodyPr wrap="square" anchor="t">
            <a:spAutoFit/>
          </a:bodyPr>
          <a:lstStyle/>
          <a:p>
            <a:pPr algn="ctr"/>
            <a:r>
              <a:rPr lang="zh-CN" altLang="en-US" dirty="0">
                <a:solidFill>
                  <a:srgbClr val="FF0000"/>
                </a:solidFill>
                <a:latin typeface="微软雅黑" panose="020B0503020204020204" pitchFamily="34" charset="-122"/>
                <a:ea typeface="微软雅黑" panose="020B0503020204020204" pitchFamily="34" charset="-122"/>
              </a:rPr>
              <a:t>外延</a:t>
            </a:r>
            <a:endParaRPr lang="zh-CN" altLang="en-US" dirty="0">
              <a:solidFill>
                <a:srgbClr val="FF0000"/>
              </a:solidFill>
              <a:latin typeface="微软雅黑" panose="020B0503020204020204" pitchFamily="34" charset="-122"/>
              <a:ea typeface="微软雅黑" panose="020B0503020204020204" pitchFamily="34" charset="-122"/>
            </a:endParaRPr>
          </a:p>
        </p:txBody>
      </p:sp>
      <p:grpSp>
        <p:nvGrpSpPr>
          <p:cNvPr id="33" name="组合 32"/>
          <p:cNvGrpSpPr/>
          <p:nvPr/>
        </p:nvGrpSpPr>
        <p:grpSpPr>
          <a:xfrm>
            <a:off x="3634740" y="3834765"/>
            <a:ext cx="1959610" cy="409575"/>
            <a:chOff x="2782599" y="1459401"/>
            <a:chExt cx="1870251" cy="276935"/>
          </a:xfrm>
          <a:solidFill>
            <a:schemeClr val="accent1"/>
          </a:solidFill>
        </p:grpSpPr>
        <p:sp>
          <p:nvSpPr>
            <p:cNvPr id="34" name="AutoShape 5"/>
            <p:cNvSpPr>
              <a:spLocks noChangeArrowheads="1"/>
            </p:cNvSpPr>
            <p:nvPr/>
          </p:nvSpPr>
          <p:spPr bwMode="auto">
            <a:xfrm>
              <a:off x="2782599" y="1459401"/>
              <a:ext cx="1870251" cy="276935"/>
            </a:xfrm>
            <a:prstGeom prst="chevron">
              <a:avLst>
                <a:gd name="adj" fmla="val 12153"/>
              </a:avLst>
            </a:prstGeom>
          </p:spPr>
          <p:style>
            <a:lnRef idx="1">
              <a:schemeClr val="accent2"/>
            </a:lnRef>
            <a:fillRef idx="3">
              <a:schemeClr val="accent2"/>
            </a:fillRef>
            <a:effectRef idx="2">
              <a:schemeClr val="accent2"/>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微软雅黑" panose="020B0503020204020204" pitchFamily="34" charset="-122"/>
                <a:ea typeface="微软雅黑" panose="020B0503020204020204" pitchFamily="34" charset="-122"/>
              </a:endParaRPr>
            </a:p>
          </p:txBody>
        </p:sp>
        <p:sp>
          <p:nvSpPr>
            <p:cNvPr id="35" name="Text Box 6"/>
            <p:cNvSpPr txBox="1">
              <a:spLocks noChangeArrowheads="1"/>
            </p:cNvSpPr>
            <p:nvPr/>
          </p:nvSpPr>
          <p:spPr bwMode="auto">
            <a:xfrm>
              <a:off x="2997593" y="1490400"/>
              <a:ext cx="1491634" cy="218113"/>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algn="ctr" fontAlgn="base"/>
              <a:r>
                <a:rPr lang="zh-CN" altLang="zh-CN" sz="2100" dirty="0">
                  <a:solidFill>
                    <a:srgbClr val="404040"/>
                  </a:solidFill>
                  <a:latin typeface="微软雅黑" panose="020B0503020204020204" pitchFamily="34" charset="-122"/>
                  <a:ea typeface="微软雅黑" panose="020B0503020204020204" pitchFamily="34" charset="-122"/>
                  <a:sym typeface="+mn-ea"/>
                </a:rPr>
                <a:t>装饰器函数</a:t>
              </a:r>
              <a:endParaRPr lang="zh-CN" altLang="zh-CN" sz="2100" b="1" strike="noStrike" kern="0" noProof="1">
                <a:solidFill>
                  <a:srgbClr val="404040"/>
                </a:solidFill>
                <a:latin typeface="微软雅黑" panose="020B0503020204020204" pitchFamily="34" charset="-122"/>
                <a:ea typeface="微软雅黑" panose="020B0503020204020204" pitchFamily="34" charset="-122"/>
                <a:sym typeface="+mn-ea"/>
              </a:endParaRPr>
            </a:p>
          </p:txBody>
        </p:sp>
      </p:grpSp>
      <p:grpSp>
        <p:nvGrpSpPr>
          <p:cNvPr id="36" name="组合 35"/>
          <p:cNvGrpSpPr/>
          <p:nvPr/>
        </p:nvGrpSpPr>
        <p:grpSpPr>
          <a:xfrm>
            <a:off x="1134110" y="3834765"/>
            <a:ext cx="1958975" cy="409575"/>
            <a:chOff x="897128" y="1459399"/>
            <a:chExt cx="1868348" cy="276935"/>
          </a:xfrm>
          <a:solidFill>
            <a:schemeClr val="accent1"/>
          </a:solidFill>
        </p:grpSpPr>
        <p:sp>
          <p:nvSpPr>
            <p:cNvPr id="37" name="AutoShape 7"/>
            <p:cNvSpPr>
              <a:spLocks noChangeArrowheads="1"/>
            </p:cNvSpPr>
            <p:nvPr/>
          </p:nvSpPr>
          <p:spPr bwMode="auto">
            <a:xfrm>
              <a:off x="897128" y="1459399"/>
              <a:ext cx="1868348" cy="276935"/>
            </a:xfrm>
            <a:prstGeom prst="homePlate">
              <a:avLst>
                <a:gd name="adj" fmla="val 11944"/>
              </a:avLst>
            </a:prstGeom>
          </p:spPr>
          <p:style>
            <a:lnRef idx="1">
              <a:schemeClr val="accent1"/>
            </a:lnRef>
            <a:fillRef idx="3">
              <a:schemeClr val="accent1"/>
            </a:fillRef>
            <a:effectRef idx="2">
              <a:schemeClr val="accent1"/>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微软雅黑" panose="020B0503020204020204" pitchFamily="34" charset="-122"/>
                <a:ea typeface="微软雅黑" panose="020B0503020204020204" pitchFamily="34" charset="-122"/>
              </a:endParaRPr>
            </a:p>
          </p:txBody>
        </p:sp>
        <p:sp>
          <p:nvSpPr>
            <p:cNvPr id="38" name="Text Box 8"/>
            <p:cNvSpPr txBox="1">
              <a:spLocks noChangeArrowheads="1"/>
            </p:cNvSpPr>
            <p:nvPr/>
          </p:nvSpPr>
          <p:spPr bwMode="auto">
            <a:xfrm>
              <a:off x="978940" y="1490401"/>
              <a:ext cx="1649550" cy="218113"/>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algn="ctr" fontAlgn="base"/>
              <a:r>
                <a:rPr lang="zh-CN" altLang="zh-CN" sz="2100" b="1" strike="noStrike" kern="0" noProof="1">
                  <a:solidFill>
                    <a:srgbClr val="404040"/>
                  </a:solidFill>
                  <a:latin typeface="微软雅黑" panose="020B0503020204020204" pitchFamily="34" charset="-122"/>
                  <a:ea typeface="微软雅黑" panose="020B0503020204020204" pitchFamily="34" charset="-122"/>
                  <a:sym typeface="+mn-ea"/>
                </a:rPr>
                <a:t>普通函数</a:t>
              </a:r>
              <a:endParaRPr lang="zh-CN" altLang="zh-CN" sz="2100" b="1" strike="noStrike" kern="0" noProof="1">
                <a:solidFill>
                  <a:srgbClr val="404040"/>
                </a:solidFill>
                <a:latin typeface="微软雅黑" panose="020B0503020204020204" pitchFamily="34" charset="-122"/>
                <a:ea typeface="微软雅黑" panose="020B0503020204020204" pitchFamily="34" charset="-122"/>
                <a:sym typeface="+mn-ea"/>
              </a:endParaRPr>
            </a:p>
          </p:txBody>
        </p:sp>
      </p:grpSp>
      <p:grpSp>
        <p:nvGrpSpPr>
          <p:cNvPr id="8" name="组合 7"/>
          <p:cNvGrpSpPr/>
          <p:nvPr/>
        </p:nvGrpSpPr>
        <p:grpSpPr>
          <a:xfrm>
            <a:off x="3640455" y="4343400"/>
            <a:ext cx="1909445" cy="384810"/>
            <a:chOff x="2782599" y="1459401"/>
            <a:chExt cx="1870251" cy="276935"/>
          </a:xfrm>
          <a:solidFill>
            <a:schemeClr val="accent1"/>
          </a:solidFill>
        </p:grpSpPr>
        <p:sp>
          <p:nvSpPr>
            <p:cNvPr id="9" name="AutoShape 5"/>
            <p:cNvSpPr>
              <a:spLocks noChangeArrowheads="1"/>
            </p:cNvSpPr>
            <p:nvPr/>
          </p:nvSpPr>
          <p:spPr bwMode="auto">
            <a:xfrm>
              <a:off x="2782599" y="1459401"/>
              <a:ext cx="1870251" cy="276935"/>
            </a:xfrm>
            <a:prstGeom prst="chevron">
              <a:avLst>
                <a:gd name="adj" fmla="val 12153"/>
              </a:avLst>
            </a:prstGeom>
          </p:spPr>
          <p:style>
            <a:lnRef idx="1">
              <a:schemeClr val="accent2"/>
            </a:lnRef>
            <a:fillRef idx="3">
              <a:schemeClr val="accent2"/>
            </a:fillRef>
            <a:effectRef idx="2">
              <a:schemeClr val="accent2"/>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微软雅黑" panose="020B0503020204020204" pitchFamily="34" charset="-122"/>
                <a:ea typeface="微软雅黑" panose="020B0503020204020204" pitchFamily="34" charset="-122"/>
              </a:endParaRPr>
            </a:p>
          </p:txBody>
        </p:sp>
        <p:sp>
          <p:nvSpPr>
            <p:cNvPr id="13" name="Text Box 6"/>
            <p:cNvSpPr txBox="1">
              <a:spLocks noChangeArrowheads="1"/>
            </p:cNvSpPr>
            <p:nvPr/>
          </p:nvSpPr>
          <p:spPr bwMode="auto">
            <a:xfrm>
              <a:off x="2997593" y="1483381"/>
              <a:ext cx="1491634" cy="232150"/>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algn="ctr" fontAlgn="base"/>
              <a:r>
                <a:rPr lang="zh-CN" altLang="zh-CN" sz="2100" dirty="0">
                  <a:solidFill>
                    <a:srgbClr val="404040"/>
                  </a:solidFill>
                  <a:latin typeface="微软雅黑" panose="020B0503020204020204" pitchFamily="34" charset="-122"/>
                  <a:ea typeface="微软雅黑" panose="020B0503020204020204" pitchFamily="34" charset="-122"/>
                  <a:sym typeface="+mn-ea"/>
                </a:rPr>
                <a:t>递归函数</a:t>
              </a:r>
              <a:endParaRPr lang="zh-CN" altLang="zh-CN" sz="2100" b="1" strike="noStrike" kern="0" noProof="1">
                <a:solidFill>
                  <a:srgbClr val="404040"/>
                </a:solidFill>
                <a:latin typeface="微软雅黑" panose="020B0503020204020204" pitchFamily="34" charset="-122"/>
                <a:ea typeface="微软雅黑" panose="020B0503020204020204" pitchFamily="34" charset="-122"/>
                <a:sym typeface="+mn-ea"/>
              </a:endParaRPr>
            </a:p>
          </p:txBody>
        </p:sp>
      </p:grpSp>
      <p:grpSp>
        <p:nvGrpSpPr>
          <p:cNvPr id="25" name="组合 24"/>
          <p:cNvGrpSpPr/>
          <p:nvPr/>
        </p:nvGrpSpPr>
        <p:grpSpPr>
          <a:xfrm>
            <a:off x="1134110" y="4400550"/>
            <a:ext cx="1976120" cy="384810"/>
            <a:chOff x="897128" y="1459399"/>
            <a:chExt cx="1868348" cy="276935"/>
          </a:xfrm>
          <a:solidFill>
            <a:schemeClr val="accent1"/>
          </a:solidFill>
        </p:grpSpPr>
        <p:sp>
          <p:nvSpPr>
            <p:cNvPr id="26" name="AutoShape 7"/>
            <p:cNvSpPr>
              <a:spLocks noChangeArrowheads="1"/>
            </p:cNvSpPr>
            <p:nvPr/>
          </p:nvSpPr>
          <p:spPr bwMode="auto">
            <a:xfrm>
              <a:off x="897128" y="1459399"/>
              <a:ext cx="1868348" cy="276935"/>
            </a:xfrm>
            <a:prstGeom prst="homePlate">
              <a:avLst>
                <a:gd name="adj" fmla="val 11944"/>
              </a:avLst>
            </a:prstGeom>
          </p:spPr>
          <p:style>
            <a:lnRef idx="1">
              <a:schemeClr val="accent1"/>
            </a:lnRef>
            <a:fillRef idx="3">
              <a:schemeClr val="accent1"/>
            </a:fillRef>
            <a:effectRef idx="2">
              <a:schemeClr val="accent1"/>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微软雅黑" panose="020B0503020204020204" pitchFamily="34" charset="-122"/>
                <a:ea typeface="微软雅黑" panose="020B0503020204020204" pitchFamily="34" charset="-122"/>
              </a:endParaRPr>
            </a:p>
          </p:txBody>
        </p:sp>
        <p:sp>
          <p:nvSpPr>
            <p:cNvPr id="27" name="Text Box 8"/>
            <p:cNvSpPr txBox="1">
              <a:spLocks noChangeArrowheads="1"/>
            </p:cNvSpPr>
            <p:nvPr/>
          </p:nvSpPr>
          <p:spPr bwMode="auto">
            <a:xfrm>
              <a:off x="978940" y="1483381"/>
              <a:ext cx="1649550" cy="232150"/>
            </a:xfrm>
            <a:prstGeom prst="rect">
              <a:avLst/>
            </a:prstGeom>
            <a:no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algn="ctr" fontAlgn="base"/>
              <a:r>
                <a:rPr lang="zh-CN" altLang="zh-CN" sz="2100" b="1" strike="noStrike" kern="0" noProof="1">
                  <a:solidFill>
                    <a:srgbClr val="404040"/>
                  </a:solidFill>
                  <a:latin typeface="微软雅黑" panose="020B0503020204020204" pitchFamily="34" charset="-122"/>
                  <a:ea typeface="微软雅黑" panose="020B0503020204020204" pitchFamily="34" charset="-122"/>
                  <a:sym typeface="+mn-ea"/>
                </a:rPr>
                <a:t>生成器函数</a:t>
              </a:r>
              <a:endParaRPr lang="zh-CN" altLang="zh-CN" sz="2100" b="1" strike="noStrike" kern="0" noProof="1">
                <a:solidFill>
                  <a:srgbClr val="404040"/>
                </a:solidFill>
                <a:latin typeface="微软雅黑" panose="020B0503020204020204" pitchFamily="34" charset="-122"/>
                <a:ea typeface="微软雅黑" panose="020B0503020204020204" pitchFamily="34" charset="-122"/>
                <a:sym typeface="+mn-ea"/>
              </a:endParaRPr>
            </a:p>
          </p:txBody>
        </p:sp>
      </p:grpSp>
      <p:grpSp>
        <p:nvGrpSpPr>
          <p:cNvPr id="28" name="组合 27"/>
          <p:cNvGrpSpPr/>
          <p:nvPr/>
        </p:nvGrpSpPr>
        <p:grpSpPr>
          <a:xfrm>
            <a:off x="5966460" y="4372610"/>
            <a:ext cx="1909445" cy="384810"/>
            <a:chOff x="2782599" y="1459401"/>
            <a:chExt cx="1870251" cy="276935"/>
          </a:xfrm>
          <a:solidFill>
            <a:schemeClr val="accent1"/>
          </a:solidFill>
        </p:grpSpPr>
        <p:sp>
          <p:nvSpPr>
            <p:cNvPr id="29" name="AutoShape 5"/>
            <p:cNvSpPr>
              <a:spLocks noChangeArrowheads="1"/>
            </p:cNvSpPr>
            <p:nvPr/>
          </p:nvSpPr>
          <p:spPr bwMode="auto">
            <a:xfrm>
              <a:off x="2782599" y="1459401"/>
              <a:ext cx="1870251" cy="276935"/>
            </a:xfrm>
            <a:prstGeom prst="chevron">
              <a:avLst>
                <a:gd name="adj" fmla="val 12153"/>
              </a:avLst>
            </a:prstGeom>
            <a:grpFill/>
            <a:ln>
              <a:noFill/>
            </a:ln>
          </p:spPr>
          <p:style>
            <a:lnRef idx="1">
              <a:schemeClr val="accent2"/>
            </a:lnRef>
            <a:fillRef idx="3">
              <a:schemeClr val="accent2"/>
            </a:fillRef>
            <a:effectRef idx="2">
              <a:schemeClr val="accent2"/>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微软雅黑" panose="020B0503020204020204" pitchFamily="34" charset="-122"/>
                <a:ea typeface="微软雅黑" panose="020B0503020204020204" pitchFamily="34" charset="-122"/>
              </a:endParaRPr>
            </a:p>
          </p:txBody>
        </p:sp>
        <p:sp>
          <p:nvSpPr>
            <p:cNvPr id="30" name="Text Box 6"/>
            <p:cNvSpPr txBox="1">
              <a:spLocks noChangeArrowheads="1"/>
            </p:cNvSpPr>
            <p:nvPr/>
          </p:nvSpPr>
          <p:spPr bwMode="auto">
            <a:xfrm>
              <a:off x="2997593" y="1483380"/>
              <a:ext cx="1491634" cy="232150"/>
            </a:xfrm>
            <a:prstGeom prst="rect">
              <a:avLst/>
            </a:prstGeom>
            <a:grp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algn="ctr" fontAlgn="base"/>
              <a:r>
                <a:rPr lang="zh-CN" altLang="zh-CN" sz="2100" b="1" strike="noStrike" kern="0" noProof="1">
                  <a:solidFill>
                    <a:srgbClr val="404040"/>
                  </a:solidFill>
                  <a:latin typeface="微软雅黑" panose="020B0503020204020204" pitchFamily="34" charset="-122"/>
                  <a:ea typeface="微软雅黑" panose="020B0503020204020204" pitchFamily="34" charset="-122"/>
                  <a:sym typeface="+mn-ea"/>
                </a:rPr>
                <a:t>匿名函数</a:t>
              </a:r>
              <a:endParaRPr lang="zh-CN" altLang="zh-CN" sz="2100" b="1" strike="noStrike" kern="0" noProof="1">
                <a:solidFill>
                  <a:srgbClr val="404040"/>
                </a:solidFill>
                <a:latin typeface="微软雅黑" panose="020B0503020204020204" pitchFamily="34" charset="-122"/>
                <a:ea typeface="微软雅黑" panose="020B0503020204020204" pitchFamily="34" charset="-122"/>
                <a:sym typeface="+mn-ea"/>
              </a:endParaRPr>
            </a:p>
          </p:txBody>
        </p:sp>
      </p:grpSp>
      <p:grpSp>
        <p:nvGrpSpPr>
          <p:cNvPr id="22" name="组合 21"/>
          <p:cNvGrpSpPr/>
          <p:nvPr/>
        </p:nvGrpSpPr>
        <p:grpSpPr>
          <a:xfrm>
            <a:off x="5966460" y="3847465"/>
            <a:ext cx="1909445" cy="384810"/>
            <a:chOff x="2782599" y="1459401"/>
            <a:chExt cx="1870251" cy="276935"/>
          </a:xfrm>
          <a:solidFill>
            <a:schemeClr val="accent1"/>
          </a:solidFill>
        </p:grpSpPr>
        <p:sp>
          <p:nvSpPr>
            <p:cNvPr id="23" name="AutoShape 5"/>
            <p:cNvSpPr>
              <a:spLocks noChangeArrowheads="1"/>
            </p:cNvSpPr>
            <p:nvPr/>
          </p:nvSpPr>
          <p:spPr bwMode="auto">
            <a:xfrm>
              <a:off x="2782599" y="1459401"/>
              <a:ext cx="1870251" cy="276935"/>
            </a:xfrm>
            <a:prstGeom prst="chevron">
              <a:avLst>
                <a:gd name="adj" fmla="val 12153"/>
              </a:avLst>
            </a:prstGeom>
            <a:grpFill/>
            <a:ln>
              <a:noFill/>
            </a:ln>
          </p:spPr>
          <p:style>
            <a:lnRef idx="1">
              <a:schemeClr val="accent2"/>
            </a:lnRef>
            <a:fillRef idx="3">
              <a:schemeClr val="accent2"/>
            </a:fillRef>
            <a:effectRef idx="2">
              <a:schemeClr val="accent2"/>
            </a:effectRef>
            <a:fontRef idx="minor">
              <a:schemeClr val="lt1"/>
            </a:fontRef>
          </p:style>
          <p:txBody>
            <a:bodyPr lIns="0" tIns="0" rIns="0" bIns="0" anchor="ctr">
              <a:spAutoFit/>
            </a:bodyPr>
            <a:lstStyle/>
            <a:p>
              <a:pPr fontAlgn="base">
                <a:defRPr/>
              </a:pPr>
              <a:endParaRPr lang="zh-CN" altLang="en-US" strike="noStrike" kern="0" noProof="1">
                <a:solidFill>
                  <a:sysClr val="windowText" lastClr="000000"/>
                </a:solidFill>
                <a:latin typeface="微软雅黑" panose="020B0503020204020204" pitchFamily="34" charset="-122"/>
                <a:ea typeface="微软雅黑" panose="020B0503020204020204" pitchFamily="34" charset="-122"/>
              </a:endParaRPr>
            </a:p>
          </p:txBody>
        </p:sp>
        <p:sp>
          <p:nvSpPr>
            <p:cNvPr id="24" name="Text Box 6"/>
            <p:cNvSpPr txBox="1">
              <a:spLocks noChangeArrowheads="1"/>
            </p:cNvSpPr>
            <p:nvPr/>
          </p:nvSpPr>
          <p:spPr bwMode="auto">
            <a:xfrm>
              <a:off x="2997593" y="1483381"/>
              <a:ext cx="1491634" cy="232150"/>
            </a:xfrm>
            <a:prstGeom prst="rect">
              <a:avLst/>
            </a:prstGeom>
            <a:grpFill/>
            <a:ln w="6350">
              <a:noFill/>
              <a:miter lim="800000"/>
            </a:ln>
          </p:spPr>
          <p:txBody>
            <a:bodyPr lIns="0" tIns="0" rIns="0" bIns="0" anchor="ctr">
              <a:spAutoFit/>
            </a:bodyPr>
            <a:lstStyle>
              <a:lvl1pPr eaLnBrk="0" hangingPunct="0">
                <a:defRPr kumimoji="1" sz="2000">
                  <a:solidFill>
                    <a:schemeClr val="tx1"/>
                  </a:solidFill>
                  <a:latin typeface="Times New Roman" panose="02020603050405020304" pitchFamily="18" charset="0"/>
                  <a:ea typeface="楷体_GB2312" pitchFamily="49" charset="-122"/>
                </a:defRPr>
              </a:lvl1pPr>
              <a:lvl2pPr marL="742950" indent="-285750" eaLnBrk="0" hangingPunct="0">
                <a:defRPr kumimoji="1" sz="2000">
                  <a:solidFill>
                    <a:schemeClr val="tx1"/>
                  </a:solidFill>
                  <a:latin typeface="Times New Roman" panose="02020603050405020304" pitchFamily="18" charset="0"/>
                  <a:ea typeface="楷体_GB2312" pitchFamily="49" charset="-122"/>
                </a:defRPr>
              </a:lvl2pPr>
              <a:lvl3pPr marL="1143000" indent="-228600" eaLnBrk="0" hangingPunct="0">
                <a:defRPr kumimoji="1" sz="2000">
                  <a:solidFill>
                    <a:schemeClr val="tx1"/>
                  </a:solidFill>
                  <a:latin typeface="Times New Roman" panose="02020603050405020304" pitchFamily="18" charset="0"/>
                  <a:ea typeface="楷体_GB2312" pitchFamily="49" charset="-122"/>
                </a:defRPr>
              </a:lvl3pPr>
              <a:lvl4pPr marL="1600200" indent="-228600" eaLnBrk="0" hangingPunct="0">
                <a:defRPr kumimoji="1" sz="2000">
                  <a:solidFill>
                    <a:schemeClr val="tx1"/>
                  </a:solidFill>
                  <a:latin typeface="Times New Roman" panose="02020603050405020304" pitchFamily="18" charset="0"/>
                  <a:ea typeface="楷体_GB2312" pitchFamily="49" charset="-122"/>
                </a:defRPr>
              </a:lvl4pPr>
              <a:lvl5pPr marL="2057400" indent="-228600" eaLnBrk="0" hangingPunct="0">
                <a:defRPr kumimoji="1" sz="2000">
                  <a:solidFill>
                    <a:schemeClr val="tx1"/>
                  </a:solidFill>
                  <a:latin typeface="Times New Roman" panose="02020603050405020304" pitchFamily="18" charset="0"/>
                  <a:ea typeface="楷体_GB2312" pitchFamily="49" charset="-122"/>
                </a:defRPr>
              </a:lvl5pPr>
              <a:lvl6pPr marL="25146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6pPr>
              <a:lvl7pPr marL="29718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7pPr>
              <a:lvl8pPr marL="34290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8pPr>
              <a:lvl9pPr marL="3886200" indent="-228600" algn="ctr" eaLnBrk="0" fontAlgn="base" hangingPunct="0">
                <a:spcBef>
                  <a:spcPct val="0"/>
                </a:spcBef>
                <a:spcAft>
                  <a:spcPct val="0"/>
                </a:spcAft>
                <a:defRPr kumimoji="1" sz="2000">
                  <a:solidFill>
                    <a:schemeClr val="tx1"/>
                  </a:solidFill>
                  <a:latin typeface="Times New Roman" panose="02020603050405020304" pitchFamily="18" charset="0"/>
                  <a:ea typeface="楷体_GB2312" pitchFamily="49" charset="-122"/>
                </a:defRPr>
              </a:lvl9pPr>
            </a:lstStyle>
            <a:p>
              <a:pPr algn="ctr" fontAlgn="base"/>
              <a:r>
                <a:rPr lang="zh-CN" altLang="zh-CN" sz="2100" b="1" kern="0" dirty="0">
                  <a:solidFill>
                    <a:srgbClr val="404040"/>
                  </a:solidFill>
                  <a:latin typeface="微软雅黑" panose="020B0503020204020204" pitchFamily="34" charset="-122"/>
                  <a:ea typeface="微软雅黑" panose="020B0503020204020204" pitchFamily="34" charset="-122"/>
                  <a:sym typeface="+mn-ea"/>
                </a:rPr>
                <a:t>闭包函数</a:t>
              </a:r>
              <a:endParaRPr lang="zh-CN" altLang="zh-CN" sz="2100" b="1" strike="noStrike" kern="0" noProof="1">
                <a:solidFill>
                  <a:srgbClr val="404040"/>
                </a:solidFill>
                <a:latin typeface="微软雅黑" panose="020B0503020204020204" pitchFamily="34" charset="-122"/>
                <a:ea typeface="微软雅黑" panose="020B0503020204020204" pitchFamily="34" charset="-122"/>
                <a:sym typeface="+mn-ea"/>
              </a:endParaRPr>
            </a:p>
          </p:txBody>
        </p:sp>
      </p:grpSp>
      <p:sp>
        <p:nvSpPr>
          <p:cNvPr id="17" name="文本框 16"/>
          <p:cNvSpPr txBox="1"/>
          <p:nvPr/>
        </p:nvSpPr>
        <p:spPr>
          <a:xfrm>
            <a:off x="230505" y="808990"/>
            <a:ext cx="1198880" cy="337185"/>
          </a:xfrm>
          <a:prstGeom prst="rect">
            <a:avLst/>
          </a:prstGeom>
          <a:noFill/>
        </p:spPr>
        <p:txBody>
          <a:bodyPr wrap="none" rtlCol="0" anchor="t">
            <a:spAutoFit/>
          </a:bodyPr>
          <a:lstStyle/>
          <a:p>
            <a:r>
              <a:rPr lang="zh-CN" altLang="en-US" sz="1600" b="1" dirty="0">
                <a:solidFill>
                  <a:srgbClr val="0070C0"/>
                </a:solidFill>
                <a:latin typeface="微软雅黑" panose="020B0503020204020204" pitchFamily="34" charset="-122"/>
                <a:ea typeface="微软雅黑" panose="020B0503020204020204" pitchFamily="34" charset="-122"/>
                <a:sym typeface="Browallia New" charset="0"/>
              </a:rPr>
              <a:t>自定义函数</a:t>
            </a:r>
            <a:endParaRPr lang="zh-CN" altLang="en-US" sz="1600" b="1" dirty="0">
              <a:solidFill>
                <a:srgbClr val="0070C0"/>
              </a:solidFill>
              <a:latin typeface="微软雅黑" panose="020B0503020204020204" pitchFamily="34" charset="-122"/>
              <a:ea typeface="微软雅黑" panose="020B0503020204020204" pitchFamily="34" charset="-122"/>
              <a:sym typeface="Browallia New" charset="0"/>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left)">
                                      <p:cBhvr>
                                        <p:cTn id="10" dur="500"/>
                                        <p:tgtEl>
                                          <p:spTgt spid="16"/>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blinds(horizontal)">
                                      <p:cBhvr>
                                        <p:cTn id="19" dur="500"/>
                                        <p:tgtEl>
                                          <p:spTgt spid="3"/>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blinds(horizontal)">
                                      <p:cBhvr>
                                        <p:cTn id="28" dur="500"/>
                                        <p:tgtEl>
                                          <p:spTgt spid="15"/>
                                        </p:tgtEl>
                                      </p:cBhvr>
                                    </p:animEffect>
                                  </p:childTnLst>
                                </p:cTn>
                              </p:par>
                            </p:childTnLst>
                          </p:cTn>
                        </p:par>
                        <p:par>
                          <p:cTn id="29" fill="hold">
                            <p:stCondLst>
                              <p:cond delay="500"/>
                            </p:stCondLst>
                            <p:childTnLst>
                              <p:par>
                                <p:cTn id="30" presetID="22" presetClass="entr" presetSubtype="8"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left)">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25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randombar(horizontal)">
                                      <p:cBhvr>
                                        <p:cTn id="40" dur="75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000" fill="hold">
                                          <p:stCondLst>
                                            <p:cond delay="0"/>
                                          </p:stCondLst>
                                        </p:cTn>
                                        <p:tgtEl>
                                          <p:spTgt spid="10"/>
                                        </p:tgtEl>
                                        <p:attrNameLst>
                                          <p:attrName>style.visibility</p:attrName>
                                        </p:attrNameLst>
                                      </p:cBhvr>
                                      <p:to>
                                        <p:strVal val="visible"/>
                                      </p:to>
                                    </p:set>
                                    <p:animEffect transition="in" filter="fade">
                                      <p:cBhvr>
                                        <p:cTn id="45" dur="1000"/>
                                        <p:tgtEl>
                                          <p:spTgt spid="10"/>
                                        </p:tgtEl>
                                      </p:cBhvr>
                                    </p:animEffect>
                                    <p:anim calcmode="lin" valueType="num">
                                      <p:cBhvr>
                                        <p:cTn id="46" dur="1000" fill="hold"/>
                                        <p:tgtEl>
                                          <p:spTgt spid="10"/>
                                        </p:tgtEl>
                                        <p:attrNameLst>
                                          <p:attrName>ppt_x</p:attrName>
                                        </p:attrNameLst>
                                      </p:cBhvr>
                                      <p:tavLst>
                                        <p:tav tm="0">
                                          <p:val>
                                            <p:strVal val="#ppt_x"/>
                                          </p:val>
                                        </p:tav>
                                        <p:tav tm="100000">
                                          <p:val>
                                            <p:strVal val="#ppt_x"/>
                                          </p:val>
                                        </p:tav>
                                      </p:tavLst>
                                    </p:anim>
                                    <p:anim calcmode="lin" valueType="num">
                                      <p:cBhvr>
                                        <p:cTn id="4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up)">
                                      <p:cBhvr>
                                        <p:cTn id="52" dur="500"/>
                                        <p:tgtEl>
                                          <p:spTgt spid="18"/>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left)">
                                      <p:cBhvr>
                                        <p:cTn id="56" dur="500"/>
                                        <p:tgtEl>
                                          <p:spTgt spid="19"/>
                                        </p:tgtEl>
                                      </p:cBhvr>
                                    </p:animEffect>
                                  </p:childTnLst>
                                </p:cTn>
                              </p:par>
                            </p:childTnLst>
                          </p:cTn>
                        </p:par>
                        <p:par>
                          <p:cTn id="57" fill="hold">
                            <p:stCondLst>
                              <p:cond delay="1000"/>
                            </p:stCondLst>
                            <p:childTnLst>
                              <p:par>
                                <p:cTn id="58" presetID="22" presetClass="entr" presetSubtype="8" fill="hold" nodeType="afterEffect">
                                  <p:stCondLst>
                                    <p:cond delay="0"/>
                                  </p:stCondLst>
                                  <p:childTnLst>
                                    <p:set>
                                      <p:cBhvr>
                                        <p:cTn id="59" dur="1" fill="hold">
                                          <p:stCondLst>
                                            <p:cond delay="0"/>
                                          </p:stCondLst>
                                        </p:cTn>
                                        <p:tgtEl>
                                          <p:spTgt spid="36"/>
                                        </p:tgtEl>
                                        <p:attrNameLst>
                                          <p:attrName>style.visibility</p:attrName>
                                        </p:attrNameLst>
                                      </p:cBhvr>
                                      <p:to>
                                        <p:strVal val="visible"/>
                                      </p:to>
                                    </p:set>
                                    <p:animEffect transition="in" filter="wipe(left)">
                                      <p:cBhvr>
                                        <p:cTn id="60" dur="500"/>
                                        <p:tgtEl>
                                          <p:spTgt spid="36"/>
                                        </p:tgtEl>
                                      </p:cBhvr>
                                    </p:animEffect>
                                  </p:childTnLst>
                                </p:cTn>
                              </p:par>
                            </p:childTnLst>
                          </p:cTn>
                        </p:par>
                        <p:par>
                          <p:cTn id="61" fill="hold">
                            <p:stCondLst>
                              <p:cond delay="1500"/>
                            </p:stCondLst>
                            <p:childTnLst>
                              <p:par>
                                <p:cTn id="62" presetID="22" presetClass="entr" presetSubtype="8" fill="hold" nodeType="after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wipe(left)">
                                      <p:cBhvr>
                                        <p:cTn id="64" dur="500"/>
                                        <p:tgtEl>
                                          <p:spTgt spid="33"/>
                                        </p:tgtEl>
                                      </p:cBhvr>
                                    </p:animEffect>
                                  </p:childTnLst>
                                </p:cTn>
                              </p:par>
                            </p:childTnLst>
                          </p:cTn>
                        </p:par>
                        <p:par>
                          <p:cTn id="65" fill="hold">
                            <p:stCondLst>
                              <p:cond delay="2000"/>
                            </p:stCondLst>
                            <p:childTnLst>
                              <p:par>
                                <p:cTn id="66" presetID="22" presetClass="entr" presetSubtype="8" fill="hold" nodeType="afterEffect">
                                  <p:stCondLst>
                                    <p:cond delay="0"/>
                                  </p:stCondLst>
                                  <p:childTnLst>
                                    <p:set>
                                      <p:cBhvr>
                                        <p:cTn id="67" dur="500" fill="hold">
                                          <p:stCondLst>
                                            <p:cond delay="0"/>
                                          </p:stCondLst>
                                        </p:cTn>
                                        <p:tgtEl>
                                          <p:spTgt spid="22"/>
                                        </p:tgtEl>
                                        <p:attrNameLst>
                                          <p:attrName>style.visibility</p:attrName>
                                        </p:attrNameLst>
                                      </p:cBhvr>
                                      <p:to>
                                        <p:strVal val="visible"/>
                                      </p:to>
                                    </p:set>
                                    <p:animEffect transition="in" filter="wipe(left)">
                                      <p:cBhvr>
                                        <p:cTn id="68" dur="500"/>
                                        <p:tgtEl>
                                          <p:spTgt spid="22"/>
                                        </p:tgtEl>
                                      </p:cBhvr>
                                    </p:animEffect>
                                  </p:childTnLst>
                                </p:cTn>
                              </p:par>
                            </p:childTnLst>
                          </p:cTn>
                        </p:par>
                        <p:par>
                          <p:cTn id="69" fill="hold">
                            <p:stCondLst>
                              <p:cond delay="2500"/>
                            </p:stCondLst>
                            <p:childTnLst>
                              <p:par>
                                <p:cTn id="70" presetID="22" presetClass="entr" presetSubtype="8" fill="hold" nodeType="afterEffect">
                                  <p:stCondLst>
                                    <p:cond delay="0"/>
                                  </p:stCondLst>
                                  <p:childTnLst>
                                    <p:set>
                                      <p:cBhvr>
                                        <p:cTn id="71" dur="500" fill="hold">
                                          <p:stCondLst>
                                            <p:cond delay="0"/>
                                          </p:stCondLst>
                                        </p:cTn>
                                        <p:tgtEl>
                                          <p:spTgt spid="25"/>
                                        </p:tgtEl>
                                        <p:attrNameLst>
                                          <p:attrName>style.visibility</p:attrName>
                                        </p:attrNameLst>
                                      </p:cBhvr>
                                      <p:to>
                                        <p:strVal val="visible"/>
                                      </p:to>
                                    </p:set>
                                    <p:animEffect transition="in" filter="wipe(left)">
                                      <p:cBhvr>
                                        <p:cTn id="72" dur="500"/>
                                        <p:tgtEl>
                                          <p:spTgt spid="25"/>
                                        </p:tgtEl>
                                      </p:cBhvr>
                                    </p:animEffect>
                                  </p:childTnLst>
                                </p:cTn>
                              </p:par>
                            </p:childTnLst>
                          </p:cTn>
                        </p:par>
                        <p:par>
                          <p:cTn id="73" fill="hold">
                            <p:stCondLst>
                              <p:cond delay="3000"/>
                            </p:stCondLst>
                            <p:childTnLst>
                              <p:par>
                                <p:cTn id="74" presetID="22" presetClass="entr" presetSubtype="8" fill="hold" nodeType="afterEffect">
                                  <p:stCondLst>
                                    <p:cond delay="0"/>
                                  </p:stCondLst>
                                  <p:childTnLst>
                                    <p:set>
                                      <p:cBhvr>
                                        <p:cTn id="75" dur="500" fill="hold">
                                          <p:stCondLst>
                                            <p:cond delay="0"/>
                                          </p:stCondLst>
                                        </p:cTn>
                                        <p:tgtEl>
                                          <p:spTgt spid="8"/>
                                        </p:tgtEl>
                                        <p:attrNameLst>
                                          <p:attrName>style.visibility</p:attrName>
                                        </p:attrNameLst>
                                      </p:cBhvr>
                                      <p:to>
                                        <p:strVal val="visible"/>
                                      </p:to>
                                    </p:set>
                                    <p:animEffect transition="in" filter="wipe(left)">
                                      <p:cBhvr>
                                        <p:cTn id="76" dur="500"/>
                                        <p:tgtEl>
                                          <p:spTgt spid="8"/>
                                        </p:tgtEl>
                                      </p:cBhvr>
                                    </p:animEffect>
                                  </p:childTnLst>
                                </p:cTn>
                              </p:par>
                            </p:childTnLst>
                          </p:cTn>
                        </p:par>
                        <p:par>
                          <p:cTn id="77" fill="hold">
                            <p:stCondLst>
                              <p:cond delay="3500"/>
                            </p:stCondLst>
                            <p:childTnLst>
                              <p:par>
                                <p:cTn id="78" presetID="22" presetClass="entr" presetSubtype="8" fill="hold" nodeType="afterEffect">
                                  <p:stCondLst>
                                    <p:cond delay="0"/>
                                  </p:stCondLst>
                                  <p:childTnLst>
                                    <p:set>
                                      <p:cBhvr>
                                        <p:cTn id="79" dur="500" fill="hold">
                                          <p:stCondLst>
                                            <p:cond delay="0"/>
                                          </p:stCondLst>
                                        </p:cTn>
                                        <p:tgtEl>
                                          <p:spTgt spid="28"/>
                                        </p:tgtEl>
                                        <p:attrNameLst>
                                          <p:attrName>style.visibility</p:attrName>
                                        </p:attrNameLst>
                                      </p:cBhvr>
                                      <p:to>
                                        <p:strVal val="visible"/>
                                      </p:to>
                                    </p:set>
                                    <p:animEffect transition="in" filter="wipe(left)">
                                      <p:cBhvr>
                                        <p:cTn id="8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16" grpId="0"/>
      <p:bldP spid="11" grpId="0"/>
      <p:bldP spid="3" grpId="0" bldLvl="0" animBg="1"/>
      <p:bldP spid="14" grpId="0"/>
      <p:bldP spid="7" grpId="0"/>
      <p:bldP spid="10" grpId="0"/>
      <p:bldP spid="12" grpId="0"/>
      <p:bldP spid="15" grpId="0" bldLvl="0" animBg="1"/>
      <p:bldP spid="18" grpId="0" bldLvl="0" animBg="1"/>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如何使用函数</a:t>
            </a:r>
            <a:endParaRPr lang="zh-CN" altLang="en-US" dirty="0"/>
          </a:p>
        </p:txBody>
      </p:sp>
      <p:sp>
        <p:nvSpPr>
          <p:cNvPr id="7" name="Rectangle 3"/>
          <p:cNvSpPr txBox="1">
            <a:spLocks noChangeArrowheads="1"/>
          </p:cNvSpPr>
          <p:nvPr/>
        </p:nvSpPr>
        <p:spPr bwMode="auto">
          <a:xfrm>
            <a:off x="-35560" y="833755"/>
            <a:ext cx="24384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自定义函数语法格式</a:t>
            </a:r>
            <a:endParaRPr lang="zh-CN" altLang="en-US" sz="1600" dirty="0"/>
          </a:p>
          <a:p>
            <a:pPr eaLnBrk="0" hangingPunct="0"/>
            <a:endParaRPr lang="zh-CN" altLang="en-US" sz="1600" dirty="0"/>
          </a:p>
          <a:p>
            <a:pPr eaLnBrk="0" hangingPunct="0"/>
            <a:endParaRPr lang="zh-CN" altLang="en-US" sz="1600" dirty="0"/>
          </a:p>
        </p:txBody>
      </p:sp>
      <p:sp>
        <p:nvSpPr>
          <p:cNvPr id="18" name="AutoShape 15"/>
          <p:cNvSpPr>
            <a:spLocks noChangeArrowheads="1"/>
          </p:cNvSpPr>
          <p:nvPr/>
        </p:nvSpPr>
        <p:spPr bwMode="auto">
          <a:xfrm>
            <a:off x="2437130" y="3774440"/>
            <a:ext cx="5037455" cy="898630"/>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函数关键字  函数名</a:t>
            </a:r>
            <a:r>
              <a:rPr lang="en-US" sz="2000" dirty="0">
                <a:solidFill>
                  <a:srgbClr val="09131F"/>
                </a:solidFill>
                <a:latin typeface="+mn-ea"/>
                <a:ea typeface="+mn-ea"/>
                <a:cs typeface="+mn-ea"/>
              </a:rPr>
              <a:t>(</a:t>
            </a:r>
            <a:r>
              <a:rPr lang="zh-CN" altLang="en-US" sz="2000" dirty="0">
                <a:solidFill>
                  <a:srgbClr val="09131F"/>
                </a:solidFill>
                <a:latin typeface="+mn-ea"/>
                <a:ea typeface="+mn-ea"/>
                <a:cs typeface="+mn-ea"/>
              </a:rPr>
              <a:t>参数</a:t>
            </a:r>
            <a:r>
              <a:rPr lang="en-US" altLang="zh-CN" sz="2000" dirty="0">
                <a:solidFill>
                  <a:srgbClr val="09131F"/>
                </a:solidFill>
                <a:latin typeface="+mn-ea"/>
                <a:ea typeface="+mn-ea"/>
                <a:cs typeface="+mn-ea"/>
              </a:rPr>
              <a:t>1, </a:t>
            </a:r>
            <a:r>
              <a:rPr lang="zh-CN" altLang="en-US" sz="2000" dirty="0">
                <a:solidFill>
                  <a:srgbClr val="09131F"/>
                </a:solidFill>
                <a:latin typeface="+mn-ea"/>
                <a:ea typeface="+mn-ea"/>
                <a:cs typeface="+mn-ea"/>
              </a:rPr>
              <a:t>参数</a:t>
            </a:r>
            <a:r>
              <a:rPr lang="en-US" altLang="zh-CN" sz="2000" dirty="0">
                <a:solidFill>
                  <a:srgbClr val="09131F"/>
                </a:solidFill>
                <a:latin typeface="+mn-ea"/>
                <a:ea typeface="+mn-ea"/>
                <a:cs typeface="+mn-ea"/>
              </a:rPr>
              <a:t>2  ...):</a:t>
            </a:r>
            <a:endParaRPr lang="en-US" sz="2000"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函数体    </a:t>
            </a:r>
            <a:r>
              <a:rPr lang="en-US" altLang="zh-CN"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函数实现的具体功能</a:t>
            </a:r>
            <a:endParaRPr lang="zh-CN" altLang="en-US" sz="2000" b="1" dirty="0">
              <a:solidFill>
                <a:srgbClr val="09131F"/>
              </a:solidFill>
              <a:latin typeface="+mn-ea"/>
              <a:ea typeface="+mn-ea"/>
              <a:cs typeface="+mn-ea"/>
            </a:endParaRPr>
          </a:p>
        </p:txBody>
      </p:sp>
      <p:sp>
        <p:nvSpPr>
          <p:cNvPr id="3" name="AutoShape 15"/>
          <p:cNvSpPr>
            <a:spLocks noChangeArrowheads="1"/>
          </p:cNvSpPr>
          <p:nvPr/>
        </p:nvSpPr>
        <p:spPr bwMode="auto">
          <a:xfrm>
            <a:off x="2437130" y="1434465"/>
            <a:ext cx="5037455" cy="2108324"/>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返回值类型  函数名</a:t>
            </a:r>
            <a:r>
              <a:rPr lang="en-US" sz="2000" dirty="0">
                <a:solidFill>
                  <a:srgbClr val="09131F"/>
                </a:solidFill>
                <a:latin typeface="+mn-ea"/>
                <a:ea typeface="+mn-ea"/>
                <a:cs typeface="+mn-ea"/>
              </a:rPr>
              <a:t>(</a:t>
            </a:r>
            <a:r>
              <a:rPr lang="zh-CN" altLang="en-US" sz="2000" dirty="0">
                <a:solidFill>
                  <a:srgbClr val="09131F"/>
                </a:solidFill>
                <a:latin typeface="+mn-ea"/>
                <a:ea typeface="+mn-ea"/>
                <a:cs typeface="+mn-ea"/>
              </a:rPr>
              <a:t>参数类型  参数</a:t>
            </a:r>
            <a:r>
              <a:rPr lang="en-US" altLang="zh-CN" sz="2000" dirty="0">
                <a:solidFill>
                  <a:srgbClr val="09131F"/>
                </a:solidFill>
                <a:latin typeface="+mn-ea"/>
                <a:ea typeface="+mn-ea"/>
                <a:cs typeface="+mn-ea"/>
              </a:rPr>
              <a:t>1,  ...)</a:t>
            </a:r>
            <a:r>
              <a:rPr lang="en-US" sz="2000" b="1" dirty="0">
                <a:solidFill>
                  <a:srgbClr val="09131F"/>
                </a:solidFill>
                <a:latin typeface="+mn-ea"/>
                <a:ea typeface="+mn-ea"/>
                <a:cs typeface="+mn-ea"/>
              </a:rPr>
              <a:t> </a:t>
            </a:r>
            <a:endParaRPr lang="en-US" sz="2000" b="1"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b="1" dirty="0">
                <a:solidFill>
                  <a:srgbClr val="09131F"/>
                </a:solidFill>
                <a:latin typeface="+mn-ea"/>
                <a:ea typeface="+mn-ea"/>
                <a:cs typeface="+mn-ea"/>
              </a:rPr>
              <a:t> {</a:t>
            </a:r>
            <a:endParaRPr lang="en-US" sz="2000"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函数功能    </a:t>
            </a:r>
            <a:endParaRPr lang="zh-CN" altLang="en-US" sz="2000" b="1"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        </a:t>
            </a:r>
            <a:r>
              <a:rPr lang="en-US" altLang="zh-CN" sz="2000" b="1" dirty="0">
                <a:solidFill>
                  <a:srgbClr val="09131F"/>
                </a:solidFill>
                <a:latin typeface="+mn-ea"/>
                <a:ea typeface="+mn-ea"/>
                <a:cs typeface="+mn-ea"/>
              </a:rPr>
              <a:t>return </a:t>
            </a:r>
            <a:r>
              <a:rPr lang="zh-CN" altLang="en-US" sz="2000" b="1" dirty="0">
                <a:solidFill>
                  <a:srgbClr val="09131F"/>
                </a:solidFill>
                <a:latin typeface="+mn-ea"/>
                <a:ea typeface="+mn-ea"/>
                <a:cs typeface="+mn-ea"/>
              </a:rPr>
              <a:t>变量；</a:t>
            </a:r>
            <a:endParaRPr lang="zh-CN" altLang="en-US" sz="2000" b="1"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altLang="zh-CN" sz="2000" b="1" dirty="0">
                <a:solidFill>
                  <a:srgbClr val="09131F"/>
                </a:solidFill>
                <a:latin typeface="+mn-ea"/>
                <a:ea typeface="+mn-ea"/>
                <a:cs typeface="+mn-ea"/>
              </a:rPr>
              <a:t>}</a:t>
            </a:r>
            <a:endParaRPr lang="en-US" altLang="zh-CN" sz="2000" b="1" dirty="0">
              <a:solidFill>
                <a:srgbClr val="09131F"/>
              </a:solidFill>
              <a:latin typeface="+mn-ea"/>
              <a:ea typeface="+mn-ea"/>
              <a:cs typeface="+mn-ea"/>
            </a:endParaRPr>
          </a:p>
        </p:txBody>
      </p:sp>
      <p:sp>
        <p:nvSpPr>
          <p:cNvPr id="4" name="Rectangle 3"/>
          <p:cNvSpPr txBox="1">
            <a:spLocks noChangeArrowheads="1"/>
          </p:cNvSpPr>
          <p:nvPr/>
        </p:nvSpPr>
        <p:spPr bwMode="auto">
          <a:xfrm>
            <a:off x="698500" y="2282825"/>
            <a:ext cx="130683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en-US" altLang="zh-CN" dirty="0"/>
              <a:t>C</a:t>
            </a:r>
            <a:r>
              <a:rPr lang="zh-CN" altLang="en-US" dirty="0"/>
              <a:t>语言</a:t>
            </a:r>
            <a:endParaRPr lang="zh-CN" altLang="en-US" dirty="0"/>
          </a:p>
          <a:p>
            <a:pPr eaLnBrk="0" hangingPunct="0"/>
            <a:endParaRPr lang="zh-CN" altLang="en-US" dirty="0"/>
          </a:p>
          <a:p>
            <a:pPr eaLnBrk="0" hangingPunct="0"/>
            <a:endParaRPr lang="zh-CN" altLang="en-US" dirty="0"/>
          </a:p>
        </p:txBody>
      </p:sp>
      <p:sp>
        <p:nvSpPr>
          <p:cNvPr id="5" name="Rectangle 3"/>
          <p:cNvSpPr txBox="1">
            <a:spLocks noChangeArrowheads="1"/>
          </p:cNvSpPr>
          <p:nvPr/>
        </p:nvSpPr>
        <p:spPr bwMode="auto">
          <a:xfrm>
            <a:off x="774065" y="3952240"/>
            <a:ext cx="115633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en-US" altLang="zh-CN" sz="2400" dirty="0"/>
              <a:t>Python</a:t>
            </a:r>
            <a:endParaRPr lang="zh-CN" altLang="en-US" sz="2400" dirty="0"/>
          </a:p>
          <a:p>
            <a:pPr eaLnBrk="0" hangingPunct="0"/>
            <a:endParaRPr lang="zh-CN" altLang="en-US" sz="2400" dirty="0"/>
          </a:p>
          <a:p>
            <a:pPr eaLnBrk="0" hangingPunct="0"/>
            <a:endParaRPr lang="zh-CN" altLang="en-US" sz="2400" dirty="0"/>
          </a:p>
        </p:txBody>
      </p:sp>
      <p:sp>
        <p:nvSpPr>
          <p:cNvPr id="8" name="爆炸形 1 7"/>
          <p:cNvSpPr/>
          <p:nvPr/>
        </p:nvSpPr>
        <p:spPr>
          <a:xfrm>
            <a:off x="6090920" y="2416810"/>
            <a:ext cx="3032125" cy="1973580"/>
          </a:xfrm>
          <a:prstGeom prst="irregularSeal1">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调用函数：</a:t>
            </a: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函数名</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参数</a:t>
            </a:r>
            <a:r>
              <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endParaRPr kumimoji="0" lang="en-US"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blinds(horizontal)">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ldLvl="0" animBg="1"/>
      <p:bldP spid="3" grpId="0" bldLvl="0" animBg="1"/>
      <p:bldP spid="4" grpId="0"/>
      <p:bldP spid="5" grpId="0"/>
      <p:bldP spid="8" grpId="0" animBg="1"/>
      <p:bldP spid="8"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函数四种基本</a:t>
            </a:r>
            <a:r>
              <a:rPr lang="zh-CN" altLang="en-US" dirty="0"/>
              <a:t>表现形式</a:t>
            </a:r>
            <a:endParaRPr lang="zh-CN" altLang="en-US" dirty="0"/>
          </a:p>
        </p:txBody>
      </p:sp>
      <p:sp>
        <p:nvSpPr>
          <p:cNvPr id="7" name="Rectangle 3"/>
          <p:cNvSpPr txBox="1">
            <a:spLocks noChangeArrowheads="1"/>
          </p:cNvSpPr>
          <p:nvPr/>
        </p:nvSpPr>
        <p:spPr bwMode="auto">
          <a:xfrm>
            <a:off x="184785" y="833755"/>
            <a:ext cx="24384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函数四种基本</a:t>
            </a: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表现形式</a:t>
            </a:r>
            <a:endParaRPr lang="zh-CN" altLang="en-US" sz="1600" dirty="0"/>
          </a:p>
          <a:p>
            <a:pPr eaLnBrk="0" hangingPunct="0"/>
            <a:endParaRPr lang="zh-CN" altLang="en-US" sz="1600" dirty="0"/>
          </a:p>
          <a:p>
            <a:pPr eaLnBrk="0" hangingPunct="0"/>
            <a:endParaRPr lang="zh-CN" altLang="en-US" sz="1600" dirty="0"/>
          </a:p>
        </p:txBody>
      </p:sp>
      <p:sp>
        <p:nvSpPr>
          <p:cNvPr id="18" name="AutoShape 15"/>
          <p:cNvSpPr>
            <a:spLocks noChangeArrowheads="1"/>
          </p:cNvSpPr>
          <p:nvPr/>
        </p:nvSpPr>
        <p:spPr bwMode="auto">
          <a:xfrm>
            <a:off x="525145" y="1810385"/>
            <a:ext cx="3434715" cy="655410"/>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AutoShape 15"/>
          <p:cNvSpPr>
            <a:spLocks noChangeArrowheads="1"/>
          </p:cNvSpPr>
          <p:nvPr/>
        </p:nvSpPr>
        <p:spPr bwMode="auto">
          <a:xfrm>
            <a:off x="382270" y="3728085"/>
            <a:ext cx="3435350" cy="655410"/>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2  ...):</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AutoShape 15"/>
          <p:cNvSpPr>
            <a:spLocks noChangeArrowheads="1"/>
          </p:cNvSpPr>
          <p:nvPr/>
        </p:nvSpPr>
        <p:spPr bwMode="auto">
          <a:xfrm>
            <a:off x="4883785" y="1810385"/>
            <a:ext cx="3434715" cy="937032"/>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return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返回值</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AutoShape 15"/>
          <p:cNvSpPr>
            <a:spLocks noChangeArrowheads="1"/>
          </p:cNvSpPr>
          <p:nvPr/>
        </p:nvSpPr>
        <p:spPr bwMode="auto">
          <a:xfrm>
            <a:off x="4799965" y="3728085"/>
            <a:ext cx="3435350" cy="937032"/>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2  ...):</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return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返回值</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AutoShape 8"/>
          <p:cNvSpPr>
            <a:spLocks noChangeArrowheads="1"/>
          </p:cNvSpPr>
          <p:nvPr/>
        </p:nvSpPr>
        <p:spPr bwMode="auto">
          <a:xfrm>
            <a:off x="679450" y="1272066"/>
            <a:ext cx="2573655" cy="40814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无参无返回值函数</a:t>
            </a:r>
            <a:endParaRPr lang="zh-CN" altLang="en-US" dirty="0">
              <a:solidFill>
                <a:srgbClr val="F9F9F9"/>
              </a:solidFill>
              <a:latin typeface="+mn-ea"/>
              <a:ea typeface="+mn-ea"/>
            </a:endParaRPr>
          </a:p>
        </p:txBody>
      </p:sp>
      <p:sp>
        <p:nvSpPr>
          <p:cNvPr id="11" name="AutoShape 8"/>
          <p:cNvSpPr>
            <a:spLocks noChangeArrowheads="1"/>
          </p:cNvSpPr>
          <p:nvPr/>
        </p:nvSpPr>
        <p:spPr bwMode="auto">
          <a:xfrm>
            <a:off x="525145" y="3144681"/>
            <a:ext cx="2573655" cy="40814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有</a:t>
            </a:r>
            <a:r>
              <a:rPr lang="zh-CN" altLang="en-US" dirty="0">
                <a:solidFill>
                  <a:srgbClr val="F9F9F9"/>
                </a:solidFill>
                <a:latin typeface="+mn-ea"/>
                <a:ea typeface="+mn-ea"/>
              </a:rPr>
              <a:t>参无返回值函数</a:t>
            </a:r>
            <a:endParaRPr lang="zh-CN" altLang="en-US" dirty="0">
              <a:solidFill>
                <a:srgbClr val="F9F9F9"/>
              </a:solidFill>
              <a:latin typeface="+mn-ea"/>
              <a:ea typeface="+mn-ea"/>
            </a:endParaRPr>
          </a:p>
        </p:txBody>
      </p:sp>
      <p:sp>
        <p:nvSpPr>
          <p:cNvPr id="12" name="AutoShape 8"/>
          <p:cNvSpPr>
            <a:spLocks noChangeArrowheads="1"/>
          </p:cNvSpPr>
          <p:nvPr/>
        </p:nvSpPr>
        <p:spPr bwMode="auto">
          <a:xfrm>
            <a:off x="5045710" y="1272066"/>
            <a:ext cx="2573655" cy="40814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无参有</a:t>
            </a:r>
            <a:r>
              <a:rPr lang="zh-CN" altLang="en-US" dirty="0">
                <a:solidFill>
                  <a:srgbClr val="F9F9F9"/>
                </a:solidFill>
                <a:latin typeface="+mn-ea"/>
                <a:ea typeface="+mn-ea"/>
              </a:rPr>
              <a:t>返回值函数</a:t>
            </a:r>
            <a:endParaRPr lang="zh-CN" altLang="en-US" dirty="0">
              <a:solidFill>
                <a:srgbClr val="F9F9F9"/>
              </a:solidFill>
              <a:latin typeface="+mn-ea"/>
              <a:ea typeface="+mn-ea"/>
            </a:endParaRPr>
          </a:p>
        </p:txBody>
      </p:sp>
      <p:sp>
        <p:nvSpPr>
          <p:cNvPr id="13" name="AutoShape 8"/>
          <p:cNvSpPr>
            <a:spLocks noChangeArrowheads="1"/>
          </p:cNvSpPr>
          <p:nvPr/>
        </p:nvSpPr>
        <p:spPr bwMode="auto">
          <a:xfrm>
            <a:off x="5231130" y="3144681"/>
            <a:ext cx="2573655" cy="40814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有</a:t>
            </a:r>
            <a:r>
              <a:rPr lang="zh-CN" altLang="en-US" dirty="0">
                <a:solidFill>
                  <a:srgbClr val="F9F9F9"/>
                </a:solidFill>
                <a:latin typeface="+mn-ea"/>
                <a:ea typeface="+mn-ea"/>
              </a:rPr>
              <a:t>参有</a:t>
            </a:r>
            <a:r>
              <a:rPr lang="zh-CN" altLang="en-US" dirty="0">
                <a:solidFill>
                  <a:srgbClr val="F9F9F9"/>
                </a:solidFill>
                <a:latin typeface="+mn-ea"/>
                <a:ea typeface="+mn-ea"/>
              </a:rPr>
              <a:t>返回值函数</a:t>
            </a:r>
            <a:endParaRPr lang="zh-CN" altLang="en-US" dirty="0">
              <a:solidFill>
                <a:srgbClr val="F9F9F9"/>
              </a:solidFill>
              <a:latin typeface="+mn-ea"/>
              <a:ea typeface="+mn-ea"/>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8" grpId="1" animBg="1"/>
      <p:bldP spid="17" grpId="0" animBg="1"/>
      <p:bldP spid="17" grpId="1" animBg="1"/>
      <p:bldP spid="6" grpId="0" animBg="1"/>
      <p:bldP spid="6" grpId="1" animBg="1"/>
      <p:bldP spid="11" grpId="0" animBg="1"/>
      <p:bldP spid="11" grpId="1" animBg="1"/>
      <p:bldP spid="8" grpId="0" animBg="1"/>
      <p:bldP spid="8" grpId="1" animBg="1"/>
      <p:bldP spid="12" grpId="0" animBg="1"/>
      <p:bldP spid="12" grpId="1" animBg="1"/>
      <p:bldP spid="9" grpId="0" animBg="1"/>
      <p:bldP spid="9" grpId="1" animBg="1"/>
      <p:bldP spid="13" grpId="0" animBg="1"/>
      <p:bldP spid="13"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5821363" y="142558"/>
            <a:ext cx="3143250" cy="368300"/>
          </a:xfrm>
          <a:noFill/>
          <a:extLst>
            <a:ext uri="{909E8E84-426E-40DD-AFC4-6F175D3DCCD1}">
              <a14:hiddenFill xmlns:a14="http://schemas.microsoft.com/office/drawing/2010/main">
                <a:solidFill>
                  <a:schemeClr val="bg1"/>
                </a:solidFill>
              </a14:hiddenFill>
            </a:ext>
          </a:extLst>
        </p:spPr>
        <p:txBody>
          <a:bodyPr/>
          <a:lstStyle/>
          <a:p>
            <a:pPr algn="r"/>
            <a:r>
              <a:rPr lang="zh-CN" altLang="en-US" dirty="0">
                <a:sym typeface="+mn-ea"/>
              </a:rPr>
              <a:t>函数的注意事项</a:t>
            </a:r>
            <a:endParaRPr lang="zh-CN" altLang="en-US" dirty="0">
              <a:sym typeface="+mn-ea"/>
            </a:endParaRPr>
          </a:p>
        </p:txBody>
      </p:sp>
      <p:sp>
        <p:nvSpPr>
          <p:cNvPr id="25604" name="内容占位符 2"/>
          <p:cNvSpPr>
            <a:spLocks noGrp="1"/>
          </p:cNvSpPr>
          <p:nvPr>
            <p:ph idx="1"/>
          </p:nvPr>
        </p:nvSpPr>
        <p:spPr>
          <a:xfrm>
            <a:off x="667385" y="1123950"/>
            <a:ext cx="7933690" cy="3910330"/>
          </a:xfrm>
        </p:spPr>
        <p:txBody>
          <a:bodyPr/>
          <a:lstStyle/>
          <a:p>
            <a:pPr marL="457200" lvl="1" indent="0">
              <a:buNone/>
              <a:defRPr/>
            </a:pPr>
            <a:r>
              <a:rPr lang="en-US" altLang="zh-CN" sz="1600" b="0" dirty="0">
                <a:cs typeface="+mn-ea"/>
              </a:rPr>
              <a:t>1</a:t>
            </a:r>
            <a:r>
              <a:rPr lang="zh-CN" altLang="en-US" sz="1600" b="0" dirty="0">
                <a:cs typeface="+mn-ea"/>
              </a:rPr>
              <a:t>、</a:t>
            </a:r>
            <a:r>
              <a:rPr lang="zh-CN" altLang="en-US" sz="1600" b="0" dirty="0">
                <a:solidFill>
                  <a:srgbClr val="FF0000"/>
                </a:solidFill>
                <a:cs typeface="+mn-ea"/>
              </a:rPr>
              <a:t>def</a:t>
            </a:r>
            <a:r>
              <a:rPr lang="zh-CN" altLang="en-US" sz="1600" b="0" dirty="0">
                <a:cs typeface="+mn-ea"/>
              </a:rPr>
              <a:t>（可以理解为define缩写）是定义函数的关键字，必须</a:t>
            </a:r>
            <a:r>
              <a:rPr lang="zh-CN" altLang="en-US" sz="1600" b="0" dirty="0">
                <a:solidFill>
                  <a:srgbClr val="FF0000"/>
                </a:solidFill>
                <a:cs typeface="+mn-ea"/>
              </a:rPr>
              <a:t>全小写</a:t>
            </a:r>
            <a:endParaRPr lang="zh-CN" altLang="en-US" sz="1600" b="0" dirty="0">
              <a:cs typeface="+mn-ea"/>
            </a:endParaRPr>
          </a:p>
          <a:p>
            <a:pPr marL="457200" lvl="1" indent="0">
              <a:buNone/>
              <a:defRPr/>
            </a:pPr>
            <a:r>
              <a:rPr lang="en-US" altLang="zh-CN" sz="1600" b="0" dirty="0">
                <a:cs typeface="+mn-ea"/>
              </a:rPr>
              <a:t>2</a:t>
            </a:r>
            <a:r>
              <a:rPr lang="zh-CN" altLang="en-US" sz="1600" b="0" dirty="0">
                <a:cs typeface="+mn-ea"/>
              </a:rPr>
              <a:t>、函数名要符合</a:t>
            </a:r>
            <a:r>
              <a:rPr lang="zh-CN" altLang="en-US" sz="1600" b="0" dirty="0">
                <a:solidFill>
                  <a:srgbClr val="FF0000"/>
                </a:solidFill>
                <a:cs typeface="+mn-ea"/>
              </a:rPr>
              <a:t>见名知意</a:t>
            </a:r>
            <a:r>
              <a:rPr lang="zh-CN" altLang="en-US" sz="1600" b="0" dirty="0">
                <a:cs typeface="+mn-ea"/>
              </a:rPr>
              <a:t>的原则</a:t>
            </a:r>
            <a:endParaRPr lang="zh-CN" altLang="en-US" sz="1600" b="0" dirty="0">
              <a:cs typeface="+mn-ea"/>
            </a:endParaRPr>
          </a:p>
          <a:p>
            <a:pPr marL="457200" lvl="1" indent="0">
              <a:buNone/>
              <a:defRPr/>
            </a:pPr>
            <a:r>
              <a:rPr lang="en-US" altLang="zh-CN" sz="1600" b="0" dirty="0">
                <a:cs typeface="+mn-ea"/>
              </a:rPr>
              <a:t>3</a:t>
            </a:r>
            <a:r>
              <a:rPr lang="zh-CN" altLang="en-US" sz="1600" b="0" dirty="0">
                <a:cs typeface="+mn-ea"/>
              </a:rPr>
              <a:t>、即使该函数不需要接收任何参数，也必须</a:t>
            </a:r>
            <a:r>
              <a:rPr lang="zh-CN" altLang="en-US" sz="1600" b="0" dirty="0">
                <a:solidFill>
                  <a:srgbClr val="FF0000"/>
                </a:solidFill>
                <a:cs typeface="+mn-ea"/>
              </a:rPr>
              <a:t>保留一对空的圆括号</a:t>
            </a:r>
            <a:endParaRPr lang="zh-CN" altLang="en-US" sz="1600" b="0" dirty="0">
              <a:cs typeface="+mn-ea"/>
            </a:endParaRPr>
          </a:p>
          <a:p>
            <a:pPr marL="457200" lvl="1" indent="0">
              <a:buNone/>
              <a:defRPr/>
            </a:pPr>
            <a:r>
              <a:rPr lang="en-US" altLang="zh-CN" sz="1600" b="0" dirty="0">
                <a:cs typeface="+mn-ea"/>
              </a:rPr>
              <a:t>4</a:t>
            </a:r>
            <a:r>
              <a:rPr lang="zh-CN" altLang="en-US" sz="1600" b="0" dirty="0">
                <a:cs typeface="+mn-ea"/>
              </a:rPr>
              <a:t>、</a:t>
            </a:r>
            <a:r>
              <a:rPr sz="1600" b="0" dirty="0">
                <a:cs typeface="+mn-ea"/>
              </a:rPr>
              <a:t>函数名应该为小写，可以用</a:t>
            </a:r>
            <a:r>
              <a:rPr sz="1600" b="0" dirty="0">
                <a:solidFill>
                  <a:srgbClr val="FF0000"/>
                </a:solidFill>
                <a:cs typeface="+mn-ea"/>
              </a:rPr>
              <a:t>下划线风格</a:t>
            </a:r>
            <a:r>
              <a:rPr sz="1600" b="0" dirty="0">
                <a:cs typeface="+mn-ea"/>
              </a:rPr>
              <a:t>单词以增加可读性。</a:t>
            </a:r>
            <a:endParaRPr sz="1600" b="0" dirty="0">
              <a:cs typeface="+mn-ea"/>
            </a:endParaRPr>
          </a:p>
          <a:p>
            <a:pPr marL="457200" lvl="1" indent="0">
              <a:buNone/>
              <a:defRPr/>
            </a:pPr>
            <a:r>
              <a:rPr lang="en-US" sz="1600" b="0" dirty="0">
                <a:cs typeface="+mn-ea"/>
              </a:rPr>
              <a:t>	</a:t>
            </a:r>
            <a:r>
              <a:rPr sz="1600" b="0" dirty="0">
                <a:cs typeface="+mn-ea"/>
              </a:rPr>
              <a:t>如：my_example_function。 </a:t>
            </a:r>
            <a:endParaRPr sz="1600" b="0" dirty="0">
              <a:cs typeface="+mn-ea"/>
            </a:endParaRPr>
          </a:p>
          <a:p>
            <a:pPr marL="457200" lvl="1" indent="0">
              <a:buNone/>
              <a:defRPr/>
            </a:pPr>
            <a:endParaRPr sz="2000" b="0" dirty="0">
              <a:cs typeface="+mn-ea"/>
            </a:endParaRPr>
          </a:p>
          <a:p>
            <a:pPr marL="457200" lvl="1" indent="0">
              <a:buNone/>
              <a:defRPr/>
            </a:pPr>
            <a:endParaRPr sz="1400" b="0" dirty="0">
              <a:cs typeface="+mn-ea"/>
            </a:endParaRPr>
          </a:p>
          <a:p>
            <a:pPr marL="457200" lvl="1" indent="0">
              <a:buNone/>
              <a:defRPr/>
            </a:pPr>
            <a:endParaRPr sz="1400" b="0" dirty="0">
              <a:cs typeface="+mn-ea"/>
            </a:endParaRPr>
          </a:p>
        </p:txBody>
      </p:sp>
      <p:sp>
        <p:nvSpPr>
          <p:cNvPr id="2" name="文本框 1"/>
          <p:cNvSpPr txBox="1"/>
          <p:nvPr/>
        </p:nvSpPr>
        <p:spPr>
          <a:xfrm>
            <a:off x="360680" y="755650"/>
            <a:ext cx="1808480" cy="337185"/>
          </a:xfrm>
          <a:prstGeom prst="rect">
            <a:avLst/>
          </a:prstGeom>
          <a:noFill/>
        </p:spPr>
        <p:txBody>
          <a:bodyPr wrap="none" rtlCol="0" anchor="t">
            <a:spAutoFit/>
          </a:bodyPr>
          <a:lstStyle/>
          <a:p>
            <a:pPr algn="r"/>
            <a:r>
              <a:rPr lang="zh-CN" altLang="en-US" sz="1600" b="1" dirty="0">
                <a:solidFill>
                  <a:srgbClr val="0070C0"/>
                </a:solidFill>
                <a:latin typeface="微软雅黑" panose="020B0503020204020204" pitchFamily="34" charset="-122"/>
                <a:ea typeface="微软雅黑" panose="020B0503020204020204" pitchFamily="34" charset="-122"/>
                <a:sym typeface="+mn-ea"/>
              </a:rPr>
              <a:t>创建函数注意事项</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无参无返回值</a:t>
            </a:r>
            <a:r>
              <a:rPr lang="zh-CN" altLang="en-US" dirty="0"/>
              <a:t>函数</a:t>
            </a:r>
            <a:endParaRPr lang="zh-CN" altLang="en-US" dirty="0"/>
          </a:p>
        </p:txBody>
      </p:sp>
      <p:sp>
        <p:nvSpPr>
          <p:cNvPr id="7" name="Rectangle 3"/>
          <p:cNvSpPr txBox="1">
            <a:spLocks noChangeArrowheads="1"/>
          </p:cNvSpPr>
          <p:nvPr/>
        </p:nvSpPr>
        <p:spPr bwMode="auto">
          <a:xfrm>
            <a:off x="179512" y="1632610"/>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语法格式</a:t>
            </a:r>
            <a:endParaRPr lang="zh-CN" altLang="en-US" sz="1600" dirty="0"/>
          </a:p>
          <a:p>
            <a:pPr eaLnBrk="0" hangingPunct="0"/>
            <a:endParaRPr lang="zh-CN" altLang="en-US" sz="1600" dirty="0"/>
          </a:p>
          <a:p>
            <a:pPr eaLnBrk="0" hangingPunct="0"/>
            <a:endParaRPr lang="zh-CN" altLang="en-US" sz="1600" dirty="0"/>
          </a:p>
        </p:txBody>
      </p:sp>
      <p:sp>
        <p:nvSpPr>
          <p:cNvPr id="18" name="AutoShape 15"/>
          <p:cNvSpPr>
            <a:spLocks noChangeArrowheads="1"/>
          </p:cNvSpPr>
          <p:nvPr/>
        </p:nvSpPr>
        <p:spPr bwMode="auto">
          <a:xfrm>
            <a:off x="1187877" y="1637104"/>
            <a:ext cx="6264696" cy="1301862"/>
          </a:xfrm>
          <a:prstGeom prst="roundRect">
            <a:avLst>
              <a:gd name="adj" fmla="val 1347"/>
            </a:avLst>
          </a:prstGeom>
          <a:noFill/>
          <a:ln w="28575">
            <a:noFill/>
            <a:bevel/>
          </a:ln>
          <a:effectLst>
            <a:outerShdw sx="100999" sy="100999" algn="ctr" rotWithShape="0">
              <a:srgbClr val="000000">
                <a:alpha val="6999"/>
              </a:srgbClr>
            </a:outerShdw>
          </a:effectLst>
          <a:extLst>
            <a:ext uri="{909E8E84-426E-40DD-AFC4-6F175D3DCCD1}">
              <a14:hiddenFill xmlns:a14="http://schemas.microsoft.com/office/drawing/2010/main">
                <a:solidFill>
                  <a:srgbClr val="EDF5FD"/>
                </a:solidFill>
              </a14:hiddenFill>
            </a:ext>
          </a:extLst>
        </p:spPr>
        <p:txBody>
          <a:bodyPr wrap="square">
            <a:spAutoFit/>
          </a:bodyPr>
          <a:lstStyle/>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函数关键字  函数名</a:t>
            </a:r>
            <a:r>
              <a:rPr lang="en-US" altLang="zh-CN" sz="2000" b="1" dirty="0">
                <a:solidFill>
                  <a:srgbClr val="09131F"/>
                </a:solidFill>
                <a:latin typeface="+mn-ea"/>
                <a:ea typeface="+mn-ea"/>
                <a:cs typeface="+mn-ea"/>
              </a:rPr>
              <a:t>():</a:t>
            </a:r>
            <a:endParaRPr lang="en-US" sz="2000" b="1"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dirty="0">
                <a:solidFill>
                  <a:srgbClr val="09131F"/>
                </a:solidFill>
                <a:latin typeface="+mn-ea"/>
                <a:ea typeface="+mn-ea"/>
                <a:cs typeface="+mn-ea"/>
              </a:rPr>
              <a:t>        '''</a:t>
            </a:r>
            <a:r>
              <a:rPr lang="zh-CN" altLang="en-US" sz="2000" dirty="0">
                <a:solidFill>
                  <a:srgbClr val="09131F"/>
                </a:solidFill>
                <a:latin typeface="+mn-ea"/>
                <a:ea typeface="+mn-ea"/>
                <a:cs typeface="+mn-ea"/>
              </a:rPr>
              <a:t>注释</a:t>
            </a:r>
            <a:r>
              <a:rPr lang="en-US" sz="2000" dirty="0">
                <a:solidFill>
                  <a:srgbClr val="09131F"/>
                </a:solidFill>
                <a:latin typeface="+mn-ea"/>
                <a:ea typeface="+mn-ea"/>
                <a:cs typeface="+mn-ea"/>
              </a:rPr>
              <a:t>'''</a:t>
            </a:r>
            <a:endParaRPr lang="en-US" sz="2000"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函数体    </a:t>
            </a:r>
            <a:r>
              <a:rPr lang="en-US" altLang="zh-CN"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函数实现的具体功能</a:t>
            </a:r>
            <a:endParaRPr lang="zh-CN" altLang="en-US" sz="2000" b="1" dirty="0">
              <a:solidFill>
                <a:srgbClr val="09131F"/>
              </a:solidFill>
              <a:latin typeface="+mn-ea"/>
              <a:ea typeface="+mn-ea"/>
              <a:cs typeface="+mn-ea"/>
            </a:endParaRPr>
          </a:p>
        </p:txBody>
      </p:sp>
      <p:sp>
        <p:nvSpPr>
          <p:cNvPr id="9" name="AutoShape 15"/>
          <p:cNvSpPr>
            <a:spLocks noChangeArrowheads="1"/>
          </p:cNvSpPr>
          <p:nvPr/>
        </p:nvSpPr>
        <p:spPr bwMode="auto">
          <a:xfrm>
            <a:off x="1258997" y="3668400"/>
            <a:ext cx="7056784" cy="1332604"/>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r>
              <a:rPr lang="en-US" altLang="zh-CN" sz="2000" dirty="0">
                <a:latin typeface="Calibri" panose="020F0502020204030204" pitchFamily="34" charset="0"/>
                <a:cs typeface="Calibri" panose="020F0502020204030204" pitchFamily="34" charset="0"/>
              </a:rPr>
              <a:t> def       say ():</a:t>
            </a:r>
            <a:endParaRPr lang="en-US" altLang="zh-CN" sz="2000" dirty="0">
              <a:latin typeface="Calibri" panose="020F0502020204030204" pitchFamily="34" charset="0"/>
              <a:cs typeface="Calibri" panose="020F0502020204030204" pitchFamily="34" charset="0"/>
            </a:endParaRPr>
          </a:p>
          <a:p>
            <a:pPr algn="l"/>
            <a:r>
              <a:rPr lang="en-US" sz="2000" dirty="0">
                <a:latin typeface="Calibri" panose="020F0502020204030204" pitchFamily="34" charset="0"/>
                <a:cs typeface="Calibri" panose="020F0502020204030204" pitchFamily="34" charset="0"/>
                <a:sym typeface="+mn-ea"/>
              </a:rPr>
              <a:t>       </a:t>
            </a:r>
            <a:r>
              <a:rPr lang="en-US" altLang="zh-CN" sz="2000" dirty="0">
                <a:solidFill>
                  <a:srgbClr val="09131F"/>
                </a:solidFill>
                <a:latin typeface="Calibri" panose="020F0502020204030204" pitchFamily="34" charset="0"/>
                <a:cs typeface="Calibri" panose="020F0502020204030204" pitchFamily="34" charset="0"/>
                <a:sym typeface="+mn-ea"/>
              </a:rPr>
              <a:t>'''</a:t>
            </a:r>
            <a:r>
              <a:rPr lang="zh-CN" altLang="en-US" sz="2000" dirty="0">
                <a:solidFill>
                  <a:srgbClr val="09131F"/>
                </a:solidFill>
                <a:latin typeface="Calibri" panose="020F0502020204030204" pitchFamily="34" charset="0"/>
                <a:cs typeface="Calibri" panose="020F0502020204030204" pitchFamily="34" charset="0"/>
                <a:sym typeface="+mn-ea"/>
              </a:rPr>
              <a:t>打印知识简简单单，学习快快乐乐</a:t>
            </a:r>
            <a:r>
              <a:rPr lang="en-US" altLang="zh-CN" sz="2000" dirty="0">
                <a:solidFill>
                  <a:srgbClr val="09131F"/>
                </a:solidFill>
                <a:latin typeface="Calibri" panose="020F0502020204030204" pitchFamily="34" charset="0"/>
                <a:cs typeface="Calibri" panose="020F0502020204030204" pitchFamily="34" charset="0"/>
                <a:sym typeface="+mn-ea"/>
              </a:rPr>
              <a:t>'''</a:t>
            </a:r>
            <a:endParaRPr sz="2000" dirty="0">
              <a:latin typeface="Calibri" panose="020F0502020204030204" pitchFamily="34" charset="0"/>
              <a:cs typeface="Calibri" panose="020F0502020204030204" pitchFamily="34" charset="0"/>
            </a:endParaRPr>
          </a:p>
          <a:p>
            <a:pPr algn="l"/>
            <a:r>
              <a:rPr lang="en-US" altLang="zh-CN" sz="2000" dirty="0">
                <a:latin typeface="Calibri" panose="020F0502020204030204" pitchFamily="34" charset="0"/>
                <a:cs typeface="Calibri" panose="020F0502020204030204" pitchFamily="34" charset="0"/>
              </a:rPr>
              <a:t>	</a:t>
            </a:r>
            <a:r>
              <a:rPr lang="en-US" altLang="zh-CN" sz="2000" dirty="0" err="1">
                <a:latin typeface="Calibri" panose="020F0502020204030204" pitchFamily="34" charset="0"/>
                <a:cs typeface="Calibri" panose="020F0502020204030204" pitchFamily="34" charset="0"/>
              </a:rPr>
              <a:t>print</a:t>
            </a:r>
            <a:r>
              <a:rPr lang="en-US" altLang="zh-CN" sz="2000" dirty="0">
                <a:latin typeface="Calibri" panose="020F0502020204030204" pitchFamily="34" charset="0"/>
                <a:cs typeface="Calibri" panose="020F0502020204030204" pitchFamily="34" charset="0"/>
              </a:rPr>
              <a:t>("</a:t>
            </a:r>
            <a:r>
              <a:rPr lang="zh-CN" altLang="en-US" sz="2000" dirty="0">
                <a:latin typeface="Calibri" panose="020F0502020204030204" pitchFamily="34" charset="0"/>
                <a:cs typeface="Calibri" panose="020F0502020204030204" pitchFamily="34" charset="0"/>
              </a:rPr>
              <a:t>知识简简单单，学习快快乐乐</a:t>
            </a:r>
            <a:r>
              <a:rPr lang="en-US" altLang="zh-CN" sz="2000" dirty="0">
                <a:latin typeface="Calibri" panose="020F0502020204030204" pitchFamily="34" charset="0"/>
                <a:cs typeface="Calibri" panose="020F0502020204030204" pitchFamily="34" charset="0"/>
              </a:rPr>
              <a:t>");</a:t>
            </a:r>
            <a:endParaRPr lang="en-US" altLang="zh-CN" sz="2000" dirty="0">
              <a:latin typeface="Calibri" panose="020F0502020204030204" pitchFamily="34" charset="0"/>
              <a:cs typeface="Calibri" panose="020F0502020204030204" pitchFamily="34" charset="0"/>
            </a:endParaRPr>
          </a:p>
          <a:p>
            <a:pPr algn="l"/>
            <a:endParaRPr lang="en-US" sz="2000" dirty="0">
              <a:solidFill>
                <a:srgbClr val="09131F"/>
              </a:solidFill>
              <a:latin typeface="Calibri" panose="020F0502020204030204" pitchFamily="34" charset="0"/>
              <a:cs typeface="Calibri" panose="020F0502020204030204" pitchFamily="34" charset="0"/>
            </a:endParaRPr>
          </a:p>
        </p:txBody>
      </p:sp>
      <p:sp>
        <p:nvSpPr>
          <p:cNvPr id="10" name="Rectangle 3"/>
          <p:cNvSpPr txBox="1">
            <a:spLocks noChangeArrowheads="1"/>
          </p:cNvSpPr>
          <p:nvPr/>
        </p:nvSpPr>
        <p:spPr bwMode="auto">
          <a:xfrm>
            <a:off x="179512" y="3282692"/>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代码举例</a:t>
            </a:r>
            <a:endParaRPr lang="zh-CN" altLang="en-US" sz="1600" dirty="0"/>
          </a:p>
          <a:p>
            <a:pPr eaLnBrk="0" hangingPunct="0"/>
            <a:endParaRPr lang="zh-CN" altLang="en-US" sz="1600" dirty="0"/>
          </a:p>
          <a:p>
            <a:pPr eaLnBrk="0" hangingPunct="0"/>
            <a:endParaRPr lang="zh-CN" altLang="en-US" sz="1600" dirty="0"/>
          </a:p>
        </p:txBody>
      </p:sp>
      <p:sp>
        <p:nvSpPr>
          <p:cNvPr id="11" name="圆角矩形 10"/>
          <p:cNvSpPr/>
          <p:nvPr/>
        </p:nvSpPr>
        <p:spPr bwMode="auto">
          <a:xfrm>
            <a:off x="2010410" y="3711575"/>
            <a:ext cx="461010" cy="288290"/>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12" name="直接箭头连接符 11"/>
          <p:cNvCxnSpPr/>
          <p:nvPr/>
        </p:nvCxnSpPr>
        <p:spPr bwMode="auto">
          <a:xfrm flipV="1">
            <a:off x="2483485" y="2067560"/>
            <a:ext cx="575945" cy="1656080"/>
          </a:xfrm>
          <a:prstGeom prst="straightConnector1">
            <a:avLst/>
          </a:prstGeom>
          <a:solidFill>
            <a:schemeClr val="accent1"/>
          </a:solidFill>
          <a:ln w="28575" cap="flat" cmpd="sng" algn="ctr">
            <a:solidFill>
              <a:srgbClr val="0070C0"/>
            </a:solidFill>
            <a:prstDash val="solid"/>
            <a:round/>
            <a:headEnd type="none" w="med" len="med"/>
            <a:tailEnd type="arrow"/>
          </a:ln>
        </p:spPr>
      </p:cxnSp>
      <p:sp>
        <p:nvSpPr>
          <p:cNvPr id="14" name="圆角矩形 13"/>
          <p:cNvSpPr/>
          <p:nvPr/>
        </p:nvSpPr>
        <p:spPr bwMode="auto">
          <a:xfrm>
            <a:off x="2501796" y="3711565"/>
            <a:ext cx="504056" cy="288032"/>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15" name="直接箭头连接符 14"/>
          <p:cNvCxnSpPr/>
          <p:nvPr/>
        </p:nvCxnSpPr>
        <p:spPr bwMode="auto">
          <a:xfrm flipV="1">
            <a:off x="2987675" y="2067560"/>
            <a:ext cx="647700" cy="1656080"/>
          </a:xfrm>
          <a:prstGeom prst="straightConnector1">
            <a:avLst/>
          </a:prstGeom>
          <a:solidFill>
            <a:schemeClr val="accent1"/>
          </a:solidFill>
          <a:ln w="28575" cap="flat" cmpd="sng" algn="ctr">
            <a:solidFill>
              <a:srgbClr val="0070C0"/>
            </a:solidFill>
            <a:prstDash val="solid"/>
            <a:round/>
            <a:headEnd type="none" w="med" len="med"/>
            <a:tailEnd type="arrow"/>
          </a:ln>
        </p:spPr>
      </p:cxnSp>
      <p:sp>
        <p:nvSpPr>
          <p:cNvPr id="23" name="圆角矩形 22"/>
          <p:cNvSpPr/>
          <p:nvPr/>
        </p:nvSpPr>
        <p:spPr bwMode="auto">
          <a:xfrm>
            <a:off x="2051720" y="4301390"/>
            <a:ext cx="6120680" cy="346393"/>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24" name="直接箭头连接符 23"/>
          <p:cNvCxnSpPr/>
          <p:nvPr/>
        </p:nvCxnSpPr>
        <p:spPr bwMode="auto">
          <a:xfrm flipV="1">
            <a:off x="2195830" y="2860040"/>
            <a:ext cx="143510" cy="1511935"/>
          </a:xfrm>
          <a:prstGeom prst="straightConnector1">
            <a:avLst/>
          </a:prstGeom>
          <a:solidFill>
            <a:schemeClr val="accent1"/>
          </a:solidFill>
          <a:ln w="28575" cap="flat" cmpd="sng" algn="ctr">
            <a:solidFill>
              <a:srgbClr val="0070C0"/>
            </a:solidFill>
            <a:prstDash val="solid"/>
            <a:round/>
            <a:headEnd type="none" w="med" len="med"/>
            <a:tailEnd type="arrow"/>
          </a:ln>
        </p:spPr>
      </p:cxnSp>
      <p:sp>
        <p:nvSpPr>
          <p:cNvPr id="16" name="圆角矩形 15"/>
          <p:cNvSpPr/>
          <p:nvPr/>
        </p:nvSpPr>
        <p:spPr bwMode="auto">
          <a:xfrm>
            <a:off x="1403350" y="3722370"/>
            <a:ext cx="563245" cy="277495"/>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17" name="直接箭头连接符 16"/>
          <p:cNvCxnSpPr/>
          <p:nvPr/>
        </p:nvCxnSpPr>
        <p:spPr bwMode="auto">
          <a:xfrm flipV="1">
            <a:off x="1691640" y="2067560"/>
            <a:ext cx="0" cy="1654810"/>
          </a:xfrm>
          <a:prstGeom prst="straightConnector1">
            <a:avLst/>
          </a:prstGeom>
          <a:solidFill>
            <a:schemeClr val="accent1"/>
          </a:solidFill>
          <a:ln w="28575" cap="flat" cmpd="sng" algn="ctr">
            <a:solidFill>
              <a:srgbClr val="0070C0"/>
            </a:solidFill>
            <a:prstDash val="solid"/>
            <a:round/>
            <a:headEnd type="none" w="med" len="med"/>
            <a:tailEnd type="arrow"/>
          </a:ln>
        </p:spPr>
      </p:cxnSp>
      <p:sp>
        <p:nvSpPr>
          <p:cNvPr id="4" name="Rectangle 3"/>
          <p:cNvSpPr txBox="1">
            <a:spLocks noChangeArrowheads="1"/>
          </p:cNvSpPr>
          <p:nvPr/>
        </p:nvSpPr>
        <p:spPr bwMode="auto">
          <a:xfrm>
            <a:off x="276225" y="803275"/>
            <a:ext cx="300418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algn="l"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创建无参无返回值</a:t>
            </a: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函数</a:t>
            </a:r>
            <a:endParaRPr lang="zh-CN" altLang="en-US" sz="1600" dirty="0"/>
          </a:p>
          <a:p>
            <a:pPr marL="0" indent="0" algn="l" eaLnBrk="0" hangingPunct="0"/>
            <a:endParaRPr lang="zh-CN" altLang="en-US" sz="1600" dirty="0"/>
          </a:p>
          <a:p>
            <a:pPr marL="0" indent="0" algn="l" eaLnBrk="0" hangingPunct="0"/>
            <a:endParaRPr lang="zh-CN" altLang="en-US" sz="1600" dirty="0"/>
          </a:p>
        </p:txBody>
      </p:sp>
      <p:cxnSp>
        <p:nvCxnSpPr>
          <p:cNvPr id="5" name="直接箭头连接符 4"/>
          <p:cNvCxnSpPr/>
          <p:nvPr/>
        </p:nvCxnSpPr>
        <p:spPr bwMode="auto">
          <a:xfrm flipH="1" flipV="1">
            <a:off x="2484120" y="2355850"/>
            <a:ext cx="2016125" cy="1800225"/>
          </a:xfrm>
          <a:prstGeom prst="straightConnector1">
            <a:avLst/>
          </a:prstGeom>
          <a:solidFill>
            <a:schemeClr val="accent1"/>
          </a:solidFill>
          <a:ln w="28575" cap="flat" cmpd="sng" algn="ctr">
            <a:solidFill>
              <a:srgbClr val="0070C0"/>
            </a:solidFill>
            <a:prstDash val="solid"/>
            <a:round/>
            <a:headEnd type="none" w="med" len="med"/>
            <a:tailEnd type="arrow"/>
          </a:ln>
        </p:spPr>
      </p:cxn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linds(horizontal)">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heel(1)">
                                      <p:cBhvr>
                                        <p:cTn id="25" dur="2000"/>
                                        <p:tgtEl>
                                          <p:spTgt spid="16"/>
                                        </p:tgtEl>
                                      </p:cBhvr>
                                    </p:animEffect>
                                  </p:childTnLst>
                                </p:cTn>
                              </p:par>
                            </p:childTnLst>
                          </p:cTn>
                        </p:par>
                        <p:par>
                          <p:cTn id="26" fill="hold">
                            <p:stCondLst>
                              <p:cond delay="2000"/>
                            </p:stCondLst>
                            <p:childTnLst>
                              <p:par>
                                <p:cTn id="27" presetID="2" presetClass="entr" presetSubtype="4"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heel(1)">
                                      <p:cBhvr>
                                        <p:cTn id="35" dur="2000"/>
                                        <p:tgtEl>
                                          <p:spTgt spid="11"/>
                                        </p:tgtEl>
                                      </p:cBhvr>
                                    </p:animEffect>
                                  </p:childTnLst>
                                </p:cTn>
                              </p:par>
                            </p:childTnLst>
                          </p:cTn>
                        </p:par>
                        <p:par>
                          <p:cTn id="36" fill="hold">
                            <p:stCondLst>
                              <p:cond delay="2000"/>
                            </p:stCondLst>
                            <p:childTnLst>
                              <p:par>
                                <p:cTn id="37" presetID="2" presetClass="entr" presetSubtype="4"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1" presetClass="entr" presetSubtype="1"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heel(1)">
                                      <p:cBhvr>
                                        <p:cTn id="45" dur="2000"/>
                                        <p:tgtEl>
                                          <p:spTgt spid="14"/>
                                        </p:tgtEl>
                                      </p:cBhvr>
                                    </p:animEffect>
                                  </p:childTnLst>
                                </p:cTn>
                              </p:par>
                            </p:childTnLst>
                          </p:cTn>
                        </p:par>
                        <p:par>
                          <p:cTn id="46" fill="hold">
                            <p:stCondLst>
                              <p:cond delay="2000"/>
                            </p:stCondLst>
                            <p:childTnLst>
                              <p:par>
                                <p:cTn id="47" presetID="42" presetClass="entr" presetSubtype="0" fill="hold"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1000"/>
                                        <p:tgtEl>
                                          <p:spTgt spid="15"/>
                                        </p:tgtEl>
                                      </p:cBhvr>
                                    </p:animEffect>
                                    <p:anim calcmode="lin" valueType="num">
                                      <p:cBhvr>
                                        <p:cTn id="50" dur="1000" fill="hold"/>
                                        <p:tgtEl>
                                          <p:spTgt spid="15"/>
                                        </p:tgtEl>
                                        <p:attrNameLst>
                                          <p:attrName>ppt_x</p:attrName>
                                        </p:attrNameLst>
                                      </p:cBhvr>
                                      <p:tavLst>
                                        <p:tav tm="0">
                                          <p:val>
                                            <p:strVal val="#ppt_x"/>
                                          </p:val>
                                        </p:tav>
                                        <p:tav tm="100000">
                                          <p:val>
                                            <p:strVal val="#ppt_x"/>
                                          </p:val>
                                        </p:tav>
                                      </p:tavLst>
                                    </p:anim>
                                    <p:anim calcmode="lin" valueType="num">
                                      <p:cBhvr>
                                        <p:cTn id="5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1" presetClass="entr" presetSubtype="1"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heel(1)">
                                      <p:cBhvr>
                                        <p:cTn id="56" dur="2000"/>
                                        <p:tgtEl>
                                          <p:spTgt spid="23"/>
                                        </p:tgtEl>
                                      </p:cBhvr>
                                    </p:animEffect>
                                  </p:childTnLst>
                                </p:cTn>
                              </p:par>
                            </p:childTnLst>
                          </p:cTn>
                        </p:par>
                        <p:par>
                          <p:cTn id="57" fill="hold">
                            <p:stCondLst>
                              <p:cond delay="2000"/>
                            </p:stCondLst>
                            <p:childTnLst>
                              <p:par>
                                <p:cTn id="58" presetID="2" presetClass="entr" presetSubtype="4" fill="hold" nodeType="afterEffect">
                                  <p:stCondLst>
                                    <p:cond delay="0"/>
                                  </p:stCondLst>
                                  <p:childTnLst>
                                    <p:set>
                                      <p:cBhvr>
                                        <p:cTn id="59" dur="1" fill="hold">
                                          <p:stCondLst>
                                            <p:cond delay="0"/>
                                          </p:stCondLst>
                                        </p:cTn>
                                        <p:tgtEl>
                                          <p:spTgt spid="24"/>
                                        </p:tgtEl>
                                        <p:attrNameLst>
                                          <p:attrName>style.visibility</p:attrName>
                                        </p:attrNameLst>
                                      </p:cBhvr>
                                      <p:to>
                                        <p:strVal val="visible"/>
                                      </p:to>
                                    </p:set>
                                    <p:anim calcmode="lin" valueType="num">
                                      <p:cBhvr additive="base">
                                        <p:cTn id="60" dur="500" fill="hold"/>
                                        <p:tgtEl>
                                          <p:spTgt spid="24"/>
                                        </p:tgtEl>
                                        <p:attrNameLst>
                                          <p:attrName>ppt_x</p:attrName>
                                        </p:attrNameLst>
                                      </p:cBhvr>
                                      <p:tavLst>
                                        <p:tav tm="0">
                                          <p:val>
                                            <p:strVal val="#ppt_x"/>
                                          </p:val>
                                        </p:tav>
                                        <p:tav tm="100000">
                                          <p:val>
                                            <p:strVal val="#ppt_x"/>
                                          </p:val>
                                        </p:tav>
                                      </p:tavLst>
                                    </p:anim>
                                    <p:anim calcmode="lin" valueType="num">
                                      <p:cBhvr additive="base">
                                        <p:cTn id="61"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5"/>
                                        </p:tgtEl>
                                        <p:attrNameLst>
                                          <p:attrName>style.visibility</p:attrName>
                                        </p:attrNameLst>
                                      </p:cBhvr>
                                      <p:to>
                                        <p:strVal val="visible"/>
                                      </p:to>
                                    </p:set>
                                    <p:anim calcmode="lin" valueType="num">
                                      <p:cBhvr additive="base">
                                        <p:cTn id="66" dur="500" fill="hold"/>
                                        <p:tgtEl>
                                          <p:spTgt spid="5"/>
                                        </p:tgtEl>
                                        <p:attrNameLst>
                                          <p:attrName>ppt_x</p:attrName>
                                        </p:attrNameLst>
                                      </p:cBhvr>
                                      <p:tavLst>
                                        <p:tav tm="0">
                                          <p:val>
                                            <p:strVal val="#ppt_x"/>
                                          </p:val>
                                        </p:tav>
                                        <p:tav tm="100000">
                                          <p:val>
                                            <p:strVal val="#ppt_x"/>
                                          </p:val>
                                        </p:tav>
                                      </p:tavLst>
                                    </p:anim>
                                    <p:anim calcmode="lin" valueType="num">
                                      <p:cBhvr additive="base">
                                        <p:cTn id="6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8" grpId="0" bldLvl="0" animBg="1"/>
      <p:bldP spid="9" grpId="0" bldLvl="0" animBg="1"/>
      <p:bldP spid="10" grpId="0"/>
      <p:bldP spid="11" grpId="0" bldLvl="0" animBg="1"/>
      <p:bldP spid="14" grpId="0" bldLvl="0" animBg="1"/>
      <p:bldP spid="23" grpId="0" bldLvl="0" animBg="1"/>
      <p:bldP spid="16"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如何使用函数</a:t>
            </a:r>
            <a:endParaRPr lang="zh-CN" altLang="en-US" dirty="0"/>
          </a:p>
        </p:txBody>
      </p:sp>
      <p:sp>
        <p:nvSpPr>
          <p:cNvPr id="9" name="AutoShape 15"/>
          <p:cNvSpPr>
            <a:spLocks noChangeArrowheads="1"/>
          </p:cNvSpPr>
          <p:nvPr/>
        </p:nvSpPr>
        <p:spPr bwMode="auto">
          <a:xfrm>
            <a:off x="803275" y="2623820"/>
            <a:ext cx="4398010" cy="1208414"/>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r>
              <a:rPr lang="en-US" altLang="zh-CN" sz="1800" dirty="0">
                <a:latin typeface="Calibri" panose="020F0502020204030204" pitchFamily="34" charset="0"/>
                <a:cs typeface="Calibri" panose="020F0502020204030204" pitchFamily="34" charset="0"/>
              </a:rPr>
              <a:t>def   say ():</a:t>
            </a:r>
            <a:endParaRPr lang="en-US" altLang="zh-CN" sz="1800" dirty="0">
              <a:latin typeface="Calibri" panose="020F0502020204030204" pitchFamily="34" charset="0"/>
              <a:cs typeface="Calibri" panose="020F0502020204030204" pitchFamily="34" charset="0"/>
            </a:endParaRPr>
          </a:p>
          <a:p>
            <a:pPr algn="l"/>
            <a:r>
              <a:rPr lang="en-US" altLang="zh-CN" sz="1800" dirty="0" err="1">
                <a:latin typeface="Calibri" panose="020F0502020204030204" pitchFamily="34" charset="0"/>
                <a:cs typeface="Calibri" panose="020F0502020204030204" pitchFamily="34" charset="0"/>
              </a:rPr>
              <a:t>        print</a:t>
            </a:r>
            <a:r>
              <a:rPr lang="en-US" altLang="zh-CN" sz="1800" dirty="0">
                <a:latin typeface="Calibri" panose="020F0502020204030204" pitchFamily="34" charset="0"/>
                <a:cs typeface="Calibri" panose="020F0502020204030204" pitchFamily="34" charset="0"/>
              </a:rPr>
              <a:t>("</a:t>
            </a:r>
            <a:r>
              <a:rPr lang="zh-CN" altLang="en-US" sz="1800" dirty="0">
                <a:latin typeface="Calibri" panose="020F0502020204030204" pitchFamily="34" charset="0"/>
                <a:cs typeface="Calibri" panose="020F0502020204030204" pitchFamily="34" charset="0"/>
              </a:rPr>
              <a:t>知识简简单单，学习快快乐乐</a:t>
            </a:r>
            <a:r>
              <a:rPr lang="en-US" altLang="zh-CN" sz="1800" dirty="0">
                <a:latin typeface="Calibri" panose="020F0502020204030204" pitchFamily="34" charset="0"/>
                <a:cs typeface="Calibri" panose="020F0502020204030204" pitchFamily="34" charset="0"/>
              </a:rPr>
              <a:t>")</a:t>
            </a:r>
            <a:endParaRPr lang="en-US" altLang="zh-CN" sz="1800" dirty="0">
              <a:latin typeface="Calibri" panose="020F0502020204030204" pitchFamily="34" charset="0"/>
              <a:cs typeface="Calibri" panose="020F0502020204030204" pitchFamily="34" charset="0"/>
            </a:endParaRPr>
          </a:p>
          <a:p>
            <a:pPr algn="l"/>
            <a:endParaRPr lang="en-US" altLang="zh-CN" sz="1800" dirty="0">
              <a:latin typeface="Calibri" panose="020F0502020204030204" pitchFamily="34" charset="0"/>
              <a:cs typeface="Calibri" panose="020F0502020204030204" pitchFamily="34" charset="0"/>
            </a:endParaRPr>
          </a:p>
          <a:p>
            <a:pPr algn="l"/>
            <a:r>
              <a:rPr lang="en-US" altLang="zh-CN" sz="1800" dirty="0">
                <a:latin typeface="Calibri" panose="020F0502020204030204" pitchFamily="34" charset="0"/>
                <a:cs typeface="Calibri" panose="020F0502020204030204" pitchFamily="34" charset="0"/>
              </a:rPr>
              <a:t>say()</a:t>
            </a:r>
            <a:endParaRPr lang="en-US" sz="2000" dirty="0">
              <a:solidFill>
                <a:srgbClr val="09131F"/>
              </a:solidFill>
              <a:latin typeface="Calibri" panose="020F0502020204030204" pitchFamily="34" charset="0"/>
              <a:cs typeface="Calibri" panose="020F0502020204030204" pitchFamily="34" charset="0"/>
            </a:endParaRPr>
          </a:p>
        </p:txBody>
      </p:sp>
      <p:sp>
        <p:nvSpPr>
          <p:cNvPr id="10" name="Rectangle 3"/>
          <p:cNvSpPr txBox="1">
            <a:spLocks noChangeArrowheads="1"/>
          </p:cNvSpPr>
          <p:nvPr/>
        </p:nvSpPr>
        <p:spPr bwMode="auto">
          <a:xfrm>
            <a:off x="251267" y="2185412"/>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代码举例</a:t>
            </a:r>
            <a:endParaRPr lang="zh-CN" altLang="en-US" sz="1600" dirty="0"/>
          </a:p>
          <a:p>
            <a:pPr eaLnBrk="0" hangingPunct="0"/>
            <a:endParaRPr lang="zh-CN" altLang="en-US" sz="1600" dirty="0"/>
          </a:p>
          <a:p>
            <a:pPr eaLnBrk="0" hangingPunct="0"/>
            <a:endParaRPr lang="zh-CN" altLang="en-US" sz="1600" dirty="0"/>
          </a:p>
        </p:txBody>
      </p:sp>
      <p:sp>
        <p:nvSpPr>
          <p:cNvPr id="3" name="AutoShape 15"/>
          <p:cNvSpPr>
            <a:spLocks noChangeArrowheads="1"/>
          </p:cNvSpPr>
          <p:nvPr/>
        </p:nvSpPr>
        <p:spPr bwMode="auto">
          <a:xfrm>
            <a:off x="649605" y="1568450"/>
            <a:ext cx="1837055" cy="495398"/>
          </a:xfrm>
          <a:prstGeom prst="roundRect">
            <a:avLst>
              <a:gd name="adj" fmla="val 1347"/>
            </a:avLst>
          </a:prstGeom>
          <a:noFill/>
          <a:ln w="28575">
            <a:noFill/>
            <a:bevel/>
          </a:ln>
          <a:effectLst>
            <a:outerShdw sx="100999" sy="100999" algn="ctr" rotWithShape="0">
              <a:srgbClr val="000000">
                <a:alpha val="6999"/>
              </a:srgbClr>
            </a:outerShdw>
          </a:effectLst>
          <a:extLst>
            <a:ext uri="{909E8E84-426E-40DD-AFC4-6F175D3DCCD1}">
              <a14:hiddenFill xmlns:a14="http://schemas.microsoft.com/office/drawing/2010/main">
                <a:solidFill>
                  <a:srgbClr val="EDF5FD"/>
                </a:solidFill>
              </a14:hiddenFill>
            </a:ext>
          </a:extLst>
        </p:spPr>
        <p:txBody>
          <a:bodyPr wrap="square">
            <a:spAutoFit/>
          </a:bodyPr>
          <a:lstStyle/>
          <a:p>
            <a:pPr algn="l" defTabSz="723900">
              <a:lnSpc>
                <a:spcPct val="130000"/>
              </a:lnSpc>
              <a:buClr>
                <a:schemeClr val="folHlink"/>
              </a:buClr>
              <a:buSzPct val="60000"/>
              <a:tabLst>
                <a:tab pos="444500" algn="l"/>
              </a:tabLst>
            </a:pPr>
            <a:r>
              <a:rPr lang="zh-CN" altLang="en-US" sz="2000" b="1" dirty="0">
                <a:solidFill>
                  <a:srgbClr val="09131F"/>
                </a:solidFill>
              </a:rPr>
              <a:t>函数名</a:t>
            </a:r>
            <a:r>
              <a:rPr lang="en-US" sz="2000" dirty="0">
                <a:solidFill>
                  <a:srgbClr val="09131F"/>
                </a:solidFill>
              </a:rPr>
              <a:t>( )</a:t>
            </a:r>
            <a:r>
              <a:rPr lang="en-US" sz="2000" b="1" dirty="0">
                <a:solidFill>
                  <a:srgbClr val="09131F"/>
                </a:solidFill>
              </a:rPr>
              <a:t> </a:t>
            </a:r>
            <a:endParaRPr lang="zh-CN" altLang="en-US" sz="2000" b="1" dirty="0">
              <a:solidFill>
                <a:srgbClr val="09131F"/>
              </a:solidFill>
            </a:endParaRPr>
          </a:p>
        </p:txBody>
      </p:sp>
      <p:sp>
        <p:nvSpPr>
          <p:cNvPr id="4" name="Rectangle 3"/>
          <p:cNvSpPr txBox="1">
            <a:spLocks noChangeArrowheads="1"/>
          </p:cNvSpPr>
          <p:nvPr/>
        </p:nvSpPr>
        <p:spPr bwMode="auto">
          <a:xfrm>
            <a:off x="217612" y="1202080"/>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调用格式</a:t>
            </a:r>
            <a:endPar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endParaRPr>
          </a:p>
        </p:txBody>
      </p:sp>
      <p:sp>
        <p:nvSpPr>
          <p:cNvPr id="5" name="Rectangle 3"/>
          <p:cNvSpPr txBox="1">
            <a:spLocks noChangeArrowheads="1"/>
          </p:cNvSpPr>
          <p:nvPr/>
        </p:nvSpPr>
        <p:spPr bwMode="auto">
          <a:xfrm>
            <a:off x="291272" y="4039895"/>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输出结果</a:t>
            </a:r>
            <a:endPar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endParaRPr>
          </a:p>
        </p:txBody>
      </p:sp>
      <p:pic>
        <p:nvPicPr>
          <p:cNvPr id="6" name="图片 5"/>
          <p:cNvPicPr>
            <a:picLocks noChangeAspect="1"/>
          </p:cNvPicPr>
          <p:nvPr/>
        </p:nvPicPr>
        <p:blipFill>
          <a:blip r:embed="rId1"/>
          <a:srcRect l="1913" t="5912" b="29686"/>
          <a:stretch>
            <a:fillRect/>
          </a:stretch>
        </p:blipFill>
        <p:spPr>
          <a:xfrm>
            <a:off x="769620" y="4502785"/>
            <a:ext cx="2214245" cy="325120"/>
          </a:xfrm>
          <a:prstGeom prst="rect">
            <a:avLst/>
          </a:prstGeom>
        </p:spPr>
      </p:pic>
      <p:sp>
        <p:nvSpPr>
          <p:cNvPr id="8" name="Rectangle 3"/>
          <p:cNvSpPr txBox="1">
            <a:spLocks noChangeArrowheads="1"/>
          </p:cNvSpPr>
          <p:nvPr/>
        </p:nvSpPr>
        <p:spPr bwMode="auto">
          <a:xfrm>
            <a:off x="160020" y="826770"/>
            <a:ext cx="1522730"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调用无参函数</a:t>
            </a:r>
            <a:endParaRPr lang="zh-CN" altLang="en-US" sz="1600" dirty="0"/>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500"/>
                                        <p:tgtEl>
                                          <p:spTgt spid="5"/>
                                        </p:tgtEl>
                                      </p:cBhvr>
                                    </p:animEffect>
                                  </p:childTnLst>
                                </p:cTn>
                              </p:par>
                            </p:childTnLst>
                          </p:cTn>
                        </p:par>
                        <p:par>
                          <p:cTn id="26" fill="hold">
                            <p:stCondLst>
                              <p:cond delay="500"/>
                            </p:stCondLst>
                            <p:childTnLst>
                              <p:par>
                                <p:cTn id="27" presetID="3" presetClass="entr" presetSubtype="10" fill="hold" nodeType="after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blinds(horizontal)">
                                      <p:cBhvr>
                                        <p:cTn id="2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p:bldP spid="3" grpId="0" bldLvl="0" animBg="1"/>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课堂案例一</a:t>
            </a:r>
            <a:endParaRPr lang="zh-CN" altLang="en-US" dirty="0">
              <a:sym typeface="+mn-ea"/>
            </a:endParaRPr>
          </a:p>
        </p:txBody>
      </p:sp>
      <p:sp>
        <p:nvSpPr>
          <p:cNvPr id="11" name="AutoShape 8"/>
          <p:cNvSpPr>
            <a:spLocks noChangeArrowheads="1"/>
          </p:cNvSpPr>
          <p:nvPr/>
        </p:nvSpPr>
        <p:spPr bwMode="auto">
          <a:xfrm>
            <a:off x="434340" y="797335"/>
            <a:ext cx="7284085" cy="411070"/>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改写餐厅点餐系统，要求定义函数</a:t>
            </a:r>
            <a:r>
              <a:rPr lang="en-US" altLang="zh-CN" dirty="0">
                <a:solidFill>
                  <a:srgbClr val="F9F9F9"/>
                </a:solidFill>
                <a:latin typeface="+mn-ea"/>
                <a:ea typeface="+mn-ea"/>
              </a:rPr>
              <a:t>interface,</a:t>
            </a:r>
            <a:r>
              <a:rPr lang="zh-CN" altLang="en-US" dirty="0">
                <a:solidFill>
                  <a:srgbClr val="F9F9F9"/>
                </a:solidFill>
                <a:latin typeface="+mn-ea"/>
                <a:ea typeface="+mn-ea"/>
              </a:rPr>
              <a:t>实现输出如下界面</a:t>
            </a:r>
            <a:r>
              <a:rPr lang="zh-CN" altLang="en-US" dirty="0">
                <a:solidFill>
                  <a:srgbClr val="F9F9F9"/>
                </a:solidFill>
                <a:latin typeface="+mn-ea"/>
                <a:ea typeface="+mn-ea"/>
              </a:rPr>
              <a:t>信息：</a:t>
            </a:r>
            <a:endParaRPr lang="zh-CN" altLang="en-US" dirty="0">
              <a:solidFill>
                <a:srgbClr val="F9F9F9"/>
              </a:solidFill>
              <a:latin typeface="+mn-ea"/>
              <a:ea typeface="+mn-ea"/>
            </a:endParaRPr>
          </a:p>
        </p:txBody>
      </p:sp>
      <p:pic>
        <p:nvPicPr>
          <p:cNvPr id="3" name="图片 2"/>
          <p:cNvPicPr>
            <a:picLocks noChangeAspect="1"/>
          </p:cNvPicPr>
          <p:nvPr/>
        </p:nvPicPr>
        <p:blipFill>
          <a:blip r:embed="rId1"/>
          <a:stretch>
            <a:fillRect/>
          </a:stretch>
        </p:blipFill>
        <p:spPr>
          <a:xfrm>
            <a:off x="909955" y="1927225"/>
            <a:ext cx="3478530" cy="2554605"/>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课堂案例二</a:t>
            </a:r>
            <a:endParaRPr lang="zh-CN" altLang="en-US" dirty="0">
              <a:sym typeface="+mn-ea"/>
            </a:endParaRPr>
          </a:p>
        </p:txBody>
      </p:sp>
      <p:sp>
        <p:nvSpPr>
          <p:cNvPr id="11" name="AutoShape 8"/>
          <p:cNvSpPr>
            <a:spLocks noChangeArrowheads="1"/>
          </p:cNvSpPr>
          <p:nvPr/>
        </p:nvSpPr>
        <p:spPr bwMode="auto">
          <a:xfrm>
            <a:off x="355600" y="910642"/>
            <a:ext cx="3634740" cy="714958"/>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r>
              <a:rPr lang="zh-CN" altLang="en-US" dirty="0">
                <a:solidFill>
                  <a:srgbClr val="F9F9F9"/>
                </a:solidFill>
                <a:latin typeface="+mn-ea"/>
                <a:ea typeface="+mn-ea"/>
              </a:rPr>
              <a:t>：</a:t>
            </a:r>
            <a:endParaRPr lang="zh-CN" altLang="en-US" dirty="0">
              <a:solidFill>
                <a:srgbClr val="F9F9F9"/>
              </a:solidFill>
              <a:latin typeface="+mn-ea"/>
              <a:ea typeface="+mn-ea"/>
            </a:endParaRPr>
          </a:p>
          <a:p>
            <a:pPr algn="l"/>
            <a:r>
              <a:rPr lang="en-US" altLang="zh-CN" dirty="0">
                <a:solidFill>
                  <a:srgbClr val="F9F9F9"/>
                </a:solidFill>
                <a:latin typeface="+mn-ea"/>
                <a:ea typeface="+mn-ea"/>
              </a:rPr>
              <a:t>	</a:t>
            </a:r>
            <a:r>
              <a:rPr lang="zh-CN" altLang="en-US" dirty="0">
                <a:solidFill>
                  <a:srgbClr val="F9F9F9"/>
                </a:solidFill>
                <a:latin typeface="+mn-ea"/>
                <a:ea typeface="+mn-ea"/>
              </a:rPr>
              <a:t>打印九九乘法表</a:t>
            </a:r>
            <a:endParaRPr lang="zh-CN" altLang="en-US" dirty="0">
              <a:solidFill>
                <a:srgbClr val="F9F9F9"/>
              </a:solidFill>
              <a:latin typeface="+mn-ea"/>
              <a:ea typeface="+mn-ea"/>
            </a:endParaRPr>
          </a:p>
        </p:txBody>
      </p:sp>
      <p:pic>
        <p:nvPicPr>
          <p:cNvPr id="5" name="图片 4"/>
          <p:cNvPicPr>
            <a:picLocks noChangeAspect="1"/>
          </p:cNvPicPr>
          <p:nvPr/>
        </p:nvPicPr>
        <p:blipFill>
          <a:blip r:embed="rId1"/>
          <a:stretch>
            <a:fillRect/>
          </a:stretch>
        </p:blipFill>
        <p:spPr>
          <a:xfrm>
            <a:off x="355600" y="2026285"/>
            <a:ext cx="6210300" cy="2000250"/>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课堂案例三</a:t>
            </a:r>
            <a:endParaRPr lang="zh-CN" altLang="en-US" dirty="0">
              <a:sym typeface="+mn-ea"/>
            </a:endParaRPr>
          </a:p>
        </p:txBody>
      </p:sp>
      <p:sp>
        <p:nvSpPr>
          <p:cNvPr id="11" name="AutoShape 8"/>
          <p:cNvSpPr>
            <a:spLocks noChangeArrowheads="1"/>
          </p:cNvSpPr>
          <p:nvPr/>
        </p:nvSpPr>
        <p:spPr bwMode="auto">
          <a:xfrm>
            <a:off x="459740" y="906081"/>
            <a:ext cx="7933055" cy="1939989"/>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r>
              <a:rPr lang="zh-CN" altLang="en-US" dirty="0">
                <a:solidFill>
                  <a:srgbClr val="F9F9F9"/>
                </a:solidFill>
                <a:latin typeface="+mn-ea"/>
                <a:ea typeface="+mn-ea"/>
              </a:rPr>
              <a:t>：</a:t>
            </a:r>
            <a:endParaRPr lang="zh-CN" altLang="en-US" dirty="0">
              <a:solidFill>
                <a:srgbClr val="F9F9F9"/>
              </a:solidFill>
              <a:latin typeface="+mn-ea"/>
              <a:ea typeface="+mn-ea"/>
            </a:endParaRPr>
          </a:p>
          <a:p>
            <a:pPr algn="l"/>
            <a:r>
              <a:rPr lang="zh-CN" altLang="en-US" dirty="0">
                <a:solidFill>
                  <a:srgbClr val="F9F9F9"/>
                </a:solidFill>
                <a:latin typeface="+mn-ea"/>
                <a:ea typeface="+mn-ea"/>
              </a:rPr>
              <a:t>输入一个三位数，</a:t>
            </a:r>
            <a:r>
              <a:rPr lang="zh-CN" altLang="en-US" dirty="0">
                <a:solidFill>
                  <a:srgbClr val="F9F9F9"/>
                </a:solidFill>
                <a:latin typeface="+mn-ea"/>
                <a:ea typeface="+mn-ea"/>
              </a:rPr>
              <a:t>判断一个三位数是否是水仙花数</a:t>
            </a:r>
            <a:endParaRPr lang="zh-CN" altLang="en-US" dirty="0">
              <a:solidFill>
                <a:srgbClr val="F9F9F9"/>
              </a:solidFill>
              <a:latin typeface="+mn-ea"/>
              <a:ea typeface="+mn-ea"/>
            </a:endParaRPr>
          </a:p>
          <a:p>
            <a:pPr algn="l"/>
            <a:endParaRPr lang="zh-CN" altLang="en-US" dirty="0">
              <a:solidFill>
                <a:srgbClr val="F9F9F9"/>
              </a:solidFill>
              <a:latin typeface="+mn-ea"/>
              <a:ea typeface="+mn-ea"/>
            </a:endParaRPr>
          </a:p>
          <a:p>
            <a:pPr algn="l"/>
            <a:r>
              <a:rPr lang="zh-CN" altLang="en-US" dirty="0">
                <a:solidFill>
                  <a:srgbClr val="F9F9F9"/>
                </a:solidFill>
                <a:latin typeface="+mn-ea"/>
                <a:ea typeface="+mn-ea"/>
              </a:rPr>
              <a:t>补充知识：</a:t>
            </a:r>
            <a:endParaRPr lang="zh-CN" altLang="en-US" dirty="0">
              <a:solidFill>
                <a:srgbClr val="F9F9F9"/>
              </a:solidFill>
              <a:latin typeface="+mn-ea"/>
              <a:ea typeface="+mn-ea"/>
            </a:endParaRPr>
          </a:p>
          <a:p>
            <a:pPr algn="l"/>
            <a:r>
              <a:rPr lang="zh-CN" altLang="en-US" dirty="0">
                <a:solidFill>
                  <a:srgbClr val="F9F9F9"/>
                </a:solidFill>
                <a:latin typeface="+mn-ea"/>
                <a:ea typeface="+mn-ea"/>
              </a:rPr>
              <a:t>所谓水仙花数是指1个3位的十进制数，其各位数字的立方和等于该数本身。</a:t>
            </a:r>
            <a:endParaRPr lang="zh-CN" altLang="en-US" dirty="0">
              <a:solidFill>
                <a:srgbClr val="F9F9F9"/>
              </a:solidFill>
              <a:latin typeface="+mn-ea"/>
              <a:ea typeface="+mn-ea"/>
            </a:endParaRPr>
          </a:p>
          <a:p>
            <a:pPr algn="l"/>
            <a:r>
              <a:rPr lang="zh-CN" altLang="en-US" dirty="0">
                <a:solidFill>
                  <a:srgbClr val="F9F9F9"/>
                </a:solidFill>
                <a:latin typeface="+mn-ea"/>
                <a:ea typeface="+mn-ea"/>
              </a:rPr>
              <a:t>例如：153是水仙花数，因为153 = 13 + 53 + 33</a:t>
            </a:r>
            <a:endParaRPr lang="zh-CN" altLang="en-US" dirty="0">
              <a:solidFill>
                <a:srgbClr val="F9F9F9"/>
              </a:solidFill>
              <a:latin typeface="+mn-ea"/>
              <a:ea typeface="+mn-ea"/>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第二</a:t>
            </a:r>
            <a:r>
              <a:rPr lang="zh-CN" altLang="en-US" dirty="0"/>
              <a:t>课时</a:t>
            </a:r>
            <a:endParaRPr lang="zh-CN" altLang="en-US" dirty="0"/>
          </a:p>
        </p:txBody>
      </p:sp>
      <p:sp>
        <p:nvSpPr>
          <p:cNvPr id="7" name="副标题 6"/>
          <p:cNvSpPr>
            <a:spLocks noGrp="1"/>
          </p:cNvSpPr>
          <p:nvPr>
            <p:ph type="subTitle" idx="1"/>
          </p:nvPr>
        </p:nvSpPr>
        <p:spPr/>
        <p:txBody>
          <a:bodyPr/>
          <a:lstStyle/>
          <a:p>
            <a:r>
              <a:rPr lang="zh-CN" altLang="en-US" dirty="0">
                <a:sym typeface="+mn-ea"/>
              </a:rPr>
              <a:t>有参无返回值</a:t>
            </a:r>
            <a:r>
              <a:rPr lang="zh-CN" altLang="en-US" dirty="0">
                <a:sym typeface="+mn-ea"/>
              </a:rPr>
              <a:t>函数</a:t>
            </a:r>
            <a:endParaRPr lang="zh-CN" altLang="en-US" b="1"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964"/>
    </mc:Choice>
    <mc:Fallback>
      <p:transition spd="slow" advTm="96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导入</a:t>
            </a:r>
            <a:endParaRPr lang="zh-CN" altLang="en-US" dirty="0">
              <a:sym typeface="+mn-ea"/>
            </a:endParaRPr>
          </a:p>
        </p:txBody>
      </p:sp>
      <p:sp>
        <p:nvSpPr>
          <p:cNvPr id="11" name="AutoShape 8"/>
          <p:cNvSpPr>
            <a:spLocks noChangeArrowheads="1"/>
          </p:cNvSpPr>
          <p:nvPr/>
        </p:nvSpPr>
        <p:spPr bwMode="auto">
          <a:xfrm>
            <a:off x="459740" y="906081"/>
            <a:ext cx="7933055" cy="1939989"/>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r>
              <a:rPr lang="zh-CN" altLang="en-US" dirty="0">
                <a:solidFill>
                  <a:srgbClr val="F9F9F9"/>
                </a:solidFill>
                <a:latin typeface="+mn-ea"/>
                <a:ea typeface="+mn-ea"/>
              </a:rPr>
              <a:t>：</a:t>
            </a:r>
            <a:endParaRPr lang="zh-CN" altLang="en-US" dirty="0">
              <a:solidFill>
                <a:srgbClr val="F9F9F9"/>
              </a:solidFill>
              <a:latin typeface="+mn-ea"/>
              <a:ea typeface="+mn-ea"/>
            </a:endParaRPr>
          </a:p>
          <a:p>
            <a:pPr algn="l"/>
            <a:r>
              <a:rPr lang="zh-CN" altLang="en-US" dirty="0">
                <a:solidFill>
                  <a:srgbClr val="F9F9F9"/>
                </a:solidFill>
                <a:latin typeface="+mn-ea"/>
                <a:ea typeface="+mn-ea"/>
              </a:rPr>
              <a:t>输入一个三位数，</a:t>
            </a:r>
            <a:r>
              <a:rPr lang="zh-CN" altLang="en-US" dirty="0">
                <a:solidFill>
                  <a:srgbClr val="F9F9F9"/>
                </a:solidFill>
                <a:latin typeface="+mn-ea"/>
                <a:ea typeface="+mn-ea"/>
              </a:rPr>
              <a:t>判断一个三位数是否是水仙花数</a:t>
            </a:r>
            <a:endParaRPr lang="zh-CN" altLang="en-US" dirty="0">
              <a:solidFill>
                <a:srgbClr val="F9F9F9"/>
              </a:solidFill>
              <a:latin typeface="+mn-ea"/>
              <a:ea typeface="+mn-ea"/>
            </a:endParaRPr>
          </a:p>
          <a:p>
            <a:pPr algn="l"/>
            <a:endParaRPr lang="zh-CN" altLang="en-US" dirty="0">
              <a:solidFill>
                <a:srgbClr val="F9F9F9"/>
              </a:solidFill>
              <a:latin typeface="+mn-ea"/>
              <a:ea typeface="+mn-ea"/>
            </a:endParaRPr>
          </a:p>
          <a:p>
            <a:pPr algn="l"/>
            <a:r>
              <a:rPr lang="zh-CN" altLang="en-US" dirty="0">
                <a:solidFill>
                  <a:srgbClr val="F9F9F9"/>
                </a:solidFill>
                <a:latin typeface="+mn-ea"/>
                <a:ea typeface="+mn-ea"/>
              </a:rPr>
              <a:t>补充知识：</a:t>
            </a:r>
            <a:endParaRPr lang="zh-CN" altLang="en-US" dirty="0">
              <a:solidFill>
                <a:srgbClr val="F9F9F9"/>
              </a:solidFill>
              <a:latin typeface="+mn-ea"/>
              <a:ea typeface="+mn-ea"/>
            </a:endParaRPr>
          </a:p>
          <a:p>
            <a:pPr algn="l"/>
            <a:r>
              <a:rPr lang="zh-CN" altLang="en-US" dirty="0">
                <a:solidFill>
                  <a:srgbClr val="F9F9F9"/>
                </a:solidFill>
                <a:latin typeface="+mn-ea"/>
                <a:ea typeface="+mn-ea"/>
              </a:rPr>
              <a:t>所谓水仙花数是指1个3位的十进制数，其各位数字的立方和等于该数本身。</a:t>
            </a:r>
            <a:endParaRPr lang="zh-CN" altLang="en-US" dirty="0">
              <a:solidFill>
                <a:srgbClr val="F9F9F9"/>
              </a:solidFill>
              <a:latin typeface="+mn-ea"/>
              <a:ea typeface="+mn-ea"/>
            </a:endParaRPr>
          </a:p>
          <a:p>
            <a:pPr algn="l"/>
            <a:r>
              <a:rPr lang="zh-CN" altLang="en-US" dirty="0">
                <a:solidFill>
                  <a:srgbClr val="F9F9F9"/>
                </a:solidFill>
                <a:latin typeface="+mn-ea"/>
                <a:ea typeface="+mn-ea"/>
              </a:rPr>
              <a:t>例如：153是水仙花数，因为153 = 13 + 53 + 33</a:t>
            </a:r>
            <a:endParaRPr lang="zh-CN" altLang="en-US" dirty="0">
              <a:solidFill>
                <a:srgbClr val="F9F9F9"/>
              </a:solidFill>
              <a:latin typeface="+mn-ea"/>
              <a:ea typeface="+mn-ea"/>
            </a:endParaRPr>
          </a:p>
        </p:txBody>
      </p:sp>
      <p:sp>
        <p:nvSpPr>
          <p:cNvPr id="3" name="圆角矩形标注 2"/>
          <p:cNvSpPr/>
          <p:nvPr/>
        </p:nvSpPr>
        <p:spPr>
          <a:xfrm>
            <a:off x="1666875" y="3631565"/>
            <a:ext cx="4314190" cy="770890"/>
          </a:xfrm>
          <a:prstGeom prst="wedgeRoundRectCallout">
            <a:avLst>
              <a:gd name="adj1" fmla="val -17361"/>
              <a:gd name="adj2" fmla="val -114174"/>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algn="l"/>
            <a:r>
              <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如果要求该函数只是用来判断</a:t>
            </a:r>
            <a:r>
              <a:rPr lang="zh-CN" altLang="zh-CN" sz="1800" smtClean="0">
                <a:ln>
                  <a:noFill/>
                </a:ln>
                <a:effectLst/>
                <a:ea typeface="宋体" panose="02010600030101010101" pitchFamily="2" charset="-122"/>
                <a:sym typeface="+mn-ea"/>
              </a:rPr>
              <a:t>一个三位数是否是水仙花数，又该如何实现呢？</a:t>
            </a:r>
            <a:endParaRPr lang="zh-CN" altLang="zh-CN" sz="1800" smtClean="0">
              <a:ln>
                <a:noFill/>
              </a:ln>
              <a:effectLst/>
              <a:ea typeface="宋体" panose="02010600030101010101" pitchFamily="2" charset="-122"/>
            </a:endParaRPr>
          </a:p>
          <a:p>
            <a:pPr algn="l"/>
            <a:endParaRPr lang="zh-CN" altLang="en-US" sz="1800" dirty="0">
              <a:solidFill>
                <a:srgbClr val="F9F9F9"/>
              </a:solidFill>
              <a:latin typeface="+mn-ea"/>
              <a:ea typeface="+mn-ea"/>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3" grpId="0" animBg="1"/>
      <p:bldP spid="3"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函数四种基本</a:t>
            </a:r>
            <a:r>
              <a:rPr lang="zh-CN" altLang="en-US" dirty="0"/>
              <a:t>表现形式</a:t>
            </a:r>
            <a:endParaRPr lang="zh-CN" altLang="en-US" dirty="0"/>
          </a:p>
        </p:txBody>
      </p:sp>
      <p:sp>
        <p:nvSpPr>
          <p:cNvPr id="7" name="Rectangle 3"/>
          <p:cNvSpPr txBox="1">
            <a:spLocks noChangeArrowheads="1"/>
          </p:cNvSpPr>
          <p:nvPr/>
        </p:nvSpPr>
        <p:spPr bwMode="auto">
          <a:xfrm>
            <a:off x="184785" y="833755"/>
            <a:ext cx="24384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函数四种基本</a:t>
            </a: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表现形式</a:t>
            </a:r>
            <a:endParaRPr lang="zh-CN" altLang="en-US" sz="1600" dirty="0"/>
          </a:p>
          <a:p>
            <a:pPr eaLnBrk="0" hangingPunct="0"/>
            <a:endParaRPr lang="zh-CN" altLang="en-US" sz="1600" dirty="0"/>
          </a:p>
          <a:p>
            <a:pPr eaLnBrk="0" hangingPunct="0"/>
            <a:endParaRPr lang="zh-CN" altLang="en-US" sz="1600" dirty="0"/>
          </a:p>
        </p:txBody>
      </p:sp>
      <p:sp>
        <p:nvSpPr>
          <p:cNvPr id="18" name="AutoShape 15"/>
          <p:cNvSpPr>
            <a:spLocks noChangeArrowheads="1"/>
          </p:cNvSpPr>
          <p:nvPr/>
        </p:nvSpPr>
        <p:spPr bwMode="auto">
          <a:xfrm>
            <a:off x="525145" y="1810385"/>
            <a:ext cx="3434715" cy="655410"/>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AutoShape 15"/>
          <p:cNvSpPr>
            <a:spLocks noChangeArrowheads="1"/>
          </p:cNvSpPr>
          <p:nvPr/>
        </p:nvSpPr>
        <p:spPr bwMode="auto">
          <a:xfrm>
            <a:off x="382270" y="3728085"/>
            <a:ext cx="3435350" cy="655410"/>
          </a:xfrm>
          <a:prstGeom prst="roundRect">
            <a:avLst>
              <a:gd name="adj" fmla="val 1347"/>
            </a:avLst>
          </a:prstGeom>
          <a:solidFill>
            <a:srgbClr val="EDF5FD"/>
          </a:solidFill>
          <a:ln w="28575">
            <a:solidFill>
              <a:srgbClr val="FF0000"/>
            </a:solidFill>
            <a:bevel/>
          </a:ln>
          <a:effectLst>
            <a:outerShdw sx="100999" sy="100999" algn="ctr" rotWithShape="0">
              <a:srgbClr val="000000">
                <a:alpha val="6999"/>
              </a:srgbClr>
            </a:outerShdw>
          </a:effectLst>
        </p:spPr>
        <p:txBody>
          <a:bodyPr wrap="square">
            <a:spAutoFit/>
          </a:bodyPr>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2  ...):</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AutoShape 15"/>
          <p:cNvSpPr>
            <a:spLocks noChangeArrowheads="1"/>
          </p:cNvSpPr>
          <p:nvPr/>
        </p:nvSpPr>
        <p:spPr bwMode="auto">
          <a:xfrm>
            <a:off x="4883785" y="1810385"/>
            <a:ext cx="3434715" cy="937032"/>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return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返回值</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AutoShape 15"/>
          <p:cNvSpPr>
            <a:spLocks noChangeArrowheads="1"/>
          </p:cNvSpPr>
          <p:nvPr/>
        </p:nvSpPr>
        <p:spPr bwMode="auto">
          <a:xfrm>
            <a:off x="4799965" y="3728085"/>
            <a:ext cx="3435350" cy="937032"/>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2  ...):</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return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返回值</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AutoShape 8"/>
          <p:cNvSpPr>
            <a:spLocks noChangeArrowheads="1"/>
          </p:cNvSpPr>
          <p:nvPr/>
        </p:nvSpPr>
        <p:spPr bwMode="auto">
          <a:xfrm>
            <a:off x="679450" y="1272066"/>
            <a:ext cx="2573655" cy="40814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无参无返回值函数</a:t>
            </a:r>
            <a:endParaRPr lang="zh-CN" altLang="en-US" dirty="0">
              <a:solidFill>
                <a:srgbClr val="F9F9F9"/>
              </a:solidFill>
              <a:latin typeface="+mn-ea"/>
              <a:ea typeface="+mn-ea"/>
            </a:endParaRPr>
          </a:p>
        </p:txBody>
      </p:sp>
      <p:sp>
        <p:nvSpPr>
          <p:cNvPr id="11" name="AutoShape 8"/>
          <p:cNvSpPr>
            <a:spLocks noChangeArrowheads="1"/>
          </p:cNvSpPr>
          <p:nvPr/>
        </p:nvSpPr>
        <p:spPr bwMode="auto">
          <a:xfrm>
            <a:off x="525145" y="3144681"/>
            <a:ext cx="2573655" cy="408144"/>
          </a:xfrm>
          <a:prstGeom prst="wedgeRoundRectCallout">
            <a:avLst>
              <a:gd name="adj1" fmla="val -32968"/>
              <a:gd name="adj2" fmla="val 50833"/>
              <a:gd name="adj3" fmla="val 16667"/>
            </a:avLst>
          </a:prstGeom>
          <a:solidFill>
            <a:srgbClr val="0070C0"/>
          </a:solidFill>
          <a:ln w="9525">
            <a:solidFill>
              <a:srgbClr val="FF0000"/>
            </a:solid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有</a:t>
            </a:r>
            <a:r>
              <a:rPr lang="zh-CN" altLang="en-US" dirty="0">
                <a:solidFill>
                  <a:srgbClr val="F9F9F9"/>
                </a:solidFill>
                <a:latin typeface="+mn-ea"/>
                <a:ea typeface="+mn-ea"/>
              </a:rPr>
              <a:t>参无返回值函数</a:t>
            </a:r>
            <a:endParaRPr lang="zh-CN" altLang="en-US" dirty="0">
              <a:solidFill>
                <a:srgbClr val="F9F9F9"/>
              </a:solidFill>
              <a:latin typeface="+mn-ea"/>
              <a:ea typeface="+mn-ea"/>
            </a:endParaRPr>
          </a:p>
        </p:txBody>
      </p:sp>
      <p:sp>
        <p:nvSpPr>
          <p:cNvPr id="12" name="AutoShape 8"/>
          <p:cNvSpPr>
            <a:spLocks noChangeArrowheads="1"/>
          </p:cNvSpPr>
          <p:nvPr/>
        </p:nvSpPr>
        <p:spPr bwMode="auto">
          <a:xfrm>
            <a:off x="5045710" y="1272066"/>
            <a:ext cx="2573655" cy="40814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无参有</a:t>
            </a:r>
            <a:r>
              <a:rPr lang="zh-CN" altLang="en-US" dirty="0">
                <a:solidFill>
                  <a:srgbClr val="F9F9F9"/>
                </a:solidFill>
                <a:latin typeface="+mn-ea"/>
                <a:ea typeface="+mn-ea"/>
              </a:rPr>
              <a:t>返回值函数</a:t>
            </a:r>
            <a:endParaRPr lang="zh-CN" altLang="en-US" dirty="0">
              <a:solidFill>
                <a:srgbClr val="F9F9F9"/>
              </a:solidFill>
              <a:latin typeface="+mn-ea"/>
              <a:ea typeface="+mn-ea"/>
            </a:endParaRPr>
          </a:p>
        </p:txBody>
      </p:sp>
      <p:sp>
        <p:nvSpPr>
          <p:cNvPr id="13" name="AutoShape 8"/>
          <p:cNvSpPr>
            <a:spLocks noChangeArrowheads="1"/>
          </p:cNvSpPr>
          <p:nvPr/>
        </p:nvSpPr>
        <p:spPr bwMode="auto">
          <a:xfrm>
            <a:off x="5231130" y="3144681"/>
            <a:ext cx="2573655" cy="40814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有</a:t>
            </a:r>
            <a:r>
              <a:rPr lang="zh-CN" altLang="en-US" dirty="0">
                <a:solidFill>
                  <a:srgbClr val="F9F9F9"/>
                </a:solidFill>
                <a:latin typeface="+mn-ea"/>
                <a:ea typeface="+mn-ea"/>
              </a:rPr>
              <a:t>参有</a:t>
            </a:r>
            <a:r>
              <a:rPr lang="zh-CN" altLang="en-US" dirty="0">
                <a:solidFill>
                  <a:srgbClr val="F9F9F9"/>
                </a:solidFill>
                <a:latin typeface="+mn-ea"/>
                <a:ea typeface="+mn-ea"/>
              </a:rPr>
              <a:t>返回值函数</a:t>
            </a:r>
            <a:endParaRPr lang="zh-CN" altLang="en-US" dirty="0">
              <a:solidFill>
                <a:srgbClr val="F9F9F9"/>
              </a:solidFill>
              <a:latin typeface="+mn-ea"/>
              <a:ea typeface="+mn-ea"/>
            </a:endParaRPr>
          </a:p>
        </p:txBody>
      </p:sp>
    </p:spTree>
  </p:cSld>
  <p:clrMapOvr>
    <a:masterClrMapping/>
  </p:clrMapOvr>
  <p:transition spd="slow">
    <p:push/>
  </p:transition>
  <p:timing>
    <p:tnLst>
      <p:par>
        <p:cTn id="1" dur="indefinite" restart="never" nodeType="tmRoot"/>
      </p:par>
    </p:tnLst>
    <p:bldLst>
      <p:bldP spid="18" grpId="1" animBg="1"/>
      <p:bldP spid="17" grpId="1" animBg="1"/>
      <p:bldP spid="6" grpId="1" animBg="1"/>
      <p:bldP spid="11" grpId="1" animBg="1"/>
      <p:bldP spid="8" grpId="1" animBg="1"/>
      <p:bldP spid="12" grpId="1" animBg="1"/>
      <p:bldP spid="9" grpId="1" animBg="1"/>
      <p:bldP spid="13"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有</a:t>
            </a:r>
            <a:r>
              <a:rPr lang="zh-CN" altLang="en-US" dirty="0"/>
              <a:t>参无返回值</a:t>
            </a:r>
            <a:r>
              <a:rPr lang="zh-CN" altLang="en-US" dirty="0"/>
              <a:t>函数</a:t>
            </a:r>
            <a:endParaRPr lang="zh-CN" altLang="en-US" dirty="0"/>
          </a:p>
        </p:txBody>
      </p:sp>
      <p:sp>
        <p:nvSpPr>
          <p:cNvPr id="7" name="Rectangle 3"/>
          <p:cNvSpPr txBox="1">
            <a:spLocks noChangeArrowheads="1"/>
          </p:cNvSpPr>
          <p:nvPr/>
        </p:nvSpPr>
        <p:spPr bwMode="auto">
          <a:xfrm>
            <a:off x="179512" y="1632610"/>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语法格式</a:t>
            </a:r>
            <a:endParaRPr lang="zh-CN" altLang="en-US" sz="1600" dirty="0"/>
          </a:p>
          <a:p>
            <a:pPr eaLnBrk="0" hangingPunct="0"/>
            <a:endParaRPr lang="zh-CN" altLang="en-US" sz="1600" dirty="0"/>
          </a:p>
          <a:p>
            <a:pPr eaLnBrk="0" hangingPunct="0"/>
            <a:endParaRPr lang="zh-CN" altLang="en-US" sz="1600" dirty="0"/>
          </a:p>
        </p:txBody>
      </p:sp>
      <p:sp>
        <p:nvSpPr>
          <p:cNvPr id="18" name="AutoShape 15"/>
          <p:cNvSpPr>
            <a:spLocks noChangeArrowheads="1"/>
          </p:cNvSpPr>
          <p:nvPr/>
        </p:nvSpPr>
        <p:spPr bwMode="auto">
          <a:xfrm>
            <a:off x="1187877" y="1637104"/>
            <a:ext cx="6264696" cy="1301862"/>
          </a:xfrm>
          <a:prstGeom prst="roundRect">
            <a:avLst>
              <a:gd name="adj" fmla="val 1347"/>
            </a:avLst>
          </a:prstGeom>
          <a:noFill/>
          <a:ln w="28575">
            <a:noFill/>
            <a:bevel/>
          </a:ln>
          <a:effectLst>
            <a:outerShdw sx="100999" sy="100999" algn="ctr" rotWithShape="0">
              <a:srgbClr val="000000">
                <a:alpha val="6999"/>
              </a:srgbClr>
            </a:outerShdw>
          </a:effectLst>
          <a:extLst>
            <a:ext uri="{909E8E84-426E-40DD-AFC4-6F175D3DCCD1}">
              <a14:hiddenFill xmlns:a14="http://schemas.microsoft.com/office/drawing/2010/main">
                <a:solidFill>
                  <a:srgbClr val="EDF5FD"/>
                </a:solidFill>
              </a14:hiddenFill>
            </a:ext>
          </a:extLst>
        </p:spPr>
        <p:txBody>
          <a:bodyPr wrap="square">
            <a:spAutoFit/>
          </a:bodyPr>
          <a:lstStyle/>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函数关键字  函数名</a:t>
            </a:r>
            <a:r>
              <a:rPr lang="en-US" altLang="zh-CN" sz="2000" b="1" dirty="0">
                <a:solidFill>
                  <a:srgbClr val="09131F"/>
                </a:solidFill>
                <a:latin typeface="+mn-ea"/>
                <a:ea typeface="+mn-ea"/>
                <a:cs typeface="+mn-ea"/>
              </a:rPr>
              <a:t>(</a:t>
            </a:r>
            <a:r>
              <a:rPr lang="zh-CN" altLang="en-US" sz="2000" b="1" dirty="0">
                <a:solidFill>
                  <a:srgbClr val="09131F"/>
                </a:solidFill>
                <a:latin typeface="+mn-ea"/>
                <a:ea typeface="+mn-ea"/>
                <a:cs typeface="+mn-ea"/>
              </a:rPr>
              <a:t>参数</a:t>
            </a:r>
            <a:r>
              <a:rPr lang="en-US" altLang="zh-CN" sz="2000" b="1" dirty="0">
                <a:solidFill>
                  <a:srgbClr val="09131F"/>
                </a:solidFill>
                <a:latin typeface="+mn-ea"/>
                <a:ea typeface="+mn-ea"/>
                <a:cs typeface="+mn-ea"/>
              </a:rPr>
              <a:t>1</a:t>
            </a:r>
            <a:r>
              <a:rPr lang="zh-CN" altLang="en-US" sz="2000" b="1" dirty="0">
                <a:solidFill>
                  <a:srgbClr val="09131F"/>
                </a:solidFill>
                <a:latin typeface="+mn-ea"/>
                <a:ea typeface="+mn-ea"/>
                <a:cs typeface="+mn-ea"/>
              </a:rPr>
              <a:t>，参数</a:t>
            </a:r>
            <a:r>
              <a:rPr lang="en-US" altLang="zh-CN" sz="2000" b="1" dirty="0">
                <a:solidFill>
                  <a:srgbClr val="09131F"/>
                </a:solidFill>
                <a:latin typeface="+mn-ea"/>
                <a:ea typeface="+mn-ea"/>
                <a:cs typeface="+mn-ea"/>
              </a:rPr>
              <a:t>2</a:t>
            </a:r>
            <a:r>
              <a:rPr lang="zh-CN" altLang="en-US" sz="2000" b="1" dirty="0">
                <a:solidFill>
                  <a:srgbClr val="09131F"/>
                </a:solidFill>
                <a:latin typeface="+mn-ea"/>
                <a:ea typeface="+mn-ea"/>
                <a:cs typeface="+mn-ea"/>
              </a:rPr>
              <a:t>，</a:t>
            </a:r>
            <a:r>
              <a:rPr lang="en-US" altLang="zh-CN" sz="2000" b="1" dirty="0">
                <a:solidFill>
                  <a:srgbClr val="09131F"/>
                </a:solidFill>
                <a:latin typeface="+mn-ea"/>
                <a:ea typeface="+mn-ea"/>
                <a:cs typeface="+mn-ea"/>
              </a:rPr>
              <a:t>...</a:t>
            </a:r>
            <a:r>
              <a:rPr lang="en-US" altLang="zh-CN" sz="2000" b="1" dirty="0">
                <a:solidFill>
                  <a:srgbClr val="09131F"/>
                </a:solidFill>
                <a:latin typeface="+mn-ea"/>
                <a:ea typeface="+mn-ea"/>
                <a:cs typeface="+mn-ea"/>
              </a:rPr>
              <a:t>):</a:t>
            </a:r>
            <a:endParaRPr lang="en-US" sz="2000" b="1"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dirty="0">
                <a:solidFill>
                  <a:srgbClr val="09131F"/>
                </a:solidFill>
                <a:latin typeface="+mn-ea"/>
                <a:ea typeface="+mn-ea"/>
                <a:cs typeface="+mn-ea"/>
              </a:rPr>
              <a:t>        '''</a:t>
            </a:r>
            <a:r>
              <a:rPr lang="zh-CN" altLang="en-US" sz="2000" dirty="0">
                <a:solidFill>
                  <a:srgbClr val="09131F"/>
                </a:solidFill>
                <a:latin typeface="+mn-ea"/>
                <a:ea typeface="+mn-ea"/>
                <a:cs typeface="+mn-ea"/>
              </a:rPr>
              <a:t>注释</a:t>
            </a:r>
            <a:r>
              <a:rPr lang="en-US" sz="2000" dirty="0">
                <a:solidFill>
                  <a:srgbClr val="09131F"/>
                </a:solidFill>
                <a:latin typeface="+mn-ea"/>
                <a:ea typeface="+mn-ea"/>
                <a:cs typeface="+mn-ea"/>
              </a:rPr>
              <a:t>'''</a:t>
            </a:r>
            <a:endParaRPr lang="en-US" sz="2000"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函数体    </a:t>
            </a:r>
            <a:r>
              <a:rPr lang="en-US" altLang="zh-CN"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函数实现的具体功能</a:t>
            </a:r>
            <a:endParaRPr lang="zh-CN" altLang="en-US" sz="2000" b="1" dirty="0">
              <a:solidFill>
                <a:srgbClr val="09131F"/>
              </a:solidFill>
              <a:latin typeface="+mn-ea"/>
              <a:ea typeface="+mn-ea"/>
              <a:cs typeface="+mn-ea"/>
            </a:endParaRPr>
          </a:p>
        </p:txBody>
      </p:sp>
      <p:sp>
        <p:nvSpPr>
          <p:cNvPr id="4" name="Rectangle 3"/>
          <p:cNvSpPr txBox="1">
            <a:spLocks noChangeArrowheads="1"/>
          </p:cNvSpPr>
          <p:nvPr/>
        </p:nvSpPr>
        <p:spPr bwMode="auto">
          <a:xfrm>
            <a:off x="276225" y="803275"/>
            <a:ext cx="300418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algn="l"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创建有</a:t>
            </a: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参无返回值</a:t>
            </a: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函数</a:t>
            </a:r>
            <a:endParaRPr lang="zh-CN" altLang="en-US" sz="1600" dirty="0"/>
          </a:p>
          <a:p>
            <a:pPr marL="0" indent="0" algn="l" eaLnBrk="0" hangingPunct="0"/>
            <a:endParaRPr lang="zh-CN" altLang="en-US" sz="1600" dirty="0"/>
          </a:p>
          <a:p>
            <a:pPr marL="0" indent="0" algn="l" eaLnBrk="0" hangingPunct="0"/>
            <a:endParaRPr lang="zh-CN" altLang="en-US" sz="1600" dirty="0"/>
          </a:p>
        </p:txBody>
      </p:sp>
      <p:sp>
        <p:nvSpPr>
          <p:cNvPr id="3" name="AutoShape 15"/>
          <p:cNvSpPr>
            <a:spLocks noChangeArrowheads="1"/>
          </p:cNvSpPr>
          <p:nvPr/>
        </p:nvSpPr>
        <p:spPr bwMode="auto">
          <a:xfrm>
            <a:off x="1188085" y="3848735"/>
            <a:ext cx="1837055" cy="495398"/>
          </a:xfrm>
          <a:prstGeom prst="roundRect">
            <a:avLst>
              <a:gd name="adj" fmla="val 1347"/>
            </a:avLst>
          </a:prstGeom>
          <a:noFill/>
          <a:ln w="28575">
            <a:noFill/>
            <a:bevel/>
          </a:ln>
          <a:effectLst>
            <a:outerShdw sx="100999" sy="100999" algn="ctr" rotWithShape="0">
              <a:srgbClr val="000000">
                <a:alpha val="6999"/>
              </a:srgbClr>
            </a:outerShdw>
          </a:effectLst>
          <a:extLst>
            <a:ext uri="{909E8E84-426E-40DD-AFC4-6F175D3DCCD1}">
              <a14:hiddenFill xmlns:a14="http://schemas.microsoft.com/office/drawing/2010/main">
                <a:solidFill>
                  <a:srgbClr val="EDF5FD"/>
                </a:solidFill>
              </a14:hiddenFill>
            </a:ext>
          </a:extLst>
        </p:spPr>
        <p:txBody>
          <a:bodyPr wrap="square">
            <a:spAutoFit/>
          </a:bodyPr>
          <a:p>
            <a:pPr algn="l" defTabSz="723900">
              <a:lnSpc>
                <a:spcPct val="130000"/>
              </a:lnSpc>
              <a:buClr>
                <a:schemeClr val="folHlink"/>
              </a:buClr>
              <a:buSzPct val="60000"/>
              <a:tabLst>
                <a:tab pos="444500" algn="l"/>
              </a:tabLst>
            </a:pPr>
            <a:r>
              <a:rPr lang="zh-CN" altLang="en-US" sz="2000" b="1" dirty="0">
                <a:solidFill>
                  <a:srgbClr val="09131F"/>
                </a:solidFill>
              </a:rPr>
              <a:t>函数名</a:t>
            </a:r>
            <a:r>
              <a:rPr lang="en-US" sz="2000" dirty="0">
                <a:solidFill>
                  <a:srgbClr val="09131F"/>
                </a:solidFill>
              </a:rPr>
              <a:t>(</a:t>
            </a:r>
            <a:r>
              <a:rPr lang="zh-CN" altLang="en-US" sz="2000" dirty="0">
                <a:solidFill>
                  <a:srgbClr val="09131F"/>
                </a:solidFill>
              </a:rPr>
              <a:t>参数</a:t>
            </a:r>
            <a:r>
              <a:rPr lang="en-US" sz="2000" dirty="0">
                <a:solidFill>
                  <a:srgbClr val="09131F"/>
                </a:solidFill>
              </a:rPr>
              <a:t> )</a:t>
            </a:r>
            <a:r>
              <a:rPr lang="en-US" sz="2000" b="1" dirty="0">
                <a:solidFill>
                  <a:srgbClr val="09131F"/>
                </a:solidFill>
              </a:rPr>
              <a:t> </a:t>
            </a:r>
            <a:endParaRPr lang="zh-CN" altLang="en-US" sz="2000" b="1" dirty="0">
              <a:solidFill>
                <a:srgbClr val="09131F"/>
              </a:solidFill>
            </a:endParaRPr>
          </a:p>
        </p:txBody>
      </p:sp>
      <p:sp>
        <p:nvSpPr>
          <p:cNvPr id="6" name="Rectangle 3"/>
          <p:cNvSpPr txBox="1">
            <a:spLocks noChangeArrowheads="1"/>
          </p:cNvSpPr>
          <p:nvPr/>
        </p:nvSpPr>
        <p:spPr bwMode="auto">
          <a:xfrm>
            <a:off x="179512" y="3121050"/>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调用格式</a:t>
            </a:r>
            <a:endPar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8" grpId="0" animBg="1"/>
      <p:bldP spid="18" grpId="1" animBg="1"/>
      <p:bldP spid="6" grpId="0"/>
      <p:bldP spid="6" grpId="1"/>
      <p:bldP spid="3" grpId="0" animBg="1"/>
      <p:bldP spid="3" grpId="1"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如何使用函数</a:t>
            </a:r>
            <a:endParaRPr lang="zh-CN" altLang="en-US" dirty="0"/>
          </a:p>
        </p:txBody>
      </p:sp>
      <p:sp>
        <p:nvSpPr>
          <p:cNvPr id="7" name="Rectangle 3"/>
          <p:cNvSpPr txBox="1">
            <a:spLocks noChangeArrowheads="1"/>
          </p:cNvSpPr>
          <p:nvPr/>
        </p:nvSpPr>
        <p:spPr bwMode="auto">
          <a:xfrm>
            <a:off x="179512" y="1345590"/>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语法格式</a:t>
            </a:r>
            <a:endParaRPr lang="zh-CN" altLang="en-US" sz="1600" dirty="0"/>
          </a:p>
          <a:p>
            <a:pPr eaLnBrk="0" hangingPunct="0"/>
            <a:endParaRPr lang="zh-CN" altLang="en-US" sz="1600" dirty="0"/>
          </a:p>
          <a:p>
            <a:pPr eaLnBrk="0" hangingPunct="0"/>
            <a:endParaRPr lang="zh-CN" altLang="en-US" sz="1600" dirty="0"/>
          </a:p>
        </p:txBody>
      </p:sp>
      <p:sp>
        <p:nvSpPr>
          <p:cNvPr id="18" name="AutoShape 15"/>
          <p:cNvSpPr>
            <a:spLocks noChangeArrowheads="1"/>
          </p:cNvSpPr>
          <p:nvPr/>
        </p:nvSpPr>
        <p:spPr bwMode="auto">
          <a:xfrm>
            <a:off x="1188085" y="1565275"/>
            <a:ext cx="5056505" cy="1301862"/>
          </a:xfrm>
          <a:prstGeom prst="roundRect">
            <a:avLst>
              <a:gd name="adj" fmla="val 1347"/>
            </a:avLst>
          </a:prstGeom>
          <a:noFill/>
          <a:ln w="28575">
            <a:noFill/>
            <a:bevel/>
          </a:ln>
          <a:effectLst>
            <a:outerShdw sx="100999" sy="100999" algn="ctr" rotWithShape="0">
              <a:srgbClr val="000000">
                <a:alpha val="6999"/>
              </a:srgbClr>
            </a:outerShdw>
          </a:effectLst>
          <a:extLst>
            <a:ext uri="{909E8E84-426E-40DD-AFC4-6F175D3DCCD1}">
              <a14:hiddenFill xmlns:a14="http://schemas.microsoft.com/office/drawing/2010/main">
                <a:solidFill>
                  <a:srgbClr val="EDF5FD"/>
                </a:solidFill>
              </a14:hiddenFill>
            </a:ext>
          </a:extLst>
        </p:spPr>
        <p:txBody>
          <a:bodyPr wrap="square">
            <a:spAutoFit/>
          </a:bodyPr>
          <a:lstStyle/>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函数关键字  函数名</a:t>
            </a:r>
            <a:r>
              <a:rPr lang="en-US" sz="2000" dirty="0">
                <a:solidFill>
                  <a:srgbClr val="09131F"/>
                </a:solidFill>
                <a:latin typeface="+mn-ea"/>
                <a:ea typeface="+mn-ea"/>
                <a:cs typeface="+mn-ea"/>
              </a:rPr>
              <a:t>( </a:t>
            </a:r>
            <a:r>
              <a:rPr lang="zh-CN" altLang="en-US" sz="2000" dirty="0">
                <a:solidFill>
                  <a:srgbClr val="09131F"/>
                </a:solidFill>
                <a:latin typeface="+mn-ea"/>
                <a:ea typeface="+mn-ea"/>
                <a:cs typeface="+mn-ea"/>
              </a:rPr>
              <a:t>参数</a:t>
            </a:r>
            <a:r>
              <a:rPr lang="en-US" sz="2000" dirty="0">
                <a:solidFill>
                  <a:srgbClr val="09131F"/>
                </a:solidFill>
                <a:latin typeface="+mn-ea"/>
                <a:ea typeface="+mn-ea"/>
                <a:cs typeface="+mn-ea"/>
              </a:rPr>
              <a:t>)</a:t>
            </a:r>
            <a:r>
              <a:rPr lang="en-US" sz="2000" b="1" dirty="0">
                <a:solidFill>
                  <a:srgbClr val="09131F"/>
                </a:solidFill>
                <a:latin typeface="+mn-ea"/>
                <a:ea typeface="+mn-ea"/>
                <a:cs typeface="+mn-ea"/>
              </a:rPr>
              <a:t>:</a:t>
            </a:r>
            <a:endParaRPr lang="en-US" sz="2000" b="1"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dirty="0">
                <a:solidFill>
                  <a:srgbClr val="09131F"/>
                </a:solidFill>
                <a:latin typeface="+mn-ea"/>
                <a:ea typeface="+mn-ea"/>
                <a:cs typeface="+mn-ea"/>
              </a:rPr>
              <a:t>        '''</a:t>
            </a:r>
            <a:r>
              <a:rPr lang="zh-CN" altLang="en-US" sz="2000" dirty="0">
                <a:solidFill>
                  <a:srgbClr val="09131F"/>
                </a:solidFill>
                <a:latin typeface="+mn-ea"/>
                <a:ea typeface="+mn-ea"/>
                <a:cs typeface="+mn-ea"/>
              </a:rPr>
              <a:t>注释</a:t>
            </a:r>
            <a:r>
              <a:rPr lang="en-US" sz="2000" dirty="0">
                <a:solidFill>
                  <a:srgbClr val="09131F"/>
                </a:solidFill>
                <a:latin typeface="+mn-ea"/>
                <a:ea typeface="+mn-ea"/>
                <a:cs typeface="+mn-ea"/>
              </a:rPr>
              <a:t>'''</a:t>
            </a:r>
            <a:endParaRPr lang="en-US" sz="2000"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函数体    </a:t>
            </a:r>
            <a:r>
              <a:rPr lang="en-US" altLang="zh-CN"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函数实现的具体功能</a:t>
            </a:r>
            <a:endParaRPr lang="zh-CN" altLang="en-US" sz="2000" b="1" dirty="0">
              <a:solidFill>
                <a:srgbClr val="09131F"/>
              </a:solidFill>
              <a:latin typeface="+mn-ea"/>
              <a:ea typeface="+mn-ea"/>
              <a:cs typeface="+mn-ea"/>
            </a:endParaRPr>
          </a:p>
        </p:txBody>
      </p:sp>
      <p:sp>
        <p:nvSpPr>
          <p:cNvPr id="9" name="AutoShape 15"/>
          <p:cNvSpPr>
            <a:spLocks noChangeArrowheads="1"/>
          </p:cNvSpPr>
          <p:nvPr/>
        </p:nvSpPr>
        <p:spPr bwMode="auto">
          <a:xfrm>
            <a:off x="1259632" y="3265810"/>
            <a:ext cx="7056784" cy="1643009"/>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r>
              <a:rPr lang="en-US" altLang="zh-CN" sz="2000" dirty="0">
                <a:latin typeface="Calibri" panose="020F0502020204030204" pitchFamily="34" charset="0"/>
                <a:cs typeface="Calibri" panose="020F0502020204030204" pitchFamily="34" charset="0"/>
              </a:rPr>
              <a:t> def    say (number):</a:t>
            </a:r>
            <a:endParaRPr lang="en-US" altLang="zh-CN" sz="2000" dirty="0">
              <a:latin typeface="Calibri" panose="020F0502020204030204" pitchFamily="34" charset="0"/>
              <a:cs typeface="Calibri" panose="020F0502020204030204" pitchFamily="34" charset="0"/>
            </a:endParaRPr>
          </a:p>
          <a:p>
            <a:pPr algn="l"/>
            <a:r>
              <a:rPr lang="en-US" sz="2000" dirty="0">
                <a:latin typeface="Calibri" panose="020F0502020204030204" pitchFamily="34" charset="0"/>
                <a:cs typeface="Calibri" panose="020F0502020204030204" pitchFamily="34" charset="0"/>
              </a:rPr>
              <a:t>        </a:t>
            </a:r>
            <a:r>
              <a:rPr lang="en-US" altLang="zh-CN" sz="2000" dirty="0">
                <a:solidFill>
                  <a:srgbClr val="09131F"/>
                </a:solidFill>
                <a:latin typeface="Calibri" panose="020F0502020204030204" pitchFamily="34" charset="0"/>
                <a:cs typeface="Calibri" panose="020F0502020204030204" pitchFamily="34" charset="0"/>
              </a:rPr>
              <a:t>'''</a:t>
            </a:r>
            <a:r>
              <a:rPr lang="zh-CN" altLang="en-US" sz="2000" dirty="0">
                <a:solidFill>
                  <a:srgbClr val="09131F"/>
                </a:solidFill>
                <a:latin typeface="Calibri" panose="020F0502020204030204" pitchFamily="34" charset="0"/>
                <a:cs typeface="Calibri" panose="020F0502020204030204" pitchFamily="34" charset="0"/>
              </a:rPr>
              <a:t>循环打印</a:t>
            </a:r>
            <a:r>
              <a:rPr lang="en-US" altLang="zh-CN" sz="2000" dirty="0">
                <a:solidFill>
                  <a:srgbClr val="09131F"/>
                </a:solidFill>
                <a:latin typeface="Calibri" panose="020F0502020204030204" pitchFamily="34" charset="0"/>
                <a:cs typeface="Calibri" panose="020F0502020204030204" pitchFamily="34" charset="0"/>
              </a:rPr>
              <a:t>number</a:t>
            </a:r>
            <a:r>
              <a:rPr lang="zh-CN" altLang="en-US" sz="2000" dirty="0">
                <a:solidFill>
                  <a:srgbClr val="09131F"/>
                </a:solidFill>
                <a:latin typeface="Calibri" panose="020F0502020204030204" pitchFamily="34" charset="0"/>
                <a:cs typeface="Calibri" panose="020F0502020204030204" pitchFamily="34" charset="0"/>
              </a:rPr>
              <a:t>次知识简简单单，学习快快乐乐</a:t>
            </a:r>
            <a:r>
              <a:rPr lang="en-US" altLang="zh-CN" sz="2000" dirty="0">
                <a:solidFill>
                  <a:srgbClr val="09131F"/>
                </a:solidFill>
                <a:latin typeface="Calibri" panose="020F0502020204030204" pitchFamily="34" charset="0"/>
                <a:cs typeface="Calibri" panose="020F0502020204030204" pitchFamily="34" charset="0"/>
              </a:rPr>
              <a:t>'''</a:t>
            </a:r>
            <a:endParaRPr sz="2000" dirty="0">
              <a:latin typeface="Calibri" panose="020F0502020204030204" pitchFamily="34" charset="0"/>
              <a:cs typeface="Calibri" panose="020F0502020204030204" pitchFamily="34" charset="0"/>
            </a:endParaRPr>
          </a:p>
          <a:p>
            <a:pPr algn="l"/>
            <a:r>
              <a:rPr sz="2000" dirty="0">
                <a:latin typeface="Calibri" panose="020F0502020204030204" pitchFamily="34" charset="0"/>
                <a:cs typeface="Calibri" panose="020F0502020204030204" pitchFamily="34" charset="0"/>
              </a:rPr>
              <a:t>        for </a:t>
            </a:r>
            <a:r>
              <a:rPr sz="2000" dirty="0" err="1">
                <a:latin typeface="Calibri" panose="020F0502020204030204" pitchFamily="34" charset="0"/>
                <a:cs typeface="Calibri" panose="020F0502020204030204" pitchFamily="34" charset="0"/>
              </a:rPr>
              <a:t>i</a:t>
            </a:r>
            <a:r>
              <a:rPr sz="2000" dirty="0">
                <a:latin typeface="Calibri" panose="020F0502020204030204" pitchFamily="34" charset="0"/>
                <a:cs typeface="Calibri" panose="020F0502020204030204" pitchFamily="34" charset="0"/>
              </a:rPr>
              <a:t> in range(number):</a:t>
            </a:r>
            <a:endParaRPr sz="2000" dirty="0">
              <a:latin typeface="Calibri" panose="020F0502020204030204" pitchFamily="34" charset="0"/>
              <a:cs typeface="Calibri" panose="020F0502020204030204" pitchFamily="34" charset="0"/>
            </a:endParaRPr>
          </a:p>
          <a:p>
            <a:pPr algn="l"/>
            <a:r>
              <a:rPr sz="2000" dirty="0">
                <a:latin typeface="Calibri" panose="020F0502020204030204" pitchFamily="34" charset="0"/>
                <a:cs typeface="Calibri" panose="020F0502020204030204" pitchFamily="34" charset="0"/>
              </a:rPr>
              <a:t>              print("</a:t>
            </a:r>
            <a:r>
              <a:rPr sz="2000" dirty="0" err="1">
                <a:latin typeface="Calibri" panose="020F0502020204030204" pitchFamily="34" charset="0"/>
                <a:cs typeface="Calibri" panose="020F0502020204030204" pitchFamily="34" charset="0"/>
              </a:rPr>
              <a:t>知识简简单单，学习快快乐乐</a:t>
            </a:r>
            <a:r>
              <a:rPr sz="2000" dirty="0">
                <a:latin typeface="Calibri" panose="020F0502020204030204" pitchFamily="34" charset="0"/>
                <a:cs typeface="Calibri" panose="020F0502020204030204" pitchFamily="34" charset="0"/>
              </a:rPr>
              <a:t>")</a:t>
            </a:r>
            <a:endParaRPr sz="2000" dirty="0">
              <a:latin typeface="Calibri" panose="020F0502020204030204" pitchFamily="34" charset="0"/>
              <a:cs typeface="Calibri" panose="020F0502020204030204" pitchFamily="34" charset="0"/>
            </a:endParaRPr>
          </a:p>
          <a:p>
            <a:pPr algn="l"/>
            <a:endParaRPr lang="en-US" sz="2000" dirty="0">
              <a:solidFill>
                <a:srgbClr val="09131F"/>
              </a:solidFill>
              <a:latin typeface="Calibri" panose="020F0502020204030204" pitchFamily="34" charset="0"/>
              <a:cs typeface="Calibri" panose="020F0502020204030204" pitchFamily="34" charset="0"/>
            </a:endParaRPr>
          </a:p>
        </p:txBody>
      </p:sp>
      <p:sp>
        <p:nvSpPr>
          <p:cNvPr id="10" name="Rectangle 3"/>
          <p:cNvSpPr txBox="1">
            <a:spLocks noChangeArrowheads="1"/>
          </p:cNvSpPr>
          <p:nvPr/>
        </p:nvSpPr>
        <p:spPr bwMode="auto">
          <a:xfrm>
            <a:off x="179512" y="2923917"/>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代码举例</a:t>
            </a:r>
            <a:endParaRPr lang="zh-CN" altLang="en-US" sz="1600" dirty="0"/>
          </a:p>
          <a:p>
            <a:pPr eaLnBrk="0" hangingPunct="0"/>
            <a:endParaRPr lang="zh-CN" altLang="en-US" sz="1600" dirty="0"/>
          </a:p>
          <a:p>
            <a:pPr eaLnBrk="0" hangingPunct="0"/>
            <a:endParaRPr lang="zh-CN" altLang="en-US" sz="1600" dirty="0"/>
          </a:p>
        </p:txBody>
      </p:sp>
      <p:sp>
        <p:nvSpPr>
          <p:cNvPr id="11" name="圆角矩形 10"/>
          <p:cNvSpPr/>
          <p:nvPr/>
        </p:nvSpPr>
        <p:spPr bwMode="auto">
          <a:xfrm>
            <a:off x="1908810" y="3352800"/>
            <a:ext cx="438785" cy="288290"/>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12" name="直接箭头连接符 11"/>
          <p:cNvCxnSpPr>
            <a:stCxn id="11" idx="0"/>
          </p:cNvCxnSpPr>
          <p:nvPr/>
        </p:nvCxnSpPr>
        <p:spPr bwMode="auto">
          <a:xfrm flipV="1">
            <a:off x="2128520" y="1924050"/>
            <a:ext cx="643890" cy="1428750"/>
          </a:xfrm>
          <a:prstGeom prst="straightConnector1">
            <a:avLst/>
          </a:prstGeom>
          <a:solidFill>
            <a:schemeClr val="accent1"/>
          </a:solidFill>
          <a:ln w="28575" cap="flat" cmpd="sng" algn="ctr">
            <a:solidFill>
              <a:srgbClr val="0070C0"/>
            </a:solidFill>
            <a:prstDash val="solid"/>
            <a:round/>
            <a:headEnd type="none" w="med" len="med"/>
            <a:tailEnd type="arrow"/>
          </a:ln>
        </p:spPr>
      </p:cxnSp>
      <p:sp>
        <p:nvSpPr>
          <p:cNvPr id="14" name="圆角矩形 13"/>
          <p:cNvSpPr/>
          <p:nvPr/>
        </p:nvSpPr>
        <p:spPr bwMode="auto">
          <a:xfrm>
            <a:off x="2347595" y="3352800"/>
            <a:ext cx="1060450" cy="288290"/>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15" name="直接箭头连接符 14"/>
          <p:cNvCxnSpPr/>
          <p:nvPr/>
        </p:nvCxnSpPr>
        <p:spPr bwMode="auto">
          <a:xfrm flipV="1">
            <a:off x="3347720" y="1995805"/>
            <a:ext cx="594360" cy="1367790"/>
          </a:xfrm>
          <a:prstGeom prst="straightConnector1">
            <a:avLst/>
          </a:prstGeom>
          <a:solidFill>
            <a:schemeClr val="accent1"/>
          </a:solidFill>
          <a:ln w="28575" cap="flat" cmpd="sng" algn="ctr">
            <a:solidFill>
              <a:srgbClr val="0070C0"/>
            </a:solidFill>
            <a:prstDash val="solid"/>
            <a:round/>
            <a:headEnd type="none" w="med" len="med"/>
            <a:tailEnd type="arrow"/>
          </a:ln>
        </p:spPr>
      </p:cxnSp>
      <p:sp>
        <p:nvSpPr>
          <p:cNvPr id="23" name="圆角矩形 22"/>
          <p:cNvSpPr/>
          <p:nvPr/>
        </p:nvSpPr>
        <p:spPr bwMode="auto">
          <a:xfrm>
            <a:off x="1706880" y="3942715"/>
            <a:ext cx="6322060" cy="678180"/>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24" name="直接箭头连接符 23"/>
          <p:cNvCxnSpPr/>
          <p:nvPr/>
        </p:nvCxnSpPr>
        <p:spPr bwMode="auto">
          <a:xfrm flipV="1">
            <a:off x="1906905" y="2787650"/>
            <a:ext cx="216535" cy="1226820"/>
          </a:xfrm>
          <a:prstGeom prst="straightConnector1">
            <a:avLst/>
          </a:prstGeom>
          <a:solidFill>
            <a:schemeClr val="accent1"/>
          </a:solidFill>
          <a:ln w="28575" cap="flat" cmpd="sng" algn="ctr">
            <a:solidFill>
              <a:srgbClr val="0070C0"/>
            </a:solidFill>
            <a:prstDash val="solid"/>
            <a:round/>
            <a:headEnd type="none" w="med" len="med"/>
            <a:tailEnd type="arrow"/>
          </a:ln>
        </p:spPr>
      </p:cxnSp>
      <p:sp>
        <p:nvSpPr>
          <p:cNvPr id="16" name="圆角矩形 15"/>
          <p:cNvSpPr/>
          <p:nvPr/>
        </p:nvSpPr>
        <p:spPr bwMode="auto">
          <a:xfrm>
            <a:off x="1358900" y="3352800"/>
            <a:ext cx="563245" cy="277495"/>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17" name="直接箭头连接符 16"/>
          <p:cNvCxnSpPr/>
          <p:nvPr/>
        </p:nvCxnSpPr>
        <p:spPr bwMode="auto">
          <a:xfrm flipV="1">
            <a:off x="1691640" y="1924050"/>
            <a:ext cx="0" cy="1511300"/>
          </a:xfrm>
          <a:prstGeom prst="straightConnector1">
            <a:avLst/>
          </a:prstGeom>
          <a:solidFill>
            <a:schemeClr val="accent1"/>
          </a:solidFill>
          <a:ln w="28575" cap="flat" cmpd="sng" algn="ctr">
            <a:solidFill>
              <a:srgbClr val="0070C0"/>
            </a:solidFill>
            <a:prstDash val="solid"/>
            <a:round/>
            <a:headEnd type="none" w="med" len="med"/>
            <a:tailEnd type="arrow"/>
          </a:ln>
        </p:spPr>
      </p:cxnSp>
      <p:sp>
        <p:nvSpPr>
          <p:cNvPr id="4" name="Rectangle 3"/>
          <p:cNvSpPr txBox="1">
            <a:spLocks noChangeArrowheads="1"/>
          </p:cNvSpPr>
          <p:nvPr/>
        </p:nvSpPr>
        <p:spPr bwMode="auto">
          <a:xfrm>
            <a:off x="179705" y="849630"/>
            <a:ext cx="23050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algn="l" eaLnBrk="0" hangingPunct="0">
              <a:lnSpc>
                <a:spcPct val="90000"/>
              </a:lnSpc>
              <a:spcBef>
                <a:spcPts val="1000"/>
              </a:spcBef>
            </a:pPr>
            <a:r>
              <a:rPr lang="zh-CN" altLang="en-US" sz="1600" dirty="0">
                <a:solidFill>
                  <a:srgbClr val="0070C0"/>
                </a:solidFill>
                <a:latin typeface="+mn-ea"/>
                <a:ea typeface="+mn-ea"/>
                <a:sym typeface="Calibri" panose="020F0502020204030204" pitchFamily="34" charset="0"/>
              </a:rPr>
              <a:t>创建有参函数</a:t>
            </a:r>
            <a:r>
              <a:rPr lang="en-US" altLang="zh-CN" sz="1600" dirty="0">
                <a:solidFill>
                  <a:srgbClr val="0070C0"/>
                </a:solidFill>
                <a:latin typeface="+mn-ea"/>
                <a:ea typeface="+mn-ea"/>
                <a:sym typeface="Calibri" panose="020F0502020204030204" pitchFamily="34" charset="0"/>
              </a:rPr>
              <a:t>-</a:t>
            </a:r>
            <a:r>
              <a:rPr lang="zh-CN" altLang="en-US" sz="1600" dirty="0">
                <a:solidFill>
                  <a:srgbClr val="0070C0"/>
                </a:solidFill>
                <a:latin typeface="+mn-ea"/>
                <a:ea typeface="+mn-ea"/>
                <a:sym typeface="Calibri" panose="020F0502020204030204" pitchFamily="34" charset="0"/>
              </a:rPr>
              <a:t>单参数</a:t>
            </a:r>
            <a:endParaRPr lang="zh-CN" altLang="en-US" sz="1600" dirty="0">
              <a:latin typeface="+mn-ea"/>
              <a:ea typeface="+mn-ea"/>
            </a:endParaRPr>
          </a:p>
          <a:p>
            <a:pPr eaLnBrk="0" hangingPunct="0"/>
            <a:endParaRPr lang="zh-CN" altLang="en-US" sz="1600" dirty="0">
              <a:latin typeface="+mn-ea"/>
              <a:ea typeface="+mn-ea"/>
            </a:endParaRPr>
          </a:p>
          <a:p>
            <a:pPr eaLnBrk="0" hangingPunct="0"/>
            <a:endParaRPr lang="zh-CN" altLang="en-US" sz="1600" dirty="0">
              <a:latin typeface="+mn-ea"/>
              <a:ea typeface="+mn-ea"/>
            </a:endParaRPr>
          </a:p>
        </p:txBody>
      </p:sp>
      <p:cxnSp>
        <p:nvCxnSpPr>
          <p:cNvPr id="5" name="直接箭头连接符 4"/>
          <p:cNvCxnSpPr/>
          <p:nvPr/>
        </p:nvCxnSpPr>
        <p:spPr bwMode="auto">
          <a:xfrm flipH="1" flipV="1">
            <a:off x="2484120" y="2211705"/>
            <a:ext cx="1943735" cy="1440180"/>
          </a:xfrm>
          <a:prstGeom prst="straightConnector1">
            <a:avLst/>
          </a:prstGeom>
          <a:solidFill>
            <a:schemeClr val="accent1"/>
          </a:solidFill>
          <a:ln w="28575" cap="flat" cmpd="sng" algn="ctr">
            <a:solidFill>
              <a:srgbClr val="0070C0"/>
            </a:solidFill>
            <a:prstDash val="solid"/>
            <a:round/>
            <a:headEnd type="none" w="med" len="med"/>
            <a:tailEnd type="arrow"/>
          </a:ln>
        </p:spPr>
      </p:cxn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500" fill="hold">
                                          <p:stCondLst>
                                            <p:cond delay="0"/>
                                          </p:stCondLst>
                                        </p:cTn>
                                        <p:tgtEl>
                                          <p:spTgt spid="18"/>
                                        </p:tgtEl>
                                        <p:attrNameLst>
                                          <p:attrName>style.visibility</p:attrName>
                                        </p:attrNameLst>
                                      </p:cBhvr>
                                      <p:to>
                                        <p:strVal val="visible"/>
                                      </p:to>
                                    </p:set>
                                    <p:animEffect transition="in" filter="blinds(horizontal)">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heel(1)">
                                      <p:cBhvr>
                                        <p:cTn id="25" dur="2000"/>
                                        <p:tgtEl>
                                          <p:spTgt spid="16"/>
                                        </p:tgtEl>
                                      </p:cBhvr>
                                    </p:animEffect>
                                  </p:childTnLst>
                                </p:cTn>
                              </p:par>
                            </p:childTnLst>
                          </p:cTn>
                        </p:par>
                        <p:par>
                          <p:cTn id="26" fill="hold">
                            <p:stCondLst>
                              <p:cond delay="2000"/>
                            </p:stCondLst>
                            <p:childTnLst>
                              <p:par>
                                <p:cTn id="27" presetID="2" presetClass="entr" presetSubtype="4"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heel(1)">
                                      <p:cBhvr>
                                        <p:cTn id="35" dur="2000"/>
                                        <p:tgtEl>
                                          <p:spTgt spid="11"/>
                                        </p:tgtEl>
                                      </p:cBhvr>
                                    </p:animEffect>
                                  </p:childTnLst>
                                </p:cTn>
                              </p:par>
                            </p:childTnLst>
                          </p:cTn>
                        </p:par>
                        <p:par>
                          <p:cTn id="36" fill="hold">
                            <p:stCondLst>
                              <p:cond delay="2000"/>
                            </p:stCondLst>
                            <p:childTnLst>
                              <p:par>
                                <p:cTn id="37" presetID="2" presetClass="entr" presetSubtype="4"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1" presetClass="entr" presetSubtype="1"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heel(1)">
                                      <p:cBhvr>
                                        <p:cTn id="45" dur="2000"/>
                                        <p:tgtEl>
                                          <p:spTgt spid="14"/>
                                        </p:tgtEl>
                                      </p:cBhvr>
                                    </p:animEffect>
                                  </p:childTnLst>
                                </p:cTn>
                              </p:par>
                            </p:childTnLst>
                          </p:cTn>
                        </p:par>
                        <p:par>
                          <p:cTn id="46" fill="hold">
                            <p:stCondLst>
                              <p:cond delay="2000"/>
                            </p:stCondLst>
                            <p:childTnLst>
                              <p:par>
                                <p:cTn id="47" presetID="42" presetClass="entr" presetSubtype="0" fill="hold"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1000"/>
                                        <p:tgtEl>
                                          <p:spTgt spid="15"/>
                                        </p:tgtEl>
                                      </p:cBhvr>
                                    </p:animEffect>
                                    <p:anim calcmode="lin" valueType="num">
                                      <p:cBhvr>
                                        <p:cTn id="50" dur="1000" fill="hold"/>
                                        <p:tgtEl>
                                          <p:spTgt spid="15"/>
                                        </p:tgtEl>
                                        <p:attrNameLst>
                                          <p:attrName>ppt_x</p:attrName>
                                        </p:attrNameLst>
                                      </p:cBhvr>
                                      <p:tavLst>
                                        <p:tav tm="0">
                                          <p:val>
                                            <p:strVal val="#ppt_x"/>
                                          </p:val>
                                        </p:tav>
                                        <p:tav tm="100000">
                                          <p:val>
                                            <p:strVal val="#ppt_x"/>
                                          </p:val>
                                        </p:tav>
                                      </p:tavLst>
                                    </p:anim>
                                    <p:anim calcmode="lin" valueType="num">
                                      <p:cBhvr>
                                        <p:cTn id="5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1" presetClass="entr" presetSubtype="1"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heel(1)">
                                      <p:cBhvr>
                                        <p:cTn id="56" dur="2000"/>
                                        <p:tgtEl>
                                          <p:spTgt spid="23"/>
                                        </p:tgtEl>
                                      </p:cBhvr>
                                    </p:animEffect>
                                  </p:childTnLst>
                                </p:cTn>
                              </p:par>
                            </p:childTnLst>
                          </p:cTn>
                        </p:par>
                        <p:par>
                          <p:cTn id="57" fill="hold">
                            <p:stCondLst>
                              <p:cond delay="2000"/>
                            </p:stCondLst>
                            <p:childTnLst>
                              <p:par>
                                <p:cTn id="58" presetID="2" presetClass="entr" presetSubtype="4" fill="hold" nodeType="afterEffect">
                                  <p:stCondLst>
                                    <p:cond delay="0"/>
                                  </p:stCondLst>
                                  <p:childTnLst>
                                    <p:set>
                                      <p:cBhvr>
                                        <p:cTn id="59" dur="1" fill="hold">
                                          <p:stCondLst>
                                            <p:cond delay="0"/>
                                          </p:stCondLst>
                                        </p:cTn>
                                        <p:tgtEl>
                                          <p:spTgt spid="24"/>
                                        </p:tgtEl>
                                        <p:attrNameLst>
                                          <p:attrName>style.visibility</p:attrName>
                                        </p:attrNameLst>
                                      </p:cBhvr>
                                      <p:to>
                                        <p:strVal val="visible"/>
                                      </p:to>
                                    </p:set>
                                    <p:anim calcmode="lin" valueType="num">
                                      <p:cBhvr additive="base">
                                        <p:cTn id="60" dur="500" fill="hold"/>
                                        <p:tgtEl>
                                          <p:spTgt spid="24"/>
                                        </p:tgtEl>
                                        <p:attrNameLst>
                                          <p:attrName>ppt_x</p:attrName>
                                        </p:attrNameLst>
                                      </p:cBhvr>
                                      <p:tavLst>
                                        <p:tav tm="0">
                                          <p:val>
                                            <p:strVal val="#ppt_x"/>
                                          </p:val>
                                        </p:tav>
                                        <p:tav tm="100000">
                                          <p:val>
                                            <p:strVal val="#ppt_x"/>
                                          </p:val>
                                        </p:tav>
                                      </p:tavLst>
                                    </p:anim>
                                    <p:anim calcmode="lin" valueType="num">
                                      <p:cBhvr additive="base">
                                        <p:cTn id="61"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5"/>
                                        </p:tgtEl>
                                        <p:attrNameLst>
                                          <p:attrName>style.visibility</p:attrName>
                                        </p:attrNameLst>
                                      </p:cBhvr>
                                      <p:to>
                                        <p:strVal val="visible"/>
                                      </p:to>
                                    </p:set>
                                    <p:anim calcmode="lin" valueType="num">
                                      <p:cBhvr additive="base">
                                        <p:cTn id="66" dur="500" fill="hold"/>
                                        <p:tgtEl>
                                          <p:spTgt spid="5"/>
                                        </p:tgtEl>
                                        <p:attrNameLst>
                                          <p:attrName>ppt_x</p:attrName>
                                        </p:attrNameLst>
                                      </p:cBhvr>
                                      <p:tavLst>
                                        <p:tav tm="0">
                                          <p:val>
                                            <p:strVal val="#ppt_x"/>
                                          </p:val>
                                        </p:tav>
                                        <p:tav tm="100000">
                                          <p:val>
                                            <p:strVal val="#ppt_x"/>
                                          </p:val>
                                        </p:tav>
                                      </p:tavLst>
                                    </p:anim>
                                    <p:anim calcmode="lin" valueType="num">
                                      <p:cBhvr additive="base">
                                        <p:cTn id="6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8" grpId="0" bldLvl="0" animBg="1"/>
      <p:bldP spid="9" grpId="0" bldLvl="0" animBg="1"/>
      <p:bldP spid="10" grpId="0"/>
      <p:bldP spid="11" grpId="0" bldLvl="0" animBg="1"/>
      <p:bldP spid="14" grpId="0" bldLvl="0" animBg="1"/>
      <p:bldP spid="23" grpId="0" bldLvl="0" animBg="1"/>
      <p:bldP spid="16"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如何使用函数</a:t>
            </a:r>
            <a:endParaRPr lang="zh-CN" altLang="en-US" dirty="0"/>
          </a:p>
        </p:txBody>
      </p:sp>
      <p:sp>
        <p:nvSpPr>
          <p:cNvPr id="7" name="Rectangle 3"/>
          <p:cNvSpPr txBox="1">
            <a:spLocks noChangeArrowheads="1"/>
          </p:cNvSpPr>
          <p:nvPr/>
        </p:nvSpPr>
        <p:spPr bwMode="auto">
          <a:xfrm>
            <a:off x="179512" y="1345590"/>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语法格式</a:t>
            </a:r>
            <a:endParaRPr lang="zh-CN" altLang="en-US" sz="1600" dirty="0"/>
          </a:p>
          <a:p>
            <a:pPr eaLnBrk="0" hangingPunct="0"/>
            <a:endParaRPr lang="zh-CN" altLang="en-US" sz="1600" dirty="0"/>
          </a:p>
          <a:p>
            <a:pPr eaLnBrk="0" hangingPunct="0"/>
            <a:endParaRPr lang="zh-CN" altLang="en-US" sz="1600" dirty="0"/>
          </a:p>
        </p:txBody>
      </p:sp>
      <p:sp>
        <p:nvSpPr>
          <p:cNvPr id="18" name="AutoShape 15"/>
          <p:cNvSpPr>
            <a:spLocks noChangeArrowheads="1"/>
          </p:cNvSpPr>
          <p:nvPr/>
        </p:nvSpPr>
        <p:spPr bwMode="auto">
          <a:xfrm>
            <a:off x="1188085" y="1565275"/>
            <a:ext cx="5056505" cy="1301862"/>
          </a:xfrm>
          <a:prstGeom prst="roundRect">
            <a:avLst>
              <a:gd name="adj" fmla="val 1347"/>
            </a:avLst>
          </a:prstGeom>
          <a:noFill/>
          <a:ln w="28575">
            <a:noFill/>
            <a:bevel/>
          </a:ln>
          <a:effectLst>
            <a:outerShdw sx="100999" sy="100999" algn="ctr" rotWithShape="0">
              <a:srgbClr val="000000">
                <a:alpha val="6999"/>
              </a:srgbClr>
            </a:outerShdw>
          </a:effectLst>
          <a:extLst>
            <a:ext uri="{909E8E84-426E-40DD-AFC4-6F175D3DCCD1}">
              <a14:hiddenFill xmlns:a14="http://schemas.microsoft.com/office/drawing/2010/main">
                <a:solidFill>
                  <a:srgbClr val="EDF5FD"/>
                </a:solidFill>
              </a14:hiddenFill>
            </a:ext>
          </a:extLst>
        </p:spPr>
        <p:txBody>
          <a:bodyPr wrap="square">
            <a:spAutoFit/>
          </a:bodyPr>
          <a:lstStyle/>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函数关键字  函数名</a:t>
            </a:r>
            <a:r>
              <a:rPr lang="en-US" sz="2000" dirty="0">
                <a:solidFill>
                  <a:srgbClr val="09131F"/>
                </a:solidFill>
                <a:latin typeface="+mn-ea"/>
                <a:ea typeface="+mn-ea"/>
                <a:cs typeface="+mn-ea"/>
              </a:rPr>
              <a:t>( </a:t>
            </a:r>
            <a:r>
              <a:rPr lang="zh-CN" altLang="en-US" sz="2000" dirty="0">
                <a:solidFill>
                  <a:srgbClr val="09131F"/>
                </a:solidFill>
                <a:latin typeface="+mn-ea"/>
                <a:ea typeface="+mn-ea"/>
                <a:cs typeface="+mn-ea"/>
              </a:rPr>
              <a:t>参数</a:t>
            </a:r>
            <a:r>
              <a:rPr lang="en-US" altLang="zh-CN" sz="2000" dirty="0">
                <a:solidFill>
                  <a:srgbClr val="09131F"/>
                </a:solidFill>
                <a:latin typeface="+mn-ea"/>
                <a:ea typeface="+mn-ea"/>
                <a:cs typeface="+mn-ea"/>
              </a:rPr>
              <a:t>1</a:t>
            </a:r>
            <a:r>
              <a:rPr lang="zh-CN" altLang="en-US" sz="2000" dirty="0">
                <a:solidFill>
                  <a:srgbClr val="09131F"/>
                </a:solidFill>
                <a:latin typeface="+mn-ea"/>
                <a:ea typeface="+mn-ea"/>
                <a:cs typeface="+mn-ea"/>
              </a:rPr>
              <a:t>，参数</a:t>
            </a:r>
            <a:r>
              <a:rPr lang="en-US" altLang="zh-CN" sz="2000" dirty="0">
                <a:solidFill>
                  <a:srgbClr val="09131F"/>
                </a:solidFill>
                <a:latin typeface="+mn-ea"/>
                <a:ea typeface="+mn-ea"/>
                <a:cs typeface="+mn-ea"/>
              </a:rPr>
              <a:t>2</a:t>
            </a:r>
            <a:r>
              <a:rPr lang="zh-CN" altLang="en-US" sz="2000" dirty="0">
                <a:solidFill>
                  <a:srgbClr val="09131F"/>
                </a:solidFill>
                <a:latin typeface="+mn-ea"/>
                <a:ea typeface="+mn-ea"/>
                <a:cs typeface="+mn-ea"/>
              </a:rPr>
              <a:t>，</a:t>
            </a:r>
            <a:r>
              <a:rPr lang="en-US" altLang="zh-CN" sz="2000" dirty="0">
                <a:solidFill>
                  <a:srgbClr val="09131F"/>
                </a:solidFill>
                <a:latin typeface="+mn-ea"/>
                <a:ea typeface="+mn-ea"/>
                <a:cs typeface="+mn-ea"/>
              </a:rPr>
              <a:t>...</a:t>
            </a:r>
            <a:r>
              <a:rPr lang="en-US" sz="2000" dirty="0">
                <a:solidFill>
                  <a:srgbClr val="09131F"/>
                </a:solidFill>
                <a:latin typeface="+mn-ea"/>
                <a:ea typeface="+mn-ea"/>
                <a:cs typeface="+mn-ea"/>
              </a:rPr>
              <a:t>)</a:t>
            </a:r>
            <a:r>
              <a:rPr lang="en-US" sz="2000" b="1" dirty="0">
                <a:solidFill>
                  <a:srgbClr val="09131F"/>
                </a:solidFill>
                <a:latin typeface="+mn-ea"/>
                <a:ea typeface="+mn-ea"/>
                <a:cs typeface="+mn-ea"/>
              </a:rPr>
              <a:t>:</a:t>
            </a:r>
            <a:endParaRPr lang="en-US" sz="2000" b="1"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dirty="0">
                <a:solidFill>
                  <a:srgbClr val="09131F"/>
                </a:solidFill>
                <a:latin typeface="+mn-ea"/>
                <a:ea typeface="+mn-ea"/>
                <a:cs typeface="+mn-ea"/>
              </a:rPr>
              <a:t>        '''</a:t>
            </a:r>
            <a:r>
              <a:rPr lang="zh-CN" altLang="en-US" sz="2000" dirty="0">
                <a:solidFill>
                  <a:srgbClr val="09131F"/>
                </a:solidFill>
                <a:latin typeface="+mn-ea"/>
                <a:ea typeface="+mn-ea"/>
                <a:cs typeface="+mn-ea"/>
              </a:rPr>
              <a:t>注释</a:t>
            </a:r>
            <a:r>
              <a:rPr lang="en-US" sz="2000" dirty="0">
                <a:solidFill>
                  <a:srgbClr val="09131F"/>
                </a:solidFill>
                <a:latin typeface="+mn-ea"/>
                <a:ea typeface="+mn-ea"/>
                <a:cs typeface="+mn-ea"/>
              </a:rPr>
              <a:t>'''</a:t>
            </a:r>
            <a:endParaRPr lang="en-US" sz="2000"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函数体    </a:t>
            </a:r>
            <a:r>
              <a:rPr lang="en-US" altLang="zh-CN"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函数实现的具体功能</a:t>
            </a:r>
            <a:endParaRPr lang="zh-CN" altLang="en-US" sz="2000" b="1" dirty="0">
              <a:solidFill>
                <a:srgbClr val="09131F"/>
              </a:solidFill>
              <a:latin typeface="+mn-ea"/>
              <a:ea typeface="+mn-ea"/>
              <a:cs typeface="+mn-ea"/>
            </a:endParaRPr>
          </a:p>
        </p:txBody>
      </p:sp>
      <p:sp>
        <p:nvSpPr>
          <p:cNvPr id="9" name="AutoShape 15"/>
          <p:cNvSpPr>
            <a:spLocks noChangeArrowheads="1"/>
          </p:cNvSpPr>
          <p:nvPr/>
        </p:nvSpPr>
        <p:spPr bwMode="auto">
          <a:xfrm>
            <a:off x="1259840" y="3265805"/>
            <a:ext cx="7376160" cy="1332584"/>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r>
              <a:rPr lang="en-US" altLang="zh-CN" sz="2000" dirty="0">
                <a:latin typeface="Calibri" panose="020F0502020204030204" pitchFamily="34" charset="0"/>
                <a:cs typeface="Calibri" panose="020F0502020204030204" pitchFamily="34" charset="0"/>
              </a:rPr>
              <a:t> def   say (name, number):</a:t>
            </a:r>
            <a:endParaRPr lang="en-US" altLang="zh-CN" sz="2000" dirty="0">
              <a:latin typeface="Calibri" panose="020F0502020204030204" pitchFamily="34" charset="0"/>
              <a:cs typeface="Calibri" panose="020F0502020204030204" pitchFamily="34" charset="0"/>
            </a:endParaRPr>
          </a:p>
          <a:p>
            <a:pPr algn="l"/>
            <a:r>
              <a:rPr lang="en-US" sz="2000" dirty="0">
                <a:latin typeface="Calibri" panose="020F0502020204030204" pitchFamily="34" charset="0"/>
                <a:cs typeface="Calibri" panose="020F0502020204030204" pitchFamily="34" charset="0"/>
              </a:rPr>
              <a:t>        </a:t>
            </a:r>
            <a:r>
              <a:rPr lang="en-US" altLang="zh-CN" sz="2000" dirty="0">
                <a:solidFill>
                  <a:srgbClr val="09131F"/>
                </a:solidFill>
                <a:latin typeface="Calibri" panose="020F0502020204030204" pitchFamily="34" charset="0"/>
                <a:cs typeface="Calibri" panose="020F0502020204030204" pitchFamily="34" charset="0"/>
              </a:rPr>
              <a:t>'''</a:t>
            </a:r>
            <a:r>
              <a:rPr lang="zh-CN" altLang="en-US" sz="2000" dirty="0">
                <a:solidFill>
                  <a:srgbClr val="09131F"/>
                </a:solidFill>
                <a:latin typeface="Calibri" panose="020F0502020204030204" pitchFamily="34" charset="0"/>
                <a:cs typeface="Calibri" panose="020F0502020204030204" pitchFamily="34" charset="0"/>
              </a:rPr>
              <a:t>循环打印</a:t>
            </a:r>
            <a:r>
              <a:rPr lang="en-US" altLang="zh-CN" sz="2000" dirty="0">
                <a:solidFill>
                  <a:srgbClr val="09131F"/>
                </a:solidFill>
                <a:latin typeface="Calibri" panose="020F0502020204030204" pitchFamily="34" charset="0"/>
                <a:cs typeface="Calibri" panose="020F0502020204030204" pitchFamily="34" charset="0"/>
              </a:rPr>
              <a:t>number</a:t>
            </a:r>
            <a:r>
              <a:rPr lang="zh-CN" altLang="en-US" sz="2000" dirty="0">
                <a:solidFill>
                  <a:srgbClr val="09131F"/>
                </a:solidFill>
                <a:latin typeface="Calibri" panose="020F0502020204030204" pitchFamily="34" charset="0"/>
                <a:cs typeface="Calibri" panose="020F0502020204030204" pitchFamily="34" charset="0"/>
              </a:rPr>
              <a:t>次</a:t>
            </a:r>
            <a:r>
              <a:rPr lang="en-US" altLang="zh-CN" sz="2000" dirty="0">
                <a:solidFill>
                  <a:srgbClr val="09131F"/>
                </a:solidFill>
                <a:latin typeface="Calibri" panose="020F0502020204030204" pitchFamily="34" charset="0"/>
                <a:cs typeface="Calibri" panose="020F0502020204030204" pitchFamily="34" charset="0"/>
              </a:rPr>
              <a:t>name</a:t>
            </a:r>
            <a:r>
              <a:rPr lang="zh-CN" altLang="en-US" sz="2000" dirty="0">
                <a:solidFill>
                  <a:srgbClr val="09131F"/>
                </a:solidFill>
                <a:latin typeface="Calibri" panose="020F0502020204030204" pitchFamily="34" charset="0"/>
                <a:cs typeface="Calibri" panose="020F0502020204030204" pitchFamily="34" charset="0"/>
              </a:rPr>
              <a:t>说知识简简单单，学习快快乐乐</a:t>
            </a:r>
            <a:r>
              <a:rPr lang="en-US" altLang="zh-CN" sz="2000" dirty="0">
                <a:solidFill>
                  <a:srgbClr val="09131F"/>
                </a:solidFill>
                <a:latin typeface="Calibri" panose="020F0502020204030204" pitchFamily="34" charset="0"/>
                <a:cs typeface="Calibri" panose="020F0502020204030204" pitchFamily="34" charset="0"/>
              </a:rPr>
              <a:t>'''</a:t>
            </a:r>
            <a:endParaRPr sz="2000" dirty="0">
              <a:latin typeface="Calibri" panose="020F0502020204030204" pitchFamily="34" charset="0"/>
              <a:cs typeface="Calibri" panose="020F0502020204030204" pitchFamily="34" charset="0"/>
            </a:endParaRPr>
          </a:p>
          <a:p>
            <a:pPr algn="l"/>
            <a:r>
              <a:rPr sz="2000" dirty="0">
                <a:latin typeface="Calibri" panose="020F0502020204030204" pitchFamily="34" charset="0"/>
                <a:cs typeface="Calibri" panose="020F0502020204030204" pitchFamily="34" charset="0"/>
              </a:rPr>
              <a:t>        for </a:t>
            </a:r>
            <a:r>
              <a:rPr sz="2000" dirty="0" err="1">
                <a:latin typeface="Calibri" panose="020F0502020204030204" pitchFamily="34" charset="0"/>
                <a:cs typeface="Calibri" panose="020F0502020204030204" pitchFamily="34" charset="0"/>
              </a:rPr>
              <a:t>i</a:t>
            </a:r>
            <a:r>
              <a:rPr sz="2000" dirty="0">
                <a:latin typeface="Calibri" panose="020F0502020204030204" pitchFamily="34" charset="0"/>
                <a:cs typeface="Calibri" panose="020F0502020204030204" pitchFamily="34" charset="0"/>
              </a:rPr>
              <a:t> in range(number):</a:t>
            </a:r>
            <a:endParaRPr sz="2000" dirty="0">
              <a:latin typeface="Calibri" panose="020F0502020204030204" pitchFamily="34" charset="0"/>
              <a:cs typeface="Calibri" panose="020F0502020204030204" pitchFamily="34" charset="0"/>
            </a:endParaRPr>
          </a:p>
          <a:p>
            <a:pPr algn="l"/>
            <a:r>
              <a:rPr sz="2000" dirty="0">
                <a:latin typeface="Calibri" panose="020F0502020204030204" pitchFamily="34" charset="0"/>
                <a:cs typeface="Calibri" panose="020F0502020204030204" pitchFamily="34" charset="0"/>
              </a:rPr>
              <a:t>              print("</a:t>
            </a:r>
            <a:r>
              <a:rPr lang="en-US" sz="2000" dirty="0">
                <a:latin typeface="Calibri" panose="020F0502020204030204" pitchFamily="34" charset="0"/>
                <a:cs typeface="Calibri" panose="020F0502020204030204" pitchFamily="34" charset="0"/>
              </a:rPr>
              <a:t>{}</a:t>
            </a:r>
            <a:r>
              <a:rPr lang="zh-CN" altLang="en-US" sz="2000" dirty="0">
                <a:latin typeface="Calibri" panose="020F0502020204030204" pitchFamily="34" charset="0"/>
                <a:cs typeface="Calibri" panose="020F0502020204030204" pitchFamily="34" charset="0"/>
              </a:rPr>
              <a:t>：</a:t>
            </a:r>
            <a:r>
              <a:rPr sz="2000" dirty="0" err="1">
                <a:latin typeface="Calibri" panose="020F0502020204030204" pitchFamily="34" charset="0"/>
                <a:cs typeface="Calibri" panose="020F0502020204030204" pitchFamily="34" charset="0"/>
              </a:rPr>
              <a:t>知识简简单单，学习快快乐乐</a:t>
            </a:r>
            <a:r>
              <a:rPr sz="2000" dirty="0">
                <a:latin typeface="Calibri" panose="020F0502020204030204" pitchFamily="34" charset="0"/>
                <a:cs typeface="Calibri" panose="020F0502020204030204" pitchFamily="34" charset="0"/>
              </a:rPr>
              <a:t>"</a:t>
            </a:r>
            <a:r>
              <a:rPr lang="en-US" sz="2000" dirty="0">
                <a:latin typeface="Calibri" panose="020F0502020204030204" pitchFamily="34" charset="0"/>
                <a:cs typeface="Calibri" panose="020F0502020204030204" pitchFamily="34" charset="0"/>
              </a:rPr>
              <a:t>.format(name)</a:t>
            </a:r>
            <a:r>
              <a:rPr sz="2000" dirty="0">
                <a:latin typeface="Calibri" panose="020F0502020204030204" pitchFamily="34" charset="0"/>
                <a:cs typeface="Calibri" panose="020F0502020204030204" pitchFamily="34" charset="0"/>
              </a:rPr>
              <a:t>)</a:t>
            </a:r>
            <a:endParaRPr lang="en-US" sz="2000" dirty="0">
              <a:solidFill>
                <a:srgbClr val="09131F"/>
              </a:solidFill>
              <a:latin typeface="Calibri" panose="020F0502020204030204" pitchFamily="34" charset="0"/>
              <a:cs typeface="Calibri" panose="020F0502020204030204" pitchFamily="34" charset="0"/>
            </a:endParaRPr>
          </a:p>
        </p:txBody>
      </p:sp>
      <p:sp>
        <p:nvSpPr>
          <p:cNvPr id="10" name="Rectangle 3"/>
          <p:cNvSpPr txBox="1">
            <a:spLocks noChangeArrowheads="1"/>
          </p:cNvSpPr>
          <p:nvPr/>
        </p:nvSpPr>
        <p:spPr bwMode="auto">
          <a:xfrm>
            <a:off x="179512" y="2923917"/>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代码举例</a:t>
            </a:r>
            <a:endParaRPr lang="zh-CN" altLang="en-US" sz="1600" dirty="0"/>
          </a:p>
          <a:p>
            <a:pPr eaLnBrk="0" hangingPunct="0"/>
            <a:endParaRPr lang="zh-CN" altLang="en-US" sz="1600" dirty="0"/>
          </a:p>
          <a:p>
            <a:pPr eaLnBrk="0" hangingPunct="0"/>
            <a:endParaRPr lang="zh-CN" altLang="en-US" sz="1600" dirty="0"/>
          </a:p>
        </p:txBody>
      </p:sp>
      <p:sp>
        <p:nvSpPr>
          <p:cNvPr id="14" name="圆角矩形 13"/>
          <p:cNvSpPr/>
          <p:nvPr/>
        </p:nvSpPr>
        <p:spPr bwMode="auto">
          <a:xfrm>
            <a:off x="2275840" y="3352800"/>
            <a:ext cx="1689735" cy="288290"/>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15" name="直接箭头连接符 14"/>
          <p:cNvCxnSpPr/>
          <p:nvPr/>
        </p:nvCxnSpPr>
        <p:spPr bwMode="auto">
          <a:xfrm flipV="1">
            <a:off x="3347720" y="1995805"/>
            <a:ext cx="594360" cy="1367790"/>
          </a:xfrm>
          <a:prstGeom prst="straightConnector1">
            <a:avLst/>
          </a:prstGeom>
          <a:solidFill>
            <a:schemeClr val="accent1"/>
          </a:solidFill>
          <a:ln w="28575" cap="flat" cmpd="sng" algn="ctr">
            <a:solidFill>
              <a:srgbClr val="0070C0"/>
            </a:solidFill>
            <a:prstDash val="solid"/>
            <a:round/>
            <a:headEnd type="none" w="med" len="med"/>
            <a:tailEnd type="arrow"/>
          </a:ln>
        </p:spPr>
      </p:cxnSp>
      <p:sp>
        <p:nvSpPr>
          <p:cNvPr id="4" name="Rectangle 3"/>
          <p:cNvSpPr txBox="1">
            <a:spLocks noChangeArrowheads="1"/>
          </p:cNvSpPr>
          <p:nvPr/>
        </p:nvSpPr>
        <p:spPr bwMode="auto">
          <a:xfrm>
            <a:off x="179705" y="849630"/>
            <a:ext cx="241744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algn="l" eaLnBrk="0" hangingPunct="0">
              <a:lnSpc>
                <a:spcPct val="90000"/>
              </a:lnSpc>
              <a:spcBef>
                <a:spcPts val="1000"/>
              </a:spcBef>
            </a:pPr>
            <a:r>
              <a:rPr lang="zh-CN" altLang="en-US" sz="1600" dirty="0">
                <a:solidFill>
                  <a:srgbClr val="0070C0"/>
                </a:solidFill>
                <a:latin typeface="+mn-ea"/>
                <a:ea typeface="+mn-ea"/>
                <a:sym typeface="Calibri" panose="020F0502020204030204" pitchFamily="34" charset="0"/>
              </a:rPr>
              <a:t>创建有参函数</a:t>
            </a:r>
            <a:r>
              <a:rPr lang="en-US" altLang="zh-CN" sz="1600" dirty="0">
                <a:solidFill>
                  <a:srgbClr val="0070C0"/>
                </a:solidFill>
                <a:latin typeface="+mn-ea"/>
                <a:ea typeface="+mn-ea"/>
                <a:sym typeface="Calibri" panose="020F0502020204030204" pitchFamily="34" charset="0"/>
              </a:rPr>
              <a:t>-</a:t>
            </a:r>
            <a:r>
              <a:rPr lang="zh-CN" altLang="en-US" sz="1600" dirty="0">
                <a:solidFill>
                  <a:srgbClr val="0070C0"/>
                </a:solidFill>
                <a:latin typeface="+mn-ea"/>
                <a:ea typeface="+mn-ea"/>
                <a:sym typeface="Calibri" panose="020F0502020204030204" pitchFamily="34" charset="0"/>
              </a:rPr>
              <a:t>多参数</a:t>
            </a:r>
            <a:endParaRPr lang="zh-CN" altLang="en-US" sz="1600" dirty="0">
              <a:latin typeface="+mn-ea"/>
              <a:ea typeface="+mn-ea"/>
            </a:endParaRPr>
          </a:p>
          <a:p>
            <a:pPr eaLnBrk="0" hangingPunct="0"/>
            <a:endParaRPr lang="zh-CN" altLang="en-US" sz="1600" dirty="0">
              <a:latin typeface="+mn-ea"/>
              <a:ea typeface="+mn-ea"/>
            </a:endParaRPr>
          </a:p>
          <a:p>
            <a:pPr eaLnBrk="0" hangingPunct="0"/>
            <a:endParaRPr lang="zh-CN" altLang="en-US" sz="1600" dirty="0">
              <a:latin typeface="+mn-ea"/>
              <a:ea typeface="+mn-ea"/>
            </a:endParaRPr>
          </a:p>
        </p:txBody>
      </p:sp>
      <p:sp>
        <p:nvSpPr>
          <p:cNvPr id="6" name="AutoShape 8"/>
          <p:cNvSpPr>
            <a:spLocks noChangeArrowheads="1"/>
          </p:cNvSpPr>
          <p:nvPr/>
        </p:nvSpPr>
        <p:spPr bwMode="auto">
          <a:xfrm>
            <a:off x="4160520" y="3265829"/>
            <a:ext cx="2840355" cy="373991"/>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lstStyle/>
          <a:p>
            <a:r>
              <a:rPr lang="zh-CN" altLang="en-US" sz="1600" dirty="0">
                <a:solidFill>
                  <a:srgbClr val="F9F9F9"/>
                </a:solidFill>
                <a:latin typeface="+mn-ea"/>
                <a:ea typeface="+mn-ea"/>
              </a:rPr>
              <a:t>多个参数之间用逗号隔开</a:t>
            </a:r>
            <a:endParaRPr lang="zh-CN" altLang="en-US" sz="1600" dirty="0">
              <a:solidFill>
                <a:srgbClr val="F9F9F9"/>
              </a:solidFill>
              <a:latin typeface="+mn-ea"/>
              <a:ea typeface="+mn-ea"/>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blinds(horizontal)">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1" presetClass="entr" presetSubtype="1" fill="hold" grpId="0"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heel(1)">
                                      <p:cBhvr>
                                        <p:cTn id="16" dur="2000"/>
                                        <p:tgtEl>
                                          <p:spTgt spid="14"/>
                                        </p:tgtEl>
                                      </p:cBhvr>
                                    </p:animEffect>
                                  </p:childTnLst>
                                </p:cTn>
                              </p:par>
                            </p:childTnLst>
                          </p:cTn>
                        </p:par>
                        <p:par>
                          <p:cTn id="17" fill="hold">
                            <p:stCondLst>
                              <p:cond delay="2000"/>
                            </p:stCondLst>
                            <p:childTnLst>
                              <p:par>
                                <p:cTn id="18" presetID="42" presetClass="entr" presetSubtype="0"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1000"/>
                                        <p:tgtEl>
                                          <p:spTgt spid="15"/>
                                        </p:tgtEl>
                                      </p:cBhvr>
                                    </p:animEffect>
                                    <p:anim calcmode="lin" valueType="num">
                                      <p:cBhvr>
                                        <p:cTn id="21" dur="1000" fill="hold"/>
                                        <p:tgtEl>
                                          <p:spTgt spid="15"/>
                                        </p:tgtEl>
                                        <p:attrNameLst>
                                          <p:attrName>ppt_x</p:attrName>
                                        </p:attrNameLst>
                                      </p:cBhvr>
                                      <p:tavLst>
                                        <p:tav tm="0">
                                          <p:val>
                                            <p:strVal val="#ppt_x"/>
                                          </p:val>
                                        </p:tav>
                                        <p:tav tm="100000">
                                          <p:val>
                                            <p:strVal val="#ppt_x"/>
                                          </p:val>
                                        </p:tav>
                                      </p:tavLst>
                                    </p:anim>
                                    <p:anim calcmode="lin" valueType="num">
                                      <p:cBhvr>
                                        <p:cTn id="22" dur="1000" fill="hold"/>
                                        <p:tgtEl>
                                          <p:spTgt spid="15"/>
                                        </p:tgtEl>
                                        <p:attrNameLst>
                                          <p:attrName>ppt_y</p:attrName>
                                        </p:attrNameLst>
                                      </p:cBhvr>
                                      <p:tavLst>
                                        <p:tav tm="0">
                                          <p:val>
                                            <p:strVal val="#ppt_y+.1"/>
                                          </p:val>
                                        </p:tav>
                                        <p:tav tm="100000">
                                          <p:val>
                                            <p:strVal val="#ppt_y"/>
                                          </p:val>
                                        </p:tav>
                                      </p:tavLst>
                                    </p:anim>
                                  </p:childTnLst>
                                </p:cTn>
                              </p:par>
                            </p:childTnLst>
                          </p:cTn>
                        </p:par>
                        <p:par>
                          <p:cTn id="23" fill="hold">
                            <p:stCondLst>
                              <p:cond delay="3000"/>
                            </p:stCondLst>
                            <p:childTnLst>
                              <p:par>
                                <p:cTn id="24" presetID="22" presetClass="entr" presetSubtype="8"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p:bldP spid="14" grpId="0" bldLvl="0" animBg="1"/>
      <p:bldP spid="6"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如何使用函数</a:t>
            </a:r>
            <a:endParaRPr lang="zh-CN" altLang="en-US" dirty="0"/>
          </a:p>
        </p:txBody>
      </p:sp>
      <p:sp>
        <p:nvSpPr>
          <p:cNvPr id="9" name="AutoShape 15"/>
          <p:cNvSpPr>
            <a:spLocks noChangeArrowheads="1"/>
          </p:cNvSpPr>
          <p:nvPr/>
        </p:nvSpPr>
        <p:spPr bwMode="auto">
          <a:xfrm>
            <a:off x="704850" y="2512060"/>
            <a:ext cx="4452620" cy="1208414"/>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r>
              <a:rPr lang="en-US" altLang="zh-CN" sz="1800" dirty="0">
                <a:latin typeface="Calibri" panose="020F0502020204030204" pitchFamily="34" charset="0"/>
                <a:cs typeface="Calibri" panose="020F0502020204030204" pitchFamily="34" charset="0"/>
              </a:rPr>
              <a:t>def say(number):</a:t>
            </a:r>
            <a:endParaRPr lang="en-US" altLang="zh-CN" sz="1800" dirty="0">
              <a:latin typeface="Calibri" panose="020F0502020204030204" pitchFamily="34" charset="0"/>
              <a:cs typeface="Calibri" panose="020F0502020204030204" pitchFamily="34" charset="0"/>
            </a:endParaRPr>
          </a:p>
          <a:p>
            <a:pPr algn="l"/>
            <a:r>
              <a:rPr lang="en-US" altLang="zh-CN" sz="1800" dirty="0">
                <a:latin typeface="Calibri" panose="020F0502020204030204" pitchFamily="34" charset="0"/>
                <a:cs typeface="Calibri" panose="020F0502020204030204" pitchFamily="34" charset="0"/>
              </a:rPr>
              <a:t>    for i in range(number):</a:t>
            </a:r>
            <a:endParaRPr lang="en-US" altLang="zh-CN" sz="1800" dirty="0">
              <a:latin typeface="Calibri" panose="020F0502020204030204" pitchFamily="34" charset="0"/>
              <a:cs typeface="Calibri" panose="020F0502020204030204" pitchFamily="34" charset="0"/>
            </a:endParaRPr>
          </a:p>
          <a:p>
            <a:pPr algn="l"/>
            <a:r>
              <a:rPr lang="en-US" altLang="zh-CN" sz="1800" dirty="0">
                <a:latin typeface="Calibri" panose="020F0502020204030204" pitchFamily="34" charset="0"/>
                <a:cs typeface="Calibri" panose="020F0502020204030204" pitchFamily="34" charset="0"/>
              </a:rPr>
              <a:t>        print("知识简简单单，学习快快乐乐")</a:t>
            </a:r>
            <a:endParaRPr lang="en-US" altLang="zh-CN" sz="1800" dirty="0">
              <a:latin typeface="Calibri" panose="020F0502020204030204" pitchFamily="34" charset="0"/>
              <a:cs typeface="Calibri" panose="020F0502020204030204" pitchFamily="34" charset="0"/>
            </a:endParaRPr>
          </a:p>
          <a:p>
            <a:pPr algn="l"/>
            <a:r>
              <a:rPr lang="en-US" altLang="zh-CN" sz="1800" dirty="0">
                <a:latin typeface="Calibri" panose="020F0502020204030204" pitchFamily="34" charset="0"/>
                <a:cs typeface="Calibri" panose="020F0502020204030204" pitchFamily="34" charset="0"/>
              </a:rPr>
              <a:t>say(2)</a:t>
            </a:r>
            <a:endParaRPr lang="en-US" sz="1800" dirty="0">
              <a:solidFill>
                <a:srgbClr val="09131F"/>
              </a:solidFill>
              <a:latin typeface="Calibri" panose="020F0502020204030204" pitchFamily="34" charset="0"/>
              <a:cs typeface="Calibri" panose="020F0502020204030204" pitchFamily="34" charset="0"/>
            </a:endParaRPr>
          </a:p>
        </p:txBody>
      </p:sp>
      <p:sp>
        <p:nvSpPr>
          <p:cNvPr id="10" name="Rectangle 3"/>
          <p:cNvSpPr txBox="1">
            <a:spLocks noChangeArrowheads="1"/>
          </p:cNvSpPr>
          <p:nvPr/>
        </p:nvSpPr>
        <p:spPr bwMode="auto">
          <a:xfrm>
            <a:off x="179512" y="2062857"/>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代码举例</a:t>
            </a:r>
            <a:endParaRPr lang="zh-CN" altLang="en-US" sz="1600" dirty="0">
              <a:solidFill>
                <a:srgbClr val="0070C0"/>
              </a:solidFill>
              <a:latin typeface="微软雅黑" panose="020B0503020204020204" pitchFamily="34" charset="-122"/>
              <a:ea typeface="微软雅黑" panose="020B0503020204020204" pitchFamily="34" charset="-122"/>
            </a:endParaRPr>
          </a:p>
          <a:p>
            <a:pPr eaLnBrk="0" hangingPunct="0"/>
            <a:endParaRPr lang="zh-CN" altLang="en-US" sz="1600" dirty="0">
              <a:solidFill>
                <a:srgbClr val="0070C0"/>
              </a:solidFill>
              <a:latin typeface="微软雅黑" panose="020B0503020204020204" pitchFamily="34" charset="-122"/>
              <a:ea typeface="微软雅黑" panose="020B0503020204020204" pitchFamily="34" charset="-122"/>
            </a:endParaRPr>
          </a:p>
          <a:p>
            <a:pPr eaLnBrk="0" hangingPunct="0"/>
            <a:endParaRPr lang="zh-CN" altLang="en-US" sz="1600" dirty="0">
              <a:solidFill>
                <a:srgbClr val="0070C0"/>
              </a:solidFill>
              <a:latin typeface="微软雅黑" panose="020B0503020204020204" pitchFamily="34" charset="-122"/>
              <a:ea typeface="微软雅黑" panose="020B0503020204020204" pitchFamily="34" charset="-122"/>
            </a:endParaRPr>
          </a:p>
        </p:txBody>
      </p:sp>
      <p:sp>
        <p:nvSpPr>
          <p:cNvPr id="3" name="AutoShape 15"/>
          <p:cNvSpPr>
            <a:spLocks noChangeArrowheads="1"/>
          </p:cNvSpPr>
          <p:nvPr/>
        </p:nvSpPr>
        <p:spPr bwMode="auto">
          <a:xfrm>
            <a:off x="649605" y="1568450"/>
            <a:ext cx="1837055" cy="495398"/>
          </a:xfrm>
          <a:prstGeom prst="roundRect">
            <a:avLst>
              <a:gd name="adj" fmla="val 1347"/>
            </a:avLst>
          </a:prstGeom>
          <a:noFill/>
          <a:ln w="28575">
            <a:noFill/>
            <a:bevel/>
          </a:ln>
          <a:effectLst>
            <a:outerShdw sx="100999" sy="100999" algn="ctr" rotWithShape="0">
              <a:srgbClr val="000000">
                <a:alpha val="6999"/>
              </a:srgbClr>
            </a:outerShdw>
          </a:effectLst>
          <a:extLst>
            <a:ext uri="{909E8E84-426E-40DD-AFC4-6F175D3DCCD1}">
              <a14:hiddenFill xmlns:a14="http://schemas.microsoft.com/office/drawing/2010/main">
                <a:solidFill>
                  <a:srgbClr val="EDF5FD"/>
                </a:solidFill>
              </a14:hiddenFill>
            </a:ext>
          </a:extLst>
        </p:spPr>
        <p:txBody>
          <a:bodyPr wrap="square">
            <a:spAutoFit/>
          </a:bodyPr>
          <a:lstStyle/>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函数名</a:t>
            </a:r>
            <a:r>
              <a:rPr lang="en-US" sz="2000" dirty="0">
                <a:solidFill>
                  <a:srgbClr val="09131F"/>
                </a:solidFill>
                <a:latin typeface="+mn-ea"/>
                <a:ea typeface="+mn-ea"/>
                <a:cs typeface="+mn-ea"/>
              </a:rPr>
              <a:t>(</a:t>
            </a:r>
            <a:r>
              <a:rPr lang="zh-CN" altLang="en-US" sz="2000" b="1" dirty="0">
                <a:solidFill>
                  <a:srgbClr val="09131F"/>
                </a:solidFill>
                <a:latin typeface="+mn-ea"/>
                <a:ea typeface="+mn-ea"/>
                <a:cs typeface="+mn-ea"/>
              </a:rPr>
              <a:t> 参数</a:t>
            </a:r>
            <a:r>
              <a:rPr lang="en-US" sz="2000" dirty="0">
                <a:solidFill>
                  <a:srgbClr val="09131F"/>
                </a:solidFill>
                <a:latin typeface="+mn-ea"/>
                <a:ea typeface="+mn-ea"/>
                <a:cs typeface="+mn-ea"/>
              </a:rPr>
              <a:t>)</a:t>
            </a:r>
            <a:r>
              <a:rPr lang="en-US" sz="2000" b="1" dirty="0">
                <a:solidFill>
                  <a:srgbClr val="09131F"/>
                </a:solidFill>
                <a:latin typeface="+mn-ea"/>
                <a:ea typeface="+mn-ea"/>
                <a:cs typeface="+mn-ea"/>
              </a:rPr>
              <a:t> </a:t>
            </a:r>
            <a:endParaRPr lang="zh-CN" altLang="en-US" sz="2000" b="1" dirty="0">
              <a:solidFill>
                <a:srgbClr val="09131F"/>
              </a:solidFill>
              <a:latin typeface="+mn-ea"/>
              <a:ea typeface="+mn-ea"/>
              <a:cs typeface="+mn-ea"/>
            </a:endParaRPr>
          </a:p>
        </p:txBody>
      </p:sp>
      <p:sp>
        <p:nvSpPr>
          <p:cNvPr id="4" name="Rectangle 3"/>
          <p:cNvSpPr txBox="1">
            <a:spLocks noChangeArrowheads="1"/>
          </p:cNvSpPr>
          <p:nvPr/>
        </p:nvSpPr>
        <p:spPr bwMode="auto">
          <a:xfrm>
            <a:off x="217612" y="1345307"/>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调用格式</a:t>
            </a:r>
            <a:endPar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endParaRPr>
          </a:p>
        </p:txBody>
      </p:sp>
      <p:sp>
        <p:nvSpPr>
          <p:cNvPr id="7" name="Rectangle 3"/>
          <p:cNvSpPr txBox="1">
            <a:spLocks noChangeArrowheads="1"/>
          </p:cNvSpPr>
          <p:nvPr/>
        </p:nvSpPr>
        <p:spPr bwMode="auto">
          <a:xfrm>
            <a:off x="5670992" y="2062857"/>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输出结果</a:t>
            </a:r>
            <a:endPar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endParaRPr>
          </a:p>
        </p:txBody>
      </p:sp>
      <p:sp>
        <p:nvSpPr>
          <p:cNvPr id="11" name="Rectangle 3"/>
          <p:cNvSpPr txBox="1">
            <a:spLocks noChangeArrowheads="1"/>
          </p:cNvSpPr>
          <p:nvPr/>
        </p:nvSpPr>
        <p:spPr bwMode="auto">
          <a:xfrm>
            <a:off x="91440" y="826770"/>
            <a:ext cx="16764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调用有参函数</a:t>
            </a:r>
            <a:endParaRPr lang="zh-CN" altLang="en-US" sz="1600" dirty="0"/>
          </a:p>
          <a:p>
            <a:pPr eaLnBrk="0" hangingPunct="0"/>
            <a:endParaRPr lang="zh-CN" altLang="en-US" sz="1600" dirty="0"/>
          </a:p>
        </p:txBody>
      </p:sp>
      <p:sp>
        <p:nvSpPr>
          <p:cNvPr id="6" name="AutoShape 15"/>
          <p:cNvSpPr>
            <a:spLocks noChangeArrowheads="1"/>
          </p:cNvSpPr>
          <p:nvPr/>
        </p:nvSpPr>
        <p:spPr bwMode="auto">
          <a:xfrm>
            <a:off x="721360" y="3863340"/>
            <a:ext cx="8027035" cy="1208414"/>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r>
              <a:rPr lang="en-US" altLang="zh-CN" sz="1800" dirty="0">
                <a:latin typeface="Calibri" panose="020F0502020204030204" pitchFamily="34" charset="0"/>
                <a:cs typeface="Calibri" panose="020F0502020204030204" pitchFamily="34" charset="0"/>
              </a:rPr>
              <a:t> def  say (name, number):</a:t>
            </a:r>
            <a:endParaRPr lang="en-US" altLang="zh-CN" sz="1800" dirty="0">
              <a:latin typeface="Calibri" panose="020F0502020204030204" pitchFamily="34" charset="0"/>
              <a:cs typeface="Calibri" panose="020F0502020204030204" pitchFamily="34" charset="0"/>
            </a:endParaRPr>
          </a:p>
          <a:p>
            <a:pPr algn="l"/>
            <a:r>
              <a:rPr lang="en-US" altLang="zh-CN" sz="1800" dirty="0">
                <a:latin typeface="Calibri" panose="020F0502020204030204" pitchFamily="34" charset="0"/>
                <a:cs typeface="Calibri" panose="020F0502020204030204" pitchFamily="34" charset="0"/>
              </a:rPr>
              <a:t>        for i in range(number):</a:t>
            </a:r>
            <a:endParaRPr lang="en-US" altLang="zh-CN" sz="1800" dirty="0">
              <a:latin typeface="Calibri" panose="020F0502020204030204" pitchFamily="34" charset="0"/>
              <a:cs typeface="Calibri" panose="020F0502020204030204" pitchFamily="34" charset="0"/>
            </a:endParaRPr>
          </a:p>
          <a:p>
            <a:pPr algn="l"/>
            <a:r>
              <a:rPr lang="en-US" altLang="zh-CN" sz="1800" dirty="0">
                <a:latin typeface="Calibri" panose="020F0502020204030204" pitchFamily="34" charset="0"/>
                <a:cs typeface="Calibri" panose="020F0502020204030204" pitchFamily="34" charset="0"/>
              </a:rPr>
              <a:t>              print("{}</a:t>
            </a:r>
            <a:r>
              <a:rPr lang="zh-CN" altLang="en-US" sz="1800" dirty="0">
                <a:latin typeface="Calibri" panose="020F0502020204030204" pitchFamily="34" charset="0"/>
                <a:cs typeface="Calibri" panose="020F0502020204030204" pitchFamily="34" charset="0"/>
              </a:rPr>
              <a:t>：</a:t>
            </a:r>
            <a:r>
              <a:rPr lang="en-US" altLang="zh-CN" sz="1800" dirty="0">
                <a:latin typeface="Calibri" panose="020F0502020204030204" pitchFamily="34" charset="0"/>
                <a:cs typeface="Calibri" panose="020F0502020204030204" pitchFamily="34" charset="0"/>
              </a:rPr>
              <a:t>知识简简单单，学习快快乐乐".format(name))</a:t>
            </a:r>
            <a:endParaRPr lang="en-US" altLang="zh-CN" sz="1800" dirty="0">
              <a:latin typeface="Calibri" panose="020F0502020204030204" pitchFamily="34" charset="0"/>
              <a:cs typeface="Calibri" panose="020F0502020204030204" pitchFamily="34" charset="0"/>
            </a:endParaRPr>
          </a:p>
          <a:p>
            <a:pPr algn="l"/>
            <a:r>
              <a:rPr lang="en-US" altLang="zh-CN" sz="1800" dirty="0">
                <a:latin typeface="Calibri" panose="020F0502020204030204" pitchFamily="34" charset="0"/>
                <a:cs typeface="Calibri" panose="020F0502020204030204" pitchFamily="34" charset="0"/>
              </a:rPr>
              <a:t>say("</a:t>
            </a:r>
            <a:r>
              <a:rPr lang="en-US" altLang="zh-CN" sz="1800" dirty="0">
                <a:latin typeface="Calibri" panose="020F0502020204030204" pitchFamily="34" charset="0"/>
                <a:cs typeface="Calibri" panose="020F0502020204030204" pitchFamily="34" charset="0"/>
                <a:sym typeface="+mn-ea"/>
              </a:rPr>
              <a:t>张三</a:t>
            </a:r>
            <a:r>
              <a:rPr lang="en-US" altLang="zh-CN" sz="1800" dirty="0">
                <a:latin typeface="Calibri" panose="020F0502020204030204" pitchFamily="34" charset="0"/>
                <a:cs typeface="Calibri" panose="020F0502020204030204" pitchFamily="34" charset="0"/>
              </a:rPr>
              <a:t>", 2)</a:t>
            </a:r>
            <a:endParaRPr lang="en-US" altLang="zh-CN" sz="1800" dirty="0">
              <a:latin typeface="Calibri" panose="020F0502020204030204" pitchFamily="34" charset="0"/>
              <a:cs typeface="Calibri" panose="020F0502020204030204" pitchFamily="34" charset="0"/>
            </a:endParaRPr>
          </a:p>
        </p:txBody>
      </p:sp>
      <p:pic>
        <p:nvPicPr>
          <p:cNvPr id="18" name="图片 17"/>
          <p:cNvPicPr>
            <a:picLocks noChangeAspect="1"/>
          </p:cNvPicPr>
          <p:nvPr/>
        </p:nvPicPr>
        <p:blipFill>
          <a:blip r:embed="rId1"/>
          <a:srcRect b="49308"/>
          <a:stretch>
            <a:fillRect/>
          </a:stretch>
        </p:blipFill>
        <p:spPr>
          <a:xfrm>
            <a:off x="6129655" y="2512060"/>
            <a:ext cx="2619375" cy="511810"/>
          </a:xfrm>
          <a:prstGeom prst="rect">
            <a:avLst/>
          </a:prstGeom>
        </p:spPr>
      </p:pic>
      <p:pic>
        <p:nvPicPr>
          <p:cNvPr id="19" name="图片 18"/>
          <p:cNvPicPr>
            <a:picLocks noChangeAspect="1"/>
          </p:cNvPicPr>
          <p:nvPr/>
        </p:nvPicPr>
        <p:blipFill>
          <a:blip r:embed="rId1"/>
          <a:srcRect t="45283"/>
          <a:stretch>
            <a:fillRect/>
          </a:stretch>
        </p:blipFill>
        <p:spPr>
          <a:xfrm>
            <a:off x="6129655" y="3096269"/>
            <a:ext cx="2619375" cy="552450"/>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linds(horizont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par>
                          <p:cTn id="26" fill="hold">
                            <p:stCondLst>
                              <p:cond delay="500"/>
                            </p:stCondLst>
                            <p:childTnLst>
                              <p:par>
                                <p:cTn id="27" presetID="3" presetClass="entr" presetSubtype="10" fill="hold" nodeType="after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blinds(horizontal)">
                                      <p:cBhvr>
                                        <p:cTn id="29" dur="500"/>
                                        <p:tgtEl>
                                          <p:spTgt spid="18"/>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blinds(horizontal)">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blinds(horizontal)">
                                      <p:cBhvr>
                                        <p:cTn id="3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p:bldP spid="3" grpId="0" bldLvl="0" animBg="1"/>
      <p:bldP spid="4" grpId="0"/>
      <p:bldP spid="7" grpId="0"/>
      <p:bldP spid="6"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什么是实参、形参</a:t>
            </a:r>
            <a:endParaRPr lang="zh-CN" altLang="en-US" dirty="0">
              <a:sym typeface="+mn-ea"/>
            </a:endParaRPr>
          </a:p>
        </p:txBody>
      </p:sp>
      <p:sp>
        <p:nvSpPr>
          <p:cNvPr id="5" name="TextBox 4"/>
          <p:cNvSpPr txBox="1"/>
          <p:nvPr/>
        </p:nvSpPr>
        <p:spPr>
          <a:xfrm>
            <a:off x="3492224" y="1203345"/>
            <a:ext cx="3024336" cy="369332"/>
          </a:xfrm>
          <a:prstGeom prst="rect">
            <a:avLst/>
          </a:prstGeom>
          <a:noFill/>
        </p:spPr>
        <p:txBody>
          <a:bodyPr wrap="square" rtlCol="0">
            <a:spAutoFit/>
          </a:bodyPr>
          <a:lstStyle/>
          <a:p>
            <a:endParaRPr lang="zh-CN" altLang="en-US" dirty="0"/>
          </a:p>
        </p:txBody>
      </p:sp>
      <p:sp>
        <p:nvSpPr>
          <p:cNvPr id="18" name="右箭头 17"/>
          <p:cNvSpPr/>
          <p:nvPr/>
        </p:nvSpPr>
        <p:spPr bwMode="auto">
          <a:xfrm>
            <a:off x="5724732" y="3075553"/>
            <a:ext cx="745127" cy="95022"/>
          </a:xfrm>
          <a:prstGeom prst="rightArrow">
            <a:avLst/>
          </a:prstGeom>
          <a:solidFill>
            <a:srgbClr val="0070C0"/>
          </a:solidFill>
          <a:ln w="9525" cap="flat" cmpd="sng" algn="ctr">
            <a:solidFill>
              <a:srgbClr val="0070C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0" name="圆角矩形 39"/>
          <p:cNvSpPr/>
          <p:nvPr/>
        </p:nvSpPr>
        <p:spPr bwMode="auto">
          <a:xfrm>
            <a:off x="2625725" y="1769110"/>
            <a:ext cx="1031240" cy="448945"/>
          </a:xfrm>
          <a:prstGeom prst="roundRect">
            <a:avLst/>
          </a:prstGeom>
          <a:noFill/>
          <a:ln w="28575" cap="flat" cmpd="sng" algn="ctr">
            <a:solidFill>
              <a:srgbClr val="FF0000"/>
            </a:solidFill>
            <a:prstDash val="sysDot"/>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AutoShape 15"/>
          <p:cNvSpPr>
            <a:spLocks noChangeArrowheads="1"/>
          </p:cNvSpPr>
          <p:nvPr/>
        </p:nvSpPr>
        <p:spPr bwMode="auto">
          <a:xfrm>
            <a:off x="1696085" y="1769110"/>
            <a:ext cx="5444490" cy="1953432"/>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r>
              <a:rPr lang="en-US" altLang="zh-CN" sz="2000" dirty="0">
                <a:latin typeface="Calibri" panose="020F0502020204030204" pitchFamily="34" charset="0"/>
                <a:cs typeface="Calibri" panose="020F0502020204030204" pitchFamily="34" charset="0"/>
              </a:rPr>
              <a:t>def say(number):</a:t>
            </a:r>
            <a:endParaRPr lang="en-US" altLang="zh-CN" sz="2000" dirty="0">
              <a:latin typeface="Calibri" panose="020F0502020204030204" pitchFamily="34" charset="0"/>
              <a:cs typeface="Calibri" panose="020F0502020204030204" pitchFamily="34" charset="0"/>
            </a:endParaRPr>
          </a:p>
          <a:p>
            <a:pPr algn="l"/>
            <a:r>
              <a:rPr lang="en-US" altLang="zh-CN" sz="2000" dirty="0">
                <a:latin typeface="Calibri" panose="020F0502020204030204" pitchFamily="34" charset="0"/>
                <a:cs typeface="Calibri" panose="020F0502020204030204" pitchFamily="34" charset="0"/>
              </a:rPr>
              <a:t>    for i in range(number):</a:t>
            </a:r>
            <a:endParaRPr lang="en-US" altLang="zh-CN" sz="2000" dirty="0">
              <a:latin typeface="Calibri" panose="020F0502020204030204" pitchFamily="34" charset="0"/>
              <a:cs typeface="Calibri" panose="020F0502020204030204" pitchFamily="34" charset="0"/>
            </a:endParaRPr>
          </a:p>
          <a:p>
            <a:pPr algn="l"/>
            <a:r>
              <a:rPr lang="en-US" altLang="zh-CN" sz="2000" dirty="0">
                <a:latin typeface="Calibri" panose="020F0502020204030204" pitchFamily="34" charset="0"/>
                <a:cs typeface="Calibri" panose="020F0502020204030204" pitchFamily="34" charset="0"/>
              </a:rPr>
              <a:t>        print("知识简简单单，学习快快乐乐")</a:t>
            </a:r>
            <a:endParaRPr lang="en-US" altLang="zh-CN" sz="2000" dirty="0">
              <a:latin typeface="Calibri" panose="020F0502020204030204" pitchFamily="34" charset="0"/>
              <a:cs typeface="Calibri" panose="020F0502020204030204" pitchFamily="34" charset="0"/>
            </a:endParaRPr>
          </a:p>
          <a:p>
            <a:pPr algn="l"/>
            <a:endParaRPr lang="en-US" altLang="zh-CN" sz="2000" dirty="0">
              <a:latin typeface="Calibri" panose="020F0502020204030204" pitchFamily="34" charset="0"/>
              <a:cs typeface="Calibri" panose="020F0502020204030204" pitchFamily="34" charset="0"/>
            </a:endParaRPr>
          </a:p>
          <a:p>
            <a:pPr algn="l"/>
            <a:endParaRPr lang="en-US" altLang="zh-CN" sz="2000" dirty="0">
              <a:latin typeface="Calibri" panose="020F0502020204030204" pitchFamily="34" charset="0"/>
              <a:cs typeface="Calibri" panose="020F0502020204030204" pitchFamily="34" charset="0"/>
            </a:endParaRPr>
          </a:p>
          <a:p>
            <a:pPr algn="l"/>
            <a:r>
              <a:rPr lang="en-US" altLang="zh-CN" sz="2000" dirty="0">
                <a:latin typeface="Calibri" panose="020F0502020204030204" pitchFamily="34" charset="0"/>
                <a:cs typeface="Calibri" panose="020F0502020204030204" pitchFamily="34" charset="0"/>
              </a:rPr>
              <a:t>say(5)</a:t>
            </a:r>
            <a:endParaRPr lang="en-US" sz="2000" dirty="0">
              <a:solidFill>
                <a:srgbClr val="09131F"/>
              </a:solidFill>
              <a:latin typeface="Calibri" panose="020F0502020204030204" pitchFamily="34" charset="0"/>
              <a:cs typeface="Calibri" panose="020F0502020204030204" pitchFamily="34" charset="0"/>
            </a:endParaRPr>
          </a:p>
        </p:txBody>
      </p:sp>
      <p:sp>
        <p:nvSpPr>
          <p:cNvPr id="6" name="AutoShape 8"/>
          <p:cNvSpPr>
            <a:spLocks noChangeArrowheads="1"/>
          </p:cNvSpPr>
          <p:nvPr/>
        </p:nvSpPr>
        <p:spPr bwMode="auto">
          <a:xfrm>
            <a:off x="3388360" y="3839897"/>
            <a:ext cx="2573655" cy="714958"/>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lstStyle/>
          <a:p>
            <a:r>
              <a:rPr lang="zh-CN" altLang="en-US" dirty="0">
                <a:solidFill>
                  <a:srgbClr val="F9F9F9"/>
                </a:solidFill>
                <a:latin typeface="+mn-ea"/>
                <a:ea typeface="+mn-ea"/>
              </a:rPr>
              <a:t>实际参数（实参），</a:t>
            </a:r>
            <a:endParaRPr lang="en-US" altLang="zh-CN" dirty="0">
              <a:solidFill>
                <a:srgbClr val="F9F9F9"/>
              </a:solidFill>
              <a:latin typeface="+mn-ea"/>
              <a:ea typeface="+mn-ea"/>
            </a:endParaRPr>
          </a:p>
          <a:p>
            <a:r>
              <a:rPr lang="zh-CN" altLang="en-US" dirty="0">
                <a:solidFill>
                  <a:srgbClr val="F9F9F9"/>
                </a:solidFill>
                <a:latin typeface="+mn-ea"/>
                <a:ea typeface="+mn-ea"/>
              </a:rPr>
              <a:t>真正有意义的参数</a:t>
            </a:r>
            <a:endParaRPr lang="zh-CN" altLang="en-US" dirty="0">
              <a:solidFill>
                <a:srgbClr val="F9F9F9"/>
              </a:solidFill>
              <a:latin typeface="+mn-ea"/>
              <a:ea typeface="+mn-ea"/>
            </a:endParaRPr>
          </a:p>
        </p:txBody>
      </p:sp>
      <p:sp>
        <p:nvSpPr>
          <p:cNvPr id="8" name="圆角矩形 7"/>
          <p:cNvSpPr/>
          <p:nvPr/>
        </p:nvSpPr>
        <p:spPr>
          <a:xfrm>
            <a:off x="2482215" y="1856740"/>
            <a:ext cx="1174750" cy="273050"/>
          </a:xfrm>
          <a:prstGeom prst="roundRect">
            <a:avLst/>
          </a:prstGeom>
          <a:noFill/>
          <a:ln w="28575" cap="flat" cmpd="sng" algn="ctr">
            <a:solidFill>
              <a:srgbClr val="FF0000"/>
            </a:solidFill>
            <a:prstDash val="sysDash"/>
            <a:round/>
            <a:headEnd type="none" w="med" len="med"/>
            <a:tailEnd type="none" w="med" len="med"/>
          </a:ln>
          <a:extLst>
            <a:ext uri="{909E8E84-426E-40DD-AFC4-6F175D3DCCD1}">
              <a14:hiddenFill xmlns:a14="http://schemas.microsoft.com/office/drawing/2010/main">
                <a:solidFill>
                  <a:srgbClr val="FF00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0" name="圆角矩形 9"/>
          <p:cNvSpPr/>
          <p:nvPr/>
        </p:nvSpPr>
        <p:spPr>
          <a:xfrm>
            <a:off x="2127885" y="3357245"/>
            <a:ext cx="354965" cy="341630"/>
          </a:xfrm>
          <a:prstGeom prst="roundRect">
            <a:avLst/>
          </a:prstGeom>
          <a:noFill/>
          <a:ln w="28575" cap="flat" cmpd="sng" algn="ctr">
            <a:solidFill>
              <a:srgbClr val="FF0000"/>
            </a:solidFill>
            <a:prstDash val="sysDash"/>
            <a:round/>
            <a:headEnd type="none" w="med" len="med"/>
            <a:tailEnd type="none" w="med" len="med"/>
          </a:ln>
          <a:extLst>
            <a:ext uri="{909E8E84-426E-40DD-AFC4-6F175D3DCCD1}">
              <a14:hiddenFill xmlns:a14="http://schemas.microsoft.com/office/drawing/2010/main">
                <a:solidFill>
                  <a:srgbClr val="FF00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AutoShape 8"/>
          <p:cNvSpPr>
            <a:spLocks noChangeArrowheads="1"/>
          </p:cNvSpPr>
          <p:nvPr/>
        </p:nvSpPr>
        <p:spPr bwMode="auto">
          <a:xfrm>
            <a:off x="4039235" y="929692"/>
            <a:ext cx="2662555" cy="714958"/>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lstStyle/>
          <a:p>
            <a:r>
              <a:rPr lang="zh-CN" altLang="en-US" dirty="0">
                <a:solidFill>
                  <a:srgbClr val="F9F9F9"/>
                </a:solidFill>
                <a:latin typeface="+mn-ea"/>
                <a:ea typeface="+mn-ea"/>
                <a:sym typeface="+mn-ea"/>
              </a:rPr>
              <a:t>形式参数（形参），</a:t>
            </a:r>
            <a:endParaRPr lang="zh-CN" altLang="en-US" dirty="0">
              <a:solidFill>
                <a:srgbClr val="F9F9F9"/>
              </a:solidFill>
              <a:latin typeface="+mn-ea"/>
              <a:ea typeface="+mn-ea"/>
              <a:sym typeface="+mn-ea"/>
            </a:endParaRPr>
          </a:p>
          <a:p>
            <a:r>
              <a:rPr lang="zh-CN" altLang="en-US" dirty="0">
                <a:solidFill>
                  <a:srgbClr val="F9F9F9"/>
                </a:solidFill>
                <a:latin typeface="+mn-ea"/>
                <a:ea typeface="+mn-ea"/>
                <a:sym typeface="+mn-ea"/>
              </a:rPr>
              <a:t>用于接收实参的参数</a:t>
            </a:r>
            <a:endParaRPr lang="zh-CN" altLang="en-US" dirty="0">
              <a:solidFill>
                <a:srgbClr val="F9F9F9"/>
              </a:solidFill>
              <a:latin typeface="+mn-ea"/>
              <a:ea typeface="+mn-ea"/>
            </a:endParaRPr>
          </a:p>
        </p:txBody>
      </p:sp>
      <p:sp>
        <p:nvSpPr>
          <p:cNvPr id="12" name="Line 12"/>
          <p:cNvSpPr>
            <a:spLocks noChangeShapeType="1"/>
          </p:cNvSpPr>
          <p:nvPr/>
        </p:nvSpPr>
        <p:spPr bwMode="auto">
          <a:xfrm rot="9120000" flipH="1" flipV="1">
            <a:off x="3082290" y="1546225"/>
            <a:ext cx="854075" cy="635"/>
          </a:xfrm>
          <a:prstGeom prst="line">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lstStyle/>
          <a:p>
            <a:pPr>
              <a:defRPr/>
            </a:pPr>
            <a:endParaRPr lang="zh-CN" altLang="en-US"/>
          </a:p>
        </p:txBody>
      </p:sp>
      <p:sp>
        <p:nvSpPr>
          <p:cNvPr id="13" name="Line 12"/>
          <p:cNvSpPr>
            <a:spLocks noChangeShapeType="1"/>
          </p:cNvSpPr>
          <p:nvPr/>
        </p:nvSpPr>
        <p:spPr bwMode="auto">
          <a:xfrm rot="12840000" flipH="1">
            <a:off x="2522220" y="3864610"/>
            <a:ext cx="783590" cy="58420"/>
          </a:xfrm>
          <a:prstGeom prst="line">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lstStyle/>
          <a:p>
            <a:pPr>
              <a:defRPr/>
            </a:pPr>
            <a:endParaRPr lang="zh-CN" altLang="en-US"/>
          </a:p>
        </p:txBody>
      </p:sp>
      <p:sp>
        <p:nvSpPr>
          <p:cNvPr id="3" name="文本框 2"/>
          <p:cNvSpPr txBox="1"/>
          <p:nvPr/>
        </p:nvSpPr>
        <p:spPr>
          <a:xfrm>
            <a:off x="252095" y="772160"/>
            <a:ext cx="2449830" cy="337185"/>
          </a:xfrm>
          <a:prstGeom prst="rect">
            <a:avLst/>
          </a:prstGeom>
          <a:noFill/>
        </p:spPr>
        <p:txBody>
          <a:bodyPr wrap="square" rtlCol="0">
            <a:spAutoFit/>
          </a:bodyPr>
          <a:lstStyle/>
          <a:p>
            <a:pPr marL="0" indent="0" algn="l">
              <a:buFont typeface="Wingdings" panose="05000000000000000000" pitchFamily="2" charset="2"/>
              <a:buNone/>
            </a:pPr>
            <a:r>
              <a:rPr lang="zh-CN" altLang="en-US" sz="1600" b="1" dirty="0">
                <a:solidFill>
                  <a:srgbClr val="0070C0"/>
                </a:solidFill>
                <a:latin typeface="微软雅黑" panose="020B0503020204020204" pitchFamily="34" charset="-122"/>
                <a:ea typeface="微软雅黑" panose="020B0503020204020204" pitchFamily="34" charset="-122"/>
              </a:rPr>
              <a:t>单参函数代码举例</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0"/>
                            </p:stCondLst>
                            <p:childTnLst>
                              <p:par>
                                <p:cTn id="20" presetID="22" presetClass="entr" presetSubtype="8" fill="hold" grpId="0" nodeType="after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P spid="10" grpId="0" bldLvl="0" animBg="1"/>
      <p:bldP spid="11" grpId="0" bldLvl="0" animBg="1"/>
      <p:bldP spid="12" grpId="0" bldLvl="0" animBg="1"/>
      <p:bldP spid="13"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什么是实参、形参</a:t>
            </a:r>
            <a:endParaRPr lang="zh-CN" altLang="en-US" dirty="0"/>
          </a:p>
        </p:txBody>
      </p:sp>
      <p:sp>
        <p:nvSpPr>
          <p:cNvPr id="5" name="TextBox 4"/>
          <p:cNvSpPr txBox="1"/>
          <p:nvPr/>
        </p:nvSpPr>
        <p:spPr>
          <a:xfrm>
            <a:off x="2774674" y="1131590"/>
            <a:ext cx="3024336" cy="369332"/>
          </a:xfrm>
          <a:prstGeom prst="rect">
            <a:avLst/>
          </a:prstGeom>
          <a:noFill/>
        </p:spPr>
        <p:txBody>
          <a:bodyPr wrap="square" rtlCol="0">
            <a:spAutoFit/>
          </a:bodyPr>
          <a:lstStyle/>
          <a:p>
            <a:endParaRPr lang="zh-CN" altLang="en-US" dirty="0"/>
          </a:p>
        </p:txBody>
      </p:sp>
      <p:sp>
        <p:nvSpPr>
          <p:cNvPr id="3" name="文本框 2"/>
          <p:cNvSpPr txBox="1"/>
          <p:nvPr/>
        </p:nvSpPr>
        <p:spPr>
          <a:xfrm>
            <a:off x="252095" y="772160"/>
            <a:ext cx="2449830" cy="337185"/>
          </a:xfrm>
          <a:prstGeom prst="rect">
            <a:avLst/>
          </a:prstGeom>
          <a:noFill/>
        </p:spPr>
        <p:txBody>
          <a:bodyPr wrap="square" rtlCol="0">
            <a:spAutoFit/>
          </a:bodyPr>
          <a:lstStyle/>
          <a:p>
            <a:pPr marL="0" indent="0" algn="l">
              <a:buFont typeface="Wingdings" panose="05000000000000000000" pitchFamily="2" charset="2"/>
              <a:buNone/>
            </a:pPr>
            <a:r>
              <a:rPr lang="zh-CN" altLang="en-US" sz="1600" b="1" dirty="0">
                <a:solidFill>
                  <a:srgbClr val="0070C0"/>
                </a:solidFill>
                <a:latin typeface="微软雅黑" panose="020B0503020204020204" pitchFamily="34" charset="-122"/>
                <a:ea typeface="微软雅黑" panose="020B0503020204020204" pitchFamily="34" charset="-122"/>
              </a:rPr>
              <a:t>多参函数代码举例</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17" name="AutoShape 8"/>
          <p:cNvSpPr>
            <a:spLocks noChangeArrowheads="1"/>
          </p:cNvSpPr>
          <p:nvPr/>
        </p:nvSpPr>
        <p:spPr bwMode="auto">
          <a:xfrm>
            <a:off x="3034665" y="3270937"/>
            <a:ext cx="2573655" cy="714958"/>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lstStyle/>
          <a:p>
            <a:r>
              <a:rPr lang="zh-CN" altLang="en-US" dirty="0">
                <a:solidFill>
                  <a:srgbClr val="F9F9F9"/>
                </a:solidFill>
                <a:latin typeface="+mn-ea"/>
                <a:ea typeface="+mn-ea"/>
              </a:rPr>
              <a:t>实际参数（实参），</a:t>
            </a:r>
            <a:endParaRPr lang="en-US" altLang="zh-CN" dirty="0">
              <a:solidFill>
                <a:srgbClr val="F9F9F9"/>
              </a:solidFill>
              <a:latin typeface="+mn-ea"/>
              <a:ea typeface="+mn-ea"/>
            </a:endParaRPr>
          </a:p>
          <a:p>
            <a:r>
              <a:rPr lang="zh-CN" altLang="en-US" dirty="0">
                <a:solidFill>
                  <a:srgbClr val="F9F9F9"/>
                </a:solidFill>
                <a:latin typeface="+mn-ea"/>
                <a:ea typeface="+mn-ea"/>
              </a:rPr>
              <a:t>真正有意义的参数</a:t>
            </a:r>
            <a:endParaRPr lang="zh-CN" altLang="en-US" dirty="0">
              <a:solidFill>
                <a:srgbClr val="F9F9F9"/>
              </a:solidFill>
              <a:latin typeface="+mn-ea"/>
              <a:ea typeface="+mn-ea"/>
            </a:endParaRPr>
          </a:p>
        </p:txBody>
      </p:sp>
      <p:sp>
        <p:nvSpPr>
          <p:cNvPr id="18" name="右箭头 17"/>
          <p:cNvSpPr/>
          <p:nvPr/>
        </p:nvSpPr>
        <p:spPr bwMode="auto">
          <a:xfrm>
            <a:off x="5007182" y="3003798"/>
            <a:ext cx="745127" cy="95022"/>
          </a:xfrm>
          <a:prstGeom prst="rightArrow">
            <a:avLst/>
          </a:prstGeom>
          <a:solidFill>
            <a:srgbClr val="0070C0"/>
          </a:solidFill>
          <a:ln w="9525" cap="flat" cmpd="sng" algn="ctr">
            <a:solidFill>
              <a:srgbClr val="0070C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0" name="圆角矩形 39"/>
          <p:cNvSpPr/>
          <p:nvPr/>
        </p:nvSpPr>
        <p:spPr bwMode="auto">
          <a:xfrm>
            <a:off x="1908175" y="1697355"/>
            <a:ext cx="1031240" cy="448945"/>
          </a:xfrm>
          <a:prstGeom prst="roundRect">
            <a:avLst/>
          </a:prstGeom>
          <a:noFill/>
          <a:ln w="28575" cap="flat" cmpd="sng" algn="ctr">
            <a:solidFill>
              <a:srgbClr val="FF0000"/>
            </a:solidFill>
            <a:prstDash val="sysDot"/>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AutoShape 15"/>
          <p:cNvSpPr>
            <a:spLocks noChangeArrowheads="1"/>
          </p:cNvSpPr>
          <p:nvPr/>
        </p:nvSpPr>
        <p:spPr bwMode="auto">
          <a:xfrm>
            <a:off x="1050290" y="1625600"/>
            <a:ext cx="7200265" cy="1643009"/>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r>
              <a:rPr lang="en-US" altLang="zh-CN" sz="2000" dirty="0">
                <a:latin typeface="Calibri" panose="020F0502020204030204" pitchFamily="34" charset="0"/>
                <a:cs typeface="Calibri" panose="020F0502020204030204" pitchFamily="34" charset="0"/>
              </a:rPr>
              <a:t>def say(name, number):</a:t>
            </a:r>
            <a:endParaRPr lang="en-US" altLang="zh-CN" sz="2000" dirty="0">
              <a:latin typeface="Calibri" panose="020F0502020204030204" pitchFamily="34" charset="0"/>
              <a:cs typeface="Calibri" panose="020F0502020204030204" pitchFamily="34" charset="0"/>
            </a:endParaRPr>
          </a:p>
          <a:p>
            <a:pPr algn="l"/>
            <a:r>
              <a:rPr lang="en-US" altLang="zh-CN" sz="2000" dirty="0">
                <a:latin typeface="Calibri" panose="020F0502020204030204" pitchFamily="34" charset="0"/>
                <a:cs typeface="Calibri" panose="020F0502020204030204" pitchFamily="34" charset="0"/>
              </a:rPr>
              <a:t>    for i in range(number):</a:t>
            </a:r>
            <a:endParaRPr lang="en-US" altLang="zh-CN" sz="2000" dirty="0">
              <a:latin typeface="Calibri" panose="020F0502020204030204" pitchFamily="34" charset="0"/>
              <a:cs typeface="Calibri" panose="020F0502020204030204" pitchFamily="34" charset="0"/>
            </a:endParaRPr>
          </a:p>
          <a:p>
            <a:pPr algn="l"/>
            <a:r>
              <a:rPr lang="en-US" altLang="zh-CN" sz="2000" dirty="0">
                <a:latin typeface="Calibri" panose="020F0502020204030204" pitchFamily="34" charset="0"/>
                <a:cs typeface="Calibri" panose="020F0502020204030204" pitchFamily="34" charset="0"/>
              </a:rPr>
              <a:t>        print("{}说：知识简简单单，学习快快乐乐".format(name))</a:t>
            </a:r>
            <a:endParaRPr lang="en-US" altLang="zh-CN" sz="2000" dirty="0">
              <a:latin typeface="Calibri" panose="020F0502020204030204" pitchFamily="34" charset="0"/>
              <a:cs typeface="Calibri" panose="020F0502020204030204" pitchFamily="34" charset="0"/>
            </a:endParaRPr>
          </a:p>
          <a:p>
            <a:pPr algn="l"/>
            <a:r>
              <a:rPr lang="en-US" altLang="zh-CN" sz="2000" dirty="0">
                <a:latin typeface="Calibri" panose="020F0502020204030204" pitchFamily="34" charset="0"/>
                <a:cs typeface="Calibri" panose="020F0502020204030204" pitchFamily="34" charset="0"/>
              </a:rPr>
              <a:t>n = </a:t>
            </a:r>
            <a:r>
              <a:rPr lang="en-US" altLang="zh-CN" sz="2000" dirty="0">
                <a:latin typeface="Calibri" panose="020F0502020204030204" pitchFamily="34" charset="0"/>
                <a:cs typeface="Calibri" panose="020F0502020204030204" pitchFamily="34" charset="0"/>
                <a:sym typeface="+mn-ea"/>
              </a:rPr>
              <a:t>"张三"</a:t>
            </a:r>
            <a:endParaRPr lang="en-US" altLang="zh-CN" sz="2000" dirty="0">
              <a:latin typeface="Calibri" panose="020F0502020204030204" pitchFamily="34" charset="0"/>
              <a:cs typeface="Calibri" panose="020F0502020204030204" pitchFamily="34" charset="0"/>
            </a:endParaRPr>
          </a:p>
          <a:p>
            <a:pPr algn="l"/>
            <a:r>
              <a:rPr lang="en-US" altLang="zh-CN" sz="2000" dirty="0">
                <a:latin typeface="Calibri" panose="020F0502020204030204" pitchFamily="34" charset="0"/>
                <a:cs typeface="Calibri" panose="020F0502020204030204" pitchFamily="34" charset="0"/>
              </a:rPr>
              <a:t>say(n, 5)</a:t>
            </a:r>
            <a:endParaRPr lang="en-US" altLang="zh-CN" sz="2000" dirty="0">
              <a:latin typeface="Calibri" panose="020F0502020204030204" pitchFamily="34" charset="0"/>
              <a:cs typeface="Calibri" panose="020F0502020204030204" pitchFamily="34" charset="0"/>
            </a:endParaRPr>
          </a:p>
        </p:txBody>
      </p:sp>
      <p:sp>
        <p:nvSpPr>
          <p:cNvPr id="7" name="圆角矩形 6"/>
          <p:cNvSpPr/>
          <p:nvPr/>
        </p:nvSpPr>
        <p:spPr>
          <a:xfrm>
            <a:off x="1908175" y="1706880"/>
            <a:ext cx="1633220" cy="273050"/>
          </a:xfrm>
          <a:prstGeom prst="roundRect">
            <a:avLst/>
          </a:prstGeom>
          <a:noFill/>
          <a:ln w="28575" cap="flat" cmpd="sng" algn="ctr">
            <a:solidFill>
              <a:srgbClr val="FF0000"/>
            </a:solidFill>
            <a:prstDash val="sysDash"/>
            <a:round/>
            <a:headEnd type="none" w="med" len="med"/>
            <a:tailEnd type="none" w="med" len="med"/>
          </a:ln>
          <a:extLst>
            <a:ext uri="{909E8E84-426E-40DD-AFC4-6F175D3DCCD1}">
              <a14:hiddenFill xmlns:a14="http://schemas.microsoft.com/office/drawing/2010/main">
                <a:solidFill>
                  <a:srgbClr val="FF00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4" name="Rectangle 3"/>
          <p:cNvSpPr txBox="1">
            <a:spLocks noChangeArrowheads="1"/>
          </p:cNvSpPr>
          <p:nvPr/>
        </p:nvSpPr>
        <p:spPr bwMode="auto">
          <a:xfrm>
            <a:off x="260157" y="3691280"/>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输出结果</a:t>
            </a:r>
            <a:endPar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endParaRPr>
          </a:p>
        </p:txBody>
      </p:sp>
      <p:pic>
        <p:nvPicPr>
          <p:cNvPr id="6" name="图片 5"/>
          <p:cNvPicPr>
            <a:picLocks noChangeAspect="1"/>
          </p:cNvPicPr>
          <p:nvPr/>
        </p:nvPicPr>
        <p:blipFill>
          <a:blip r:embed="rId1"/>
          <a:srcRect b="10117"/>
          <a:stretch>
            <a:fillRect/>
          </a:stretch>
        </p:blipFill>
        <p:spPr>
          <a:xfrm>
            <a:off x="1050290" y="4057015"/>
            <a:ext cx="2447290" cy="1021080"/>
          </a:xfrm>
          <a:prstGeom prst="rect">
            <a:avLst/>
          </a:prstGeom>
        </p:spPr>
      </p:pic>
      <p:sp>
        <p:nvSpPr>
          <p:cNvPr id="8" name="圆角矩形 7"/>
          <p:cNvSpPr/>
          <p:nvPr/>
        </p:nvSpPr>
        <p:spPr>
          <a:xfrm>
            <a:off x="1437640" y="2926715"/>
            <a:ext cx="687070" cy="341630"/>
          </a:xfrm>
          <a:prstGeom prst="roundRect">
            <a:avLst/>
          </a:prstGeom>
          <a:noFill/>
          <a:ln w="28575" cap="flat" cmpd="sng" algn="ctr">
            <a:solidFill>
              <a:srgbClr val="FF0000"/>
            </a:solidFill>
            <a:prstDash val="sysDash"/>
            <a:round/>
            <a:headEnd type="none" w="med" len="med"/>
            <a:tailEnd type="none" w="med" len="med"/>
          </a:ln>
          <a:extLst>
            <a:ext uri="{909E8E84-426E-40DD-AFC4-6F175D3DCCD1}">
              <a14:hiddenFill xmlns:a14="http://schemas.microsoft.com/office/drawing/2010/main">
                <a:solidFill>
                  <a:srgbClr val="FF0000"/>
                </a:solidFill>
              </a14:hiddenFill>
            </a:ext>
          </a:extLst>
        </p:spPr>
        <p:txBody>
          <a:bodyPr vert="horz" wrap="square" lIns="91440" tIns="45720" rIns="91440" bIns="45720" numCol="1"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11" name="AutoShape 8"/>
          <p:cNvSpPr>
            <a:spLocks noChangeArrowheads="1"/>
          </p:cNvSpPr>
          <p:nvPr/>
        </p:nvSpPr>
        <p:spPr bwMode="auto">
          <a:xfrm>
            <a:off x="3465195" y="786182"/>
            <a:ext cx="2662555" cy="714958"/>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lstStyle/>
          <a:p>
            <a:r>
              <a:rPr lang="zh-CN" altLang="en-US" dirty="0">
                <a:solidFill>
                  <a:srgbClr val="F9F9F9"/>
                </a:solidFill>
                <a:latin typeface="+mn-ea"/>
                <a:ea typeface="+mn-ea"/>
                <a:sym typeface="+mn-ea"/>
              </a:rPr>
              <a:t>形式参数（形参），</a:t>
            </a:r>
            <a:endParaRPr lang="zh-CN" altLang="en-US" dirty="0">
              <a:solidFill>
                <a:srgbClr val="F9F9F9"/>
              </a:solidFill>
              <a:latin typeface="+mn-ea"/>
              <a:ea typeface="+mn-ea"/>
              <a:sym typeface="+mn-ea"/>
            </a:endParaRPr>
          </a:p>
          <a:p>
            <a:r>
              <a:rPr lang="zh-CN" altLang="en-US" dirty="0">
                <a:solidFill>
                  <a:srgbClr val="F9F9F9"/>
                </a:solidFill>
                <a:latin typeface="+mn-ea"/>
                <a:ea typeface="+mn-ea"/>
                <a:sym typeface="+mn-ea"/>
              </a:rPr>
              <a:t>用于接收实参的参数</a:t>
            </a:r>
            <a:endParaRPr lang="zh-CN" altLang="en-US" dirty="0">
              <a:solidFill>
                <a:srgbClr val="F9F9F9"/>
              </a:solidFill>
              <a:latin typeface="+mn-ea"/>
              <a:ea typeface="+mn-ea"/>
            </a:endParaRPr>
          </a:p>
        </p:txBody>
      </p:sp>
      <p:sp>
        <p:nvSpPr>
          <p:cNvPr id="12" name="Line 12"/>
          <p:cNvSpPr>
            <a:spLocks noChangeShapeType="1"/>
          </p:cNvSpPr>
          <p:nvPr/>
        </p:nvSpPr>
        <p:spPr bwMode="auto">
          <a:xfrm rot="9120000" flipH="1" flipV="1">
            <a:off x="2816225" y="1461135"/>
            <a:ext cx="598170" cy="26035"/>
          </a:xfrm>
          <a:prstGeom prst="line">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lstStyle/>
          <a:p>
            <a:pPr>
              <a:defRPr/>
            </a:pPr>
            <a:endParaRPr lang="zh-CN" altLang="en-US"/>
          </a:p>
        </p:txBody>
      </p:sp>
      <p:sp>
        <p:nvSpPr>
          <p:cNvPr id="13" name="Line 12"/>
          <p:cNvSpPr>
            <a:spLocks noChangeShapeType="1"/>
          </p:cNvSpPr>
          <p:nvPr/>
        </p:nvSpPr>
        <p:spPr bwMode="auto">
          <a:xfrm rot="12840000" flipH="1">
            <a:off x="2189480" y="3410585"/>
            <a:ext cx="783590" cy="58420"/>
          </a:xfrm>
          <a:prstGeom prst="line">
            <a:avLst/>
          </a:prstGeom>
          <a:ln cmpd="sng">
            <a:solidFill>
              <a:schemeClr val="accent5">
                <a:lumMod val="50000"/>
              </a:schemeClr>
            </a:solidFill>
            <a:headEnd type="none"/>
            <a:tailEnd type="triangle"/>
          </a:ln>
          <a:effectLst>
            <a:outerShdw blurRad="50800" dist="38100" dir="5400000" algn="t" rotWithShape="0">
              <a:prstClr val="black">
                <a:alpha val="40000"/>
              </a:prstClr>
            </a:outerShdw>
          </a:effectLst>
          <a:scene3d>
            <a:camera prst="orthographicFront">
              <a:rot lat="0" lon="0" rev="0"/>
            </a:camera>
            <a:lightRig rig="flood" dir="t">
              <a:rot lat="0" lon="0" rev="5400000"/>
            </a:lightRig>
          </a:scene3d>
          <a:sp3d prstMaterial="dkEdge">
            <a:bevelT w="0" h="0"/>
            <a:contourClr>
              <a:schemeClr val="accent1">
                <a:satMod val="110000"/>
              </a:schemeClr>
            </a:contourClr>
          </a:sp3d>
        </p:spPr>
        <p:style>
          <a:lnRef idx="3">
            <a:schemeClr val="accent1"/>
          </a:lnRef>
          <a:fillRef idx="0">
            <a:schemeClr val="accent1"/>
          </a:fillRef>
          <a:effectRef idx="2">
            <a:schemeClr val="accent1"/>
          </a:effectRef>
          <a:fontRef idx="minor">
            <a:schemeClr val="tx1"/>
          </a:fontRef>
        </p:style>
        <p:txBody>
          <a:bodyPr/>
          <a:lstStyle/>
          <a:p>
            <a:pPr>
              <a:defRPr/>
            </a:pPr>
            <a:endParaRPr lang="zh-CN" altLang="en-US"/>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0"/>
                            </p:stCondLst>
                            <p:childTnLst>
                              <p:par>
                                <p:cTn id="20" presetID="22" presetClass="entr" presetSubtype="8"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left)">
                                      <p:cBhvr>
                                        <p:cTn id="22" dur="500"/>
                                        <p:tgtEl>
                                          <p:spTgt spid="13"/>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500"/>
                                        <p:tgtEl>
                                          <p:spTgt spid="4"/>
                                        </p:tgtEl>
                                      </p:cBhvr>
                                    </p:animEffect>
                                  </p:childTnLst>
                                </p:cTn>
                              </p:par>
                            </p:childTnLst>
                          </p:cTn>
                        </p:par>
                        <p:par>
                          <p:cTn id="32" fill="hold">
                            <p:stCondLst>
                              <p:cond delay="500"/>
                            </p:stCondLst>
                            <p:childTnLst>
                              <p:par>
                                <p:cTn id="33" presetID="3" presetClass="entr" presetSubtype="10"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blinds(horizontal)">
                                      <p:cBhvr>
                                        <p:cTn id="3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7" grpId="0" bldLvl="0" animBg="1"/>
      <p:bldP spid="4" grpId="0"/>
      <p:bldP spid="8" grpId="0" bldLvl="0" animBg="1"/>
      <p:bldP spid="11" grpId="0" bldLvl="0" animBg="1"/>
      <p:bldP spid="12" grpId="0" bldLvl="0" animBg="1"/>
      <p:bldP spid="13"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如何使用实参、形参</a:t>
            </a:r>
            <a:endParaRPr lang="zh-CN" altLang="en-US" dirty="0"/>
          </a:p>
        </p:txBody>
      </p:sp>
      <p:sp>
        <p:nvSpPr>
          <p:cNvPr id="26" name="TextBox 11"/>
          <p:cNvSpPr>
            <a:spLocks noChangeArrowheads="1"/>
          </p:cNvSpPr>
          <p:nvPr/>
        </p:nvSpPr>
        <p:spPr bwMode="auto">
          <a:xfrm flipH="1">
            <a:off x="899795" y="1472565"/>
            <a:ext cx="5267960" cy="33718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a:extLs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l"/>
            <a:r>
              <a:rPr lang="zh-CN" altLang="en-US" sz="1600" b="1" dirty="0">
                <a:solidFill>
                  <a:srgbClr val="3F3F3F"/>
                </a:solidFill>
                <a:latin typeface="微软雅黑" panose="020B0503020204020204" pitchFamily="34" charset="-122"/>
                <a:ea typeface="微软雅黑" panose="020B0503020204020204" pitchFamily="34" charset="-122"/>
                <a:sym typeface="微软雅黑" panose="020B0503020204020204" pitchFamily="34" charset="-122"/>
              </a:rPr>
              <a:t>形参与实参对应关系必须一致</a:t>
            </a:r>
            <a:endParaRPr lang="zh-CN" altLang="en-US" sz="1600" b="1" dirty="0">
              <a:solidFill>
                <a:srgbClr val="3F3F3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 name="AutoShape 2" descr="data:image/jpeg;base64,/9j/4AAQSkZJRgABAQAAAQABAAD/2wBDAAgGBgcGBQgHBwcJCQgKDBQNDAsLDBkSEw8UHRofHh0aHBwgJC4nICIsIxwcKDcpLDAxNDQ0Hyc5PTgyPC4zNDL/2wBDAQkJCQwLDBgNDRgyIRwhMjIyMjIyMjIyMjIyMjIyMjIyMjIyMjIyMjIyMjIyMjIyMjIyMjIyMjIyMjIyMjIyMjL/wAARCAGzAf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Jx1oAKKTIxnNMY56UASUUgORS0AFFFFABRRRQAUUUUAFFFFABRRRQAUUUUAFFFFABRRRQAUUUUAFFFFABRRRQAUUUUAFFISB1oyMZoAWioyx3cVIORQAUUUUAFFFFABRRRQAUUUUAFFFFABRRRQAUUUUAFFFFABRRRQAUUUUAFFFFABRRRQAUUUUAFFFFABRRRQAU1xletOpjct7UANAwMU5V70qrjrTqACiiigAooqCWcKdq9e9AExYL1OKYZV96rGTJyaN1AFnzl9DTg6t0NVN9G+gC7RVaOfBwx49asE4GaAAnnFGT6D86Q8cD8aQ+5FADs+oxS0zpwelOHvQAtFFFABRRRQAUUUUAFFFFABRRRQAUUUZxQAyRc96b2ApxyWIpVXFAAq4p1FFABRRRQAUUUUAFFFFABRRRQAUmecUE9vWmn0HSgB2T6D86Ac+xppxnqKPY0APopAciloAKKKKACiiigAooooAKKKKACiiigAooooAKKKKACiimFucUAIxz0NKq9zQq9zT6ACiiigAooooAiuJfJhLd+grM833qbVpNgiXsST+WP8ay/PHSgC95vvR53vVHzh6ik8/wB6AL/ne9Hm1Q88etL549aALvme9XrWbzY9pPKn9KwzcD1q3pk+bzZnhlNAGyeDzRnH+NKRxzn60mB6/kKAA/dP1py96TBPt7UoGKAFooooAKKKKACiiigAooooAKKKDxQAE4qMnJoLbuKcq460ACrjk9adRRQAUUUUAFFFFABRRRQAUUUUAFFFFACHqKb0NPIyKaffj3oATtjGKOy+tGB9foKXaSc0AKvSloAwKKACiiigAooooAKKKKACiiigAooooAKKKKACiiigCMn5jTgvHNLgZpaACiiigAooooAKKKKAMTxJlLWKYdEbB/H/APVXM/bcd67m+tUvLOW3fpIuM+noa8tvvOsLuS2nG2SM4Pv7igDZ+3e9H24etc417jvTDf8AvQB03273oN72zXMC/wDepUvt52k/j6UAdCbz3rY8N7ri9kk/hjTr7n/JrihcM0ixRgs7EAAc7j7V6XoOmnTdNRJP9c/zSfX0/CgDUooqN5kRtrHmgCSigHIyKKACiiigAooooAKKKKACiiigAqPqcVJSYGaAAD160tFFABRRRQAUUUUAFFFFABRRRQAUUUUAFFFFABRRRQAUUUUAFFFFABRRRQAUUUUAFFFFABSHoaWigCLdjgmipNoooAWiiigAooooAKKKKACiiigArFv71o7mVN2NuMH04q9fX8dmo3EAnnmuavNY0d52e5eLzD1y5B/nQB18bbo1b1ANOrE0fxBZ6jcfZbeRXKpkbTngYFbEkiRKWdgqjuaAH1geJvDketWu+IrHdxj5HPRh6H2q82s2oJ273x6CoJPEESDi3lb8RQB43ffaLC5kt7mNopUOGVqz3vvevQ/FqQ+IVjcwCCWPgPnJI9DXiGtXGoWOs3NmsvEbYXCjpjI/SgDq1vGZsCrtrLNczJb2yPLK5wFUZLH2rnPC0Vxqv2hJLg4QqN+3qTnIHt0r07wns8OSySJai6kkGDI52lR6DrQB1XhXwodLRbu/2yXhHyqORFn09T711dYUPiaFxmS1lT6EGtG21S1uvuSYPowxQBcrF1KYpfYAY/IOg+tX9Slli06Z4MGUL8oJxk1yb6j4gTldO3j/AGZV/wAaAOws38y0jbPap65jTdTvmdftVtJCSwBDe59RxXT0AFFFFABRRRQAUUUUAFFFFABRRRQAUUUUAFFFFABRRRQAUUUUAFFFFABRRRQAUUUUAFFFFABRSEgdTiuX8Q+OdO0XfBGRdXnQRIeAfc0pSUVdmVWtCjHmqOyOlmnigjMkrqiKMlmOAK4/UPiXo1ndGGMT3IBwzxKMD8yM15trnifUtbkP2mc7O0SHCL/j9aq6Hol5r2opaWicnl3P3UX1Nc8qzbtE8Ktm9SpNQw6/zPfdN1C31TT4b22YtDKu5SRg/jVqqWk6bFpGlW1hCSUhTbk9SepP51droV7an0EOblXNv1CiiimUFFFFABRRRQAUUUUAFFFFABRRRQAUUUUAFFFFAGD4i+zIIZLmMOmGyD07Vz663ZBdtnamX2ghLfyFdL4lZotN89IvNMTAlfY8f4VzEWp6o6fJYJCnYySBR+mTQBoaBdTPey3J042sZTG+RQrOc+nX86k1a9Zg2WzWUNQukuALiaE5H3IyTj8aZezebGeaAK9pqOLh0J461rRyrKua4Wa5NvdMc4yDW1omo/aYV5zQBuTW6yAjFeOfEuxWz1mCVOPtEZD++0//AFx+Vezq4K8V5N8Wcf2hp3rsk/mtAGt8NtHjXQhc7gxnkZjx0xxj9K79IEjHQcVxXwvuA/hfy88xTOv65/rXV3t2Ioic0AOu5guFHer+nyDArl5LvzHj56it2xlCxA55NAG/dOs9g8DTNEGxtYHkHtWC9prVvzBd21wPRsoT/Olv7iOS2MUgLKecBip/MVmhrYpth1O4tX7JLhgPz5/WgDa0q71Ge/iivbVoirrg5BB59q7SuB8Mi8n1xEe+juoYlLsyLj2Hf/OK76gAooooAKKKKACiiigAooooAKKKKACiiigAooooAKKKKACiiigAooooAKKKKACiigkAc0AFVNQ1Oz0u2a4vJ1ijHdj19h61z/ifxvY6CrQRFbi9I4jU8L/vH+leQ6trV/rd2ZryZpGz8qj7qj0ArGdVR0W55eNzOFD3Iay/BHUeJviDe6kz2unb7a3PBb+N/wAun4VxbMRnnLnq1LuAGwn5um709q1PD3hu98Q6h9ngUpEpBlmI+VB/U+grmblJnzs51sVU11kyLQtBvNfv1trVflHMkhHyoPU/4V7hoOg2egaettapyeXkP3nb1NP0bRLPQ7FLW0j2qOWY/ec+pNaVdVOmo6vc+lwGAjho8z1kwooorU9EKKKKACiiigAooooAKKKKACiiigAooooAKKKKACiiigCOeGO4geKVdyOpBHtXhniafWPDetS201xJJbZzHnglT0Oe9e71k694d07xFZG2v4d2PuSKcMh9QaAPGrHWVlAbOCeTzWv/AGopj5aq+qfCjXtOlaTSLiG9gzwjt5cg/Pg/nT9G+HXie+mA1LytPgH3iZFkc/QKSPzNAHPavfrklW5zWh4Tus2qbTnPU+teo6f8PvDdjBsl06O8cjDSXY8wt+B4H4CuEt7CG21C5FtEsUHnP5aKMBV3HAH4UAdJA+UFeUfFWTdrVmn92En8z/8AWr1SAYQV5F8UH3eJol/u26/+hNQBsfCm6/0bUbbP3XVwPqMf0rrNakcW749K88+GNx5evXMOf9ZBn8iP8a9LvoPMjIxQBxA11Ld0Ex2445rpbPXY3gVlcEY9aveFPDtnc+IYJbmBJBES4DDIyBx+tdxrvg/S9cjy8Zt7kfduIcKw+vY/jQB5vd6yiKSW+b+Vcvd6lc6rdJY2+5zI2AqjJJ9q74fB4yTf6Rr8zQ5+6kAVsfUk/wAq7Lw/4L0Tw2N1jbE3BGGuJTukP49vwxQAzwX4f/4R7QY4JFxPId8vOSD6Zro6KKACiiigAooooAKKKKACiiigAooooAKKKKACiiigAooooAKKKKACiiigAooqjqurWejWTXV5MI0HT1Y+gHc0N2JlJRXNJ2RblmjgiaSR1RFGWZjgAV5h4s+IzSl7LRWKp0a57n/d9PrXPeKPGd54glaJCYLIH5Ygfve7etcwBk4HWuWpWb0ifOY7NJVPco6Lv3HMzyyFmJZ2PJPJNKTsGB97uaCQgwOW7n0rd8LeFbrxJe7VzHaIf3s3p7D1NYpNuyPJp0p1JKEFdsZ4Z8MXfiO92RAx2yH97MRwvsPU17fpWlWmj2EdpaRhI0H4k+pPc07TdMtdJso7SziEcSdAOp9z6mrldlOmoLzPrMDgYYaPeT3YUUUVod4UUUUAFFFFABRRRQAUUUUAFFFFABRRRQAUUUUAFFFFABRRRQAUUUUAFFFFAEV1J5VrLJ/cQt+QrzSKHDZ716FrD7NJuD6rj8ziuIC4oAkQYWvFviM+/wAWyD+7Eg/mf617T0WvDfHcm/xhe/7Owf8AjooAPAk/keLrTnAkDIfyz/Sva3TcteBeH5/s/iHT5egFwgP0Jwf519BLjYD3x+VAFvw4oh1ePP8AFkfoa7iuF06Tyr6Fyejg5/Gu6HSgAooooAKKKDwKACimqwanUAFFFFABRRRQAUUUUAFFFFABRRRQAUUUUAFFFFABRRRQAUUVyfi7xpb+H4TBAVlvmHEfZPdv8KUpKKuzOrWhRg5zdkX/ABH4psfDtrvnYPMw/dwqeW/wHvXiut6/e6/eG4vJMgcJGD8qD0Aqnf391qV291dzNLK5yWaqwBJwOtcc6jn6HymNx88S7bR7f5jgMnA5NPJ8sFR97ufT2ppOwYU/N3P9K6Dwt4ZufE97t5jtoz+9mx29B71CTbsjkp05VJKENWw8K+FbnxJegANHZxsPOmx09h717fp2nW2l2UdpaRLHDGMAAfqfejTtOtdKso7SziEcMYwAP5n3q1XZTpqK8z6zBYKOGj3k92FFFFaHcFFIxwM0BsigBaKKKACiiigAooooAKKKKACiiigAooooAKKKKACiikJ7DrQAucUmQe4puR6ZPqaM+ooAfRTQcdOlOoAKKKKAMvxA23SXHqyj9a4/NdZ4kONL/wC2g/rXIZoAezYQ14N4vk8zxZqLf9NMfkAK90lb5DXhHiVZbfxLfmWMq7SsyE+hPBoAzopPssqS/wDLRWDD/Zx/Wvoe0kEttG453KDXzkoaSQKqlnY4AHUmvoHRFlj0e0ScYlWFQ4z3xzQBqxnD5rvLaTzbWKT+8oNcArYNdposhk0uLJ6ZH60AaFFFITgUARq7buaXJJpOtSBcUAIqgc96dRRQAUUUUAFFFFABRRRQAUUUUAFBIHU0hPOBTcjsPxoAdkHvS0zPqKUHn27UAOooooAKKK4Dxv47Gmh9N0uQNd8rLKOkXsPf+VTKSirswxGIhQhzzZP408cxaOj2Gnssl8Rhm6iL6+/tXj09xLczPNM7SSOcszHJJpru8js7sWZjkknJNNrjnNyd2fJYvFzxM+aW3RCjJOB1p5IQYB+Y9TTQ20HA5PetTw9oF14h1NbW3GFHMspHCL6//WqUr6IwhCU5KMVdsn8MeGrrxJqAhjylumDNNjhR6D1PtXummaZa6TYR2dpEI4oxgDuT6n1NR6Po9pounR2dpGFjQcnux7kn1rQrsp01FeZ9ZgcFHDR11k9wooorQ7xDwOKjRz3qRjgUzqcUAAyTTwoHSgDFLQAUUUUAFFFFABRRRQAUUUUAFFFFABRRRQAUUUUAFNPU/SnUh4Oe1ADRwKM/U0YI6dKMfgKADvinjpTByafQAUUUUAY/iQE6UT6OtcaWrtvEIzo8n1X+dcO+VoAGbIrkfGHhtNZszJEAt1GMo3r7GunaSoi+aAPO/AvhiQ3h1C+hKeUxWNHH8Q6mvUVIUADpVNGA6VOr5oAsK3Ndf4bfdpzjush/kK41Dk11fhiT9zOnoQf8/lQB0BOBUe4mgkmnKuPrQAoGBS0UUAFFFFABRRRQAUUUUAFFFFABRRRQA09D9aSlPU56GkwaAF/kfWkHeihRQA+iiuM8c+Mk0K1+x2bhtQlHGD/ql/vH39BSlJRV2ZVq0KMHOexS8eeNhpsbaXpsgN24xLIP+WQ9B/tfyryNmLsWYkk8kmkkkeWRpHYs7HLMTkk0gyTgVxTm5O7PkMVip4mfNL5IWihvlOMjPtUtpaz313Fa20TSTSMFVV6k1BzKLbsizpGk3WtajHZWibpH6k9FHcn2r3jw9oFr4e05bW3GW6ySEcu3qf8ACqfhHwvB4c00KQr3coBmkx39B7CujrspU+VXe59Vl2BWHjzz+J/gFFFFanphSMcCgkCmZJOKADJbingcUAYpaACiiigAooooAKKKKACiiigAooooAKKKKACiiigAooooAKKKKAEx6cUYpaKACiiigAooooAzNfONKk9Sw/nXDyLya7XxAf8AQFX1cfyNcnJHmgDKlBFU3k2mtaSLg1h6iDCpcdqAJ0kzVuM5xWLp9wJ+Qcit2FNwGBz/ADoAsRDc2M4rpPDnE8idCU5HoQf8K5+EbM5GQwwea19Gl26rDjIDDZ19qAOvVcU6iigAooooAKKKqX+p2el2rXN7cRwxL/E56+w9TQJtJXZborynX/ipJIzQaNBsQcefIOT9F7fjXOWni/VxdC4Go3BlByVdyyn8OlYyrxR5VfOKFOVknLzR7zRWB4Y8T2/iG0JGIrqMDzIs/qPat+tU01dHpUqsKsFODumFFFFM0CiiigApMehIpaKAEAxS0VkeItetfD2lvd3DZbpHGOrt6Ck3ZXZM5xhFyk7JFHxf4qh8OacSpD3koIhiP/oR9hXhd3dTXt1Jc3EjSSyNuZm6k1Pq2q3WtajLe3b7pHPA7KOwHtVQrjGOQelcdSbmz5PHYuWJnp8K2GgZOBTziMYH3u59KCfLGB97ufSmVmcOwoBYgAZJ6CvZfAHhAaPajUbyMfb5lyFP/LJT2+p7/lXP/Djwl9qlXWr6P9yh/wBHRh95h/F9B29/pXrNdNGn9pn0GVYGy9vUWvT/ADCiiiug9wKaWwRTqay5NADcb+9PAwKAMfWloAKKKKACiiigAooooAKKKKACiiigAooooAKKKKACiiigAooooAKKKKACiiigAooooAKKKKAMTxA3ywL6kn+X+NYDLmtvxAczwj0Un/P5Vik0AVpE4rntcULayH2NdLIeK5zXz/ocv0NAHKeFZpd7xzKynduXcMZU9DXf26fID37VzV1aLp99oTYA8/SIGI/2uc/zFdNatuQE0AWVGfr/ADqe0k8m8gf0kU/rUOaZI3fPzCgD0WimRP5kSv8A3gDT6ACgnFVr7ULXTbR7m7mSGFBlnY8V5L4p+Il1qu+10wva2XRpekkn09B/n2qJzUdzmxOLp4dXk9ex2Xifx/YaIrwWxFzeqcFVPyof9o+vsP0ryLVdbvtdujPf3DO/8AzhVHoB2FZzuXOT+Aptcs6jlufNYrHVMQ9dF2FIIJBGDQCQQQcGnAhgFbqOh/pTSCDgjBqDiZt6HrM+lahDfW5xJGfmXPDDuD9a9702/h1PT4Ly3bdFKu4eo9j7181xvsfPbvXpXw01/wAi6k0iZ/kly8Gezdx+I5/D3rWjPldu56eU4n2NX2Mvhl+f/BPVKKKK6z6gKKKKACiio55o7eF5pXCRoCzMx4A9aAK+p6lbaTYS3l1IEijXJP8AQe9eC+JfEVz4j1RrmYlYl+WGLPCL/j6mtDxr4sk8RagYoSVsISRGvTef7x/pXKgZOBXJVqc2i2PmMxx3tpezh8K/EOSalD+UMdSfvU3/AFfA+93PpTKxPL2HsuBkcqehrd8I+HJPEesLCQRaxYed/RfQe5/xrEt45Jp0giQyPIwVUHViemK9+8KeH4vDuix2y4Mz/PM4/iY/0HStaUOZnoZfhPrFS7+Fb/5GzbwR21ukEKBI41CqqjAAHapKKK7D6sKKKKACiiigAooooAKKKKACiiigAooooAKKKKACiiigAooooAKKKKACiiigAooooAKKKKACiiigAooooAKKKKAOb8QN/pyD0jH8zWQTWn4gb/iYj/rmP5msktQAyQ8VzfiBwllKx67TgV0UrYXJrmNdzNEY+7kL+fFAGn47tPsi+F5gPuW7QMfoqEf1qSwk3Ritj4oW+fDtjMBzBdp+AKsP54rnNLkzEtAGzmoJm4NSZyKrzt8tAHoumSebpdq/rEv8qt1meHX8zQLNv9jH5EitOgDzj4sWl7LZWVwhY2ULN5yr2Y42k/qPbPvXk7NuPoB0HpX01cW8V1byQTRrJFIpVlYZBFeD+MvC8nhvVSIwzWUxLQOe3qp9xXNWg78x8/m2Fkpe2Wz3ObooorA8QKeCGG1jg9jTKKBhVywuZba4imik2SxMHRvQiqgBOcdqFbawNAn3R9H6HqsWs6Pb30ZH7xfmXP3WHBH51o15N8MNd+z6hLpMz/urj54s9nA5H4gfpXrPWu2nLmjc+wwWI+sUVPr19QoooqzrEJA6kCvIfiH4yOoTtpFhJ/oqHE8iniRh2HsP51ufETxj9ghbSLCX/SpB++dTzGp7fU/oK8h5J9656tT7KPBzTHb0Kb9f8hepp5PljA+93PpQR5XH8R7+lR1znhbC0UlaOiaTNrer29hBwZG+ZsfdXufwFCVxxi5SUY7s7r4X+G/NmbXLmPKRkpbhh1bu34dPz9K9WxgYFV7Cyh06xhs7dAkMKhUHsKsV3Qjyqx9lhcOqFJQXz9QoooqjoCiiigAooooAKKKKACiiigAooooAKKKKACiiigAooooAKKKKACiiigAooooAKKKKACiiigAooooAKKKKACiiigDk/EZxqY/65j+ZrI34GT+Va3ighdRQ/wDTIfzNYBegBZn4PNYcq+fq1hD133US/mwrUmf5TVLSk8/xXpaelwG/75Bb+lAHcfEGDz/BV9xzHskH4Op/lmvPtJk/cr9K9U8SQfafDGpQ45a1kA+u04/WvI9Ib9yv0oA6QN8tVrh+DT1b5RVecgqSeBQB6B4Sff4btvYuP/HjW3WB4Obd4ch4x87/APoRrfoAKzNf0W217SZrG5HDDKMByjdiK06KGr6EyipJxezPmrVdNudH1Gaxuk2yxNj2YdiPY1SzXt3xA8KDXNO+2Wseb+3HygDmRe6/XuP/AK9eIEYODXFOHK7HyWNwrw9S3R7DqVV3H27n0pqqWPoO59KVm42rwv8AOoOQczcbV+7/ADptNzS5oAs2l1LZ3MVxCxWWFw6N6EHIr6I0PVItZ0e2vocbZUBI/unoR+BzXzcDzXo3wr8Q+ReTaJO+Fm/eQZ/vDqPxHP4VrRlZ2PUynEezq8j2l+Z65XMeM/FcXhvTD5ZV72YFYYz2/wBo+wrY1nVrbRdLmvrp8RxjoOrHsB7mvn3WtXudd1SW+uTl3OFUdEXsorarPlVluermGM9hDlj8T/ApzTS3Vw80ztJLIxZmJyWJpPucD73c+lB+Tgfe7n0plch8u2OVhja3T19KRlKnBpKcrDG1unY+lAhtey/DPw7/AGdpJ1O4jxcXa/JkcrH2/Pr+Ved+D/Dza/4git3U/Zo/3k7DptHb8TxXvyII0VFACqMADoK3ow+0z2sowt260umw6iiiuk+gCiiigAooooAKKKKACiiigAooooAKKKKACiiigAooooAKKKKACiiigAooooAKKKKACiiigAooooAKKKKACiiigAooooA5LxYP9MhP/TP+tc0xxXUeK/8Aj6g/3D/OuYkFAFaZvlNTeEovN8ZWrf8APNJH/wDHSP61Xm6GtbwFFv8AEV1N/wA87fb+JYf4GgD0OaMSwSRno6lT+IrxDTFMa7D1U4Ne5V43JAINYv4uipcyAf8AfRoAuIfl5PFV7hsj29KnblMjoO3pVSbpQB6J4M/5FqH/AH3/APQjXQVg+Dl2+GLX3Ln/AMeNb1ABRRmkzQAteOfEfwp/Z99/a1om22nP74Dojnv9D/P617FmqupWMGp6dcWVwm6KZCjev1HvUTjzKxzYvDRxFNxe/Q+aWYY2rwv86bVzVtOn0nVLmxuBiSFypPqOx/EYNUq4j5CUWm0xaKTNGaCbC0R3M9jdwXls5SaJwyMOxHSjNGM8daBxbi7o6XxX4uufFD2ylDDBEg/dA5y+OT/Qf/XrnifLGB97ufSlXamVzhz/ABelRkbTg9abbbuzSrUnUk5zd2wzRmkopGIuaOppK634feHv7b19ZZlzaWmJJMjhm/hX8+fwppXdka0aUqs1CO7PS/APh/8AsPw+hmXF3c4llz1X0X8B+pNdXSDAFLXclZWR9lSpxpwUI7IKKKKZoFFFFABRRRQAUUUUAFFFFABRRRQAUUUUAFFFFABRRRQAUUUUAFFFFABRRRQAUUmaSgB1FNooAXNGaSigBc0hYAUU1wCMGgBd/Gc01mJ6U0cDAp4GOT1oAcCcc0uTSUZoA5XxWf8ASoP+uf8AWuZc10vizi5gP+wf51y7mgCtOeDXSfD2LnUp/VkQfgCT/MVzFwflNdp4Ai2aDLL/AM9bhj+AAH9KAOrryXVlKeKNRQ/89ifz5/rXrOa8s8Sp5fjC+H94o3/jgoAiBwtVZjU+flqtMetAHp3hZdnhqyGP4CfzYmtes3QlMehWKY5ECfqM1of8CAoAdRTckdenrS0ALRSUUAeYfFfQsrBrcK9P3M+PT+Fv6flXltfSuq6dDq2l3NjOP3cyFSfQ9j+B5r5xvbSWwvp7SddssLlGHuDXLWjZ3Pm81w/JU9otpfmQUUUAZOBWJ5QAZOBUhIjGB97ufSgnyxgfe7n0qOgewU9WDDa34H0plFAhSCpwetJTwwI2t26H0plAEkMEtw+yJCzele+eDdCTw/4dhgZR9pk/eTn/AGj2/AcfhXm3w10ZtS1l7mVAbW1w5JHWT+EfzP4V7MOmBXTRjpzHv5Thko+2e72FJJPFSAnFNAxS5rc9oWjNFFAC5NGTSUUALk0ZNJRQAuaM0lFAC5ozSUmSen50AOzRmm5/2hRn1oAfRTaKAHUU2lzQAtFJmjNAC0UZozQAUUZooAKKKKAG0UlFAC0ZpKKAFzSUZFNzigB2cU0nJ68UwtmlC96AHAYp1NooAdSZpKKAOY8XjBtH9Qw/lXIu1dl4wXOnwSf3ZMfmP/rVxBJPPagCC5b5CfavR/CMPkeF7EdC6mQ/8CJP8jXmV822E169YQfZdOtrfp5USp+QxQBZzXmnjJfL8WFv+ekKN/Mf0r0qvPPHq7dds5P70G38mP8AjQBjlvlquQZZVjB5YgVIx+QUumAy6zZpjO6ZQfpmgD1qCPyLaKBeiIF/IVJwOMn8KaTh8mk3deRj2NAD+V75BpRkEj0qMt8n48UueT+VAD80ZpuaM0AOzXkfxU0QW2pQatCmI7kbJSOzgcH8R/KvWs1keJ9IXXPD91Y4HmMu6Ins45H+H41E480bHLjKHtqLj16HzyMk4FPJEYwPvdz6UrqYWZCMSAkN7e1RVxnyOwuaKSigQtFJRRYBafFDJPII4o2dz0VRk0kUTzOEQZPXriu7+Heim71USTRL5dt+8ckZDk/cwfYgn8KcY3djfD0HWmoLqeieEtDXQPD9vaMB57DzJiO7nr+XT8K3hxTVGPrS5rtSsrI+whBQiox2Q7NGabmjNModmjNNzS5oAXNLmm0UAOoptFADqKbRmgBTzx60HJOB0pM8ikzhjmgBePU/lS9OD0NN3cdR+FL/AHRQA4HilpopaAFopKKAFopM0ZoAWiiigAozRRQAZooooAbmjNJRQAUUUlAC5phbnvSHOacBx2oAAMc0tJSZoAdmkzTc0hNAD80m6m5pN1AGT4oj83Qpjz+7ZX/XH9a8/wA59hXpOqbZdPmg7yKVFcRPpMsSHoaAMXZ9p1SztsZ8yZFI9iRXsGTXluh2rf8ACX2Kyj7pZvxCkivTN9AE2a4X4hp8+nTDt5in/wAdx/Wuz31yfjsLJp9oP4vOyPpigDkt2YhWl4Stjc+JYmIysCNIf5D9TUVpphkiVy4C1u6DFFpV28gbcJF2tx0oA7TdxgjIpNy/7RqqLqJvuyKfxp+/NAE5bNG6oN9G+gCfdRvqDfRvoAsbqN1V99G+gDxv4iaN/ZniR541xBeAzL6Bv4h+fP41yNe1ePdK/tbw3K6Lme1/fJ6kD7w/L+QrxWuSpG0j5bMaHsq7ts9QoopVUscDr6etZnBYSnIjOcKpJwT+FNrUwY4RKBuEcQKyN0cHgofzPvxTSZUY3Gi3WGGOeEZGw+Y0h+VgQOPrkkY68V7X4P0ldH8O28ZiEc0o82Rcngntz6DFeQ+EdMXWPFNtBsP2dG86RSc4VecficD8a9231vRXU93KqSd6tvInzRmod9Lvrc9klzS7qi3UbqAJd1G6ow3rS7qAH5pc1GDS5oAfmlzTM0ZoAfmim5paAF60Z4wwz7ikooAXj0J+tGDnOaKKAFoozRQAuaM0lFADqKbS5NAC0UmaWgAozRQehoAMiio8n0Y/SigB1FFFACUUUUAIcZoopM0ABpKUmm5oADTSaUkUxnAoACarPc5ZlU9DgmlknCiuNv8AxKmn6hNA4/iyPx5oA6a4+fJZifxrntSm8hGcMdo61VHimOb5eBnvmsbV9VEqfZoiC8nAGaALOhXvneKLecnuyj/vk16J5w9a800TR5YZkuGkZpF6Y4Arr4jNtGSTQBtGcetct4wuFZLRWI25fJ9OlahEjVn3+lx30eyaMOuc8jvQBzdpqZtyIs7o+xrqLOZGjD8c1zdx4XeJi1szj/ZJyP1qCG61HTXKXNnPs7OillP5dKAO6MiBc5FJa3o+1rCHG1geM9+tcJda7dzfJbwXDf7sbVa8Ow6vJqa3FxbyxxqDjfxknjpQB6KG460ufeqcXmYGamBagCbJ9aUtxUBYjjPNN3NigCYvSeZVZ2fGRVeR5scUAXmkBBU4IIwQa8N8SaX/AGRrtzaqMRbt0X+4eR/h+Ferz3F4oO1SfwrhvF9pe37R3RhctEu04XqvX/H86yqxujzsyw7q0bxWqOLopWUqcMCPrTsiLuN/8v8A69cx81yPqh5AIwR+9/z+tRZOMZ49KTPPWp4o3upFRBmVjgD1oGk5OyPRPhjYGG1u9RdcGVhFGfYcn9SPyr0IS5ri9Du57LT4LRIl8uJdowOvqa6GG8kYcx4rsiuVWPrsNS9jSjDsaokp4eqaSk/w1Ore1Ubk4anA8VGp4zTx0oAdSg0DBpQKAFpwpAKWgApaKWgAooFLigBaKKKAClpMUtABRRS0AFFFFABRRRQAUuaSlxQAtFFFACYHoKKWigBlFFJQAUE0UhoATNJS0lABTSadSYoAYaaRUhFNxQBA8SsORWHqXhPS9Uk8y5t8vjG4MQf0rottBWgDiz8P9J6DzwM5wJm/xq5Z+ENLsTuht/n7sxLH8zXTbfajZ7UAZiafGgwqgVKLcdhV3bSbaAKnkjsOKTyB6Vb2e1Gz2oApm3U9qT7MndRiruyk2UAU/ssY/hH5U4QgdBVrZRsoAr7KNuKsFabsoAg20hU1Y2UbKAKu000x57Vb2e1Hl0AUTFmmNbgjGK0PL9qPLFAGS1gn90Z+lRHTImPMan6itryhS+VQBhf2Lat963iP1QVLDpFnA4aO1hVvURjNbHlD0pfL9qAsUhbr2UA/SpVjA7CrPl0uygCELjtUgFPCUu3NACCnA0BaXFACinA0mKUCgBwNKDTaUCgBwpc0nQUUAOozSUUAOzS02lFAC5paSigBaM0lLQAtFJRQAtFFFABS5pKKAHUU2lzQAtFGaKAGUlLRQAlFLikoATFJTqKAG0lPPNJigBtJinYoIoAbikIp+KMUAM20badRigBhHNJipMUYoAjxRtqTFGKAI9tJtqXFIRQBHijFSbaTbQBHto21JtpdtAEW2jbUm2jbQBHtpNlS7aXbQBDso2VLto20ARbPal2VJto20AR7aNtSbaNtAEe2lC1IBilxQBHto20/FLigCPFGKkxRigBu2jbTqMUAIBRj0p2KMUAJiilxRigBMUtLijFACUoFLRQAUUUuKAEpaKKACiilxQAUUUUAFFFFABRRRQAUUUUAFJilooASilooASilxSUAJiilooASjrS0UAJijFLRQAmBSYp2KMUANxRinYpKAExRtp2KTFACbaTHNPpKAG4oxTqKAG4oxTqKAG4oxTqWgBmKMU6igBuKXbS0UAJto20tFACbaNtOxRQA3bRtp2KMUAN20Yp2KMUANxRinUUAIBRgUtFACYoxS0UAJRilooATFGKWjFABRS4ooASilooATFLRRQAUUUUAFFFFABRRS4oASlxS4ooATFFLRQA2inYFJigBKKXFGKAEooxRigAooJApM/5xQAtFFFABRRRQAYoxRRQAYoxRRQAYoxRRQAYoxRRQAYpMUtFABikPApg3BuaXkmgBQc96dikAx9aWgAxRiiigAxRiiigAxRiiigAxRiiigAxRiikyM4oAXFGKTIpaACiiigAooooAKKKKACiiigAopcUYoASilxRigBKKUjjio1yOtADicCgHPTmkAJNSAYoAbS4paKADFGKKKACiiigAooooAKKKKAM2bQdLEEpFlD0Lfd7/ANPpXDbLb/n1h/74FelT/wDHvJ/un+VcJokaNcTzyKHFtC0oU9yOleLmilKpThF2vf8AQiW5EmmSPH5iaWSnXIh6/pVYx24ODaRAjr8graeRVkja5kvJJnRZXmifAiDdMD05FV9ZjYKksuPPWRoZGHG8jBDfka86tScYOUZPTz/r9fUlo2E0/SbfRILmawR/MEQwi5YsxAAHpyRToovDrh2lt7e2cP5LJOoQhsA4weM4IOR61aS1a98O2caTLC6iGVXZdwBRlYZGR6etVZfDbzvNOb5TcXKOkzmEFSjBRhVzxgIMEk985r6el/Dj6I1RZGm6CpU+VZ5Xpkj+9t59eeOe/FVvI8Nny1jS0kVnI3oQwUhSx3HPAwD1pR4VhF/9pFy+3fuEZGRt+9tz/wBdPnz+FE3haKaGKP7QVEcKRcIOdqOoP/j3T2x3rQB5tPDbIr/6BtnbapDrhiD0Xn+VEdr4fmvzaRQ2skyxsWVACFCkA59Dkj3qC68LzXRldtRUSTMWk2wkLkhAMAN6IOpPfpVzTtFayvUmN0skcMLwxoItpAZg3zNnk8egoAp2v/CMXEKyqtmioWK+YyjIBxu68jPrUz23hmNQrtYKHHmLmRRkeoOen6UL4bWP5o7gCYeWUdo8gFGZhkZ5B3+o6Utt4bSBtxn3sZUlY+Xj5ld3OOeBlzj0oAspoujzx+bHaW7pKAQyAYI9Rjp+FPGg6WGB+wwZA2/c7f4+9WLC0FjYxWofeIxjdjGas0AZo0DSgFAsYflORlf5+v40HQNKIYfYYcMcn5f84rSooAzjoOllmP2GD5hg/J/L0/CgaDpYKn7DBlRgfJ/P1/GtGigDNGgaUFVfsMOFOR8v+c0HQNKIYfYYfmOThcfl6fhWlRQBnf2Dpe4n7DBkjb9z/PPvQNB0sFSLGH5emV/n6/jWjRQBm/8ACP6VtC/YYcA7vu85+v8ASg6BpR3/AOgw/P1wv8vT8K0qKAM7+wdLzn7DBnbt+5xj/H360g0HSxsxYw/L0+X+fr+NaVFAGb/YGlbSv2GHBOfu8/n/AEpToOlkufsMPzdcLj8vT8K0aKAM4aDpYYH7DBkDb9zt/j70g0DSgFAsYflORlf5+v41pUUAZp0DSiGH2GHDHJ+X/OKU6DpZZj9hg+YYPyfy9PwrRooAzhoOlgqfsMGVGB8n8/X8aQaBpQVV+ww4U5Hy/wCc1pUUAZp0DSiGH2GH5jk4XH5en4Uv9g6Xkn7DBkjafk/zz71o0UAZw0HSwVP2GD5emVz+fr+NJ/wj+lbQv2GHAOfu8/n/AErSooAzToGlnfmxh+fr8v8AL0/Ckk0DTGVttpCjFdoYIOPfB4z71p0UMDjL7RJI0UNpcLNEcx3FqoJ/4EjdfzpbaXSjabLnSAtyG+dBGQP97J6LXZVl6ha/6ZHdbnXCFNyc7ecjjuPWuCrSqUn7SnJ+d/66f8OTaxTt7LTJ5xHJplspmUlWjYMpx9On4VfGg6WGB+wwZC7fudv8feprKNGiWfyEjlYYJC4J/wD19at11UuZxvJ3KM0aBpQCgWMPynIyv8/X8aDoGlEMPsMOGOT8v+cVpUVqBnHQdLLMfsMHzDB+X+Xp+FA0HSwVP2GHKjA+T+fr+NaNFAGaNA0oKq/YocKcj5f85oOgaUQw+ww/McnC/wAvT8K0qKAM7+wtLyT9hg5G0/J2/wAfeqJh8NxuAYrbcmR9zP5+v41vHpXDiQQpJFJYyNIHPPl5yPTPb61x4vESo25et+4m7HSR6Jo8sKtHZwNGTuBA6/j/AEp50LSjv/0KH5uvy/y9Pwqvb213LpFgIpfJKFGkVlOWAYHHB9M0yPT9SWT57tScN+9BbqSf4c4xz6+npz1Qk5RTfUZb/sPSt2fsUGdu37vb/H360DQtKGzFlD8vT5f5+v41Qi0vU0MRa4DMnl5PmthsDByCD/PnrVjT7C+t7mFppQ0aJtP7wsT97rwAeoOeOlUBP/YGlbSv2GHBOfu/5/KlOg6WS5NjD83XC4/L0/CtGigDOGg6WGB+wwZA2/c7f4+9INA0oBR9hh+U5GV/n6/jWlRQBmnQNKIYfYYcMcn5f84pToOllmP2GD5hg/L/AC9PwrRooAzToOlkAfYYeBgfLRWlRQBHcf8AHvL/ALp/lXnGn3xsLoS7A6EFXQ/xKeor0ogEYIyKw7/wvZXeXhBt5D3Tp+VebmGFq1nGdJ6xJkm9jAN5p6KCtxcyRDGLdkAOAchS/wDdzWfeahJekFwB8zOcdyT/AIAD8K0G8KakLgRqI2Q/8tN2B+XWtyw8KWlvh7kmd/Q8L+VeWsLi6/uNcq/r+uxNmyvq9rLe+CLaKG2a5b/R2MS4yyh1LDnjoDWZY6ZrUV232CKfTdPmnkkS2yh2ARrgHqFDODwPfpmu1khP2byoT5eBhdvGKrLFfrLzMhj2kcjnOOO3rX0kI8sVHsaHGq3jD+zmDi9MrOvIEYZDsbPTqpbb6fXFTxQeKrgRPNc3kLOdrqgjAUfZwcjIP/LUYrpzFqpx++hGOoAP+FOaLUwh2zQ7uMZXA9+1UBx9zB4qvYbiCUXZE1kQQpRAr+UvA65y+R2PJ7YpPsniRI7s2n2uAESyx/LHukcRRbA3HJLBx+Fdh5Wpgj9/ERnJ4wf5fWnNHqHAWSPAA5I7457fWgDlL1PF0Rkit5rp4lmfy5QsZc/JGVyOBt3GT06CtLU59bmuoDBBexQqrIfI8vLShlwzbs/IRn/OK2Vj1H5w0sZ+UbTjvx7fX9KZIuqIx2PG69uMH+VAHNSL4rd5lR7pGLESNiPYv75dpi748vdnP860dEh1yHVV+2z3EtqRcKfNCYAWQCI8AclcmthI7/Me+SP/AG8Dr16cfSmpFqCRMGlRmAAX1JzyTx6UAaNFZwj1M5zNFg/7J4oWLVCV3zw477VOf84oA0aKzQNTMeMxh9x5PTHH/wBel26oWP7yIDH4Zyfb6UAaNFZ8aakJFMksJQHkAHOPypDHqYCnzYyd3IA7f5z+lAGjRSKSVGRg9xS0AFFFFABRRRQAUUUUAFFFFABRRRQAUUUUAFFFFABRRRQAUUUUAFBGetFFABRRRQAUUUUAFFFFABRRRQAHpXPnxHORI6WAZFJG4y4zj2xXQHpXLN4f1ICREltShJKls7lz6cVxYx1lb2V+u1v1E79Ddh1CF7O3uJSIvOIVQTn5j0FP/tGz80R/aIyxUtwcjA756djVRdHjl0+2t7lmJhXgoxHzetKNCtVjKBpAOxDYxwRx6feNdVO/KubcZaXULNpFjFxHubOBnr0/xpTfWojdxPGyohc7Wz8o6niqEPhywgUhA4BULw2OhBH4/KB9BT4dCtreCaOJnBkWRSxwfv4z+oqwLn26289oDKFkU4IYEDPHQng9R09aU3tqBk3EQ4zy46Zx/OoH0qCS4M0hdiW3BSeAcAf+yiqg8M2GFGH2qhQAEAYJye30/KgDRa/tEALXMXOMfMOcgkfoDTheWzdJ4zyBww6noKpHQrQvIwMg3kk4OOoIP6EikOgWJKkoSVZW5weQMD9KALxurcHBmjBB24LDr6U6KaKdS0UiuBwSpzVCTQ7aUHzGkOSSefU7iP8AvoZ/+txVu0sobMSCEEB2LH60AWKKKKACiiigAooooAKKKKACiiigAooooAKKKKACiiigAooooAKKKKACiiigAooooAKKKKACiiigAooooAKKKKACiiigAooooAKKKKACiiigAooooAKKKKACiiigAooooAKKKKACiiigAooooAKKKKACiiigAooooAKKKKACiiigAooooA//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6" name="AutoShape 4" descr="data:image/jpeg;base64,/9j/4AAQSkZJRgABAQAAAQABAAD/2wBDAAgGBgcGBQgHBwcJCQgKDBQNDAsLDBkSEw8UHRofHh0aHBwgJC4nICIsIxwcKDcpLDAxNDQ0Hyc5PTgyPC4zNDL/2wBDAQkJCQwLDBgNDRgyIRwhMjIyMjIyMjIyMjIyMjIyMjIyMjIyMjIyMjIyMjIyMjIyMjIyMjIyMjIyMjIyMjIyMjL/wAARCAGzAf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Jx1oAKKTIxnNMY56UASUUgORS0AFFFFABRRRQAUUUUAFFFFABRRRQAUUUUAFFFFABRRRQAUUUUAFFFFABRRRQAUUUUAFFISB1oyMZoAWioyx3cVIORQAUUUUAFFFFABRRRQAUUUUAFFFFABRRRQAUUUUAFFFFABRRRQAUUUUAFFFFABRRRQAUUUUAFFFFABRRRQAU1xletOpjct7UANAwMU5V70qrjrTqACiiigAooqCWcKdq9e9AExYL1OKYZV96rGTJyaN1AFnzl9DTg6t0NVN9G+gC7RVaOfBwx49asE4GaAAnnFGT6D86Q8cD8aQ+5FADs+oxS0zpwelOHvQAtFFFABRRRQAUUUUAFFFFABRRRQAUUUZxQAyRc96b2ApxyWIpVXFAAq4p1FFABRRRQAUUUUAFFFFABRRRQAUmecUE9vWmn0HSgB2T6D86Ac+xppxnqKPY0APopAciloAKKKKACiiigAooooAKKKKACiiigAooooAKKKKACiimFucUAIxz0NKq9zQq9zT6ACiiigAooooAiuJfJhLd+grM833qbVpNgiXsST+WP8ay/PHSgC95vvR53vVHzh6ik8/wB6AL/ne9Hm1Q88etL549aALvme9XrWbzY9pPKn9KwzcD1q3pk+bzZnhlNAGyeDzRnH+NKRxzn60mB6/kKAA/dP1py96TBPt7UoGKAFooooAKKKKACiiigAooooAKKKDxQAE4qMnJoLbuKcq460ACrjk9adRRQAUUUUAFFFFABRRRQAUUUUAFFFFACHqKb0NPIyKaffj3oATtjGKOy+tGB9foKXaSc0AKvSloAwKKACiiigAooooAKKKKACiiigAooooAKKKKACiiigCMn5jTgvHNLgZpaACiiigAooooAKKKKAMTxJlLWKYdEbB/H/APVXM/bcd67m+tUvLOW3fpIuM+noa8tvvOsLuS2nG2SM4Pv7igDZ+3e9H24etc417jvTDf8AvQB03273oN72zXMC/wDepUvt52k/j6UAdCbz3rY8N7ri9kk/hjTr7n/JrihcM0ixRgs7EAAc7j7V6XoOmnTdNRJP9c/zSfX0/CgDUooqN5kRtrHmgCSigHIyKKACiiigAooooAKKKKACiiigAqPqcVJSYGaAAD160tFFABRRRQAUUUUAFFFFABRRRQAUUUUAFFFFABRRRQAUUUUAFFFFABRRRQAUUUUAFFFFABSHoaWigCLdjgmipNoooAWiiigAooooAKKKKACiiigArFv71o7mVN2NuMH04q9fX8dmo3EAnnmuavNY0d52e5eLzD1y5B/nQB18bbo1b1ANOrE0fxBZ6jcfZbeRXKpkbTngYFbEkiRKWdgqjuaAH1geJvDketWu+IrHdxj5HPRh6H2q82s2oJ273x6CoJPEESDi3lb8RQB43ffaLC5kt7mNopUOGVqz3vvevQ/FqQ+IVjcwCCWPgPnJI9DXiGtXGoWOs3NmsvEbYXCjpjI/SgDq1vGZsCrtrLNczJb2yPLK5wFUZLH2rnPC0Vxqv2hJLg4QqN+3qTnIHt0r07wns8OSySJai6kkGDI52lR6DrQB1XhXwodLRbu/2yXhHyqORFn09T711dYUPiaFxmS1lT6EGtG21S1uvuSYPowxQBcrF1KYpfYAY/IOg+tX9Slli06Z4MGUL8oJxk1yb6j4gTldO3j/AGZV/wAaAOws38y0jbPap65jTdTvmdftVtJCSwBDe59RxXT0AFFFFABRRRQAUUUUAFFFFABRRRQAUUUUAFFFFABRRRQAUUUUAFFFFABRRRQAUUUUAFFFFABRSEgdTiuX8Q+OdO0XfBGRdXnQRIeAfc0pSUVdmVWtCjHmqOyOlmnigjMkrqiKMlmOAK4/UPiXo1ndGGMT3IBwzxKMD8yM15trnifUtbkP2mc7O0SHCL/j9aq6Hol5r2opaWicnl3P3UX1Nc8qzbtE8Ktm9SpNQw6/zPfdN1C31TT4b22YtDKu5SRg/jVqqWk6bFpGlW1hCSUhTbk9SepP51droV7an0EOblXNv1CiiimUFFFFABRRRQAUUUUAFFFFABRRRQAUUUUAFFFFAGD4i+zIIZLmMOmGyD07Vz663ZBdtnamX2ghLfyFdL4lZotN89IvNMTAlfY8f4VzEWp6o6fJYJCnYySBR+mTQBoaBdTPey3J042sZTG+RQrOc+nX86k1a9Zg2WzWUNQukuALiaE5H3IyTj8aZezebGeaAK9pqOLh0J461rRyrKua4Wa5NvdMc4yDW1omo/aYV5zQBuTW6yAjFeOfEuxWz1mCVOPtEZD++0//AFx+Vezq4K8V5N8Wcf2hp3rsk/mtAGt8NtHjXQhc7gxnkZjx0xxj9K79IEjHQcVxXwvuA/hfy88xTOv65/rXV3t2Ioic0AOu5guFHer+nyDArl5LvzHj56it2xlCxA55NAG/dOs9g8DTNEGxtYHkHtWC9prVvzBd21wPRsoT/Olv7iOS2MUgLKecBip/MVmhrYpth1O4tX7JLhgPz5/WgDa0q71Ge/iivbVoirrg5BB59q7SuB8Mi8n1xEe+juoYlLsyLj2Hf/OK76gAooooAKKKKACiiigAooooAKKKKACiiigAooooAKKKKACiiigAooooAKKKKACiigkAc0AFVNQ1Oz0u2a4vJ1ijHdj19h61z/ifxvY6CrQRFbi9I4jU8L/vH+leQ6trV/rd2ZryZpGz8qj7qj0ArGdVR0W55eNzOFD3Iay/BHUeJviDe6kz2unb7a3PBb+N/wAun4VxbMRnnLnq1LuAGwn5um709q1PD3hu98Q6h9ngUpEpBlmI+VB/U+grmblJnzs51sVU11kyLQtBvNfv1trVflHMkhHyoPU/4V7hoOg2egaettapyeXkP3nb1NP0bRLPQ7FLW0j2qOWY/ec+pNaVdVOmo6vc+lwGAjho8z1kwooorU9EKKKKACiiigAooooAKKKKACiiigAooooAKKKKACiiigCOeGO4geKVdyOpBHtXhniafWPDetS201xJJbZzHnglT0Oe9e71k694d07xFZG2v4d2PuSKcMh9QaAPGrHWVlAbOCeTzWv/AGopj5aq+qfCjXtOlaTSLiG9gzwjt5cg/Pg/nT9G+HXie+mA1LytPgH3iZFkc/QKSPzNAHPavfrklW5zWh4Tus2qbTnPU+teo6f8PvDdjBsl06O8cjDSXY8wt+B4H4CuEt7CG21C5FtEsUHnP5aKMBV3HAH4UAdJA+UFeUfFWTdrVmn92En8z/8AWr1SAYQV5F8UH3eJol/u26/+hNQBsfCm6/0bUbbP3XVwPqMf0rrNakcW749K88+GNx5evXMOf9ZBn8iP8a9LvoPMjIxQBxA11Ld0Ex2445rpbPXY3gVlcEY9aveFPDtnc+IYJbmBJBES4DDIyBx+tdxrvg/S9cjy8Zt7kfduIcKw+vY/jQB5vd6yiKSW+b+Vcvd6lc6rdJY2+5zI2AqjJJ9q74fB4yTf6Rr8zQ5+6kAVsfUk/wAq7Lw/4L0Tw2N1jbE3BGGuJTukP49vwxQAzwX4f/4R7QY4JFxPId8vOSD6Zro6KKACiiigAooooAKKKKACiiigAooooAKKKKACiiigAooooAKKKKACiiigAooqjqurWejWTXV5MI0HT1Y+gHc0N2JlJRXNJ2RblmjgiaSR1RFGWZjgAV5h4s+IzSl7LRWKp0a57n/d9PrXPeKPGd54glaJCYLIH5Ygfve7etcwBk4HWuWpWb0ifOY7NJVPco6Lv3HMzyyFmJZ2PJPJNKTsGB97uaCQgwOW7n0rd8LeFbrxJe7VzHaIf3s3p7D1NYpNuyPJp0p1JKEFdsZ4Z8MXfiO92RAx2yH97MRwvsPU17fpWlWmj2EdpaRhI0H4k+pPc07TdMtdJso7SziEcSdAOp9z6mrldlOmoLzPrMDgYYaPeT3YUUUVod4UUUUAFFFFABRRRQAUUUUAFFFFABRRRQAUUUUAFFFFABRRRQAUUUUAFFFFAEV1J5VrLJ/cQt+QrzSKHDZ716FrD7NJuD6rj8ziuIC4oAkQYWvFviM+/wAWyD+7Eg/mf617T0WvDfHcm/xhe/7Owf8AjooAPAk/keLrTnAkDIfyz/Sva3TcteBeH5/s/iHT5egFwgP0Jwf519BLjYD3x+VAFvw4oh1ePP8AFkfoa7iuF06Tyr6Fyejg5/Gu6HSgAooooAKKKDwKACimqwanUAFFFFABRRRQAUUUUAFFFFABRRRQAUUUUAFFFFABRRRQAUUVyfi7xpb+H4TBAVlvmHEfZPdv8KUpKKuzOrWhRg5zdkX/ABH4psfDtrvnYPMw/dwqeW/wHvXiut6/e6/eG4vJMgcJGD8qD0Aqnf391qV291dzNLK5yWaqwBJwOtcc6jn6HymNx88S7bR7f5jgMnA5NPJ8sFR97ufT2ppOwYU/N3P9K6Dwt4ZufE97t5jtoz+9mx29B71CTbsjkp05VJKENWw8K+FbnxJegANHZxsPOmx09h717fp2nW2l2UdpaRLHDGMAAfqfejTtOtdKso7SziEcMYwAP5n3q1XZTpqK8z6zBYKOGj3k92FFFFaHcFFIxwM0BsigBaKKKACiiigAooooAKKKKACiiigAooooAKKKKACiikJ7DrQAucUmQe4puR6ZPqaM+ooAfRTQcdOlOoAKKKKAMvxA23SXHqyj9a4/NdZ4kONL/wC2g/rXIZoAezYQ14N4vk8zxZqLf9NMfkAK90lb5DXhHiVZbfxLfmWMq7SsyE+hPBoAzopPssqS/wDLRWDD/Zx/Wvoe0kEttG453KDXzkoaSQKqlnY4AHUmvoHRFlj0e0ScYlWFQ4z3xzQBqxnD5rvLaTzbWKT+8oNcArYNdposhk0uLJ6ZH60AaFFFITgUARq7buaXJJpOtSBcUAIqgc96dRRQAUUUUAFFFFABRRRQAUUUUAFBIHU0hPOBTcjsPxoAdkHvS0zPqKUHn27UAOooooAKKK4Dxv47Gmh9N0uQNd8rLKOkXsPf+VTKSirswxGIhQhzzZP408cxaOj2Gnssl8Rhm6iL6+/tXj09xLczPNM7SSOcszHJJpru8js7sWZjkknJNNrjnNyd2fJYvFzxM+aW3RCjJOB1p5IQYB+Y9TTQ20HA5PetTw9oF14h1NbW3GFHMspHCL6//WqUr6IwhCU5KMVdsn8MeGrrxJqAhjylumDNNjhR6D1PtXummaZa6TYR2dpEI4oxgDuT6n1NR6Po9pounR2dpGFjQcnux7kn1rQrsp01FeZ9ZgcFHDR11k9wooorQ7xDwOKjRz3qRjgUzqcUAAyTTwoHSgDFLQAUUUUAFFFFABRRRQAUUUUAFFFFABRRRQAUUUUAFNPU/SnUh4Oe1ADRwKM/U0YI6dKMfgKADvinjpTByafQAUUUUAY/iQE6UT6OtcaWrtvEIzo8n1X+dcO+VoAGbIrkfGHhtNZszJEAt1GMo3r7GunaSoi+aAPO/AvhiQ3h1C+hKeUxWNHH8Q6mvUVIUADpVNGA6VOr5oAsK3Ndf4bfdpzjush/kK41Dk11fhiT9zOnoQf8/lQB0BOBUe4mgkmnKuPrQAoGBS0UUAFFFFABRRRQAUUUUAFFFFABRRRQA09D9aSlPU56GkwaAF/kfWkHeihRQA+iiuM8c+Mk0K1+x2bhtQlHGD/ql/vH39BSlJRV2ZVq0KMHOexS8eeNhpsbaXpsgN24xLIP+WQ9B/tfyryNmLsWYkk8kmkkkeWRpHYs7HLMTkk0gyTgVxTm5O7PkMVip4mfNL5IWihvlOMjPtUtpaz313Fa20TSTSMFVV6k1BzKLbsizpGk3WtajHZWibpH6k9FHcn2r3jw9oFr4e05bW3GW6ySEcu3qf8ACqfhHwvB4c00KQr3coBmkx39B7CujrspU+VXe59Vl2BWHjzz+J/gFFFFanphSMcCgkCmZJOKADJbingcUAYpaACiiigAooooAKKKKACiiigAooooAKKKKACiiigAooooAKKKKAEx6cUYpaKACiiigAooooAzNfONKk9Sw/nXDyLya7XxAf8AQFX1cfyNcnJHmgDKlBFU3k2mtaSLg1h6iDCpcdqAJ0kzVuM5xWLp9wJ+Qcit2FNwGBz/ADoAsRDc2M4rpPDnE8idCU5HoQf8K5+EbM5GQwwea19Gl26rDjIDDZ19qAOvVcU6iigAooooAKKKqX+p2el2rXN7cRwxL/E56+w9TQJtJXZborynX/ipJIzQaNBsQcefIOT9F7fjXOWni/VxdC4Go3BlByVdyyn8OlYyrxR5VfOKFOVknLzR7zRWB4Y8T2/iG0JGIrqMDzIs/qPat+tU01dHpUqsKsFODumFFFFM0CiiigApMehIpaKAEAxS0VkeItetfD2lvd3DZbpHGOrt6Ck3ZXZM5xhFyk7JFHxf4qh8OacSpD3koIhiP/oR9hXhd3dTXt1Jc3EjSSyNuZm6k1Pq2q3WtajLe3b7pHPA7KOwHtVQrjGOQelcdSbmz5PHYuWJnp8K2GgZOBTziMYH3u59KCfLGB97ufSmVmcOwoBYgAZJ6CvZfAHhAaPajUbyMfb5lyFP/LJT2+p7/lXP/Djwl9qlXWr6P9yh/wBHRh95h/F9B29/pXrNdNGn9pn0GVYGy9vUWvT/ADCiiiug9wKaWwRTqay5NADcb+9PAwKAMfWloAKKKKACiiigAooooAKKKKACiiigAooooAKKKKACiiigAooooAKKKKACiiigAooooAKKKKAMTxA3ywL6kn+X+NYDLmtvxAczwj0Un/P5Vik0AVpE4rntcULayH2NdLIeK5zXz/ocv0NAHKeFZpd7xzKynduXcMZU9DXf26fID37VzV1aLp99oTYA8/SIGI/2uc/zFdNatuQE0AWVGfr/ADqe0k8m8gf0kU/rUOaZI3fPzCgD0WimRP5kSv8A3gDT6ACgnFVr7ULXTbR7m7mSGFBlnY8V5L4p+Il1qu+10wva2XRpekkn09B/n2qJzUdzmxOLp4dXk9ex2Xifx/YaIrwWxFzeqcFVPyof9o+vsP0ryLVdbvtdujPf3DO/8AzhVHoB2FZzuXOT+Aptcs6jlufNYrHVMQ9dF2FIIJBGDQCQQQcGnAhgFbqOh/pTSCDgjBqDiZt6HrM+lahDfW5xJGfmXPDDuD9a9702/h1PT4Ly3bdFKu4eo9j7181xvsfPbvXpXw01/wAi6k0iZ/kly8Gezdx+I5/D3rWjPldu56eU4n2NX2Mvhl+f/BPVKKKK6z6gKKKKACiio55o7eF5pXCRoCzMx4A9aAK+p6lbaTYS3l1IEijXJP8AQe9eC+JfEVz4j1RrmYlYl+WGLPCL/j6mtDxr4sk8RagYoSVsISRGvTef7x/pXKgZOBXJVqc2i2PmMxx3tpezh8K/EOSalD+UMdSfvU3/AFfA+93PpTKxPL2HsuBkcqehrd8I+HJPEesLCQRaxYed/RfQe5/xrEt45Jp0giQyPIwVUHViemK9+8KeH4vDuix2y4Mz/PM4/iY/0HStaUOZnoZfhPrFS7+Fb/5GzbwR21ukEKBI41CqqjAAHapKKK7D6sKKKKACiiigAooooAKKKKACiiigAooooAKKKKACiiigAooooAKKKKACiiigAooooAKKKKACiiigAooooAKKKKAOb8QN/pyD0jH8zWQTWn4gb/iYj/rmP5msktQAyQ8VzfiBwllKx67TgV0UrYXJrmNdzNEY+7kL+fFAGn47tPsi+F5gPuW7QMfoqEf1qSwk3Ritj4oW+fDtjMBzBdp+AKsP54rnNLkzEtAGzmoJm4NSZyKrzt8tAHoumSebpdq/rEv8qt1meHX8zQLNv9jH5EitOgDzj4sWl7LZWVwhY2ULN5yr2Y42k/qPbPvXk7NuPoB0HpX01cW8V1byQTRrJFIpVlYZBFeD+MvC8nhvVSIwzWUxLQOe3qp9xXNWg78x8/m2Fkpe2Wz3ObooorA8QKeCGG1jg9jTKKBhVywuZba4imik2SxMHRvQiqgBOcdqFbawNAn3R9H6HqsWs6Pb30ZH7xfmXP3WHBH51o15N8MNd+z6hLpMz/urj54s9nA5H4gfpXrPWu2nLmjc+wwWI+sUVPr19QoooqzrEJA6kCvIfiH4yOoTtpFhJ/oqHE8iniRh2HsP51ufETxj9ghbSLCX/SpB++dTzGp7fU/oK8h5J9656tT7KPBzTHb0Kb9f8hepp5PljA+93PpQR5XH8R7+lR1znhbC0UlaOiaTNrer29hBwZG+ZsfdXufwFCVxxi5SUY7s7r4X+G/NmbXLmPKRkpbhh1bu34dPz9K9WxgYFV7Cyh06xhs7dAkMKhUHsKsV3Qjyqx9lhcOqFJQXz9QoooqjoCiiigAooooAKKKKACiiigAooooAKKKKACiiigAooooAKKKKACiiigAooooAKKKKACiiigAooooAKKKKACiiigDk/EZxqY/65j+ZrI34GT+Va3ighdRQ/wDTIfzNYBegBZn4PNYcq+fq1hD133US/mwrUmf5TVLSk8/xXpaelwG/75Bb+lAHcfEGDz/BV9xzHskH4Op/lmvPtJk/cr9K9U8SQfafDGpQ45a1kA+u04/WvI9Ib9yv0oA6QN8tVrh+DT1b5RVecgqSeBQB6B4Sff4btvYuP/HjW3WB4Obd4ch4x87/APoRrfoAKzNf0W217SZrG5HDDKMByjdiK06KGr6EyipJxezPmrVdNudH1Gaxuk2yxNj2YdiPY1SzXt3xA8KDXNO+2Wseb+3HygDmRe6/XuP/AK9eIEYODXFOHK7HyWNwrw9S3R7DqVV3H27n0pqqWPoO59KVm42rwv8AOoOQczcbV+7/ADptNzS5oAs2l1LZ3MVxCxWWFw6N6EHIr6I0PVItZ0e2vocbZUBI/unoR+BzXzcDzXo3wr8Q+ReTaJO+Fm/eQZ/vDqPxHP4VrRlZ2PUynEezq8j2l+Z65XMeM/FcXhvTD5ZV72YFYYz2/wBo+wrY1nVrbRdLmvrp8RxjoOrHsB7mvn3WtXudd1SW+uTl3OFUdEXsorarPlVluermGM9hDlj8T/ApzTS3Vw80ztJLIxZmJyWJpPucD73c+lB+Tgfe7n0plch8u2OVhja3T19KRlKnBpKcrDG1unY+lAhtey/DPw7/AGdpJ1O4jxcXa/JkcrH2/Pr+Ved+D/Dza/4git3U/Zo/3k7DptHb8TxXvyII0VFACqMADoK3ow+0z2sowt260umw6iiiuk+gCiiigAooooAKKKKACiiigAooooAKKKKACiiigAooooAKKKKACiiigAooooAKKKKACiiigAooooAKKKKACiiigAooooA5LxYP9MhP/TP+tc0xxXUeK/8Aj6g/3D/OuYkFAFaZvlNTeEovN8ZWrf8APNJH/wDHSP61Xm6GtbwFFv8AEV1N/wA87fb+JYf4GgD0OaMSwSRno6lT+IrxDTFMa7D1U4Ne5V43JAINYv4uipcyAf8AfRoAuIfl5PFV7hsj29KnblMjoO3pVSbpQB6J4M/5FqH/AH3/APQjXQVg+Dl2+GLX3Ln/AMeNb1ABRRmkzQAteOfEfwp/Z99/a1om22nP74Dojnv9D/P617FmqupWMGp6dcWVwm6KZCjev1HvUTjzKxzYvDRxFNxe/Q+aWYY2rwv86bVzVtOn0nVLmxuBiSFypPqOx/EYNUq4j5CUWm0xaKTNGaCbC0R3M9jdwXls5SaJwyMOxHSjNGM8daBxbi7o6XxX4uufFD2ylDDBEg/dA5y+OT/Qf/XrnifLGB97ufSlXamVzhz/ABelRkbTg9abbbuzSrUnUk5zd2wzRmkopGIuaOppK634feHv7b19ZZlzaWmJJMjhm/hX8+fwppXdka0aUqs1CO7PS/APh/8AsPw+hmXF3c4llz1X0X8B+pNdXSDAFLXclZWR9lSpxpwUI7IKKKKZoFFFFABRRRQAUUUUAFFFFABRRRQAUUUUAFFFFABRRRQAUUUUAFFFFABRRRQAUUmaSgB1FNooAXNGaSigBc0hYAUU1wCMGgBd/Gc01mJ6U0cDAp4GOT1oAcCcc0uTSUZoA5XxWf8ASoP+uf8AWuZc10vizi5gP+wf51y7mgCtOeDXSfD2LnUp/VkQfgCT/MVzFwflNdp4Ai2aDLL/AM9bhj+AAH9KAOrryXVlKeKNRQ/89ifz5/rXrOa8s8Sp5fjC+H94o3/jgoAiBwtVZjU+flqtMetAHp3hZdnhqyGP4CfzYmtes3QlMehWKY5ECfqM1of8CAoAdRTckdenrS0ALRSUUAeYfFfQsrBrcK9P3M+PT+Fv6flXltfSuq6dDq2l3NjOP3cyFSfQ9j+B5r5xvbSWwvp7SddssLlGHuDXLWjZ3Pm81w/JU9otpfmQUUUAZOBWJ5QAZOBUhIjGB97ufSgnyxgfe7n0qOgewU9WDDa34H0plFAhSCpwetJTwwI2t26H0plAEkMEtw+yJCzele+eDdCTw/4dhgZR9pk/eTn/AGj2/AcfhXm3w10ZtS1l7mVAbW1w5JHWT+EfzP4V7MOmBXTRjpzHv5Thko+2e72FJJPFSAnFNAxS5rc9oWjNFFAC5NGTSUUALk0ZNJRQAuaM0lFAC5ozSUmSen50AOzRmm5/2hRn1oAfRTaKAHUU2lzQAtFJmjNAC0UZozQAUUZooAKKKKAG0UlFAC0ZpKKAFzSUZFNzigB2cU0nJ68UwtmlC96AHAYp1NooAdSZpKKAOY8XjBtH9Qw/lXIu1dl4wXOnwSf3ZMfmP/rVxBJPPagCC5b5CfavR/CMPkeF7EdC6mQ/8CJP8jXmV822E169YQfZdOtrfp5USp+QxQBZzXmnjJfL8WFv+ekKN/Mf0r0qvPPHq7dds5P70G38mP8AjQBjlvlquQZZVjB5YgVIx+QUumAy6zZpjO6ZQfpmgD1qCPyLaKBeiIF/IVJwOMn8KaTh8mk3deRj2NAD+V75BpRkEj0qMt8n48UueT+VAD80ZpuaM0AOzXkfxU0QW2pQatCmI7kbJSOzgcH8R/KvWs1keJ9IXXPD91Y4HmMu6Ins45H+H41E480bHLjKHtqLj16HzyMk4FPJEYwPvdz6UrqYWZCMSAkN7e1RVxnyOwuaKSigQtFJRRYBafFDJPII4o2dz0VRk0kUTzOEQZPXriu7+Heim71USTRL5dt+8ckZDk/cwfYgn8KcY3djfD0HWmoLqeieEtDXQPD9vaMB57DzJiO7nr+XT8K3hxTVGPrS5rtSsrI+whBQiox2Q7NGabmjNModmjNNzS5oAXNLmm0UAOoptFADqKbRmgBTzx60HJOB0pM8ikzhjmgBePU/lS9OD0NN3cdR+FL/AHRQA4HilpopaAFopKKAFopM0ZoAWiiigAozRRQAZooooAbmjNJRQAUUUlAC5phbnvSHOacBx2oAAMc0tJSZoAdmkzTc0hNAD80m6m5pN1AGT4oj83Qpjz+7ZX/XH9a8/wA59hXpOqbZdPmg7yKVFcRPpMsSHoaAMXZ9p1SztsZ8yZFI9iRXsGTXluh2rf8ACX2Kyj7pZvxCkivTN9AE2a4X4hp8+nTDt5in/wAdx/Wuz31yfjsLJp9oP4vOyPpigDkt2YhWl4Stjc+JYmIysCNIf5D9TUVpphkiVy4C1u6DFFpV28gbcJF2tx0oA7TdxgjIpNy/7RqqLqJvuyKfxp+/NAE5bNG6oN9G+gCfdRvqDfRvoAsbqN1V99G+gDxv4iaN/ZniR541xBeAzL6Bv4h+fP41yNe1ePdK/tbw3K6Lme1/fJ6kD7w/L+QrxWuSpG0j5bMaHsq7ts9QoopVUscDr6etZnBYSnIjOcKpJwT+FNrUwY4RKBuEcQKyN0cHgofzPvxTSZUY3Gi3WGGOeEZGw+Y0h+VgQOPrkkY68V7X4P0ldH8O28ZiEc0o82Rcngntz6DFeQ+EdMXWPFNtBsP2dG86RSc4VecficD8a9231vRXU93KqSd6tvInzRmod9Lvrc9klzS7qi3UbqAJd1G6ow3rS7qAH5pc1GDS5oAfmlzTM0ZoAfmim5paAF60Z4wwz7ikooAXj0J+tGDnOaKKAFoozRQAuaM0lFADqKbS5NAC0UmaWgAozRQehoAMiio8n0Y/SigB1FFFACUUUUAIcZoopM0ABpKUmm5oADTSaUkUxnAoACarPc5ZlU9DgmlknCiuNv8AxKmn6hNA4/iyPx5oA6a4+fJZifxrntSm8hGcMdo61VHimOb5eBnvmsbV9VEqfZoiC8nAGaALOhXvneKLecnuyj/vk16J5w9a800TR5YZkuGkZpF6Y4Arr4jNtGSTQBtGcetct4wuFZLRWI25fJ9OlahEjVn3+lx30eyaMOuc8jvQBzdpqZtyIs7o+xrqLOZGjD8c1zdx4XeJi1szj/ZJyP1qCG61HTXKXNnPs7OillP5dKAO6MiBc5FJa3o+1rCHG1geM9+tcJda7dzfJbwXDf7sbVa8Ow6vJqa3FxbyxxqDjfxknjpQB6KG460ufeqcXmYGamBagCbJ9aUtxUBYjjPNN3NigCYvSeZVZ2fGRVeR5scUAXmkBBU4IIwQa8N8SaX/AGRrtzaqMRbt0X+4eR/h+Ferz3F4oO1SfwrhvF9pe37R3RhctEu04XqvX/H86yqxujzsyw7q0bxWqOLopWUqcMCPrTsiLuN/8v8A69cx81yPqh5AIwR+9/z+tRZOMZ49KTPPWp4o3upFRBmVjgD1oGk5OyPRPhjYGG1u9RdcGVhFGfYcn9SPyr0IS5ri9Du57LT4LRIl8uJdowOvqa6GG8kYcx4rsiuVWPrsNS9jSjDsaokp4eqaSk/w1Ore1Ubk4anA8VGp4zTx0oAdSg0DBpQKAFpwpAKWgApaKWgAooFLigBaKKKAClpMUtABRRS0AFFFFABRRRQAUuaSlxQAtFFFACYHoKKWigBlFFJQAUE0UhoATNJS0lABTSadSYoAYaaRUhFNxQBA8SsORWHqXhPS9Uk8y5t8vjG4MQf0rottBWgDiz8P9J6DzwM5wJm/xq5Z+ENLsTuht/n7sxLH8zXTbfajZ7UAZiafGgwqgVKLcdhV3bSbaAKnkjsOKTyB6Vb2e1Gz2oApm3U9qT7MndRiruyk2UAU/ssY/hH5U4QgdBVrZRsoAr7KNuKsFabsoAg20hU1Y2UbKAKu000x57Vb2e1Hl0AUTFmmNbgjGK0PL9qPLFAGS1gn90Z+lRHTImPMan6itryhS+VQBhf2Lat963iP1QVLDpFnA4aO1hVvURjNbHlD0pfL9qAsUhbr2UA/SpVjA7CrPl0uygCELjtUgFPCUu3NACCnA0BaXFACinA0mKUCgBwNKDTaUCgBwpc0nQUUAOozSUUAOzS02lFAC5paSigBaM0lLQAtFJRQAtFFFABS5pKKAHUU2lzQAtFGaKAGUlLRQAlFLikoATFJTqKAG0lPPNJigBtJinYoIoAbikIp+KMUAM20badRigBhHNJipMUYoAjxRtqTFGKAI9tJtqXFIRQBHijFSbaTbQBHto21JtpdtAEW2jbUm2jbQBHtpNlS7aXbQBDso2VLto20ARbPal2VJto20AR7aNtSbaNtAEe2lC1IBilxQBHto20/FLigCPFGKkxRigBu2jbTqMUAIBRj0p2KMUAJiilxRigBMUtLijFACUoFLRQAUUUuKAEpaKKACiilxQAUUUUAFFFFABRRRQAUUUUAFJilooASilooASilxSUAJiilooASjrS0UAJijFLRQAmBSYp2KMUANxRinYpKAExRtp2KTFACbaTHNPpKAG4oxTqKAG4oxTqKAG4oxTqWgBmKMU6igBuKXbS0UAJto20tFACbaNtOxRQA3bRtp2KMUAN20Yp2KMUANxRinUUAIBRgUtFACYoxS0UAJRilooATFGKWjFABRS4ooASilooATFLRRQAUUUUAFFFFABRRS4oASlxS4ooATFFLRQA2inYFJigBKKXFGKAEooxRigAooJApM/5xQAtFFFABRRRQAYoxRRQAYoxRRQAYoxRRQAYoxRRQAYpMUtFABikPApg3BuaXkmgBQc96dikAx9aWgAxRiiigAxRiiigAxRiiigAxRiiigAxRiikyM4oAXFGKTIpaACiiigAooooAKKKKACiiigAopcUYoASilxRigBKKUjjio1yOtADicCgHPTmkAJNSAYoAbS4paKADFGKKKACiiigAooooAKKKKAM2bQdLEEpFlD0Lfd7/ANPpXDbLb/n1h/74FelT/wDHvJ/un+VcJokaNcTzyKHFtC0oU9yOleLmilKpThF2vf8AQiW5EmmSPH5iaWSnXIh6/pVYx24ODaRAjr8graeRVkja5kvJJnRZXmifAiDdMD05FV9ZjYKksuPPWRoZGHG8jBDfka86tScYOUZPTz/r9fUlo2E0/SbfRILmawR/MEQwi5YsxAAHpyRToovDrh2lt7e2cP5LJOoQhsA4weM4IOR61aS1a98O2caTLC6iGVXZdwBRlYZGR6etVZfDbzvNOb5TcXKOkzmEFSjBRhVzxgIMEk985r6el/Dj6I1RZGm6CpU+VZ5Xpkj+9t59eeOe/FVvI8Nny1jS0kVnI3oQwUhSx3HPAwD1pR4VhF/9pFy+3fuEZGRt+9tz/wBdPnz+FE3haKaGKP7QVEcKRcIOdqOoP/j3T2x3rQB5tPDbIr/6BtnbapDrhiD0Xn+VEdr4fmvzaRQ2skyxsWVACFCkA59Dkj3qC68LzXRldtRUSTMWk2wkLkhAMAN6IOpPfpVzTtFayvUmN0skcMLwxoItpAZg3zNnk8egoAp2v/CMXEKyqtmioWK+YyjIBxu68jPrUz23hmNQrtYKHHmLmRRkeoOen6UL4bWP5o7gCYeWUdo8gFGZhkZ5B3+o6Utt4bSBtxn3sZUlY+Xj5ld3OOeBlzj0oAspoujzx+bHaW7pKAQyAYI9Rjp+FPGg6WGB+wwZA2/c7f4+9WLC0FjYxWofeIxjdjGas0AZo0DSgFAsYflORlf5+v40HQNKIYfYYcMcn5f84rSooAzjoOllmP2GD5hg/J/L0/CgaDpYKn7DBlRgfJ/P1/GtGigDNGgaUFVfsMOFOR8v+c0HQNKIYfYYfmOThcfl6fhWlRQBnf2Dpe4n7DBkjb9z/PPvQNB0sFSLGH5emV/n6/jWjRQBm/8ACP6VtC/YYcA7vu85+v8ASg6BpR3/AOgw/P1wv8vT8K0qKAM7+wdLzn7DBnbt+5xj/H360g0HSxsxYw/L0+X+fr+NaVFAGb/YGlbSv2GHBOfu8/n/AEpToOlkufsMPzdcLj8vT8K0aKAM4aDpYYH7DBkDb9zt/j70g0DSgFAsYflORlf5+v41pUUAZp0DSiGH2GHDHJ+X/OKU6DpZZj9hg+YYPyfy9PwrRooAzhoOlgqfsMGVGB8n8/X8aQaBpQVV+ww4U5Hy/wCc1pUUAZp0DSiGH2GH5jk4XH5en4Uv9g6Xkn7DBkjafk/zz71o0UAZw0HSwVP2GD5emVz+fr+NJ/wj+lbQv2GHAOfu8/n/AErSooAzToGlnfmxh+fr8v8AL0/Ckk0DTGVttpCjFdoYIOPfB4z71p0UMDjL7RJI0UNpcLNEcx3FqoJ/4EjdfzpbaXSjabLnSAtyG+dBGQP97J6LXZVl6ha/6ZHdbnXCFNyc7ecjjuPWuCrSqUn7SnJ+d/66f8OTaxTt7LTJ5xHJplspmUlWjYMpx9On4VfGg6WGB+wwZC7fudv8feprKNGiWfyEjlYYJC4J/wD19at11UuZxvJ3KM0aBpQCgWMPynIyv8/X8aDoGlEMPsMOGOT8v+cVpUVqBnHQdLLMfsMHzDB+X+Xp+FA0HSwVP2GHKjA+T+fr+NaNFAGaNA0oKq/YocKcj5f85oOgaUQw+ww/McnC/wAvT8K0qKAM7+wtLyT9hg5G0/J2/wAfeqJh8NxuAYrbcmR9zP5+v41vHpXDiQQpJFJYyNIHPPl5yPTPb61x4vESo25et+4m7HSR6Jo8sKtHZwNGTuBA6/j/AEp50LSjv/0KH5uvy/y9Pwqvb213LpFgIpfJKFGkVlOWAYHHB9M0yPT9SWT57tScN+9BbqSf4c4xz6+npz1Qk5RTfUZb/sPSt2fsUGdu37vb/H360DQtKGzFlD8vT5f5+v41Qi0vU0MRa4DMnl5PmthsDByCD/PnrVjT7C+t7mFppQ0aJtP7wsT97rwAeoOeOlUBP/YGlbSv2GHBOfu/5/KlOg6WS5NjD83XC4/L0/CtGigDOGg6WGB+wwZA2/c7f4+9INA0oBR9hh+U5GV/n6/jWlRQBmnQNKIYfYYcMcn5f84pToOllmP2GD5hg/L/AC9PwrRooAzToOlkAfYYeBgfLRWlRQBHcf8AHvL/ALp/lXnGn3xsLoS7A6EFXQ/xKeor0ogEYIyKw7/wvZXeXhBt5D3Tp+VebmGFq1nGdJ6xJkm9jAN5p6KCtxcyRDGLdkAOAchS/wDdzWfeahJekFwB8zOcdyT/AIAD8K0G8KakLgRqI2Q/8tN2B+XWtyw8KWlvh7kmd/Q8L+VeWsLi6/uNcq/r+uxNmyvq9rLe+CLaKG2a5b/R2MS4yyh1LDnjoDWZY6ZrUV232CKfTdPmnkkS2yh2ARrgHqFDODwPfpmu1khP2byoT5eBhdvGKrLFfrLzMhj2kcjnOOO3rX0kI8sVHsaHGq3jD+zmDi9MrOvIEYZDsbPTqpbb6fXFTxQeKrgRPNc3kLOdrqgjAUfZwcjIP/LUYrpzFqpx++hGOoAP+FOaLUwh2zQ7uMZXA9+1UBx9zB4qvYbiCUXZE1kQQpRAr+UvA65y+R2PJ7YpPsniRI7s2n2uAESyx/LHukcRRbA3HJLBx+Fdh5Wpgj9/ERnJ4wf5fWnNHqHAWSPAA5I7457fWgDlL1PF0Rkit5rp4lmfy5QsZc/JGVyOBt3GT06CtLU59bmuoDBBexQqrIfI8vLShlwzbs/IRn/OK2Vj1H5w0sZ+UbTjvx7fX9KZIuqIx2PG69uMH+VAHNSL4rd5lR7pGLESNiPYv75dpi748vdnP860dEh1yHVV+2z3EtqRcKfNCYAWQCI8AclcmthI7/Me+SP/AG8Dr16cfSmpFqCRMGlRmAAX1JzyTx6UAaNFZwj1M5zNFg/7J4oWLVCV3zw477VOf84oA0aKzQNTMeMxh9x5PTHH/wBel26oWP7yIDH4Zyfb6UAaNFZ8aakJFMksJQHkAHOPypDHqYCnzYyd3IA7f5z+lAGjRSKSVGRg9xS0AFFFFABRRRQAUUUUAFFFFABRRRQAUUUUAFFFFABRRRQAUUUUAFBGetFFABRRRQAUUUUAFFFFABRRRQAHpXPnxHORI6WAZFJG4y4zj2xXQHpXLN4f1ICREltShJKls7lz6cVxYx1lb2V+u1v1E79Ddh1CF7O3uJSIvOIVQTn5j0FP/tGz80R/aIyxUtwcjA756djVRdHjl0+2t7lmJhXgoxHzetKNCtVjKBpAOxDYxwRx6feNdVO/KubcZaXULNpFjFxHubOBnr0/xpTfWojdxPGyohc7Wz8o6niqEPhywgUhA4BULw2OhBH4/KB9BT4dCtreCaOJnBkWRSxwfv4z+oqwLn26289oDKFkU4IYEDPHQng9R09aU3tqBk3EQ4zy46Zx/OoH0qCS4M0hdiW3BSeAcAf+yiqg8M2GFGH2qhQAEAYJye30/KgDRa/tEALXMXOMfMOcgkfoDTheWzdJ4zyBww6noKpHQrQvIwMg3kk4OOoIP6EikOgWJKkoSVZW5weQMD9KALxurcHBmjBB24LDr6U6KaKdS0UiuBwSpzVCTQ7aUHzGkOSSefU7iP8AvoZ/+txVu0sobMSCEEB2LH60AWKKKKACiiigAooooAKKKKACiiigAooooAKKKKACiiigAooooAKKKKACiiigAooooAKKKKACiiigAooooAKKKKACiiigAooooAKKKKACiiigAooooAKKKKACiiigAooooAKKKKACiiigAooooAKKKKACiiigAooooAKKKKACiiigAooooA//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11" name="TextBox 11"/>
          <p:cNvSpPr>
            <a:spLocks noChangeArrowheads="1"/>
          </p:cNvSpPr>
          <p:nvPr/>
        </p:nvSpPr>
        <p:spPr bwMode="auto">
          <a:xfrm flipH="1">
            <a:off x="899795" y="1868805"/>
            <a:ext cx="5267325" cy="337185"/>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a:extLst>
            <a:ext uri="{91240B29-F687-4F45-9708-019B960494DF}">
              <a14:hiddenLine xmlns:a14="http://schemas.microsoft.com/office/drawing/2010/main" w="9525">
                <a:solidFill>
                  <a:srgbClr val="000000"/>
                </a:solidFill>
                <a:bevel/>
              </a14:hiddenLine>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l"/>
            <a:r>
              <a:rPr lang="zh-CN" altLang="en-US" sz="1600" b="1" dirty="0">
                <a:solidFill>
                  <a:srgbClr val="3F3F3F"/>
                </a:solidFill>
                <a:latin typeface="微软雅黑" panose="020B0503020204020204" pitchFamily="34" charset="-122"/>
                <a:ea typeface="微软雅黑" panose="020B0503020204020204" pitchFamily="34" charset="-122"/>
                <a:sym typeface="+mn-ea"/>
              </a:rPr>
              <a:t>实参必须是一个确定的数据不可未赋值，直接使用变量名</a:t>
            </a:r>
            <a:endParaRPr lang="zh-CN" altLang="en-US" sz="1600" b="1" dirty="0">
              <a:solidFill>
                <a:srgbClr val="3F3F3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文本框 3"/>
          <p:cNvSpPr txBox="1"/>
          <p:nvPr/>
        </p:nvSpPr>
        <p:spPr>
          <a:xfrm>
            <a:off x="176530" y="779145"/>
            <a:ext cx="2418080" cy="337185"/>
          </a:xfrm>
          <a:prstGeom prst="rect">
            <a:avLst/>
          </a:prstGeom>
          <a:noFill/>
        </p:spPr>
        <p:txBody>
          <a:bodyPr wrap="none" rtlCol="0" anchor="t">
            <a:spAutoFit/>
          </a:bodyPr>
          <a:lstStyle/>
          <a:p>
            <a:r>
              <a:rPr lang="zh-CN" altLang="en-US" sz="1600" b="1" dirty="0">
                <a:solidFill>
                  <a:srgbClr val="0070C0"/>
                </a:solidFill>
                <a:latin typeface="微软雅黑" panose="020B0503020204020204" pitchFamily="34" charset="-122"/>
                <a:ea typeface="微软雅黑" panose="020B0503020204020204" pitchFamily="34" charset="-122"/>
                <a:sym typeface="+mn-ea"/>
              </a:rPr>
              <a:t>实参、形参使用注意事项</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课堂检测</a:t>
            </a:r>
            <a:endParaRPr lang="zh-CN" altLang="en-US" dirty="0"/>
          </a:p>
        </p:txBody>
      </p:sp>
      <p:sp>
        <p:nvSpPr>
          <p:cNvPr id="4" name="副标题 3"/>
          <p:cNvSpPr>
            <a:spLocks noGrp="1"/>
          </p:cNvSpPr>
          <p:nvPr>
            <p:ph type="subTitle" idx="10"/>
          </p:nvPr>
        </p:nvSpPr>
        <p:spPr>
          <a:xfrm>
            <a:off x="611560" y="915566"/>
            <a:ext cx="5688632" cy="360040"/>
          </a:xfrm>
        </p:spPr>
        <p:txBody>
          <a:bodyPr/>
          <a:lstStyle/>
          <a:p>
            <a:r>
              <a:rPr lang="zh-CN" altLang="en-US" dirty="0"/>
              <a:t>认真阅读下面代码，如果错误，请说明原因。</a:t>
            </a:r>
            <a:endParaRPr lang="en-US" altLang="zh-CN" dirty="0"/>
          </a:p>
          <a:p>
            <a:endParaRPr lang="en-US" altLang="zh-CN" dirty="0"/>
          </a:p>
          <a:p>
            <a:endParaRPr lang="zh-CN" altLang="en-US" dirty="0"/>
          </a:p>
        </p:txBody>
      </p:sp>
      <p:sp>
        <p:nvSpPr>
          <p:cNvPr id="5" name="Freeform 59"/>
          <p:cNvSpPr>
            <a:spLocks noEditPoints="1"/>
          </p:cNvSpPr>
          <p:nvPr/>
        </p:nvSpPr>
        <p:spPr bwMode="auto">
          <a:xfrm>
            <a:off x="382960" y="915566"/>
            <a:ext cx="228600" cy="228600"/>
          </a:xfrm>
          <a:custGeom>
            <a:avLst/>
            <a:gdLst>
              <a:gd name="T0" fmla="*/ 30 w 61"/>
              <a:gd name="T1" fmla="*/ 0 h 61"/>
              <a:gd name="T2" fmla="*/ 0 w 61"/>
              <a:gd name="T3" fmla="*/ 31 h 61"/>
              <a:gd name="T4" fmla="*/ 30 w 61"/>
              <a:gd name="T5" fmla="*/ 61 h 61"/>
              <a:gd name="T6" fmla="*/ 61 w 61"/>
              <a:gd name="T7" fmla="*/ 31 h 61"/>
              <a:gd name="T8" fmla="*/ 30 w 61"/>
              <a:gd name="T9" fmla="*/ 0 h 61"/>
              <a:gd name="T10" fmla="*/ 34 w 61"/>
              <a:gd name="T11" fmla="*/ 44 h 61"/>
              <a:gd name="T12" fmla="*/ 34 w 61"/>
              <a:gd name="T13" fmla="*/ 49 h 61"/>
              <a:gd name="T14" fmla="*/ 27 w 61"/>
              <a:gd name="T15" fmla="*/ 49 h 61"/>
              <a:gd name="T16" fmla="*/ 27 w 61"/>
              <a:gd name="T17" fmla="*/ 43 h 61"/>
              <a:gd name="T18" fmla="*/ 34 w 61"/>
              <a:gd name="T19" fmla="*/ 43 h 61"/>
              <a:gd name="T20" fmla="*/ 34 w 61"/>
              <a:gd name="T21" fmla="*/ 44 h 61"/>
              <a:gd name="T22" fmla="*/ 34 w 61"/>
              <a:gd name="T23" fmla="*/ 44 h 61"/>
              <a:gd name="T24" fmla="*/ 42 w 61"/>
              <a:gd name="T25" fmla="*/ 25 h 61"/>
              <a:gd name="T26" fmla="*/ 38 w 61"/>
              <a:gd name="T27" fmla="*/ 30 h 61"/>
              <a:gd name="T28" fmla="*/ 34 w 61"/>
              <a:gd name="T29" fmla="*/ 34 h 61"/>
              <a:gd name="T30" fmla="*/ 33 w 61"/>
              <a:gd name="T31" fmla="*/ 39 h 61"/>
              <a:gd name="T32" fmla="*/ 33 w 61"/>
              <a:gd name="T33" fmla="*/ 40 h 61"/>
              <a:gd name="T34" fmla="*/ 27 w 61"/>
              <a:gd name="T35" fmla="*/ 40 h 61"/>
              <a:gd name="T36" fmla="*/ 27 w 61"/>
              <a:gd name="T37" fmla="*/ 39 h 61"/>
              <a:gd name="T38" fmla="*/ 28 w 61"/>
              <a:gd name="T39" fmla="*/ 33 h 61"/>
              <a:gd name="T40" fmla="*/ 32 w 61"/>
              <a:gd name="T41" fmla="*/ 27 h 61"/>
              <a:gd name="T42" fmla="*/ 36 w 61"/>
              <a:gd name="T43" fmla="*/ 23 h 61"/>
              <a:gd name="T44" fmla="*/ 37 w 61"/>
              <a:gd name="T45" fmla="*/ 20 h 61"/>
              <a:gd name="T46" fmla="*/ 35 w 61"/>
              <a:gd name="T47" fmla="*/ 16 h 61"/>
              <a:gd name="T48" fmla="*/ 30 w 61"/>
              <a:gd name="T49" fmla="*/ 15 h 61"/>
              <a:gd name="T50" fmla="*/ 24 w 61"/>
              <a:gd name="T51" fmla="*/ 22 h 61"/>
              <a:gd name="T52" fmla="*/ 24 w 61"/>
              <a:gd name="T53" fmla="*/ 23 h 61"/>
              <a:gd name="T54" fmla="*/ 18 w 61"/>
              <a:gd name="T55" fmla="*/ 23 h 61"/>
              <a:gd name="T56" fmla="*/ 18 w 61"/>
              <a:gd name="T57" fmla="*/ 22 h 61"/>
              <a:gd name="T58" fmla="*/ 19 w 61"/>
              <a:gd name="T59" fmla="*/ 16 h 61"/>
              <a:gd name="T60" fmla="*/ 22 w 61"/>
              <a:gd name="T61" fmla="*/ 13 h 61"/>
              <a:gd name="T62" fmla="*/ 26 w 61"/>
              <a:gd name="T63" fmla="*/ 10 h 61"/>
              <a:gd name="T64" fmla="*/ 31 w 61"/>
              <a:gd name="T65" fmla="*/ 9 h 61"/>
              <a:gd name="T66" fmla="*/ 40 w 61"/>
              <a:gd name="T67" fmla="*/ 12 h 61"/>
              <a:gd name="T68" fmla="*/ 43 w 61"/>
              <a:gd name="T69" fmla="*/ 20 h 61"/>
              <a:gd name="T70" fmla="*/ 42 w 61"/>
              <a:gd name="T71" fmla="*/ 25 h 61"/>
              <a:gd name="T72" fmla="*/ 42 w 61"/>
              <a:gd name="T73" fmla="*/ 25 h 61"/>
              <a:gd name="T74" fmla="*/ 42 w 61"/>
              <a:gd name="T7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61">
                <a:moveTo>
                  <a:pt x="30" y="0"/>
                </a:moveTo>
                <a:cubicBezTo>
                  <a:pt x="14" y="0"/>
                  <a:pt x="0" y="14"/>
                  <a:pt x="0" y="31"/>
                </a:cubicBezTo>
                <a:cubicBezTo>
                  <a:pt x="0" y="47"/>
                  <a:pt x="14" y="61"/>
                  <a:pt x="30" y="61"/>
                </a:cubicBezTo>
                <a:cubicBezTo>
                  <a:pt x="47" y="61"/>
                  <a:pt x="61" y="47"/>
                  <a:pt x="61" y="31"/>
                </a:cubicBezTo>
                <a:cubicBezTo>
                  <a:pt x="61" y="14"/>
                  <a:pt x="47" y="0"/>
                  <a:pt x="30" y="0"/>
                </a:cubicBezTo>
                <a:close/>
                <a:moveTo>
                  <a:pt x="34" y="44"/>
                </a:moveTo>
                <a:cubicBezTo>
                  <a:pt x="34" y="49"/>
                  <a:pt x="34" y="49"/>
                  <a:pt x="34" y="49"/>
                </a:cubicBezTo>
                <a:cubicBezTo>
                  <a:pt x="27" y="49"/>
                  <a:pt x="27" y="49"/>
                  <a:pt x="27" y="49"/>
                </a:cubicBezTo>
                <a:cubicBezTo>
                  <a:pt x="27" y="43"/>
                  <a:pt x="27" y="43"/>
                  <a:pt x="27" y="43"/>
                </a:cubicBezTo>
                <a:cubicBezTo>
                  <a:pt x="34" y="43"/>
                  <a:pt x="34" y="43"/>
                  <a:pt x="34" y="43"/>
                </a:cubicBezTo>
                <a:cubicBezTo>
                  <a:pt x="34" y="44"/>
                  <a:pt x="34" y="44"/>
                  <a:pt x="34" y="44"/>
                </a:cubicBezTo>
                <a:cubicBezTo>
                  <a:pt x="34" y="44"/>
                  <a:pt x="34" y="44"/>
                  <a:pt x="34" y="44"/>
                </a:cubicBezTo>
                <a:close/>
                <a:moveTo>
                  <a:pt x="42" y="25"/>
                </a:moveTo>
                <a:cubicBezTo>
                  <a:pt x="41" y="26"/>
                  <a:pt x="40" y="28"/>
                  <a:pt x="38" y="30"/>
                </a:cubicBezTo>
                <a:cubicBezTo>
                  <a:pt x="35" y="32"/>
                  <a:pt x="34" y="34"/>
                  <a:pt x="34" y="34"/>
                </a:cubicBezTo>
                <a:cubicBezTo>
                  <a:pt x="33" y="35"/>
                  <a:pt x="33" y="36"/>
                  <a:pt x="33" y="39"/>
                </a:cubicBezTo>
                <a:cubicBezTo>
                  <a:pt x="33" y="40"/>
                  <a:pt x="33" y="40"/>
                  <a:pt x="33" y="40"/>
                </a:cubicBezTo>
                <a:cubicBezTo>
                  <a:pt x="27" y="40"/>
                  <a:pt x="27" y="40"/>
                  <a:pt x="27" y="40"/>
                </a:cubicBezTo>
                <a:cubicBezTo>
                  <a:pt x="27" y="39"/>
                  <a:pt x="27" y="39"/>
                  <a:pt x="27" y="39"/>
                </a:cubicBezTo>
                <a:cubicBezTo>
                  <a:pt x="27" y="36"/>
                  <a:pt x="27" y="35"/>
                  <a:pt x="28" y="33"/>
                </a:cubicBezTo>
                <a:cubicBezTo>
                  <a:pt x="29" y="31"/>
                  <a:pt x="30" y="29"/>
                  <a:pt x="32" y="27"/>
                </a:cubicBezTo>
                <a:cubicBezTo>
                  <a:pt x="34" y="25"/>
                  <a:pt x="36" y="24"/>
                  <a:pt x="36" y="23"/>
                </a:cubicBezTo>
                <a:cubicBezTo>
                  <a:pt x="36" y="22"/>
                  <a:pt x="37" y="21"/>
                  <a:pt x="37" y="20"/>
                </a:cubicBezTo>
                <a:cubicBezTo>
                  <a:pt x="37" y="19"/>
                  <a:pt x="36" y="17"/>
                  <a:pt x="35" y="16"/>
                </a:cubicBezTo>
                <a:cubicBezTo>
                  <a:pt x="34" y="15"/>
                  <a:pt x="32" y="15"/>
                  <a:pt x="30" y="15"/>
                </a:cubicBezTo>
                <a:cubicBezTo>
                  <a:pt x="27" y="15"/>
                  <a:pt x="24" y="17"/>
                  <a:pt x="24" y="22"/>
                </a:cubicBezTo>
                <a:cubicBezTo>
                  <a:pt x="24" y="23"/>
                  <a:pt x="24" y="23"/>
                  <a:pt x="24" y="23"/>
                </a:cubicBezTo>
                <a:cubicBezTo>
                  <a:pt x="18" y="23"/>
                  <a:pt x="18" y="23"/>
                  <a:pt x="18" y="23"/>
                </a:cubicBezTo>
                <a:cubicBezTo>
                  <a:pt x="18" y="22"/>
                  <a:pt x="18" y="22"/>
                  <a:pt x="18" y="22"/>
                </a:cubicBezTo>
                <a:cubicBezTo>
                  <a:pt x="18" y="20"/>
                  <a:pt x="18" y="18"/>
                  <a:pt x="19" y="16"/>
                </a:cubicBezTo>
                <a:cubicBezTo>
                  <a:pt x="19" y="15"/>
                  <a:pt x="20" y="14"/>
                  <a:pt x="22" y="13"/>
                </a:cubicBezTo>
                <a:cubicBezTo>
                  <a:pt x="23" y="11"/>
                  <a:pt x="24" y="11"/>
                  <a:pt x="26" y="10"/>
                </a:cubicBezTo>
                <a:cubicBezTo>
                  <a:pt x="28" y="10"/>
                  <a:pt x="29" y="9"/>
                  <a:pt x="31" y="9"/>
                </a:cubicBezTo>
                <a:cubicBezTo>
                  <a:pt x="34" y="9"/>
                  <a:pt x="37" y="10"/>
                  <a:pt x="40" y="12"/>
                </a:cubicBezTo>
                <a:cubicBezTo>
                  <a:pt x="42" y="14"/>
                  <a:pt x="43" y="17"/>
                  <a:pt x="43" y="20"/>
                </a:cubicBezTo>
                <a:cubicBezTo>
                  <a:pt x="43" y="22"/>
                  <a:pt x="43" y="24"/>
                  <a:pt x="42" y="25"/>
                </a:cubicBezTo>
                <a:close/>
                <a:moveTo>
                  <a:pt x="42" y="25"/>
                </a:moveTo>
                <a:cubicBezTo>
                  <a:pt x="42" y="25"/>
                  <a:pt x="42" y="25"/>
                  <a:pt x="42" y="25"/>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AutoShape 15"/>
          <p:cNvSpPr>
            <a:spLocks noChangeArrowheads="1"/>
          </p:cNvSpPr>
          <p:nvPr/>
        </p:nvSpPr>
        <p:spPr bwMode="auto">
          <a:xfrm>
            <a:off x="906780" y="1625600"/>
            <a:ext cx="7200265" cy="1953432"/>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r>
              <a:rPr lang="en-US" altLang="zh-CN" sz="2000" dirty="0">
                <a:latin typeface="Calibri" panose="020F0502020204030204" pitchFamily="34" charset="0"/>
                <a:cs typeface="Calibri" panose="020F0502020204030204" pitchFamily="34" charset="0"/>
              </a:rPr>
              <a:t>def say(name, number):</a:t>
            </a:r>
            <a:endParaRPr lang="en-US" altLang="zh-CN" sz="2000" dirty="0">
              <a:latin typeface="Calibri" panose="020F0502020204030204" pitchFamily="34" charset="0"/>
              <a:cs typeface="Calibri" panose="020F0502020204030204" pitchFamily="34" charset="0"/>
            </a:endParaRPr>
          </a:p>
          <a:p>
            <a:pPr algn="l"/>
            <a:r>
              <a:rPr lang="en-US" altLang="zh-CN" sz="2000" dirty="0">
                <a:latin typeface="Calibri" panose="020F0502020204030204" pitchFamily="34" charset="0"/>
                <a:cs typeface="Calibri" panose="020F0502020204030204" pitchFamily="34" charset="0"/>
              </a:rPr>
              <a:t>    for i in range(number):</a:t>
            </a:r>
            <a:endParaRPr lang="en-US" altLang="zh-CN" sz="2000" dirty="0">
              <a:latin typeface="Calibri" panose="020F0502020204030204" pitchFamily="34" charset="0"/>
              <a:cs typeface="Calibri" panose="020F0502020204030204" pitchFamily="34" charset="0"/>
            </a:endParaRPr>
          </a:p>
          <a:p>
            <a:pPr algn="l"/>
            <a:r>
              <a:rPr lang="en-US" altLang="zh-CN" sz="2000" dirty="0">
                <a:latin typeface="Calibri" panose="020F0502020204030204" pitchFamily="34" charset="0"/>
                <a:cs typeface="Calibri" panose="020F0502020204030204" pitchFamily="34" charset="0"/>
              </a:rPr>
              <a:t>        print("{}说：知识简简单单，学习快快乐乐".format(name))</a:t>
            </a:r>
            <a:endParaRPr lang="en-US" altLang="zh-CN" sz="2000" dirty="0">
              <a:latin typeface="Calibri" panose="020F0502020204030204" pitchFamily="34" charset="0"/>
              <a:cs typeface="Calibri" panose="020F0502020204030204" pitchFamily="34" charset="0"/>
            </a:endParaRPr>
          </a:p>
          <a:p>
            <a:pPr algn="l"/>
            <a:endParaRPr lang="en-US" altLang="zh-CN" sz="2000" dirty="0">
              <a:latin typeface="Calibri" panose="020F0502020204030204" pitchFamily="34" charset="0"/>
              <a:cs typeface="Calibri" panose="020F0502020204030204" pitchFamily="34" charset="0"/>
            </a:endParaRPr>
          </a:p>
          <a:p>
            <a:pPr algn="l"/>
            <a:r>
              <a:rPr lang="en-US" altLang="zh-CN" sz="2000" dirty="0">
                <a:latin typeface="Calibri" panose="020F0502020204030204" pitchFamily="34" charset="0"/>
                <a:cs typeface="Calibri" panose="020F0502020204030204" pitchFamily="34" charset="0"/>
              </a:rPr>
              <a:t>number = </a:t>
            </a:r>
            <a:r>
              <a:rPr lang="en-US" altLang="zh-CN" sz="2000" dirty="0">
                <a:latin typeface="Calibri" panose="020F0502020204030204" pitchFamily="34" charset="0"/>
                <a:cs typeface="Calibri" panose="020F0502020204030204" pitchFamily="34" charset="0"/>
                <a:sym typeface="+mn-ea"/>
              </a:rPr>
              <a:t>”</a:t>
            </a:r>
            <a:r>
              <a:rPr lang="en-US" altLang="zh-CN" sz="2000" dirty="0">
                <a:latin typeface="Calibri" panose="020F0502020204030204" pitchFamily="34" charset="0"/>
                <a:cs typeface="Calibri" panose="020F0502020204030204" pitchFamily="34" charset="0"/>
              </a:rPr>
              <a:t>12”</a:t>
            </a:r>
            <a:endParaRPr lang="en-US" altLang="zh-CN" sz="2000" dirty="0">
              <a:latin typeface="Calibri" panose="020F0502020204030204" pitchFamily="34" charset="0"/>
              <a:cs typeface="Calibri" panose="020F0502020204030204" pitchFamily="34" charset="0"/>
            </a:endParaRPr>
          </a:p>
          <a:p>
            <a:pPr algn="l"/>
            <a:r>
              <a:rPr lang="en-US" altLang="zh-CN" sz="2000" dirty="0">
                <a:latin typeface="Calibri" panose="020F0502020204030204" pitchFamily="34" charset="0"/>
                <a:cs typeface="Calibri" panose="020F0502020204030204" pitchFamily="34" charset="0"/>
              </a:rPr>
              <a:t>say(</a:t>
            </a:r>
            <a:r>
              <a:rPr lang="en-US" altLang="zh-CN" sz="2000" dirty="0">
                <a:latin typeface="Calibri" panose="020F0502020204030204" pitchFamily="34" charset="0"/>
                <a:cs typeface="Calibri" panose="020F0502020204030204" pitchFamily="34" charset="0"/>
                <a:sym typeface="+mn-ea"/>
              </a:rPr>
              <a:t>name, number</a:t>
            </a:r>
            <a:r>
              <a:rPr lang="en-US" altLang="zh-CN" sz="2000" dirty="0">
                <a:latin typeface="Calibri" panose="020F0502020204030204" pitchFamily="34" charset="0"/>
                <a:cs typeface="Calibri" panose="020F0502020204030204" pitchFamily="34" charset="0"/>
              </a:rPr>
              <a:t>)</a:t>
            </a:r>
            <a:endParaRPr lang="en-US" altLang="zh-CN" sz="2000" dirty="0">
              <a:latin typeface="Calibri" panose="020F0502020204030204" pitchFamily="34" charset="0"/>
              <a:cs typeface="Calibri" panose="020F0502020204030204" pitchFamily="34" charset="0"/>
            </a:endParaRPr>
          </a:p>
        </p:txBody>
      </p:sp>
      <p:sp>
        <p:nvSpPr>
          <p:cNvPr id="252" name=" 252"/>
          <p:cNvSpPr/>
          <p:nvPr/>
        </p:nvSpPr>
        <p:spPr>
          <a:xfrm rot="3060000">
            <a:off x="2515235" y="2870835"/>
            <a:ext cx="372110" cy="386080"/>
          </a:xfrm>
          <a:prstGeom prst="mathPlus">
            <a:avLst>
              <a:gd name="adj1" fmla="val 922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3" name=" 252"/>
          <p:cNvSpPr/>
          <p:nvPr/>
        </p:nvSpPr>
        <p:spPr>
          <a:xfrm rot="3060000">
            <a:off x="1494155" y="3356610"/>
            <a:ext cx="372110" cy="386080"/>
          </a:xfrm>
          <a:prstGeom prst="mathPlus">
            <a:avLst>
              <a:gd name="adj1" fmla="val 922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solidFill>
                <a:srgbClr val="FFFFFF"/>
              </a:solidFill>
            </a:endParaRPr>
          </a:p>
        </p:txBody>
      </p:sp>
      <p:sp>
        <p:nvSpPr>
          <p:cNvPr id="17" name="AutoShape 8"/>
          <p:cNvSpPr>
            <a:spLocks noChangeArrowheads="1"/>
          </p:cNvSpPr>
          <p:nvPr/>
        </p:nvSpPr>
        <p:spPr bwMode="auto">
          <a:xfrm>
            <a:off x="2967990" y="2797585"/>
            <a:ext cx="5060315" cy="411070"/>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lstStyle/>
          <a:p>
            <a:r>
              <a:rPr lang="zh-CN" altLang="en-US" dirty="0">
                <a:solidFill>
                  <a:srgbClr val="F9F9F9"/>
                </a:solidFill>
                <a:latin typeface="+mn-ea"/>
                <a:ea typeface="+mn-ea"/>
              </a:rPr>
              <a:t>函数需要的</a:t>
            </a:r>
            <a:r>
              <a:rPr lang="en-US" altLang="zh-CN" dirty="0">
                <a:solidFill>
                  <a:srgbClr val="F9F9F9"/>
                </a:solidFill>
                <a:latin typeface="+mn-ea"/>
                <a:ea typeface="+mn-ea"/>
              </a:rPr>
              <a:t>number</a:t>
            </a:r>
            <a:r>
              <a:rPr lang="zh-CN" altLang="en-US" dirty="0">
                <a:solidFill>
                  <a:srgbClr val="F9F9F9"/>
                </a:solidFill>
                <a:latin typeface="+mn-ea"/>
                <a:ea typeface="+mn-ea"/>
              </a:rPr>
              <a:t>数据类型是数值型数据类型</a:t>
            </a:r>
            <a:endParaRPr lang="zh-CN" altLang="en-US" dirty="0">
              <a:solidFill>
                <a:srgbClr val="F9F9F9"/>
              </a:solidFill>
              <a:latin typeface="+mn-ea"/>
              <a:ea typeface="+mn-ea"/>
            </a:endParaRPr>
          </a:p>
        </p:txBody>
      </p:sp>
      <p:sp>
        <p:nvSpPr>
          <p:cNvPr id="6" name="AutoShape 8"/>
          <p:cNvSpPr>
            <a:spLocks noChangeArrowheads="1"/>
          </p:cNvSpPr>
          <p:nvPr/>
        </p:nvSpPr>
        <p:spPr bwMode="auto">
          <a:xfrm>
            <a:off x="1516380" y="3716814"/>
            <a:ext cx="2573655" cy="408146"/>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lstStyle/>
          <a:p>
            <a:r>
              <a:rPr lang="en-US" altLang="zh-CN" dirty="0">
                <a:solidFill>
                  <a:srgbClr val="F9F9F9"/>
                </a:solidFill>
                <a:latin typeface="+mn-ea"/>
                <a:ea typeface="+mn-ea"/>
              </a:rPr>
              <a:t>name</a:t>
            </a:r>
            <a:r>
              <a:rPr lang="zh-CN" altLang="en-US" dirty="0">
                <a:solidFill>
                  <a:srgbClr val="F9F9F9"/>
                </a:solidFill>
                <a:latin typeface="+mn-ea"/>
                <a:ea typeface="+mn-ea"/>
              </a:rPr>
              <a:t>未赋值直接使用</a:t>
            </a:r>
            <a:endParaRPr lang="zh-CN" altLang="en-US" dirty="0">
              <a:solidFill>
                <a:srgbClr val="F9F9F9"/>
              </a:solidFill>
              <a:latin typeface="+mn-ea"/>
              <a:ea typeface="+mn-ea"/>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2"/>
                                        </p:tgtEl>
                                        <p:attrNameLst>
                                          <p:attrName>style.visibility</p:attrName>
                                        </p:attrNameLst>
                                      </p:cBhvr>
                                      <p:to>
                                        <p:strVal val="visible"/>
                                      </p:to>
                                    </p:se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left)">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par>
                          <p:cTn id="15" fill="hold">
                            <p:stCondLst>
                              <p:cond delay="0"/>
                            </p:stCondLst>
                            <p:childTnLst>
                              <p:par>
                                <p:cTn id="16" presetID="22" presetClass="entr" presetSubtype="8"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 grpId="0" bldLvl="0" animBg="1"/>
      <p:bldP spid="3" grpId="0" bldLvl="0" animBg="1"/>
      <p:bldP spid="17" grpId="0" bldLvl="0" animBg="1"/>
      <p:bldP spid="6"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课堂检测</a:t>
            </a:r>
            <a:endParaRPr lang="zh-CN" altLang="en-US" dirty="0"/>
          </a:p>
        </p:txBody>
      </p:sp>
      <p:sp>
        <p:nvSpPr>
          <p:cNvPr id="3" name="内容占位符 2"/>
          <p:cNvSpPr>
            <a:spLocks noGrp="1"/>
          </p:cNvSpPr>
          <p:nvPr>
            <p:ph idx="1"/>
          </p:nvPr>
        </p:nvSpPr>
        <p:spPr/>
        <p:txBody>
          <a:bodyPr/>
          <a:lstStyle/>
          <a:p>
            <a:endParaRPr lang="en-US" altLang="zh-CN" dirty="0"/>
          </a:p>
          <a:p>
            <a:r>
              <a:rPr lang="zh-CN" altLang="en-US" dirty="0"/>
              <a:t>有参函数</a:t>
            </a:r>
            <a:r>
              <a:rPr lang="zh-CN" altLang="en-US" b="1" dirty="0"/>
              <a:t>至少有一个</a:t>
            </a:r>
            <a:r>
              <a:rPr lang="zh-CN" altLang="en-US" dirty="0"/>
              <a:t>参数。</a:t>
            </a:r>
            <a:endParaRPr lang="en-US" altLang="zh-CN" dirty="0"/>
          </a:p>
          <a:p>
            <a:endParaRPr lang="en-US" altLang="zh-CN" dirty="0"/>
          </a:p>
          <a:p>
            <a:r>
              <a:rPr lang="zh-CN" altLang="en-US" dirty="0"/>
              <a:t>定义函数时的参数叫</a:t>
            </a:r>
            <a:r>
              <a:rPr lang="zh-CN" altLang="en-US" b="1" dirty="0"/>
              <a:t>形参</a:t>
            </a:r>
            <a:r>
              <a:rPr lang="zh-CN" altLang="en-US" dirty="0"/>
              <a:t>，调用函数时的参数叫</a:t>
            </a:r>
            <a:r>
              <a:rPr lang="zh-CN" altLang="en-US" b="1" dirty="0"/>
              <a:t>实参</a:t>
            </a:r>
            <a:r>
              <a:rPr lang="zh-CN" altLang="en-US" dirty="0"/>
              <a:t>。</a:t>
            </a:r>
            <a:endParaRPr lang="en-US" altLang="zh-CN" dirty="0"/>
          </a:p>
          <a:p>
            <a:endParaRPr lang="en-US" altLang="zh-CN" dirty="0"/>
          </a:p>
          <a:p>
            <a:pPr marL="0" indent="0">
              <a:buNone/>
            </a:pPr>
            <a:endParaRPr lang="zh-CN" altLang="en-US" dirty="0"/>
          </a:p>
        </p:txBody>
      </p:sp>
      <p:sp>
        <p:nvSpPr>
          <p:cNvPr id="4" name="副标题 3"/>
          <p:cNvSpPr>
            <a:spLocks noGrp="1"/>
          </p:cNvSpPr>
          <p:nvPr>
            <p:ph type="subTitle" idx="10"/>
          </p:nvPr>
        </p:nvSpPr>
        <p:spPr>
          <a:xfrm>
            <a:off x="611560" y="915566"/>
            <a:ext cx="5688632" cy="360040"/>
          </a:xfrm>
        </p:spPr>
        <p:txBody>
          <a:bodyPr/>
          <a:lstStyle/>
          <a:p>
            <a:r>
              <a:rPr lang="zh-CN" altLang="en-US" dirty="0"/>
              <a:t>认真阅读，判断以下说法是否正确，如果错误，请说明原因。</a:t>
            </a:r>
            <a:endParaRPr lang="en-US" altLang="zh-CN" dirty="0"/>
          </a:p>
          <a:p>
            <a:endParaRPr lang="en-US" altLang="zh-CN" dirty="0"/>
          </a:p>
          <a:p>
            <a:endParaRPr lang="zh-CN" altLang="en-US" dirty="0"/>
          </a:p>
        </p:txBody>
      </p:sp>
      <p:sp>
        <p:nvSpPr>
          <p:cNvPr id="5" name="Freeform 59"/>
          <p:cNvSpPr>
            <a:spLocks noEditPoints="1"/>
          </p:cNvSpPr>
          <p:nvPr/>
        </p:nvSpPr>
        <p:spPr bwMode="auto">
          <a:xfrm>
            <a:off x="382960" y="915566"/>
            <a:ext cx="228600" cy="228600"/>
          </a:xfrm>
          <a:custGeom>
            <a:avLst/>
            <a:gdLst>
              <a:gd name="T0" fmla="*/ 30 w 61"/>
              <a:gd name="T1" fmla="*/ 0 h 61"/>
              <a:gd name="T2" fmla="*/ 0 w 61"/>
              <a:gd name="T3" fmla="*/ 31 h 61"/>
              <a:gd name="T4" fmla="*/ 30 w 61"/>
              <a:gd name="T5" fmla="*/ 61 h 61"/>
              <a:gd name="T6" fmla="*/ 61 w 61"/>
              <a:gd name="T7" fmla="*/ 31 h 61"/>
              <a:gd name="T8" fmla="*/ 30 w 61"/>
              <a:gd name="T9" fmla="*/ 0 h 61"/>
              <a:gd name="T10" fmla="*/ 34 w 61"/>
              <a:gd name="T11" fmla="*/ 44 h 61"/>
              <a:gd name="T12" fmla="*/ 34 w 61"/>
              <a:gd name="T13" fmla="*/ 49 h 61"/>
              <a:gd name="T14" fmla="*/ 27 w 61"/>
              <a:gd name="T15" fmla="*/ 49 h 61"/>
              <a:gd name="T16" fmla="*/ 27 w 61"/>
              <a:gd name="T17" fmla="*/ 43 h 61"/>
              <a:gd name="T18" fmla="*/ 34 w 61"/>
              <a:gd name="T19" fmla="*/ 43 h 61"/>
              <a:gd name="T20" fmla="*/ 34 w 61"/>
              <a:gd name="T21" fmla="*/ 44 h 61"/>
              <a:gd name="T22" fmla="*/ 34 w 61"/>
              <a:gd name="T23" fmla="*/ 44 h 61"/>
              <a:gd name="T24" fmla="*/ 42 w 61"/>
              <a:gd name="T25" fmla="*/ 25 h 61"/>
              <a:gd name="T26" fmla="*/ 38 w 61"/>
              <a:gd name="T27" fmla="*/ 30 h 61"/>
              <a:gd name="T28" fmla="*/ 34 w 61"/>
              <a:gd name="T29" fmla="*/ 34 h 61"/>
              <a:gd name="T30" fmla="*/ 33 w 61"/>
              <a:gd name="T31" fmla="*/ 39 h 61"/>
              <a:gd name="T32" fmla="*/ 33 w 61"/>
              <a:gd name="T33" fmla="*/ 40 h 61"/>
              <a:gd name="T34" fmla="*/ 27 w 61"/>
              <a:gd name="T35" fmla="*/ 40 h 61"/>
              <a:gd name="T36" fmla="*/ 27 w 61"/>
              <a:gd name="T37" fmla="*/ 39 h 61"/>
              <a:gd name="T38" fmla="*/ 28 w 61"/>
              <a:gd name="T39" fmla="*/ 33 h 61"/>
              <a:gd name="T40" fmla="*/ 32 w 61"/>
              <a:gd name="T41" fmla="*/ 27 h 61"/>
              <a:gd name="T42" fmla="*/ 36 w 61"/>
              <a:gd name="T43" fmla="*/ 23 h 61"/>
              <a:gd name="T44" fmla="*/ 37 w 61"/>
              <a:gd name="T45" fmla="*/ 20 h 61"/>
              <a:gd name="T46" fmla="*/ 35 w 61"/>
              <a:gd name="T47" fmla="*/ 16 h 61"/>
              <a:gd name="T48" fmla="*/ 30 w 61"/>
              <a:gd name="T49" fmla="*/ 15 h 61"/>
              <a:gd name="T50" fmla="*/ 24 w 61"/>
              <a:gd name="T51" fmla="*/ 22 h 61"/>
              <a:gd name="T52" fmla="*/ 24 w 61"/>
              <a:gd name="T53" fmla="*/ 23 h 61"/>
              <a:gd name="T54" fmla="*/ 18 w 61"/>
              <a:gd name="T55" fmla="*/ 23 h 61"/>
              <a:gd name="T56" fmla="*/ 18 w 61"/>
              <a:gd name="T57" fmla="*/ 22 h 61"/>
              <a:gd name="T58" fmla="*/ 19 w 61"/>
              <a:gd name="T59" fmla="*/ 16 h 61"/>
              <a:gd name="T60" fmla="*/ 22 w 61"/>
              <a:gd name="T61" fmla="*/ 13 h 61"/>
              <a:gd name="T62" fmla="*/ 26 w 61"/>
              <a:gd name="T63" fmla="*/ 10 h 61"/>
              <a:gd name="T64" fmla="*/ 31 w 61"/>
              <a:gd name="T65" fmla="*/ 9 h 61"/>
              <a:gd name="T66" fmla="*/ 40 w 61"/>
              <a:gd name="T67" fmla="*/ 12 h 61"/>
              <a:gd name="T68" fmla="*/ 43 w 61"/>
              <a:gd name="T69" fmla="*/ 20 h 61"/>
              <a:gd name="T70" fmla="*/ 42 w 61"/>
              <a:gd name="T71" fmla="*/ 25 h 61"/>
              <a:gd name="T72" fmla="*/ 42 w 61"/>
              <a:gd name="T73" fmla="*/ 25 h 61"/>
              <a:gd name="T74" fmla="*/ 42 w 61"/>
              <a:gd name="T75" fmla="*/ 2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61" h="61">
                <a:moveTo>
                  <a:pt x="30" y="0"/>
                </a:moveTo>
                <a:cubicBezTo>
                  <a:pt x="14" y="0"/>
                  <a:pt x="0" y="14"/>
                  <a:pt x="0" y="31"/>
                </a:cubicBezTo>
                <a:cubicBezTo>
                  <a:pt x="0" y="47"/>
                  <a:pt x="14" y="61"/>
                  <a:pt x="30" y="61"/>
                </a:cubicBezTo>
                <a:cubicBezTo>
                  <a:pt x="47" y="61"/>
                  <a:pt x="61" y="47"/>
                  <a:pt x="61" y="31"/>
                </a:cubicBezTo>
                <a:cubicBezTo>
                  <a:pt x="61" y="14"/>
                  <a:pt x="47" y="0"/>
                  <a:pt x="30" y="0"/>
                </a:cubicBezTo>
                <a:close/>
                <a:moveTo>
                  <a:pt x="34" y="44"/>
                </a:moveTo>
                <a:cubicBezTo>
                  <a:pt x="34" y="49"/>
                  <a:pt x="34" y="49"/>
                  <a:pt x="34" y="49"/>
                </a:cubicBezTo>
                <a:cubicBezTo>
                  <a:pt x="27" y="49"/>
                  <a:pt x="27" y="49"/>
                  <a:pt x="27" y="49"/>
                </a:cubicBezTo>
                <a:cubicBezTo>
                  <a:pt x="27" y="43"/>
                  <a:pt x="27" y="43"/>
                  <a:pt x="27" y="43"/>
                </a:cubicBezTo>
                <a:cubicBezTo>
                  <a:pt x="34" y="43"/>
                  <a:pt x="34" y="43"/>
                  <a:pt x="34" y="43"/>
                </a:cubicBezTo>
                <a:cubicBezTo>
                  <a:pt x="34" y="44"/>
                  <a:pt x="34" y="44"/>
                  <a:pt x="34" y="44"/>
                </a:cubicBezTo>
                <a:cubicBezTo>
                  <a:pt x="34" y="44"/>
                  <a:pt x="34" y="44"/>
                  <a:pt x="34" y="44"/>
                </a:cubicBezTo>
                <a:close/>
                <a:moveTo>
                  <a:pt x="42" y="25"/>
                </a:moveTo>
                <a:cubicBezTo>
                  <a:pt x="41" y="26"/>
                  <a:pt x="40" y="28"/>
                  <a:pt x="38" y="30"/>
                </a:cubicBezTo>
                <a:cubicBezTo>
                  <a:pt x="35" y="32"/>
                  <a:pt x="34" y="34"/>
                  <a:pt x="34" y="34"/>
                </a:cubicBezTo>
                <a:cubicBezTo>
                  <a:pt x="33" y="35"/>
                  <a:pt x="33" y="36"/>
                  <a:pt x="33" y="39"/>
                </a:cubicBezTo>
                <a:cubicBezTo>
                  <a:pt x="33" y="40"/>
                  <a:pt x="33" y="40"/>
                  <a:pt x="33" y="40"/>
                </a:cubicBezTo>
                <a:cubicBezTo>
                  <a:pt x="27" y="40"/>
                  <a:pt x="27" y="40"/>
                  <a:pt x="27" y="40"/>
                </a:cubicBezTo>
                <a:cubicBezTo>
                  <a:pt x="27" y="39"/>
                  <a:pt x="27" y="39"/>
                  <a:pt x="27" y="39"/>
                </a:cubicBezTo>
                <a:cubicBezTo>
                  <a:pt x="27" y="36"/>
                  <a:pt x="27" y="35"/>
                  <a:pt x="28" y="33"/>
                </a:cubicBezTo>
                <a:cubicBezTo>
                  <a:pt x="29" y="31"/>
                  <a:pt x="30" y="29"/>
                  <a:pt x="32" y="27"/>
                </a:cubicBezTo>
                <a:cubicBezTo>
                  <a:pt x="34" y="25"/>
                  <a:pt x="36" y="24"/>
                  <a:pt x="36" y="23"/>
                </a:cubicBezTo>
                <a:cubicBezTo>
                  <a:pt x="36" y="22"/>
                  <a:pt x="37" y="21"/>
                  <a:pt x="37" y="20"/>
                </a:cubicBezTo>
                <a:cubicBezTo>
                  <a:pt x="37" y="19"/>
                  <a:pt x="36" y="17"/>
                  <a:pt x="35" y="16"/>
                </a:cubicBezTo>
                <a:cubicBezTo>
                  <a:pt x="34" y="15"/>
                  <a:pt x="32" y="15"/>
                  <a:pt x="30" y="15"/>
                </a:cubicBezTo>
                <a:cubicBezTo>
                  <a:pt x="27" y="15"/>
                  <a:pt x="24" y="17"/>
                  <a:pt x="24" y="22"/>
                </a:cubicBezTo>
                <a:cubicBezTo>
                  <a:pt x="24" y="23"/>
                  <a:pt x="24" y="23"/>
                  <a:pt x="24" y="23"/>
                </a:cubicBezTo>
                <a:cubicBezTo>
                  <a:pt x="18" y="23"/>
                  <a:pt x="18" y="23"/>
                  <a:pt x="18" y="23"/>
                </a:cubicBezTo>
                <a:cubicBezTo>
                  <a:pt x="18" y="22"/>
                  <a:pt x="18" y="22"/>
                  <a:pt x="18" y="22"/>
                </a:cubicBezTo>
                <a:cubicBezTo>
                  <a:pt x="18" y="20"/>
                  <a:pt x="18" y="18"/>
                  <a:pt x="19" y="16"/>
                </a:cubicBezTo>
                <a:cubicBezTo>
                  <a:pt x="19" y="15"/>
                  <a:pt x="20" y="14"/>
                  <a:pt x="22" y="13"/>
                </a:cubicBezTo>
                <a:cubicBezTo>
                  <a:pt x="23" y="11"/>
                  <a:pt x="24" y="11"/>
                  <a:pt x="26" y="10"/>
                </a:cubicBezTo>
                <a:cubicBezTo>
                  <a:pt x="28" y="10"/>
                  <a:pt x="29" y="9"/>
                  <a:pt x="31" y="9"/>
                </a:cubicBezTo>
                <a:cubicBezTo>
                  <a:pt x="34" y="9"/>
                  <a:pt x="37" y="10"/>
                  <a:pt x="40" y="12"/>
                </a:cubicBezTo>
                <a:cubicBezTo>
                  <a:pt x="42" y="14"/>
                  <a:pt x="43" y="17"/>
                  <a:pt x="43" y="20"/>
                </a:cubicBezTo>
                <a:cubicBezTo>
                  <a:pt x="43" y="22"/>
                  <a:pt x="43" y="24"/>
                  <a:pt x="42" y="25"/>
                </a:cubicBezTo>
                <a:close/>
                <a:moveTo>
                  <a:pt x="42" y="25"/>
                </a:moveTo>
                <a:cubicBezTo>
                  <a:pt x="42" y="25"/>
                  <a:pt x="42" y="25"/>
                  <a:pt x="42" y="25"/>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MH_SubTitle_3"/>
          <p:cNvSpPr/>
          <p:nvPr>
            <p:custDataLst>
              <p:tags r:id="rId1"/>
            </p:custDataLst>
          </p:nvPr>
        </p:nvSpPr>
        <p:spPr>
          <a:xfrm>
            <a:off x="3635896" y="1563638"/>
            <a:ext cx="526936" cy="504174"/>
          </a:xfrm>
          <a:prstGeom prst="ellipse">
            <a:avLst/>
          </a:prstGeom>
          <a:solidFill>
            <a:srgbClr val="00B050"/>
          </a:solidFill>
          <a:ln w="28575">
            <a:noFill/>
          </a:ln>
          <a:effectLst>
            <a:glow rad="1397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solidFill>
                  <a:srgbClr val="FFFFFF"/>
                </a:solidFill>
                <a:latin typeface="Arial Black" panose="020B0A04020102020204"/>
                <a:cs typeface="Mangal" panose="02040503050203030202" pitchFamily="18" charset="0"/>
              </a:rPr>
              <a:t>√</a:t>
            </a:r>
            <a:endParaRPr lang="zh-CN" altLang="en-US" dirty="0">
              <a:solidFill>
                <a:srgbClr val="FFFFFF"/>
              </a:solidFill>
              <a:cs typeface="Mangal" panose="02040503050203030202" pitchFamily="18" charset="0"/>
            </a:endParaRPr>
          </a:p>
        </p:txBody>
      </p:sp>
      <p:sp>
        <p:nvSpPr>
          <p:cNvPr id="10" name="MH_SubTitle_3"/>
          <p:cNvSpPr/>
          <p:nvPr>
            <p:custDataLst>
              <p:tags r:id="rId2"/>
            </p:custDataLst>
          </p:nvPr>
        </p:nvSpPr>
        <p:spPr>
          <a:xfrm>
            <a:off x="6660232" y="2427734"/>
            <a:ext cx="526936" cy="504174"/>
          </a:xfrm>
          <a:prstGeom prst="ellipse">
            <a:avLst/>
          </a:prstGeom>
          <a:solidFill>
            <a:srgbClr val="00B050"/>
          </a:solidFill>
          <a:ln w="28575">
            <a:noFill/>
          </a:ln>
          <a:effectLst>
            <a:glow rad="139700">
              <a:schemeClr val="accent1">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dirty="0">
                <a:solidFill>
                  <a:srgbClr val="FFFFFF"/>
                </a:solidFill>
                <a:latin typeface="Arial Black" panose="020B0A04020102020204"/>
                <a:cs typeface="Mangal" panose="02040503050203030202" pitchFamily="18" charset="0"/>
              </a:rPr>
              <a:t>√</a:t>
            </a:r>
            <a:endParaRPr lang="zh-CN" altLang="en-US" dirty="0">
              <a:solidFill>
                <a:srgbClr val="FFFFFF"/>
              </a:solidFill>
              <a:cs typeface="Mangal" panose="02040503050203030202" pitchFamily="18" charset="0"/>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80">
                                          <p:stCondLst>
                                            <p:cond delay="0"/>
                                          </p:stCondLst>
                                        </p:cTn>
                                        <p:tgtEl>
                                          <p:spTgt spid="7"/>
                                        </p:tgtEl>
                                      </p:cBhvr>
                                    </p:animEffect>
                                    <p:anim calcmode="lin" valueType="num">
                                      <p:cBhvr>
                                        <p:cTn id="12" dur="1822"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7"/>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7"/>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7"/>
                                        </p:tgtEl>
                                        <p:attrNameLst>
                                          <p:attrName>ppt_y</p:attrName>
                                        </p:attrNameLst>
                                      </p:cBhvr>
                                      <p:tavLst>
                                        <p:tav tm="0" fmla="#ppt_y-sin(pi*$)/81">
                                          <p:val>
                                            <p:fltVal val="0"/>
                                          </p:val>
                                        </p:tav>
                                        <p:tav tm="100000">
                                          <p:val>
                                            <p:fltVal val="1"/>
                                          </p:val>
                                        </p:tav>
                                      </p:tavLst>
                                    </p:anim>
                                    <p:animScale>
                                      <p:cBhvr>
                                        <p:cTn id="17" dur="26">
                                          <p:stCondLst>
                                            <p:cond delay="650"/>
                                          </p:stCondLst>
                                        </p:cTn>
                                        <p:tgtEl>
                                          <p:spTgt spid="7"/>
                                        </p:tgtEl>
                                      </p:cBhvr>
                                      <p:to x="100000" y="60000"/>
                                    </p:animScale>
                                    <p:animScale>
                                      <p:cBhvr>
                                        <p:cTn id="18" dur="166" decel="50000">
                                          <p:stCondLst>
                                            <p:cond delay="676"/>
                                          </p:stCondLst>
                                        </p:cTn>
                                        <p:tgtEl>
                                          <p:spTgt spid="7"/>
                                        </p:tgtEl>
                                      </p:cBhvr>
                                      <p:to x="100000" y="100000"/>
                                    </p:animScale>
                                    <p:animScale>
                                      <p:cBhvr>
                                        <p:cTn id="19" dur="26">
                                          <p:stCondLst>
                                            <p:cond delay="1312"/>
                                          </p:stCondLst>
                                        </p:cTn>
                                        <p:tgtEl>
                                          <p:spTgt spid="7"/>
                                        </p:tgtEl>
                                      </p:cBhvr>
                                      <p:to x="100000" y="80000"/>
                                    </p:animScale>
                                    <p:animScale>
                                      <p:cBhvr>
                                        <p:cTn id="20" dur="166" decel="50000">
                                          <p:stCondLst>
                                            <p:cond delay="1338"/>
                                          </p:stCondLst>
                                        </p:cTn>
                                        <p:tgtEl>
                                          <p:spTgt spid="7"/>
                                        </p:tgtEl>
                                      </p:cBhvr>
                                      <p:to x="100000" y="100000"/>
                                    </p:animScale>
                                    <p:animScale>
                                      <p:cBhvr>
                                        <p:cTn id="21" dur="26">
                                          <p:stCondLst>
                                            <p:cond delay="1642"/>
                                          </p:stCondLst>
                                        </p:cTn>
                                        <p:tgtEl>
                                          <p:spTgt spid="7"/>
                                        </p:tgtEl>
                                      </p:cBhvr>
                                      <p:to x="100000" y="90000"/>
                                    </p:animScale>
                                    <p:animScale>
                                      <p:cBhvr>
                                        <p:cTn id="22" dur="166" decel="50000">
                                          <p:stCondLst>
                                            <p:cond delay="1668"/>
                                          </p:stCondLst>
                                        </p:cTn>
                                        <p:tgtEl>
                                          <p:spTgt spid="7"/>
                                        </p:tgtEl>
                                      </p:cBhvr>
                                      <p:to x="100000" y="100000"/>
                                    </p:animScale>
                                    <p:animScale>
                                      <p:cBhvr>
                                        <p:cTn id="23" dur="26">
                                          <p:stCondLst>
                                            <p:cond delay="1808"/>
                                          </p:stCondLst>
                                        </p:cTn>
                                        <p:tgtEl>
                                          <p:spTgt spid="7"/>
                                        </p:tgtEl>
                                      </p:cBhvr>
                                      <p:to x="100000" y="95000"/>
                                    </p:animScale>
                                    <p:animScale>
                                      <p:cBhvr>
                                        <p:cTn id="24" dur="166" decel="50000">
                                          <p:stCondLst>
                                            <p:cond delay="1834"/>
                                          </p:stCondLst>
                                        </p:cTn>
                                        <p:tgtEl>
                                          <p:spTgt spid="7"/>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6"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down)">
                                      <p:cBhvr>
                                        <p:cTn id="33" dur="580">
                                          <p:stCondLst>
                                            <p:cond delay="0"/>
                                          </p:stCondLst>
                                        </p:cTn>
                                        <p:tgtEl>
                                          <p:spTgt spid="10"/>
                                        </p:tgtEl>
                                      </p:cBhvr>
                                    </p:animEffect>
                                    <p:anim calcmode="lin" valueType="num">
                                      <p:cBhvr>
                                        <p:cTn id="34"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39" dur="26">
                                          <p:stCondLst>
                                            <p:cond delay="650"/>
                                          </p:stCondLst>
                                        </p:cTn>
                                        <p:tgtEl>
                                          <p:spTgt spid="10"/>
                                        </p:tgtEl>
                                      </p:cBhvr>
                                      <p:to x="100000" y="60000"/>
                                    </p:animScale>
                                    <p:animScale>
                                      <p:cBhvr>
                                        <p:cTn id="40" dur="166" decel="50000">
                                          <p:stCondLst>
                                            <p:cond delay="676"/>
                                          </p:stCondLst>
                                        </p:cTn>
                                        <p:tgtEl>
                                          <p:spTgt spid="10"/>
                                        </p:tgtEl>
                                      </p:cBhvr>
                                      <p:to x="100000" y="100000"/>
                                    </p:animScale>
                                    <p:animScale>
                                      <p:cBhvr>
                                        <p:cTn id="41" dur="26">
                                          <p:stCondLst>
                                            <p:cond delay="1312"/>
                                          </p:stCondLst>
                                        </p:cTn>
                                        <p:tgtEl>
                                          <p:spTgt spid="10"/>
                                        </p:tgtEl>
                                      </p:cBhvr>
                                      <p:to x="100000" y="80000"/>
                                    </p:animScale>
                                    <p:animScale>
                                      <p:cBhvr>
                                        <p:cTn id="42" dur="166" decel="50000">
                                          <p:stCondLst>
                                            <p:cond delay="1338"/>
                                          </p:stCondLst>
                                        </p:cTn>
                                        <p:tgtEl>
                                          <p:spTgt spid="10"/>
                                        </p:tgtEl>
                                      </p:cBhvr>
                                      <p:to x="100000" y="100000"/>
                                    </p:animScale>
                                    <p:animScale>
                                      <p:cBhvr>
                                        <p:cTn id="43" dur="26">
                                          <p:stCondLst>
                                            <p:cond delay="1642"/>
                                          </p:stCondLst>
                                        </p:cTn>
                                        <p:tgtEl>
                                          <p:spTgt spid="10"/>
                                        </p:tgtEl>
                                      </p:cBhvr>
                                      <p:to x="100000" y="90000"/>
                                    </p:animScale>
                                    <p:animScale>
                                      <p:cBhvr>
                                        <p:cTn id="44" dur="166" decel="50000">
                                          <p:stCondLst>
                                            <p:cond delay="1668"/>
                                          </p:stCondLst>
                                        </p:cTn>
                                        <p:tgtEl>
                                          <p:spTgt spid="10"/>
                                        </p:tgtEl>
                                      </p:cBhvr>
                                      <p:to x="100000" y="100000"/>
                                    </p:animScale>
                                    <p:animScale>
                                      <p:cBhvr>
                                        <p:cTn id="45" dur="26">
                                          <p:stCondLst>
                                            <p:cond delay="1808"/>
                                          </p:stCondLst>
                                        </p:cTn>
                                        <p:tgtEl>
                                          <p:spTgt spid="10"/>
                                        </p:tgtEl>
                                      </p:cBhvr>
                                      <p:to x="100000" y="95000"/>
                                    </p:animScale>
                                    <p:animScale>
                                      <p:cBhvr>
                                        <p:cTn id="46"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10"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课堂案例一</a:t>
            </a:r>
            <a:endParaRPr lang="zh-CN" altLang="en-US" dirty="0">
              <a:sym typeface="+mn-ea"/>
            </a:endParaRPr>
          </a:p>
        </p:txBody>
      </p:sp>
      <p:sp>
        <p:nvSpPr>
          <p:cNvPr id="11" name="AutoShape 8"/>
          <p:cNvSpPr>
            <a:spLocks noChangeArrowheads="1"/>
          </p:cNvSpPr>
          <p:nvPr/>
        </p:nvSpPr>
        <p:spPr bwMode="auto">
          <a:xfrm>
            <a:off x="448310" y="780039"/>
            <a:ext cx="7933055" cy="748406"/>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r>
              <a:rPr lang="zh-CN" altLang="en-US" dirty="0">
                <a:solidFill>
                  <a:srgbClr val="F9F9F9"/>
                </a:solidFill>
                <a:latin typeface="+mn-ea"/>
                <a:ea typeface="+mn-ea"/>
              </a:rPr>
              <a:t>：</a:t>
            </a:r>
            <a:endParaRPr lang="zh-CN" altLang="en-US" dirty="0">
              <a:solidFill>
                <a:srgbClr val="F9F9F9"/>
              </a:solidFill>
              <a:latin typeface="+mn-ea"/>
              <a:ea typeface="+mn-ea"/>
            </a:endParaRPr>
          </a:p>
          <a:p>
            <a:pPr algn="l"/>
            <a:r>
              <a:rPr lang="zh-CN" altLang="en-US" dirty="0">
                <a:solidFill>
                  <a:srgbClr val="F9F9F9"/>
                </a:solidFill>
                <a:latin typeface="+mn-ea"/>
                <a:ea typeface="+mn-ea"/>
              </a:rPr>
              <a:t>判断一个三位数是否是水仙花数</a:t>
            </a:r>
            <a:endParaRPr lang="zh-CN" altLang="en-US" dirty="0">
              <a:solidFill>
                <a:srgbClr val="F9F9F9"/>
              </a:solidFill>
              <a:latin typeface="+mn-ea"/>
              <a:ea typeface="+mn-ea"/>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课堂案例</a:t>
            </a:r>
            <a:endParaRPr lang="zh-CN" altLang="en-US" dirty="0">
              <a:sym typeface="+mn-ea"/>
            </a:endParaRPr>
          </a:p>
        </p:txBody>
      </p:sp>
      <p:sp>
        <p:nvSpPr>
          <p:cNvPr id="11" name="AutoShape 8"/>
          <p:cNvSpPr>
            <a:spLocks noChangeArrowheads="1"/>
          </p:cNvSpPr>
          <p:nvPr/>
        </p:nvSpPr>
        <p:spPr bwMode="auto">
          <a:xfrm>
            <a:off x="448310" y="780039"/>
            <a:ext cx="7933055" cy="748406"/>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r>
              <a:rPr lang="zh-CN" altLang="en-US" dirty="0">
                <a:solidFill>
                  <a:srgbClr val="F9F9F9"/>
                </a:solidFill>
                <a:latin typeface="+mn-ea"/>
                <a:ea typeface="+mn-ea"/>
              </a:rPr>
              <a:t>：</a:t>
            </a:r>
            <a:endParaRPr lang="zh-CN" altLang="en-US" dirty="0">
              <a:solidFill>
                <a:srgbClr val="F9F9F9"/>
              </a:solidFill>
              <a:latin typeface="+mn-ea"/>
              <a:ea typeface="+mn-ea"/>
            </a:endParaRPr>
          </a:p>
          <a:p>
            <a:pPr algn="l"/>
            <a:r>
              <a:rPr lang="zh-CN" altLang="en-US" dirty="0">
                <a:solidFill>
                  <a:srgbClr val="F9F9F9"/>
                </a:solidFill>
                <a:latin typeface="+mn-ea"/>
                <a:ea typeface="+mn-ea"/>
              </a:rPr>
              <a:t>判断一个三位数是否是水仙花数</a:t>
            </a:r>
            <a:endParaRPr lang="zh-CN" altLang="en-US" dirty="0">
              <a:solidFill>
                <a:srgbClr val="F9F9F9"/>
              </a:solidFill>
              <a:latin typeface="+mn-ea"/>
              <a:ea typeface="+mn-ea"/>
            </a:endParaRPr>
          </a:p>
        </p:txBody>
      </p:sp>
      <p:sp>
        <p:nvSpPr>
          <p:cNvPr id="3" name="AutoShape 8"/>
          <p:cNvSpPr>
            <a:spLocks noChangeArrowheads="1"/>
          </p:cNvSpPr>
          <p:nvPr/>
        </p:nvSpPr>
        <p:spPr bwMode="auto">
          <a:xfrm>
            <a:off x="448310" y="2018501"/>
            <a:ext cx="7933055" cy="132858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endParaRPr lang="zh-CN" altLang="en-US" dirty="0">
              <a:solidFill>
                <a:srgbClr val="F9F9F9"/>
              </a:solidFill>
              <a:latin typeface="+mn-ea"/>
              <a:ea typeface="+mn-ea"/>
            </a:endParaRPr>
          </a:p>
          <a:p>
            <a:pPr algn="l"/>
            <a:r>
              <a:rPr lang="zh-CN" altLang="en-US" dirty="0">
                <a:solidFill>
                  <a:srgbClr val="F9F9F9"/>
                </a:solidFill>
                <a:latin typeface="+mn-ea"/>
                <a:ea typeface="+mn-ea"/>
              </a:rPr>
              <a:t>接收一个正整数</a:t>
            </a:r>
            <a:r>
              <a:rPr lang="en-US" altLang="zh-CN" dirty="0">
                <a:solidFill>
                  <a:srgbClr val="F9F9F9"/>
                </a:solidFill>
                <a:latin typeface="+mn-ea"/>
                <a:ea typeface="+mn-ea"/>
              </a:rPr>
              <a:t>n</a:t>
            </a:r>
            <a:r>
              <a:rPr lang="zh-CN" altLang="en-US" dirty="0">
                <a:solidFill>
                  <a:srgbClr val="F9F9F9"/>
                </a:solidFill>
                <a:latin typeface="+mn-ea"/>
                <a:ea typeface="+mn-ea"/>
              </a:rPr>
              <a:t>，</a:t>
            </a:r>
            <a:r>
              <a:rPr lang="zh-CN" altLang="en-US" dirty="0">
                <a:solidFill>
                  <a:srgbClr val="F9F9F9"/>
                </a:solidFill>
                <a:latin typeface="+mn-ea"/>
                <a:ea typeface="+mn-ea"/>
              </a:rPr>
              <a:t>可以</a:t>
            </a:r>
            <a:r>
              <a:rPr lang="zh-CN" altLang="en-US" dirty="0">
                <a:solidFill>
                  <a:srgbClr val="F9F9F9"/>
                </a:solidFill>
                <a:latin typeface="+mn-ea"/>
                <a:ea typeface="+mn-ea"/>
              </a:rPr>
              <a:t>生成一个含有</a:t>
            </a:r>
            <a:r>
              <a:rPr lang="en-US" altLang="zh-CN" dirty="0">
                <a:solidFill>
                  <a:srgbClr val="F9F9F9"/>
                </a:solidFill>
                <a:latin typeface="+mn-ea"/>
                <a:ea typeface="+mn-ea"/>
              </a:rPr>
              <a:t>n</a:t>
            </a:r>
            <a:r>
              <a:rPr lang="zh-CN" altLang="en-US" dirty="0">
                <a:solidFill>
                  <a:srgbClr val="F9F9F9"/>
                </a:solidFill>
                <a:latin typeface="+mn-ea"/>
                <a:ea typeface="+mn-ea"/>
              </a:rPr>
              <a:t>个随机数的列表，要求所有元素不相同，并且每个元素的值介于1到100之间。</a:t>
            </a:r>
            <a:endParaRPr lang="zh-CN" altLang="en-US" dirty="0">
              <a:solidFill>
                <a:srgbClr val="F9F9F9"/>
              </a:solidFill>
              <a:latin typeface="+mn-ea"/>
              <a:ea typeface="+mn-ea"/>
            </a:endParaRPr>
          </a:p>
          <a:p>
            <a:pPr algn="l"/>
            <a:endParaRPr lang="zh-CN" altLang="en-US" dirty="0">
              <a:solidFill>
                <a:srgbClr val="F9F9F9"/>
              </a:solidFill>
              <a:latin typeface="+mn-ea"/>
              <a:ea typeface="+mn-ea"/>
            </a:endParaRPr>
          </a:p>
        </p:txBody>
      </p:sp>
      <p:sp>
        <p:nvSpPr>
          <p:cNvPr id="4" name="圆角矩形标注 3"/>
          <p:cNvSpPr/>
          <p:nvPr/>
        </p:nvSpPr>
        <p:spPr>
          <a:xfrm>
            <a:off x="1979930" y="3867785"/>
            <a:ext cx="4156710" cy="489585"/>
          </a:xfrm>
          <a:prstGeom prst="wedgeRoundRectCallout">
            <a:avLst>
              <a:gd name="adj1" fmla="val -20974"/>
              <a:gd name="adj2" fmla="val -121335"/>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输出格式不一样，该如何实现</a:t>
            </a: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1" grpId="1" animBg="1"/>
      <p:bldP spid="3" grpId="0" animBg="1"/>
      <p:bldP spid="3" grpId="1" animBg="1"/>
      <p:bldP spid="4" grpId="0" animBg="1"/>
      <p:bldP spid="4"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第三</a:t>
            </a:r>
            <a:r>
              <a:rPr lang="zh-CN" altLang="en-US" dirty="0"/>
              <a:t>课时</a:t>
            </a:r>
            <a:endParaRPr lang="zh-CN" altLang="en-US" dirty="0"/>
          </a:p>
        </p:txBody>
      </p:sp>
      <p:sp>
        <p:nvSpPr>
          <p:cNvPr id="7" name="副标题 6"/>
          <p:cNvSpPr>
            <a:spLocks noGrp="1"/>
          </p:cNvSpPr>
          <p:nvPr>
            <p:ph type="subTitle" idx="1"/>
          </p:nvPr>
        </p:nvSpPr>
        <p:spPr/>
        <p:txBody>
          <a:bodyPr/>
          <a:lstStyle/>
          <a:p>
            <a:r>
              <a:rPr lang="zh-CN" altLang="en-US" dirty="0">
                <a:sym typeface="+mn-ea"/>
              </a:rPr>
              <a:t>无参有</a:t>
            </a:r>
            <a:r>
              <a:rPr lang="zh-CN" altLang="en-US" dirty="0">
                <a:sym typeface="+mn-ea"/>
              </a:rPr>
              <a:t>返回值</a:t>
            </a:r>
            <a:r>
              <a:rPr lang="zh-CN" altLang="en-US" dirty="0">
                <a:sym typeface="+mn-ea"/>
              </a:rPr>
              <a:t>函数</a:t>
            </a:r>
            <a:endParaRPr lang="zh-CN" altLang="en-US" b="1" dirty="0"/>
          </a:p>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2000" advTm="964"/>
    </mc:Choice>
    <mc:Fallback>
      <p:transition spd="slow" advTm="964"/>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课堂案例</a:t>
            </a:r>
            <a:endParaRPr lang="zh-CN" altLang="en-US" dirty="0">
              <a:sym typeface="+mn-ea"/>
            </a:endParaRPr>
          </a:p>
        </p:txBody>
      </p:sp>
      <p:sp>
        <p:nvSpPr>
          <p:cNvPr id="11" name="AutoShape 8"/>
          <p:cNvSpPr>
            <a:spLocks noChangeArrowheads="1"/>
          </p:cNvSpPr>
          <p:nvPr/>
        </p:nvSpPr>
        <p:spPr bwMode="auto">
          <a:xfrm>
            <a:off x="448310" y="780039"/>
            <a:ext cx="7933055" cy="748406"/>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r>
              <a:rPr lang="zh-CN" altLang="en-US" dirty="0">
                <a:solidFill>
                  <a:srgbClr val="F9F9F9"/>
                </a:solidFill>
                <a:latin typeface="+mn-ea"/>
                <a:ea typeface="+mn-ea"/>
              </a:rPr>
              <a:t>：</a:t>
            </a:r>
            <a:endParaRPr lang="zh-CN" altLang="en-US" dirty="0">
              <a:solidFill>
                <a:srgbClr val="F9F9F9"/>
              </a:solidFill>
              <a:latin typeface="+mn-ea"/>
              <a:ea typeface="+mn-ea"/>
            </a:endParaRPr>
          </a:p>
          <a:p>
            <a:pPr algn="l"/>
            <a:r>
              <a:rPr lang="zh-CN" altLang="en-US" dirty="0">
                <a:solidFill>
                  <a:srgbClr val="F9F9F9"/>
                </a:solidFill>
                <a:latin typeface="+mn-ea"/>
                <a:ea typeface="+mn-ea"/>
              </a:rPr>
              <a:t>判断一个三位数是否是水仙花数</a:t>
            </a:r>
            <a:endParaRPr lang="zh-CN" altLang="en-US" dirty="0">
              <a:solidFill>
                <a:srgbClr val="F9F9F9"/>
              </a:solidFill>
              <a:latin typeface="+mn-ea"/>
              <a:ea typeface="+mn-ea"/>
            </a:endParaRPr>
          </a:p>
        </p:txBody>
      </p:sp>
      <p:sp>
        <p:nvSpPr>
          <p:cNvPr id="3" name="AutoShape 8"/>
          <p:cNvSpPr>
            <a:spLocks noChangeArrowheads="1"/>
          </p:cNvSpPr>
          <p:nvPr/>
        </p:nvSpPr>
        <p:spPr bwMode="auto">
          <a:xfrm>
            <a:off x="448310" y="1907376"/>
            <a:ext cx="7933055" cy="132858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endParaRPr lang="zh-CN" altLang="en-US" dirty="0">
              <a:solidFill>
                <a:srgbClr val="F9F9F9"/>
              </a:solidFill>
              <a:latin typeface="+mn-ea"/>
              <a:ea typeface="+mn-ea"/>
            </a:endParaRPr>
          </a:p>
          <a:p>
            <a:pPr algn="l"/>
            <a:r>
              <a:rPr lang="zh-CN" altLang="en-US" dirty="0">
                <a:solidFill>
                  <a:srgbClr val="F9F9F9"/>
                </a:solidFill>
                <a:latin typeface="+mn-ea"/>
                <a:ea typeface="+mn-ea"/>
              </a:rPr>
              <a:t>接收一个正整数</a:t>
            </a:r>
            <a:r>
              <a:rPr lang="en-US" altLang="zh-CN" dirty="0">
                <a:solidFill>
                  <a:srgbClr val="F9F9F9"/>
                </a:solidFill>
                <a:latin typeface="+mn-ea"/>
                <a:ea typeface="+mn-ea"/>
              </a:rPr>
              <a:t>n</a:t>
            </a:r>
            <a:r>
              <a:rPr lang="zh-CN" altLang="en-US" dirty="0">
                <a:solidFill>
                  <a:srgbClr val="F9F9F9"/>
                </a:solidFill>
                <a:latin typeface="+mn-ea"/>
                <a:ea typeface="+mn-ea"/>
              </a:rPr>
              <a:t>，</a:t>
            </a:r>
            <a:r>
              <a:rPr lang="zh-CN" altLang="en-US" dirty="0">
                <a:solidFill>
                  <a:srgbClr val="F9F9F9"/>
                </a:solidFill>
                <a:latin typeface="+mn-ea"/>
                <a:ea typeface="+mn-ea"/>
              </a:rPr>
              <a:t>可以</a:t>
            </a:r>
            <a:r>
              <a:rPr lang="zh-CN" altLang="en-US" dirty="0">
                <a:solidFill>
                  <a:srgbClr val="F9F9F9"/>
                </a:solidFill>
                <a:latin typeface="+mn-ea"/>
                <a:ea typeface="+mn-ea"/>
              </a:rPr>
              <a:t>生成一个含有</a:t>
            </a:r>
            <a:r>
              <a:rPr lang="en-US" altLang="zh-CN" dirty="0">
                <a:solidFill>
                  <a:srgbClr val="F9F9F9"/>
                </a:solidFill>
                <a:latin typeface="+mn-ea"/>
                <a:ea typeface="+mn-ea"/>
              </a:rPr>
              <a:t>n</a:t>
            </a:r>
            <a:r>
              <a:rPr lang="zh-CN" altLang="en-US" dirty="0">
                <a:solidFill>
                  <a:srgbClr val="F9F9F9"/>
                </a:solidFill>
                <a:latin typeface="+mn-ea"/>
                <a:ea typeface="+mn-ea"/>
              </a:rPr>
              <a:t>个随机数的列表，要求所有元素不相同，并且每个元素的值介于1到100之间。</a:t>
            </a:r>
            <a:endParaRPr lang="zh-CN" altLang="en-US" dirty="0">
              <a:solidFill>
                <a:srgbClr val="F9F9F9"/>
              </a:solidFill>
              <a:latin typeface="+mn-ea"/>
              <a:ea typeface="+mn-ea"/>
            </a:endParaRPr>
          </a:p>
          <a:p>
            <a:pPr algn="l"/>
            <a:endParaRPr lang="zh-CN" altLang="en-US" dirty="0">
              <a:solidFill>
                <a:srgbClr val="F9F9F9"/>
              </a:solidFill>
              <a:latin typeface="+mn-ea"/>
              <a:ea typeface="+mn-ea"/>
            </a:endParaRPr>
          </a:p>
        </p:txBody>
      </p:sp>
      <p:sp>
        <p:nvSpPr>
          <p:cNvPr id="4" name="圆角矩形标注 3"/>
          <p:cNvSpPr/>
          <p:nvPr/>
        </p:nvSpPr>
        <p:spPr>
          <a:xfrm>
            <a:off x="1073150" y="3840480"/>
            <a:ext cx="4156710" cy="489585"/>
          </a:xfrm>
          <a:prstGeom prst="wedgeRoundRectCallout">
            <a:avLst>
              <a:gd name="adj1" fmla="val -20974"/>
              <a:gd name="adj2" fmla="val -121335"/>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输出格式不一样，该如何实现</a:t>
            </a: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animBg="1"/>
      <p:bldP spid="3" grpId="1" animBg="1"/>
      <p:bldP spid="4" grpId="0" bldLvl="0" animBg="1"/>
      <p:bldP spid="4" grpId="1"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函数四种基本</a:t>
            </a:r>
            <a:r>
              <a:rPr lang="zh-CN" altLang="en-US" dirty="0"/>
              <a:t>表现形式</a:t>
            </a:r>
            <a:endParaRPr lang="zh-CN" altLang="en-US" dirty="0"/>
          </a:p>
        </p:txBody>
      </p:sp>
      <p:sp>
        <p:nvSpPr>
          <p:cNvPr id="7" name="Rectangle 3"/>
          <p:cNvSpPr txBox="1">
            <a:spLocks noChangeArrowheads="1"/>
          </p:cNvSpPr>
          <p:nvPr/>
        </p:nvSpPr>
        <p:spPr bwMode="auto">
          <a:xfrm>
            <a:off x="184785" y="833755"/>
            <a:ext cx="24384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函数四种基本</a:t>
            </a: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表现形式</a:t>
            </a:r>
            <a:endParaRPr lang="zh-CN" altLang="en-US" sz="1600" dirty="0"/>
          </a:p>
          <a:p>
            <a:pPr eaLnBrk="0" hangingPunct="0"/>
            <a:endParaRPr lang="zh-CN" altLang="en-US" sz="1600" dirty="0"/>
          </a:p>
          <a:p>
            <a:pPr eaLnBrk="0" hangingPunct="0"/>
            <a:endParaRPr lang="zh-CN" altLang="en-US" sz="1600" dirty="0"/>
          </a:p>
        </p:txBody>
      </p:sp>
      <p:sp>
        <p:nvSpPr>
          <p:cNvPr id="18" name="AutoShape 15"/>
          <p:cNvSpPr>
            <a:spLocks noChangeArrowheads="1"/>
          </p:cNvSpPr>
          <p:nvPr/>
        </p:nvSpPr>
        <p:spPr bwMode="auto">
          <a:xfrm>
            <a:off x="525145" y="1810385"/>
            <a:ext cx="3434715" cy="655410"/>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AutoShape 15"/>
          <p:cNvSpPr>
            <a:spLocks noChangeArrowheads="1"/>
          </p:cNvSpPr>
          <p:nvPr/>
        </p:nvSpPr>
        <p:spPr bwMode="auto">
          <a:xfrm>
            <a:off x="394335" y="3728085"/>
            <a:ext cx="3435350" cy="655410"/>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2  ...):</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AutoShape 15"/>
          <p:cNvSpPr>
            <a:spLocks noChangeArrowheads="1"/>
          </p:cNvSpPr>
          <p:nvPr/>
        </p:nvSpPr>
        <p:spPr bwMode="auto">
          <a:xfrm>
            <a:off x="4883785" y="1810385"/>
            <a:ext cx="3434715" cy="937032"/>
          </a:xfrm>
          <a:prstGeom prst="roundRect">
            <a:avLst>
              <a:gd name="adj" fmla="val 1347"/>
            </a:avLst>
          </a:prstGeom>
          <a:solidFill>
            <a:srgbClr val="EDF5FD"/>
          </a:solidFill>
          <a:ln w="28575">
            <a:solidFill>
              <a:srgbClr val="FF0000"/>
            </a:solid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return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返回值</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AutoShape 15"/>
          <p:cNvSpPr>
            <a:spLocks noChangeArrowheads="1"/>
          </p:cNvSpPr>
          <p:nvPr/>
        </p:nvSpPr>
        <p:spPr bwMode="auto">
          <a:xfrm>
            <a:off x="4799965" y="3728085"/>
            <a:ext cx="3435350" cy="937032"/>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2  ...):</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return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返回值</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AutoShape 8"/>
          <p:cNvSpPr>
            <a:spLocks noChangeArrowheads="1"/>
          </p:cNvSpPr>
          <p:nvPr/>
        </p:nvSpPr>
        <p:spPr bwMode="auto">
          <a:xfrm>
            <a:off x="679450" y="1272066"/>
            <a:ext cx="2573655" cy="40814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无参无返回值函数</a:t>
            </a:r>
            <a:endParaRPr lang="zh-CN" altLang="en-US" dirty="0">
              <a:solidFill>
                <a:srgbClr val="F9F9F9"/>
              </a:solidFill>
              <a:latin typeface="+mn-ea"/>
              <a:ea typeface="+mn-ea"/>
            </a:endParaRPr>
          </a:p>
        </p:txBody>
      </p:sp>
      <p:sp>
        <p:nvSpPr>
          <p:cNvPr id="11" name="AutoShape 8"/>
          <p:cNvSpPr>
            <a:spLocks noChangeArrowheads="1"/>
          </p:cNvSpPr>
          <p:nvPr/>
        </p:nvSpPr>
        <p:spPr bwMode="auto">
          <a:xfrm>
            <a:off x="525145" y="3144681"/>
            <a:ext cx="2573655" cy="408144"/>
          </a:xfrm>
          <a:prstGeom prst="wedgeRoundRectCallout">
            <a:avLst>
              <a:gd name="adj1" fmla="val -32968"/>
              <a:gd name="adj2" fmla="val 50833"/>
              <a:gd name="adj3" fmla="val 16667"/>
            </a:avLst>
          </a:prstGeom>
          <a:solidFill>
            <a:srgbClr val="0070C0"/>
          </a:solidFill>
          <a:ln w="9525">
            <a:no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有</a:t>
            </a:r>
            <a:r>
              <a:rPr lang="zh-CN" altLang="en-US" dirty="0">
                <a:solidFill>
                  <a:srgbClr val="F9F9F9"/>
                </a:solidFill>
                <a:latin typeface="+mn-ea"/>
                <a:ea typeface="+mn-ea"/>
              </a:rPr>
              <a:t>参无返回值函数</a:t>
            </a:r>
            <a:endParaRPr lang="zh-CN" altLang="en-US" dirty="0">
              <a:solidFill>
                <a:srgbClr val="F9F9F9"/>
              </a:solidFill>
              <a:latin typeface="+mn-ea"/>
              <a:ea typeface="+mn-ea"/>
            </a:endParaRPr>
          </a:p>
        </p:txBody>
      </p:sp>
      <p:sp>
        <p:nvSpPr>
          <p:cNvPr id="12" name="AutoShape 8"/>
          <p:cNvSpPr>
            <a:spLocks noChangeArrowheads="1"/>
          </p:cNvSpPr>
          <p:nvPr/>
        </p:nvSpPr>
        <p:spPr bwMode="auto">
          <a:xfrm>
            <a:off x="5045710" y="1272066"/>
            <a:ext cx="2573655" cy="408144"/>
          </a:xfrm>
          <a:prstGeom prst="wedgeRoundRectCallout">
            <a:avLst>
              <a:gd name="adj1" fmla="val -32968"/>
              <a:gd name="adj2" fmla="val 50833"/>
              <a:gd name="adj3" fmla="val 16667"/>
            </a:avLst>
          </a:prstGeom>
          <a:solidFill>
            <a:srgbClr val="0070C0"/>
          </a:solidFill>
          <a:ln w="9525">
            <a:solidFill>
              <a:srgbClr val="FF0000"/>
            </a:solid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无参有</a:t>
            </a:r>
            <a:r>
              <a:rPr lang="zh-CN" altLang="en-US" dirty="0">
                <a:solidFill>
                  <a:srgbClr val="F9F9F9"/>
                </a:solidFill>
                <a:latin typeface="+mn-ea"/>
                <a:ea typeface="+mn-ea"/>
              </a:rPr>
              <a:t>返回值函数</a:t>
            </a:r>
            <a:endParaRPr lang="zh-CN" altLang="en-US" dirty="0">
              <a:solidFill>
                <a:srgbClr val="F9F9F9"/>
              </a:solidFill>
              <a:latin typeface="+mn-ea"/>
              <a:ea typeface="+mn-ea"/>
            </a:endParaRPr>
          </a:p>
        </p:txBody>
      </p:sp>
      <p:sp>
        <p:nvSpPr>
          <p:cNvPr id="13" name="AutoShape 8"/>
          <p:cNvSpPr>
            <a:spLocks noChangeArrowheads="1"/>
          </p:cNvSpPr>
          <p:nvPr/>
        </p:nvSpPr>
        <p:spPr bwMode="auto">
          <a:xfrm>
            <a:off x="5231130" y="3144681"/>
            <a:ext cx="2573655" cy="40814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有</a:t>
            </a:r>
            <a:r>
              <a:rPr lang="zh-CN" altLang="en-US" dirty="0">
                <a:solidFill>
                  <a:srgbClr val="F9F9F9"/>
                </a:solidFill>
                <a:latin typeface="+mn-ea"/>
                <a:ea typeface="+mn-ea"/>
              </a:rPr>
              <a:t>参有</a:t>
            </a:r>
            <a:r>
              <a:rPr lang="zh-CN" altLang="en-US" dirty="0">
                <a:solidFill>
                  <a:srgbClr val="F9F9F9"/>
                </a:solidFill>
                <a:latin typeface="+mn-ea"/>
                <a:ea typeface="+mn-ea"/>
              </a:rPr>
              <a:t>返回值函数</a:t>
            </a:r>
            <a:endParaRPr lang="zh-CN" altLang="en-US" dirty="0">
              <a:solidFill>
                <a:srgbClr val="F9F9F9"/>
              </a:solidFill>
              <a:latin typeface="+mn-ea"/>
              <a:ea typeface="+mn-ea"/>
            </a:endParaRPr>
          </a:p>
        </p:txBody>
      </p:sp>
    </p:spTree>
  </p:cSld>
  <p:clrMapOvr>
    <a:masterClrMapping/>
  </p:clrMapOvr>
  <p:transition spd="slow">
    <p:push/>
  </p:transition>
  <p:timing>
    <p:tnLst>
      <p:par>
        <p:cTn id="1" dur="indefinite" restart="never" nodeType="tmRoot"/>
      </p:par>
    </p:tnLst>
    <p:bldLst>
      <p:bldP spid="18" grpId="1" animBg="1"/>
      <p:bldP spid="17" grpId="1" animBg="1"/>
      <p:bldP spid="6" grpId="1" animBg="1"/>
      <p:bldP spid="11" grpId="1" animBg="1"/>
      <p:bldP spid="8" grpId="1" animBg="1"/>
      <p:bldP spid="12" grpId="1" animBg="1"/>
      <p:bldP spid="9" grpId="1" animBg="1"/>
      <p:bldP spid="13" grpId="1"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如何使用函数</a:t>
            </a:r>
            <a:endParaRPr lang="zh-CN" altLang="en-US" dirty="0"/>
          </a:p>
        </p:txBody>
      </p:sp>
      <p:sp>
        <p:nvSpPr>
          <p:cNvPr id="7" name="Rectangle 3"/>
          <p:cNvSpPr txBox="1">
            <a:spLocks noChangeArrowheads="1"/>
          </p:cNvSpPr>
          <p:nvPr/>
        </p:nvSpPr>
        <p:spPr bwMode="auto">
          <a:xfrm>
            <a:off x="218247" y="1282725"/>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语法格式</a:t>
            </a:r>
            <a:endParaRPr lang="zh-CN" altLang="en-US" sz="1600" dirty="0"/>
          </a:p>
          <a:p>
            <a:pPr eaLnBrk="0" hangingPunct="0"/>
            <a:endParaRPr lang="zh-CN" altLang="en-US" sz="1600" dirty="0"/>
          </a:p>
          <a:p>
            <a:pPr eaLnBrk="0" hangingPunct="0"/>
            <a:endParaRPr lang="zh-CN" altLang="en-US" sz="1600" dirty="0"/>
          </a:p>
        </p:txBody>
      </p:sp>
      <p:sp>
        <p:nvSpPr>
          <p:cNvPr id="18" name="AutoShape 15"/>
          <p:cNvSpPr>
            <a:spLocks noChangeArrowheads="1"/>
          </p:cNvSpPr>
          <p:nvPr/>
        </p:nvSpPr>
        <p:spPr bwMode="auto">
          <a:xfrm>
            <a:off x="1155065" y="1574165"/>
            <a:ext cx="4650105" cy="1301862"/>
          </a:xfrm>
          <a:prstGeom prst="roundRect">
            <a:avLst>
              <a:gd name="adj" fmla="val 1347"/>
            </a:avLst>
          </a:prstGeom>
          <a:noFill/>
          <a:ln w="28575">
            <a:noFill/>
            <a:bevel/>
          </a:ln>
          <a:effectLst>
            <a:outerShdw sx="100999" sy="100999" algn="ctr" rotWithShape="0">
              <a:srgbClr val="000000">
                <a:alpha val="6999"/>
              </a:srgbClr>
            </a:outerShdw>
          </a:effectLst>
          <a:extLst>
            <a:ext uri="{909E8E84-426E-40DD-AFC4-6F175D3DCCD1}">
              <a14:hiddenFill xmlns:a14="http://schemas.microsoft.com/office/drawing/2010/main">
                <a:solidFill>
                  <a:srgbClr val="EDF5FD"/>
                </a:solidFill>
              </a14:hiddenFill>
            </a:ext>
          </a:extLst>
        </p:spPr>
        <p:txBody>
          <a:bodyPr wrap="square">
            <a:spAutoFit/>
          </a:bodyPr>
          <a:lstStyle/>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函数关键字  函数名( ) :</a:t>
            </a:r>
            <a:endParaRPr lang="en-US" sz="2000" b="1"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dirty="0">
                <a:solidFill>
                  <a:srgbClr val="09131F"/>
                </a:solidFill>
                <a:latin typeface="+mn-ea"/>
                <a:ea typeface="+mn-ea"/>
                <a:cs typeface="+mn-ea"/>
              </a:rPr>
              <a:t>        ''''</a:t>
            </a:r>
            <a:r>
              <a:rPr lang="zh-CN" altLang="en-US" sz="2000" dirty="0">
                <a:solidFill>
                  <a:srgbClr val="09131F"/>
                </a:solidFill>
                <a:latin typeface="+mn-ea"/>
                <a:ea typeface="+mn-ea"/>
                <a:cs typeface="+mn-ea"/>
              </a:rPr>
              <a:t>注释</a:t>
            </a:r>
            <a:r>
              <a:rPr lang="en-US" sz="2000" dirty="0">
                <a:solidFill>
                  <a:srgbClr val="09131F"/>
                </a:solidFill>
                <a:latin typeface="+mn-ea"/>
                <a:ea typeface="+mn-ea"/>
                <a:cs typeface="+mn-ea"/>
              </a:rPr>
              <a:t>'''</a:t>
            </a:r>
            <a:endParaRPr lang="en-US" sz="2000"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函数体    </a:t>
            </a:r>
            <a:r>
              <a:rPr lang="en-US" altLang="zh-CN"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函数实现的具体功能</a:t>
            </a:r>
            <a:endParaRPr lang="zh-CN" altLang="en-US" sz="2000" b="1" dirty="0">
              <a:solidFill>
                <a:srgbClr val="09131F"/>
              </a:solidFill>
              <a:latin typeface="+mn-ea"/>
              <a:ea typeface="+mn-ea"/>
              <a:cs typeface="+mn-ea"/>
            </a:endParaRPr>
          </a:p>
        </p:txBody>
      </p:sp>
      <p:sp>
        <p:nvSpPr>
          <p:cNvPr id="9" name="AutoShape 15"/>
          <p:cNvSpPr>
            <a:spLocks noChangeArrowheads="1"/>
          </p:cNvSpPr>
          <p:nvPr/>
        </p:nvSpPr>
        <p:spPr bwMode="auto">
          <a:xfrm>
            <a:off x="1155065" y="3465830"/>
            <a:ext cx="5748655" cy="1332584"/>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r>
              <a:rPr lang="en-US" altLang="zh-CN" sz="2000" dirty="0"/>
              <a:t> def        say ():</a:t>
            </a:r>
            <a:endParaRPr lang="en-US" altLang="zh-CN" sz="2000" dirty="0"/>
          </a:p>
          <a:p>
            <a:pPr algn="l"/>
            <a:endParaRPr lang="en-US" altLang="zh-CN" sz="2000" dirty="0"/>
          </a:p>
          <a:p>
            <a:pPr algn="l"/>
            <a:r>
              <a:rPr lang="en-US" altLang="zh-CN" sz="2000" dirty="0"/>
              <a:t>	</a:t>
            </a:r>
            <a:r>
              <a:rPr lang="en-US" altLang="zh-CN" sz="2000" dirty="0" err="1"/>
              <a:t>print</a:t>
            </a:r>
            <a:r>
              <a:rPr lang="en-US" altLang="zh-CN" sz="2000" dirty="0"/>
              <a:t>("</a:t>
            </a:r>
            <a:r>
              <a:rPr lang="zh-CN" altLang="en-US" sz="2000" dirty="0"/>
              <a:t>知识简简单单，学习快快乐乐</a:t>
            </a:r>
            <a:r>
              <a:rPr lang="en-US" altLang="zh-CN" sz="2000" dirty="0"/>
              <a:t>");</a:t>
            </a:r>
            <a:endParaRPr lang="en-US" altLang="zh-CN" sz="2000" dirty="0"/>
          </a:p>
          <a:p>
            <a:pPr algn="l"/>
            <a:endParaRPr lang="en-US" sz="2000" dirty="0">
              <a:solidFill>
                <a:srgbClr val="09131F"/>
              </a:solidFill>
            </a:endParaRPr>
          </a:p>
        </p:txBody>
      </p:sp>
      <p:sp>
        <p:nvSpPr>
          <p:cNvPr id="10" name="Rectangle 3"/>
          <p:cNvSpPr txBox="1">
            <a:spLocks noChangeArrowheads="1"/>
          </p:cNvSpPr>
          <p:nvPr/>
        </p:nvSpPr>
        <p:spPr bwMode="auto">
          <a:xfrm>
            <a:off x="290002" y="2932807"/>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代码举例</a:t>
            </a:r>
            <a:endParaRPr lang="zh-CN" altLang="en-US" sz="1600" dirty="0"/>
          </a:p>
          <a:p>
            <a:pPr eaLnBrk="0" hangingPunct="0"/>
            <a:endParaRPr lang="zh-CN" altLang="en-US" sz="1600" dirty="0"/>
          </a:p>
          <a:p>
            <a:pPr eaLnBrk="0" hangingPunct="0"/>
            <a:endParaRPr lang="zh-CN" altLang="en-US" sz="1600" dirty="0"/>
          </a:p>
        </p:txBody>
      </p:sp>
      <p:sp>
        <p:nvSpPr>
          <p:cNvPr id="11" name="圆角矩形 10"/>
          <p:cNvSpPr/>
          <p:nvPr/>
        </p:nvSpPr>
        <p:spPr bwMode="auto">
          <a:xfrm>
            <a:off x="2018953" y="3515985"/>
            <a:ext cx="648072" cy="288032"/>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12" name="直接箭头连接符 11"/>
          <p:cNvCxnSpPr>
            <a:stCxn id="11" idx="0"/>
          </p:cNvCxnSpPr>
          <p:nvPr/>
        </p:nvCxnSpPr>
        <p:spPr bwMode="auto">
          <a:xfrm flipV="1">
            <a:off x="2343150" y="1931035"/>
            <a:ext cx="720090" cy="1584960"/>
          </a:xfrm>
          <a:prstGeom prst="straightConnector1">
            <a:avLst/>
          </a:prstGeom>
          <a:solidFill>
            <a:schemeClr val="accent1"/>
          </a:solidFill>
          <a:ln w="28575" cap="flat" cmpd="sng" algn="ctr">
            <a:solidFill>
              <a:srgbClr val="0070C0"/>
            </a:solidFill>
            <a:prstDash val="solid"/>
            <a:round/>
            <a:headEnd type="none" w="med" len="med"/>
            <a:tailEnd type="arrow"/>
          </a:ln>
        </p:spPr>
      </p:cxnSp>
      <p:sp>
        <p:nvSpPr>
          <p:cNvPr id="14" name="圆角矩形 13"/>
          <p:cNvSpPr/>
          <p:nvPr/>
        </p:nvSpPr>
        <p:spPr bwMode="auto">
          <a:xfrm>
            <a:off x="2667531" y="3515985"/>
            <a:ext cx="504056" cy="288032"/>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15" name="直接箭头连接符 14"/>
          <p:cNvCxnSpPr>
            <a:stCxn id="14" idx="0"/>
          </p:cNvCxnSpPr>
          <p:nvPr/>
        </p:nvCxnSpPr>
        <p:spPr bwMode="auto">
          <a:xfrm flipV="1">
            <a:off x="2919730" y="2067560"/>
            <a:ext cx="572135" cy="1448435"/>
          </a:xfrm>
          <a:prstGeom prst="straightConnector1">
            <a:avLst/>
          </a:prstGeom>
          <a:solidFill>
            <a:schemeClr val="accent1"/>
          </a:solidFill>
          <a:ln w="28575" cap="flat" cmpd="sng" algn="ctr">
            <a:solidFill>
              <a:srgbClr val="0070C0"/>
            </a:solidFill>
            <a:prstDash val="solid"/>
            <a:round/>
            <a:headEnd type="none" w="med" len="med"/>
            <a:tailEnd type="arrow"/>
          </a:ln>
        </p:spPr>
      </p:cxnSp>
      <p:sp>
        <p:nvSpPr>
          <p:cNvPr id="23" name="圆角矩形 22"/>
          <p:cNvSpPr/>
          <p:nvPr/>
        </p:nvSpPr>
        <p:spPr bwMode="auto">
          <a:xfrm>
            <a:off x="1946910" y="4095115"/>
            <a:ext cx="4606290" cy="346710"/>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24" name="直接箭头连接符 23"/>
          <p:cNvCxnSpPr/>
          <p:nvPr/>
        </p:nvCxnSpPr>
        <p:spPr bwMode="auto">
          <a:xfrm flipV="1">
            <a:off x="2123440" y="2787650"/>
            <a:ext cx="72390" cy="1296035"/>
          </a:xfrm>
          <a:prstGeom prst="straightConnector1">
            <a:avLst/>
          </a:prstGeom>
          <a:solidFill>
            <a:schemeClr val="accent1"/>
          </a:solidFill>
          <a:ln w="28575" cap="flat" cmpd="sng" algn="ctr">
            <a:solidFill>
              <a:srgbClr val="0070C0"/>
            </a:solidFill>
            <a:prstDash val="solid"/>
            <a:round/>
            <a:headEnd type="none" w="med" len="med"/>
            <a:tailEnd type="arrow"/>
          </a:ln>
        </p:spPr>
      </p:cxnSp>
      <p:sp>
        <p:nvSpPr>
          <p:cNvPr id="16" name="圆角矩形 15"/>
          <p:cNvSpPr/>
          <p:nvPr/>
        </p:nvSpPr>
        <p:spPr bwMode="auto">
          <a:xfrm>
            <a:off x="1298575" y="3515995"/>
            <a:ext cx="563245" cy="277495"/>
          </a:xfrm>
          <a:prstGeom prst="roundRect">
            <a:avLst/>
          </a:prstGeom>
          <a:noFill/>
          <a:ln w="28575"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cxnSp>
        <p:nvCxnSpPr>
          <p:cNvPr id="17" name="直接箭头连接符 16"/>
          <p:cNvCxnSpPr/>
          <p:nvPr/>
        </p:nvCxnSpPr>
        <p:spPr bwMode="auto">
          <a:xfrm flipH="1" flipV="1">
            <a:off x="1586865" y="2002790"/>
            <a:ext cx="32385" cy="1504950"/>
          </a:xfrm>
          <a:prstGeom prst="straightConnector1">
            <a:avLst/>
          </a:prstGeom>
          <a:solidFill>
            <a:schemeClr val="accent1"/>
          </a:solidFill>
          <a:ln w="28575" cap="flat" cmpd="sng" algn="ctr">
            <a:solidFill>
              <a:srgbClr val="0070C0"/>
            </a:solidFill>
            <a:prstDash val="solid"/>
            <a:round/>
            <a:headEnd type="none" w="med" len="med"/>
            <a:tailEnd type="arrow"/>
          </a:ln>
        </p:spPr>
      </p:cxnSp>
      <p:sp>
        <p:nvSpPr>
          <p:cNvPr id="4" name="Rectangle 3"/>
          <p:cNvSpPr txBox="1">
            <a:spLocks noChangeArrowheads="1"/>
          </p:cNvSpPr>
          <p:nvPr/>
        </p:nvSpPr>
        <p:spPr bwMode="auto">
          <a:xfrm>
            <a:off x="201930" y="835660"/>
            <a:ext cx="28956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algn="l"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mn-ea"/>
              </a:rPr>
              <a:t>创建无返回值函数</a:t>
            </a:r>
            <a:endParaRPr lang="zh-CN" altLang="en-US" sz="1600" dirty="0">
              <a:solidFill>
                <a:srgbClr val="0070C0"/>
              </a:solidFill>
              <a:latin typeface="微软雅黑" panose="020B0503020204020204" pitchFamily="34" charset="-122"/>
              <a:ea typeface="微软雅黑" panose="020B0503020204020204" pitchFamily="34" charset="-122"/>
            </a:endParaRPr>
          </a:p>
          <a:p>
            <a:pPr eaLnBrk="0" hangingPunct="0"/>
            <a:endParaRPr lang="zh-CN" altLang="en-US" sz="1600" dirty="0">
              <a:solidFill>
                <a:srgbClr val="0070C0"/>
              </a:solidFill>
              <a:latin typeface="微软雅黑" panose="020B0503020204020204" pitchFamily="34" charset="-122"/>
              <a:ea typeface="微软雅黑" panose="020B0503020204020204" pitchFamily="34"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3" presetClass="entr" presetSubtype="1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linds(horizontal)">
                                      <p:cBhvr>
                                        <p:cTn id="11" dur="500"/>
                                        <p:tgtEl>
                                          <p:spTgt spid="1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par>
                          <p:cTn id="17" fill="hold">
                            <p:stCondLst>
                              <p:cond delay="500"/>
                            </p:stCondLst>
                            <p:childTnLst>
                              <p:par>
                                <p:cTn id="18" presetID="3" presetClass="entr" presetSubtype="1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heel(1)">
                                      <p:cBhvr>
                                        <p:cTn id="25" dur="2000"/>
                                        <p:tgtEl>
                                          <p:spTgt spid="16"/>
                                        </p:tgtEl>
                                      </p:cBhvr>
                                    </p:animEffect>
                                  </p:childTnLst>
                                </p:cTn>
                              </p:par>
                            </p:childTnLst>
                          </p:cTn>
                        </p:par>
                        <p:par>
                          <p:cTn id="26" fill="hold">
                            <p:stCondLst>
                              <p:cond delay="2000"/>
                            </p:stCondLst>
                            <p:childTnLst>
                              <p:par>
                                <p:cTn id="27" presetID="2" presetClass="entr" presetSubtype="4" fill="hold" nodeType="afterEffect">
                                  <p:stCondLst>
                                    <p:cond delay="0"/>
                                  </p:stCondLst>
                                  <p:childTnLst>
                                    <p:set>
                                      <p:cBhvr>
                                        <p:cTn id="28" dur="1" fill="hold">
                                          <p:stCondLst>
                                            <p:cond delay="0"/>
                                          </p:stCondLst>
                                        </p:cTn>
                                        <p:tgtEl>
                                          <p:spTgt spid="17"/>
                                        </p:tgtEl>
                                        <p:attrNameLst>
                                          <p:attrName>style.visibility</p:attrName>
                                        </p:attrNameLst>
                                      </p:cBhvr>
                                      <p:to>
                                        <p:strVal val="visible"/>
                                      </p:to>
                                    </p:set>
                                    <p:anim calcmode="lin" valueType="num">
                                      <p:cBhvr additive="base">
                                        <p:cTn id="29" dur="500" fill="hold"/>
                                        <p:tgtEl>
                                          <p:spTgt spid="17"/>
                                        </p:tgtEl>
                                        <p:attrNameLst>
                                          <p:attrName>ppt_x</p:attrName>
                                        </p:attrNameLst>
                                      </p:cBhvr>
                                      <p:tavLst>
                                        <p:tav tm="0">
                                          <p:val>
                                            <p:strVal val="#ppt_x"/>
                                          </p:val>
                                        </p:tav>
                                        <p:tav tm="100000">
                                          <p:val>
                                            <p:strVal val="#ppt_x"/>
                                          </p:val>
                                        </p:tav>
                                      </p:tavLst>
                                    </p:anim>
                                    <p:anim calcmode="lin" valueType="num">
                                      <p:cBhvr additive="base">
                                        <p:cTn id="30"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1" presetClass="entr" presetSubtype="1"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heel(1)">
                                      <p:cBhvr>
                                        <p:cTn id="35" dur="2000"/>
                                        <p:tgtEl>
                                          <p:spTgt spid="11"/>
                                        </p:tgtEl>
                                      </p:cBhvr>
                                    </p:animEffect>
                                  </p:childTnLst>
                                </p:cTn>
                              </p:par>
                            </p:childTnLst>
                          </p:cTn>
                        </p:par>
                        <p:par>
                          <p:cTn id="36" fill="hold">
                            <p:stCondLst>
                              <p:cond delay="2000"/>
                            </p:stCondLst>
                            <p:childTnLst>
                              <p:par>
                                <p:cTn id="37" presetID="2" presetClass="entr" presetSubtype="4"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1" presetClass="entr" presetSubtype="1" fill="hold" grpId="0" nodeType="click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heel(1)">
                                      <p:cBhvr>
                                        <p:cTn id="45" dur="2000"/>
                                        <p:tgtEl>
                                          <p:spTgt spid="14"/>
                                        </p:tgtEl>
                                      </p:cBhvr>
                                    </p:animEffect>
                                  </p:childTnLst>
                                </p:cTn>
                              </p:par>
                            </p:childTnLst>
                          </p:cTn>
                        </p:par>
                        <p:par>
                          <p:cTn id="46" fill="hold">
                            <p:stCondLst>
                              <p:cond delay="2000"/>
                            </p:stCondLst>
                            <p:childTnLst>
                              <p:par>
                                <p:cTn id="47" presetID="42" presetClass="entr" presetSubtype="0" fill="hold" nodeType="after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1000"/>
                                        <p:tgtEl>
                                          <p:spTgt spid="15"/>
                                        </p:tgtEl>
                                      </p:cBhvr>
                                    </p:animEffect>
                                    <p:anim calcmode="lin" valueType="num">
                                      <p:cBhvr>
                                        <p:cTn id="50" dur="1000" fill="hold"/>
                                        <p:tgtEl>
                                          <p:spTgt spid="15"/>
                                        </p:tgtEl>
                                        <p:attrNameLst>
                                          <p:attrName>ppt_x</p:attrName>
                                        </p:attrNameLst>
                                      </p:cBhvr>
                                      <p:tavLst>
                                        <p:tav tm="0">
                                          <p:val>
                                            <p:strVal val="#ppt_x"/>
                                          </p:val>
                                        </p:tav>
                                        <p:tav tm="100000">
                                          <p:val>
                                            <p:strVal val="#ppt_x"/>
                                          </p:val>
                                        </p:tav>
                                      </p:tavLst>
                                    </p:anim>
                                    <p:anim calcmode="lin" valueType="num">
                                      <p:cBhvr>
                                        <p:cTn id="5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1" presetClass="entr" presetSubtype="1" fill="hold" grpId="0" nodeType="click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wheel(1)">
                                      <p:cBhvr>
                                        <p:cTn id="56" dur="2000"/>
                                        <p:tgtEl>
                                          <p:spTgt spid="23"/>
                                        </p:tgtEl>
                                      </p:cBhvr>
                                    </p:animEffect>
                                  </p:childTnLst>
                                </p:cTn>
                              </p:par>
                            </p:childTnLst>
                          </p:cTn>
                        </p:par>
                        <p:par>
                          <p:cTn id="57" fill="hold">
                            <p:stCondLst>
                              <p:cond delay="2000"/>
                            </p:stCondLst>
                            <p:childTnLst>
                              <p:par>
                                <p:cTn id="58" presetID="2" presetClass="entr" presetSubtype="4" fill="hold" nodeType="afterEffect">
                                  <p:stCondLst>
                                    <p:cond delay="0"/>
                                  </p:stCondLst>
                                  <p:childTnLst>
                                    <p:set>
                                      <p:cBhvr>
                                        <p:cTn id="59" dur="1" fill="hold">
                                          <p:stCondLst>
                                            <p:cond delay="0"/>
                                          </p:stCondLst>
                                        </p:cTn>
                                        <p:tgtEl>
                                          <p:spTgt spid="24"/>
                                        </p:tgtEl>
                                        <p:attrNameLst>
                                          <p:attrName>style.visibility</p:attrName>
                                        </p:attrNameLst>
                                      </p:cBhvr>
                                      <p:to>
                                        <p:strVal val="visible"/>
                                      </p:to>
                                    </p:set>
                                    <p:anim calcmode="lin" valueType="num">
                                      <p:cBhvr additive="base">
                                        <p:cTn id="60" dur="500" fill="hold"/>
                                        <p:tgtEl>
                                          <p:spTgt spid="24"/>
                                        </p:tgtEl>
                                        <p:attrNameLst>
                                          <p:attrName>ppt_x</p:attrName>
                                        </p:attrNameLst>
                                      </p:cBhvr>
                                      <p:tavLst>
                                        <p:tav tm="0">
                                          <p:val>
                                            <p:strVal val="#ppt_x"/>
                                          </p:val>
                                        </p:tav>
                                        <p:tav tm="100000">
                                          <p:val>
                                            <p:strVal val="#ppt_x"/>
                                          </p:val>
                                        </p:tav>
                                      </p:tavLst>
                                    </p:anim>
                                    <p:anim calcmode="lin" valueType="num">
                                      <p:cBhvr additive="base">
                                        <p:cTn id="61"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8" grpId="0" bldLvl="0" animBg="1"/>
      <p:bldP spid="9" grpId="0" bldLvl="0" animBg="1"/>
      <p:bldP spid="10" grpId="0"/>
      <p:bldP spid="11" grpId="0" bldLvl="0" animBg="1"/>
      <p:bldP spid="14" grpId="0" bldLvl="0" animBg="1"/>
      <p:bldP spid="23" grpId="0" bldLvl="0" animBg="1"/>
      <p:bldP spid="16"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如何使用函数</a:t>
            </a:r>
            <a:endParaRPr lang="zh-CN" altLang="en-US" dirty="0"/>
          </a:p>
        </p:txBody>
      </p:sp>
      <p:sp>
        <p:nvSpPr>
          <p:cNvPr id="7" name="Rectangle 3"/>
          <p:cNvSpPr txBox="1">
            <a:spLocks noChangeArrowheads="1"/>
          </p:cNvSpPr>
          <p:nvPr/>
        </p:nvSpPr>
        <p:spPr bwMode="auto">
          <a:xfrm>
            <a:off x="251267" y="1273835"/>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语法格式</a:t>
            </a:r>
            <a:endParaRPr lang="zh-CN" altLang="en-US" sz="1600" dirty="0"/>
          </a:p>
          <a:p>
            <a:pPr eaLnBrk="0" hangingPunct="0"/>
            <a:endParaRPr lang="zh-CN" altLang="en-US" sz="1600" dirty="0"/>
          </a:p>
          <a:p>
            <a:pPr eaLnBrk="0" hangingPunct="0"/>
            <a:endParaRPr lang="zh-CN" altLang="en-US" sz="1600" dirty="0"/>
          </a:p>
        </p:txBody>
      </p:sp>
      <p:sp>
        <p:nvSpPr>
          <p:cNvPr id="18" name="AutoShape 15"/>
          <p:cNvSpPr>
            <a:spLocks noChangeArrowheads="1"/>
          </p:cNvSpPr>
          <p:nvPr/>
        </p:nvSpPr>
        <p:spPr bwMode="auto">
          <a:xfrm>
            <a:off x="1259840" y="1350084"/>
            <a:ext cx="6264696" cy="1705092"/>
          </a:xfrm>
          <a:prstGeom prst="roundRect">
            <a:avLst>
              <a:gd name="adj" fmla="val 1347"/>
            </a:avLst>
          </a:prstGeom>
          <a:solidFill>
            <a:srgbClr val="000000">
              <a:alpha val="0"/>
            </a:srgbClr>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函数关键字  函数名</a:t>
            </a:r>
            <a:r>
              <a:rPr lang="en-US" sz="2000" dirty="0">
                <a:solidFill>
                  <a:srgbClr val="09131F"/>
                </a:solidFill>
                <a:latin typeface="+mn-ea"/>
                <a:ea typeface="+mn-ea"/>
                <a:cs typeface="+mn-ea"/>
              </a:rPr>
              <a:t>( )</a:t>
            </a:r>
            <a:r>
              <a:rPr lang="en-US" sz="2000" b="1" dirty="0">
                <a:solidFill>
                  <a:srgbClr val="09131F"/>
                </a:solidFill>
                <a:latin typeface="+mn-ea"/>
                <a:ea typeface="+mn-ea"/>
                <a:cs typeface="+mn-ea"/>
              </a:rPr>
              <a:t> :</a:t>
            </a:r>
            <a:endParaRPr lang="en-US" sz="2000" b="1"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dirty="0">
                <a:solidFill>
                  <a:srgbClr val="09131F"/>
                </a:solidFill>
                <a:latin typeface="+mn-ea"/>
                <a:ea typeface="+mn-ea"/>
                <a:cs typeface="+mn-ea"/>
              </a:rPr>
              <a:t>        ''''</a:t>
            </a:r>
            <a:r>
              <a:rPr lang="zh-CN" altLang="en-US" sz="2000" dirty="0">
                <a:solidFill>
                  <a:srgbClr val="09131F"/>
                </a:solidFill>
                <a:latin typeface="+mn-ea"/>
                <a:ea typeface="+mn-ea"/>
                <a:cs typeface="+mn-ea"/>
              </a:rPr>
              <a:t>注释</a:t>
            </a:r>
            <a:r>
              <a:rPr lang="en-US" sz="2000" dirty="0">
                <a:solidFill>
                  <a:srgbClr val="09131F"/>
                </a:solidFill>
                <a:latin typeface="+mn-ea"/>
                <a:ea typeface="+mn-ea"/>
                <a:cs typeface="+mn-ea"/>
              </a:rPr>
              <a:t>'''</a:t>
            </a:r>
            <a:endParaRPr lang="en-US" sz="2000"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函数体    </a:t>
            </a:r>
            <a:r>
              <a:rPr lang="en-US" altLang="zh-CN"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函数实现的具体功能</a:t>
            </a:r>
            <a:endParaRPr lang="zh-CN" altLang="en-US" sz="2000" b="1"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altLang="zh-CN" sz="2000" b="1" dirty="0">
                <a:solidFill>
                  <a:srgbClr val="09131F"/>
                </a:solidFill>
                <a:latin typeface="+mn-ea"/>
                <a:ea typeface="+mn-ea"/>
                <a:cs typeface="+mn-ea"/>
              </a:rPr>
              <a:t>	  return  </a:t>
            </a:r>
            <a:r>
              <a:rPr lang="zh-CN" altLang="en-US" sz="2000" b="1" dirty="0">
                <a:solidFill>
                  <a:srgbClr val="09131F"/>
                </a:solidFill>
                <a:latin typeface="+mn-ea"/>
                <a:ea typeface="+mn-ea"/>
                <a:cs typeface="+mn-ea"/>
              </a:rPr>
              <a:t>表达式</a:t>
            </a:r>
            <a:endParaRPr lang="zh-CN" altLang="en-US" sz="2000" b="1" dirty="0">
              <a:solidFill>
                <a:srgbClr val="09131F"/>
              </a:solidFill>
              <a:latin typeface="+mn-ea"/>
              <a:ea typeface="+mn-ea"/>
              <a:cs typeface="+mn-ea"/>
            </a:endParaRPr>
          </a:p>
        </p:txBody>
      </p:sp>
      <p:sp>
        <p:nvSpPr>
          <p:cNvPr id="4" name="Rectangle 3"/>
          <p:cNvSpPr txBox="1">
            <a:spLocks noChangeArrowheads="1"/>
          </p:cNvSpPr>
          <p:nvPr/>
        </p:nvSpPr>
        <p:spPr bwMode="auto">
          <a:xfrm>
            <a:off x="179705" y="826770"/>
            <a:ext cx="255206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algn="l"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创建无参</a:t>
            </a: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有返回值函数</a:t>
            </a:r>
            <a:endParaRPr lang="zh-CN" altLang="en-US" sz="1600" dirty="0"/>
          </a:p>
          <a:p>
            <a:pPr eaLnBrk="0" hangingPunct="0"/>
            <a:endParaRPr lang="zh-CN" altLang="en-US" sz="1600" dirty="0"/>
          </a:p>
          <a:p>
            <a:pPr eaLnBrk="0" hangingPunct="0"/>
            <a:endParaRPr lang="zh-CN" altLang="en-US" sz="1600" dirty="0"/>
          </a:p>
        </p:txBody>
      </p:sp>
      <p:sp>
        <p:nvSpPr>
          <p:cNvPr id="3" name="文本框 2"/>
          <p:cNvSpPr txBox="1"/>
          <p:nvPr/>
        </p:nvSpPr>
        <p:spPr>
          <a:xfrm>
            <a:off x="261427" y="3391535"/>
            <a:ext cx="2388870" cy="337185"/>
          </a:xfrm>
          <a:prstGeom prst="rect">
            <a:avLst/>
          </a:prstGeom>
          <a:noFill/>
        </p:spPr>
        <p:txBody>
          <a:bodyPr wrap="square" rtlCol="0">
            <a:spAutoFit/>
          </a:bodyPr>
          <a:lstStyle/>
          <a:p>
            <a:pPr marL="0" indent="0" algn="l">
              <a:buFont typeface="Wingdings" panose="05000000000000000000" pitchFamily="2" charset="2"/>
              <a:buNone/>
            </a:pPr>
            <a:r>
              <a:rPr lang="zh-CN" altLang="en-US" sz="1600" b="1" dirty="0">
                <a:solidFill>
                  <a:srgbClr val="0070C0"/>
                </a:solidFill>
                <a:latin typeface="微软雅黑" panose="020B0503020204020204" pitchFamily="34" charset="-122"/>
                <a:ea typeface="微软雅黑" panose="020B0503020204020204" pitchFamily="34" charset="-122"/>
              </a:rPr>
              <a:t>调用有返回值函数</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8" name="Rectangle 3"/>
          <p:cNvSpPr txBox="1">
            <a:spLocks noChangeArrowheads="1"/>
          </p:cNvSpPr>
          <p:nvPr/>
        </p:nvSpPr>
        <p:spPr bwMode="auto">
          <a:xfrm>
            <a:off x="250190" y="3743985"/>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调用格式</a:t>
            </a:r>
            <a:endParaRPr lang="zh-CN" altLang="en-US" sz="1600" dirty="0"/>
          </a:p>
          <a:p>
            <a:pPr eaLnBrk="0" hangingPunct="0"/>
            <a:endParaRPr lang="zh-CN" altLang="en-US" sz="1600" dirty="0"/>
          </a:p>
          <a:p>
            <a:pPr eaLnBrk="0" hangingPunct="0"/>
            <a:endParaRPr lang="zh-CN" altLang="en-US" sz="1600" dirty="0"/>
          </a:p>
        </p:txBody>
      </p:sp>
      <p:sp>
        <p:nvSpPr>
          <p:cNvPr id="11" name="AutoShape 15"/>
          <p:cNvSpPr>
            <a:spLocks noChangeArrowheads="1"/>
          </p:cNvSpPr>
          <p:nvPr/>
        </p:nvSpPr>
        <p:spPr bwMode="auto">
          <a:xfrm>
            <a:off x="720725" y="4110355"/>
            <a:ext cx="2534285" cy="495398"/>
          </a:xfrm>
          <a:prstGeom prst="roundRect">
            <a:avLst>
              <a:gd name="adj" fmla="val 1347"/>
            </a:avLst>
          </a:prstGeom>
          <a:noFill/>
          <a:ln w="28575">
            <a:noFill/>
            <a:bevel/>
          </a:ln>
          <a:effectLst>
            <a:outerShdw sx="100999" sy="100999" algn="ctr" rotWithShape="0">
              <a:srgbClr val="000000">
                <a:alpha val="6999"/>
              </a:srgbClr>
            </a:outerShdw>
          </a:effectLst>
          <a:extLst>
            <a:ext uri="{909E8E84-426E-40DD-AFC4-6F175D3DCCD1}">
              <a14:hiddenFill xmlns:a14="http://schemas.microsoft.com/office/drawing/2010/main">
                <a:solidFill>
                  <a:srgbClr val="EDF5FD"/>
                </a:solidFill>
              </a14:hiddenFill>
            </a:ext>
          </a:extLst>
        </p:spPr>
        <p:txBody>
          <a:bodyPr wrap="square">
            <a:spAutoFit/>
          </a:bodyPr>
          <a:lstStyle/>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变量 = 函数名( )  </a:t>
            </a:r>
            <a:endParaRPr lang="zh-CN" altLang="en-US" sz="2000" b="1" dirty="0">
              <a:solidFill>
                <a:srgbClr val="09131F"/>
              </a:solidFill>
              <a:latin typeface="+mn-ea"/>
              <a:ea typeface="+mn-ea"/>
              <a:cs typeface="+mn-ea"/>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500"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8" grpId="0" bldLvl="0" animBg="1"/>
      <p:bldP spid="11"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课堂案例</a:t>
            </a:r>
            <a:endParaRPr lang="zh-CN" altLang="en-US" dirty="0">
              <a:sym typeface="+mn-ea"/>
            </a:endParaRPr>
          </a:p>
        </p:txBody>
      </p:sp>
      <p:sp>
        <p:nvSpPr>
          <p:cNvPr id="11" name="AutoShape 8"/>
          <p:cNvSpPr>
            <a:spLocks noChangeArrowheads="1"/>
          </p:cNvSpPr>
          <p:nvPr/>
        </p:nvSpPr>
        <p:spPr bwMode="auto">
          <a:xfrm>
            <a:off x="448310" y="780039"/>
            <a:ext cx="7933055" cy="748406"/>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r>
              <a:rPr lang="zh-CN" altLang="en-US" dirty="0">
                <a:solidFill>
                  <a:srgbClr val="F9F9F9"/>
                </a:solidFill>
                <a:latin typeface="+mn-ea"/>
                <a:ea typeface="+mn-ea"/>
              </a:rPr>
              <a:t>：</a:t>
            </a:r>
            <a:endParaRPr lang="zh-CN" altLang="en-US" dirty="0">
              <a:solidFill>
                <a:srgbClr val="F9F9F9"/>
              </a:solidFill>
              <a:latin typeface="+mn-ea"/>
              <a:ea typeface="+mn-ea"/>
            </a:endParaRPr>
          </a:p>
          <a:p>
            <a:pPr algn="l"/>
            <a:r>
              <a:rPr lang="zh-CN" altLang="en-US" dirty="0">
                <a:solidFill>
                  <a:srgbClr val="F9F9F9"/>
                </a:solidFill>
                <a:latin typeface="+mn-ea"/>
                <a:ea typeface="+mn-ea"/>
              </a:rPr>
              <a:t>判断一个三位数是否是水仙花数</a:t>
            </a:r>
            <a:endParaRPr lang="zh-CN" altLang="en-US" dirty="0">
              <a:solidFill>
                <a:srgbClr val="F9F9F9"/>
              </a:solidFill>
              <a:latin typeface="+mn-ea"/>
              <a:ea typeface="+mn-ea"/>
            </a:endParaRPr>
          </a:p>
        </p:txBody>
      </p:sp>
      <p:sp>
        <p:nvSpPr>
          <p:cNvPr id="3" name="AutoShape 8"/>
          <p:cNvSpPr>
            <a:spLocks noChangeArrowheads="1"/>
          </p:cNvSpPr>
          <p:nvPr/>
        </p:nvSpPr>
        <p:spPr bwMode="auto">
          <a:xfrm>
            <a:off x="448310" y="1907376"/>
            <a:ext cx="7933055" cy="132858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endParaRPr lang="zh-CN" altLang="en-US" dirty="0">
              <a:solidFill>
                <a:srgbClr val="F9F9F9"/>
              </a:solidFill>
              <a:latin typeface="+mn-ea"/>
              <a:ea typeface="+mn-ea"/>
            </a:endParaRPr>
          </a:p>
          <a:p>
            <a:pPr algn="l"/>
            <a:r>
              <a:rPr lang="zh-CN" altLang="en-US" dirty="0">
                <a:solidFill>
                  <a:srgbClr val="F9F9F9"/>
                </a:solidFill>
                <a:latin typeface="+mn-ea"/>
                <a:ea typeface="+mn-ea"/>
              </a:rPr>
              <a:t>接收一个正整数</a:t>
            </a:r>
            <a:r>
              <a:rPr lang="en-US" altLang="zh-CN" dirty="0">
                <a:solidFill>
                  <a:srgbClr val="F9F9F9"/>
                </a:solidFill>
                <a:latin typeface="+mn-ea"/>
                <a:ea typeface="+mn-ea"/>
              </a:rPr>
              <a:t>n</a:t>
            </a:r>
            <a:r>
              <a:rPr lang="zh-CN" altLang="en-US" dirty="0">
                <a:solidFill>
                  <a:srgbClr val="F9F9F9"/>
                </a:solidFill>
                <a:latin typeface="+mn-ea"/>
                <a:ea typeface="+mn-ea"/>
              </a:rPr>
              <a:t>，</a:t>
            </a:r>
            <a:r>
              <a:rPr lang="zh-CN" altLang="en-US" dirty="0">
                <a:solidFill>
                  <a:srgbClr val="F9F9F9"/>
                </a:solidFill>
                <a:latin typeface="+mn-ea"/>
                <a:ea typeface="+mn-ea"/>
              </a:rPr>
              <a:t>可以</a:t>
            </a:r>
            <a:r>
              <a:rPr lang="zh-CN" altLang="en-US" dirty="0">
                <a:solidFill>
                  <a:srgbClr val="F9F9F9"/>
                </a:solidFill>
                <a:latin typeface="+mn-ea"/>
                <a:ea typeface="+mn-ea"/>
              </a:rPr>
              <a:t>生成一个含有</a:t>
            </a:r>
            <a:r>
              <a:rPr lang="en-US" altLang="zh-CN" dirty="0">
                <a:solidFill>
                  <a:srgbClr val="F9F9F9"/>
                </a:solidFill>
                <a:latin typeface="+mn-ea"/>
                <a:ea typeface="+mn-ea"/>
              </a:rPr>
              <a:t>n</a:t>
            </a:r>
            <a:r>
              <a:rPr lang="zh-CN" altLang="en-US" dirty="0">
                <a:solidFill>
                  <a:srgbClr val="F9F9F9"/>
                </a:solidFill>
                <a:latin typeface="+mn-ea"/>
                <a:ea typeface="+mn-ea"/>
              </a:rPr>
              <a:t>个随机数的列表，要求所有元素不相同，并且每个元素的值介于1到100之间。</a:t>
            </a:r>
            <a:endParaRPr lang="zh-CN" altLang="en-US" dirty="0">
              <a:solidFill>
                <a:srgbClr val="F9F9F9"/>
              </a:solidFill>
              <a:latin typeface="+mn-ea"/>
              <a:ea typeface="+mn-ea"/>
            </a:endParaRPr>
          </a:p>
          <a:p>
            <a:pPr algn="l"/>
            <a:endParaRPr lang="zh-CN" altLang="en-US" dirty="0">
              <a:solidFill>
                <a:srgbClr val="F9F9F9"/>
              </a:solidFill>
              <a:latin typeface="+mn-ea"/>
              <a:ea typeface="+mn-ea"/>
            </a:endParaRPr>
          </a:p>
        </p:txBody>
      </p:sp>
      <p:sp>
        <p:nvSpPr>
          <p:cNvPr id="4" name="圆角矩形标注 3"/>
          <p:cNvSpPr/>
          <p:nvPr/>
        </p:nvSpPr>
        <p:spPr>
          <a:xfrm>
            <a:off x="448310" y="3962400"/>
            <a:ext cx="4156710" cy="489585"/>
          </a:xfrm>
          <a:prstGeom prst="wedgeRoundRectCallout">
            <a:avLst>
              <a:gd name="adj1" fmla="val -20974"/>
              <a:gd name="adj2" fmla="val -121335"/>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使用有返回值的函数，输出最后的结果</a:t>
            </a: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animBg="1"/>
      <p:bldP spid="3" grpId="1" animBg="1"/>
      <p:bldP spid="4" grpId="0" bldLvl="0" animBg="1"/>
      <p:bldP spid="4" grpId="1"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如何使用</a:t>
            </a:r>
            <a:r>
              <a:rPr lang="zh-CN" altLang="en-US" dirty="0"/>
              <a:t>函数</a:t>
            </a:r>
            <a:endParaRPr lang="zh-CN" altLang="en-US" dirty="0"/>
          </a:p>
        </p:txBody>
      </p:sp>
      <p:sp>
        <p:nvSpPr>
          <p:cNvPr id="5" name="TextBox 4"/>
          <p:cNvSpPr txBox="1"/>
          <p:nvPr/>
        </p:nvSpPr>
        <p:spPr>
          <a:xfrm>
            <a:off x="2774674" y="1131590"/>
            <a:ext cx="3024336" cy="369332"/>
          </a:xfrm>
          <a:prstGeom prst="rect">
            <a:avLst/>
          </a:prstGeom>
          <a:noFill/>
        </p:spPr>
        <p:txBody>
          <a:bodyPr wrap="square" rtlCol="0">
            <a:spAutoFit/>
          </a:bodyPr>
          <a:lstStyle/>
          <a:p>
            <a:endParaRPr lang="zh-CN" altLang="en-US" dirty="0"/>
          </a:p>
        </p:txBody>
      </p:sp>
      <p:sp>
        <p:nvSpPr>
          <p:cNvPr id="3" name="文本框 2"/>
          <p:cNvSpPr txBox="1"/>
          <p:nvPr/>
        </p:nvSpPr>
        <p:spPr>
          <a:xfrm>
            <a:off x="180340" y="772160"/>
            <a:ext cx="2472690" cy="337185"/>
          </a:xfrm>
          <a:prstGeom prst="rect">
            <a:avLst/>
          </a:prstGeom>
          <a:noFill/>
        </p:spPr>
        <p:txBody>
          <a:bodyPr wrap="square" rtlCol="0">
            <a:spAutoFit/>
          </a:bodyPr>
          <a:lstStyle/>
          <a:p>
            <a:pPr marL="0" indent="0" algn="l">
              <a:buFont typeface="Wingdings" panose="05000000000000000000" pitchFamily="2" charset="2"/>
              <a:buNone/>
            </a:pPr>
            <a:r>
              <a:rPr lang="zh-CN" altLang="en-US" sz="1600" b="1" dirty="0">
                <a:solidFill>
                  <a:srgbClr val="0070C0"/>
                </a:solidFill>
                <a:latin typeface="微软雅黑" panose="020B0503020204020204" pitchFamily="34" charset="-122"/>
                <a:ea typeface="微软雅黑" panose="020B0503020204020204" pitchFamily="34" charset="-122"/>
                <a:sym typeface="+mn-ea"/>
              </a:rPr>
              <a:t>调用无返回值函数</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40" name="圆角矩形 39"/>
          <p:cNvSpPr/>
          <p:nvPr/>
        </p:nvSpPr>
        <p:spPr bwMode="auto">
          <a:xfrm>
            <a:off x="1908175" y="1697355"/>
            <a:ext cx="1031240" cy="448945"/>
          </a:xfrm>
          <a:prstGeom prst="roundRect">
            <a:avLst/>
          </a:prstGeom>
          <a:noFill/>
          <a:ln w="28575" cap="flat" cmpd="sng" algn="ctr">
            <a:solidFill>
              <a:srgbClr val="FF0000"/>
            </a:solidFill>
            <a:prstDash val="sysDot"/>
            <a:round/>
            <a:headEnd type="none" w="med" len="med"/>
            <a:tailEnd type="none" w="med" len="med"/>
          </a:ln>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9" name="AutoShape 15"/>
          <p:cNvSpPr>
            <a:spLocks noChangeArrowheads="1"/>
          </p:cNvSpPr>
          <p:nvPr/>
        </p:nvSpPr>
        <p:spPr bwMode="auto">
          <a:xfrm>
            <a:off x="662305" y="1290320"/>
            <a:ext cx="4894580" cy="1488125"/>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r>
              <a:rPr lang="en-US" altLang="zh-CN" sz="1800" dirty="0">
                <a:latin typeface="Calibri" panose="020F0502020204030204" pitchFamily="34" charset="0"/>
                <a:cs typeface="Calibri" panose="020F0502020204030204" pitchFamily="34" charset="0"/>
              </a:rPr>
              <a:t>def say(number):</a:t>
            </a:r>
            <a:endParaRPr lang="en-US" altLang="zh-CN" sz="1800" dirty="0">
              <a:latin typeface="Calibri" panose="020F0502020204030204" pitchFamily="34" charset="0"/>
              <a:cs typeface="Calibri" panose="020F0502020204030204" pitchFamily="34" charset="0"/>
            </a:endParaRPr>
          </a:p>
          <a:p>
            <a:pPr algn="l"/>
            <a:r>
              <a:rPr lang="en-US" altLang="zh-CN" sz="1800" dirty="0">
                <a:latin typeface="Calibri" panose="020F0502020204030204" pitchFamily="34" charset="0"/>
                <a:cs typeface="Calibri" panose="020F0502020204030204" pitchFamily="34" charset="0"/>
              </a:rPr>
              <a:t>    for i in range(number):</a:t>
            </a:r>
            <a:endParaRPr lang="en-US" altLang="zh-CN" sz="1800" dirty="0">
              <a:latin typeface="Calibri" panose="020F0502020204030204" pitchFamily="34" charset="0"/>
              <a:cs typeface="Calibri" panose="020F0502020204030204" pitchFamily="34" charset="0"/>
            </a:endParaRPr>
          </a:p>
          <a:p>
            <a:pPr algn="l"/>
            <a:r>
              <a:rPr lang="en-US" altLang="zh-CN" sz="1800" dirty="0">
                <a:latin typeface="Calibri" panose="020F0502020204030204" pitchFamily="34" charset="0"/>
                <a:cs typeface="Calibri" panose="020F0502020204030204" pitchFamily="34" charset="0"/>
              </a:rPr>
              <a:t>        print("知识简简单单，学习快快乐乐")</a:t>
            </a:r>
            <a:endParaRPr lang="en-US" altLang="zh-CN" sz="1800" dirty="0">
              <a:latin typeface="Calibri" panose="020F0502020204030204" pitchFamily="34" charset="0"/>
              <a:cs typeface="Calibri" panose="020F0502020204030204" pitchFamily="34" charset="0"/>
            </a:endParaRPr>
          </a:p>
          <a:p>
            <a:pPr algn="l"/>
            <a:endParaRPr lang="en-US" altLang="zh-CN" sz="1800" dirty="0">
              <a:latin typeface="Calibri" panose="020F0502020204030204" pitchFamily="34" charset="0"/>
              <a:cs typeface="Calibri" panose="020F0502020204030204" pitchFamily="34" charset="0"/>
            </a:endParaRPr>
          </a:p>
          <a:p>
            <a:pPr algn="l"/>
            <a:r>
              <a:rPr lang="en-US" altLang="zh-CN" sz="1800" dirty="0">
                <a:latin typeface="Calibri" panose="020F0502020204030204" pitchFamily="34" charset="0"/>
                <a:cs typeface="Calibri" panose="020F0502020204030204" pitchFamily="34" charset="0"/>
              </a:rPr>
              <a:t>say(5)</a:t>
            </a:r>
            <a:endParaRPr lang="en-US" sz="1800" dirty="0">
              <a:solidFill>
                <a:srgbClr val="09131F"/>
              </a:solidFill>
              <a:latin typeface="Calibri" panose="020F0502020204030204" pitchFamily="34" charset="0"/>
              <a:cs typeface="Calibri" panose="020F0502020204030204" pitchFamily="34" charset="0"/>
            </a:endParaRPr>
          </a:p>
        </p:txBody>
      </p:sp>
      <p:sp>
        <p:nvSpPr>
          <p:cNvPr id="4" name="AutoShape 15"/>
          <p:cNvSpPr>
            <a:spLocks noChangeArrowheads="1"/>
          </p:cNvSpPr>
          <p:nvPr/>
        </p:nvSpPr>
        <p:spPr bwMode="auto">
          <a:xfrm>
            <a:off x="722630" y="3291840"/>
            <a:ext cx="2150110" cy="650294"/>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r>
              <a:rPr lang="en-US" altLang="zh-CN" sz="1800" dirty="0">
                <a:latin typeface="Calibri" panose="020F0502020204030204" pitchFamily="34" charset="0"/>
                <a:cs typeface="Calibri" panose="020F0502020204030204" pitchFamily="34" charset="0"/>
              </a:rPr>
              <a:t>a = say(5)</a:t>
            </a:r>
            <a:endParaRPr lang="en-US" altLang="zh-CN" sz="1800" dirty="0">
              <a:latin typeface="Calibri" panose="020F0502020204030204" pitchFamily="34" charset="0"/>
              <a:cs typeface="Calibri" panose="020F0502020204030204" pitchFamily="34" charset="0"/>
            </a:endParaRPr>
          </a:p>
          <a:p>
            <a:pPr algn="l"/>
            <a:r>
              <a:rPr lang="en-US" sz="1800" dirty="0">
                <a:solidFill>
                  <a:srgbClr val="09131F"/>
                </a:solidFill>
                <a:latin typeface="Calibri" panose="020F0502020204030204" pitchFamily="34" charset="0"/>
                <a:cs typeface="Calibri" panose="020F0502020204030204" pitchFamily="34" charset="0"/>
              </a:rPr>
              <a:t>print(a)</a:t>
            </a:r>
            <a:endParaRPr lang="en-US" sz="1800" dirty="0">
              <a:solidFill>
                <a:srgbClr val="09131F"/>
              </a:solidFill>
              <a:latin typeface="Calibri" panose="020F0502020204030204" pitchFamily="34" charset="0"/>
              <a:cs typeface="Calibri" panose="020F0502020204030204" pitchFamily="34" charset="0"/>
            </a:endParaRPr>
          </a:p>
        </p:txBody>
      </p:sp>
      <p:sp>
        <p:nvSpPr>
          <p:cNvPr id="8" name="文本框 7"/>
          <p:cNvSpPr txBox="1"/>
          <p:nvPr/>
        </p:nvSpPr>
        <p:spPr>
          <a:xfrm>
            <a:off x="611188" y="4578350"/>
            <a:ext cx="7398385" cy="368300"/>
          </a:xfrm>
          <a:prstGeom prst="rect">
            <a:avLst/>
          </a:prstGeom>
          <a:noFill/>
        </p:spPr>
        <p:txBody>
          <a:bodyPr wrap="none" rtlCol="0">
            <a:spAutoFit/>
          </a:bodyPr>
          <a:lstStyle/>
          <a:p>
            <a:r>
              <a:rPr lang="zh-CN" altLang="en-US">
                <a:latin typeface="+mn-ea"/>
                <a:ea typeface="+mn-ea"/>
                <a:cs typeface="+mn-ea"/>
              </a:rPr>
              <a:t>当打印无返回值函数返回值，会返回</a:t>
            </a:r>
            <a:r>
              <a:rPr lang="en-US" altLang="zh-CN">
                <a:latin typeface="+mn-ea"/>
                <a:ea typeface="+mn-ea"/>
                <a:cs typeface="+mn-ea"/>
              </a:rPr>
              <a:t>None </a:t>
            </a:r>
            <a:r>
              <a:rPr lang="zh-CN" altLang="en-US">
                <a:latin typeface="+mn-ea"/>
                <a:ea typeface="+mn-ea"/>
                <a:cs typeface="+mn-ea"/>
              </a:rPr>
              <a:t>（系统默认返回值为</a:t>
            </a:r>
            <a:r>
              <a:rPr lang="en-US" altLang="zh-CN">
                <a:latin typeface="+mn-ea"/>
                <a:ea typeface="+mn-ea"/>
                <a:cs typeface="+mn-ea"/>
              </a:rPr>
              <a:t>None</a:t>
            </a:r>
            <a:r>
              <a:rPr lang="zh-CN" altLang="en-US">
                <a:latin typeface="+mn-ea"/>
                <a:ea typeface="+mn-ea"/>
                <a:cs typeface="+mn-ea"/>
              </a:rPr>
              <a:t>）</a:t>
            </a:r>
            <a:endParaRPr lang="zh-CN" altLang="en-US">
              <a:latin typeface="+mn-ea"/>
              <a:ea typeface="+mn-ea"/>
              <a:cs typeface="+mn-ea"/>
            </a:endParaRPr>
          </a:p>
        </p:txBody>
      </p:sp>
      <p:sp>
        <p:nvSpPr>
          <p:cNvPr id="7" name="文本框 6"/>
          <p:cNvSpPr txBox="1"/>
          <p:nvPr/>
        </p:nvSpPr>
        <p:spPr>
          <a:xfrm>
            <a:off x="668020" y="2867660"/>
            <a:ext cx="1965960" cy="368300"/>
          </a:xfrm>
          <a:prstGeom prst="rect">
            <a:avLst/>
          </a:prstGeom>
          <a:noFill/>
        </p:spPr>
        <p:txBody>
          <a:bodyPr wrap="none" rtlCol="0">
            <a:spAutoFit/>
          </a:bodyPr>
          <a:lstStyle/>
          <a:p>
            <a:r>
              <a:rPr lang="en-US" altLang="zh-CN">
                <a:latin typeface="+mn-ea"/>
                <a:ea typeface="+mn-ea"/>
                <a:cs typeface="+mn-ea"/>
              </a:rPr>
              <a:t>say(5)</a:t>
            </a:r>
            <a:r>
              <a:rPr lang="zh-CN" altLang="en-US">
                <a:latin typeface="+mn-ea"/>
                <a:ea typeface="+mn-ea"/>
                <a:cs typeface="+mn-ea"/>
              </a:rPr>
              <a:t>有返回值？</a:t>
            </a:r>
            <a:endParaRPr lang="zh-CN" altLang="en-US">
              <a:latin typeface="+mn-ea"/>
              <a:ea typeface="+mn-ea"/>
              <a:cs typeface="+mn-ea"/>
            </a:endParaRPr>
          </a:p>
        </p:txBody>
      </p:sp>
      <p:pic>
        <p:nvPicPr>
          <p:cNvPr id="6" name="图片 5"/>
          <p:cNvPicPr>
            <a:picLocks noChangeAspect="1"/>
          </p:cNvPicPr>
          <p:nvPr/>
        </p:nvPicPr>
        <p:blipFill>
          <a:blip r:embed="rId1"/>
          <a:srcRect b="11080"/>
          <a:stretch>
            <a:fillRect/>
          </a:stretch>
        </p:blipFill>
        <p:spPr>
          <a:xfrm>
            <a:off x="6109970" y="2893695"/>
            <a:ext cx="2734945" cy="1635760"/>
          </a:xfrm>
          <a:prstGeom prst="rect">
            <a:avLst/>
          </a:prstGeom>
        </p:spPr>
      </p:pic>
      <p:sp>
        <p:nvSpPr>
          <p:cNvPr id="10" name="Rectangle 3"/>
          <p:cNvSpPr txBox="1">
            <a:spLocks noChangeArrowheads="1"/>
          </p:cNvSpPr>
          <p:nvPr/>
        </p:nvSpPr>
        <p:spPr bwMode="auto">
          <a:xfrm>
            <a:off x="5643687" y="771902"/>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输出结果</a:t>
            </a:r>
            <a:endParaRPr lang="zh-CN" altLang="en-US" sz="1600" dirty="0"/>
          </a:p>
          <a:p>
            <a:pPr eaLnBrk="0" hangingPunct="0"/>
            <a:endParaRPr lang="zh-CN" altLang="en-US" sz="1600" dirty="0"/>
          </a:p>
          <a:p>
            <a:pPr eaLnBrk="0" hangingPunct="0"/>
            <a:endParaRPr lang="zh-CN" altLang="en-US" sz="1600" dirty="0"/>
          </a:p>
        </p:txBody>
      </p:sp>
      <p:pic>
        <p:nvPicPr>
          <p:cNvPr id="12" name="图片 11"/>
          <p:cNvPicPr>
            <a:picLocks noChangeAspect="1"/>
          </p:cNvPicPr>
          <p:nvPr/>
        </p:nvPicPr>
        <p:blipFill>
          <a:blip r:embed="rId1"/>
          <a:srcRect b="23818"/>
          <a:stretch>
            <a:fillRect/>
          </a:stretch>
        </p:blipFill>
        <p:spPr>
          <a:xfrm>
            <a:off x="6086475" y="1290320"/>
            <a:ext cx="2734945" cy="1401445"/>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blinds(horizontal)">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8" grpId="0"/>
      <p:bldP spid="7" grpId="0"/>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课堂案例</a:t>
            </a:r>
            <a:endParaRPr lang="zh-CN" altLang="en-US" dirty="0"/>
          </a:p>
        </p:txBody>
      </p:sp>
      <p:sp>
        <p:nvSpPr>
          <p:cNvPr id="5" name="TextBox 4"/>
          <p:cNvSpPr txBox="1"/>
          <p:nvPr/>
        </p:nvSpPr>
        <p:spPr>
          <a:xfrm>
            <a:off x="2774674" y="1131590"/>
            <a:ext cx="3024336" cy="369332"/>
          </a:xfrm>
          <a:prstGeom prst="rect">
            <a:avLst/>
          </a:prstGeom>
          <a:noFill/>
        </p:spPr>
        <p:txBody>
          <a:bodyPr wrap="square" rtlCol="0">
            <a:spAutoFit/>
          </a:bodyPr>
          <a:lstStyle/>
          <a:p>
            <a:endParaRPr lang="zh-CN" altLang="en-US" dirty="0"/>
          </a:p>
        </p:txBody>
      </p:sp>
      <p:sp>
        <p:nvSpPr>
          <p:cNvPr id="3" name="文本框 2"/>
          <p:cNvSpPr txBox="1"/>
          <p:nvPr/>
        </p:nvSpPr>
        <p:spPr>
          <a:xfrm>
            <a:off x="226695" y="779780"/>
            <a:ext cx="8458835" cy="829945"/>
          </a:xfrm>
          <a:prstGeom prst="rect">
            <a:avLst/>
          </a:prstGeom>
          <a:noFill/>
        </p:spPr>
        <p:txBody>
          <a:bodyPr wrap="square" rtlCol="0">
            <a:spAutoFit/>
          </a:bodyPr>
          <a:lstStyle/>
          <a:p>
            <a:pPr marL="0" indent="0" algn="l">
              <a:buFont typeface="Wingdings" panose="05000000000000000000" pitchFamily="2" charset="2"/>
              <a:buNone/>
            </a:pPr>
            <a:r>
              <a:rPr lang="zh-CN" altLang="en-US" sz="1600" b="1" dirty="0">
                <a:solidFill>
                  <a:srgbClr val="0070C0"/>
                </a:solidFill>
                <a:latin typeface="微软雅黑" panose="020B0503020204020204" pitchFamily="34" charset="-122"/>
                <a:ea typeface="微软雅黑" panose="020B0503020204020204" pitchFamily="34" charset="-122"/>
              </a:rPr>
              <a:t>定义登录函数</a:t>
            </a:r>
            <a:r>
              <a:rPr lang="en-US" altLang="zh-CN" sz="1600" b="1" dirty="0">
                <a:solidFill>
                  <a:srgbClr val="0070C0"/>
                </a:solidFill>
                <a:latin typeface="微软雅黑" panose="020B0503020204020204" pitchFamily="34" charset="-122"/>
                <a:ea typeface="微软雅黑" panose="020B0503020204020204" pitchFamily="34" charset="-122"/>
              </a:rPr>
              <a:t>login</a:t>
            </a:r>
            <a:r>
              <a:rPr lang="zh-CN" altLang="en-US" sz="1600" b="1" dirty="0">
                <a:solidFill>
                  <a:srgbClr val="0070C0"/>
                </a:solidFill>
                <a:latin typeface="微软雅黑" panose="020B0503020204020204" pitchFamily="34" charset="-122"/>
                <a:ea typeface="微软雅黑" panose="020B0503020204020204" pitchFamily="34" charset="-122"/>
              </a:rPr>
              <a:t>，实现输入登录的用户名和密码，并验证是否正确，正确返回</a:t>
            </a:r>
            <a:r>
              <a:rPr lang="en-US" altLang="zh-CN" sz="1600" b="1" dirty="0">
                <a:solidFill>
                  <a:srgbClr val="0070C0"/>
                </a:solidFill>
                <a:latin typeface="微软雅黑" panose="020B0503020204020204" pitchFamily="34" charset="-122"/>
                <a:ea typeface="微软雅黑" panose="020B0503020204020204" pitchFamily="34" charset="-122"/>
              </a:rPr>
              <a:t>True</a:t>
            </a:r>
            <a:r>
              <a:rPr lang="zh-CN" altLang="en-US" sz="1600" b="1" dirty="0">
                <a:solidFill>
                  <a:srgbClr val="0070C0"/>
                </a:solidFill>
                <a:latin typeface="微软雅黑" panose="020B0503020204020204" pitchFamily="34" charset="-122"/>
                <a:ea typeface="微软雅黑" panose="020B0503020204020204" pitchFamily="34" charset="-122"/>
              </a:rPr>
              <a:t>，错误返回</a:t>
            </a:r>
            <a:r>
              <a:rPr lang="en-US" altLang="zh-CN" sz="1600" b="1" dirty="0">
                <a:solidFill>
                  <a:srgbClr val="0070C0"/>
                </a:solidFill>
                <a:latin typeface="微软雅黑" panose="020B0503020204020204" pitchFamily="34" charset="-122"/>
                <a:ea typeface="微软雅黑" panose="020B0503020204020204" pitchFamily="34" charset="-122"/>
              </a:rPr>
              <a:t>False</a:t>
            </a:r>
            <a:endParaRPr lang="en-US" altLang="zh-CN" sz="1600" b="1" dirty="0">
              <a:solidFill>
                <a:srgbClr val="0070C0"/>
              </a:solidFill>
              <a:latin typeface="微软雅黑" panose="020B0503020204020204" pitchFamily="34" charset="-122"/>
              <a:ea typeface="微软雅黑" panose="020B0503020204020204" pitchFamily="34" charset="-122"/>
            </a:endParaRPr>
          </a:p>
          <a:p>
            <a:pPr marL="0" indent="0" algn="l">
              <a:buFont typeface="Wingdings" panose="05000000000000000000" pitchFamily="2" charset="2"/>
              <a:buNone/>
            </a:pPr>
            <a:r>
              <a:rPr lang="zh-CN" altLang="en-US" sz="1600" b="1" dirty="0">
                <a:solidFill>
                  <a:srgbClr val="0070C0"/>
                </a:solidFill>
                <a:latin typeface="微软雅黑" panose="020B0503020204020204" pitchFamily="34" charset="-122"/>
                <a:ea typeface="微软雅黑" panose="020B0503020204020204" pitchFamily="34" charset="-122"/>
              </a:rPr>
              <a:t>调用该函数，根据返回值显示登录成功或者登录失败信息</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sp>
        <p:nvSpPr>
          <p:cNvPr id="7" name="AutoShape 15"/>
          <p:cNvSpPr>
            <a:spLocks noChangeArrowheads="1"/>
          </p:cNvSpPr>
          <p:nvPr/>
        </p:nvSpPr>
        <p:spPr bwMode="auto">
          <a:xfrm>
            <a:off x="774065" y="2590165"/>
            <a:ext cx="3416300" cy="2452031"/>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lnSpc>
                <a:spcPct val="110000"/>
              </a:lnSpc>
            </a:pPr>
            <a:r>
              <a:rPr lang="zh-CN" altLang="en-US" sz="1200" dirty="0">
                <a:latin typeface="Calibri" panose="020F0502020204030204" pitchFamily="34" charset="0"/>
                <a:cs typeface="Calibri" panose="020F0502020204030204" pitchFamily="34" charset="0"/>
              </a:rPr>
              <a:t>def login1():</a:t>
            </a:r>
            <a:endParaRPr lang="zh-CN" altLang="en-US" sz="1200" dirty="0">
              <a:latin typeface="Calibri" panose="020F0502020204030204" pitchFamily="34" charset="0"/>
              <a:cs typeface="Calibri" panose="020F0502020204030204" pitchFamily="34" charset="0"/>
            </a:endParaRPr>
          </a:p>
          <a:p>
            <a:pPr algn="l">
              <a:lnSpc>
                <a:spcPct val="110000"/>
              </a:lnSpc>
            </a:pPr>
            <a:r>
              <a:rPr lang="zh-CN" altLang="en-US" sz="1200" dirty="0">
                <a:latin typeface="Calibri" panose="020F0502020204030204" pitchFamily="34" charset="0"/>
                <a:cs typeface="Calibri" panose="020F0502020204030204" pitchFamily="34" charset="0"/>
              </a:rPr>
              <a:t>    name = input("name:")</a:t>
            </a:r>
            <a:endParaRPr lang="zh-CN" altLang="en-US" sz="1200" dirty="0">
              <a:latin typeface="Calibri" panose="020F0502020204030204" pitchFamily="34" charset="0"/>
              <a:cs typeface="Calibri" panose="020F0502020204030204" pitchFamily="34" charset="0"/>
            </a:endParaRPr>
          </a:p>
          <a:p>
            <a:pPr algn="l">
              <a:lnSpc>
                <a:spcPct val="110000"/>
              </a:lnSpc>
            </a:pPr>
            <a:r>
              <a:rPr lang="zh-CN" altLang="en-US" sz="1200" dirty="0">
                <a:latin typeface="Calibri" panose="020F0502020204030204" pitchFamily="34" charset="0"/>
                <a:cs typeface="Calibri" panose="020F0502020204030204" pitchFamily="34" charset="0"/>
              </a:rPr>
              <a:t>    password = input("password:")</a:t>
            </a:r>
            <a:endParaRPr lang="zh-CN" altLang="en-US" sz="1200" dirty="0">
              <a:latin typeface="Calibri" panose="020F0502020204030204" pitchFamily="34" charset="0"/>
              <a:cs typeface="Calibri" panose="020F0502020204030204" pitchFamily="34" charset="0"/>
            </a:endParaRPr>
          </a:p>
          <a:p>
            <a:pPr algn="l">
              <a:lnSpc>
                <a:spcPct val="110000"/>
              </a:lnSpc>
            </a:pPr>
            <a:r>
              <a:rPr lang="zh-CN" altLang="en-US" sz="1200" dirty="0">
                <a:latin typeface="Calibri" panose="020F0502020204030204" pitchFamily="34" charset="0"/>
                <a:cs typeface="Calibri" panose="020F0502020204030204" pitchFamily="34" charset="0"/>
              </a:rPr>
              <a:t>    if name == 'admin' and password == '123456':</a:t>
            </a:r>
            <a:endParaRPr lang="zh-CN" altLang="en-US" sz="1200" dirty="0">
              <a:latin typeface="Calibri" panose="020F0502020204030204" pitchFamily="34" charset="0"/>
              <a:cs typeface="Calibri" panose="020F0502020204030204" pitchFamily="34" charset="0"/>
            </a:endParaRPr>
          </a:p>
          <a:p>
            <a:pPr algn="l">
              <a:lnSpc>
                <a:spcPct val="110000"/>
              </a:lnSpc>
            </a:pPr>
            <a:r>
              <a:rPr lang="zh-CN" altLang="en-US" sz="1200" dirty="0">
                <a:latin typeface="Calibri" panose="020F0502020204030204" pitchFamily="34" charset="0"/>
                <a:cs typeface="Calibri" panose="020F0502020204030204" pitchFamily="34" charset="0"/>
              </a:rPr>
              <a:t>        return True</a:t>
            </a:r>
            <a:endParaRPr lang="zh-CN" altLang="en-US" sz="1200" dirty="0">
              <a:latin typeface="Calibri" panose="020F0502020204030204" pitchFamily="34" charset="0"/>
              <a:cs typeface="Calibri" panose="020F0502020204030204" pitchFamily="34" charset="0"/>
            </a:endParaRPr>
          </a:p>
          <a:p>
            <a:pPr algn="l">
              <a:lnSpc>
                <a:spcPct val="110000"/>
              </a:lnSpc>
            </a:pPr>
            <a:r>
              <a:rPr lang="zh-CN" altLang="en-US" sz="1200" dirty="0">
                <a:latin typeface="Calibri" panose="020F0502020204030204" pitchFamily="34" charset="0"/>
                <a:cs typeface="Calibri" panose="020F0502020204030204" pitchFamily="34" charset="0"/>
              </a:rPr>
              <a:t>    else:</a:t>
            </a:r>
            <a:endParaRPr lang="zh-CN" altLang="en-US" sz="1200" dirty="0">
              <a:latin typeface="Calibri" panose="020F0502020204030204" pitchFamily="34" charset="0"/>
              <a:cs typeface="Calibri" panose="020F0502020204030204" pitchFamily="34" charset="0"/>
            </a:endParaRPr>
          </a:p>
          <a:p>
            <a:pPr algn="l">
              <a:lnSpc>
                <a:spcPct val="110000"/>
              </a:lnSpc>
            </a:pPr>
            <a:r>
              <a:rPr lang="zh-CN" altLang="en-US" sz="1200" dirty="0">
                <a:latin typeface="Calibri" panose="020F0502020204030204" pitchFamily="34" charset="0"/>
                <a:cs typeface="Calibri" panose="020F0502020204030204" pitchFamily="34" charset="0"/>
              </a:rPr>
              <a:t>        return False</a:t>
            </a:r>
            <a:endParaRPr lang="zh-CN" altLang="en-US" sz="1200" dirty="0">
              <a:latin typeface="Calibri" panose="020F0502020204030204" pitchFamily="34" charset="0"/>
              <a:cs typeface="Calibri" panose="020F0502020204030204" pitchFamily="34" charset="0"/>
            </a:endParaRPr>
          </a:p>
          <a:p>
            <a:pPr algn="l"/>
            <a:r>
              <a:rPr lang="en-US" altLang="zh-CN" sz="1200" dirty="0">
                <a:latin typeface="Calibri" panose="020F0502020204030204" pitchFamily="34" charset="0"/>
                <a:cs typeface="Calibri" panose="020F0502020204030204" pitchFamily="34" charset="0"/>
                <a:sym typeface="+mn-ea"/>
              </a:rPr>
              <a:t>a = login1()   </a:t>
            </a:r>
            <a:endParaRPr lang="en-US" altLang="zh-CN" sz="1200" dirty="0">
              <a:latin typeface="Calibri" panose="020F0502020204030204" pitchFamily="34" charset="0"/>
              <a:cs typeface="Calibri" panose="020F0502020204030204" pitchFamily="34" charset="0"/>
            </a:endParaRPr>
          </a:p>
          <a:p>
            <a:pPr algn="l"/>
            <a:r>
              <a:rPr sz="1200" dirty="0">
                <a:latin typeface="Calibri" panose="020F0502020204030204" pitchFamily="34" charset="0"/>
                <a:cs typeface="Calibri" panose="020F0502020204030204" pitchFamily="34" charset="0"/>
                <a:sym typeface="+mn-ea"/>
              </a:rPr>
              <a:t>if </a:t>
            </a:r>
            <a:r>
              <a:rPr lang="en-US" sz="1200" dirty="0">
                <a:latin typeface="Calibri" panose="020F0502020204030204" pitchFamily="34" charset="0"/>
                <a:cs typeface="Calibri" panose="020F0502020204030204" pitchFamily="34" charset="0"/>
                <a:sym typeface="+mn-ea"/>
              </a:rPr>
              <a:t>a</a:t>
            </a:r>
            <a:r>
              <a:rPr sz="1200" dirty="0">
                <a:latin typeface="Calibri" panose="020F0502020204030204" pitchFamily="34" charset="0"/>
                <a:cs typeface="Calibri" panose="020F0502020204030204" pitchFamily="34" charset="0"/>
                <a:sym typeface="+mn-ea"/>
              </a:rPr>
              <a:t>:</a:t>
            </a:r>
            <a:endParaRPr sz="1200" dirty="0">
              <a:latin typeface="Calibri" panose="020F0502020204030204" pitchFamily="34" charset="0"/>
              <a:cs typeface="Calibri" panose="020F0502020204030204" pitchFamily="34" charset="0"/>
            </a:endParaRPr>
          </a:p>
          <a:p>
            <a:pPr algn="l"/>
            <a:r>
              <a:rPr sz="1200" dirty="0">
                <a:latin typeface="Calibri" panose="020F0502020204030204" pitchFamily="34" charset="0"/>
                <a:cs typeface="Calibri" panose="020F0502020204030204" pitchFamily="34" charset="0"/>
                <a:sym typeface="+mn-ea"/>
              </a:rPr>
              <a:t>    print("登陆成功")</a:t>
            </a:r>
            <a:endParaRPr sz="1200" dirty="0">
              <a:latin typeface="Calibri" panose="020F0502020204030204" pitchFamily="34" charset="0"/>
              <a:cs typeface="Calibri" panose="020F0502020204030204" pitchFamily="34" charset="0"/>
            </a:endParaRPr>
          </a:p>
          <a:p>
            <a:pPr algn="l"/>
            <a:r>
              <a:rPr sz="1200" dirty="0">
                <a:latin typeface="Calibri" panose="020F0502020204030204" pitchFamily="34" charset="0"/>
                <a:cs typeface="Calibri" panose="020F0502020204030204" pitchFamily="34" charset="0"/>
                <a:sym typeface="+mn-ea"/>
              </a:rPr>
              <a:t>else:</a:t>
            </a:r>
            <a:endParaRPr sz="1200" dirty="0">
              <a:latin typeface="Calibri" panose="020F0502020204030204" pitchFamily="34" charset="0"/>
              <a:cs typeface="Calibri" panose="020F0502020204030204" pitchFamily="34" charset="0"/>
            </a:endParaRPr>
          </a:p>
          <a:p>
            <a:pPr algn="l"/>
            <a:r>
              <a:rPr sz="1200" dirty="0">
                <a:latin typeface="Calibri" panose="020F0502020204030204" pitchFamily="34" charset="0"/>
                <a:cs typeface="Calibri" panose="020F0502020204030204" pitchFamily="34" charset="0"/>
                <a:sym typeface="+mn-ea"/>
              </a:rPr>
              <a:t>    print("登陆失败")</a:t>
            </a:r>
            <a:endParaRPr lang="en-US" sz="1200" dirty="0">
              <a:solidFill>
                <a:srgbClr val="09131F"/>
              </a:solidFill>
              <a:latin typeface="Calibri" panose="020F0502020204030204" pitchFamily="34" charset="0"/>
              <a:cs typeface="Calibri" panose="020F0502020204030204" pitchFamily="34" charset="0"/>
            </a:endParaRPr>
          </a:p>
        </p:txBody>
      </p:sp>
      <p:sp>
        <p:nvSpPr>
          <p:cNvPr id="6" name="Rectangle 3"/>
          <p:cNvSpPr txBox="1">
            <a:spLocks noChangeArrowheads="1"/>
          </p:cNvSpPr>
          <p:nvPr/>
        </p:nvSpPr>
        <p:spPr bwMode="auto">
          <a:xfrm>
            <a:off x="4460047" y="2162200"/>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输出结果</a:t>
            </a:r>
            <a:endPar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endParaRPr>
          </a:p>
        </p:txBody>
      </p:sp>
      <p:pic>
        <p:nvPicPr>
          <p:cNvPr id="9" name="图片 8"/>
          <p:cNvPicPr>
            <a:picLocks noChangeAspect="1"/>
          </p:cNvPicPr>
          <p:nvPr/>
        </p:nvPicPr>
        <p:blipFill>
          <a:blip r:embed="rId1"/>
          <a:srcRect r="27971"/>
          <a:stretch>
            <a:fillRect/>
          </a:stretch>
        </p:blipFill>
        <p:spPr>
          <a:xfrm>
            <a:off x="4961255" y="2560320"/>
            <a:ext cx="1555115" cy="1000760"/>
          </a:xfrm>
          <a:prstGeom prst="rect">
            <a:avLst/>
          </a:prstGeom>
        </p:spPr>
      </p:pic>
      <p:pic>
        <p:nvPicPr>
          <p:cNvPr id="10" name="图片 9"/>
          <p:cNvPicPr>
            <a:picLocks noChangeAspect="1"/>
          </p:cNvPicPr>
          <p:nvPr/>
        </p:nvPicPr>
        <p:blipFill>
          <a:blip r:embed="rId2"/>
          <a:srcRect r="26663"/>
          <a:stretch>
            <a:fillRect/>
          </a:stretch>
        </p:blipFill>
        <p:spPr>
          <a:xfrm>
            <a:off x="6962775" y="2560320"/>
            <a:ext cx="1722120" cy="1000760"/>
          </a:xfrm>
          <a:prstGeom prst="rect">
            <a:avLst/>
          </a:prstGeom>
        </p:spPr>
      </p:pic>
      <p:sp>
        <p:nvSpPr>
          <p:cNvPr id="11" name="AutoShape 15"/>
          <p:cNvSpPr>
            <a:spLocks noChangeArrowheads="1"/>
          </p:cNvSpPr>
          <p:nvPr/>
        </p:nvSpPr>
        <p:spPr bwMode="auto">
          <a:xfrm>
            <a:off x="685800" y="1498600"/>
            <a:ext cx="2534285" cy="495398"/>
          </a:xfrm>
          <a:prstGeom prst="roundRect">
            <a:avLst>
              <a:gd name="adj" fmla="val 1347"/>
            </a:avLst>
          </a:prstGeom>
          <a:noFill/>
          <a:ln w="28575">
            <a:noFill/>
            <a:bevel/>
          </a:ln>
          <a:effectLst>
            <a:outerShdw sx="100999" sy="100999" algn="ctr" rotWithShape="0">
              <a:srgbClr val="000000">
                <a:alpha val="6999"/>
              </a:srgbClr>
            </a:outerShdw>
          </a:effectLst>
          <a:extLst>
            <a:ext uri="{909E8E84-426E-40DD-AFC4-6F175D3DCCD1}">
              <a14:hiddenFill xmlns:a14="http://schemas.microsoft.com/office/drawing/2010/main">
                <a:solidFill>
                  <a:srgbClr val="EDF5FD"/>
                </a:solidFill>
              </a14:hiddenFill>
            </a:ext>
          </a:extLst>
        </p:spPr>
        <p:txBody>
          <a:bodyPr wrap="square">
            <a:spAutoFit/>
          </a:bodyPr>
          <a:lstStyle/>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  </a:t>
            </a:r>
            <a:endParaRPr lang="zh-CN" altLang="en-US" sz="2000" b="1" dirty="0">
              <a:solidFill>
                <a:srgbClr val="09131F"/>
              </a:solidFill>
              <a:latin typeface="+mn-ea"/>
              <a:ea typeface="+mn-ea"/>
              <a:cs typeface="+mn-ea"/>
            </a:endParaRPr>
          </a:p>
        </p:txBody>
      </p:sp>
      <p:sp>
        <p:nvSpPr>
          <p:cNvPr id="12" name="Rectangle 3"/>
          <p:cNvSpPr txBox="1">
            <a:spLocks noChangeArrowheads="1"/>
          </p:cNvSpPr>
          <p:nvPr/>
        </p:nvSpPr>
        <p:spPr bwMode="auto">
          <a:xfrm>
            <a:off x="251267" y="2162200"/>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代码举例</a:t>
            </a:r>
            <a:endParaRPr lang="zh-CN" altLang="en-US" sz="1600" dirty="0"/>
          </a:p>
          <a:p>
            <a:pPr eaLnBrk="0" hangingPunct="0"/>
            <a:endParaRPr lang="zh-CN" altLang="en-US" sz="1600" dirty="0"/>
          </a:p>
          <a:p>
            <a:pPr eaLnBrk="0" hangingPunct="0"/>
            <a:endParaRPr lang="zh-CN" altLang="en-US" sz="1600" dirty="0"/>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par>
                          <p:cTn id="17" fill="hold">
                            <p:stCondLst>
                              <p:cond delay="500"/>
                            </p:stCondLst>
                            <p:childTnLst>
                              <p:par>
                                <p:cTn id="18" presetID="3" presetClass="entr" presetSubtype="10"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blinds(horizontal)">
                                      <p:cBhvr>
                                        <p:cTn id="20" dur="500"/>
                                        <p:tgtEl>
                                          <p:spTgt spid="9"/>
                                        </p:tgtEl>
                                      </p:cBhvr>
                                    </p:animEffect>
                                  </p:childTnLst>
                                </p:cTn>
                              </p:par>
                            </p:childTnLst>
                          </p:cTn>
                        </p:par>
                        <p:par>
                          <p:cTn id="21" fill="hold">
                            <p:stCondLst>
                              <p:cond delay="1000"/>
                            </p:stCondLst>
                            <p:childTnLst>
                              <p:par>
                                <p:cTn id="22" presetID="3" presetClass="entr" presetSubtype="10"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linds(horizontal)">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6" grpId="0"/>
      <p:bldP spid="1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253209"/>
            <a:ext cx="7772400" cy="1102519"/>
          </a:xfrm>
        </p:spPr>
        <p:txBody>
          <a:bodyPr/>
          <a:lstStyle/>
          <a:p>
            <a:r>
              <a:rPr lang="zh-CN" altLang="en-US" dirty="0"/>
              <a:t>第四</a:t>
            </a:r>
            <a:r>
              <a:rPr lang="zh-CN" altLang="en-US" dirty="0"/>
              <a:t>课时</a:t>
            </a:r>
            <a:endParaRPr lang="zh-CN" altLang="en-US" dirty="0"/>
          </a:p>
        </p:txBody>
      </p:sp>
      <p:sp>
        <p:nvSpPr>
          <p:cNvPr id="7" name="副标题 6"/>
          <p:cNvSpPr>
            <a:spLocks noGrp="1"/>
          </p:cNvSpPr>
          <p:nvPr>
            <p:ph type="subTitle" idx="1"/>
          </p:nvPr>
        </p:nvSpPr>
        <p:spPr>
          <a:xfrm>
            <a:off x="683568" y="2391033"/>
            <a:ext cx="7776864" cy="594066"/>
          </a:xfrm>
        </p:spPr>
        <p:txBody>
          <a:bodyPr/>
          <a:lstStyle/>
          <a:p>
            <a:r>
              <a:rPr lang="zh-CN" altLang="en-US" dirty="0">
                <a:sym typeface="+mn-ea"/>
              </a:rPr>
              <a:t>有参有返回值</a:t>
            </a:r>
            <a:r>
              <a:rPr lang="zh-CN" altLang="en-US" dirty="0">
                <a:sym typeface="+mn-ea"/>
              </a:rPr>
              <a:t>函数</a:t>
            </a:r>
            <a:endParaRPr lang="zh-CN" altLang="en-US" dirty="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964"/>
    </mc:Choice>
    <mc:Fallback>
      <p:transition spd="slow" advTm="964"/>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函数四种基本</a:t>
            </a:r>
            <a:r>
              <a:rPr lang="zh-CN" altLang="en-US" dirty="0"/>
              <a:t>表现形式</a:t>
            </a:r>
            <a:endParaRPr lang="zh-CN" altLang="en-US" dirty="0"/>
          </a:p>
        </p:txBody>
      </p:sp>
      <p:sp>
        <p:nvSpPr>
          <p:cNvPr id="7" name="Rectangle 3"/>
          <p:cNvSpPr txBox="1">
            <a:spLocks noChangeArrowheads="1"/>
          </p:cNvSpPr>
          <p:nvPr/>
        </p:nvSpPr>
        <p:spPr bwMode="auto">
          <a:xfrm>
            <a:off x="184785" y="833755"/>
            <a:ext cx="243840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函数四种基本</a:t>
            </a: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表现形式</a:t>
            </a:r>
            <a:endParaRPr lang="zh-CN" altLang="en-US" sz="1600" dirty="0"/>
          </a:p>
          <a:p>
            <a:pPr eaLnBrk="0" hangingPunct="0"/>
            <a:endParaRPr lang="zh-CN" altLang="en-US" sz="1600" dirty="0"/>
          </a:p>
          <a:p>
            <a:pPr eaLnBrk="0" hangingPunct="0"/>
            <a:endParaRPr lang="zh-CN" altLang="en-US" sz="1600" dirty="0"/>
          </a:p>
        </p:txBody>
      </p:sp>
      <p:sp>
        <p:nvSpPr>
          <p:cNvPr id="18" name="AutoShape 15"/>
          <p:cNvSpPr>
            <a:spLocks noChangeArrowheads="1"/>
          </p:cNvSpPr>
          <p:nvPr/>
        </p:nvSpPr>
        <p:spPr bwMode="auto">
          <a:xfrm>
            <a:off x="525145" y="1810385"/>
            <a:ext cx="3434715" cy="655410"/>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AutoShape 15"/>
          <p:cNvSpPr>
            <a:spLocks noChangeArrowheads="1"/>
          </p:cNvSpPr>
          <p:nvPr/>
        </p:nvSpPr>
        <p:spPr bwMode="auto">
          <a:xfrm>
            <a:off x="394335" y="3728085"/>
            <a:ext cx="3435350" cy="655410"/>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2  ...):</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8" name="AutoShape 15"/>
          <p:cNvSpPr>
            <a:spLocks noChangeArrowheads="1"/>
          </p:cNvSpPr>
          <p:nvPr/>
        </p:nvSpPr>
        <p:spPr bwMode="auto">
          <a:xfrm>
            <a:off x="4883785" y="1810385"/>
            <a:ext cx="3434715" cy="937032"/>
          </a:xfrm>
          <a:prstGeom prst="roundRect">
            <a:avLst>
              <a:gd name="adj" fmla="val 1347"/>
            </a:avLst>
          </a:prstGeom>
          <a:solidFill>
            <a:srgbClr val="EDF5FD"/>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return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返回值</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AutoShape 15"/>
          <p:cNvSpPr>
            <a:spLocks noChangeArrowheads="1"/>
          </p:cNvSpPr>
          <p:nvPr/>
        </p:nvSpPr>
        <p:spPr bwMode="auto">
          <a:xfrm>
            <a:off x="4799965" y="3728085"/>
            <a:ext cx="3435350" cy="937032"/>
          </a:xfrm>
          <a:prstGeom prst="roundRect">
            <a:avLst>
              <a:gd name="adj" fmla="val 1347"/>
            </a:avLst>
          </a:prstGeom>
          <a:solidFill>
            <a:srgbClr val="EDF5FD"/>
          </a:solidFill>
          <a:ln w="28575">
            <a:solidFill>
              <a:srgbClr val="FF0000"/>
            </a:solid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函数关键字  函数名</a:t>
            </a:r>
            <a:r>
              <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1, </a:t>
            </a:r>
            <a:r>
              <a:rPr lang="zh-CN" alt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2  ...):</a:t>
            </a:r>
            <a:endParaRPr lang="en-US" sz="1400"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函数体    </a:t>
            </a: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函数实现的具体功能</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a:p>
            <a:pPr algn="l" defTabSz="723900">
              <a:lnSpc>
                <a:spcPct val="130000"/>
              </a:lnSpc>
              <a:buClr>
                <a:schemeClr val="folHlink"/>
              </a:buClr>
              <a:buSzPct val="60000"/>
              <a:tabLst>
                <a:tab pos="444500" algn="l"/>
              </a:tabLst>
            </a:pPr>
            <a:r>
              <a:rPr lang="en-US" altLang="zh-CN"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	return  </a:t>
            </a:r>
            <a:r>
              <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rPr>
              <a:t>返回值</a:t>
            </a:r>
            <a:endParaRPr lang="zh-CN" altLang="en-US" sz="1400" b="1" dirty="0">
              <a:solidFill>
                <a:srgbClr val="09131F"/>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AutoShape 8"/>
          <p:cNvSpPr>
            <a:spLocks noChangeArrowheads="1"/>
          </p:cNvSpPr>
          <p:nvPr/>
        </p:nvSpPr>
        <p:spPr bwMode="auto">
          <a:xfrm>
            <a:off x="679450" y="1272066"/>
            <a:ext cx="2573655" cy="40814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无参无返回值函数</a:t>
            </a:r>
            <a:endParaRPr lang="zh-CN" altLang="en-US" dirty="0">
              <a:solidFill>
                <a:srgbClr val="F9F9F9"/>
              </a:solidFill>
              <a:latin typeface="+mn-ea"/>
              <a:ea typeface="+mn-ea"/>
            </a:endParaRPr>
          </a:p>
        </p:txBody>
      </p:sp>
      <p:sp>
        <p:nvSpPr>
          <p:cNvPr id="11" name="AutoShape 8"/>
          <p:cNvSpPr>
            <a:spLocks noChangeArrowheads="1"/>
          </p:cNvSpPr>
          <p:nvPr/>
        </p:nvSpPr>
        <p:spPr bwMode="auto">
          <a:xfrm>
            <a:off x="525145" y="3144681"/>
            <a:ext cx="2573655" cy="408144"/>
          </a:xfrm>
          <a:prstGeom prst="wedgeRoundRectCallout">
            <a:avLst>
              <a:gd name="adj1" fmla="val -32968"/>
              <a:gd name="adj2" fmla="val 50833"/>
              <a:gd name="adj3" fmla="val 16667"/>
            </a:avLst>
          </a:prstGeom>
          <a:solidFill>
            <a:srgbClr val="0070C0"/>
          </a:solidFill>
          <a:ln w="9525">
            <a:no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有</a:t>
            </a:r>
            <a:r>
              <a:rPr lang="zh-CN" altLang="en-US" dirty="0">
                <a:solidFill>
                  <a:srgbClr val="F9F9F9"/>
                </a:solidFill>
                <a:latin typeface="+mn-ea"/>
                <a:ea typeface="+mn-ea"/>
              </a:rPr>
              <a:t>参无返回值函数</a:t>
            </a:r>
            <a:endParaRPr lang="zh-CN" altLang="en-US" dirty="0">
              <a:solidFill>
                <a:srgbClr val="F9F9F9"/>
              </a:solidFill>
              <a:latin typeface="+mn-ea"/>
              <a:ea typeface="+mn-ea"/>
            </a:endParaRPr>
          </a:p>
        </p:txBody>
      </p:sp>
      <p:sp>
        <p:nvSpPr>
          <p:cNvPr id="12" name="AutoShape 8"/>
          <p:cNvSpPr>
            <a:spLocks noChangeArrowheads="1"/>
          </p:cNvSpPr>
          <p:nvPr/>
        </p:nvSpPr>
        <p:spPr bwMode="auto">
          <a:xfrm>
            <a:off x="5045710" y="1272066"/>
            <a:ext cx="2573655" cy="408144"/>
          </a:xfrm>
          <a:prstGeom prst="wedgeRoundRectCallout">
            <a:avLst>
              <a:gd name="adj1" fmla="val -32968"/>
              <a:gd name="adj2" fmla="val 50833"/>
              <a:gd name="adj3" fmla="val 16667"/>
            </a:avLst>
          </a:prstGeom>
          <a:solidFill>
            <a:srgbClr val="0070C0"/>
          </a:solidFill>
          <a:ln w="9525">
            <a:no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无参有</a:t>
            </a:r>
            <a:r>
              <a:rPr lang="zh-CN" altLang="en-US" dirty="0">
                <a:solidFill>
                  <a:srgbClr val="F9F9F9"/>
                </a:solidFill>
                <a:latin typeface="+mn-ea"/>
                <a:ea typeface="+mn-ea"/>
              </a:rPr>
              <a:t>返回值函数</a:t>
            </a:r>
            <a:endParaRPr lang="zh-CN" altLang="en-US" dirty="0">
              <a:solidFill>
                <a:srgbClr val="F9F9F9"/>
              </a:solidFill>
              <a:latin typeface="+mn-ea"/>
              <a:ea typeface="+mn-ea"/>
            </a:endParaRPr>
          </a:p>
        </p:txBody>
      </p:sp>
      <p:sp>
        <p:nvSpPr>
          <p:cNvPr id="13" name="AutoShape 8"/>
          <p:cNvSpPr>
            <a:spLocks noChangeArrowheads="1"/>
          </p:cNvSpPr>
          <p:nvPr/>
        </p:nvSpPr>
        <p:spPr bwMode="auto">
          <a:xfrm>
            <a:off x="5231130" y="3144681"/>
            <a:ext cx="2573655" cy="408144"/>
          </a:xfrm>
          <a:prstGeom prst="wedgeRoundRectCallout">
            <a:avLst>
              <a:gd name="adj1" fmla="val -32968"/>
              <a:gd name="adj2" fmla="val 50833"/>
              <a:gd name="adj3" fmla="val 16667"/>
            </a:avLst>
          </a:prstGeom>
          <a:solidFill>
            <a:srgbClr val="0070C0"/>
          </a:solidFill>
          <a:ln w="9525">
            <a:solidFill>
              <a:srgbClr val="FF0000"/>
            </a:solidFill>
            <a:miter lim="800000"/>
          </a:ln>
          <a:effectLst>
            <a:outerShdw dist="38100" dir="5400000" algn="ctr" rotWithShape="0">
              <a:srgbClr val="000000">
                <a:alpha val="37000"/>
              </a:srgbClr>
            </a:outerShdw>
          </a:effectLst>
        </p:spPr>
        <p:txBody>
          <a:bodyPr wrap="square" anchor="b">
            <a:spAutoFit/>
          </a:bodyPr>
          <a:p>
            <a:r>
              <a:rPr lang="zh-CN" altLang="en-US" dirty="0">
                <a:solidFill>
                  <a:srgbClr val="F9F9F9"/>
                </a:solidFill>
                <a:latin typeface="+mn-ea"/>
                <a:ea typeface="+mn-ea"/>
              </a:rPr>
              <a:t>有</a:t>
            </a:r>
            <a:r>
              <a:rPr lang="zh-CN" altLang="en-US" dirty="0">
                <a:solidFill>
                  <a:srgbClr val="F9F9F9"/>
                </a:solidFill>
                <a:latin typeface="+mn-ea"/>
                <a:ea typeface="+mn-ea"/>
              </a:rPr>
              <a:t>参有</a:t>
            </a:r>
            <a:r>
              <a:rPr lang="zh-CN" altLang="en-US" dirty="0">
                <a:solidFill>
                  <a:srgbClr val="F9F9F9"/>
                </a:solidFill>
                <a:latin typeface="+mn-ea"/>
                <a:ea typeface="+mn-ea"/>
              </a:rPr>
              <a:t>返回值函数</a:t>
            </a:r>
            <a:endParaRPr lang="zh-CN" altLang="en-US" dirty="0">
              <a:solidFill>
                <a:srgbClr val="F9F9F9"/>
              </a:solidFill>
              <a:latin typeface="+mn-ea"/>
              <a:ea typeface="+mn-ea"/>
            </a:endParaRPr>
          </a:p>
        </p:txBody>
      </p:sp>
    </p:spTree>
  </p:cSld>
  <p:clrMapOvr>
    <a:masterClrMapping/>
  </p:clrMapOvr>
  <p:transition spd="slow">
    <p:push/>
  </p:transition>
  <p:timing>
    <p:tnLst>
      <p:par>
        <p:cTn id="1" dur="indefinite" restart="never" nodeType="tmRoot"/>
      </p:par>
    </p:tnLst>
    <p:bldLst>
      <p:bldP spid="18" grpId="1" animBg="1"/>
      <p:bldP spid="17" grpId="1" animBg="1"/>
      <p:bldP spid="6" grpId="1" animBg="1"/>
      <p:bldP spid="11" grpId="1" animBg="1"/>
      <p:bldP spid="8" grpId="1" animBg="1"/>
      <p:bldP spid="12" grpId="1" animBg="1"/>
      <p:bldP spid="9" grpId="1" animBg="1"/>
      <p:bldP spid="13"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t>如何使用函数</a:t>
            </a:r>
            <a:endParaRPr lang="zh-CN" altLang="en-US" dirty="0"/>
          </a:p>
        </p:txBody>
      </p:sp>
      <p:sp>
        <p:nvSpPr>
          <p:cNvPr id="7" name="Rectangle 3"/>
          <p:cNvSpPr txBox="1">
            <a:spLocks noChangeArrowheads="1"/>
          </p:cNvSpPr>
          <p:nvPr/>
        </p:nvSpPr>
        <p:spPr bwMode="auto">
          <a:xfrm>
            <a:off x="251267" y="1273835"/>
            <a:ext cx="1008112"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语法格式</a:t>
            </a:r>
            <a:endParaRPr lang="zh-CN" altLang="en-US" sz="1600" dirty="0"/>
          </a:p>
          <a:p>
            <a:pPr eaLnBrk="0" hangingPunct="0"/>
            <a:endParaRPr lang="zh-CN" altLang="en-US" sz="1600" dirty="0"/>
          </a:p>
          <a:p>
            <a:pPr eaLnBrk="0" hangingPunct="0"/>
            <a:endParaRPr lang="zh-CN" altLang="en-US" sz="1600" dirty="0"/>
          </a:p>
        </p:txBody>
      </p:sp>
      <p:sp>
        <p:nvSpPr>
          <p:cNvPr id="18" name="AutoShape 15"/>
          <p:cNvSpPr>
            <a:spLocks noChangeArrowheads="1"/>
          </p:cNvSpPr>
          <p:nvPr/>
        </p:nvSpPr>
        <p:spPr bwMode="auto">
          <a:xfrm>
            <a:off x="1259840" y="1350084"/>
            <a:ext cx="6264696" cy="1705092"/>
          </a:xfrm>
          <a:prstGeom prst="roundRect">
            <a:avLst>
              <a:gd name="adj" fmla="val 1347"/>
            </a:avLst>
          </a:prstGeom>
          <a:solidFill>
            <a:srgbClr val="000000">
              <a:alpha val="0"/>
            </a:srgbClr>
          </a:solidFill>
          <a:ln w="28575">
            <a:noFill/>
            <a:bevel/>
          </a:ln>
          <a:effectLst>
            <a:outerShdw sx="100999" sy="100999" algn="ctr" rotWithShape="0">
              <a:srgbClr val="000000">
                <a:alpha val="6999"/>
              </a:srgbClr>
            </a:outerShdw>
          </a:effectLst>
        </p:spPr>
        <p:txBody>
          <a:bodyPr wrap="square">
            <a:spAutoFit/>
          </a:bodyPr>
          <a:lstStyle/>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函数关键字  函数名</a:t>
            </a:r>
            <a:r>
              <a:rPr lang="en-US" sz="2000" dirty="0">
                <a:solidFill>
                  <a:srgbClr val="09131F"/>
                </a:solidFill>
                <a:latin typeface="+mn-ea"/>
                <a:ea typeface="+mn-ea"/>
                <a:cs typeface="+mn-ea"/>
              </a:rPr>
              <a:t>(</a:t>
            </a:r>
            <a:r>
              <a:rPr lang="zh-CN" altLang="en-US" sz="2000" b="1" dirty="0">
                <a:solidFill>
                  <a:srgbClr val="09131F"/>
                </a:solidFill>
                <a:latin typeface="+mn-ea"/>
                <a:ea typeface="+mn-ea"/>
                <a:cs typeface="+mn-ea"/>
              </a:rPr>
              <a:t>参数</a:t>
            </a:r>
            <a:r>
              <a:rPr lang="en-US" sz="2000" dirty="0">
                <a:solidFill>
                  <a:srgbClr val="09131F"/>
                </a:solidFill>
                <a:latin typeface="+mn-ea"/>
                <a:ea typeface="+mn-ea"/>
                <a:cs typeface="+mn-ea"/>
              </a:rPr>
              <a:t> )</a:t>
            </a:r>
            <a:r>
              <a:rPr lang="en-US" sz="2000" b="1" dirty="0">
                <a:solidFill>
                  <a:srgbClr val="09131F"/>
                </a:solidFill>
                <a:latin typeface="+mn-ea"/>
                <a:ea typeface="+mn-ea"/>
                <a:cs typeface="+mn-ea"/>
              </a:rPr>
              <a:t> :</a:t>
            </a:r>
            <a:endParaRPr lang="en-US" sz="2000" b="1"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dirty="0">
                <a:solidFill>
                  <a:srgbClr val="09131F"/>
                </a:solidFill>
                <a:latin typeface="+mn-ea"/>
                <a:ea typeface="+mn-ea"/>
                <a:cs typeface="+mn-ea"/>
              </a:rPr>
              <a:t>        ''''</a:t>
            </a:r>
            <a:r>
              <a:rPr lang="zh-CN" altLang="en-US" sz="2000" dirty="0">
                <a:solidFill>
                  <a:srgbClr val="09131F"/>
                </a:solidFill>
                <a:latin typeface="+mn-ea"/>
                <a:ea typeface="+mn-ea"/>
                <a:cs typeface="+mn-ea"/>
              </a:rPr>
              <a:t>注释</a:t>
            </a:r>
            <a:r>
              <a:rPr lang="en-US" sz="2000" dirty="0">
                <a:solidFill>
                  <a:srgbClr val="09131F"/>
                </a:solidFill>
                <a:latin typeface="+mn-ea"/>
                <a:ea typeface="+mn-ea"/>
                <a:cs typeface="+mn-ea"/>
              </a:rPr>
              <a:t>'''</a:t>
            </a:r>
            <a:endParaRPr lang="en-US" sz="2000"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函数体    </a:t>
            </a:r>
            <a:r>
              <a:rPr lang="en-US" altLang="zh-CN"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函数实现的具体功能</a:t>
            </a:r>
            <a:endParaRPr lang="zh-CN" altLang="en-US" sz="2000" b="1" dirty="0">
              <a:solidFill>
                <a:srgbClr val="09131F"/>
              </a:solidFill>
              <a:latin typeface="+mn-ea"/>
              <a:ea typeface="+mn-ea"/>
              <a:cs typeface="+mn-ea"/>
            </a:endParaRPr>
          </a:p>
          <a:p>
            <a:pPr algn="l" defTabSz="723900">
              <a:lnSpc>
                <a:spcPct val="130000"/>
              </a:lnSpc>
              <a:buClr>
                <a:schemeClr val="folHlink"/>
              </a:buClr>
              <a:buSzPct val="60000"/>
              <a:tabLst>
                <a:tab pos="444500" algn="l"/>
              </a:tabLst>
            </a:pPr>
            <a:r>
              <a:rPr lang="en-US" altLang="zh-CN" sz="2000" b="1" dirty="0">
                <a:solidFill>
                  <a:srgbClr val="09131F"/>
                </a:solidFill>
                <a:latin typeface="+mn-ea"/>
                <a:ea typeface="+mn-ea"/>
                <a:cs typeface="+mn-ea"/>
              </a:rPr>
              <a:t>	  return  </a:t>
            </a:r>
            <a:r>
              <a:rPr lang="zh-CN" altLang="en-US" sz="2000" b="1" dirty="0">
                <a:solidFill>
                  <a:srgbClr val="09131F"/>
                </a:solidFill>
                <a:latin typeface="+mn-ea"/>
                <a:ea typeface="+mn-ea"/>
                <a:cs typeface="+mn-ea"/>
              </a:rPr>
              <a:t>表达式</a:t>
            </a:r>
            <a:endParaRPr lang="zh-CN" altLang="en-US" sz="2000" b="1" dirty="0">
              <a:solidFill>
                <a:srgbClr val="09131F"/>
              </a:solidFill>
              <a:latin typeface="+mn-ea"/>
              <a:ea typeface="+mn-ea"/>
              <a:cs typeface="+mn-ea"/>
            </a:endParaRPr>
          </a:p>
        </p:txBody>
      </p:sp>
      <p:sp>
        <p:nvSpPr>
          <p:cNvPr id="10" name="Rectangle 3"/>
          <p:cNvSpPr txBox="1">
            <a:spLocks noChangeArrowheads="1"/>
          </p:cNvSpPr>
          <p:nvPr/>
        </p:nvSpPr>
        <p:spPr bwMode="auto">
          <a:xfrm>
            <a:off x="251460" y="3249930"/>
            <a:ext cx="152146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cene3d>
              <a:camera prst="orthographicFront"/>
              <a:lightRig rig="threePt" dir="t"/>
            </a:scene3d>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eaLnBrk="0" hangingPunct="0">
              <a:lnSpc>
                <a:spcPct val="90000"/>
              </a:lnSpc>
              <a:spcBef>
                <a:spcPts val="1000"/>
              </a:spcBef>
            </a:pPr>
            <a:r>
              <a:rPr lang="zh-CN" altLang="en-US" sz="1600" dirty="0">
                <a:ln/>
                <a:solidFill>
                  <a:schemeClr val="accent1"/>
                </a:solidFill>
                <a:effectLst>
                  <a:outerShdw blurRad="38100" dist="25400" dir="5400000" algn="ctr" rotWithShape="0">
                    <a:srgbClr val="6E747A">
                      <a:alpha val="43000"/>
                    </a:srgbClr>
                  </a:outerShdw>
                </a:effectLst>
              </a:rPr>
              <a:t>调用函数格式</a:t>
            </a:r>
            <a:endParaRPr lang="zh-CN" altLang="en-US" sz="1600" dirty="0">
              <a:ln/>
              <a:solidFill>
                <a:schemeClr val="accent1"/>
              </a:solidFill>
              <a:effectLst>
                <a:outerShdw blurRad="38100" dist="25400" dir="5400000" algn="ctr" rotWithShape="0">
                  <a:srgbClr val="6E747A">
                    <a:alpha val="43000"/>
                  </a:srgbClr>
                </a:outerShdw>
              </a:effectLst>
            </a:endParaRPr>
          </a:p>
          <a:p>
            <a:pPr eaLnBrk="0" hangingPunct="0"/>
            <a:endParaRPr lang="zh-CN" altLang="en-US" sz="1600" dirty="0">
              <a:ln/>
              <a:solidFill>
                <a:schemeClr val="accent1"/>
              </a:solidFill>
              <a:effectLst>
                <a:outerShdw blurRad="38100" dist="25400" dir="5400000" algn="ctr" rotWithShape="0">
                  <a:srgbClr val="6E747A">
                    <a:alpha val="43000"/>
                  </a:srgbClr>
                </a:outerShdw>
              </a:effectLst>
            </a:endParaRPr>
          </a:p>
          <a:p>
            <a:pPr eaLnBrk="0" hangingPunct="0"/>
            <a:endParaRPr lang="zh-CN" altLang="en-US" sz="1600" dirty="0">
              <a:ln/>
              <a:solidFill>
                <a:schemeClr val="accent1"/>
              </a:solidFill>
              <a:effectLst>
                <a:outerShdw blurRad="38100" dist="25400" dir="5400000" algn="ctr" rotWithShape="0">
                  <a:srgbClr val="6E747A">
                    <a:alpha val="43000"/>
                  </a:srgbClr>
                </a:outerShdw>
              </a:effectLst>
            </a:endParaRPr>
          </a:p>
        </p:txBody>
      </p:sp>
      <p:sp>
        <p:nvSpPr>
          <p:cNvPr id="4" name="Rectangle 3"/>
          <p:cNvSpPr txBox="1">
            <a:spLocks noChangeArrowheads="1"/>
          </p:cNvSpPr>
          <p:nvPr/>
        </p:nvSpPr>
        <p:spPr bwMode="auto">
          <a:xfrm>
            <a:off x="179705" y="826770"/>
            <a:ext cx="255206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a:defRPr sz="2800" b="1">
                <a:solidFill>
                  <a:srgbClr val="000000"/>
                </a:solidFill>
                <a:latin typeface="Times New Roman" panose="02020603050405020304" pitchFamily="18" charset="0"/>
                <a:ea typeface="宋体" panose="02010600030101010101" pitchFamily="2" charset="-122"/>
              </a:defRPr>
            </a:lvl1pPr>
            <a:lvl2pPr>
              <a:defRPr sz="2800" b="1">
                <a:solidFill>
                  <a:srgbClr val="000000"/>
                </a:solidFill>
                <a:latin typeface="Times New Roman" panose="02020603050405020304" pitchFamily="18" charset="0"/>
                <a:ea typeface="宋体" panose="02010600030101010101" pitchFamily="2" charset="-122"/>
              </a:defRPr>
            </a:lvl2pPr>
            <a:lvl3pPr>
              <a:defRPr sz="2800" b="1">
                <a:solidFill>
                  <a:srgbClr val="000000"/>
                </a:solidFill>
                <a:latin typeface="Times New Roman" panose="02020603050405020304" pitchFamily="18" charset="0"/>
                <a:ea typeface="宋体" panose="02010600030101010101" pitchFamily="2" charset="-122"/>
              </a:defRPr>
            </a:lvl3pPr>
            <a:lvl4pPr>
              <a:defRPr sz="2800" b="1">
                <a:solidFill>
                  <a:srgbClr val="000000"/>
                </a:solidFill>
                <a:latin typeface="Times New Roman" panose="02020603050405020304" pitchFamily="18" charset="0"/>
                <a:ea typeface="宋体" panose="02010600030101010101" pitchFamily="2" charset="-122"/>
              </a:defRPr>
            </a:lvl4pPr>
            <a:lvl5pPr>
              <a:defRPr sz="2800" b="1">
                <a:solidFill>
                  <a:srgbClr val="000000"/>
                </a:solidFill>
                <a:latin typeface="Times New Roman" panose="02020603050405020304" pitchFamily="18" charset="0"/>
                <a:ea typeface="宋体" panose="02010600030101010101" pitchFamily="2" charset="-122"/>
              </a:defRPr>
            </a:lvl5pPr>
            <a:lvl6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6pPr>
            <a:lvl7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7pPr>
            <a:lvl8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8pPr>
            <a:lvl9pPr fontAlgn="base">
              <a:spcBef>
                <a:spcPct val="20000"/>
              </a:spcBef>
              <a:spcAft>
                <a:spcPct val="0"/>
              </a:spcAft>
              <a:buClr>
                <a:schemeClr val="tx2"/>
              </a:buClr>
              <a:buFont typeface="Wingdings" panose="05000000000000000000" pitchFamily="2" charset="2"/>
              <a:buChar char="v"/>
              <a:defRPr sz="2800" b="1">
                <a:solidFill>
                  <a:srgbClr val="000000"/>
                </a:solidFill>
                <a:latin typeface="Times New Roman" panose="02020603050405020304" pitchFamily="18" charset="0"/>
                <a:ea typeface="宋体" panose="02010600030101010101" pitchFamily="2" charset="-122"/>
              </a:defRPr>
            </a:lvl9pPr>
          </a:lstStyle>
          <a:p>
            <a:pPr marL="0" indent="0" algn="l" eaLnBrk="0" hangingPunct="0">
              <a:lnSpc>
                <a:spcPct val="90000"/>
              </a:lnSpc>
              <a:spcBef>
                <a:spcPts val="1000"/>
              </a:spcBef>
            </a:pP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创建无参</a:t>
            </a:r>
            <a:r>
              <a:rPr lang="zh-CN" altLang="en-US" sz="1600" dirty="0">
                <a:solidFill>
                  <a:srgbClr val="0070C0"/>
                </a:solidFill>
                <a:latin typeface="微软雅黑" panose="020B0503020204020204" pitchFamily="34" charset="-122"/>
                <a:ea typeface="微软雅黑" panose="020B0503020204020204" pitchFamily="34" charset="-122"/>
                <a:sym typeface="Calibri" panose="020F0502020204030204" pitchFamily="34" charset="0"/>
              </a:rPr>
              <a:t>有返回值函数</a:t>
            </a:r>
            <a:endParaRPr lang="zh-CN" altLang="en-US" sz="1600" dirty="0"/>
          </a:p>
          <a:p>
            <a:pPr eaLnBrk="0" hangingPunct="0"/>
            <a:endParaRPr lang="zh-CN" altLang="en-US" sz="1600" dirty="0"/>
          </a:p>
          <a:p>
            <a:pPr eaLnBrk="0" hangingPunct="0"/>
            <a:endParaRPr lang="zh-CN" altLang="en-US" sz="1600" dirty="0"/>
          </a:p>
        </p:txBody>
      </p:sp>
      <p:sp>
        <p:nvSpPr>
          <p:cNvPr id="3" name="AutoShape 15"/>
          <p:cNvSpPr>
            <a:spLocks noChangeArrowheads="1"/>
          </p:cNvSpPr>
          <p:nvPr/>
        </p:nvSpPr>
        <p:spPr bwMode="auto">
          <a:xfrm>
            <a:off x="1259840" y="3688154"/>
            <a:ext cx="6264696" cy="495398"/>
          </a:xfrm>
          <a:prstGeom prst="roundRect">
            <a:avLst>
              <a:gd name="adj" fmla="val 1347"/>
            </a:avLst>
          </a:prstGeom>
          <a:solidFill>
            <a:srgbClr val="000000">
              <a:alpha val="0"/>
            </a:srgbClr>
          </a:solidFill>
          <a:ln w="28575">
            <a:noFill/>
            <a:bevel/>
          </a:ln>
          <a:effectLst>
            <a:outerShdw sx="100999" sy="100999" algn="ctr" rotWithShape="0">
              <a:srgbClr val="000000">
                <a:alpha val="6999"/>
              </a:srgbClr>
            </a:outerShdw>
          </a:effectLst>
        </p:spPr>
        <p:txBody>
          <a:bodyPr wrap="square">
            <a:spAutoFit/>
          </a:bodyPr>
          <a:p>
            <a:pPr algn="l" defTabSz="723900">
              <a:lnSpc>
                <a:spcPct val="130000"/>
              </a:lnSpc>
              <a:buClr>
                <a:schemeClr val="folHlink"/>
              </a:buClr>
              <a:buSzPct val="60000"/>
              <a:tabLst>
                <a:tab pos="444500" algn="l"/>
              </a:tabLst>
            </a:pPr>
            <a:r>
              <a:rPr lang="zh-CN" altLang="en-US" sz="2000" b="1" dirty="0">
                <a:solidFill>
                  <a:srgbClr val="09131F"/>
                </a:solidFill>
                <a:latin typeface="+mn-ea"/>
                <a:ea typeface="+mn-ea"/>
                <a:cs typeface="+mn-ea"/>
              </a:rPr>
              <a:t>变量 </a:t>
            </a:r>
            <a:r>
              <a:rPr lang="en-US" altLang="zh-CN" sz="2000" b="1" dirty="0">
                <a:solidFill>
                  <a:srgbClr val="09131F"/>
                </a:solidFill>
                <a:latin typeface="+mn-ea"/>
                <a:ea typeface="+mn-ea"/>
                <a:cs typeface="+mn-ea"/>
              </a:rPr>
              <a:t>= </a:t>
            </a:r>
            <a:r>
              <a:rPr lang="zh-CN" altLang="en-US" sz="2000" b="1" dirty="0">
                <a:solidFill>
                  <a:srgbClr val="09131F"/>
                </a:solidFill>
                <a:latin typeface="+mn-ea"/>
                <a:ea typeface="+mn-ea"/>
                <a:cs typeface="+mn-ea"/>
              </a:rPr>
              <a:t>函数名</a:t>
            </a:r>
            <a:r>
              <a:rPr lang="en-US" sz="2000" dirty="0">
                <a:solidFill>
                  <a:srgbClr val="09131F"/>
                </a:solidFill>
                <a:latin typeface="+mn-ea"/>
                <a:ea typeface="+mn-ea"/>
                <a:cs typeface="+mn-ea"/>
              </a:rPr>
              <a:t>(</a:t>
            </a:r>
            <a:r>
              <a:rPr lang="zh-CN" altLang="en-US" sz="2000" b="1" dirty="0">
                <a:solidFill>
                  <a:srgbClr val="09131F"/>
                </a:solidFill>
                <a:latin typeface="+mn-ea"/>
                <a:ea typeface="+mn-ea"/>
                <a:cs typeface="+mn-ea"/>
              </a:rPr>
              <a:t>参数</a:t>
            </a:r>
            <a:r>
              <a:rPr lang="en-US" sz="2000" dirty="0">
                <a:solidFill>
                  <a:srgbClr val="09131F"/>
                </a:solidFill>
                <a:latin typeface="+mn-ea"/>
                <a:ea typeface="+mn-ea"/>
                <a:cs typeface="+mn-ea"/>
              </a:rPr>
              <a:t> )</a:t>
            </a:r>
            <a:r>
              <a:rPr lang="en-US" sz="2000" b="1" dirty="0">
                <a:solidFill>
                  <a:srgbClr val="09131F"/>
                </a:solidFill>
                <a:latin typeface="+mn-ea"/>
                <a:ea typeface="+mn-ea"/>
                <a:cs typeface="+mn-ea"/>
              </a:rPr>
              <a:t> </a:t>
            </a:r>
            <a:endParaRPr lang="zh-CN" altLang="en-US" sz="2000" b="1" dirty="0">
              <a:solidFill>
                <a:srgbClr val="09131F"/>
              </a:solidFill>
              <a:latin typeface="+mn-ea"/>
              <a:ea typeface="+mn-ea"/>
              <a:cs typeface="+mn-ea"/>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500"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linds(horizontal)">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linds(horizontal)">
                                      <p:cBhvr>
                                        <p:cTn id="2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8" grpId="0" bldLvl="0" animBg="1"/>
      <p:bldP spid="10" grpId="0"/>
      <p:bldP spid="3" grpId="0" bldLvl="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课堂案例</a:t>
            </a:r>
            <a:endParaRPr lang="zh-CN" altLang="en-US" dirty="0">
              <a:sym typeface="+mn-ea"/>
            </a:endParaRPr>
          </a:p>
        </p:txBody>
      </p:sp>
      <p:sp>
        <p:nvSpPr>
          <p:cNvPr id="11" name="AutoShape 8"/>
          <p:cNvSpPr>
            <a:spLocks noChangeArrowheads="1"/>
          </p:cNvSpPr>
          <p:nvPr/>
        </p:nvSpPr>
        <p:spPr bwMode="auto">
          <a:xfrm>
            <a:off x="448310" y="780039"/>
            <a:ext cx="7933055" cy="748406"/>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r>
              <a:rPr lang="zh-CN" altLang="en-US" dirty="0">
                <a:solidFill>
                  <a:srgbClr val="F9F9F9"/>
                </a:solidFill>
                <a:latin typeface="+mn-ea"/>
                <a:ea typeface="+mn-ea"/>
              </a:rPr>
              <a:t>：</a:t>
            </a:r>
            <a:endParaRPr lang="zh-CN" altLang="en-US" dirty="0">
              <a:solidFill>
                <a:srgbClr val="F9F9F9"/>
              </a:solidFill>
              <a:latin typeface="+mn-ea"/>
              <a:ea typeface="+mn-ea"/>
            </a:endParaRPr>
          </a:p>
          <a:p>
            <a:pPr algn="l"/>
            <a:r>
              <a:rPr lang="zh-CN" altLang="en-US" dirty="0">
                <a:solidFill>
                  <a:srgbClr val="F9F9F9"/>
                </a:solidFill>
                <a:latin typeface="+mn-ea"/>
                <a:ea typeface="+mn-ea"/>
              </a:rPr>
              <a:t>判断一个三位数是否是水仙花数</a:t>
            </a:r>
            <a:endParaRPr lang="zh-CN" altLang="en-US" dirty="0">
              <a:solidFill>
                <a:srgbClr val="F9F9F9"/>
              </a:solidFill>
              <a:latin typeface="+mn-ea"/>
              <a:ea typeface="+mn-ea"/>
            </a:endParaRPr>
          </a:p>
        </p:txBody>
      </p:sp>
      <p:sp>
        <p:nvSpPr>
          <p:cNvPr id="3" name="AutoShape 8"/>
          <p:cNvSpPr>
            <a:spLocks noChangeArrowheads="1"/>
          </p:cNvSpPr>
          <p:nvPr/>
        </p:nvSpPr>
        <p:spPr bwMode="auto">
          <a:xfrm>
            <a:off x="448310" y="1907376"/>
            <a:ext cx="7933055" cy="132858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endParaRPr lang="zh-CN" altLang="en-US" dirty="0">
              <a:solidFill>
                <a:srgbClr val="F9F9F9"/>
              </a:solidFill>
              <a:latin typeface="+mn-ea"/>
              <a:ea typeface="+mn-ea"/>
            </a:endParaRPr>
          </a:p>
          <a:p>
            <a:pPr algn="l"/>
            <a:r>
              <a:rPr lang="zh-CN" altLang="en-US" dirty="0">
                <a:solidFill>
                  <a:srgbClr val="F9F9F9"/>
                </a:solidFill>
                <a:latin typeface="+mn-ea"/>
                <a:ea typeface="+mn-ea"/>
              </a:rPr>
              <a:t>接收一个正整数</a:t>
            </a:r>
            <a:r>
              <a:rPr lang="en-US" altLang="zh-CN" dirty="0">
                <a:solidFill>
                  <a:srgbClr val="F9F9F9"/>
                </a:solidFill>
                <a:latin typeface="+mn-ea"/>
                <a:ea typeface="+mn-ea"/>
              </a:rPr>
              <a:t>n</a:t>
            </a:r>
            <a:r>
              <a:rPr lang="zh-CN" altLang="en-US" dirty="0">
                <a:solidFill>
                  <a:srgbClr val="F9F9F9"/>
                </a:solidFill>
                <a:latin typeface="+mn-ea"/>
                <a:ea typeface="+mn-ea"/>
              </a:rPr>
              <a:t>，</a:t>
            </a:r>
            <a:r>
              <a:rPr lang="zh-CN" altLang="en-US" dirty="0">
                <a:solidFill>
                  <a:srgbClr val="F9F9F9"/>
                </a:solidFill>
                <a:latin typeface="+mn-ea"/>
                <a:ea typeface="+mn-ea"/>
              </a:rPr>
              <a:t>可以</a:t>
            </a:r>
            <a:r>
              <a:rPr lang="zh-CN" altLang="en-US" dirty="0">
                <a:solidFill>
                  <a:srgbClr val="F9F9F9"/>
                </a:solidFill>
                <a:latin typeface="+mn-ea"/>
                <a:ea typeface="+mn-ea"/>
              </a:rPr>
              <a:t>生成一个含有</a:t>
            </a:r>
            <a:r>
              <a:rPr lang="en-US" altLang="zh-CN" dirty="0">
                <a:solidFill>
                  <a:srgbClr val="F9F9F9"/>
                </a:solidFill>
                <a:latin typeface="+mn-ea"/>
                <a:ea typeface="+mn-ea"/>
              </a:rPr>
              <a:t>n</a:t>
            </a:r>
            <a:r>
              <a:rPr lang="zh-CN" altLang="en-US" dirty="0">
                <a:solidFill>
                  <a:srgbClr val="F9F9F9"/>
                </a:solidFill>
                <a:latin typeface="+mn-ea"/>
                <a:ea typeface="+mn-ea"/>
              </a:rPr>
              <a:t>个随机数的列表，要求所有元素不相同，并且每个元素的值介于1到100之间。</a:t>
            </a:r>
            <a:endParaRPr lang="zh-CN" altLang="en-US" dirty="0">
              <a:solidFill>
                <a:srgbClr val="F9F9F9"/>
              </a:solidFill>
              <a:latin typeface="+mn-ea"/>
              <a:ea typeface="+mn-ea"/>
            </a:endParaRPr>
          </a:p>
          <a:p>
            <a:pPr algn="l"/>
            <a:endParaRPr lang="zh-CN" altLang="en-US" dirty="0">
              <a:solidFill>
                <a:srgbClr val="F9F9F9"/>
              </a:solidFill>
              <a:latin typeface="+mn-ea"/>
              <a:ea typeface="+mn-ea"/>
            </a:endParaRPr>
          </a:p>
        </p:txBody>
      </p:sp>
    </p:spTree>
  </p:cSld>
  <p:clrMapOvr>
    <a:masterClrMapping/>
  </p:clrMapOvr>
  <p:transition spd="slow">
    <p:push/>
  </p:transition>
  <p:timing>
    <p:tnLst>
      <p:par>
        <p:cTn id="1" dur="indefinite" restart="never" nodeType="tmRoot"/>
      </p:par>
    </p:tnLst>
    <p:bldLst>
      <p:bldP spid="11" grpId="1" animBg="1"/>
      <p:bldP spid="3"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r>
              <a:rPr lang="zh-CN" altLang="en-US" dirty="0"/>
              <a:t>课堂案例</a:t>
            </a:r>
            <a:endParaRPr lang="zh-CN" altLang="en-US" dirty="0"/>
          </a:p>
        </p:txBody>
      </p:sp>
      <p:sp>
        <p:nvSpPr>
          <p:cNvPr id="3" name="内容占位符 2"/>
          <p:cNvSpPr>
            <a:spLocks noGrp="1"/>
          </p:cNvSpPr>
          <p:nvPr>
            <p:ph idx="1"/>
          </p:nvPr>
        </p:nvSpPr>
        <p:spPr>
          <a:xfrm>
            <a:off x="251460" y="916305"/>
            <a:ext cx="8662670" cy="3137535"/>
          </a:xfrm>
        </p:spPr>
        <p:txBody>
          <a:bodyPr/>
          <a:lstStyle/>
          <a:p>
            <a:pPr marL="0" indent="0">
              <a:buFont typeface="Wingdings" panose="05000000000000000000" pitchFamily="2" charset="2"/>
              <a:buNone/>
            </a:pPr>
            <a:endParaRPr lang="en-US" altLang="zh-CN" dirty="0"/>
          </a:p>
          <a:p>
            <a:pPr>
              <a:buFont typeface="Wingdings" panose="05000000000000000000" pitchFamily="2" charset="2"/>
              <a:buChar char="ü"/>
            </a:pPr>
            <a:r>
              <a:rPr lang="zh-CN" altLang="en-US" dirty="0"/>
              <a:t>定义一个</a:t>
            </a:r>
            <a:r>
              <a:rPr lang="en-US" altLang="zh-CN" dirty="0"/>
              <a:t>login</a:t>
            </a:r>
            <a:r>
              <a:rPr lang="zh-CN" altLang="en-US" dirty="0"/>
              <a:t>函数，接收用户名和密码</a:t>
            </a:r>
            <a:r>
              <a:rPr lang="en-US" altLang="zh-CN" dirty="0"/>
              <a:t>2</a:t>
            </a:r>
            <a:r>
              <a:rPr lang="zh-CN" altLang="en-US" dirty="0"/>
              <a:t>个参数</a:t>
            </a:r>
            <a:endParaRPr lang="zh-CN" altLang="en-US" dirty="0"/>
          </a:p>
          <a:p>
            <a:pPr lvl="1">
              <a:buFont typeface="Wingdings" panose="05000000000000000000" pitchFamily="2" charset="2"/>
              <a:buChar char="ü"/>
            </a:pPr>
            <a:r>
              <a:rPr lang="zh-CN" altLang="en-US" dirty="0"/>
              <a:t>如果用户名和密码正确</a:t>
            </a:r>
            <a:r>
              <a:rPr lang="zh-CN" altLang="en-US" dirty="0"/>
              <a:t>，打印</a:t>
            </a:r>
            <a:r>
              <a:rPr lang="en-US" altLang="zh-CN" dirty="0"/>
              <a:t>“</a:t>
            </a:r>
            <a:r>
              <a:rPr lang="zh-CN" altLang="en-US" dirty="0">
                <a:sym typeface="+mn-ea"/>
              </a:rPr>
              <a:t>欢迎</a:t>
            </a:r>
            <a:r>
              <a:rPr lang="en-US" altLang="zh-CN" dirty="0"/>
              <a:t>xxx</a:t>
            </a:r>
            <a:r>
              <a:rPr lang="zh-CN" altLang="en-US" dirty="0"/>
              <a:t>光临八维餐厅</a:t>
            </a:r>
            <a:r>
              <a:rPr lang="en-US" altLang="zh-CN" dirty="0"/>
              <a:t>”</a:t>
            </a:r>
            <a:endParaRPr lang="en-US" altLang="zh-CN" dirty="0"/>
          </a:p>
          <a:p>
            <a:pPr lvl="1">
              <a:buFont typeface="Wingdings" panose="05000000000000000000" pitchFamily="2" charset="2"/>
              <a:buChar char="ü"/>
            </a:pPr>
            <a:r>
              <a:rPr lang="zh-CN" altLang="en-US" dirty="0"/>
              <a:t>如果不正确，打印</a:t>
            </a:r>
            <a:r>
              <a:rPr lang="en-US" altLang="zh-CN" dirty="0"/>
              <a:t>“</a:t>
            </a:r>
            <a:r>
              <a:rPr lang="zh-CN" altLang="en-US" dirty="0"/>
              <a:t>输入有误</a:t>
            </a:r>
            <a:r>
              <a:rPr lang="en-US" altLang="zh-CN" dirty="0"/>
              <a:t>”</a:t>
            </a:r>
            <a:endParaRPr lang="en-US" altLang="zh-CN" dirty="0"/>
          </a:p>
          <a:p>
            <a:pPr lvl="1">
              <a:buFont typeface="Wingdings" panose="05000000000000000000" pitchFamily="2" charset="2"/>
              <a:buChar char="ü"/>
            </a:pPr>
            <a:r>
              <a:rPr lang="zh-CN" altLang="en-US" dirty="0"/>
              <a:t>正确的用户名：张三</a:t>
            </a:r>
            <a:endParaRPr lang="en-US" altLang="zh-CN" dirty="0"/>
          </a:p>
          <a:p>
            <a:pPr lvl="1">
              <a:buFont typeface="Wingdings" panose="05000000000000000000" pitchFamily="2" charset="2"/>
              <a:buChar char="ü"/>
            </a:pPr>
            <a:r>
              <a:rPr lang="zh-CN" altLang="en-US" dirty="0"/>
              <a:t>正确的密码：</a:t>
            </a:r>
            <a:r>
              <a:rPr lang="en-US" altLang="zh-CN" dirty="0"/>
              <a:t>666</a:t>
            </a:r>
            <a:endParaRPr lang="en-US" altLang="zh-CN" dirty="0"/>
          </a:p>
          <a:p>
            <a:endParaRPr lang="zh-CN" altLang="en-US" dirty="0"/>
          </a:p>
        </p:txBody>
      </p:sp>
      <p:sp>
        <p:nvSpPr>
          <p:cNvPr id="4" name="副标题 3"/>
          <p:cNvSpPr>
            <a:spLocks noGrp="1"/>
          </p:cNvSpPr>
          <p:nvPr>
            <p:ph type="subTitle" idx="10"/>
          </p:nvPr>
        </p:nvSpPr>
        <p:spPr>
          <a:xfrm>
            <a:off x="470084" y="843305"/>
            <a:ext cx="7488832" cy="360040"/>
          </a:xfrm>
        </p:spPr>
        <p:txBody>
          <a:bodyPr/>
          <a:lstStyle/>
          <a:p>
            <a:r>
              <a:rPr lang="zh-CN" altLang="en-US" dirty="0"/>
              <a:t>需求分析</a:t>
            </a:r>
            <a:endParaRPr lang="zh-CN" altLang="en-US" dirty="0"/>
          </a:p>
        </p:txBody>
      </p:sp>
      <p:grpSp>
        <p:nvGrpSpPr>
          <p:cNvPr id="5" name="组合 4"/>
          <p:cNvGrpSpPr/>
          <p:nvPr/>
        </p:nvGrpSpPr>
        <p:grpSpPr>
          <a:xfrm>
            <a:off x="322858" y="843305"/>
            <a:ext cx="216694" cy="231536"/>
            <a:chOff x="436488" y="2946400"/>
            <a:chExt cx="231776" cy="247651"/>
          </a:xfrm>
        </p:grpSpPr>
        <p:sp>
          <p:nvSpPr>
            <p:cNvPr id="6" name="Freeform 65"/>
            <p:cNvSpPr>
              <a:spLocks noEditPoints="1"/>
            </p:cNvSpPr>
            <p:nvPr/>
          </p:nvSpPr>
          <p:spPr bwMode="auto">
            <a:xfrm>
              <a:off x="436488" y="2946400"/>
              <a:ext cx="198438" cy="247650"/>
            </a:xfrm>
            <a:custGeom>
              <a:avLst/>
              <a:gdLst>
                <a:gd name="T0" fmla="*/ 53 w 53"/>
                <a:gd name="T1" fmla="*/ 36 h 66"/>
                <a:gd name="T2" fmla="*/ 53 w 53"/>
                <a:gd name="T3" fmla="*/ 13 h 66"/>
                <a:gd name="T4" fmla="*/ 45 w 53"/>
                <a:gd name="T5" fmla="*/ 5 h 66"/>
                <a:gd name="T6" fmla="*/ 38 w 53"/>
                <a:gd name="T7" fmla="*/ 5 h 66"/>
                <a:gd name="T8" fmla="*/ 32 w 53"/>
                <a:gd name="T9" fmla="*/ 0 h 66"/>
                <a:gd name="T10" fmla="*/ 21 w 53"/>
                <a:gd name="T11" fmla="*/ 0 h 66"/>
                <a:gd name="T12" fmla="*/ 15 w 53"/>
                <a:gd name="T13" fmla="*/ 5 h 66"/>
                <a:gd name="T14" fmla="*/ 8 w 53"/>
                <a:gd name="T15" fmla="*/ 5 h 66"/>
                <a:gd name="T16" fmla="*/ 0 w 53"/>
                <a:gd name="T17" fmla="*/ 13 h 66"/>
                <a:gd name="T18" fmla="*/ 0 w 53"/>
                <a:gd name="T19" fmla="*/ 58 h 66"/>
                <a:gd name="T20" fmla="*/ 8 w 53"/>
                <a:gd name="T21" fmla="*/ 66 h 66"/>
                <a:gd name="T22" fmla="*/ 32 w 53"/>
                <a:gd name="T23" fmla="*/ 66 h 66"/>
                <a:gd name="T24" fmla="*/ 32 w 53"/>
                <a:gd name="T25" fmla="*/ 64 h 66"/>
                <a:gd name="T26" fmla="*/ 53 w 53"/>
                <a:gd name="T27" fmla="*/ 36 h 66"/>
                <a:gd name="T28" fmla="*/ 21 w 53"/>
                <a:gd name="T29" fmla="*/ 4 h 66"/>
                <a:gd name="T30" fmla="*/ 32 w 53"/>
                <a:gd name="T31" fmla="*/ 4 h 66"/>
                <a:gd name="T32" fmla="*/ 34 w 53"/>
                <a:gd name="T33" fmla="*/ 6 h 66"/>
                <a:gd name="T34" fmla="*/ 32 w 53"/>
                <a:gd name="T35" fmla="*/ 8 h 66"/>
                <a:gd name="T36" fmla="*/ 21 w 53"/>
                <a:gd name="T37" fmla="*/ 8 h 66"/>
                <a:gd name="T38" fmla="*/ 19 w 53"/>
                <a:gd name="T39" fmla="*/ 6 h 66"/>
                <a:gd name="T40" fmla="*/ 21 w 53"/>
                <a:gd name="T41" fmla="*/ 4 h 66"/>
                <a:gd name="T42" fmla="*/ 15 w 53"/>
                <a:gd name="T43" fmla="*/ 25 h 66"/>
                <a:gd name="T44" fmla="*/ 38 w 53"/>
                <a:gd name="T45" fmla="*/ 25 h 66"/>
                <a:gd name="T46" fmla="*/ 40 w 53"/>
                <a:gd name="T47" fmla="*/ 27 h 66"/>
                <a:gd name="T48" fmla="*/ 38 w 53"/>
                <a:gd name="T49" fmla="*/ 29 h 66"/>
                <a:gd name="T50" fmla="*/ 15 w 53"/>
                <a:gd name="T51" fmla="*/ 29 h 66"/>
                <a:gd name="T52" fmla="*/ 14 w 53"/>
                <a:gd name="T53" fmla="*/ 27 h 66"/>
                <a:gd name="T54" fmla="*/ 15 w 53"/>
                <a:gd name="T55" fmla="*/ 25 h 66"/>
                <a:gd name="T56" fmla="*/ 30 w 53"/>
                <a:gd name="T57" fmla="*/ 47 h 66"/>
                <a:gd name="T58" fmla="*/ 15 w 53"/>
                <a:gd name="T59" fmla="*/ 47 h 66"/>
                <a:gd name="T60" fmla="*/ 14 w 53"/>
                <a:gd name="T61" fmla="*/ 45 h 66"/>
                <a:gd name="T62" fmla="*/ 15 w 53"/>
                <a:gd name="T63" fmla="*/ 43 h 66"/>
                <a:gd name="T64" fmla="*/ 30 w 53"/>
                <a:gd name="T65" fmla="*/ 43 h 66"/>
                <a:gd name="T66" fmla="*/ 32 w 53"/>
                <a:gd name="T67" fmla="*/ 45 h 66"/>
                <a:gd name="T68" fmla="*/ 30 w 53"/>
                <a:gd name="T69" fmla="*/ 47 h 66"/>
                <a:gd name="T70" fmla="*/ 15 w 53"/>
                <a:gd name="T71" fmla="*/ 37 h 66"/>
                <a:gd name="T72" fmla="*/ 14 w 53"/>
                <a:gd name="T73" fmla="*/ 36 h 66"/>
                <a:gd name="T74" fmla="*/ 15 w 53"/>
                <a:gd name="T75" fmla="*/ 34 h 66"/>
                <a:gd name="T76" fmla="*/ 38 w 53"/>
                <a:gd name="T77" fmla="*/ 34 h 66"/>
                <a:gd name="T78" fmla="*/ 40 w 53"/>
                <a:gd name="T79" fmla="*/ 36 h 66"/>
                <a:gd name="T80" fmla="*/ 38 w 53"/>
                <a:gd name="T81" fmla="*/ 37 h 66"/>
                <a:gd name="T82" fmla="*/ 15 w 53"/>
                <a:gd name="T83" fmla="*/ 37 h 66"/>
                <a:gd name="T84" fmla="*/ 15 w 53"/>
                <a:gd name="T85" fmla="*/ 37 h 66"/>
                <a:gd name="T86" fmla="*/ 15 w 53"/>
                <a:gd name="T87" fmla="*/ 37 h 66"/>
                <a:gd name="T88" fmla="*/ 15 w 53"/>
                <a:gd name="T89"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3" h="66">
                  <a:moveTo>
                    <a:pt x="53" y="36"/>
                  </a:moveTo>
                  <a:cubicBezTo>
                    <a:pt x="53" y="13"/>
                    <a:pt x="53" y="13"/>
                    <a:pt x="53" y="13"/>
                  </a:cubicBezTo>
                  <a:cubicBezTo>
                    <a:pt x="53" y="9"/>
                    <a:pt x="49" y="5"/>
                    <a:pt x="45" y="5"/>
                  </a:cubicBezTo>
                  <a:cubicBezTo>
                    <a:pt x="38" y="5"/>
                    <a:pt x="38" y="5"/>
                    <a:pt x="38" y="5"/>
                  </a:cubicBezTo>
                  <a:cubicBezTo>
                    <a:pt x="38" y="3"/>
                    <a:pt x="36" y="0"/>
                    <a:pt x="32" y="0"/>
                  </a:cubicBezTo>
                  <a:cubicBezTo>
                    <a:pt x="21" y="0"/>
                    <a:pt x="21" y="0"/>
                    <a:pt x="21" y="0"/>
                  </a:cubicBezTo>
                  <a:cubicBezTo>
                    <a:pt x="18" y="0"/>
                    <a:pt x="15" y="2"/>
                    <a:pt x="15" y="5"/>
                  </a:cubicBezTo>
                  <a:cubicBezTo>
                    <a:pt x="8" y="5"/>
                    <a:pt x="8" y="5"/>
                    <a:pt x="8" y="5"/>
                  </a:cubicBezTo>
                  <a:cubicBezTo>
                    <a:pt x="4" y="6"/>
                    <a:pt x="0" y="9"/>
                    <a:pt x="0" y="13"/>
                  </a:cubicBezTo>
                  <a:cubicBezTo>
                    <a:pt x="0" y="58"/>
                    <a:pt x="0" y="58"/>
                    <a:pt x="0" y="58"/>
                  </a:cubicBezTo>
                  <a:cubicBezTo>
                    <a:pt x="0" y="62"/>
                    <a:pt x="4" y="66"/>
                    <a:pt x="8" y="66"/>
                  </a:cubicBezTo>
                  <a:cubicBezTo>
                    <a:pt x="32" y="66"/>
                    <a:pt x="32" y="66"/>
                    <a:pt x="32" y="66"/>
                  </a:cubicBezTo>
                  <a:cubicBezTo>
                    <a:pt x="32" y="64"/>
                    <a:pt x="32" y="64"/>
                    <a:pt x="32" y="64"/>
                  </a:cubicBezTo>
                  <a:cubicBezTo>
                    <a:pt x="33" y="39"/>
                    <a:pt x="53" y="36"/>
                    <a:pt x="53" y="36"/>
                  </a:cubicBezTo>
                  <a:close/>
                  <a:moveTo>
                    <a:pt x="21" y="4"/>
                  </a:moveTo>
                  <a:cubicBezTo>
                    <a:pt x="32" y="4"/>
                    <a:pt x="32" y="4"/>
                    <a:pt x="32" y="4"/>
                  </a:cubicBezTo>
                  <a:cubicBezTo>
                    <a:pt x="33" y="4"/>
                    <a:pt x="34" y="5"/>
                    <a:pt x="34" y="6"/>
                  </a:cubicBezTo>
                  <a:cubicBezTo>
                    <a:pt x="34" y="7"/>
                    <a:pt x="33" y="8"/>
                    <a:pt x="32" y="8"/>
                  </a:cubicBezTo>
                  <a:cubicBezTo>
                    <a:pt x="21" y="8"/>
                    <a:pt x="21" y="8"/>
                    <a:pt x="21" y="8"/>
                  </a:cubicBezTo>
                  <a:cubicBezTo>
                    <a:pt x="20" y="8"/>
                    <a:pt x="19" y="7"/>
                    <a:pt x="19" y="6"/>
                  </a:cubicBezTo>
                  <a:cubicBezTo>
                    <a:pt x="19" y="5"/>
                    <a:pt x="20" y="4"/>
                    <a:pt x="21" y="4"/>
                  </a:cubicBezTo>
                  <a:close/>
                  <a:moveTo>
                    <a:pt x="15" y="25"/>
                  </a:moveTo>
                  <a:cubicBezTo>
                    <a:pt x="38" y="25"/>
                    <a:pt x="38" y="25"/>
                    <a:pt x="38" y="25"/>
                  </a:cubicBezTo>
                  <a:cubicBezTo>
                    <a:pt x="39" y="25"/>
                    <a:pt x="40" y="26"/>
                    <a:pt x="40" y="27"/>
                  </a:cubicBezTo>
                  <a:cubicBezTo>
                    <a:pt x="40" y="28"/>
                    <a:pt x="39" y="29"/>
                    <a:pt x="38" y="29"/>
                  </a:cubicBezTo>
                  <a:cubicBezTo>
                    <a:pt x="15" y="29"/>
                    <a:pt x="15" y="29"/>
                    <a:pt x="15" y="29"/>
                  </a:cubicBezTo>
                  <a:cubicBezTo>
                    <a:pt x="15" y="29"/>
                    <a:pt x="14" y="28"/>
                    <a:pt x="14" y="27"/>
                  </a:cubicBezTo>
                  <a:cubicBezTo>
                    <a:pt x="14" y="25"/>
                    <a:pt x="14" y="25"/>
                    <a:pt x="15" y="25"/>
                  </a:cubicBezTo>
                  <a:close/>
                  <a:moveTo>
                    <a:pt x="30" y="47"/>
                  </a:moveTo>
                  <a:cubicBezTo>
                    <a:pt x="15" y="47"/>
                    <a:pt x="15" y="47"/>
                    <a:pt x="15" y="47"/>
                  </a:cubicBezTo>
                  <a:cubicBezTo>
                    <a:pt x="15" y="47"/>
                    <a:pt x="14" y="46"/>
                    <a:pt x="14" y="45"/>
                  </a:cubicBezTo>
                  <a:cubicBezTo>
                    <a:pt x="14" y="44"/>
                    <a:pt x="15" y="43"/>
                    <a:pt x="15" y="43"/>
                  </a:cubicBezTo>
                  <a:cubicBezTo>
                    <a:pt x="30" y="43"/>
                    <a:pt x="30" y="43"/>
                    <a:pt x="30" y="43"/>
                  </a:cubicBezTo>
                  <a:cubicBezTo>
                    <a:pt x="31" y="43"/>
                    <a:pt x="32" y="44"/>
                    <a:pt x="32" y="45"/>
                  </a:cubicBezTo>
                  <a:cubicBezTo>
                    <a:pt x="32" y="46"/>
                    <a:pt x="31" y="47"/>
                    <a:pt x="30" y="47"/>
                  </a:cubicBezTo>
                  <a:close/>
                  <a:moveTo>
                    <a:pt x="15" y="37"/>
                  </a:moveTo>
                  <a:cubicBezTo>
                    <a:pt x="15" y="37"/>
                    <a:pt x="14" y="37"/>
                    <a:pt x="14" y="36"/>
                  </a:cubicBezTo>
                  <a:cubicBezTo>
                    <a:pt x="14" y="35"/>
                    <a:pt x="15" y="34"/>
                    <a:pt x="15" y="34"/>
                  </a:cubicBezTo>
                  <a:cubicBezTo>
                    <a:pt x="38" y="34"/>
                    <a:pt x="38" y="34"/>
                    <a:pt x="38" y="34"/>
                  </a:cubicBezTo>
                  <a:cubicBezTo>
                    <a:pt x="39" y="34"/>
                    <a:pt x="40" y="35"/>
                    <a:pt x="40" y="36"/>
                  </a:cubicBezTo>
                  <a:cubicBezTo>
                    <a:pt x="40" y="37"/>
                    <a:pt x="39" y="37"/>
                    <a:pt x="38" y="37"/>
                  </a:cubicBezTo>
                  <a:cubicBezTo>
                    <a:pt x="15" y="37"/>
                    <a:pt x="15" y="37"/>
                    <a:pt x="15" y="37"/>
                  </a:cubicBezTo>
                  <a:cubicBezTo>
                    <a:pt x="15" y="37"/>
                    <a:pt x="15" y="37"/>
                    <a:pt x="15" y="37"/>
                  </a:cubicBezTo>
                  <a:close/>
                  <a:moveTo>
                    <a:pt x="15" y="37"/>
                  </a:moveTo>
                  <a:cubicBezTo>
                    <a:pt x="15" y="37"/>
                    <a:pt x="15" y="37"/>
                    <a:pt x="15" y="37"/>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 name="Freeform 66"/>
            <p:cNvSpPr>
              <a:spLocks noEditPoints="1"/>
            </p:cNvSpPr>
            <p:nvPr/>
          </p:nvSpPr>
          <p:spPr bwMode="auto">
            <a:xfrm>
              <a:off x="593651" y="3092450"/>
              <a:ext cx="52388" cy="49213"/>
            </a:xfrm>
            <a:custGeom>
              <a:avLst/>
              <a:gdLst>
                <a:gd name="T0" fmla="*/ 0 w 14"/>
                <a:gd name="T1" fmla="*/ 7 h 13"/>
                <a:gd name="T2" fmla="*/ 7 w 14"/>
                <a:gd name="T3" fmla="*/ 13 h 13"/>
                <a:gd name="T4" fmla="*/ 14 w 14"/>
                <a:gd name="T5" fmla="*/ 7 h 13"/>
                <a:gd name="T6" fmla="*/ 7 w 14"/>
                <a:gd name="T7" fmla="*/ 0 h 13"/>
                <a:gd name="T8" fmla="*/ 0 w 14"/>
                <a:gd name="T9" fmla="*/ 7 h 13"/>
                <a:gd name="T10" fmla="*/ 0 w 14"/>
                <a:gd name="T11" fmla="*/ 7 h 13"/>
                <a:gd name="T12" fmla="*/ 0 w 14"/>
                <a:gd name="T13" fmla="*/ 7 h 13"/>
              </a:gdLst>
              <a:ahLst/>
              <a:cxnLst>
                <a:cxn ang="0">
                  <a:pos x="T0" y="T1"/>
                </a:cxn>
                <a:cxn ang="0">
                  <a:pos x="T2" y="T3"/>
                </a:cxn>
                <a:cxn ang="0">
                  <a:pos x="T4" y="T5"/>
                </a:cxn>
                <a:cxn ang="0">
                  <a:pos x="T6" y="T7"/>
                </a:cxn>
                <a:cxn ang="0">
                  <a:pos x="T8" y="T9"/>
                </a:cxn>
                <a:cxn ang="0">
                  <a:pos x="T10" y="T11"/>
                </a:cxn>
                <a:cxn ang="0">
                  <a:pos x="T12" y="T13"/>
                </a:cxn>
              </a:cxnLst>
              <a:rect l="0" t="0" r="r" b="b"/>
              <a:pathLst>
                <a:path w="14" h="13">
                  <a:moveTo>
                    <a:pt x="0" y="7"/>
                  </a:moveTo>
                  <a:cubicBezTo>
                    <a:pt x="0" y="10"/>
                    <a:pt x="3" y="13"/>
                    <a:pt x="7" y="13"/>
                  </a:cubicBezTo>
                  <a:cubicBezTo>
                    <a:pt x="11" y="13"/>
                    <a:pt x="14" y="10"/>
                    <a:pt x="14" y="7"/>
                  </a:cubicBezTo>
                  <a:cubicBezTo>
                    <a:pt x="14" y="3"/>
                    <a:pt x="11" y="0"/>
                    <a:pt x="7" y="0"/>
                  </a:cubicBezTo>
                  <a:cubicBezTo>
                    <a:pt x="3" y="0"/>
                    <a:pt x="0" y="3"/>
                    <a:pt x="0" y="7"/>
                  </a:cubicBezTo>
                  <a:close/>
                  <a:moveTo>
                    <a:pt x="0" y="7"/>
                  </a:moveTo>
                  <a:cubicBezTo>
                    <a:pt x="0" y="7"/>
                    <a:pt x="0" y="7"/>
                    <a:pt x="0" y="7"/>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 name="Freeform 67"/>
            <p:cNvSpPr>
              <a:spLocks noEditPoints="1"/>
            </p:cNvSpPr>
            <p:nvPr/>
          </p:nvSpPr>
          <p:spPr bwMode="auto">
            <a:xfrm>
              <a:off x="571426" y="3144838"/>
              <a:ext cx="96838" cy="49213"/>
            </a:xfrm>
            <a:custGeom>
              <a:avLst/>
              <a:gdLst>
                <a:gd name="T0" fmla="*/ 13 w 26"/>
                <a:gd name="T1" fmla="*/ 0 h 13"/>
                <a:gd name="T2" fmla="*/ 0 w 26"/>
                <a:gd name="T3" fmla="*/ 13 h 13"/>
                <a:gd name="T4" fmla="*/ 26 w 26"/>
                <a:gd name="T5" fmla="*/ 13 h 13"/>
                <a:gd name="T6" fmla="*/ 13 w 26"/>
                <a:gd name="T7" fmla="*/ 0 h 13"/>
                <a:gd name="T8" fmla="*/ 13 w 26"/>
                <a:gd name="T9" fmla="*/ 0 h 13"/>
                <a:gd name="T10" fmla="*/ 13 w 26"/>
                <a:gd name="T11" fmla="*/ 0 h 13"/>
              </a:gdLst>
              <a:ahLst/>
              <a:cxnLst>
                <a:cxn ang="0">
                  <a:pos x="T0" y="T1"/>
                </a:cxn>
                <a:cxn ang="0">
                  <a:pos x="T2" y="T3"/>
                </a:cxn>
                <a:cxn ang="0">
                  <a:pos x="T4" y="T5"/>
                </a:cxn>
                <a:cxn ang="0">
                  <a:pos x="T6" y="T7"/>
                </a:cxn>
                <a:cxn ang="0">
                  <a:pos x="T8" y="T9"/>
                </a:cxn>
                <a:cxn ang="0">
                  <a:pos x="T10" y="T11"/>
                </a:cxn>
              </a:cxnLst>
              <a:rect l="0" t="0" r="r" b="b"/>
              <a:pathLst>
                <a:path w="26" h="13">
                  <a:moveTo>
                    <a:pt x="13" y="0"/>
                  </a:moveTo>
                  <a:cubicBezTo>
                    <a:pt x="6" y="0"/>
                    <a:pt x="1" y="6"/>
                    <a:pt x="0" y="13"/>
                  </a:cubicBezTo>
                  <a:cubicBezTo>
                    <a:pt x="26" y="13"/>
                    <a:pt x="26" y="13"/>
                    <a:pt x="26" y="13"/>
                  </a:cubicBezTo>
                  <a:cubicBezTo>
                    <a:pt x="26" y="5"/>
                    <a:pt x="21" y="0"/>
                    <a:pt x="13" y="0"/>
                  </a:cubicBezTo>
                  <a:close/>
                  <a:moveTo>
                    <a:pt x="13" y="0"/>
                  </a:moveTo>
                  <a:cubicBezTo>
                    <a:pt x="13" y="0"/>
                    <a:pt x="13" y="0"/>
                    <a:pt x="13" y="0"/>
                  </a:cubicBezTo>
                </a:path>
              </a:pathLst>
            </a:custGeom>
            <a:solidFill>
              <a:srgbClr val="136A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0" name="文本框 9"/>
          <p:cNvSpPr txBox="1"/>
          <p:nvPr/>
        </p:nvSpPr>
        <p:spPr>
          <a:xfrm>
            <a:off x="467360" y="3190771"/>
            <a:ext cx="1512352" cy="337185"/>
          </a:xfrm>
          <a:prstGeom prst="rect">
            <a:avLst/>
          </a:prstGeom>
          <a:noFill/>
        </p:spPr>
        <p:txBody>
          <a:bodyPr wrap="square" rtlCol="0">
            <a:spAutoFit/>
          </a:bodyPr>
          <a:lstStyle/>
          <a:p>
            <a:pPr marL="0" indent="0" algn="l">
              <a:buFont typeface="Wingdings" panose="05000000000000000000" pitchFamily="2" charset="2"/>
              <a:buNone/>
            </a:pPr>
            <a:r>
              <a:rPr lang="zh-CN" altLang="en-US" sz="1600" b="1" dirty="0">
                <a:solidFill>
                  <a:srgbClr val="0070C0"/>
                </a:solidFill>
                <a:latin typeface="微软雅黑" panose="020B0503020204020204" pitchFamily="34" charset="-122"/>
                <a:ea typeface="微软雅黑" panose="020B0503020204020204" pitchFamily="34" charset="-122"/>
              </a:rPr>
              <a:t>输出结果</a:t>
            </a:r>
            <a:endParaRPr lang="zh-CN" altLang="en-US" sz="1600" b="1" dirty="0">
              <a:solidFill>
                <a:srgbClr val="0070C0"/>
              </a:solidFill>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a:blip r:embed="rId1"/>
          <a:stretch>
            <a:fillRect/>
          </a:stretch>
        </p:blipFill>
        <p:spPr>
          <a:xfrm>
            <a:off x="852170" y="3616325"/>
            <a:ext cx="1613535" cy="281305"/>
          </a:xfrm>
          <a:prstGeom prst="rect">
            <a:avLst/>
          </a:prstGeom>
        </p:spPr>
      </p:pic>
      <p:pic>
        <p:nvPicPr>
          <p:cNvPr id="13" name="图片 12"/>
          <p:cNvPicPr>
            <a:picLocks noChangeAspect="1"/>
          </p:cNvPicPr>
          <p:nvPr/>
        </p:nvPicPr>
        <p:blipFill>
          <a:blip r:embed="rId2"/>
          <a:srcRect t="22181"/>
          <a:stretch>
            <a:fillRect/>
          </a:stretch>
        </p:blipFill>
        <p:spPr>
          <a:xfrm>
            <a:off x="3230245" y="3616325"/>
            <a:ext cx="1581150" cy="294005"/>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blinds(horizontal)">
                                      <p:cBhvr>
                                        <p:cTn id="11" dur="500"/>
                                        <p:tgtEl>
                                          <p:spTgt spid="11"/>
                                        </p:tgtEl>
                                      </p:cBhvr>
                                    </p:animEffect>
                                  </p:childTnLst>
                                </p:cTn>
                              </p:par>
                            </p:childTnLst>
                          </p:cTn>
                        </p:par>
                        <p:par>
                          <p:cTn id="12" fill="hold">
                            <p:stCondLst>
                              <p:cond delay="1000"/>
                            </p:stCondLst>
                            <p:childTnLst>
                              <p:par>
                                <p:cTn id="13" presetID="3" presetClass="entr" presetSubtype="1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linds(horizontal)">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2"/>
          <p:cNvSpPr>
            <a:spLocks noGrp="1" noChangeArrowheads="1"/>
          </p:cNvSpPr>
          <p:nvPr>
            <p:ph type="title"/>
          </p:nvPr>
        </p:nvSpPr>
        <p:spPr>
          <a:xfrm>
            <a:off x="5821363" y="142558"/>
            <a:ext cx="3143250" cy="368300"/>
          </a:xfrm>
          <a:noFill/>
          <a:extLst>
            <a:ext uri="{909E8E84-426E-40DD-AFC4-6F175D3DCCD1}">
              <a14:hiddenFill xmlns:a14="http://schemas.microsoft.com/office/drawing/2010/main">
                <a:solidFill>
                  <a:schemeClr val="bg1"/>
                </a:solidFill>
              </a14:hiddenFill>
            </a:ext>
          </a:extLst>
        </p:spPr>
        <p:txBody>
          <a:bodyPr/>
          <a:lstStyle/>
          <a:p>
            <a:pPr algn="r">
              <a:defRPr/>
            </a:pPr>
            <a:r>
              <a:rPr lang="zh-CN" altLang="en-US" dirty="0">
                <a:sym typeface="+mn-ea"/>
              </a:rPr>
              <a:t>默认参数的应用</a:t>
            </a:r>
            <a:endParaRPr lang="zh-CN" altLang="en-US" sz="2000" dirty="0">
              <a:solidFill>
                <a:srgbClr val="0070C0"/>
              </a:solidFill>
            </a:endParaRPr>
          </a:p>
        </p:txBody>
      </p:sp>
      <p:sp>
        <p:nvSpPr>
          <p:cNvPr id="5" name="文本框 4"/>
          <p:cNvSpPr txBox="1"/>
          <p:nvPr/>
        </p:nvSpPr>
        <p:spPr>
          <a:xfrm>
            <a:off x="252095" y="782216"/>
            <a:ext cx="1512352" cy="337185"/>
          </a:xfrm>
          <a:prstGeom prst="rect">
            <a:avLst/>
          </a:prstGeom>
          <a:noFill/>
        </p:spPr>
        <p:txBody>
          <a:bodyPr wrap="square" rtlCol="0">
            <a:spAutoFit/>
          </a:bodyPr>
          <a:lstStyle/>
          <a:p>
            <a:pPr marL="0" indent="0" algn="l">
              <a:buFont typeface="Wingdings" panose="05000000000000000000" pitchFamily="2" charset="2"/>
              <a:buNone/>
            </a:pPr>
            <a:r>
              <a:rPr lang="zh-CN" altLang="en-US" sz="1600" b="1" dirty="0">
                <a:solidFill>
                  <a:srgbClr val="0070C0"/>
                </a:solidFill>
                <a:latin typeface="+mj-ea"/>
                <a:ea typeface="+mj-ea"/>
              </a:rPr>
              <a:t>参考代码</a:t>
            </a:r>
            <a:endParaRPr lang="zh-CN" altLang="en-US" sz="1600" b="1" dirty="0">
              <a:solidFill>
                <a:srgbClr val="0070C0"/>
              </a:solidFill>
              <a:latin typeface="+mj-ea"/>
              <a:ea typeface="+mj-ea"/>
            </a:endParaRPr>
          </a:p>
        </p:txBody>
      </p:sp>
      <p:sp>
        <p:nvSpPr>
          <p:cNvPr id="6" name="文本框 5"/>
          <p:cNvSpPr txBox="1"/>
          <p:nvPr/>
        </p:nvSpPr>
        <p:spPr>
          <a:xfrm>
            <a:off x="323850" y="3908321"/>
            <a:ext cx="1512352" cy="368300"/>
          </a:xfrm>
          <a:prstGeom prst="rect">
            <a:avLst/>
          </a:prstGeom>
          <a:noFill/>
        </p:spPr>
        <p:txBody>
          <a:bodyPr wrap="square" rtlCol="0">
            <a:spAutoFit/>
          </a:bodyPr>
          <a:lstStyle/>
          <a:p>
            <a:pPr marL="0" indent="0" algn="l">
              <a:buFont typeface="Wingdings" panose="05000000000000000000" pitchFamily="2" charset="2"/>
              <a:buNone/>
            </a:pPr>
            <a:r>
              <a:rPr lang="zh-CN" altLang="en-US" b="1" dirty="0">
                <a:solidFill>
                  <a:srgbClr val="0070C0"/>
                </a:solidFill>
              </a:rPr>
              <a:t>输出结果</a:t>
            </a:r>
            <a:endParaRPr lang="zh-CN" altLang="en-US" b="1" dirty="0">
              <a:solidFill>
                <a:srgbClr val="0070C0"/>
              </a:solidFill>
            </a:endParaRPr>
          </a:p>
        </p:txBody>
      </p:sp>
      <p:sp>
        <p:nvSpPr>
          <p:cNvPr id="7" name="AutoShape 15"/>
          <p:cNvSpPr>
            <a:spLocks noChangeArrowheads="1"/>
          </p:cNvSpPr>
          <p:nvPr/>
        </p:nvSpPr>
        <p:spPr bwMode="auto">
          <a:xfrm>
            <a:off x="862330" y="1150620"/>
            <a:ext cx="3753485" cy="2238255"/>
          </a:xfrm>
          <a:prstGeom prst="roundRect">
            <a:avLst>
              <a:gd name="adj" fmla="val 1347"/>
            </a:avLst>
          </a:prstGeom>
          <a:solidFill>
            <a:srgbClr val="EDF5FD"/>
          </a:solidFill>
          <a:ln w="28575">
            <a:solidFill>
              <a:srgbClr val="00B0F0"/>
            </a:solidFill>
            <a:bevel/>
          </a:ln>
          <a:effectLst>
            <a:outerShdw sx="100999" sy="100999" algn="ctr" rotWithShape="0">
              <a:srgbClr val="000000">
                <a:alpha val="6999"/>
              </a:srgbClr>
            </a:outerShdw>
          </a:effectLst>
        </p:spPr>
        <p:txBody>
          <a:bodyPr wrap="square">
            <a:spAutoFit/>
          </a:bodyPr>
          <a:lstStyle/>
          <a:p>
            <a:pPr algn="l">
              <a:lnSpc>
                <a:spcPct val="110000"/>
              </a:lnSpc>
            </a:pPr>
            <a:r>
              <a:rPr sz="1400" dirty="0">
                <a:latin typeface="Calibri" panose="020F0502020204030204" pitchFamily="34" charset="0"/>
                <a:cs typeface="Calibri" panose="020F0502020204030204" pitchFamily="34" charset="0"/>
              </a:rPr>
              <a:t>def login(name, </a:t>
            </a:r>
            <a:r>
              <a:rPr lang="en-US" sz="1400" dirty="0">
                <a:latin typeface="Calibri" panose="020F0502020204030204" pitchFamily="34" charset="0"/>
                <a:cs typeface="Calibri" panose="020F0502020204030204" pitchFamily="34" charset="0"/>
              </a:rPr>
              <a:t>password</a:t>
            </a:r>
            <a:r>
              <a:rPr sz="1400" dirty="0">
                <a:latin typeface="Calibri" panose="020F0502020204030204" pitchFamily="34" charset="0"/>
                <a:cs typeface="Calibri" panose="020F0502020204030204" pitchFamily="34" charset="0"/>
              </a:rPr>
              <a:t>):</a:t>
            </a:r>
            <a:endParaRPr sz="1400" dirty="0">
              <a:latin typeface="Calibri" panose="020F0502020204030204" pitchFamily="34" charset="0"/>
              <a:cs typeface="Calibri" panose="020F0502020204030204" pitchFamily="34" charset="0"/>
            </a:endParaRPr>
          </a:p>
          <a:p>
            <a:pPr algn="l">
              <a:lnSpc>
                <a:spcPct val="110000"/>
              </a:lnSpc>
            </a:pPr>
            <a:r>
              <a:rPr sz="1400" dirty="0">
                <a:latin typeface="Calibri" panose="020F0502020204030204" pitchFamily="34" charset="0"/>
                <a:cs typeface="Calibri" panose="020F0502020204030204" pitchFamily="34" charset="0"/>
              </a:rPr>
              <a:t>    if </a:t>
            </a:r>
            <a:r>
              <a:rPr lang="en-US" sz="1400" dirty="0">
                <a:latin typeface="Calibri" panose="020F0502020204030204" pitchFamily="34" charset="0"/>
                <a:cs typeface="Calibri" panose="020F0502020204030204" pitchFamily="34" charset="0"/>
              </a:rPr>
              <a:t>name=='</a:t>
            </a:r>
            <a:r>
              <a:rPr lang="zh-CN" altLang="en-US" sz="1400" dirty="0">
                <a:latin typeface="Calibri" panose="020F0502020204030204" pitchFamily="34" charset="0"/>
                <a:cs typeface="Calibri" panose="020F0502020204030204" pitchFamily="34" charset="0"/>
              </a:rPr>
              <a:t>张三</a:t>
            </a:r>
            <a:r>
              <a:rPr lang="en-US" sz="1400" dirty="0">
                <a:latin typeface="Calibri" panose="020F0502020204030204" pitchFamily="34" charset="0"/>
                <a:cs typeface="Calibri" panose="020F0502020204030204" pitchFamily="34" charset="0"/>
              </a:rPr>
              <a:t>' and password=='666'</a:t>
            </a:r>
            <a:r>
              <a:rPr sz="1400" dirty="0">
                <a:latin typeface="Calibri" panose="020F0502020204030204" pitchFamily="34" charset="0"/>
                <a:cs typeface="Calibri" panose="020F0502020204030204" pitchFamily="34" charset="0"/>
              </a:rPr>
              <a:t>:</a:t>
            </a:r>
            <a:endParaRPr sz="1400" dirty="0">
              <a:latin typeface="Calibri" panose="020F0502020204030204" pitchFamily="34" charset="0"/>
              <a:cs typeface="Calibri" panose="020F0502020204030204" pitchFamily="34" charset="0"/>
            </a:endParaRPr>
          </a:p>
          <a:p>
            <a:pPr algn="l">
              <a:lnSpc>
                <a:spcPct val="110000"/>
              </a:lnSpc>
            </a:pPr>
            <a:r>
              <a:rPr sz="1400" dirty="0">
                <a:latin typeface="Calibri" panose="020F0502020204030204" pitchFamily="34" charset="0"/>
                <a:cs typeface="Calibri" panose="020F0502020204030204" pitchFamily="34" charset="0"/>
              </a:rPr>
              <a:t>        print("欢迎{}光临八维餐厅".format(name))</a:t>
            </a:r>
            <a:endParaRPr sz="1400" dirty="0">
              <a:latin typeface="Calibri" panose="020F0502020204030204" pitchFamily="34" charset="0"/>
              <a:cs typeface="Calibri" panose="020F0502020204030204" pitchFamily="34" charset="0"/>
            </a:endParaRPr>
          </a:p>
          <a:p>
            <a:pPr algn="l">
              <a:lnSpc>
                <a:spcPct val="110000"/>
              </a:lnSpc>
            </a:pPr>
            <a:r>
              <a:rPr sz="1400" dirty="0">
                <a:latin typeface="Calibri" panose="020F0502020204030204" pitchFamily="34" charset="0"/>
                <a:cs typeface="Calibri" panose="020F0502020204030204" pitchFamily="34" charset="0"/>
              </a:rPr>
              <a:t>    else:</a:t>
            </a:r>
            <a:endParaRPr sz="1400" dirty="0">
              <a:latin typeface="Calibri" panose="020F0502020204030204" pitchFamily="34" charset="0"/>
              <a:cs typeface="Calibri" panose="020F0502020204030204" pitchFamily="34" charset="0"/>
            </a:endParaRPr>
          </a:p>
          <a:p>
            <a:pPr algn="l">
              <a:lnSpc>
                <a:spcPct val="110000"/>
              </a:lnSpc>
            </a:pPr>
            <a:r>
              <a:rPr sz="1400" dirty="0">
                <a:latin typeface="Calibri" panose="020F0502020204030204" pitchFamily="34" charset="0"/>
                <a:cs typeface="Calibri" panose="020F0502020204030204" pitchFamily="34" charset="0"/>
              </a:rPr>
              <a:t>        print("输入有误")</a:t>
            </a:r>
            <a:endParaRPr sz="1400" dirty="0">
              <a:latin typeface="Calibri" panose="020F0502020204030204" pitchFamily="34" charset="0"/>
              <a:cs typeface="Calibri" panose="020F0502020204030204" pitchFamily="34" charset="0"/>
            </a:endParaRPr>
          </a:p>
          <a:p>
            <a:pPr algn="l">
              <a:lnSpc>
                <a:spcPct val="110000"/>
              </a:lnSpc>
            </a:pPr>
            <a:endParaRPr sz="1400" dirty="0">
              <a:latin typeface="Calibri" panose="020F0502020204030204" pitchFamily="34" charset="0"/>
              <a:cs typeface="Calibri" panose="020F0502020204030204" pitchFamily="34" charset="0"/>
            </a:endParaRPr>
          </a:p>
          <a:p>
            <a:pPr algn="l">
              <a:lnSpc>
                <a:spcPct val="110000"/>
              </a:lnSpc>
            </a:pPr>
            <a:r>
              <a:rPr sz="1400" dirty="0">
                <a:latin typeface="Calibri" panose="020F0502020204030204" pitchFamily="34" charset="0"/>
                <a:cs typeface="Calibri" panose="020F0502020204030204" pitchFamily="34" charset="0"/>
              </a:rPr>
              <a:t>login("张三"</a:t>
            </a:r>
            <a:r>
              <a:rPr lang="en-US" sz="1400" dirty="0">
                <a:latin typeface="Calibri" panose="020F0502020204030204" pitchFamily="34" charset="0"/>
                <a:cs typeface="Calibri" panose="020F0502020204030204" pitchFamily="34" charset="0"/>
              </a:rPr>
              <a:t>,666</a:t>
            </a:r>
            <a:r>
              <a:rPr sz="1400" dirty="0">
                <a:latin typeface="Calibri" panose="020F0502020204030204" pitchFamily="34" charset="0"/>
                <a:cs typeface="Calibri" panose="020F0502020204030204" pitchFamily="34" charset="0"/>
              </a:rPr>
              <a:t>)</a:t>
            </a:r>
            <a:endParaRPr sz="1400" dirty="0">
              <a:latin typeface="Calibri" panose="020F0502020204030204" pitchFamily="34" charset="0"/>
              <a:cs typeface="Calibri" panose="020F0502020204030204" pitchFamily="34" charset="0"/>
            </a:endParaRPr>
          </a:p>
          <a:p>
            <a:pPr algn="l">
              <a:lnSpc>
                <a:spcPct val="110000"/>
              </a:lnSpc>
            </a:pPr>
            <a:r>
              <a:rPr sz="1400" dirty="0">
                <a:latin typeface="Calibri" panose="020F0502020204030204" pitchFamily="34" charset="0"/>
                <a:cs typeface="Calibri" panose="020F0502020204030204" pitchFamily="34" charset="0"/>
              </a:rPr>
              <a:t>login("admin", 2)</a:t>
            </a:r>
            <a:endParaRPr sz="1400" dirty="0">
              <a:latin typeface="Calibri" panose="020F0502020204030204" pitchFamily="34" charset="0"/>
              <a:cs typeface="Calibri" panose="020F0502020204030204" pitchFamily="34" charset="0"/>
            </a:endParaRPr>
          </a:p>
          <a:p>
            <a:pPr algn="l">
              <a:lnSpc>
                <a:spcPct val="110000"/>
              </a:lnSpc>
            </a:pPr>
            <a:endParaRPr sz="1400" dirty="0">
              <a:latin typeface="Calibri" panose="020F0502020204030204" pitchFamily="34" charset="0"/>
              <a:cs typeface="Calibri" panose="020F0502020204030204" pitchFamily="34" charset="0"/>
            </a:endParaRPr>
          </a:p>
        </p:txBody>
      </p:sp>
      <p:pic>
        <p:nvPicPr>
          <p:cNvPr id="8" name="图片 7"/>
          <p:cNvPicPr>
            <a:picLocks noChangeAspect="1"/>
          </p:cNvPicPr>
          <p:nvPr/>
        </p:nvPicPr>
        <p:blipFill>
          <a:blip r:embed="rId1"/>
          <a:stretch>
            <a:fillRect/>
          </a:stretch>
        </p:blipFill>
        <p:spPr>
          <a:xfrm>
            <a:off x="923925" y="4477385"/>
            <a:ext cx="1613535" cy="281305"/>
          </a:xfrm>
          <a:prstGeom prst="rect">
            <a:avLst/>
          </a:prstGeom>
        </p:spPr>
      </p:pic>
      <p:pic>
        <p:nvPicPr>
          <p:cNvPr id="10" name="图片 9"/>
          <p:cNvPicPr>
            <a:picLocks noChangeAspect="1"/>
          </p:cNvPicPr>
          <p:nvPr/>
        </p:nvPicPr>
        <p:blipFill>
          <a:blip r:embed="rId2"/>
          <a:srcRect t="22181"/>
          <a:stretch>
            <a:fillRect/>
          </a:stretch>
        </p:blipFill>
        <p:spPr>
          <a:xfrm>
            <a:off x="3261360" y="4477385"/>
            <a:ext cx="1581150" cy="294005"/>
          </a:xfrm>
          <a:prstGeom prst="rect">
            <a:avLst/>
          </a:prstGeom>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linds(horizontal)">
                                      <p:cBhvr>
                                        <p:cTn id="12" dur="500"/>
                                        <p:tgtEl>
                                          <p:spTgt spid="8"/>
                                        </p:tgtEl>
                                      </p:cBhvr>
                                    </p:animEffect>
                                  </p:childTnLst>
                                </p:cTn>
                              </p:par>
                            </p:childTnLst>
                          </p:cTn>
                        </p:par>
                        <p:par>
                          <p:cTn id="13" fill="hold">
                            <p:stCondLst>
                              <p:cond delay="500"/>
                            </p:stCondLst>
                            <p:childTnLst>
                              <p:par>
                                <p:cTn id="14" presetID="3" presetClass="entr" presetSubtype="10" fill="hold"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linds(horizontal)">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20272" y="195486"/>
            <a:ext cx="2016224" cy="368300"/>
          </a:xfrm>
        </p:spPr>
        <p:txBody>
          <a:bodyPr/>
          <a:lstStyle/>
          <a:p>
            <a:r>
              <a:rPr lang="zh-CN" altLang="en-US" dirty="0"/>
              <a:t>函数的作用</a:t>
            </a:r>
            <a:endParaRPr lang="zh-CN" altLang="en-US" dirty="0"/>
          </a:p>
        </p:txBody>
      </p:sp>
      <p:sp>
        <p:nvSpPr>
          <p:cNvPr id="6" name="AutoShape 15"/>
          <p:cNvSpPr>
            <a:spLocks noChangeArrowheads="1"/>
          </p:cNvSpPr>
          <p:nvPr/>
        </p:nvSpPr>
        <p:spPr bwMode="auto">
          <a:xfrm>
            <a:off x="1593850" y="1577340"/>
            <a:ext cx="5956300" cy="1767179"/>
          </a:xfrm>
          <a:prstGeom prst="roundRect">
            <a:avLst>
              <a:gd name="adj" fmla="val 1347"/>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50800">
            <a:noFill/>
            <a:bevel/>
          </a:ln>
          <a:effectLst>
            <a:outerShdw sx="100999" sy="100999" algn="ctr" rotWithShape="0">
              <a:srgbClr val="000000">
                <a:alpha val="6999"/>
              </a:srgbClr>
            </a:outerShdw>
          </a:effectLst>
        </p:spPr>
        <p:txBody>
          <a:bodyPr wrap="square">
            <a:spAutoFit/>
          </a:bodyPr>
          <a:lstStyle/>
          <a:p>
            <a:pPr marL="342900" indent="-342900" algn="l">
              <a:lnSpc>
                <a:spcPct val="150000"/>
              </a:lnSpc>
              <a:buFont typeface="+mj-lt"/>
              <a:buAutoNum type="arabicPeriod"/>
            </a:pPr>
            <a:r>
              <a:rPr lang="zh-CN" altLang="en-US" sz="1800">
                <a:latin typeface="+mn-ea"/>
                <a:ea typeface="+mn-ea"/>
                <a:sym typeface="+mn-ea"/>
              </a:rPr>
              <a:t>使程序变的更加简短，更加清晰</a:t>
            </a:r>
            <a:endParaRPr lang="zh-CN" altLang="en-US" sz="1800">
              <a:latin typeface="+mn-ea"/>
              <a:ea typeface="+mn-ea"/>
            </a:endParaRPr>
          </a:p>
          <a:p>
            <a:pPr marL="342900" indent="-342900" algn="l">
              <a:lnSpc>
                <a:spcPct val="150000"/>
              </a:lnSpc>
              <a:buFont typeface="+mj-lt"/>
              <a:buAutoNum type="arabicPeriod"/>
            </a:pPr>
            <a:r>
              <a:rPr lang="zh-CN" altLang="en-US" sz="1800">
                <a:latin typeface="+mn-ea"/>
                <a:ea typeface="+mn-ea"/>
                <a:sym typeface="+mn-ea"/>
              </a:rPr>
              <a:t>有利于维护代码</a:t>
            </a:r>
            <a:endParaRPr lang="zh-CN" altLang="en-US" sz="1800">
              <a:latin typeface="+mn-ea"/>
              <a:ea typeface="+mn-ea"/>
              <a:sym typeface="+mn-ea"/>
            </a:endParaRPr>
          </a:p>
          <a:p>
            <a:pPr marL="342900" indent="-342900" algn="l">
              <a:lnSpc>
                <a:spcPct val="150000"/>
              </a:lnSpc>
              <a:buFont typeface="+mj-lt"/>
              <a:buAutoNum type="arabicPeriod"/>
            </a:pPr>
            <a:r>
              <a:rPr lang="zh-CN" altLang="en-US" sz="1800">
                <a:latin typeface="+mn-ea"/>
                <a:ea typeface="+mn-ea"/>
                <a:sym typeface="+mn-ea"/>
              </a:rPr>
              <a:t>提高代码的重用性</a:t>
            </a:r>
            <a:endParaRPr lang="zh-CN" altLang="en-US" sz="1800">
              <a:latin typeface="+mn-ea"/>
              <a:ea typeface="+mn-ea"/>
            </a:endParaRPr>
          </a:p>
          <a:p>
            <a:pPr marL="342900" indent="-342900" algn="l">
              <a:lnSpc>
                <a:spcPct val="150000"/>
              </a:lnSpc>
              <a:buFont typeface="+mj-lt"/>
              <a:buAutoNum type="arabicPeriod"/>
            </a:pPr>
            <a:r>
              <a:rPr lang="zh-CN" altLang="en-US" sz="1800">
                <a:latin typeface="+mn-ea"/>
                <a:ea typeface="+mn-ea"/>
                <a:sym typeface="+mn-ea"/>
              </a:rPr>
              <a:t>提高程序开发的效率</a:t>
            </a:r>
            <a:endParaRPr lang="zh-CN" altLang="en-US" sz="1800" b="1" dirty="0">
              <a:solidFill>
                <a:srgbClr val="09131F"/>
              </a:solidFill>
              <a:latin typeface="+mn-ea"/>
              <a:ea typeface="+mn-ea"/>
            </a:endParaRPr>
          </a:p>
        </p:txBody>
      </p:sp>
    </p:spTree>
  </p:cSld>
  <p:clrMapOvr>
    <a:masterClrMapping/>
  </p:clrMapOvr>
  <p:transition spd="slow">
    <p:push/>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defRPr/>
            </a:pPr>
            <a:r>
              <a:rPr lang="zh-CN" altLang="en-US" dirty="0"/>
              <a:t>单元总结</a:t>
            </a:r>
            <a:endParaRPr lang="zh-CN" altLang="en-US" dirty="0"/>
          </a:p>
        </p:txBody>
      </p:sp>
      <p:sp>
        <p:nvSpPr>
          <p:cNvPr id="3" name="内容占位符 2"/>
          <p:cNvSpPr>
            <a:spLocks noGrp="1"/>
          </p:cNvSpPr>
          <p:nvPr>
            <p:ph idx="1"/>
          </p:nvPr>
        </p:nvSpPr>
        <p:spPr>
          <a:xfrm>
            <a:off x="1842770" y="1545590"/>
            <a:ext cx="6236970" cy="2627630"/>
          </a:xfrm>
        </p:spPr>
        <p:txBody>
          <a:bodyPr/>
          <a:lstStyle/>
          <a:p>
            <a:pPr>
              <a:defRPr/>
            </a:pPr>
            <a:r>
              <a:rPr lang="zh-CN" altLang="en-US" dirty="0"/>
              <a:t>函数关键字是什么？</a:t>
            </a:r>
            <a:endParaRPr lang="zh-CN" altLang="en-US" dirty="0"/>
          </a:p>
          <a:p>
            <a:pPr>
              <a:defRPr/>
            </a:pPr>
            <a:r>
              <a:rPr lang="zh-CN" altLang="en-US" dirty="0"/>
              <a:t>函数的分类都有哪些？</a:t>
            </a:r>
            <a:endParaRPr lang="zh-CN" altLang="en-US" dirty="0"/>
          </a:p>
          <a:p>
            <a:pPr>
              <a:defRPr/>
            </a:pPr>
            <a:r>
              <a:rPr lang="zh-CN" altLang="en-US" dirty="0"/>
              <a:t>形参与实参的区别？</a:t>
            </a:r>
            <a:endParaRPr lang="zh-CN" altLang="en-US" dirty="0"/>
          </a:p>
          <a:p>
            <a:pPr>
              <a:defRPr/>
            </a:pPr>
            <a:r>
              <a:rPr lang="zh-CN" altLang="en-US" dirty="0"/>
              <a:t>参数分类之间的区别？</a:t>
            </a:r>
            <a:endParaRPr lang="zh-CN" altLang="en-US" dirty="0"/>
          </a:p>
          <a:p>
            <a:pPr>
              <a:defRPr/>
            </a:pPr>
            <a:endParaRPr lang="zh-CN" altLang="en-US" dirty="0"/>
          </a:p>
          <a:p>
            <a:pPr marL="457200" lvl="1" indent="0">
              <a:buNone/>
              <a:defRPr/>
            </a:pPr>
            <a:endParaRPr lang="zh-CN" altLang="en-US" dirty="0"/>
          </a:p>
        </p:txBody>
      </p:sp>
      <p:sp>
        <p:nvSpPr>
          <p:cNvPr id="5" name="灯片编号占位符 4"/>
          <p:cNvSpPr>
            <a:spLocks noGrp="1"/>
          </p:cNvSpPr>
          <p:nvPr>
            <p:ph type="sldNum" sz="quarter" idx="4294967295"/>
          </p:nvPr>
        </p:nvSpPr>
        <p:spPr>
          <a:xfrm>
            <a:off x="7010400" y="4816475"/>
            <a:ext cx="2133600" cy="274638"/>
          </a:xfrm>
        </p:spPr>
        <p:txBody>
          <a:bodyPr/>
          <a:lstStyle/>
          <a:p>
            <a:pPr>
              <a:defRPr/>
            </a:pPr>
            <a:fld id="{20A3C244-A2EA-421B-AA84-7941BACD046B}" type="slidenum">
              <a:rPr lang="zh-CN" altLang="en-US" sz="180" smtClean="0"/>
            </a:fld>
            <a:r>
              <a:rPr lang="en-US" altLang="zh-CN" sz="180"/>
              <a:t>/47</a:t>
            </a:r>
            <a:endParaRPr lang="zh-CN" altLang="en-US" sz="180" dirty="0"/>
          </a:p>
        </p:txBody>
      </p:sp>
      <p:sp>
        <p:nvSpPr>
          <p:cNvPr id="9" name="TextBox 8"/>
          <p:cNvSpPr txBox="1"/>
          <p:nvPr/>
        </p:nvSpPr>
        <p:spPr>
          <a:xfrm>
            <a:off x="539552" y="843305"/>
            <a:ext cx="1728192" cy="338554"/>
          </a:xfrm>
          <a:prstGeom prst="rect">
            <a:avLst/>
          </a:prstGeom>
          <a:noFill/>
        </p:spPr>
        <p:txBody>
          <a:bodyPr wrap="square" rtlCol="0">
            <a:spAutoFit/>
          </a:bodyPr>
          <a:lstStyle/>
          <a:p>
            <a:pPr algn="l"/>
            <a:r>
              <a:rPr lang="zh-CN" altLang="en-US" sz="1600" b="1" dirty="0">
                <a:solidFill>
                  <a:srgbClr val="0070C0"/>
                </a:solidFill>
                <a:latin typeface="+mj-ea"/>
                <a:ea typeface="+mj-ea"/>
              </a:rPr>
              <a:t>现场提问</a:t>
            </a:r>
            <a:endParaRPr lang="zh-CN" altLang="en-US" sz="1600" b="1" dirty="0">
              <a:solidFill>
                <a:srgbClr val="0070C0"/>
              </a:solidFill>
              <a:latin typeface="+mj-ea"/>
              <a:ea typeface="+mj-ea"/>
            </a:endParaRPr>
          </a:p>
        </p:txBody>
      </p:sp>
      <p:pic>
        <p:nvPicPr>
          <p:cNvPr id="10" name="图片 9" descr="现场提问3.png"/>
          <p:cNvPicPr>
            <a:picLocks noChangeAspect="1"/>
          </p:cNvPicPr>
          <p:nvPr/>
        </p:nvPicPr>
        <p:blipFill>
          <a:blip r:embed="rId1" cstate="print"/>
          <a:stretch>
            <a:fillRect/>
          </a:stretch>
        </p:blipFill>
        <p:spPr>
          <a:xfrm>
            <a:off x="179512" y="794912"/>
            <a:ext cx="405385" cy="408433"/>
          </a:xfrm>
          <a:prstGeom prst="rect">
            <a:avLst/>
          </a:prstGeom>
          <a:noFill/>
        </p:spPr>
      </p:pic>
    </p:spTree>
  </p:cSld>
  <p:clrMapOvr>
    <a:masterClrMapping/>
  </p:clrMapOvr>
  <p:transition spd="slow">
    <p:push/>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作业</a:t>
            </a:r>
            <a:endParaRPr lang="zh-CN" altLang="en-US" dirty="0">
              <a:sym typeface="+mn-ea"/>
            </a:endParaRPr>
          </a:p>
        </p:txBody>
      </p:sp>
      <p:sp>
        <p:nvSpPr>
          <p:cNvPr id="11" name="AutoShape 8"/>
          <p:cNvSpPr>
            <a:spLocks noChangeArrowheads="1"/>
          </p:cNvSpPr>
          <p:nvPr/>
        </p:nvSpPr>
        <p:spPr bwMode="auto">
          <a:xfrm>
            <a:off x="448310" y="780039"/>
            <a:ext cx="7933055" cy="748406"/>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r>
              <a:rPr lang="zh-CN" altLang="en-US" dirty="0">
                <a:solidFill>
                  <a:srgbClr val="F9F9F9"/>
                </a:solidFill>
                <a:latin typeface="+mn-ea"/>
                <a:ea typeface="+mn-ea"/>
              </a:rPr>
              <a:t>：</a:t>
            </a:r>
            <a:endParaRPr lang="zh-CN" altLang="en-US" dirty="0">
              <a:solidFill>
                <a:srgbClr val="F9F9F9"/>
              </a:solidFill>
              <a:latin typeface="+mn-ea"/>
              <a:ea typeface="+mn-ea"/>
            </a:endParaRPr>
          </a:p>
          <a:p>
            <a:pPr algn="l"/>
            <a:r>
              <a:rPr lang="zh-CN" altLang="en-US" dirty="0">
                <a:solidFill>
                  <a:srgbClr val="F9F9F9"/>
                </a:solidFill>
                <a:latin typeface="+mn-ea"/>
                <a:ea typeface="+mn-ea"/>
              </a:rPr>
              <a:t>判断一个三位数是否是水仙花数</a:t>
            </a:r>
            <a:endParaRPr lang="zh-CN" altLang="en-US" dirty="0">
              <a:solidFill>
                <a:srgbClr val="F9F9F9"/>
              </a:solidFill>
              <a:latin typeface="+mn-ea"/>
              <a:ea typeface="+mn-ea"/>
            </a:endParaRPr>
          </a:p>
        </p:txBody>
      </p:sp>
      <p:sp>
        <p:nvSpPr>
          <p:cNvPr id="3" name="AutoShape 8"/>
          <p:cNvSpPr>
            <a:spLocks noChangeArrowheads="1"/>
          </p:cNvSpPr>
          <p:nvPr/>
        </p:nvSpPr>
        <p:spPr bwMode="auto">
          <a:xfrm>
            <a:off x="448310" y="2018501"/>
            <a:ext cx="7933055" cy="1328584"/>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endParaRPr lang="zh-CN" altLang="en-US" dirty="0">
              <a:solidFill>
                <a:srgbClr val="F9F9F9"/>
              </a:solidFill>
              <a:latin typeface="+mn-ea"/>
              <a:ea typeface="+mn-ea"/>
            </a:endParaRPr>
          </a:p>
          <a:p>
            <a:pPr algn="l"/>
            <a:r>
              <a:rPr lang="zh-CN" altLang="en-US" dirty="0">
                <a:solidFill>
                  <a:srgbClr val="F9F9F9"/>
                </a:solidFill>
                <a:latin typeface="+mn-ea"/>
                <a:ea typeface="+mn-ea"/>
              </a:rPr>
              <a:t>接收一个正整数</a:t>
            </a:r>
            <a:r>
              <a:rPr lang="en-US" altLang="zh-CN" dirty="0">
                <a:solidFill>
                  <a:srgbClr val="F9F9F9"/>
                </a:solidFill>
                <a:latin typeface="+mn-ea"/>
                <a:ea typeface="+mn-ea"/>
              </a:rPr>
              <a:t>n</a:t>
            </a:r>
            <a:r>
              <a:rPr lang="zh-CN" altLang="en-US" dirty="0">
                <a:solidFill>
                  <a:srgbClr val="F9F9F9"/>
                </a:solidFill>
                <a:latin typeface="+mn-ea"/>
                <a:ea typeface="+mn-ea"/>
              </a:rPr>
              <a:t>，</a:t>
            </a:r>
            <a:r>
              <a:rPr lang="zh-CN" altLang="en-US" dirty="0">
                <a:solidFill>
                  <a:srgbClr val="F9F9F9"/>
                </a:solidFill>
                <a:latin typeface="+mn-ea"/>
                <a:ea typeface="+mn-ea"/>
              </a:rPr>
              <a:t>可以</a:t>
            </a:r>
            <a:r>
              <a:rPr lang="zh-CN" altLang="en-US" dirty="0">
                <a:solidFill>
                  <a:srgbClr val="F9F9F9"/>
                </a:solidFill>
                <a:latin typeface="+mn-ea"/>
                <a:ea typeface="+mn-ea"/>
              </a:rPr>
              <a:t>生成一个含有</a:t>
            </a:r>
            <a:r>
              <a:rPr lang="en-US" altLang="zh-CN" dirty="0">
                <a:solidFill>
                  <a:srgbClr val="F9F9F9"/>
                </a:solidFill>
                <a:latin typeface="+mn-ea"/>
                <a:ea typeface="+mn-ea"/>
              </a:rPr>
              <a:t>n</a:t>
            </a:r>
            <a:r>
              <a:rPr lang="zh-CN" altLang="en-US" dirty="0">
                <a:solidFill>
                  <a:srgbClr val="F9F9F9"/>
                </a:solidFill>
                <a:latin typeface="+mn-ea"/>
                <a:ea typeface="+mn-ea"/>
              </a:rPr>
              <a:t>个随机数的列表，要求所有元素不相同，并且每个元素的值介于1到100之间。</a:t>
            </a:r>
            <a:endParaRPr lang="zh-CN" altLang="en-US" dirty="0">
              <a:solidFill>
                <a:srgbClr val="F9F9F9"/>
              </a:solidFill>
              <a:latin typeface="+mn-ea"/>
              <a:ea typeface="+mn-ea"/>
            </a:endParaRPr>
          </a:p>
          <a:p>
            <a:pPr algn="l"/>
            <a:endParaRPr lang="zh-CN" altLang="en-US" dirty="0">
              <a:solidFill>
                <a:srgbClr val="F9F9F9"/>
              </a:solidFill>
              <a:latin typeface="+mn-ea"/>
              <a:ea typeface="+mn-ea"/>
            </a:endParaRPr>
          </a:p>
        </p:txBody>
      </p:sp>
      <p:sp>
        <p:nvSpPr>
          <p:cNvPr id="4" name="圆角矩形标注 3"/>
          <p:cNvSpPr/>
          <p:nvPr/>
        </p:nvSpPr>
        <p:spPr>
          <a:xfrm>
            <a:off x="1979930" y="3867785"/>
            <a:ext cx="4156710" cy="489585"/>
          </a:xfrm>
          <a:prstGeom prst="wedgeRoundRectCallout">
            <a:avLst>
              <a:gd name="adj1" fmla="val -20974"/>
              <a:gd name="adj2" fmla="val -121335"/>
              <a:gd name="adj3" fmla="val 16667"/>
            </a:avLst>
          </a:prstGeom>
          <a:solidFill>
            <a:schemeClr val="accent1"/>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pPr>
            <a:r>
              <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输出格式不一样，该如何实现</a:t>
            </a:r>
            <a:endPara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1" grpId="1" animBg="1"/>
      <p:bldP spid="3" grpId="0" bldLvl="0" animBg="1"/>
      <p:bldP spid="3" grpId="1" animBg="1"/>
      <p:bldP spid="4" grpId="0" bldLvl="0" animBg="1"/>
      <p:bldP spid="4" grpId="1"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概念图</a:t>
            </a:r>
            <a:endParaRPr lang="zh-CN" altLang="en-US" dirty="0"/>
          </a:p>
        </p:txBody>
      </p:sp>
      <p:pic>
        <p:nvPicPr>
          <p:cNvPr id="7" name="图片 6" descr="10-函数 概念图"/>
          <p:cNvPicPr>
            <a:picLocks noChangeAspect="1"/>
          </p:cNvPicPr>
          <p:nvPr/>
        </p:nvPicPr>
        <p:blipFill>
          <a:blip r:embed="rId1"/>
          <a:stretch>
            <a:fillRect/>
          </a:stretch>
        </p:blipFill>
        <p:spPr>
          <a:xfrm>
            <a:off x="808990" y="653415"/>
            <a:ext cx="7525385" cy="4380865"/>
          </a:xfrm>
          <a:prstGeom prst="rect">
            <a:avLst/>
          </a:prstGeom>
        </p:spPr>
      </p:pic>
    </p:spTree>
  </p:cSld>
  <p:clrMapOvr>
    <a:masterClrMapping/>
  </p:clrMapOvr>
  <p:transition spd="slow">
    <p:push/>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95739" y="141482"/>
            <a:ext cx="6768877" cy="368300"/>
          </a:xfrm>
        </p:spPr>
        <p:txBody>
          <a:bodyPr/>
          <a:lstStyle/>
          <a:p>
            <a:pPr algn="r"/>
            <a:r>
              <a:rPr lang="zh-CN" altLang="en-US" dirty="0">
                <a:sym typeface="+mn-ea"/>
              </a:rPr>
              <a:t>作业</a:t>
            </a:r>
            <a:endParaRPr lang="zh-CN" altLang="en-US" dirty="0">
              <a:sym typeface="+mn-ea"/>
            </a:endParaRPr>
          </a:p>
        </p:txBody>
      </p:sp>
      <p:sp>
        <p:nvSpPr>
          <p:cNvPr id="11" name="AutoShape 8"/>
          <p:cNvSpPr>
            <a:spLocks noChangeArrowheads="1"/>
          </p:cNvSpPr>
          <p:nvPr/>
        </p:nvSpPr>
        <p:spPr bwMode="auto">
          <a:xfrm>
            <a:off x="448310" y="813169"/>
            <a:ext cx="7933055" cy="715276"/>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r>
              <a:rPr lang="zh-CN" altLang="en-US" dirty="0">
                <a:solidFill>
                  <a:srgbClr val="F9F9F9"/>
                </a:solidFill>
                <a:latin typeface="+mn-ea"/>
                <a:ea typeface="+mn-ea"/>
              </a:rPr>
              <a:t>：</a:t>
            </a:r>
            <a:endParaRPr lang="zh-CN" altLang="en-US" dirty="0">
              <a:solidFill>
                <a:srgbClr val="F9F9F9"/>
              </a:solidFill>
              <a:latin typeface="+mn-ea"/>
              <a:ea typeface="+mn-ea"/>
            </a:endParaRPr>
          </a:p>
          <a:p>
            <a:pPr algn="l"/>
            <a:r>
              <a:rPr lang="zh-CN" altLang="en-US" dirty="0">
                <a:solidFill>
                  <a:srgbClr val="F9F9F9"/>
                </a:solidFill>
                <a:latin typeface="+mn-ea"/>
                <a:ea typeface="+mn-ea"/>
              </a:rPr>
              <a:t>输出1-100之间所有能被7整除但是不能被5整除的数</a:t>
            </a:r>
            <a:endParaRPr lang="zh-CN" altLang="en-US" dirty="0">
              <a:solidFill>
                <a:srgbClr val="F9F9F9"/>
              </a:solidFill>
              <a:latin typeface="+mn-ea"/>
              <a:ea typeface="+mn-ea"/>
            </a:endParaRPr>
          </a:p>
        </p:txBody>
      </p:sp>
      <p:sp>
        <p:nvSpPr>
          <p:cNvPr id="3" name="AutoShape 8"/>
          <p:cNvSpPr>
            <a:spLocks noChangeArrowheads="1"/>
          </p:cNvSpPr>
          <p:nvPr/>
        </p:nvSpPr>
        <p:spPr bwMode="auto">
          <a:xfrm>
            <a:off x="448310" y="1715472"/>
            <a:ext cx="7933055" cy="1355388"/>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lang="zh-CN" altLang="en-US" dirty="0">
                <a:solidFill>
                  <a:srgbClr val="F9F9F9"/>
                </a:solidFill>
                <a:latin typeface="+mn-ea"/>
                <a:ea typeface="+mn-ea"/>
              </a:rPr>
              <a:t>定义函数实现如下功能：</a:t>
            </a:r>
            <a:endParaRPr lang="zh-CN" altLang="en-US" dirty="0">
              <a:solidFill>
                <a:srgbClr val="F9F9F9"/>
              </a:solidFill>
              <a:latin typeface="+mn-ea"/>
              <a:ea typeface="+mn-ea"/>
            </a:endParaRPr>
          </a:p>
          <a:p>
            <a:pPr algn="l"/>
            <a:r>
              <a:rPr dirty="0">
                <a:solidFill>
                  <a:srgbClr val="F9F9F9"/>
                </a:solidFill>
                <a:latin typeface="+mn-ea"/>
                <a:ea typeface="+mn-ea"/>
              </a:rPr>
              <a:t>不断地输入数字，输入b退出，</a:t>
            </a:r>
            <a:r>
              <a:rPr lang="zh-CN" dirty="0">
                <a:solidFill>
                  <a:srgbClr val="F9F9F9"/>
                </a:solidFill>
                <a:latin typeface="+mn-ea"/>
                <a:ea typeface="+mn-ea"/>
              </a:rPr>
              <a:t>将输入的所有</a:t>
            </a:r>
            <a:r>
              <a:rPr lang="zh-CN" dirty="0">
                <a:solidFill>
                  <a:srgbClr val="F9F9F9"/>
                </a:solidFill>
                <a:latin typeface="+mn-ea"/>
                <a:ea typeface="+mn-ea"/>
              </a:rPr>
              <a:t>数字返回</a:t>
            </a:r>
            <a:endParaRPr lang="zh-CN" dirty="0">
              <a:solidFill>
                <a:srgbClr val="F9F9F9"/>
              </a:solidFill>
              <a:latin typeface="+mn-ea"/>
              <a:ea typeface="+mn-ea"/>
            </a:endParaRPr>
          </a:p>
          <a:p>
            <a:pPr algn="l"/>
            <a:r>
              <a:rPr lang="zh-CN" dirty="0">
                <a:solidFill>
                  <a:srgbClr val="F9F9F9"/>
                </a:solidFill>
                <a:latin typeface="+mn-ea"/>
                <a:ea typeface="+mn-ea"/>
              </a:rPr>
              <a:t>调用该函数，</a:t>
            </a:r>
            <a:r>
              <a:rPr dirty="0">
                <a:solidFill>
                  <a:srgbClr val="F9F9F9"/>
                </a:solidFill>
                <a:latin typeface="+mn-ea"/>
                <a:ea typeface="+mn-ea"/>
              </a:rPr>
              <a:t>然后打印出以下内容</a:t>
            </a:r>
            <a:r>
              <a:rPr lang="zh-CN" dirty="0">
                <a:solidFill>
                  <a:srgbClr val="F9F9F9"/>
                </a:solidFill>
                <a:latin typeface="+mn-ea"/>
                <a:ea typeface="+mn-ea"/>
              </a:rPr>
              <a:t>：</a:t>
            </a:r>
            <a:r>
              <a:rPr dirty="0">
                <a:solidFill>
                  <a:srgbClr val="F9F9F9"/>
                </a:solidFill>
                <a:latin typeface="+mn-ea"/>
                <a:ea typeface="+mn-ea"/>
              </a:rPr>
              <a:t>总和是多少  有多少个  平均是多少</a:t>
            </a:r>
            <a:endParaRPr dirty="0">
              <a:solidFill>
                <a:srgbClr val="F9F9F9"/>
              </a:solidFill>
              <a:latin typeface="+mn-ea"/>
              <a:ea typeface="+mn-ea"/>
            </a:endParaRPr>
          </a:p>
          <a:p>
            <a:pPr algn="l"/>
            <a:endParaRPr dirty="0">
              <a:solidFill>
                <a:srgbClr val="F9F9F9"/>
              </a:solidFill>
              <a:latin typeface="+mn-ea"/>
              <a:ea typeface="+mn-ea"/>
            </a:endParaRPr>
          </a:p>
        </p:txBody>
      </p:sp>
      <p:sp>
        <p:nvSpPr>
          <p:cNvPr id="5" name="AutoShape 8"/>
          <p:cNvSpPr>
            <a:spLocks noChangeArrowheads="1"/>
          </p:cNvSpPr>
          <p:nvPr/>
        </p:nvSpPr>
        <p:spPr bwMode="auto">
          <a:xfrm>
            <a:off x="448310" y="3407082"/>
            <a:ext cx="7933055" cy="441018"/>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dirty="0">
                <a:solidFill>
                  <a:srgbClr val="F9F9F9"/>
                </a:solidFill>
                <a:latin typeface="+mn-ea"/>
                <a:ea typeface="+mn-ea"/>
              </a:rPr>
              <a:t>写一个函数，判断用户传入的对象（字符串、列表、元组）的元素是否为空</a:t>
            </a:r>
            <a:endParaRPr dirty="0">
              <a:solidFill>
                <a:srgbClr val="F9F9F9"/>
              </a:solidFill>
              <a:latin typeface="+mn-ea"/>
              <a:ea typeface="+mn-ea"/>
            </a:endParaRPr>
          </a:p>
        </p:txBody>
      </p:sp>
      <p:sp>
        <p:nvSpPr>
          <p:cNvPr id="6" name="AutoShape 8"/>
          <p:cNvSpPr>
            <a:spLocks noChangeArrowheads="1"/>
          </p:cNvSpPr>
          <p:nvPr/>
        </p:nvSpPr>
        <p:spPr bwMode="auto">
          <a:xfrm>
            <a:off x="448310" y="4190975"/>
            <a:ext cx="7933055" cy="744880"/>
          </a:xfrm>
          <a:prstGeom prst="wedgeRoundRectCallout">
            <a:avLst>
              <a:gd name="adj1" fmla="val -32968"/>
              <a:gd name="adj2" fmla="val 50833"/>
              <a:gd name="adj3" fmla="val 16667"/>
            </a:avLst>
          </a:prstGeom>
          <a:solidFill>
            <a:srgbClr val="0070C0"/>
          </a:solidFill>
          <a:ln w="9525">
            <a:solidFill>
              <a:srgbClr val="F2F2F2"/>
            </a:solidFill>
            <a:miter lim="800000"/>
          </a:ln>
          <a:effectLst>
            <a:outerShdw dist="38100" dir="5400000" algn="ctr" rotWithShape="0">
              <a:srgbClr val="000000">
                <a:alpha val="37000"/>
              </a:srgbClr>
            </a:outerShdw>
          </a:effectLst>
        </p:spPr>
        <p:txBody>
          <a:bodyPr wrap="square" anchor="b">
            <a:spAutoFit/>
          </a:bodyPr>
          <a:p>
            <a:pPr algn="l"/>
            <a:r>
              <a:rPr dirty="0">
                <a:solidFill>
                  <a:srgbClr val="F9F9F9"/>
                </a:solidFill>
                <a:latin typeface="+mn-ea"/>
                <a:ea typeface="+mn-ea"/>
              </a:rPr>
              <a:t>写函数，统计字符串中有几个字母，几个数字，几个空格，几个其他字符，并返回结果</a:t>
            </a:r>
            <a:endParaRPr dirty="0">
              <a:solidFill>
                <a:srgbClr val="F9F9F9"/>
              </a:solidFill>
              <a:latin typeface="+mn-ea"/>
              <a:ea typeface="+mn-ea"/>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1" grpId="1" animBg="1"/>
      <p:bldP spid="3" grpId="0" bldLvl="0" animBg="1"/>
      <p:bldP spid="3" grpId="1" animBg="1"/>
      <p:bldP spid="5" grpId="0" bldLvl="0" animBg="1"/>
      <p:bldP spid="5" grpId="1" animBg="1"/>
      <p:bldP spid="6" grpId="0" bldLvl="0" animBg="1"/>
      <p:bldP spid="6"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t>作业</a:t>
            </a:r>
            <a:endParaRPr dirty="0"/>
          </a:p>
        </p:txBody>
      </p:sp>
      <p:sp>
        <p:nvSpPr>
          <p:cNvPr id="3" name="内容占位符 2"/>
          <p:cNvSpPr>
            <a:spLocks noGrp="1"/>
          </p:cNvSpPr>
          <p:nvPr>
            <p:ph idx="1"/>
          </p:nvPr>
        </p:nvSpPr>
        <p:spPr/>
        <p:txBody>
          <a:bodyPr/>
          <a:lstStyle/>
          <a:p>
            <a:pPr>
              <a:defRPr/>
            </a:pPr>
            <a:r>
              <a:rPr lang="zh-CN" altLang="en-US" dirty="0"/>
              <a:t>课后作业</a:t>
            </a:r>
            <a:endParaRPr lang="en-US" dirty="0"/>
          </a:p>
          <a:p>
            <a:pPr lvl="1">
              <a:defRPr/>
            </a:pPr>
            <a:r>
              <a:rPr lang="zh-CN" altLang="en-US" dirty="0"/>
              <a:t>改写点餐系统</a:t>
            </a:r>
            <a:endParaRPr lang="zh-CN" altLang="en-US" dirty="0"/>
          </a:p>
          <a:p>
            <a:pPr lvl="1">
              <a:defRPr/>
            </a:pPr>
            <a:r>
              <a:rPr lang="zh-CN" altLang="en-US" dirty="0"/>
              <a:t>完成练习手册中的练习题</a:t>
            </a:r>
            <a:endParaRPr lang="zh-CN" altLang="en-US" dirty="0"/>
          </a:p>
          <a:p>
            <a:pPr marL="457200" lvl="1" indent="0">
              <a:buNone/>
              <a:defRPr/>
            </a:pPr>
            <a:endParaRPr lang="zh-CN" altLang="en-US" dirty="0"/>
          </a:p>
          <a:p>
            <a:pPr>
              <a:defRPr/>
            </a:pPr>
            <a:r>
              <a:rPr lang="zh-CN" altLang="en-US" dirty="0"/>
              <a:t>复习指引</a:t>
            </a:r>
            <a:endParaRPr lang="zh-CN" altLang="en-US" dirty="0"/>
          </a:p>
          <a:p>
            <a:pPr lvl="1"/>
            <a:r>
              <a:rPr lang="zh-CN" altLang="en-US" dirty="0"/>
              <a:t>函数的定义及调用</a:t>
            </a:r>
            <a:endParaRPr lang="en-US" altLang="zh-CN" dirty="0"/>
          </a:p>
          <a:p>
            <a:pPr lvl="1"/>
            <a:r>
              <a:rPr lang="zh-CN" altLang="en-US" dirty="0"/>
              <a:t>参数的分类</a:t>
            </a:r>
            <a:endParaRPr lang="zh-CN" altLang="en-US" dirty="0"/>
          </a:p>
          <a:p>
            <a:pPr marL="457200" lvl="1" indent="0">
              <a:buNone/>
            </a:pPr>
            <a:endParaRPr lang="zh-CN" altLang="en-US" dirty="0"/>
          </a:p>
          <a:p>
            <a:pPr>
              <a:defRPr/>
            </a:pPr>
            <a:r>
              <a:rPr lang="zh-CN" altLang="en-US" dirty="0"/>
              <a:t>预习作业</a:t>
            </a:r>
            <a:endParaRPr lang="en-US" altLang="zh-CN" dirty="0"/>
          </a:p>
          <a:p>
            <a:pPr lvl="1"/>
            <a:r>
              <a:rPr lang="zh-CN" altLang="en-US" dirty="0"/>
              <a:t>变量分类</a:t>
            </a:r>
            <a:endParaRPr lang="zh-CN" altLang="en-US" dirty="0"/>
          </a:p>
        </p:txBody>
      </p:sp>
      <p:sp>
        <p:nvSpPr>
          <p:cNvPr id="5" name="灯片编号占位符 4"/>
          <p:cNvSpPr>
            <a:spLocks noGrp="1"/>
          </p:cNvSpPr>
          <p:nvPr>
            <p:ph type="sldNum" sz="quarter" idx="4294967295"/>
          </p:nvPr>
        </p:nvSpPr>
        <p:spPr>
          <a:xfrm>
            <a:off x="7010400" y="4816475"/>
            <a:ext cx="2133600" cy="274638"/>
          </a:xfrm>
        </p:spPr>
        <p:txBody>
          <a:bodyPr/>
          <a:lstStyle/>
          <a:p>
            <a:pPr>
              <a:defRPr/>
            </a:pPr>
            <a:fld id="{20A3C244-A2EA-421B-AA84-7941BACD046B}" type="slidenum">
              <a:rPr lang="zh-CN" altLang="en-US" sz="180" smtClean="0"/>
            </a:fld>
            <a:r>
              <a:rPr lang="en-US" altLang="zh-CN" sz="180"/>
              <a:t>/47</a:t>
            </a:r>
            <a:endParaRPr lang="zh-CN" altLang="en-US" sz="180" dirty="0"/>
          </a:p>
        </p:txBody>
      </p:sp>
    </p:spTree>
  </p:cSld>
  <p:clrMapOvr>
    <a:masterClrMapping/>
  </p:clrMapOvr>
  <p:transition spd="slow">
    <p:push/>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6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407" y="3102770"/>
            <a:ext cx="9144001" cy="208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p:cNvGrpSpPr/>
          <p:nvPr/>
        </p:nvGrpSpPr>
        <p:grpSpPr bwMode="auto">
          <a:xfrm>
            <a:off x="0" y="-204696"/>
            <a:ext cx="9151144" cy="3852068"/>
            <a:chOff x="0" y="107177"/>
            <a:chExt cx="9151144" cy="3852791"/>
          </a:xfrm>
        </p:grpSpPr>
        <p:sp>
          <p:nvSpPr>
            <p:cNvPr id="5" name="矩形 254"/>
            <p:cNvSpPr>
              <a:spLocks noChangeArrowheads="1"/>
            </p:cNvSpPr>
            <p:nvPr/>
          </p:nvSpPr>
          <p:spPr bwMode="auto">
            <a:xfrm>
              <a:off x="0" y="113953"/>
              <a:ext cx="9144000" cy="3846015"/>
            </a:xfrm>
            <a:custGeom>
              <a:avLst/>
              <a:gdLst>
                <a:gd name="T0" fmla="*/ 0 w 9144000"/>
                <a:gd name="T1" fmla="*/ 0 h 3846015"/>
                <a:gd name="T2" fmla="*/ 9144000 w 9144000"/>
                <a:gd name="T3" fmla="*/ 3846015 h 3846015"/>
              </a:gdLst>
              <a:ahLst/>
              <a:cxnLst/>
              <a:rect l="T0" t="T1" r="T2" b="T3"/>
              <a:pathLst>
                <a:path w="9144000" h="3846015">
                  <a:moveTo>
                    <a:pt x="0" y="0"/>
                  </a:moveTo>
                  <a:lnTo>
                    <a:pt x="9144000" y="0"/>
                  </a:lnTo>
                  <a:lnTo>
                    <a:pt x="9144000" y="3651870"/>
                  </a:lnTo>
                  <a:lnTo>
                    <a:pt x="4766144" y="3651870"/>
                  </a:lnTo>
                  <a:lnTo>
                    <a:pt x="4571999" y="3846015"/>
                  </a:lnTo>
                  <a:lnTo>
                    <a:pt x="4377855" y="3651870"/>
                  </a:lnTo>
                  <a:lnTo>
                    <a:pt x="0" y="3651870"/>
                  </a:lnTo>
                  <a:close/>
                </a:path>
              </a:pathLst>
            </a:custGeom>
            <a:solidFill>
              <a:srgbClr val="292929">
                <a:alpha val="2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矩形 254"/>
            <p:cNvSpPr>
              <a:spLocks noChangeArrowheads="1"/>
            </p:cNvSpPr>
            <p:nvPr/>
          </p:nvSpPr>
          <p:spPr bwMode="auto">
            <a:xfrm>
              <a:off x="0" y="107177"/>
              <a:ext cx="9151144" cy="3738838"/>
            </a:xfrm>
            <a:custGeom>
              <a:avLst/>
              <a:gdLst>
                <a:gd name="T0" fmla="*/ 0 w 9144000"/>
                <a:gd name="T1" fmla="*/ 0 h 3846015"/>
                <a:gd name="T2" fmla="*/ 9144000 w 9144000"/>
                <a:gd name="T3" fmla="*/ 3846015 h 3846015"/>
                <a:gd name="connsiteX0" fmla="*/ 42863 w 9144000"/>
                <a:gd name="connsiteY0" fmla="*/ 643058 h 3846015"/>
                <a:gd name="connsiteX1" fmla="*/ 9144000 w 9144000"/>
                <a:gd name="connsiteY1" fmla="*/ 0 h 3846015"/>
                <a:gd name="connsiteX2" fmla="*/ 9144000 w 9144000"/>
                <a:gd name="connsiteY2" fmla="*/ 3651870 h 3846015"/>
                <a:gd name="connsiteX3" fmla="*/ 4766144 w 9144000"/>
                <a:gd name="connsiteY3" fmla="*/ 3651870 h 3846015"/>
                <a:gd name="connsiteX4" fmla="*/ 4571999 w 9144000"/>
                <a:gd name="connsiteY4" fmla="*/ 3846015 h 3846015"/>
                <a:gd name="connsiteX5" fmla="*/ 4377855 w 9144000"/>
                <a:gd name="connsiteY5" fmla="*/ 3651870 h 3846015"/>
                <a:gd name="connsiteX6" fmla="*/ 0 w 9144000"/>
                <a:gd name="connsiteY6" fmla="*/ 3651870 h 3846015"/>
                <a:gd name="connsiteX7" fmla="*/ 42863 w 9144000"/>
                <a:gd name="connsiteY7" fmla="*/ 643058 h 3846015"/>
                <a:gd name="connsiteX0-1" fmla="*/ 7145 w 9144000"/>
                <a:gd name="connsiteY0-2" fmla="*/ 121467 h 3846015"/>
                <a:gd name="connsiteX1-3" fmla="*/ 9144000 w 9144000"/>
                <a:gd name="connsiteY1-4" fmla="*/ 0 h 3846015"/>
                <a:gd name="connsiteX2-5" fmla="*/ 9144000 w 9144000"/>
                <a:gd name="connsiteY2-6" fmla="*/ 3651870 h 3846015"/>
                <a:gd name="connsiteX3-7" fmla="*/ 4766144 w 9144000"/>
                <a:gd name="connsiteY3-8" fmla="*/ 3651870 h 3846015"/>
                <a:gd name="connsiteX4-9" fmla="*/ 4571999 w 9144000"/>
                <a:gd name="connsiteY4-10" fmla="*/ 3846015 h 3846015"/>
                <a:gd name="connsiteX5-11" fmla="*/ 4377855 w 9144000"/>
                <a:gd name="connsiteY5-12" fmla="*/ 3651870 h 3846015"/>
                <a:gd name="connsiteX6-13" fmla="*/ 0 w 9144000"/>
                <a:gd name="connsiteY6-14" fmla="*/ 3651870 h 3846015"/>
                <a:gd name="connsiteX7-15" fmla="*/ 7145 w 9144000"/>
                <a:gd name="connsiteY7-16" fmla="*/ 121467 h 3846015"/>
                <a:gd name="connsiteX0-17" fmla="*/ 7145 w 9144000"/>
                <a:gd name="connsiteY0-18" fmla="*/ 0 h 3724548"/>
                <a:gd name="connsiteX1-19" fmla="*/ 8851106 w 9144000"/>
                <a:gd name="connsiteY1-20" fmla="*/ 392980 h 3724548"/>
                <a:gd name="connsiteX2-21" fmla="*/ 9144000 w 9144000"/>
                <a:gd name="connsiteY2-22" fmla="*/ 3530403 h 3724548"/>
                <a:gd name="connsiteX3-23" fmla="*/ 4766144 w 9144000"/>
                <a:gd name="connsiteY3-24" fmla="*/ 3530403 h 3724548"/>
                <a:gd name="connsiteX4-25" fmla="*/ 4571999 w 9144000"/>
                <a:gd name="connsiteY4-26" fmla="*/ 3724548 h 3724548"/>
                <a:gd name="connsiteX5-27" fmla="*/ 4377855 w 9144000"/>
                <a:gd name="connsiteY5-28" fmla="*/ 3530403 h 3724548"/>
                <a:gd name="connsiteX6-29" fmla="*/ 0 w 9144000"/>
                <a:gd name="connsiteY6-30" fmla="*/ 3530403 h 3724548"/>
                <a:gd name="connsiteX7-31" fmla="*/ 7145 w 9144000"/>
                <a:gd name="connsiteY7-32" fmla="*/ 0 h 3724548"/>
                <a:gd name="connsiteX0-33" fmla="*/ 7145 w 9151144"/>
                <a:gd name="connsiteY0-34" fmla="*/ 14290 h 3738838"/>
                <a:gd name="connsiteX1-35" fmla="*/ 9151144 w 9151144"/>
                <a:gd name="connsiteY1-36" fmla="*/ 0 h 3738838"/>
                <a:gd name="connsiteX2-37" fmla="*/ 9144000 w 9151144"/>
                <a:gd name="connsiteY2-38" fmla="*/ 3544693 h 3738838"/>
                <a:gd name="connsiteX3-39" fmla="*/ 4766144 w 9151144"/>
                <a:gd name="connsiteY3-40" fmla="*/ 3544693 h 3738838"/>
                <a:gd name="connsiteX4-41" fmla="*/ 4571999 w 9151144"/>
                <a:gd name="connsiteY4-42" fmla="*/ 3738838 h 3738838"/>
                <a:gd name="connsiteX5-43" fmla="*/ 4377855 w 9151144"/>
                <a:gd name="connsiteY5-44" fmla="*/ 3544693 h 3738838"/>
                <a:gd name="connsiteX6-45" fmla="*/ 0 w 9151144"/>
                <a:gd name="connsiteY6-46" fmla="*/ 3544693 h 3738838"/>
                <a:gd name="connsiteX7-47" fmla="*/ 7145 w 9151144"/>
                <a:gd name="connsiteY7-48" fmla="*/ 14290 h 3738838"/>
                <a:gd name="connsiteX0-49" fmla="*/ 7145 w 9151144"/>
                <a:gd name="connsiteY0-50" fmla="*/ 7145 h 3738838"/>
                <a:gd name="connsiteX1-51" fmla="*/ 9151144 w 9151144"/>
                <a:gd name="connsiteY1-52" fmla="*/ 0 h 3738838"/>
                <a:gd name="connsiteX2-53" fmla="*/ 9144000 w 9151144"/>
                <a:gd name="connsiteY2-54" fmla="*/ 3544693 h 3738838"/>
                <a:gd name="connsiteX3-55" fmla="*/ 4766144 w 9151144"/>
                <a:gd name="connsiteY3-56" fmla="*/ 3544693 h 3738838"/>
                <a:gd name="connsiteX4-57" fmla="*/ 4571999 w 9151144"/>
                <a:gd name="connsiteY4-58" fmla="*/ 3738838 h 3738838"/>
                <a:gd name="connsiteX5-59" fmla="*/ 4377855 w 9151144"/>
                <a:gd name="connsiteY5-60" fmla="*/ 3544693 h 3738838"/>
                <a:gd name="connsiteX6-61" fmla="*/ 0 w 9151144"/>
                <a:gd name="connsiteY6-62" fmla="*/ 3544693 h 3738838"/>
                <a:gd name="connsiteX7-63" fmla="*/ 7145 w 9151144"/>
                <a:gd name="connsiteY7-64" fmla="*/ 7145 h 373883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9151144" h="3738838">
                  <a:moveTo>
                    <a:pt x="7145" y="7145"/>
                  </a:moveTo>
                  <a:lnTo>
                    <a:pt x="9151144" y="0"/>
                  </a:lnTo>
                  <a:cubicBezTo>
                    <a:pt x="9148763" y="1181564"/>
                    <a:pt x="9146381" y="2363129"/>
                    <a:pt x="9144000" y="3544693"/>
                  </a:cubicBezTo>
                  <a:lnTo>
                    <a:pt x="4766144" y="3544693"/>
                  </a:lnTo>
                  <a:lnTo>
                    <a:pt x="4571999" y="3738838"/>
                  </a:lnTo>
                  <a:lnTo>
                    <a:pt x="4377855" y="3544693"/>
                  </a:lnTo>
                  <a:lnTo>
                    <a:pt x="0" y="3544693"/>
                  </a:lnTo>
                  <a:cubicBezTo>
                    <a:pt x="0" y="2327403"/>
                    <a:pt x="7145" y="1224435"/>
                    <a:pt x="7145" y="7145"/>
                  </a:cubicBezTo>
                  <a:close/>
                </a:path>
              </a:pathLst>
            </a:cu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lang="zh-CN" altLang="zh-CN">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7" name="矩形 259"/>
          <p:cNvSpPr>
            <a:spLocks noChangeArrowheads="1"/>
          </p:cNvSpPr>
          <p:nvPr/>
        </p:nvSpPr>
        <p:spPr bwMode="auto">
          <a:xfrm>
            <a:off x="16723" y="3983478"/>
            <a:ext cx="91440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lvl="2" algn="ctr"/>
            <a:r>
              <a:rPr lang="zh-CN" altLang="en-US" sz="4800" b="1" dirty="0">
                <a:solidFill>
                  <a:schemeClr val="bg1"/>
                </a:solidFill>
                <a:latin typeface="+mn-ea"/>
                <a:ea typeface="+mn-ea"/>
              </a:rPr>
              <a:t>创新教育</a:t>
            </a:r>
            <a:r>
              <a:rPr lang="en-US" altLang="zh-CN" sz="4800" b="1" dirty="0">
                <a:solidFill>
                  <a:schemeClr val="bg1"/>
                </a:solidFill>
                <a:latin typeface="+mn-ea"/>
                <a:ea typeface="+mn-ea"/>
              </a:rPr>
              <a:t>  </a:t>
            </a:r>
            <a:r>
              <a:rPr lang="zh-CN" altLang="en-US" sz="4800" b="1" dirty="0">
                <a:solidFill>
                  <a:schemeClr val="bg1"/>
                </a:solidFill>
                <a:latin typeface="+mn-ea"/>
                <a:ea typeface="+mn-ea"/>
              </a:rPr>
              <a:t>引领未来</a:t>
            </a:r>
            <a:endParaRPr lang="zh-CN" altLang="en-US" sz="4800" b="1" dirty="0">
              <a:solidFill>
                <a:schemeClr val="bg1"/>
              </a:solidFill>
              <a:latin typeface="+mn-ea"/>
              <a:ea typeface="+mn-ea"/>
              <a:sym typeface="Impact" panose="020B0806030902050204" pitchFamily="34" charset="0"/>
            </a:endParaRPr>
          </a:p>
        </p:txBody>
      </p:sp>
      <p:grpSp>
        <p:nvGrpSpPr>
          <p:cNvPr id="14" name="组合 46"/>
          <p:cNvGrpSpPr/>
          <p:nvPr/>
        </p:nvGrpSpPr>
        <p:grpSpPr bwMode="auto">
          <a:xfrm>
            <a:off x="3795175" y="970438"/>
            <a:ext cx="1587103" cy="1587103"/>
            <a:chOff x="0" y="0"/>
            <a:chExt cx="2116920" cy="2116920"/>
          </a:xfrm>
        </p:grpSpPr>
        <p:sp>
          <p:nvSpPr>
            <p:cNvPr id="15" name="椭圆 47"/>
            <p:cNvSpPr>
              <a:spLocks noChangeArrowheads="1"/>
            </p:cNvSpPr>
            <p:nvPr/>
          </p:nvSpPr>
          <p:spPr bwMode="auto">
            <a:xfrm>
              <a:off x="0" y="0"/>
              <a:ext cx="2116920" cy="2116920"/>
            </a:xfrm>
            <a:prstGeom prst="ellipse">
              <a:avLst/>
            </a:prstGeom>
            <a:solidFill>
              <a:srgbClr val="F2F2F2"/>
            </a:solidFill>
            <a:ln w="57150">
              <a:solidFill>
                <a:srgbClr val="1D8DE5"/>
              </a:solidFill>
              <a:bevel/>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endParaRPr>
            </a:p>
          </p:txBody>
        </p:sp>
        <p:grpSp>
          <p:nvGrpSpPr>
            <p:cNvPr id="16" name="组合 48"/>
            <p:cNvGrpSpPr/>
            <p:nvPr/>
          </p:nvGrpSpPr>
          <p:grpSpPr bwMode="auto">
            <a:xfrm>
              <a:off x="461855" y="280091"/>
              <a:ext cx="1193210" cy="1836829"/>
              <a:chOff x="0" y="0"/>
              <a:chExt cx="2598738" cy="4000499"/>
            </a:xfrm>
          </p:grpSpPr>
          <p:sp>
            <p:nvSpPr>
              <p:cNvPr id="17" name="Freeform 1281"/>
              <p:cNvSpPr>
                <a:spLocks noChangeArrowheads="1"/>
              </p:cNvSpPr>
              <p:nvPr/>
            </p:nvSpPr>
            <p:spPr bwMode="auto">
              <a:xfrm>
                <a:off x="1435100" y="3543299"/>
                <a:ext cx="327025" cy="457200"/>
              </a:xfrm>
              <a:custGeom>
                <a:avLst/>
                <a:gdLst>
                  <a:gd name="T0" fmla="*/ 519152188 w 206"/>
                  <a:gd name="T1" fmla="*/ 0 h 288"/>
                  <a:gd name="T2" fmla="*/ 367942813 w 206"/>
                  <a:gd name="T3" fmla="*/ 0 h 288"/>
                  <a:gd name="T4" fmla="*/ 153730325 w 206"/>
                  <a:gd name="T5" fmla="*/ 0 h 288"/>
                  <a:gd name="T6" fmla="*/ 0 w 206"/>
                  <a:gd name="T7" fmla="*/ 0 h 288"/>
                  <a:gd name="T8" fmla="*/ 0 w 206"/>
                  <a:gd name="T9" fmla="*/ 20161250 h 288"/>
                  <a:gd name="T10" fmla="*/ 153730325 w 206"/>
                  <a:gd name="T11" fmla="*/ 20161250 h 288"/>
                  <a:gd name="T12" fmla="*/ 153730325 w 206"/>
                  <a:gd name="T13" fmla="*/ 725805000 h 288"/>
                  <a:gd name="T14" fmla="*/ 153730325 w 206"/>
                  <a:gd name="T15" fmla="*/ 725805000 h 288"/>
                  <a:gd name="T16" fmla="*/ 367942813 w 206"/>
                  <a:gd name="T17" fmla="*/ 725805000 h 288"/>
                  <a:gd name="T18" fmla="*/ 367942813 w 206"/>
                  <a:gd name="T19" fmla="*/ 725805000 h 288"/>
                  <a:gd name="T20" fmla="*/ 367942813 w 206"/>
                  <a:gd name="T21" fmla="*/ 20161250 h 288"/>
                  <a:gd name="T22" fmla="*/ 519152188 w 206"/>
                  <a:gd name="T23" fmla="*/ 20161250 h 288"/>
                  <a:gd name="T24" fmla="*/ 519152188 w 206"/>
                  <a:gd name="T25" fmla="*/ 0 h 28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06"/>
                  <a:gd name="T40" fmla="*/ 0 h 288"/>
                  <a:gd name="T41" fmla="*/ 206 w 206"/>
                  <a:gd name="T42" fmla="*/ 288 h 28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06" h="288">
                    <a:moveTo>
                      <a:pt x="206" y="0"/>
                    </a:moveTo>
                    <a:lnTo>
                      <a:pt x="146" y="0"/>
                    </a:lnTo>
                    <a:lnTo>
                      <a:pt x="61" y="0"/>
                    </a:lnTo>
                    <a:lnTo>
                      <a:pt x="0" y="0"/>
                    </a:lnTo>
                    <a:lnTo>
                      <a:pt x="0" y="8"/>
                    </a:lnTo>
                    <a:lnTo>
                      <a:pt x="61" y="8"/>
                    </a:lnTo>
                    <a:lnTo>
                      <a:pt x="61" y="288"/>
                    </a:lnTo>
                    <a:lnTo>
                      <a:pt x="146" y="288"/>
                    </a:lnTo>
                    <a:lnTo>
                      <a:pt x="146" y="8"/>
                    </a:lnTo>
                    <a:lnTo>
                      <a:pt x="206" y="8"/>
                    </a:lnTo>
                    <a:lnTo>
                      <a:pt x="20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8" name="Freeform 1283"/>
              <p:cNvSpPr>
                <a:spLocks noChangeArrowheads="1"/>
              </p:cNvSpPr>
              <p:nvPr/>
            </p:nvSpPr>
            <p:spPr bwMode="auto">
              <a:xfrm>
                <a:off x="1820863" y="3541712"/>
                <a:ext cx="328613" cy="458787"/>
              </a:xfrm>
              <a:custGeom>
                <a:avLst/>
                <a:gdLst>
                  <a:gd name="T0" fmla="*/ 521673931 w 207"/>
                  <a:gd name="T1" fmla="*/ 0 h 289"/>
                  <a:gd name="T2" fmla="*/ 214214401 w 207"/>
                  <a:gd name="T3" fmla="*/ 0 h 289"/>
                  <a:gd name="T4" fmla="*/ 138609598 w 207"/>
                  <a:gd name="T5" fmla="*/ 0 h 289"/>
                  <a:gd name="T6" fmla="*/ 0 w 207"/>
                  <a:gd name="T7" fmla="*/ 0 h 289"/>
                  <a:gd name="T8" fmla="*/ 0 w 207"/>
                  <a:gd name="T9" fmla="*/ 728323569 h 289"/>
                  <a:gd name="T10" fmla="*/ 138609598 w 207"/>
                  <a:gd name="T11" fmla="*/ 728323569 h 289"/>
                  <a:gd name="T12" fmla="*/ 214214401 w 207"/>
                  <a:gd name="T13" fmla="*/ 728323569 h 289"/>
                  <a:gd name="T14" fmla="*/ 521673931 w 207"/>
                  <a:gd name="T15" fmla="*/ 728323569 h 289"/>
                  <a:gd name="T16" fmla="*/ 521673931 w 207"/>
                  <a:gd name="T17" fmla="*/ 708162341 h 289"/>
                  <a:gd name="T18" fmla="*/ 214214401 w 207"/>
                  <a:gd name="T19" fmla="*/ 708162341 h 289"/>
                  <a:gd name="T20" fmla="*/ 214214401 w 207"/>
                  <a:gd name="T21" fmla="*/ 161289824 h 289"/>
                  <a:gd name="T22" fmla="*/ 405746567 w 207"/>
                  <a:gd name="T23" fmla="*/ 161289824 h 289"/>
                  <a:gd name="T24" fmla="*/ 405746567 w 207"/>
                  <a:gd name="T25" fmla="*/ 141128596 h 289"/>
                  <a:gd name="T26" fmla="*/ 214214401 w 207"/>
                  <a:gd name="T27" fmla="*/ 141128596 h 289"/>
                  <a:gd name="T28" fmla="*/ 214214401 w 207"/>
                  <a:gd name="T29" fmla="*/ 20161228 h 289"/>
                  <a:gd name="T30" fmla="*/ 521673931 w 207"/>
                  <a:gd name="T31" fmla="*/ 20161228 h 289"/>
                  <a:gd name="T32" fmla="*/ 521673931 w 207"/>
                  <a:gd name="T33" fmla="*/ 0 h 289"/>
                  <a:gd name="T34" fmla="*/ 521673931 w 207"/>
                  <a:gd name="T35" fmla="*/ 0 h 28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207"/>
                  <a:gd name="T55" fmla="*/ 0 h 289"/>
                  <a:gd name="T56" fmla="*/ 207 w 207"/>
                  <a:gd name="T57" fmla="*/ 289 h 28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207" h="289">
                    <a:moveTo>
                      <a:pt x="207" y="0"/>
                    </a:moveTo>
                    <a:lnTo>
                      <a:pt x="85" y="0"/>
                    </a:lnTo>
                    <a:lnTo>
                      <a:pt x="55" y="0"/>
                    </a:lnTo>
                    <a:lnTo>
                      <a:pt x="0" y="0"/>
                    </a:lnTo>
                    <a:lnTo>
                      <a:pt x="0" y="289"/>
                    </a:lnTo>
                    <a:lnTo>
                      <a:pt x="55" y="289"/>
                    </a:lnTo>
                    <a:lnTo>
                      <a:pt x="85" y="289"/>
                    </a:lnTo>
                    <a:lnTo>
                      <a:pt x="207" y="289"/>
                    </a:lnTo>
                    <a:lnTo>
                      <a:pt x="207" y="281"/>
                    </a:lnTo>
                    <a:lnTo>
                      <a:pt x="85" y="281"/>
                    </a:lnTo>
                    <a:lnTo>
                      <a:pt x="85" y="64"/>
                    </a:lnTo>
                    <a:lnTo>
                      <a:pt x="161" y="64"/>
                    </a:lnTo>
                    <a:lnTo>
                      <a:pt x="161" y="56"/>
                    </a:lnTo>
                    <a:lnTo>
                      <a:pt x="85" y="56"/>
                    </a:lnTo>
                    <a:lnTo>
                      <a:pt x="85" y="8"/>
                    </a:lnTo>
                    <a:lnTo>
                      <a:pt x="207" y="8"/>
                    </a:lnTo>
                    <a:lnTo>
                      <a:pt x="20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19" name="Freeform 1284"/>
              <p:cNvSpPr>
                <a:spLocks noChangeArrowheads="1"/>
              </p:cNvSpPr>
              <p:nvPr/>
            </p:nvSpPr>
            <p:spPr bwMode="auto">
              <a:xfrm>
                <a:off x="2598738" y="3733799"/>
                <a:ext cx="1" cy="3175"/>
              </a:xfrm>
              <a:custGeom>
                <a:avLst/>
                <a:gdLst>
                  <a:gd name="T0" fmla="*/ 0 w 1"/>
                  <a:gd name="T1" fmla="*/ 0 h 2"/>
                  <a:gd name="T2" fmla="*/ 0 w 1"/>
                  <a:gd name="T3" fmla="*/ 2520950 h 2"/>
                  <a:gd name="T4" fmla="*/ 0 w 1"/>
                  <a:gd name="T5" fmla="*/ 5040313 h 2"/>
                  <a:gd name="T6" fmla="*/ 0 w 1"/>
                  <a:gd name="T7" fmla="*/ 0 h 2"/>
                  <a:gd name="T8" fmla="*/ 0 60000 65536"/>
                  <a:gd name="T9" fmla="*/ 0 60000 65536"/>
                  <a:gd name="T10" fmla="*/ 0 60000 65536"/>
                  <a:gd name="T11" fmla="*/ 0 60000 65536"/>
                  <a:gd name="T12" fmla="*/ 0 w 1"/>
                  <a:gd name="T13" fmla="*/ 0 h 2"/>
                  <a:gd name="T14" fmla="*/ 1 w 1"/>
                  <a:gd name="T15" fmla="*/ 2 h 2"/>
                </a:gdLst>
                <a:ahLst/>
                <a:cxnLst>
                  <a:cxn ang="T8">
                    <a:pos x="T0" y="T1"/>
                  </a:cxn>
                  <a:cxn ang="T9">
                    <a:pos x="T2" y="T3"/>
                  </a:cxn>
                  <a:cxn ang="T10">
                    <a:pos x="T4" y="T5"/>
                  </a:cxn>
                  <a:cxn ang="T11">
                    <a:pos x="T6" y="T7"/>
                  </a:cxn>
                </a:cxnLst>
                <a:rect l="T12" t="T13" r="T14" b="T15"/>
                <a:pathLst>
                  <a:path w="1" h="2">
                    <a:moveTo>
                      <a:pt x="0" y="0"/>
                    </a:moveTo>
                    <a:cubicBezTo>
                      <a:pt x="0" y="0"/>
                      <a:pt x="0" y="1"/>
                      <a:pt x="0" y="1"/>
                    </a:cubicBezTo>
                    <a:cubicBezTo>
                      <a:pt x="0" y="2"/>
                      <a:pt x="0" y="2"/>
                      <a:pt x="0" y="2"/>
                    </a:cubicBezTo>
                    <a:cubicBezTo>
                      <a:pt x="0" y="0"/>
                      <a:pt x="0" y="0"/>
                      <a:pt x="0" y="0"/>
                    </a:cubicBezTo>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0" name="Freeform 1289"/>
              <p:cNvSpPr>
                <a:spLocks noChangeArrowheads="1"/>
              </p:cNvSpPr>
              <p:nvPr/>
            </p:nvSpPr>
            <p:spPr bwMode="auto">
              <a:xfrm>
                <a:off x="1112838" y="3733799"/>
                <a:ext cx="1" cy="3175"/>
              </a:xfrm>
              <a:custGeom>
                <a:avLst/>
                <a:gdLst>
                  <a:gd name="T0" fmla="*/ 0 w 1"/>
                  <a:gd name="T1" fmla="*/ 0 h 3"/>
                  <a:gd name="T2" fmla="*/ 0 w 1"/>
                  <a:gd name="T3" fmla="*/ 2240492 h 3"/>
                  <a:gd name="T4" fmla="*/ 0 w 1"/>
                  <a:gd name="T5" fmla="*/ 3360208 h 3"/>
                  <a:gd name="T6" fmla="*/ 0 w 1"/>
                  <a:gd name="T7" fmla="*/ 0 h 3"/>
                  <a:gd name="T8" fmla="*/ 0 60000 65536"/>
                  <a:gd name="T9" fmla="*/ 0 60000 65536"/>
                  <a:gd name="T10" fmla="*/ 0 60000 65536"/>
                  <a:gd name="T11" fmla="*/ 0 60000 65536"/>
                  <a:gd name="T12" fmla="*/ 0 w 1"/>
                  <a:gd name="T13" fmla="*/ 0 h 3"/>
                  <a:gd name="T14" fmla="*/ 1 w 1"/>
                  <a:gd name="T15" fmla="*/ 3 h 3"/>
                </a:gdLst>
                <a:ahLst/>
                <a:cxnLst>
                  <a:cxn ang="T8">
                    <a:pos x="T0" y="T1"/>
                  </a:cxn>
                  <a:cxn ang="T9">
                    <a:pos x="T2" y="T3"/>
                  </a:cxn>
                  <a:cxn ang="T10">
                    <a:pos x="T4" y="T5"/>
                  </a:cxn>
                  <a:cxn ang="T11">
                    <a:pos x="T6" y="T7"/>
                  </a:cxn>
                </a:cxnLst>
                <a:rect l="T12" t="T13" r="T14" b="T15"/>
                <a:pathLst>
                  <a:path w="1" h="3">
                    <a:moveTo>
                      <a:pt x="0" y="0"/>
                    </a:moveTo>
                    <a:cubicBezTo>
                      <a:pt x="0" y="1"/>
                      <a:pt x="0" y="1"/>
                      <a:pt x="0" y="2"/>
                    </a:cubicBezTo>
                    <a:cubicBezTo>
                      <a:pt x="0" y="2"/>
                      <a:pt x="0" y="3"/>
                      <a:pt x="0" y="3"/>
                    </a:cubicBezTo>
                    <a:cubicBezTo>
                      <a:pt x="0" y="0"/>
                      <a:pt x="0" y="0"/>
                      <a:pt x="0" y="0"/>
                    </a:cubicBezTo>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1" name="Freeform 1292"/>
              <p:cNvSpPr>
                <a:spLocks noChangeArrowheads="1"/>
              </p:cNvSpPr>
              <p:nvPr/>
            </p:nvSpPr>
            <p:spPr bwMode="auto">
              <a:xfrm>
                <a:off x="0" y="3543299"/>
                <a:ext cx="395288" cy="457200"/>
              </a:xfrm>
              <a:custGeom>
                <a:avLst/>
                <a:gdLst>
                  <a:gd name="T0" fmla="*/ 627520494 w 249"/>
                  <a:gd name="T1" fmla="*/ 0 h 288"/>
                  <a:gd name="T2" fmla="*/ 521673797 w 249"/>
                  <a:gd name="T3" fmla="*/ 0 h 288"/>
                  <a:gd name="T4" fmla="*/ 413306148 w 249"/>
                  <a:gd name="T5" fmla="*/ 0 h 288"/>
                  <a:gd name="T6" fmla="*/ 413306148 w 249"/>
                  <a:gd name="T7" fmla="*/ 138609388 h 288"/>
                  <a:gd name="T8" fmla="*/ 214214346 w 249"/>
                  <a:gd name="T9" fmla="*/ 138609388 h 288"/>
                  <a:gd name="T10" fmla="*/ 214214346 w 249"/>
                  <a:gd name="T11" fmla="*/ 0 h 288"/>
                  <a:gd name="T12" fmla="*/ 0 w 249"/>
                  <a:gd name="T13" fmla="*/ 0 h 288"/>
                  <a:gd name="T14" fmla="*/ 0 w 249"/>
                  <a:gd name="T15" fmla="*/ 725805000 h 288"/>
                  <a:gd name="T16" fmla="*/ 214214346 w 249"/>
                  <a:gd name="T17" fmla="*/ 725805000 h 288"/>
                  <a:gd name="T18" fmla="*/ 214214346 w 249"/>
                  <a:gd name="T19" fmla="*/ 161290000 h 288"/>
                  <a:gd name="T20" fmla="*/ 413306148 w 249"/>
                  <a:gd name="T21" fmla="*/ 161290000 h 288"/>
                  <a:gd name="T22" fmla="*/ 413306148 w 249"/>
                  <a:gd name="T23" fmla="*/ 725805000 h 288"/>
                  <a:gd name="T24" fmla="*/ 521673797 w 249"/>
                  <a:gd name="T25" fmla="*/ 725805000 h 288"/>
                  <a:gd name="T26" fmla="*/ 627520494 w 249"/>
                  <a:gd name="T27" fmla="*/ 725805000 h 288"/>
                  <a:gd name="T28" fmla="*/ 627520494 w 249"/>
                  <a:gd name="T29" fmla="*/ 725805000 h 288"/>
                  <a:gd name="T30" fmla="*/ 627520494 w 249"/>
                  <a:gd name="T31" fmla="*/ 0 h 28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9"/>
                  <a:gd name="T49" fmla="*/ 0 h 288"/>
                  <a:gd name="T50" fmla="*/ 249 w 249"/>
                  <a:gd name="T51" fmla="*/ 288 h 28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9" h="288">
                    <a:moveTo>
                      <a:pt x="249" y="0"/>
                    </a:moveTo>
                    <a:lnTo>
                      <a:pt x="207" y="0"/>
                    </a:lnTo>
                    <a:lnTo>
                      <a:pt x="164" y="0"/>
                    </a:lnTo>
                    <a:lnTo>
                      <a:pt x="164" y="55"/>
                    </a:lnTo>
                    <a:lnTo>
                      <a:pt x="85" y="55"/>
                    </a:lnTo>
                    <a:lnTo>
                      <a:pt x="85" y="0"/>
                    </a:lnTo>
                    <a:lnTo>
                      <a:pt x="0" y="0"/>
                    </a:lnTo>
                    <a:lnTo>
                      <a:pt x="0" y="288"/>
                    </a:lnTo>
                    <a:lnTo>
                      <a:pt x="85" y="288"/>
                    </a:lnTo>
                    <a:lnTo>
                      <a:pt x="85" y="64"/>
                    </a:lnTo>
                    <a:lnTo>
                      <a:pt x="164" y="64"/>
                    </a:lnTo>
                    <a:lnTo>
                      <a:pt x="164" y="288"/>
                    </a:lnTo>
                    <a:lnTo>
                      <a:pt x="207" y="288"/>
                    </a:lnTo>
                    <a:lnTo>
                      <a:pt x="249" y="288"/>
                    </a:lnTo>
                    <a:lnTo>
                      <a:pt x="249"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2" name="Freeform 1293"/>
              <p:cNvSpPr>
                <a:spLocks noEditPoints="1" noChangeArrowheads="1"/>
              </p:cNvSpPr>
              <p:nvPr/>
            </p:nvSpPr>
            <p:spPr bwMode="auto">
              <a:xfrm>
                <a:off x="319088" y="1646237"/>
                <a:ext cx="1916113" cy="677862"/>
              </a:xfrm>
              <a:custGeom>
                <a:avLst/>
                <a:gdLst>
                  <a:gd name="T0" fmla="*/ 2147483646 w 1660"/>
                  <a:gd name="T1" fmla="*/ 137354242 h 587"/>
                  <a:gd name="T2" fmla="*/ 2126468733 w 1660"/>
                  <a:gd name="T3" fmla="*/ 90681076 h 587"/>
                  <a:gd name="T4" fmla="*/ 1460281260 w 1660"/>
                  <a:gd name="T5" fmla="*/ 52008298 h 587"/>
                  <a:gd name="T6" fmla="*/ 1115196235 w 1660"/>
                  <a:gd name="T7" fmla="*/ 198697866 h 587"/>
                  <a:gd name="T8" fmla="*/ 1096544144 w 1660"/>
                  <a:gd name="T9" fmla="*/ 198697866 h 587"/>
                  <a:gd name="T10" fmla="*/ 751459119 w 1660"/>
                  <a:gd name="T11" fmla="*/ 52008298 h 587"/>
                  <a:gd name="T12" fmla="*/ 85271646 w 1660"/>
                  <a:gd name="T13" fmla="*/ 90681076 h 587"/>
                  <a:gd name="T14" fmla="*/ 2665244 w 1660"/>
                  <a:gd name="T15" fmla="*/ 137354242 h 587"/>
                  <a:gd name="T16" fmla="*/ 35974444 w 1660"/>
                  <a:gd name="T17" fmla="*/ 214699797 h 587"/>
                  <a:gd name="T18" fmla="*/ 130572712 w 1660"/>
                  <a:gd name="T19" fmla="*/ 394728165 h 587"/>
                  <a:gd name="T20" fmla="*/ 285128003 w 1660"/>
                  <a:gd name="T21" fmla="*/ 721446102 h 587"/>
                  <a:gd name="T22" fmla="*/ 818077520 w 1660"/>
                  <a:gd name="T23" fmla="*/ 716110970 h 587"/>
                  <a:gd name="T24" fmla="*/ 1103205523 w 1660"/>
                  <a:gd name="T25" fmla="*/ 317382610 h 587"/>
                  <a:gd name="T26" fmla="*/ 1108534856 w 1660"/>
                  <a:gd name="T27" fmla="*/ 317382610 h 587"/>
                  <a:gd name="T28" fmla="*/ 1393662859 w 1660"/>
                  <a:gd name="T29" fmla="*/ 716110970 h 587"/>
                  <a:gd name="T30" fmla="*/ 1926612376 w 1660"/>
                  <a:gd name="T31" fmla="*/ 721446102 h 587"/>
                  <a:gd name="T32" fmla="*/ 2081167666 w 1660"/>
                  <a:gd name="T33" fmla="*/ 394728165 h 587"/>
                  <a:gd name="T34" fmla="*/ 2147483646 w 1660"/>
                  <a:gd name="T35" fmla="*/ 214699797 h 587"/>
                  <a:gd name="T36" fmla="*/ 2147483646 w 1660"/>
                  <a:gd name="T37" fmla="*/ 137354242 h 587"/>
                  <a:gd name="T38" fmla="*/ 892690498 w 1660"/>
                  <a:gd name="T39" fmla="*/ 454738006 h 587"/>
                  <a:gd name="T40" fmla="*/ 783436274 w 1660"/>
                  <a:gd name="T41" fmla="*/ 652102089 h 587"/>
                  <a:gd name="T42" fmla="*/ 547605473 w 1660"/>
                  <a:gd name="T43" fmla="*/ 692107495 h 587"/>
                  <a:gd name="T44" fmla="*/ 311775825 w 1660"/>
                  <a:gd name="T45" fmla="*/ 653434717 h 587"/>
                  <a:gd name="T46" fmla="*/ 213180268 w 1660"/>
                  <a:gd name="T47" fmla="*/ 421399206 h 587"/>
                  <a:gd name="T48" fmla="*/ 194527024 w 1660"/>
                  <a:gd name="T49" fmla="*/ 176027019 h 587"/>
                  <a:gd name="T50" fmla="*/ 539610895 w 1660"/>
                  <a:gd name="T51" fmla="*/ 118684744 h 587"/>
                  <a:gd name="T52" fmla="*/ 935326321 w 1660"/>
                  <a:gd name="T53" fmla="*/ 226701534 h 587"/>
                  <a:gd name="T54" fmla="*/ 892690498 w 1660"/>
                  <a:gd name="T55" fmla="*/ 454738006 h 587"/>
                  <a:gd name="T56" fmla="*/ 1998560110 w 1660"/>
                  <a:gd name="T57" fmla="*/ 421399206 h 587"/>
                  <a:gd name="T58" fmla="*/ 1899964554 w 1660"/>
                  <a:gd name="T59" fmla="*/ 653434717 h 587"/>
                  <a:gd name="T60" fmla="*/ 1664134906 w 1660"/>
                  <a:gd name="T61" fmla="*/ 692107495 h 587"/>
                  <a:gd name="T62" fmla="*/ 1428304104 w 1660"/>
                  <a:gd name="T63" fmla="*/ 652102089 h 587"/>
                  <a:gd name="T64" fmla="*/ 1319049881 w 1660"/>
                  <a:gd name="T65" fmla="*/ 454738006 h 587"/>
                  <a:gd name="T66" fmla="*/ 1276414058 w 1660"/>
                  <a:gd name="T67" fmla="*/ 226701534 h 587"/>
                  <a:gd name="T68" fmla="*/ 1672129484 w 1660"/>
                  <a:gd name="T69" fmla="*/ 118684744 h 587"/>
                  <a:gd name="T70" fmla="*/ 2017213355 w 1660"/>
                  <a:gd name="T71" fmla="*/ 176027019 h 587"/>
                  <a:gd name="T72" fmla="*/ 1998560110 w 1660"/>
                  <a:gd name="T73" fmla="*/ 421399206 h 58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60"/>
                  <a:gd name="T112" fmla="*/ 0 h 587"/>
                  <a:gd name="T113" fmla="*/ 1660 w 1660"/>
                  <a:gd name="T114" fmla="*/ 587 h 587"/>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60" h="587">
                    <a:moveTo>
                      <a:pt x="1658" y="103"/>
                    </a:moveTo>
                    <a:cubicBezTo>
                      <a:pt x="1658" y="71"/>
                      <a:pt x="1653" y="83"/>
                      <a:pt x="1596" y="68"/>
                    </a:cubicBezTo>
                    <a:cubicBezTo>
                      <a:pt x="1539" y="52"/>
                      <a:pt x="1364" y="0"/>
                      <a:pt x="1096" y="39"/>
                    </a:cubicBezTo>
                    <a:cubicBezTo>
                      <a:pt x="872" y="72"/>
                      <a:pt x="929" y="146"/>
                      <a:pt x="837" y="149"/>
                    </a:cubicBezTo>
                    <a:cubicBezTo>
                      <a:pt x="823" y="149"/>
                      <a:pt x="823" y="149"/>
                      <a:pt x="823" y="149"/>
                    </a:cubicBezTo>
                    <a:cubicBezTo>
                      <a:pt x="731" y="146"/>
                      <a:pt x="788" y="72"/>
                      <a:pt x="564" y="39"/>
                    </a:cubicBezTo>
                    <a:cubicBezTo>
                      <a:pt x="296" y="0"/>
                      <a:pt x="121" y="52"/>
                      <a:pt x="64" y="68"/>
                    </a:cubicBezTo>
                    <a:cubicBezTo>
                      <a:pt x="7" y="83"/>
                      <a:pt x="2" y="71"/>
                      <a:pt x="2" y="103"/>
                    </a:cubicBezTo>
                    <a:cubicBezTo>
                      <a:pt x="3" y="135"/>
                      <a:pt x="0" y="161"/>
                      <a:pt x="27" y="161"/>
                    </a:cubicBezTo>
                    <a:cubicBezTo>
                      <a:pt x="55" y="161"/>
                      <a:pt x="55" y="161"/>
                      <a:pt x="98" y="296"/>
                    </a:cubicBezTo>
                    <a:cubicBezTo>
                      <a:pt x="150" y="458"/>
                      <a:pt x="164" y="504"/>
                      <a:pt x="214" y="541"/>
                    </a:cubicBezTo>
                    <a:cubicBezTo>
                      <a:pt x="275" y="587"/>
                      <a:pt x="531" y="587"/>
                      <a:pt x="614" y="537"/>
                    </a:cubicBezTo>
                    <a:cubicBezTo>
                      <a:pt x="717" y="475"/>
                      <a:pt x="704" y="241"/>
                      <a:pt x="828" y="238"/>
                    </a:cubicBezTo>
                    <a:cubicBezTo>
                      <a:pt x="829" y="238"/>
                      <a:pt x="831" y="238"/>
                      <a:pt x="832" y="238"/>
                    </a:cubicBezTo>
                    <a:cubicBezTo>
                      <a:pt x="956" y="241"/>
                      <a:pt x="943" y="475"/>
                      <a:pt x="1046" y="537"/>
                    </a:cubicBezTo>
                    <a:cubicBezTo>
                      <a:pt x="1129" y="587"/>
                      <a:pt x="1385" y="587"/>
                      <a:pt x="1446" y="541"/>
                    </a:cubicBezTo>
                    <a:cubicBezTo>
                      <a:pt x="1496" y="504"/>
                      <a:pt x="1510" y="458"/>
                      <a:pt x="1562" y="296"/>
                    </a:cubicBezTo>
                    <a:cubicBezTo>
                      <a:pt x="1605" y="161"/>
                      <a:pt x="1605" y="161"/>
                      <a:pt x="1633" y="161"/>
                    </a:cubicBezTo>
                    <a:cubicBezTo>
                      <a:pt x="1660" y="161"/>
                      <a:pt x="1657" y="135"/>
                      <a:pt x="1658" y="103"/>
                    </a:cubicBezTo>
                    <a:close/>
                    <a:moveTo>
                      <a:pt x="670" y="341"/>
                    </a:moveTo>
                    <a:cubicBezTo>
                      <a:pt x="644" y="407"/>
                      <a:pt x="624" y="465"/>
                      <a:pt x="588" y="489"/>
                    </a:cubicBezTo>
                    <a:cubicBezTo>
                      <a:pt x="550" y="515"/>
                      <a:pt x="494" y="520"/>
                      <a:pt x="411" y="519"/>
                    </a:cubicBezTo>
                    <a:cubicBezTo>
                      <a:pt x="341" y="517"/>
                      <a:pt x="266" y="520"/>
                      <a:pt x="234" y="490"/>
                    </a:cubicBezTo>
                    <a:cubicBezTo>
                      <a:pt x="208" y="465"/>
                      <a:pt x="182" y="386"/>
                      <a:pt x="160" y="316"/>
                    </a:cubicBezTo>
                    <a:cubicBezTo>
                      <a:pt x="129" y="219"/>
                      <a:pt x="115" y="161"/>
                      <a:pt x="146" y="132"/>
                    </a:cubicBezTo>
                    <a:cubicBezTo>
                      <a:pt x="185" y="97"/>
                      <a:pt x="286" y="91"/>
                      <a:pt x="405" y="89"/>
                    </a:cubicBezTo>
                    <a:cubicBezTo>
                      <a:pt x="524" y="88"/>
                      <a:pt x="682" y="123"/>
                      <a:pt x="702" y="170"/>
                    </a:cubicBezTo>
                    <a:cubicBezTo>
                      <a:pt x="718" y="205"/>
                      <a:pt x="693" y="282"/>
                      <a:pt x="670" y="341"/>
                    </a:cubicBezTo>
                    <a:close/>
                    <a:moveTo>
                      <a:pt x="1500" y="316"/>
                    </a:moveTo>
                    <a:cubicBezTo>
                      <a:pt x="1478" y="386"/>
                      <a:pt x="1452" y="465"/>
                      <a:pt x="1426" y="490"/>
                    </a:cubicBezTo>
                    <a:cubicBezTo>
                      <a:pt x="1394" y="520"/>
                      <a:pt x="1319" y="517"/>
                      <a:pt x="1249" y="519"/>
                    </a:cubicBezTo>
                    <a:cubicBezTo>
                      <a:pt x="1166" y="520"/>
                      <a:pt x="1110" y="515"/>
                      <a:pt x="1072" y="489"/>
                    </a:cubicBezTo>
                    <a:cubicBezTo>
                      <a:pt x="1036" y="465"/>
                      <a:pt x="1016" y="407"/>
                      <a:pt x="990" y="341"/>
                    </a:cubicBezTo>
                    <a:cubicBezTo>
                      <a:pt x="967" y="282"/>
                      <a:pt x="942" y="205"/>
                      <a:pt x="958" y="170"/>
                    </a:cubicBezTo>
                    <a:cubicBezTo>
                      <a:pt x="978" y="123"/>
                      <a:pt x="1136" y="88"/>
                      <a:pt x="1255" y="89"/>
                    </a:cubicBezTo>
                    <a:cubicBezTo>
                      <a:pt x="1374" y="91"/>
                      <a:pt x="1475" y="97"/>
                      <a:pt x="1514" y="132"/>
                    </a:cubicBezTo>
                    <a:cubicBezTo>
                      <a:pt x="1546" y="161"/>
                      <a:pt x="1531" y="219"/>
                      <a:pt x="1500" y="316"/>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3" name="Freeform 1294"/>
              <p:cNvSpPr>
                <a:spLocks noChangeArrowheads="1"/>
              </p:cNvSpPr>
              <p:nvPr/>
            </p:nvSpPr>
            <p:spPr bwMode="auto">
              <a:xfrm>
                <a:off x="663575" y="2454274"/>
                <a:ext cx="622300" cy="488950"/>
              </a:xfrm>
              <a:custGeom>
                <a:avLst/>
                <a:gdLst>
                  <a:gd name="T0" fmla="*/ 0 w 538"/>
                  <a:gd name="T1" fmla="*/ 461452328 h 424"/>
                  <a:gd name="T2" fmla="*/ 204704313 w 538"/>
                  <a:gd name="T3" fmla="*/ 398949758 h 424"/>
                  <a:gd name="T4" fmla="*/ 457573257 w 538"/>
                  <a:gd name="T5" fmla="*/ 216762836 h 424"/>
                  <a:gd name="T6" fmla="*/ 709105067 w 538"/>
                  <a:gd name="T7" fmla="*/ 115695487 h 424"/>
                  <a:gd name="T8" fmla="*/ 544539104 w 538"/>
                  <a:gd name="T9" fmla="*/ 2659242 h 424"/>
                  <a:gd name="T10" fmla="*/ 198014009 w 538"/>
                  <a:gd name="T11" fmla="*/ 239369855 h 424"/>
                  <a:gd name="T12" fmla="*/ 109711027 w 538"/>
                  <a:gd name="T13" fmla="*/ 433525672 h 424"/>
                  <a:gd name="T14" fmla="*/ 0 w 538"/>
                  <a:gd name="T15" fmla="*/ 461452328 h 424"/>
                  <a:gd name="T16" fmla="*/ 0 60000 65536"/>
                  <a:gd name="T17" fmla="*/ 0 60000 65536"/>
                  <a:gd name="T18" fmla="*/ 0 60000 65536"/>
                  <a:gd name="T19" fmla="*/ 0 60000 65536"/>
                  <a:gd name="T20" fmla="*/ 0 60000 65536"/>
                  <a:gd name="T21" fmla="*/ 0 60000 65536"/>
                  <a:gd name="T22" fmla="*/ 0 60000 65536"/>
                  <a:gd name="T23" fmla="*/ 0 60000 65536"/>
                  <a:gd name="T24" fmla="*/ 0 w 538"/>
                  <a:gd name="T25" fmla="*/ 0 h 424"/>
                  <a:gd name="T26" fmla="*/ 538 w 538"/>
                  <a:gd name="T27" fmla="*/ 424 h 4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8" h="424">
                    <a:moveTo>
                      <a:pt x="0" y="347"/>
                    </a:moveTo>
                    <a:cubicBezTo>
                      <a:pt x="0" y="347"/>
                      <a:pt x="82" y="424"/>
                      <a:pt x="153" y="300"/>
                    </a:cubicBezTo>
                    <a:cubicBezTo>
                      <a:pt x="209" y="203"/>
                      <a:pt x="220" y="166"/>
                      <a:pt x="342" y="163"/>
                    </a:cubicBezTo>
                    <a:cubicBezTo>
                      <a:pt x="465" y="160"/>
                      <a:pt x="522" y="141"/>
                      <a:pt x="530" y="87"/>
                    </a:cubicBezTo>
                    <a:cubicBezTo>
                      <a:pt x="538" y="33"/>
                      <a:pt x="492" y="0"/>
                      <a:pt x="407" y="2"/>
                    </a:cubicBezTo>
                    <a:cubicBezTo>
                      <a:pt x="323" y="4"/>
                      <a:pt x="210" y="54"/>
                      <a:pt x="148" y="180"/>
                    </a:cubicBezTo>
                    <a:cubicBezTo>
                      <a:pt x="104" y="269"/>
                      <a:pt x="108" y="298"/>
                      <a:pt x="82" y="326"/>
                    </a:cubicBezTo>
                    <a:cubicBezTo>
                      <a:pt x="56" y="354"/>
                      <a:pt x="0" y="347"/>
                      <a:pt x="0" y="347"/>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4" name="Freeform 1295"/>
              <p:cNvSpPr>
                <a:spLocks noChangeArrowheads="1"/>
              </p:cNvSpPr>
              <p:nvPr/>
            </p:nvSpPr>
            <p:spPr bwMode="auto">
              <a:xfrm>
                <a:off x="1268413" y="2454274"/>
                <a:ext cx="622300" cy="488950"/>
              </a:xfrm>
              <a:custGeom>
                <a:avLst/>
                <a:gdLst>
                  <a:gd name="T0" fmla="*/ 719809089 w 538"/>
                  <a:gd name="T1" fmla="*/ 461452328 h 424"/>
                  <a:gd name="T2" fmla="*/ 515104777 w 538"/>
                  <a:gd name="T3" fmla="*/ 398949758 h 424"/>
                  <a:gd name="T4" fmla="*/ 262235832 w 538"/>
                  <a:gd name="T5" fmla="*/ 216762836 h 424"/>
                  <a:gd name="T6" fmla="*/ 10704023 w 538"/>
                  <a:gd name="T7" fmla="*/ 115695487 h 424"/>
                  <a:gd name="T8" fmla="*/ 175269985 w 538"/>
                  <a:gd name="T9" fmla="*/ 2659242 h 424"/>
                  <a:gd name="T10" fmla="*/ 521795080 w 538"/>
                  <a:gd name="T11" fmla="*/ 239369855 h 424"/>
                  <a:gd name="T12" fmla="*/ 610098062 w 538"/>
                  <a:gd name="T13" fmla="*/ 433525672 h 424"/>
                  <a:gd name="T14" fmla="*/ 719809089 w 538"/>
                  <a:gd name="T15" fmla="*/ 461452328 h 424"/>
                  <a:gd name="T16" fmla="*/ 0 60000 65536"/>
                  <a:gd name="T17" fmla="*/ 0 60000 65536"/>
                  <a:gd name="T18" fmla="*/ 0 60000 65536"/>
                  <a:gd name="T19" fmla="*/ 0 60000 65536"/>
                  <a:gd name="T20" fmla="*/ 0 60000 65536"/>
                  <a:gd name="T21" fmla="*/ 0 60000 65536"/>
                  <a:gd name="T22" fmla="*/ 0 60000 65536"/>
                  <a:gd name="T23" fmla="*/ 0 60000 65536"/>
                  <a:gd name="T24" fmla="*/ 0 w 538"/>
                  <a:gd name="T25" fmla="*/ 0 h 424"/>
                  <a:gd name="T26" fmla="*/ 538 w 538"/>
                  <a:gd name="T27" fmla="*/ 424 h 4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38" h="424">
                    <a:moveTo>
                      <a:pt x="538" y="347"/>
                    </a:moveTo>
                    <a:cubicBezTo>
                      <a:pt x="538" y="347"/>
                      <a:pt x="456" y="424"/>
                      <a:pt x="385" y="300"/>
                    </a:cubicBezTo>
                    <a:cubicBezTo>
                      <a:pt x="329" y="203"/>
                      <a:pt x="318" y="166"/>
                      <a:pt x="196" y="163"/>
                    </a:cubicBezTo>
                    <a:cubicBezTo>
                      <a:pt x="74" y="160"/>
                      <a:pt x="16" y="141"/>
                      <a:pt x="8" y="87"/>
                    </a:cubicBezTo>
                    <a:cubicBezTo>
                      <a:pt x="0" y="33"/>
                      <a:pt x="46" y="0"/>
                      <a:pt x="131" y="2"/>
                    </a:cubicBezTo>
                    <a:cubicBezTo>
                      <a:pt x="215" y="4"/>
                      <a:pt x="328" y="54"/>
                      <a:pt x="390" y="180"/>
                    </a:cubicBezTo>
                    <a:cubicBezTo>
                      <a:pt x="434" y="269"/>
                      <a:pt x="430" y="298"/>
                      <a:pt x="456" y="326"/>
                    </a:cubicBezTo>
                    <a:cubicBezTo>
                      <a:pt x="482" y="354"/>
                      <a:pt x="538" y="347"/>
                      <a:pt x="538" y="347"/>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5" name="Freeform 1296"/>
              <p:cNvSpPr>
                <a:spLocks noChangeArrowheads="1"/>
              </p:cNvSpPr>
              <p:nvPr/>
            </p:nvSpPr>
            <p:spPr bwMode="auto">
              <a:xfrm>
                <a:off x="454025" y="2387599"/>
                <a:ext cx="1647825" cy="1027112"/>
              </a:xfrm>
              <a:custGeom>
                <a:avLst/>
                <a:gdLst>
                  <a:gd name="T0" fmla="*/ 1680137151 w 1427"/>
                  <a:gd name="T1" fmla="*/ 299666273 h 890"/>
                  <a:gd name="T2" fmla="*/ 1357444054 w 1427"/>
                  <a:gd name="T3" fmla="*/ 728522463 h 890"/>
                  <a:gd name="T4" fmla="*/ 1056086077 w 1427"/>
                  <a:gd name="T5" fmla="*/ 554049602 h 890"/>
                  <a:gd name="T6" fmla="*/ 950744216 w 1427"/>
                  <a:gd name="T7" fmla="*/ 499444174 h 890"/>
                  <a:gd name="T8" fmla="*/ 845402355 w 1427"/>
                  <a:gd name="T9" fmla="*/ 554049602 h 890"/>
                  <a:gd name="T10" fmla="*/ 544044378 w 1427"/>
                  <a:gd name="T11" fmla="*/ 728522463 h 890"/>
                  <a:gd name="T12" fmla="*/ 221351281 w 1427"/>
                  <a:gd name="T13" fmla="*/ 299666273 h 890"/>
                  <a:gd name="T14" fmla="*/ 0 w 1427"/>
                  <a:gd name="T15" fmla="*/ 0 h 890"/>
                  <a:gd name="T16" fmla="*/ 120009467 w 1427"/>
                  <a:gd name="T17" fmla="*/ 594005413 h 890"/>
                  <a:gd name="T18" fmla="*/ 616049827 w 1427"/>
                  <a:gd name="T19" fmla="*/ 1049498425 h 890"/>
                  <a:gd name="T20" fmla="*/ 950744216 w 1427"/>
                  <a:gd name="T21" fmla="*/ 1172028271 h 890"/>
                  <a:gd name="T22" fmla="*/ 1285438605 w 1427"/>
                  <a:gd name="T23" fmla="*/ 1049498425 h 890"/>
                  <a:gd name="T24" fmla="*/ 1781478966 w 1427"/>
                  <a:gd name="T25" fmla="*/ 594005413 h 890"/>
                  <a:gd name="T26" fmla="*/ 1902822166 w 1427"/>
                  <a:gd name="T27" fmla="*/ 0 h 890"/>
                  <a:gd name="T28" fmla="*/ 1680137151 w 1427"/>
                  <a:gd name="T29" fmla="*/ 299666273 h 89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27"/>
                  <a:gd name="T46" fmla="*/ 0 h 890"/>
                  <a:gd name="T47" fmla="*/ 1427 w 1427"/>
                  <a:gd name="T48" fmla="*/ 890 h 89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27" h="890">
                    <a:moveTo>
                      <a:pt x="1260" y="225"/>
                    </a:moveTo>
                    <a:cubicBezTo>
                      <a:pt x="1249" y="317"/>
                      <a:pt x="1157" y="492"/>
                      <a:pt x="1018" y="547"/>
                    </a:cubicBezTo>
                    <a:cubicBezTo>
                      <a:pt x="879" y="602"/>
                      <a:pt x="841" y="467"/>
                      <a:pt x="792" y="416"/>
                    </a:cubicBezTo>
                    <a:cubicBezTo>
                      <a:pt x="753" y="376"/>
                      <a:pt x="724" y="374"/>
                      <a:pt x="713" y="375"/>
                    </a:cubicBezTo>
                    <a:cubicBezTo>
                      <a:pt x="702" y="374"/>
                      <a:pt x="673" y="376"/>
                      <a:pt x="634" y="416"/>
                    </a:cubicBezTo>
                    <a:cubicBezTo>
                      <a:pt x="585" y="467"/>
                      <a:pt x="547" y="602"/>
                      <a:pt x="408" y="547"/>
                    </a:cubicBezTo>
                    <a:cubicBezTo>
                      <a:pt x="269" y="492"/>
                      <a:pt x="177" y="317"/>
                      <a:pt x="166" y="225"/>
                    </a:cubicBezTo>
                    <a:cubicBezTo>
                      <a:pt x="143" y="32"/>
                      <a:pt x="0" y="0"/>
                      <a:pt x="0" y="0"/>
                    </a:cubicBezTo>
                    <a:cubicBezTo>
                      <a:pt x="0" y="0"/>
                      <a:pt x="41" y="368"/>
                      <a:pt x="90" y="446"/>
                    </a:cubicBezTo>
                    <a:cubicBezTo>
                      <a:pt x="139" y="523"/>
                      <a:pt x="332" y="684"/>
                      <a:pt x="462" y="788"/>
                    </a:cubicBezTo>
                    <a:cubicBezTo>
                      <a:pt x="590" y="890"/>
                      <a:pt x="643" y="880"/>
                      <a:pt x="713" y="880"/>
                    </a:cubicBezTo>
                    <a:cubicBezTo>
                      <a:pt x="783" y="880"/>
                      <a:pt x="836" y="890"/>
                      <a:pt x="964" y="788"/>
                    </a:cubicBezTo>
                    <a:cubicBezTo>
                      <a:pt x="1095" y="684"/>
                      <a:pt x="1287" y="523"/>
                      <a:pt x="1336" y="446"/>
                    </a:cubicBezTo>
                    <a:cubicBezTo>
                      <a:pt x="1385" y="368"/>
                      <a:pt x="1427" y="0"/>
                      <a:pt x="1427" y="0"/>
                    </a:cubicBezTo>
                    <a:cubicBezTo>
                      <a:pt x="1427" y="0"/>
                      <a:pt x="1284" y="32"/>
                      <a:pt x="1260" y="225"/>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6" name="Oval 1297"/>
              <p:cNvSpPr>
                <a:spLocks noChangeArrowheads="1"/>
              </p:cNvSpPr>
              <p:nvPr/>
            </p:nvSpPr>
            <p:spPr bwMode="auto">
              <a:xfrm>
                <a:off x="19050" y="719137"/>
                <a:ext cx="2516188" cy="909637"/>
              </a:xfrm>
              <a:prstGeom prst="ellipse">
                <a:avLst/>
              </a:pr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27" name="Freeform 1298"/>
              <p:cNvSpPr>
                <a:spLocks noChangeArrowheads="1"/>
              </p:cNvSpPr>
              <p:nvPr/>
            </p:nvSpPr>
            <p:spPr bwMode="auto">
              <a:xfrm>
                <a:off x="449263" y="0"/>
                <a:ext cx="1655763" cy="1004887"/>
              </a:xfrm>
              <a:custGeom>
                <a:avLst/>
                <a:gdLst>
                  <a:gd name="T0" fmla="*/ 1906487547 w 1434"/>
                  <a:gd name="T1" fmla="*/ 897865379 h 870"/>
                  <a:gd name="T2" fmla="*/ 1906487547 w 1434"/>
                  <a:gd name="T3" fmla="*/ 896531305 h 870"/>
                  <a:gd name="T4" fmla="*/ 1905155085 w 1434"/>
                  <a:gd name="T5" fmla="*/ 895197231 h 870"/>
                  <a:gd name="T6" fmla="*/ 1541188588 w 1434"/>
                  <a:gd name="T7" fmla="*/ 126741662 h 870"/>
                  <a:gd name="T8" fmla="*/ 990573493 w 1434"/>
                  <a:gd name="T9" fmla="*/ 269493368 h 870"/>
                  <a:gd name="T10" fmla="*/ 525284461 w 1434"/>
                  <a:gd name="T11" fmla="*/ 69374164 h 870"/>
                  <a:gd name="T12" fmla="*/ 5333312 w 1434"/>
                  <a:gd name="T13" fmla="*/ 896531305 h 870"/>
                  <a:gd name="T14" fmla="*/ 5333312 w 1434"/>
                  <a:gd name="T15" fmla="*/ 896531305 h 870"/>
                  <a:gd name="T16" fmla="*/ 0 w 1434"/>
                  <a:gd name="T17" fmla="*/ 921878714 h 870"/>
                  <a:gd name="T18" fmla="*/ 79992751 w 1434"/>
                  <a:gd name="T19" fmla="*/ 1016601441 h 870"/>
                  <a:gd name="T20" fmla="*/ 955909852 w 1434"/>
                  <a:gd name="T21" fmla="*/ 1160687222 h 870"/>
                  <a:gd name="T22" fmla="*/ 1831828108 w 1434"/>
                  <a:gd name="T23" fmla="*/ 1016601441 h 870"/>
                  <a:gd name="T24" fmla="*/ 1911820859 w 1434"/>
                  <a:gd name="T25" fmla="*/ 921878714 h 870"/>
                  <a:gd name="T26" fmla="*/ 1906487547 w 1434"/>
                  <a:gd name="T27" fmla="*/ 897865379 h 87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434"/>
                  <a:gd name="T43" fmla="*/ 0 h 870"/>
                  <a:gd name="T44" fmla="*/ 1434 w 1434"/>
                  <a:gd name="T45" fmla="*/ 870 h 87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434" h="870">
                    <a:moveTo>
                      <a:pt x="1430" y="673"/>
                    </a:moveTo>
                    <a:cubicBezTo>
                      <a:pt x="1430" y="672"/>
                      <a:pt x="1430" y="672"/>
                      <a:pt x="1430" y="672"/>
                    </a:cubicBezTo>
                    <a:cubicBezTo>
                      <a:pt x="1429" y="671"/>
                      <a:pt x="1429" y="671"/>
                      <a:pt x="1429" y="671"/>
                    </a:cubicBezTo>
                    <a:cubicBezTo>
                      <a:pt x="1429" y="671"/>
                      <a:pt x="1245" y="189"/>
                      <a:pt x="1156" y="95"/>
                    </a:cubicBezTo>
                    <a:cubicBezTo>
                      <a:pt x="1067" y="0"/>
                      <a:pt x="934" y="156"/>
                      <a:pt x="743" y="202"/>
                    </a:cubicBezTo>
                    <a:cubicBezTo>
                      <a:pt x="606" y="234"/>
                      <a:pt x="550" y="74"/>
                      <a:pt x="394" y="52"/>
                    </a:cubicBezTo>
                    <a:cubicBezTo>
                      <a:pt x="262" y="34"/>
                      <a:pt x="14" y="646"/>
                      <a:pt x="4" y="672"/>
                    </a:cubicBezTo>
                    <a:cubicBezTo>
                      <a:pt x="4" y="672"/>
                      <a:pt x="4" y="672"/>
                      <a:pt x="4" y="672"/>
                    </a:cubicBezTo>
                    <a:cubicBezTo>
                      <a:pt x="1" y="678"/>
                      <a:pt x="0" y="684"/>
                      <a:pt x="0" y="691"/>
                    </a:cubicBezTo>
                    <a:cubicBezTo>
                      <a:pt x="0" y="716"/>
                      <a:pt x="22" y="740"/>
                      <a:pt x="60" y="762"/>
                    </a:cubicBezTo>
                    <a:cubicBezTo>
                      <a:pt x="171" y="826"/>
                      <a:pt x="423" y="870"/>
                      <a:pt x="717" y="870"/>
                    </a:cubicBezTo>
                    <a:cubicBezTo>
                      <a:pt x="1011" y="870"/>
                      <a:pt x="1263" y="826"/>
                      <a:pt x="1374" y="762"/>
                    </a:cubicBezTo>
                    <a:cubicBezTo>
                      <a:pt x="1412" y="740"/>
                      <a:pt x="1434" y="716"/>
                      <a:pt x="1434" y="691"/>
                    </a:cubicBezTo>
                    <a:cubicBezTo>
                      <a:pt x="1434" y="685"/>
                      <a:pt x="1433" y="679"/>
                      <a:pt x="1430" y="673"/>
                    </a:cubicBezTo>
                    <a:close/>
                  </a:path>
                </a:pathLst>
              </a:custGeom>
              <a:solidFill>
                <a:srgbClr val="2F1249"/>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8" name="Freeform 1299"/>
              <p:cNvSpPr>
                <a:spLocks noChangeArrowheads="1"/>
              </p:cNvSpPr>
              <p:nvPr/>
            </p:nvSpPr>
            <p:spPr bwMode="auto">
              <a:xfrm>
                <a:off x="433388" y="785812"/>
                <a:ext cx="25400" cy="44450"/>
              </a:xfrm>
              <a:custGeom>
                <a:avLst/>
                <a:gdLst>
                  <a:gd name="T0" fmla="*/ 17328573 w 22"/>
                  <a:gd name="T1" fmla="*/ 14288965 h 39"/>
                  <a:gd name="T2" fmla="*/ 18662073 w 22"/>
                  <a:gd name="T3" fmla="*/ 0 h 39"/>
                  <a:gd name="T4" fmla="*/ 18662073 w 22"/>
                  <a:gd name="T5" fmla="*/ 0 h 39"/>
                  <a:gd name="T6" fmla="*/ 0 w 22"/>
                  <a:gd name="T7" fmla="*/ 48064127 h 39"/>
                  <a:gd name="T8" fmla="*/ 29325455 w 22"/>
                  <a:gd name="T9" fmla="*/ 50661603 h 39"/>
                  <a:gd name="T10" fmla="*/ 17328573 w 22"/>
                  <a:gd name="T11" fmla="*/ 14288965 h 39"/>
                  <a:gd name="T12" fmla="*/ 0 60000 65536"/>
                  <a:gd name="T13" fmla="*/ 0 60000 65536"/>
                  <a:gd name="T14" fmla="*/ 0 60000 65536"/>
                  <a:gd name="T15" fmla="*/ 0 60000 65536"/>
                  <a:gd name="T16" fmla="*/ 0 60000 65536"/>
                  <a:gd name="T17" fmla="*/ 0 60000 65536"/>
                  <a:gd name="T18" fmla="*/ 0 w 22"/>
                  <a:gd name="T19" fmla="*/ 0 h 39"/>
                  <a:gd name="T20" fmla="*/ 22 w 22"/>
                  <a:gd name="T21" fmla="*/ 39 h 39"/>
                </a:gdLst>
                <a:ahLst/>
                <a:cxnLst>
                  <a:cxn ang="T12">
                    <a:pos x="T0" y="T1"/>
                  </a:cxn>
                  <a:cxn ang="T13">
                    <a:pos x="T2" y="T3"/>
                  </a:cxn>
                  <a:cxn ang="T14">
                    <a:pos x="T4" y="T5"/>
                  </a:cxn>
                  <a:cxn ang="T15">
                    <a:pos x="T6" y="T7"/>
                  </a:cxn>
                  <a:cxn ang="T16">
                    <a:pos x="T8" y="T9"/>
                  </a:cxn>
                  <a:cxn ang="T17">
                    <a:pos x="T10" y="T11"/>
                  </a:cxn>
                </a:cxnLst>
                <a:rect l="T18" t="T19" r="T20" b="T21"/>
                <a:pathLst>
                  <a:path w="22" h="39">
                    <a:moveTo>
                      <a:pt x="13" y="11"/>
                    </a:moveTo>
                    <a:cubicBezTo>
                      <a:pt x="13" y="7"/>
                      <a:pt x="14" y="3"/>
                      <a:pt x="14" y="0"/>
                    </a:cubicBezTo>
                    <a:cubicBezTo>
                      <a:pt x="14" y="0"/>
                      <a:pt x="14" y="0"/>
                      <a:pt x="14" y="0"/>
                    </a:cubicBezTo>
                    <a:cubicBezTo>
                      <a:pt x="0" y="37"/>
                      <a:pt x="0" y="37"/>
                      <a:pt x="0" y="37"/>
                    </a:cubicBezTo>
                    <a:cubicBezTo>
                      <a:pt x="22" y="39"/>
                      <a:pt x="22" y="39"/>
                      <a:pt x="22" y="39"/>
                    </a:cubicBezTo>
                    <a:cubicBezTo>
                      <a:pt x="16" y="30"/>
                      <a:pt x="13" y="20"/>
                      <a:pt x="13" y="11"/>
                    </a:cubicBez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29" name="Freeform 1300"/>
              <p:cNvSpPr>
                <a:spLocks noChangeArrowheads="1"/>
              </p:cNvSpPr>
              <p:nvPr/>
            </p:nvSpPr>
            <p:spPr bwMode="auto">
              <a:xfrm>
                <a:off x="760413" y="1246187"/>
                <a:ext cx="411163" cy="38100"/>
              </a:xfrm>
              <a:custGeom>
                <a:avLst/>
                <a:gdLst>
                  <a:gd name="T0" fmla="*/ 0 w 355"/>
                  <a:gd name="T1" fmla="*/ 1333500 h 33"/>
                  <a:gd name="T2" fmla="*/ 335359599 w 355"/>
                  <a:gd name="T3" fmla="*/ 43988182 h 33"/>
                  <a:gd name="T4" fmla="*/ 476211303 w 355"/>
                  <a:gd name="T5" fmla="*/ 0 h 33"/>
                  <a:gd name="T6" fmla="*/ 0 w 355"/>
                  <a:gd name="T7" fmla="*/ 1333500 h 33"/>
                  <a:gd name="T8" fmla="*/ 0 60000 65536"/>
                  <a:gd name="T9" fmla="*/ 0 60000 65536"/>
                  <a:gd name="T10" fmla="*/ 0 60000 65536"/>
                  <a:gd name="T11" fmla="*/ 0 60000 65536"/>
                  <a:gd name="T12" fmla="*/ 0 w 355"/>
                  <a:gd name="T13" fmla="*/ 0 h 33"/>
                  <a:gd name="T14" fmla="*/ 355 w 355"/>
                  <a:gd name="T15" fmla="*/ 33 h 33"/>
                </a:gdLst>
                <a:ahLst/>
                <a:cxnLst>
                  <a:cxn ang="T8">
                    <a:pos x="T0" y="T1"/>
                  </a:cxn>
                  <a:cxn ang="T9">
                    <a:pos x="T2" y="T3"/>
                  </a:cxn>
                  <a:cxn ang="T10">
                    <a:pos x="T4" y="T5"/>
                  </a:cxn>
                  <a:cxn ang="T11">
                    <a:pos x="T6" y="T7"/>
                  </a:cxn>
                </a:cxnLst>
                <a:rect l="T12" t="T13" r="T14" b="T15"/>
                <a:pathLst>
                  <a:path w="355" h="33">
                    <a:moveTo>
                      <a:pt x="0" y="1"/>
                    </a:moveTo>
                    <a:cubicBezTo>
                      <a:pt x="75" y="16"/>
                      <a:pt x="159" y="27"/>
                      <a:pt x="250" y="33"/>
                    </a:cubicBezTo>
                    <a:cubicBezTo>
                      <a:pt x="355" y="0"/>
                      <a:pt x="355" y="0"/>
                      <a:pt x="355" y="0"/>
                    </a:cubicBezTo>
                    <a:lnTo>
                      <a:pt x="0" y="1"/>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0" name="Freeform 1301"/>
              <p:cNvSpPr>
                <a:spLocks noChangeArrowheads="1"/>
              </p:cNvSpPr>
              <p:nvPr/>
            </p:nvSpPr>
            <p:spPr bwMode="auto">
              <a:xfrm>
                <a:off x="450850" y="776287"/>
                <a:ext cx="3175" cy="9525"/>
              </a:xfrm>
              <a:custGeom>
                <a:avLst/>
                <a:gdLst>
                  <a:gd name="T0" fmla="*/ 3360208 w 3"/>
                  <a:gd name="T1" fmla="*/ 0 h 8"/>
                  <a:gd name="T2" fmla="*/ 3360208 w 3"/>
                  <a:gd name="T3" fmla="*/ 1418034 h 8"/>
                  <a:gd name="T4" fmla="*/ 0 w 3"/>
                  <a:gd name="T5" fmla="*/ 11340703 h 8"/>
                  <a:gd name="T6" fmla="*/ 0 w 3"/>
                  <a:gd name="T7" fmla="*/ 11340703 h 8"/>
                  <a:gd name="T8" fmla="*/ 3360208 w 3"/>
                  <a:gd name="T9" fmla="*/ 0 h 8"/>
                  <a:gd name="T10" fmla="*/ 0 60000 65536"/>
                  <a:gd name="T11" fmla="*/ 0 60000 65536"/>
                  <a:gd name="T12" fmla="*/ 0 60000 65536"/>
                  <a:gd name="T13" fmla="*/ 0 60000 65536"/>
                  <a:gd name="T14" fmla="*/ 0 60000 65536"/>
                  <a:gd name="T15" fmla="*/ 0 w 3"/>
                  <a:gd name="T16" fmla="*/ 0 h 8"/>
                  <a:gd name="T17" fmla="*/ 3 w 3"/>
                  <a:gd name="T18" fmla="*/ 8 h 8"/>
                </a:gdLst>
                <a:ahLst/>
                <a:cxnLst>
                  <a:cxn ang="T10">
                    <a:pos x="T0" y="T1"/>
                  </a:cxn>
                  <a:cxn ang="T11">
                    <a:pos x="T2" y="T3"/>
                  </a:cxn>
                  <a:cxn ang="T12">
                    <a:pos x="T4" y="T5"/>
                  </a:cxn>
                  <a:cxn ang="T13">
                    <a:pos x="T6" y="T7"/>
                  </a:cxn>
                  <a:cxn ang="T14">
                    <a:pos x="T8" y="T9"/>
                  </a:cxn>
                </a:cxnLst>
                <a:rect l="T15" t="T16" r="T17" b="T18"/>
                <a:pathLst>
                  <a:path w="3" h="8">
                    <a:moveTo>
                      <a:pt x="3" y="0"/>
                    </a:moveTo>
                    <a:cubicBezTo>
                      <a:pt x="3" y="1"/>
                      <a:pt x="3" y="1"/>
                      <a:pt x="3" y="1"/>
                    </a:cubicBezTo>
                    <a:cubicBezTo>
                      <a:pt x="0" y="8"/>
                      <a:pt x="0" y="8"/>
                      <a:pt x="0" y="8"/>
                    </a:cubicBezTo>
                    <a:cubicBezTo>
                      <a:pt x="0" y="8"/>
                      <a:pt x="0" y="8"/>
                      <a:pt x="0" y="8"/>
                    </a:cubicBezTo>
                    <a:cubicBezTo>
                      <a:pt x="1" y="5"/>
                      <a:pt x="2" y="3"/>
                      <a:pt x="3" y="0"/>
                    </a:cubicBez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1" name="Freeform 1302"/>
              <p:cNvSpPr>
                <a:spLocks noChangeArrowheads="1"/>
              </p:cNvSpPr>
              <p:nvPr/>
            </p:nvSpPr>
            <p:spPr bwMode="auto">
              <a:xfrm>
                <a:off x="1355725" y="1117599"/>
                <a:ext cx="485775" cy="128587"/>
              </a:xfrm>
              <a:custGeom>
                <a:avLst/>
                <a:gdLst>
                  <a:gd name="T0" fmla="*/ 0 w 421"/>
                  <a:gd name="T1" fmla="*/ 113358625 h 112"/>
                  <a:gd name="T2" fmla="*/ 508591425 w 421"/>
                  <a:gd name="T3" fmla="*/ 147630505 h 112"/>
                  <a:gd name="T4" fmla="*/ 560516272 w 421"/>
                  <a:gd name="T5" fmla="*/ 137085223 h 112"/>
                  <a:gd name="T6" fmla="*/ 426045444 w 421"/>
                  <a:gd name="T7" fmla="*/ 0 h 112"/>
                  <a:gd name="T8" fmla="*/ 0 w 421"/>
                  <a:gd name="T9" fmla="*/ 113358625 h 112"/>
                  <a:gd name="T10" fmla="*/ 0 60000 65536"/>
                  <a:gd name="T11" fmla="*/ 0 60000 65536"/>
                  <a:gd name="T12" fmla="*/ 0 60000 65536"/>
                  <a:gd name="T13" fmla="*/ 0 60000 65536"/>
                  <a:gd name="T14" fmla="*/ 0 60000 65536"/>
                  <a:gd name="T15" fmla="*/ 0 w 421"/>
                  <a:gd name="T16" fmla="*/ 0 h 112"/>
                  <a:gd name="T17" fmla="*/ 421 w 421"/>
                  <a:gd name="T18" fmla="*/ 112 h 112"/>
                </a:gdLst>
                <a:ahLst/>
                <a:cxnLst>
                  <a:cxn ang="T10">
                    <a:pos x="T0" y="T1"/>
                  </a:cxn>
                  <a:cxn ang="T11">
                    <a:pos x="T2" y="T3"/>
                  </a:cxn>
                  <a:cxn ang="T12">
                    <a:pos x="T4" y="T5"/>
                  </a:cxn>
                  <a:cxn ang="T13">
                    <a:pos x="T6" y="T7"/>
                  </a:cxn>
                  <a:cxn ang="T14">
                    <a:pos x="T8" y="T9"/>
                  </a:cxn>
                </a:cxnLst>
                <a:rect l="T15" t="T16" r="T17" b="T18"/>
                <a:pathLst>
                  <a:path w="421" h="112">
                    <a:moveTo>
                      <a:pt x="0" y="86"/>
                    </a:moveTo>
                    <a:cubicBezTo>
                      <a:pt x="382" y="112"/>
                      <a:pt x="382" y="112"/>
                      <a:pt x="382" y="112"/>
                    </a:cubicBezTo>
                    <a:cubicBezTo>
                      <a:pt x="395" y="109"/>
                      <a:pt x="408" y="107"/>
                      <a:pt x="421" y="104"/>
                    </a:cubicBezTo>
                    <a:cubicBezTo>
                      <a:pt x="320" y="0"/>
                      <a:pt x="320" y="0"/>
                      <a:pt x="320" y="0"/>
                    </a:cubicBezTo>
                    <a:lnTo>
                      <a:pt x="0" y="86"/>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2" name="Freeform 1303"/>
              <p:cNvSpPr>
                <a:spLocks noChangeArrowheads="1"/>
              </p:cNvSpPr>
              <p:nvPr/>
            </p:nvSpPr>
            <p:spPr bwMode="auto">
              <a:xfrm>
                <a:off x="1065213" y="998537"/>
                <a:ext cx="180975" cy="47625"/>
              </a:xfrm>
              <a:custGeom>
                <a:avLst/>
                <a:gdLst>
                  <a:gd name="T0" fmla="*/ 209948401 w 156"/>
                  <a:gd name="T1" fmla="*/ 7715250 h 42"/>
                  <a:gd name="T2" fmla="*/ 0 w 156"/>
                  <a:gd name="T3" fmla="*/ 0 h 42"/>
                  <a:gd name="T4" fmla="*/ 14803987 w 156"/>
                  <a:gd name="T5" fmla="*/ 54003348 h 42"/>
                  <a:gd name="T6" fmla="*/ 209948401 w 156"/>
                  <a:gd name="T7" fmla="*/ 7715250 h 42"/>
                  <a:gd name="T8" fmla="*/ 0 60000 65536"/>
                  <a:gd name="T9" fmla="*/ 0 60000 65536"/>
                  <a:gd name="T10" fmla="*/ 0 60000 65536"/>
                  <a:gd name="T11" fmla="*/ 0 60000 65536"/>
                  <a:gd name="T12" fmla="*/ 0 w 156"/>
                  <a:gd name="T13" fmla="*/ 0 h 42"/>
                  <a:gd name="T14" fmla="*/ 156 w 156"/>
                  <a:gd name="T15" fmla="*/ 42 h 42"/>
                </a:gdLst>
                <a:ahLst/>
                <a:cxnLst>
                  <a:cxn ang="T8">
                    <a:pos x="T0" y="T1"/>
                  </a:cxn>
                  <a:cxn ang="T9">
                    <a:pos x="T2" y="T3"/>
                  </a:cxn>
                  <a:cxn ang="T10">
                    <a:pos x="T4" y="T5"/>
                  </a:cxn>
                  <a:cxn ang="T11">
                    <a:pos x="T6" y="T7"/>
                  </a:cxn>
                </a:cxnLst>
                <a:rect l="T12" t="T13" r="T14" b="T15"/>
                <a:pathLst>
                  <a:path w="156" h="42">
                    <a:moveTo>
                      <a:pt x="156" y="6"/>
                    </a:moveTo>
                    <a:cubicBezTo>
                      <a:pt x="102" y="5"/>
                      <a:pt x="50" y="3"/>
                      <a:pt x="0" y="0"/>
                    </a:cubicBezTo>
                    <a:cubicBezTo>
                      <a:pt x="11" y="42"/>
                      <a:pt x="11" y="42"/>
                      <a:pt x="11" y="42"/>
                    </a:cubicBezTo>
                    <a:lnTo>
                      <a:pt x="156" y="6"/>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3" name="Freeform 1304"/>
              <p:cNvSpPr>
                <a:spLocks noChangeArrowheads="1"/>
              </p:cNvSpPr>
              <p:nvPr/>
            </p:nvSpPr>
            <p:spPr bwMode="auto">
              <a:xfrm>
                <a:off x="1077913" y="1004887"/>
                <a:ext cx="244475" cy="60325"/>
              </a:xfrm>
              <a:custGeom>
                <a:avLst/>
                <a:gdLst>
                  <a:gd name="T0" fmla="*/ 193314841 w 211"/>
                  <a:gd name="T1" fmla="*/ 69982800 h 52"/>
                  <a:gd name="T2" fmla="*/ 283260785 w 211"/>
                  <a:gd name="T3" fmla="*/ 0 h 52"/>
                  <a:gd name="T4" fmla="*/ 230904900 w 211"/>
                  <a:gd name="T5" fmla="*/ 0 h 52"/>
                  <a:gd name="T6" fmla="*/ 194657715 w 211"/>
                  <a:gd name="T7" fmla="*/ 0 h 52"/>
                  <a:gd name="T8" fmla="*/ 0 w 211"/>
                  <a:gd name="T9" fmla="*/ 48449096 h 52"/>
                  <a:gd name="T10" fmla="*/ 193314841 w 211"/>
                  <a:gd name="T11" fmla="*/ 69982800 h 52"/>
                  <a:gd name="T12" fmla="*/ 0 60000 65536"/>
                  <a:gd name="T13" fmla="*/ 0 60000 65536"/>
                  <a:gd name="T14" fmla="*/ 0 60000 65536"/>
                  <a:gd name="T15" fmla="*/ 0 60000 65536"/>
                  <a:gd name="T16" fmla="*/ 0 60000 65536"/>
                  <a:gd name="T17" fmla="*/ 0 60000 65536"/>
                  <a:gd name="T18" fmla="*/ 0 w 211"/>
                  <a:gd name="T19" fmla="*/ 0 h 52"/>
                  <a:gd name="T20" fmla="*/ 211 w 211"/>
                  <a:gd name="T21" fmla="*/ 52 h 52"/>
                </a:gdLst>
                <a:ahLst/>
                <a:cxnLst>
                  <a:cxn ang="T12">
                    <a:pos x="T0" y="T1"/>
                  </a:cxn>
                  <a:cxn ang="T13">
                    <a:pos x="T2" y="T3"/>
                  </a:cxn>
                  <a:cxn ang="T14">
                    <a:pos x="T4" y="T5"/>
                  </a:cxn>
                  <a:cxn ang="T15">
                    <a:pos x="T6" y="T7"/>
                  </a:cxn>
                  <a:cxn ang="T16">
                    <a:pos x="T8" y="T9"/>
                  </a:cxn>
                  <a:cxn ang="T17">
                    <a:pos x="T10" y="T11"/>
                  </a:cxn>
                </a:cxnLst>
                <a:rect l="T18" t="T19" r="T20" b="T21"/>
                <a:pathLst>
                  <a:path w="211" h="52">
                    <a:moveTo>
                      <a:pt x="144" y="52"/>
                    </a:moveTo>
                    <a:cubicBezTo>
                      <a:pt x="211" y="0"/>
                      <a:pt x="211" y="0"/>
                      <a:pt x="211" y="0"/>
                    </a:cubicBezTo>
                    <a:cubicBezTo>
                      <a:pt x="198" y="0"/>
                      <a:pt x="185" y="0"/>
                      <a:pt x="172" y="0"/>
                    </a:cubicBezTo>
                    <a:cubicBezTo>
                      <a:pt x="163" y="0"/>
                      <a:pt x="154" y="0"/>
                      <a:pt x="145" y="0"/>
                    </a:cubicBezTo>
                    <a:cubicBezTo>
                      <a:pt x="0" y="36"/>
                      <a:pt x="0" y="36"/>
                      <a:pt x="0" y="36"/>
                    </a:cubicBezTo>
                    <a:lnTo>
                      <a:pt x="144" y="52"/>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4" name="Freeform 1305"/>
              <p:cNvSpPr>
                <a:spLocks noChangeArrowheads="1"/>
              </p:cNvSpPr>
              <p:nvPr/>
            </p:nvSpPr>
            <p:spPr bwMode="auto">
              <a:xfrm>
                <a:off x="633413" y="927099"/>
                <a:ext cx="1588" cy="1587"/>
              </a:xfrm>
              <a:custGeom>
                <a:avLst/>
                <a:gdLst>
                  <a:gd name="T0" fmla="*/ 1260872 w 2"/>
                  <a:gd name="T1" fmla="*/ 2518569 h 1"/>
                  <a:gd name="T2" fmla="*/ 0 w 2"/>
                  <a:gd name="T3" fmla="*/ 0 h 1"/>
                  <a:gd name="T4" fmla="*/ 1260872 w 2"/>
                  <a:gd name="T5" fmla="*/ 2518569 h 1"/>
                  <a:gd name="T6" fmla="*/ 0 60000 65536"/>
                  <a:gd name="T7" fmla="*/ 0 60000 65536"/>
                  <a:gd name="T8" fmla="*/ 0 60000 65536"/>
                  <a:gd name="T9" fmla="*/ 0 w 2"/>
                  <a:gd name="T10" fmla="*/ 0 h 1"/>
                  <a:gd name="T11" fmla="*/ 2 w 2"/>
                  <a:gd name="T12" fmla="*/ 1 h 1"/>
                </a:gdLst>
                <a:ahLst/>
                <a:cxnLst>
                  <a:cxn ang="T6">
                    <a:pos x="T0" y="T1"/>
                  </a:cxn>
                  <a:cxn ang="T7">
                    <a:pos x="T2" y="T3"/>
                  </a:cxn>
                  <a:cxn ang="T8">
                    <a:pos x="T4" y="T5"/>
                  </a:cxn>
                </a:cxnLst>
                <a:rect l="T9" t="T10" r="T11" b="T12"/>
                <a:pathLst>
                  <a:path w="2" h="1">
                    <a:moveTo>
                      <a:pt x="2" y="1"/>
                    </a:moveTo>
                    <a:cubicBezTo>
                      <a:pt x="1" y="1"/>
                      <a:pt x="1" y="0"/>
                      <a:pt x="0" y="0"/>
                    </a:cubicBezTo>
                    <a:cubicBezTo>
                      <a:pt x="2" y="1"/>
                      <a:pt x="2" y="1"/>
                      <a:pt x="2" y="1"/>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5" name="Freeform 1306"/>
              <p:cNvSpPr>
                <a:spLocks noChangeArrowheads="1"/>
              </p:cNvSpPr>
              <p:nvPr/>
            </p:nvSpPr>
            <p:spPr bwMode="auto">
              <a:xfrm>
                <a:off x="423863" y="828674"/>
                <a:ext cx="158750" cy="80962"/>
              </a:xfrm>
              <a:custGeom>
                <a:avLst/>
                <a:gdLst>
                  <a:gd name="T0" fmla="*/ 110102974 w 137"/>
                  <a:gd name="T1" fmla="*/ 58513860 h 71"/>
                  <a:gd name="T2" fmla="*/ 41624945 w 137"/>
                  <a:gd name="T3" fmla="*/ 2601047 h 71"/>
                  <a:gd name="T4" fmla="*/ 12084699 w 137"/>
                  <a:gd name="T5" fmla="*/ 0 h 71"/>
                  <a:gd name="T6" fmla="*/ 0 w 137"/>
                  <a:gd name="T7" fmla="*/ 29906907 h 71"/>
                  <a:gd name="T8" fmla="*/ 183953011 w 137"/>
                  <a:gd name="T9" fmla="*/ 92321767 h 71"/>
                  <a:gd name="T10" fmla="*/ 110102974 w 137"/>
                  <a:gd name="T11" fmla="*/ 58513860 h 71"/>
                  <a:gd name="T12" fmla="*/ 0 60000 65536"/>
                  <a:gd name="T13" fmla="*/ 0 60000 65536"/>
                  <a:gd name="T14" fmla="*/ 0 60000 65536"/>
                  <a:gd name="T15" fmla="*/ 0 60000 65536"/>
                  <a:gd name="T16" fmla="*/ 0 60000 65536"/>
                  <a:gd name="T17" fmla="*/ 0 60000 65536"/>
                  <a:gd name="T18" fmla="*/ 0 w 137"/>
                  <a:gd name="T19" fmla="*/ 0 h 71"/>
                  <a:gd name="T20" fmla="*/ 137 w 137"/>
                  <a:gd name="T21" fmla="*/ 71 h 71"/>
                </a:gdLst>
                <a:ahLst/>
                <a:cxnLst>
                  <a:cxn ang="T12">
                    <a:pos x="T0" y="T1"/>
                  </a:cxn>
                  <a:cxn ang="T13">
                    <a:pos x="T2" y="T3"/>
                  </a:cxn>
                  <a:cxn ang="T14">
                    <a:pos x="T4" y="T5"/>
                  </a:cxn>
                  <a:cxn ang="T15">
                    <a:pos x="T6" y="T7"/>
                  </a:cxn>
                  <a:cxn ang="T16">
                    <a:pos x="T8" y="T9"/>
                  </a:cxn>
                  <a:cxn ang="T17">
                    <a:pos x="T10" y="T11"/>
                  </a:cxn>
                </a:cxnLst>
                <a:rect l="T18" t="T19" r="T20" b="T21"/>
                <a:pathLst>
                  <a:path w="137" h="71">
                    <a:moveTo>
                      <a:pt x="82" y="45"/>
                    </a:moveTo>
                    <a:cubicBezTo>
                      <a:pt x="58" y="32"/>
                      <a:pt x="41" y="17"/>
                      <a:pt x="31" y="2"/>
                    </a:cubicBezTo>
                    <a:cubicBezTo>
                      <a:pt x="9" y="0"/>
                      <a:pt x="9" y="0"/>
                      <a:pt x="9" y="0"/>
                    </a:cubicBezTo>
                    <a:cubicBezTo>
                      <a:pt x="0" y="23"/>
                      <a:pt x="0" y="23"/>
                      <a:pt x="0" y="23"/>
                    </a:cubicBezTo>
                    <a:cubicBezTo>
                      <a:pt x="137" y="71"/>
                      <a:pt x="137" y="71"/>
                      <a:pt x="137" y="71"/>
                    </a:cubicBezTo>
                    <a:cubicBezTo>
                      <a:pt x="116" y="63"/>
                      <a:pt x="98" y="54"/>
                      <a:pt x="82" y="45"/>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6" name="Freeform 1307"/>
              <p:cNvSpPr>
                <a:spLocks noChangeArrowheads="1"/>
              </p:cNvSpPr>
              <p:nvPr/>
            </p:nvSpPr>
            <p:spPr bwMode="auto">
              <a:xfrm>
                <a:off x="361950" y="855662"/>
                <a:ext cx="273050" cy="247650"/>
              </a:xfrm>
              <a:custGeom>
                <a:avLst/>
                <a:gdLst>
                  <a:gd name="T0" fmla="*/ 313239258 w 236"/>
                  <a:gd name="T1" fmla="*/ 83587058 h 215"/>
                  <a:gd name="T2" fmla="*/ 254339133 w 236"/>
                  <a:gd name="T3" fmla="*/ 63685213 h 215"/>
                  <a:gd name="T4" fmla="*/ 70947877 w 236"/>
                  <a:gd name="T5" fmla="*/ 0 h 215"/>
                  <a:gd name="T6" fmla="*/ 6693196 w 236"/>
                  <a:gd name="T7" fmla="*/ 164521382 h 215"/>
                  <a:gd name="T8" fmla="*/ 5354557 w 236"/>
                  <a:gd name="T9" fmla="*/ 169828003 h 215"/>
                  <a:gd name="T10" fmla="*/ 4015918 w 236"/>
                  <a:gd name="T11" fmla="*/ 172481890 h 215"/>
                  <a:gd name="T12" fmla="*/ 4015918 w 236"/>
                  <a:gd name="T13" fmla="*/ 172481890 h 215"/>
                  <a:gd name="T14" fmla="*/ 0 w 236"/>
                  <a:gd name="T15" fmla="*/ 199017299 h 215"/>
                  <a:gd name="T16" fmla="*/ 42836454 w 236"/>
                  <a:gd name="T17" fmla="*/ 285258244 h 215"/>
                  <a:gd name="T18" fmla="*/ 315916536 w 236"/>
                  <a:gd name="T19" fmla="*/ 84914002 h 215"/>
                  <a:gd name="T20" fmla="*/ 313239258 w 236"/>
                  <a:gd name="T21" fmla="*/ 83587058 h 21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6"/>
                  <a:gd name="T34" fmla="*/ 0 h 215"/>
                  <a:gd name="T35" fmla="*/ 236 w 236"/>
                  <a:gd name="T36" fmla="*/ 215 h 21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6" h="215">
                    <a:moveTo>
                      <a:pt x="234" y="63"/>
                    </a:moveTo>
                    <a:cubicBezTo>
                      <a:pt x="218" y="58"/>
                      <a:pt x="204" y="53"/>
                      <a:pt x="190" y="48"/>
                    </a:cubicBezTo>
                    <a:cubicBezTo>
                      <a:pt x="53" y="0"/>
                      <a:pt x="53" y="0"/>
                      <a:pt x="53" y="0"/>
                    </a:cubicBezTo>
                    <a:cubicBezTo>
                      <a:pt x="5" y="124"/>
                      <a:pt x="5" y="124"/>
                      <a:pt x="5" y="124"/>
                    </a:cubicBezTo>
                    <a:cubicBezTo>
                      <a:pt x="4" y="128"/>
                      <a:pt x="4" y="128"/>
                      <a:pt x="4" y="128"/>
                    </a:cubicBezTo>
                    <a:cubicBezTo>
                      <a:pt x="3" y="130"/>
                      <a:pt x="3" y="130"/>
                      <a:pt x="3" y="130"/>
                    </a:cubicBezTo>
                    <a:cubicBezTo>
                      <a:pt x="3" y="130"/>
                      <a:pt x="3" y="130"/>
                      <a:pt x="3" y="130"/>
                    </a:cubicBezTo>
                    <a:cubicBezTo>
                      <a:pt x="1" y="137"/>
                      <a:pt x="0" y="144"/>
                      <a:pt x="0" y="150"/>
                    </a:cubicBezTo>
                    <a:cubicBezTo>
                      <a:pt x="0" y="173"/>
                      <a:pt x="11" y="194"/>
                      <a:pt x="32" y="215"/>
                    </a:cubicBezTo>
                    <a:cubicBezTo>
                      <a:pt x="236" y="64"/>
                      <a:pt x="236" y="64"/>
                      <a:pt x="236" y="64"/>
                    </a:cubicBezTo>
                    <a:lnTo>
                      <a:pt x="234" y="63"/>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7" name="Freeform 1308"/>
              <p:cNvSpPr>
                <a:spLocks noChangeArrowheads="1"/>
              </p:cNvSpPr>
              <p:nvPr/>
            </p:nvSpPr>
            <p:spPr bwMode="auto">
              <a:xfrm>
                <a:off x="1355725" y="1216024"/>
                <a:ext cx="441325" cy="58737"/>
              </a:xfrm>
              <a:custGeom>
                <a:avLst/>
                <a:gdLst>
                  <a:gd name="T0" fmla="*/ 289633973 w 382"/>
                  <a:gd name="T1" fmla="*/ 67647748 h 51"/>
                  <a:gd name="T2" fmla="*/ 509863235 w 382"/>
                  <a:gd name="T3" fmla="*/ 34486681 h 51"/>
                  <a:gd name="T4" fmla="*/ 0 w 382"/>
                  <a:gd name="T5" fmla="*/ 0 h 51"/>
                  <a:gd name="T6" fmla="*/ 289633973 w 382"/>
                  <a:gd name="T7" fmla="*/ 67647748 h 51"/>
                  <a:gd name="T8" fmla="*/ 0 60000 65536"/>
                  <a:gd name="T9" fmla="*/ 0 60000 65536"/>
                  <a:gd name="T10" fmla="*/ 0 60000 65536"/>
                  <a:gd name="T11" fmla="*/ 0 60000 65536"/>
                  <a:gd name="T12" fmla="*/ 0 w 382"/>
                  <a:gd name="T13" fmla="*/ 0 h 51"/>
                  <a:gd name="T14" fmla="*/ 382 w 382"/>
                  <a:gd name="T15" fmla="*/ 51 h 51"/>
                </a:gdLst>
                <a:ahLst/>
                <a:cxnLst>
                  <a:cxn ang="T8">
                    <a:pos x="T0" y="T1"/>
                  </a:cxn>
                  <a:cxn ang="T9">
                    <a:pos x="T2" y="T3"/>
                  </a:cxn>
                  <a:cxn ang="T10">
                    <a:pos x="T4" y="T5"/>
                  </a:cxn>
                  <a:cxn ang="T11">
                    <a:pos x="T6" y="T7"/>
                  </a:cxn>
                </a:cxnLst>
                <a:rect l="T12" t="T13" r="T14" b="T15"/>
                <a:pathLst>
                  <a:path w="382" h="51">
                    <a:moveTo>
                      <a:pt x="217" y="51"/>
                    </a:moveTo>
                    <a:cubicBezTo>
                      <a:pt x="276" y="45"/>
                      <a:pt x="331" y="36"/>
                      <a:pt x="382" y="26"/>
                    </a:cubicBezTo>
                    <a:cubicBezTo>
                      <a:pt x="0" y="0"/>
                      <a:pt x="0" y="0"/>
                      <a:pt x="0" y="0"/>
                    </a:cubicBezTo>
                    <a:lnTo>
                      <a:pt x="217" y="51"/>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8" name="Freeform 1309"/>
              <p:cNvSpPr>
                <a:spLocks noChangeArrowheads="1"/>
              </p:cNvSpPr>
              <p:nvPr/>
            </p:nvSpPr>
            <p:spPr bwMode="auto">
              <a:xfrm>
                <a:off x="1077913" y="1046162"/>
                <a:ext cx="166688" cy="38100"/>
              </a:xfrm>
              <a:custGeom>
                <a:avLst/>
                <a:gdLst>
                  <a:gd name="T0" fmla="*/ 264617994 w 105"/>
                  <a:gd name="T1" fmla="*/ 30241875 h 24"/>
                  <a:gd name="T2" fmla="*/ 0 w 105"/>
                  <a:gd name="T3" fmla="*/ 0 h 24"/>
                  <a:gd name="T4" fmla="*/ 206653432 w 105"/>
                  <a:gd name="T5" fmla="*/ 60483750 h 24"/>
                  <a:gd name="T6" fmla="*/ 264617994 w 105"/>
                  <a:gd name="T7" fmla="*/ 30241875 h 24"/>
                  <a:gd name="T8" fmla="*/ 0 60000 65536"/>
                  <a:gd name="T9" fmla="*/ 0 60000 65536"/>
                  <a:gd name="T10" fmla="*/ 0 60000 65536"/>
                  <a:gd name="T11" fmla="*/ 0 60000 65536"/>
                  <a:gd name="T12" fmla="*/ 0 w 105"/>
                  <a:gd name="T13" fmla="*/ 0 h 24"/>
                  <a:gd name="T14" fmla="*/ 105 w 105"/>
                  <a:gd name="T15" fmla="*/ 24 h 24"/>
                </a:gdLst>
                <a:ahLst/>
                <a:cxnLst>
                  <a:cxn ang="T8">
                    <a:pos x="T0" y="T1"/>
                  </a:cxn>
                  <a:cxn ang="T9">
                    <a:pos x="T2" y="T3"/>
                  </a:cxn>
                  <a:cxn ang="T10">
                    <a:pos x="T4" y="T5"/>
                  </a:cxn>
                  <a:cxn ang="T11">
                    <a:pos x="T6" y="T7"/>
                  </a:cxn>
                </a:cxnLst>
                <a:rect l="T12" t="T13" r="T14" b="T15"/>
                <a:pathLst>
                  <a:path w="105" h="24">
                    <a:moveTo>
                      <a:pt x="105" y="12"/>
                    </a:moveTo>
                    <a:lnTo>
                      <a:pt x="0" y="0"/>
                    </a:lnTo>
                    <a:lnTo>
                      <a:pt x="82" y="24"/>
                    </a:lnTo>
                    <a:lnTo>
                      <a:pt x="105" y="12"/>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39" name="Freeform 1310"/>
              <p:cNvSpPr>
                <a:spLocks noChangeArrowheads="1"/>
              </p:cNvSpPr>
              <p:nvPr/>
            </p:nvSpPr>
            <p:spPr bwMode="auto">
              <a:xfrm>
                <a:off x="1171575" y="1084262"/>
                <a:ext cx="184150" cy="161925"/>
              </a:xfrm>
              <a:custGeom>
                <a:avLst/>
                <a:gdLst>
                  <a:gd name="T0" fmla="*/ 0 w 116"/>
                  <a:gd name="T1" fmla="*/ 257055938 h 102"/>
                  <a:gd name="T2" fmla="*/ 292338125 w 116"/>
                  <a:gd name="T3" fmla="*/ 209173763 h 102"/>
                  <a:gd name="T4" fmla="*/ 57964388 w 116"/>
                  <a:gd name="T5" fmla="*/ 0 h 102"/>
                  <a:gd name="T6" fmla="*/ 0 w 116"/>
                  <a:gd name="T7" fmla="*/ 257055938 h 102"/>
                  <a:gd name="T8" fmla="*/ 0 60000 65536"/>
                  <a:gd name="T9" fmla="*/ 0 60000 65536"/>
                  <a:gd name="T10" fmla="*/ 0 60000 65536"/>
                  <a:gd name="T11" fmla="*/ 0 60000 65536"/>
                  <a:gd name="T12" fmla="*/ 0 w 116"/>
                  <a:gd name="T13" fmla="*/ 0 h 102"/>
                  <a:gd name="T14" fmla="*/ 116 w 116"/>
                  <a:gd name="T15" fmla="*/ 102 h 102"/>
                </a:gdLst>
                <a:ahLst/>
                <a:cxnLst>
                  <a:cxn ang="T8">
                    <a:pos x="T0" y="T1"/>
                  </a:cxn>
                  <a:cxn ang="T9">
                    <a:pos x="T2" y="T3"/>
                  </a:cxn>
                  <a:cxn ang="T10">
                    <a:pos x="T4" y="T5"/>
                  </a:cxn>
                  <a:cxn ang="T11">
                    <a:pos x="T6" y="T7"/>
                  </a:cxn>
                </a:cxnLst>
                <a:rect l="T12" t="T13" r="T14" b="T15"/>
                <a:pathLst>
                  <a:path w="116" h="102">
                    <a:moveTo>
                      <a:pt x="0" y="102"/>
                    </a:moveTo>
                    <a:lnTo>
                      <a:pt x="116" y="83"/>
                    </a:lnTo>
                    <a:lnTo>
                      <a:pt x="23" y="0"/>
                    </a:lnTo>
                    <a:lnTo>
                      <a:pt x="0" y="102"/>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0" name="Freeform 1311"/>
              <p:cNvSpPr>
                <a:spLocks noChangeArrowheads="1"/>
              </p:cNvSpPr>
              <p:nvPr/>
            </p:nvSpPr>
            <p:spPr bwMode="auto">
              <a:xfrm>
                <a:off x="1208088" y="1065212"/>
                <a:ext cx="147638" cy="150812"/>
              </a:xfrm>
              <a:custGeom>
                <a:avLst/>
                <a:gdLst>
                  <a:gd name="T0" fmla="*/ 0 w 93"/>
                  <a:gd name="T1" fmla="*/ 30241775 h 95"/>
                  <a:gd name="T2" fmla="*/ 234376119 w 93"/>
                  <a:gd name="T3" fmla="*/ 239413256 h 95"/>
                  <a:gd name="T4" fmla="*/ 57964584 w 93"/>
                  <a:gd name="T5" fmla="*/ 0 h 95"/>
                  <a:gd name="T6" fmla="*/ 0 w 93"/>
                  <a:gd name="T7" fmla="*/ 30241775 h 95"/>
                  <a:gd name="T8" fmla="*/ 0 60000 65536"/>
                  <a:gd name="T9" fmla="*/ 0 60000 65536"/>
                  <a:gd name="T10" fmla="*/ 0 60000 65536"/>
                  <a:gd name="T11" fmla="*/ 0 60000 65536"/>
                  <a:gd name="T12" fmla="*/ 0 w 93"/>
                  <a:gd name="T13" fmla="*/ 0 h 95"/>
                  <a:gd name="T14" fmla="*/ 93 w 93"/>
                  <a:gd name="T15" fmla="*/ 95 h 95"/>
                </a:gdLst>
                <a:ahLst/>
                <a:cxnLst>
                  <a:cxn ang="T8">
                    <a:pos x="T0" y="T1"/>
                  </a:cxn>
                  <a:cxn ang="T9">
                    <a:pos x="T2" y="T3"/>
                  </a:cxn>
                  <a:cxn ang="T10">
                    <a:pos x="T4" y="T5"/>
                  </a:cxn>
                  <a:cxn ang="T11">
                    <a:pos x="T6" y="T7"/>
                  </a:cxn>
                </a:cxnLst>
                <a:rect l="T12" t="T13" r="T14" b="T15"/>
                <a:pathLst>
                  <a:path w="93" h="95">
                    <a:moveTo>
                      <a:pt x="0" y="12"/>
                    </a:moveTo>
                    <a:lnTo>
                      <a:pt x="93" y="95"/>
                    </a:lnTo>
                    <a:lnTo>
                      <a:pt x="23" y="0"/>
                    </a:lnTo>
                    <a:lnTo>
                      <a:pt x="0" y="12"/>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1" name="Rectangle 1312"/>
              <p:cNvSpPr>
                <a:spLocks noChangeArrowheads="1"/>
              </p:cNvSpPr>
              <p:nvPr/>
            </p:nvSpPr>
            <p:spPr bwMode="auto">
              <a:xfrm>
                <a:off x="635000" y="928687"/>
                <a:ext cx="1588" cy="1587"/>
              </a:xfrm>
              <a:prstGeom prst="rect">
                <a:avLst/>
              </a:pr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42" name="Freeform 1313"/>
              <p:cNvSpPr>
                <a:spLocks noChangeArrowheads="1"/>
              </p:cNvSpPr>
              <p:nvPr/>
            </p:nvSpPr>
            <p:spPr bwMode="auto">
              <a:xfrm>
                <a:off x="661988" y="1065212"/>
                <a:ext cx="509588" cy="182562"/>
              </a:xfrm>
              <a:custGeom>
                <a:avLst/>
                <a:gdLst>
                  <a:gd name="T0" fmla="*/ 204292789 w 441"/>
                  <a:gd name="T1" fmla="*/ 0 h 158"/>
                  <a:gd name="T2" fmla="*/ 0 w 441"/>
                  <a:gd name="T3" fmla="*/ 184240877 h 158"/>
                  <a:gd name="T4" fmla="*/ 114830629 w 441"/>
                  <a:gd name="T5" fmla="*/ 210942303 h 158"/>
                  <a:gd name="T6" fmla="*/ 588843378 w 441"/>
                  <a:gd name="T7" fmla="*/ 209607751 h 158"/>
                  <a:gd name="T8" fmla="*/ 204292789 w 441"/>
                  <a:gd name="T9" fmla="*/ 0 h 158"/>
                  <a:gd name="T10" fmla="*/ 0 60000 65536"/>
                  <a:gd name="T11" fmla="*/ 0 60000 65536"/>
                  <a:gd name="T12" fmla="*/ 0 60000 65536"/>
                  <a:gd name="T13" fmla="*/ 0 60000 65536"/>
                  <a:gd name="T14" fmla="*/ 0 60000 65536"/>
                  <a:gd name="T15" fmla="*/ 0 w 441"/>
                  <a:gd name="T16" fmla="*/ 0 h 158"/>
                  <a:gd name="T17" fmla="*/ 441 w 441"/>
                  <a:gd name="T18" fmla="*/ 158 h 158"/>
                </a:gdLst>
                <a:ahLst/>
                <a:cxnLst>
                  <a:cxn ang="T10">
                    <a:pos x="T0" y="T1"/>
                  </a:cxn>
                  <a:cxn ang="T11">
                    <a:pos x="T2" y="T3"/>
                  </a:cxn>
                  <a:cxn ang="T12">
                    <a:pos x="T4" y="T5"/>
                  </a:cxn>
                  <a:cxn ang="T13">
                    <a:pos x="T6" y="T7"/>
                  </a:cxn>
                  <a:cxn ang="T14">
                    <a:pos x="T8" y="T9"/>
                  </a:cxn>
                </a:cxnLst>
                <a:rect l="T15" t="T16" r="T17" b="T18"/>
                <a:pathLst>
                  <a:path w="441" h="158">
                    <a:moveTo>
                      <a:pt x="153" y="0"/>
                    </a:moveTo>
                    <a:cubicBezTo>
                      <a:pt x="0" y="138"/>
                      <a:pt x="0" y="138"/>
                      <a:pt x="0" y="138"/>
                    </a:cubicBezTo>
                    <a:cubicBezTo>
                      <a:pt x="27" y="145"/>
                      <a:pt x="56" y="152"/>
                      <a:pt x="86" y="158"/>
                    </a:cubicBezTo>
                    <a:cubicBezTo>
                      <a:pt x="441" y="157"/>
                      <a:pt x="441" y="157"/>
                      <a:pt x="441" y="157"/>
                    </a:cubicBezTo>
                    <a:lnTo>
                      <a:pt x="153" y="0"/>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3" name="Freeform 1314"/>
              <p:cNvSpPr>
                <a:spLocks noChangeArrowheads="1"/>
              </p:cNvSpPr>
              <p:nvPr/>
            </p:nvSpPr>
            <p:spPr bwMode="auto">
              <a:xfrm>
                <a:off x="635000" y="928687"/>
                <a:ext cx="307975" cy="136525"/>
              </a:xfrm>
              <a:custGeom>
                <a:avLst/>
                <a:gdLst>
                  <a:gd name="T0" fmla="*/ 234164812 w 267"/>
                  <a:gd name="T1" fmla="*/ 157958268 h 118"/>
                  <a:gd name="T2" fmla="*/ 355238205 w 267"/>
                  <a:gd name="T3" fmla="*/ 68270599 h 118"/>
                  <a:gd name="T4" fmla="*/ 1329944 w 267"/>
                  <a:gd name="T5" fmla="*/ 0 h 118"/>
                  <a:gd name="T6" fmla="*/ 0 w 267"/>
                  <a:gd name="T7" fmla="*/ 0 h 118"/>
                  <a:gd name="T8" fmla="*/ 234164812 w 267"/>
                  <a:gd name="T9" fmla="*/ 157958268 h 118"/>
                  <a:gd name="T10" fmla="*/ 0 60000 65536"/>
                  <a:gd name="T11" fmla="*/ 0 60000 65536"/>
                  <a:gd name="T12" fmla="*/ 0 60000 65536"/>
                  <a:gd name="T13" fmla="*/ 0 60000 65536"/>
                  <a:gd name="T14" fmla="*/ 0 60000 65536"/>
                  <a:gd name="T15" fmla="*/ 0 w 267"/>
                  <a:gd name="T16" fmla="*/ 0 h 118"/>
                  <a:gd name="T17" fmla="*/ 267 w 267"/>
                  <a:gd name="T18" fmla="*/ 118 h 118"/>
                </a:gdLst>
                <a:ahLst/>
                <a:cxnLst>
                  <a:cxn ang="T10">
                    <a:pos x="T0" y="T1"/>
                  </a:cxn>
                  <a:cxn ang="T11">
                    <a:pos x="T2" y="T3"/>
                  </a:cxn>
                  <a:cxn ang="T12">
                    <a:pos x="T4" y="T5"/>
                  </a:cxn>
                  <a:cxn ang="T13">
                    <a:pos x="T6" y="T7"/>
                  </a:cxn>
                  <a:cxn ang="T14">
                    <a:pos x="T8" y="T9"/>
                  </a:cxn>
                </a:cxnLst>
                <a:rect l="T15" t="T16" r="T17" b="T18"/>
                <a:pathLst>
                  <a:path w="267" h="118">
                    <a:moveTo>
                      <a:pt x="176" y="118"/>
                    </a:moveTo>
                    <a:cubicBezTo>
                      <a:pt x="267" y="51"/>
                      <a:pt x="267" y="51"/>
                      <a:pt x="267" y="51"/>
                    </a:cubicBezTo>
                    <a:cubicBezTo>
                      <a:pt x="163" y="39"/>
                      <a:pt x="72" y="22"/>
                      <a:pt x="1" y="0"/>
                    </a:cubicBezTo>
                    <a:cubicBezTo>
                      <a:pt x="0" y="0"/>
                      <a:pt x="0" y="0"/>
                      <a:pt x="0" y="0"/>
                    </a:cubicBezTo>
                    <a:lnTo>
                      <a:pt x="176" y="118"/>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4" name="Freeform 1315"/>
              <p:cNvSpPr>
                <a:spLocks noChangeArrowheads="1"/>
              </p:cNvSpPr>
              <p:nvPr/>
            </p:nvSpPr>
            <p:spPr bwMode="auto">
              <a:xfrm>
                <a:off x="838200" y="987424"/>
                <a:ext cx="239713" cy="77787"/>
              </a:xfrm>
              <a:custGeom>
                <a:avLst/>
                <a:gdLst>
                  <a:gd name="T0" fmla="*/ 276261165 w 208"/>
                  <a:gd name="T1" fmla="*/ 68743971 h 67"/>
                  <a:gd name="T2" fmla="*/ 261651349 w 208"/>
                  <a:gd name="T3" fmla="*/ 12131289 h 67"/>
                  <a:gd name="T4" fmla="*/ 120863756 w 208"/>
                  <a:gd name="T5" fmla="*/ 0 h 67"/>
                  <a:gd name="T6" fmla="*/ 0 w 208"/>
                  <a:gd name="T7" fmla="*/ 90310707 h 67"/>
                  <a:gd name="T8" fmla="*/ 276261165 w 208"/>
                  <a:gd name="T9" fmla="*/ 68743971 h 67"/>
                  <a:gd name="T10" fmla="*/ 0 60000 65536"/>
                  <a:gd name="T11" fmla="*/ 0 60000 65536"/>
                  <a:gd name="T12" fmla="*/ 0 60000 65536"/>
                  <a:gd name="T13" fmla="*/ 0 60000 65536"/>
                  <a:gd name="T14" fmla="*/ 0 60000 65536"/>
                  <a:gd name="T15" fmla="*/ 0 w 208"/>
                  <a:gd name="T16" fmla="*/ 0 h 67"/>
                  <a:gd name="T17" fmla="*/ 208 w 208"/>
                  <a:gd name="T18" fmla="*/ 67 h 67"/>
                </a:gdLst>
                <a:ahLst/>
                <a:cxnLst>
                  <a:cxn ang="T10">
                    <a:pos x="T0" y="T1"/>
                  </a:cxn>
                  <a:cxn ang="T11">
                    <a:pos x="T2" y="T3"/>
                  </a:cxn>
                  <a:cxn ang="T12">
                    <a:pos x="T4" y="T5"/>
                  </a:cxn>
                  <a:cxn ang="T13">
                    <a:pos x="T6" y="T7"/>
                  </a:cxn>
                  <a:cxn ang="T14">
                    <a:pos x="T8" y="T9"/>
                  </a:cxn>
                </a:cxnLst>
                <a:rect l="T15" t="T16" r="T17" b="T18"/>
                <a:pathLst>
                  <a:path w="208" h="67">
                    <a:moveTo>
                      <a:pt x="208" y="51"/>
                    </a:moveTo>
                    <a:cubicBezTo>
                      <a:pt x="197" y="9"/>
                      <a:pt x="197" y="9"/>
                      <a:pt x="197" y="9"/>
                    </a:cubicBezTo>
                    <a:cubicBezTo>
                      <a:pt x="160" y="7"/>
                      <a:pt x="125" y="4"/>
                      <a:pt x="91" y="0"/>
                    </a:cubicBezTo>
                    <a:cubicBezTo>
                      <a:pt x="0" y="67"/>
                      <a:pt x="0" y="67"/>
                      <a:pt x="0" y="67"/>
                    </a:cubicBezTo>
                    <a:lnTo>
                      <a:pt x="208" y="51"/>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5" name="Freeform 1316"/>
              <p:cNvSpPr>
                <a:spLocks noChangeArrowheads="1"/>
              </p:cNvSpPr>
              <p:nvPr/>
            </p:nvSpPr>
            <p:spPr bwMode="auto">
              <a:xfrm>
                <a:off x="838200" y="1046162"/>
                <a:ext cx="369888" cy="38100"/>
              </a:xfrm>
              <a:custGeom>
                <a:avLst/>
                <a:gdLst>
                  <a:gd name="T0" fmla="*/ 380544902 w 233"/>
                  <a:gd name="T1" fmla="*/ 0 h 24"/>
                  <a:gd name="T2" fmla="*/ 0 w 233"/>
                  <a:gd name="T3" fmla="*/ 30241875 h 24"/>
                  <a:gd name="T4" fmla="*/ 587197994 w 233"/>
                  <a:gd name="T5" fmla="*/ 60483750 h 24"/>
                  <a:gd name="T6" fmla="*/ 380544902 w 233"/>
                  <a:gd name="T7" fmla="*/ 0 h 24"/>
                  <a:gd name="T8" fmla="*/ 0 60000 65536"/>
                  <a:gd name="T9" fmla="*/ 0 60000 65536"/>
                  <a:gd name="T10" fmla="*/ 0 60000 65536"/>
                  <a:gd name="T11" fmla="*/ 0 60000 65536"/>
                  <a:gd name="T12" fmla="*/ 0 w 233"/>
                  <a:gd name="T13" fmla="*/ 0 h 24"/>
                  <a:gd name="T14" fmla="*/ 233 w 233"/>
                  <a:gd name="T15" fmla="*/ 24 h 24"/>
                </a:gdLst>
                <a:ahLst/>
                <a:cxnLst>
                  <a:cxn ang="T8">
                    <a:pos x="T0" y="T1"/>
                  </a:cxn>
                  <a:cxn ang="T9">
                    <a:pos x="T2" y="T3"/>
                  </a:cxn>
                  <a:cxn ang="T10">
                    <a:pos x="T4" y="T5"/>
                  </a:cxn>
                  <a:cxn ang="T11">
                    <a:pos x="T6" y="T7"/>
                  </a:cxn>
                </a:cxnLst>
                <a:rect l="T12" t="T13" r="T14" b="T15"/>
                <a:pathLst>
                  <a:path w="233" h="24">
                    <a:moveTo>
                      <a:pt x="151" y="0"/>
                    </a:moveTo>
                    <a:lnTo>
                      <a:pt x="0" y="12"/>
                    </a:lnTo>
                    <a:lnTo>
                      <a:pt x="233" y="24"/>
                    </a:lnTo>
                    <a:lnTo>
                      <a:pt x="151"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6" name="Freeform 1317"/>
              <p:cNvSpPr>
                <a:spLocks noChangeArrowheads="1"/>
              </p:cNvSpPr>
              <p:nvPr/>
            </p:nvSpPr>
            <p:spPr bwMode="auto">
              <a:xfrm>
                <a:off x="838200" y="1065212"/>
                <a:ext cx="369888" cy="180975"/>
              </a:xfrm>
              <a:custGeom>
                <a:avLst/>
                <a:gdLst>
                  <a:gd name="T0" fmla="*/ 0 w 233"/>
                  <a:gd name="T1" fmla="*/ 0 h 114"/>
                  <a:gd name="T2" fmla="*/ 529233528 w 233"/>
                  <a:gd name="T3" fmla="*/ 287297813 h 114"/>
                  <a:gd name="T4" fmla="*/ 587197994 w 233"/>
                  <a:gd name="T5" fmla="*/ 30241875 h 114"/>
                  <a:gd name="T6" fmla="*/ 0 w 233"/>
                  <a:gd name="T7" fmla="*/ 0 h 114"/>
                  <a:gd name="T8" fmla="*/ 0 60000 65536"/>
                  <a:gd name="T9" fmla="*/ 0 60000 65536"/>
                  <a:gd name="T10" fmla="*/ 0 60000 65536"/>
                  <a:gd name="T11" fmla="*/ 0 60000 65536"/>
                  <a:gd name="T12" fmla="*/ 0 w 233"/>
                  <a:gd name="T13" fmla="*/ 0 h 114"/>
                  <a:gd name="T14" fmla="*/ 233 w 233"/>
                  <a:gd name="T15" fmla="*/ 114 h 114"/>
                </a:gdLst>
                <a:ahLst/>
                <a:cxnLst>
                  <a:cxn ang="T8">
                    <a:pos x="T0" y="T1"/>
                  </a:cxn>
                  <a:cxn ang="T9">
                    <a:pos x="T2" y="T3"/>
                  </a:cxn>
                  <a:cxn ang="T10">
                    <a:pos x="T4" y="T5"/>
                  </a:cxn>
                  <a:cxn ang="T11">
                    <a:pos x="T6" y="T7"/>
                  </a:cxn>
                </a:cxnLst>
                <a:rect l="T12" t="T13" r="T14" b="T15"/>
                <a:pathLst>
                  <a:path w="233" h="114">
                    <a:moveTo>
                      <a:pt x="0" y="0"/>
                    </a:moveTo>
                    <a:lnTo>
                      <a:pt x="210" y="114"/>
                    </a:lnTo>
                    <a:lnTo>
                      <a:pt x="233" y="12"/>
                    </a:lnTo>
                    <a:lnTo>
                      <a:pt x="0" y="0"/>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7" name="Freeform 1318"/>
              <p:cNvSpPr>
                <a:spLocks noChangeArrowheads="1"/>
              </p:cNvSpPr>
              <p:nvPr/>
            </p:nvSpPr>
            <p:spPr bwMode="auto">
              <a:xfrm>
                <a:off x="642938" y="1065212"/>
                <a:ext cx="195263" cy="158750"/>
              </a:xfrm>
              <a:custGeom>
                <a:avLst/>
                <a:gdLst>
                  <a:gd name="T0" fmla="*/ 33373797 w 169"/>
                  <a:gd name="T1" fmla="*/ 59549656 h 138"/>
                  <a:gd name="T2" fmla="*/ 0 w 169"/>
                  <a:gd name="T3" fmla="*/ 177327201 h 138"/>
                  <a:gd name="T4" fmla="*/ 21358768 w 169"/>
                  <a:gd name="T5" fmla="*/ 182620018 h 138"/>
                  <a:gd name="T6" fmla="*/ 225607332 w 169"/>
                  <a:gd name="T7" fmla="*/ 0 h 138"/>
                  <a:gd name="T8" fmla="*/ 33373797 w 169"/>
                  <a:gd name="T9" fmla="*/ 59549656 h 138"/>
                  <a:gd name="T10" fmla="*/ 0 60000 65536"/>
                  <a:gd name="T11" fmla="*/ 0 60000 65536"/>
                  <a:gd name="T12" fmla="*/ 0 60000 65536"/>
                  <a:gd name="T13" fmla="*/ 0 60000 65536"/>
                  <a:gd name="T14" fmla="*/ 0 60000 65536"/>
                  <a:gd name="T15" fmla="*/ 0 w 169"/>
                  <a:gd name="T16" fmla="*/ 0 h 138"/>
                  <a:gd name="T17" fmla="*/ 169 w 169"/>
                  <a:gd name="T18" fmla="*/ 138 h 138"/>
                </a:gdLst>
                <a:ahLst/>
                <a:cxnLst>
                  <a:cxn ang="T10">
                    <a:pos x="T0" y="T1"/>
                  </a:cxn>
                  <a:cxn ang="T11">
                    <a:pos x="T2" y="T3"/>
                  </a:cxn>
                  <a:cxn ang="T12">
                    <a:pos x="T4" y="T5"/>
                  </a:cxn>
                  <a:cxn ang="T13">
                    <a:pos x="T6" y="T7"/>
                  </a:cxn>
                  <a:cxn ang="T14">
                    <a:pos x="T8" y="T9"/>
                  </a:cxn>
                </a:cxnLst>
                <a:rect l="T15" t="T16" r="T17" b="T18"/>
                <a:pathLst>
                  <a:path w="169" h="138">
                    <a:moveTo>
                      <a:pt x="25" y="45"/>
                    </a:moveTo>
                    <a:cubicBezTo>
                      <a:pt x="0" y="134"/>
                      <a:pt x="0" y="134"/>
                      <a:pt x="0" y="134"/>
                    </a:cubicBezTo>
                    <a:cubicBezTo>
                      <a:pt x="5" y="135"/>
                      <a:pt x="11" y="136"/>
                      <a:pt x="16" y="138"/>
                    </a:cubicBezTo>
                    <a:cubicBezTo>
                      <a:pt x="169" y="0"/>
                      <a:pt x="169" y="0"/>
                      <a:pt x="169" y="0"/>
                    </a:cubicBezTo>
                    <a:lnTo>
                      <a:pt x="25" y="45"/>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8" name="Freeform 1319"/>
              <p:cNvSpPr>
                <a:spLocks noChangeArrowheads="1"/>
              </p:cNvSpPr>
              <p:nvPr/>
            </p:nvSpPr>
            <p:spPr bwMode="auto">
              <a:xfrm>
                <a:off x="635000" y="928687"/>
                <a:ext cx="203200" cy="188912"/>
              </a:xfrm>
              <a:custGeom>
                <a:avLst/>
                <a:gdLst>
                  <a:gd name="T0" fmla="*/ 57964388 w 128"/>
                  <a:gd name="T1" fmla="*/ 299897006 h 119"/>
                  <a:gd name="T2" fmla="*/ 322580000 w 128"/>
                  <a:gd name="T3" fmla="*/ 216732864 h 119"/>
                  <a:gd name="T4" fmla="*/ 0 w 128"/>
                  <a:gd name="T5" fmla="*/ 0 h 119"/>
                  <a:gd name="T6" fmla="*/ 57964388 w 128"/>
                  <a:gd name="T7" fmla="*/ 299897006 h 119"/>
                  <a:gd name="T8" fmla="*/ 0 60000 65536"/>
                  <a:gd name="T9" fmla="*/ 0 60000 65536"/>
                  <a:gd name="T10" fmla="*/ 0 60000 65536"/>
                  <a:gd name="T11" fmla="*/ 0 60000 65536"/>
                  <a:gd name="T12" fmla="*/ 0 w 128"/>
                  <a:gd name="T13" fmla="*/ 0 h 119"/>
                  <a:gd name="T14" fmla="*/ 128 w 128"/>
                  <a:gd name="T15" fmla="*/ 119 h 119"/>
                </a:gdLst>
                <a:ahLst/>
                <a:cxnLst>
                  <a:cxn ang="T8">
                    <a:pos x="T0" y="T1"/>
                  </a:cxn>
                  <a:cxn ang="T9">
                    <a:pos x="T2" y="T3"/>
                  </a:cxn>
                  <a:cxn ang="T10">
                    <a:pos x="T4" y="T5"/>
                  </a:cxn>
                  <a:cxn ang="T11">
                    <a:pos x="T6" y="T7"/>
                  </a:cxn>
                </a:cxnLst>
                <a:rect l="T12" t="T13" r="T14" b="T15"/>
                <a:pathLst>
                  <a:path w="128" h="119">
                    <a:moveTo>
                      <a:pt x="23" y="119"/>
                    </a:moveTo>
                    <a:lnTo>
                      <a:pt x="128" y="86"/>
                    </a:lnTo>
                    <a:lnTo>
                      <a:pt x="0" y="0"/>
                    </a:lnTo>
                    <a:lnTo>
                      <a:pt x="23" y="119"/>
                    </a:ln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49" name="Freeform 1320"/>
              <p:cNvSpPr>
                <a:spLocks noChangeArrowheads="1"/>
              </p:cNvSpPr>
              <p:nvPr/>
            </p:nvSpPr>
            <p:spPr bwMode="auto">
              <a:xfrm>
                <a:off x="463550" y="1117599"/>
                <a:ext cx="207963" cy="103187"/>
              </a:xfrm>
              <a:custGeom>
                <a:avLst/>
                <a:gdLst>
                  <a:gd name="T0" fmla="*/ 0 w 181"/>
                  <a:gd name="T1" fmla="*/ 37637748 h 89"/>
                  <a:gd name="T2" fmla="*/ 205939669 w 181"/>
                  <a:gd name="T3" fmla="*/ 119635472 h 89"/>
                  <a:gd name="T4" fmla="*/ 238942593 w 181"/>
                  <a:gd name="T5" fmla="*/ 0 h 89"/>
                  <a:gd name="T6" fmla="*/ 0 w 181"/>
                  <a:gd name="T7" fmla="*/ 37637748 h 89"/>
                  <a:gd name="T8" fmla="*/ 0 60000 65536"/>
                  <a:gd name="T9" fmla="*/ 0 60000 65536"/>
                  <a:gd name="T10" fmla="*/ 0 60000 65536"/>
                  <a:gd name="T11" fmla="*/ 0 60000 65536"/>
                  <a:gd name="T12" fmla="*/ 0 w 181"/>
                  <a:gd name="T13" fmla="*/ 0 h 89"/>
                  <a:gd name="T14" fmla="*/ 181 w 181"/>
                  <a:gd name="T15" fmla="*/ 89 h 89"/>
                </a:gdLst>
                <a:ahLst/>
                <a:cxnLst>
                  <a:cxn ang="T8">
                    <a:pos x="T0" y="T1"/>
                  </a:cxn>
                  <a:cxn ang="T9">
                    <a:pos x="T2" y="T3"/>
                  </a:cxn>
                  <a:cxn ang="T10">
                    <a:pos x="T4" y="T5"/>
                  </a:cxn>
                  <a:cxn ang="T11">
                    <a:pos x="T6" y="T7"/>
                  </a:cxn>
                </a:cxnLst>
                <a:rect l="T12" t="T13" r="T14" b="T15"/>
                <a:pathLst>
                  <a:path w="181" h="89">
                    <a:moveTo>
                      <a:pt x="0" y="28"/>
                    </a:moveTo>
                    <a:cubicBezTo>
                      <a:pt x="41" y="51"/>
                      <a:pt x="93" y="71"/>
                      <a:pt x="156" y="89"/>
                    </a:cubicBezTo>
                    <a:cubicBezTo>
                      <a:pt x="181" y="0"/>
                      <a:pt x="181" y="0"/>
                      <a:pt x="181" y="0"/>
                    </a:cubicBezTo>
                    <a:lnTo>
                      <a:pt x="0" y="28"/>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0" name="Freeform 1321"/>
              <p:cNvSpPr>
                <a:spLocks noChangeArrowheads="1"/>
              </p:cNvSpPr>
              <p:nvPr/>
            </p:nvSpPr>
            <p:spPr bwMode="auto">
              <a:xfrm>
                <a:off x="400050" y="928687"/>
                <a:ext cx="271463" cy="220662"/>
              </a:xfrm>
              <a:custGeom>
                <a:avLst/>
                <a:gdLst>
                  <a:gd name="T0" fmla="*/ 269914741 w 236"/>
                  <a:gd name="T1" fmla="*/ 0 h 191"/>
                  <a:gd name="T2" fmla="*/ 0 w 236"/>
                  <a:gd name="T3" fmla="*/ 201541811 h 191"/>
                  <a:gd name="T4" fmla="*/ 72771639 w 236"/>
                  <a:gd name="T5" fmla="*/ 254930462 h 191"/>
                  <a:gd name="T6" fmla="*/ 312254917 w 236"/>
                  <a:gd name="T7" fmla="*/ 217558868 h 191"/>
                  <a:gd name="T8" fmla="*/ 269914741 w 236"/>
                  <a:gd name="T9" fmla="*/ 0 h 191"/>
                  <a:gd name="T10" fmla="*/ 0 60000 65536"/>
                  <a:gd name="T11" fmla="*/ 0 60000 65536"/>
                  <a:gd name="T12" fmla="*/ 0 60000 65536"/>
                  <a:gd name="T13" fmla="*/ 0 60000 65536"/>
                  <a:gd name="T14" fmla="*/ 0 60000 65536"/>
                  <a:gd name="T15" fmla="*/ 0 w 236"/>
                  <a:gd name="T16" fmla="*/ 0 h 191"/>
                  <a:gd name="T17" fmla="*/ 236 w 236"/>
                  <a:gd name="T18" fmla="*/ 191 h 191"/>
                </a:gdLst>
                <a:ahLst/>
                <a:cxnLst>
                  <a:cxn ang="T10">
                    <a:pos x="T0" y="T1"/>
                  </a:cxn>
                  <a:cxn ang="T11">
                    <a:pos x="T2" y="T3"/>
                  </a:cxn>
                  <a:cxn ang="T12">
                    <a:pos x="T4" y="T5"/>
                  </a:cxn>
                  <a:cxn ang="T13">
                    <a:pos x="T6" y="T7"/>
                  </a:cxn>
                  <a:cxn ang="T14">
                    <a:pos x="T8" y="T9"/>
                  </a:cxn>
                </a:cxnLst>
                <a:rect l="T15" t="T16" r="T17" b="T18"/>
                <a:pathLst>
                  <a:path w="236" h="191">
                    <a:moveTo>
                      <a:pt x="204" y="0"/>
                    </a:moveTo>
                    <a:cubicBezTo>
                      <a:pt x="0" y="151"/>
                      <a:pt x="0" y="151"/>
                      <a:pt x="0" y="151"/>
                    </a:cubicBezTo>
                    <a:cubicBezTo>
                      <a:pt x="14" y="165"/>
                      <a:pt x="33" y="178"/>
                      <a:pt x="55" y="191"/>
                    </a:cubicBezTo>
                    <a:cubicBezTo>
                      <a:pt x="236" y="163"/>
                      <a:pt x="236" y="163"/>
                      <a:pt x="236" y="163"/>
                    </a:cubicBezTo>
                    <a:lnTo>
                      <a:pt x="204" y="0"/>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1" name="Freeform 1322"/>
              <p:cNvSpPr>
                <a:spLocks noChangeArrowheads="1"/>
              </p:cNvSpPr>
              <p:nvPr/>
            </p:nvSpPr>
            <p:spPr bwMode="auto">
              <a:xfrm>
                <a:off x="1049338" y="1246187"/>
                <a:ext cx="220663" cy="47625"/>
              </a:xfrm>
              <a:custGeom>
                <a:avLst/>
                <a:gdLst>
                  <a:gd name="T0" fmla="*/ 0 w 191"/>
                  <a:gd name="T1" fmla="*/ 44525890 h 41"/>
                  <a:gd name="T2" fmla="*/ 254932773 w 191"/>
                  <a:gd name="T3" fmla="*/ 55320503 h 41"/>
                  <a:gd name="T4" fmla="*/ 140146422 w 191"/>
                  <a:gd name="T5" fmla="*/ 0 h 41"/>
                  <a:gd name="T6" fmla="*/ 0 w 191"/>
                  <a:gd name="T7" fmla="*/ 44525890 h 41"/>
                  <a:gd name="T8" fmla="*/ 0 60000 65536"/>
                  <a:gd name="T9" fmla="*/ 0 60000 65536"/>
                  <a:gd name="T10" fmla="*/ 0 60000 65536"/>
                  <a:gd name="T11" fmla="*/ 0 60000 65536"/>
                  <a:gd name="T12" fmla="*/ 0 w 191"/>
                  <a:gd name="T13" fmla="*/ 0 h 41"/>
                  <a:gd name="T14" fmla="*/ 191 w 191"/>
                  <a:gd name="T15" fmla="*/ 41 h 41"/>
                </a:gdLst>
                <a:ahLst/>
                <a:cxnLst>
                  <a:cxn ang="T8">
                    <a:pos x="T0" y="T1"/>
                  </a:cxn>
                  <a:cxn ang="T9">
                    <a:pos x="T2" y="T3"/>
                  </a:cxn>
                  <a:cxn ang="T10">
                    <a:pos x="T4" y="T5"/>
                  </a:cxn>
                  <a:cxn ang="T11">
                    <a:pos x="T6" y="T7"/>
                  </a:cxn>
                </a:cxnLst>
                <a:rect l="T12" t="T13" r="T14" b="T15"/>
                <a:pathLst>
                  <a:path w="191" h="41">
                    <a:moveTo>
                      <a:pt x="0" y="33"/>
                    </a:moveTo>
                    <a:cubicBezTo>
                      <a:pt x="61" y="38"/>
                      <a:pt x="125" y="40"/>
                      <a:pt x="191" y="41"/>
                    </a:cubicBezTo>
                    <a:cubicBezTo>
                      <a:pt x="105" y="0"/>
                      <a:pt x="105" y="0"/>
                      <a:pt x="105" y="0"/>
                    </a:cubicBezTo>
                    <a:lnTo>
                      <a:pt x="0" y="33"/>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2" name="Freeform 1323"/>
              <p:cNvSpPr>
                <a:spLocks noChangeArrowheads="1"/>
              </p:cNvSpPr>
              <p:nvPr/>
            </p:nvSpPr>
            <p:spPr bwMode="auto">
              <a:xfrm>
                <a:off x="1171575" y="1216024"/>
                <a:ext cx="184150" cy="77787"/>
              </a:xfrm>
              <a:custGeom>
                <a:avLst/>
                <a:gdLst>
                  <a:gd name="T0" fmla="*/ 0 w 160"/>
                  <a:gd name="T1" fmla="*/ 35045946 h 67"/>
                  <a:gd name="T2" fmla="*/ 113920945 w 160"/>
                  <a:gd name="T3" fmla="*/ 90310707 h 67"/>
                  <a:gd name="T4" fmla="*/ 121868168 w 160"/>
                  <a:gd name="T5" fmla="*/ 90310707 h 67"/>
                  <a:gd name="T6" fmla="*/ 180153945 w 160"/>
                  <a:gd name="T7" fmla="*/ 88962786 h 67"/>
                  <a:gd name="T8" fmla="*/ 211945141 w 160"/>
                  <a:gd name="T9" fmla="*/ 0 h 67"/>
                  <a:gd name="T10" fmla="*/ 0 w 160"/>
                  <a:gd name="T11" fmla="*/ 35045946 h 67"/>
                  <a:gd name="T12" fmla="*/ 0 60000 65536"/>
                  <a:gd name="T13" fmla="*/ 0 60000 65536"/>
                  <a:gd name="T14" fmla="*/ 0 60000 65536"/>
                  <a:gd name="T15" fmla="*/ 0 60000 65536"/>
                  <a:gd name="T16" fmla="*/ 0 60000 65536"/>
                  <a:gd name="T17" fmla="*/ 0 60000 65536"/>
                  <a:gd name="T18" fmla="*/ 0 w 160"/>
                  <a:gd name="T19" fmla="*/ 0 h 67"/>
                  <a:gd name="T20" fmla="*/ 160 w 160"/>
                  <a:gd name="T21" fmla="*/ 67 h 67"/>
                </a:gdLst>
                <a:ahLst/>
                <a:cxnLst>
                  <a:cxn ang="T12">
                    <a:pos x="T0" y="T1"/>
                  </a:cxn>
                  <a:cxn ang="T13">
                    <a:pos x="T2" y="T3"/>
                  </a:cxn>
                  <a:cxn ang="T14">
                    <a:pos x="T4" y="T5"/>
                  </a:cxn>
                  <a:cxn ang="T15">
                    <a:pos x="T6" y="T7"/>
                  </a:cxn>
                  <a:cxn ang="T16">
                    <a:pos x="T8" y="T9"/>
                  </a:cxn>
                  <a:cxn ang="T17">
                    <a:pos x="T10" y="T11"/>
                  </a:cxn>
                </a:cxnLst>
                <a:rect l="T18" t="T19" r="T20" b="T21"/>
                <a:pathLst>
                  <a:path w="160" h="67">
                    <a:moveTo>
                      <a:pt x="0" y="26"/>
                    </a:moveTo>
                    <a:cubicBezTo>
                      <a:pt x="86" y="67"/>
                      <a:pt x="86" y="67"/>
                      <a:pt x="86" y="67"/>
                    </a:cubicBezTo>
                    <a:cubicBezTo>
                      <a:pt x="88" y="67"/>
                      <a:pt x="90" y="67"/>
                      <a:pt x="92" y="67"/>
                    </a:cubicBezTo>
                    <a:cubicBezTo>
                      <a:pt x="107" y="67"/>
                      <a:pt x="121" y="66"/>
                      <a:pt x="136" y="66"/>
                    </a:cubicBezTo>
                    <a:cubicBezTo>
                      <a:pt x="160" y="0"/>
                      <a:pt x="160" y="0"/>
                      <a:pt x="160" y="0"/>
                    </a:cubicBezTo>
                    <a:lnTo>
                      <a:pt x="0" y="26"/>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3" name="Freeform 1324"/>
              <p:cNvSpPr>
                <a:spLocks noChangeArrowheads="1"/>
              </p:cNvSpPr>
              <p:nvPr/>
            </p:nvSpPr>
            <p:spPr bwMode="auto">
              <a:xfrm>
                <a:off x="1328738" y="1216024"/>
                <a:ext cx="277813" cy="76200"/>
              </a:xfrm>
              <a:custGeom>
                <a:avLst/>
                <a:gdLst>
                  <a:gd name="T0" fmla="*/ 0 w 241"/>
                  <a:gd name="T1" fmla="*/ 87976364 h 66"/>
                  <a:gd name="T2" fmla="*/ 320249224 w 241"/>
                  <a:gd name="T3" fmla="*/ 67981945 h 66"/>
                  <a:gd name="T4" fmla="*/ 31892010 w 241"/>
                  <a:gd name="T5" fmla="*/ 0 h 66"/>
                  <a:gd name="T6" fmla="*/ 0 w 241"/>
                  <a:gd name="T7" fmla="*/ 87976364 h 66"/>
                  <a:gd name="T8" fmla="*/ 0 60000 65536"/>
                  <a:gd name="T9" fmla="*/ 0 60000 65536"/>
                  <a:gd name="T10" fmla="*/ 0 60000 65536"/>
                  <a:gd name="T11" fmla="*/ 0 60000 65536"/>
                  <a:gd name="T12" fmla="*/ 0 w 241"/>
                  <a:gd name="T13" fmla="*/ 0 h 66"/>
                  <a:gd name="T14" fmla="*/ 241 w 241"/>
                  <a:gd name="T15" fmla="*/ 66 h 66"/>
                </a:gdLst>
                <a:ahLst/>
                <a:cxnLst>
                  <a:cxn ang="T8">
                    <a:pos x="T0" y="T1"/>
                  </a:cxn>
                  <a:cxn ang="T9">
                    <a:pos x="T2" y="T3"/>
                  </a:cxn>
                  <a:cxn ang="T10">
                    <a:pos x="T4" y="T5"/>
                  </a:cxn>
                  <a:cxn ang="T11">
                    <a:pos x="T6" y="T7"/>
                  </a:cxn>
                </a:cxnLst>
                <a:rect l="T12" t="T13" r="T14" b="T15"/>
                <a:pathLst>
                  <a:path w="241" h="66">
                    <a:moveTo>
                      <a:pt x="0" y="66"/>
                    </a:moveTo>
                    <a:cubicBezTo>
                      <a:pt x="84" y="65"/>
                      <a:pt x="165" y="60"/>
                      <a:pt x="241" y="51"/>
                    </a:cubicBezTo>
                    <a:cubicBezTo>
                      <a:pt x="24" y="0"/>
                      <a:pt x="24" y="0"/>
                      <a:pt x="24" y="0"/>
                    </a:cubicBezTo>
                    <a:lnTo>
                      <a:pt x="0" y="66"/>
                    </a:lnTo>
                    <a:close/>
                  </a:path>
                </a:pathLst>
              </a:custGeom>
              <a:solidFill>
                <a:srgbClr val="C102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4" name="Freeform 1325"/>
              <p:cNvSpPr>
                <a:spLocks noChangeArrowheads="1"/>
              </p:cNvSpPr>
              <p:nvPr/>
            </p:nvSpPr>
            <p:spPr bwMode="auto">
              <a:xfrm>
                <a:off x="1725613" y="1117599"/>
                <a:ext cx="358775" cy="119062"/>
              </a:xfrm>
              <a:custGeom>
                <a:avLst/>
                <a:gdLst>
                  <a:gd name="T0" fmla="*/ 134413727 w 311"/>
                  <a:gd name="T1" fmla="*/ 136305383 h 104"/>
                  <a:gd name="T2" fmla="*/ 413889070 w 311"/>
                  <a:gd name="T3" fmla="*/ 40629908 h 104"/>
                  <a:gd name="T4" fmla="*/ 0 w 311"/>
                  <a:gd name="T5" fmla="*/ 0 h 104"/>
                  <a:gd name="T6" fmla="*/ 134413727 w 311"/>
                  <a:gd name="T7" fmla="*/ 136305383 h 104"/>
                  <a:gd name="T8" fmla="*/ 0 60000 65536"/>
                  <a:gd name="T9" fmla="*/ 0 60000 65536"/>
                  <a:gd name="T10" fmla="*/ 0 60000 65536"/>
                  <a:gd name="T11" fmla="*/ 0 60000 65536"/>
                  <a:gd name="T12" fmla="*/ 0 w 311"/>
                  <a:gd name="T13" fmla="*/ 0 h 104"/>
                  <a:gd name="T14" fmla="*/ 311 w 311"/>
                  <a:gd name="T15" fmla="*/ 104 h 104"/>
                </a:gdLst>
                <a:ahLst/>
                <a:cxnLst>
                  <a:cxn ang="T8">
                    <a:pos x="T0" y="T1"/>
                  </a:cxn>
                  <a:cxn ang="T9">
                    <a:pos x="T2" y="T3"/>
                  </a:cxn>
                  <a:cxn ang="T10">
                    <a:pos x="T4" y="T5"/>
                  </a:cxn>
                  <a:cxn ang="T11">
                    <a:pos x="T6" y="T7"/>
                  </a:cxn>
                </a:cxnLst>
                <a:rect l="T12" t="T13" r="T14" b="T15"/>
                <a:pathLst>
                  <a:path w="311" h="104">
                    <a:moveTo>
                      <a:pt x="101" y="104"/>
                    </a:moveTo>
                    <a:cubicBezTo>
                      <a:pt x="188" y="84"/>
                      <a:pt x="259" y="59"/>
                      <a:pt x="311" y="31"/>
                    </a:cubicBezTo>
                    <a:cubicBezTo>
                      <a:pt x="0" y="0"/>
                      <a:pt x="0" y="0"/>
                      <a:pt x="0" y="0"/>
                    </a:cubicBezTo>
                    <a:lnTo>
                      <a:pt x="101" y="104"/>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5" name="Freeform 1326"/>
              <p:cNvSpPr>
                <a:spLocks noChangeArrowheads="1"/>
              </p:cNvSpPr>
              <p:nvPr/>
            </p:nvSpPr>
            <p:spPr bwMode="auto">
              <a:xfrm>
                <a:off x="2085975" y="811212"/>
                <a:ext cx="106363" cy="315912"/>
              </a:xfrm>
              <a:custGeom>
                <a:avLst/>
                <a:gdLst>
                  <a:gd name="T0" fmla="*/ 0 w 91"/>
                  <a:gd name="T1" fmla="*/ 34816280 h 273"/>
                  <a:gd name="T2" fmla="*/ 49181784 w 91"/>
                  <a:gd name="T3" fmla="*/ 365569201 h 273"/>
                  <a:gd name="T4" fmla="*/ 124319646 w 91"/>
                  <a:gd name="T5" fmla="*/ 251747148 h 273"/>
                  <a:gd name="T6" fmla="*/ 117489037 w 91"/>
                  <a:gd name="T7" fmla="*/ 216930869 h 273"/>
                  <a:gd name="T8" fmla="*/ 117489037 w 91"/>
                  <a:gd name="T9" fmla="*/ 216930869 h 273"/>
                  <a:gd name="T10" fmla="*/ 49181784 w 91"/>
                  <a:gd name="T11" fmla="*/ 44189493 h 273"/>
                  <a:gd name="T12" fmla="*/ 19126639 w 91"/>
                  <a:gd name="T13" fmla="*/ 0 h 273"/>
                  <a:gd name="T14" fmla="*/ 0 w 91"/>
                  <a:gd name="T15" fmla="*/ 34816280 h 273"/>
                  <a:gd name="T16" fmla="*/ 0 60000 65536"/>
                  <a:gd name="T17" fmla="*/ 0 60000 65536"/>
                  <a:gd name="T18" fmla="*/ 0 60000 65536"/>
                  <a:gd name="T19" fmla="*/ 0 60000 65536"/>
                  <a:gd name="T20" fmla="*/ 0 60000 65536"/>
                  <a:gd name="T21" fmla="*/ 0 60000 65536"/>
                  <a:gd name="T22" fmla="*/ 0 60000 65536"/>
                  <a:gd name="T23" fmla="*/ 0 60000 65536"/>
                  <a:gd name="T24" fmla="*/ 0 w 91"/>
                  <a:gd name="T25" fmla="*/ 0 h 273"/>
                  <a:gd name="T26" fmla="*/ 91 w 91"/>
                  <a:gd name="T27" fmla="*/ 273 h 273"/>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1" h="273">
                    <a:moveTo>
                      <a:pt x="0" y="26"/>
                    </a:moveTo>
                    <a:cubicBezTo>
                      <a:pt x="36" y="273"/>
                      <a:pt x="36" y="273"/>
                      <a:pt x="36" y="273"/>
                    </a:cubicBezTo>
                    <a:cubicBezTo>
                      <a:pt x="71" y="247"/>
                      <a:pt x="91" y="218"/>
                      <a:pt x="91" y="188"/>
                    </a:cubicBezTo>
                    <a:cubicBezTo>
                      <a:pt x="91" y="179"/>
                      <a:pt x="89" y="171"/>
                      <a:pt x="86" y="162"/>
                    </a:cubicBezTo>
                    <a:cubicBezTo>
                      <a:pt x="86" y="162"/>
                      <a:pt x="86" y="162"/>
                      <a:pt x="86" y="162"/>
                    </a:cubicBezTo>
                    <a:cubicBezTo>
                      <a:pt x="36" y="33"/>
                      <a:pt x="36" y="33"/>
                      <a:pt x="36" y="33"/>
                    </a:cubicBezTo>
                    <a:cubicBezTo>
                      <a:pt x="14" y="0"/>
                      <a:pt x="14" y="0"/>
                      <a:pt x="14" y="0"/>
                    </a:cubicBezTo>
                    <a:cubicBezTo>
                      <a:pt x="12" y="9"/>
                      <a:pt x="7" y="18"/>
                      <a:pt x="0" y="26"/>
                    </a:cubicBez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6" name="Freeform 1327"/>
              <p:cNvSpPr>
                <a:spLocks noChangeArrowheads="1"/>
              </p:cNvSpPr>
              <p:nvPr/>
            </p:nvSpPr>
            <p:spPr bwMode="auto">
              <a:xfrm>
                <a:off x="1725613" y="841374"/>
                <a:ext cx="403225" cy="311150"/>
              </a:xfrm>
              <a:custGeom>
                <a:avLst/>
                <a:gdLst>
                  <a:gd name="T0" fmla="*/ 359083994 w 349"/>
                  <a:gd name="T1" fmla="*/ 45153627 h 270"/>
                  <a:gd name="T2" fmla="*/ 220255591 w 349"/>
                  <a:gd name="T3" fmla="*/ 102258871 h 270"/>
                  <a:gd name="T4" fmla="*/ 0 w 349"/>
                  <a:gd name="T5" fmla="*/ 317401810 h 270"/>
                  <a:gd name="T6" fmla="*/ 415149599 w 349"/>
                  <a:gd name="T7" fmla="*/ 358571565 h 270"/>
                  <a:gd name="T8" fmla="*/ 465875073 w 349"/>
                  <a:gd name="T9" fmla="*/ 328027006 h 270"/>
                  <a:gd name="T10" fmla="*/ 417819665 w 349"/>
                  <a:gd name="T11" fmla="*/ 0 h 270"/>
                  <a:gd name="T12" fmla="*/ 359083994 w 349"/>
                  <a:gd name="T13" fmla="*/ 45153627 h 270"/>
                  <a:gd name="T14" fmla="*/ 0 60000 65536"/>
                  <a:gd name="T15" fmla="*/ 0 60000 65536"/>
                  <a:gd name="T16" fmla="*/ 0 60000 65536"/>
                  <a:gd name="T17" fmla="*/ 0 60000 65536"/>
                  <a:gd name="T18" fmla="*/ 0 60000 65536"/>
                  <a:gd name="T19" fmla="*/ 0 60000 65536"/>
                  <a:gd name="T20" fmla="*/ 0 60000 65536"/>
                  <a:gd name="T21" fmla="*/ 0 w 349"/>
                  <a:gd name="T22" fmla="*/ 0 h 270"/>
                  <a:gd name="T23" fmla="*/ 349 w 349"/>
                  <a:gd name="T24" fmla="*/ 270 h 27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9" h="270">
                    <a:moveTo>
                      <a:pt x="269" y="34"/>
                    </a:moveTo>
                    <a:cubicBezTo>
                      <a:pt x="242" y="50"/>
                      <a:pt x="207" y="64"/>
                      <a:pt x="165" y="77"/>
                    </a:cubicBezTo>
                    <a:cubicBezTo>
                      <a:pt x="0" y="239"/>
                      <a:pt x="0" y="239"/>
                      <a:pt x="0" y="239"/>
                    </a:cubicBezTo>
                    <a:cubicBezTo>
                      <a:pt x="311" y="270"/>
                      <a:pt x="311" y="270"/>
                      <a:pt x="311" y="270"/>
                    </a:cubicBezTo>
                    <a:cubicBezTo>
                      <a:pt x="325" y="262"/>
                      <a:pt x="338" y="255"/>
                      <a:pt x="349" y="247"/>
                    </a:cubicBezTo>
                    <a:cubicBezTo>
                      <a:pt x="313" y="0"/>
                      <a:pt x="313" y="0"/>
                      <a:pt x="313" y="0"/>
                    </a:cubicBezTo>
                    <a:cubicBezTo>
                      <a:pt x="303" y="12"/>
                      <a:pt x="288" y="23"/>
                      <a:pt x="269" y="34"/>
                    </a:cubicBezTo>
                    <a:close/>
                  </a:path>
                </a:pathLst>
              </a:custGeom>
              <a:solidFill>
                <a:srgbClr val="FE585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7" name="Rectangle 1328"/>
              <p:cNvSpPr>
                <a:spLocks noChangeArrowheads="1"/>
              </p:cNvSpPr>
              <p:nvPr/>
            </p:nvSpPr>
            <p:spPr bwMode="auto">
              <a:xfrm>
                <a:off x="635000" y="928687"/>
                <a:ext cx="1588" cy="1587"/>
              </a:xfrm>
              <a:prstGeom prst="rect">
                <a:avLst/>
              </a:pr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a:solidFill>
                    <a:srgbClr val="000000"/>
                  </a:solidFill>
                  <a:latin typeface="Calibri" panose="020F0502020204030204" pitchFamily="34" charset="0"/>
                  <a:ea typeface="微软雅黑" panose="020B0503020204020204" pitchFamily="34" charset="-122"/>
                  <a:sym typeface="Calibri" panose="020F0502020204030204" pitchFamily="34" charset="0"/>
                </a:endParaRPr>
              </a:p>
            </p:txBody>
          </p:sp>
          <p:sp>
            <p:nvSpPr>
              <p:cNvPr id="58" name="Freeform 1329"/>
              <p:cNvSpPr>
                <a:spLocks noChangeArrowheads="1"/>
              </p:cNvSpPr>
              <p:nvPr/>
            </p:nvSpPr>
            <p:spPr bwMode="auto">
              <a:xfrm>
                <a:off x="635000" y="928687"/>
                <a:ext cx="1588" cy="1"/>
              </a:xfrm>
              <a:custGeom>
                <a:avLst/>
                <a:gdLst>
                  <a:gd name="T0" fmla="*/ 2521744 w 1"/>
                  <a:gd name="T1" fmla="*/ 0 h 1"/>
                  <a:gd name="T2" fmla="*/ 2521744 w 1"/>
                  <a:gd name="T3" fmla="*/ 0 h 1"/>
                  <a:gd name="T4" fmla="*/ 0 w 1"/>
                  <a:gd name="T5" fmla="*/ 0 h 1"/>
                  <a:gd name="T6" fmla="*/ 2521744 w 1"/>
                  <a:gd name="T7" fmla="*/ 0 h 1"/>
                  <a:gd name="T8" fmla="*/ 0 60000 65536"/>
                  <a:gd name="T9" fmla="*/ 0 60000 65536"/>
                  <a:gd name="T10" fmla="*/ 0 60000 65536"/>
                  <a:gd name="T11" fmla="*/ 0 60000 65536"/>
                  <a:gd name="T12" fmla="*/ 0 w 1"/>
                  <a:gd name="T13" fmla="*/ 0 h 1"/>
                  <a:gd name="T14" fmla="*/ 1 w 1"/>
                  <a:gd name="T15" fmla="*/ 1 h 1"/>
                </a:gdLst>
                <a:ahLst/>
                <a:cxnLst>
                  <a:cxn ang="T8">
                    <a:pos x="T0" y="T1"/>
                  </a:cxn>
                  <a:cxn ang="T9">
                    <a:pos x="T2" y="T3"/>
                  </a:cxn>
                  <a:cxn ang="T10">
                    <a:pos x="T4" y="T5"/>
                  </a:cxn>
                  <a:cxn ang="T11">
                    <a:pos x="T6" y="T7"/>
                  </a:cxn>
                </a:cxnLst>
                <a:rect l="T12" t="T13" r="T14" b="T15"/>
                <a:pathLst>
                  <a:path w="1" h="1">
                    <a:moveTo>
                      <a:pt x="1" y="0"/>
                    </a:moveTo>
                    <a:lnTo>
                      <a:pt x="1" y="0"/>
                    </a:lnTo>
                    <a:lnTo>
                      <a:pt x="0" y="0"/>
                    </a:lnTo>
                    <a:lnTo>
                      <a:pt x="1"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59" name="Freeform 1330"/>
              <p:cNvSpPr>
                <a:spLocks noChangeArrowheads="1"/>
              </p:cNvSpPr>
              <p:nvPr/>
            </p:nvSpPr>
            <p:spPr bwMode="auto">
              <a:xfrm>
                <a:off x="1244600" y="1065212"/>
                <a:ext cx="369888" cy="150812"/>
              </a:xfrm>
              <a:custGeom>
                <a:avLst/>
                <a:gdLst>
                  <a:gd name="T0" fmla="*/ 0 w 233"/>
                  <a:gd name="T1" fmla="*/ 0 h 95"/>
                  <a:gd name="T2" fmla="*/ 176411176 w 233"/>
                  <a:gd name="T3" fmla="*/ 239413256 h 95"/>
                  <a:gd name="T4" fmla="*/ 587197994 w 233"/>
                  <a:gd name="T5" fmla="*/ 32761129 h 95"/>
                  <a:gd name="T6" fmla="*/ 0 w 233"/>
                  <a:gd name="T7" fmla="*/ 0 h 95"/>
                  <a:gd name="T8" fmla="*/ 0 60000 65536"/>
                  <a:gd name="T9" fmla="*/ 0 60000 65536"/>
                  <a:gd name="T10" fmla="*/ 0 60000 65536"/>
                  <a:gd name="T11" fmla="*/ 0 60000 65536"/>
                  <a:gd name="T12" fmla="*/ 0 w 233"/>
                  <a:gd name="T13" fmla="*/ 0 h 95"/>
                  <a:gd name="T14" fmla="*/ 233 w 233"/>
                  <a:gd name="T15" fmla="*/ 95 h 95"/>
                </a:gdLst>
                <a:ahLst/>
                <a:cxnLst>
                  <a:cxn ang="T8">
                    <a:pos x="T0" y="T1"/>
                  </a:cxn>
                  <a:cxn ang="T9">
                    <a:pos x="T2" y="T3"/>
                  </a:cxn>
                  <a:cxn ang="T10">
                    <a:pos x="T4" y="T5"/>
                  </a:cxn>
                  <a:cxn ang="T11">
                    <a:pos x="T6" y="T7"/>
                  </a:cxn>
                </a:cxnLst>
                <a:rect l="T12" t="T13" r="T14" b="T15"/>
                <a:pathLst>
                  <a:path w="233" h="95">
                    <a:moveTo>
                      <a:pt x="0" y="0"/>
                    </a:moveTo>
                    <a:lnTo>
                      <a:pt x="70" y="95"/>
                    </a:lnTo>
                    <a:lnTo>
                      <a:pt x="233" y="13"/>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0" name="Freeform 1331"/>
              <p:cNvSpPr>
                <a:spLocks noChangeArrowheads="1"/>
              </p:cNvSpPr>
              <p:nvPr/>
            </p:nvSpPr>
            <p:spPr bwMode="auto">
              <a:xfrm>
                <a:off x="1244600" y="1003299"/>
                <a:ext cx="369888" cy="82550"/>
              </a:xfrm>
              <a:custGeom>
                <a:avLst/>
                <a:gdLst>
                  <a:gd name="T0" fmla="*/ 427553539 w 320"/>
                  <a:gd name="T1" fmla="*/ 94645868 h 72"/>
                  <a:gd name="T2" fmla="*/ 197743281 w 320"/>
                  <a:gd name="T3" fmla="*/ 0 h 72"/>
                  <a:gd name="T4" fmla="*/ 89518676 w 320"/>
                  <a:gd name="T5" fmla="*/ 2628988 h 72"/>
                  <a:gd name="T6" fmla="*/ 0 w 320"/>
                  <a:gd name="T7" fmla="*/ 70984974 h 72"/>
                  <a:gd name="T8" fmla="*/ 427553539 w 320"/>
                  <a:gd name="T9" fmla="*/ 94645868 h 72"/>
                  <a:gd name="T10" fmla="*/ 0 60000 65536"/>
                  <a:gd name="T11" fmla="*/ 0 60000 65536"/>
                  <a:gd name="T12" fmla="*/ 0 60000 65536"/>
                  <a:gd name="T13" fmla="*/ 0 60000 65536"/>
                  <a:gd name="T14" fmla="*/ 0 60000 65536"/>
                  <a:gd name="T15" fmla="*/ 0 w 320"/>
                  <a:gd name="T16" fmla="*/ 0 h 72"/>
                  <a:gd name="T17" fmla="*/ 320 w 320"/>
                  <a:gd name="T18" fmla="*/ 72 h 72"/>
                </a:gdLst>
                <a:ahLst/>
                <a:cxnLst>
                  <a:cxn ang="T10">
                    <a:pos x="T0" y="T1"/>
                  </a:cxn>
                  <a:cxn ang="T11">
                    <a:pos x="T2" y="T3"/>
                  </a:cxn>
                  <a:cxn ang="T12">
                    <a:pos x="T4" y="T5"/>
                  </a:cxn>
                  <a:cxn ang="T13">
                    <a:pos x="T6" y="T7"/>
                  </a:cxn>
                  <a:cxn ang="T14">
                    <a:pos x="T8" y="T9"/>
                  </a:cxn>
                </a:cxnLst>
                <a:rect l="T15" t="T16" r="T17" b="T18"/>
                <a:pathLst>
                  <a:path w="320" h="72">
                    <a:moveTo>
                      <a:pt x="320" y="72"/>
                    </a:moveTo>
                    <a:cubicBezTo>
                      <a:pt x="148" y="0"/>
                      <a:pt x="148" y="0"/>
                      <a:pt x="148" y="0"/>
                    </a:cubicBezTo>
                    <a:cubicBezTo>
                      <a:pt x="121" y="1"/>
                      <a:pt x="94" y="1"/>
                      <a:pt x="67" y="2"/>
                    </a:cubicBezTo>
                    <a:cubicBezTo>
                      <a:pt x="0" y="54"/>
                      <a:pt x="0" y="54"/>
                      <a:pt x="0" y="54"/>
                    </a:cubicBezTo>
                    <a:lnTo>
                      <a:pt x="320" y="72"/>
                    </a:lnTo>
                    <a:close/>
                  </a:path>
                </a:pathLst>
              </a:custGeom>
              <a:solidFill>
                <a:srgbClr val="D1D844"/>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1" name="Freeform 1332"/>
              <p:cNvSpPr>
                <a:spLocks noChangeArrowheads="1"/>
              </p:cNvSpPr>
              <p:nvPr/>
            </p:nvSpPr>
            <p:spPr bwMode="auto">
              <a:xfrm>
                <a:off x="1355725" y="1085849"/>
                <a:ext cx="369888" cy="130175"/>
              </a:xfrm>
              <a:custGeom>
                <a:avLst/>
                <a:gdLst>
                  <a:gd name="T0" fmla="*/ 0 w 233"/>
                  <a:gd name="T1" fmla="*/ 206652813 h 82"/>
                  <a:gd name="T2" fmla="*/ 587197994 w 233"/>
                  <a:gd name="T3" fmla="*/ 50403125 h 82"/>
                  <a:gd name="T4" fmla="*/ 410786818 w 233"/>
                  <a:gd name="T5" fmla="*/ 0 h 82"/>
                  <a:gd name="T6" fmla="*/ 0 w 233"/>
                  <a:gd name="T7" fmla="*/ 206652813 h 82"/>
                  <a:gd name="T8" fmla="*/ 0 60000 65536"/>
                  <a:gd name="T9" fmla="*/ 0 60000 65536"/>
                  <a:gd name="T10" fmla="*/ 0 60000 65536"/>
                  <a:gd name="T11" fmla="*/ 0 60000 65536"/>
                  <a:gd name="T12" fmla="*/ 0 w 233"/>
                  <a:gd name="T13" fmla="*/ 0 h 82"/>
                  <a:gd name="T14" fmla="*/ 233 w 233"/>
                  <a:gd name="T15" fmla="*/ 82 h 82"/>
                </a:gdLst>
                <a:ahLst/>
                <a:cxnLst>
                  <a:cxn ang="T8">
                    <a:pos x="T0" y="T1"/>
                  </a:cxn>
                  <a:cxn ang="T9">
                    <a:pos x="T2" y="T3"/>
                  </a:cxn>
                  <a:cxn ang="T10">
                    <a:pos x="T4" y="T5"/>
                  </a:cxn>
                  <a:cxn ang="T11">
                    <a:pos x="T6" y="T7"/>
                  </a:cxn>
                </a:cxnLst>
                <a:rect l="T12" t="T13" r="T14" b="T15"/>
                <a:pathLst>
                  <a:path w="233" h="82">
                    <a:moveTo>
                      <a:pt x="0" y="82"/>
                    </a:moveTo>
                    <a:lnTo>
                      <a:pt x="233" y="20"/>
                    </a:lnTo>
                    <a:lnTo>
                      <a:pt x="163" y="0"/>
                    </a:lnTo>
                    <a:lnTo>
                      <a:pt x="0" y="82"/>
                    </a:lnTo>
                    <a:close/>
                  </a:path>
                </a:pathLst>
              </a:custGeom>
              <a:solidFill>
                <a:srgbClr val="2F6F85"/>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2" name="Freeform 1333"/>
              <p:cNvSpPr>
                <a:spLocks noChangeArrowheads="1"/>
              </p:cNvSpPr>
              <p:nvPr/>
            </p:nvSpPr>
            <p:spPr bwMode="auto">
              <a:xfrm>
                <a:off x="1416050" y="985837"/>
                <a:ext cx="206375" cy="100012"/>
              </a:xfrm>
              <a:custGeom>
                <a:avLst/>
                <a:gdLst>
                  <a:gd name="T0" fmla="*/ 237936540 w 179"/>
                  <a:gd name="T1" fmla="*/ 0 h 86"/>
                  <a:gd name="T2" fmla="*/ 0 w 179"/>
                  <a:gd name="T3" fmla="*/ 18933667 h 86"/>
                  <a:gd name="T4" fmla="*/ 228631218 w 179"/>
                  <a:gd name="T5" fmla="*/ 116306978 h 86"/>
                  <a:gd name="T6" fmla="*/ 237936540 w 179"/>
                  <a:gd name="T7" fmla="*/ 0 h 86"/>
                  <a:gd name="T8" fmla="*/ 0 60000 65536"/>
                  <a:gd name="T9" fmla="*/ 0 60000 65536"/>
                  <a:gd name="T10" fmla="*/ 0 60000 65536"/>
                  <a:gd name="T11" fmla="*/ 0 60000 65536"/>
                  <a:gd name="T12" fmla="*/ 0 w 179"/>
                  <a:gd name="T13" fmla="*/ 0 h 86"/>
                  <a:gd name="T14" fmla="*/ 179 w 179"/>
                  <a:gd name="T15" fmla="*/ 86 h 86"/>
                </a:gdLst>
                <a:ahLst/>
                <a:cxnLst>
                  <a:cxn ang="T8">
                    <a:pos x="T0" y="T1"/>
                  </a:cxn>
                  <a:cxn ang="T9">
                    <a:pos x="T2" y="T3"/>
                  </a:cxn>
                  <a:cxn ang="T10">
                    <a:pos x="T4" y="T5"/>
                  </a:cxn>
                  <a:cxn ang="T11">
                    <a:pos x="T6" y="T7"/>
                  </a:cxn>
                </a:cxnLst>
                <a:rect l="T12" t="T13" r="T14" b="T15"/>
                <a:pathLst>
                  <a:path w="179" h="86">
                    <a:moveTo>
                      <a:pt x="179" y="0"/>
                    </a:moveTo>
                    <a:cubicBezTo>
                      <a:pt x="123" y="6"/>
                      <a:pt x="63" y="11"/>
                      <a:pt x="0" y="14"/>
                    </a:cubicBezTo>
                    <a:cubicBezTo>
                      <a:pt x="172" y="86"/>
                      <a:pt x="172" y="86"/>
                      <a:pt x="172" y="86"/>
                    </a:cubicBezTo>
                    <a:lnTo>
                      <a:pt x="179" y="0"/>
                    </a:ln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3" name="Freeform 1334"/>
              <p:cNvSpPr>
                <a:spLocks noChangeArrowheads="1"/>
              </p:cNvSpPr>
              <p:nvPr/>
            </p:nvSpPr>
            <p:spPr bwMode="auto">
              <a:xfrm>
                <a:off x="1614488" y="957262"/>
                <a:ext cx="188913" cy="128587"/>
              </a:xfrm>
              <a:custGeom>
                <a:avLst/>
                <a:gdLst>
                  <a:gd name="T0" fmla="*/ 218945531 w 163"/>
                  <a:gd name="T1" fmla="*/ 0 h 111"/>
                  <a:gd name="T2" fmla="*/ 9402768 w 163"/>
                  <a:gd name="T3" fmla="*/ 33549623 h 111"/>
                  <a:gd name="T4" fmla="*/ 0 w 163"/>
                  <a:gd name="T5" fmla="*/ 148960510 h 111"/>
                  <a:gd name="T6" fmla="*/ 218945531 w 163"/>
                  <a:gd name="T7" fmla="*/ 0 h 111"/>
                  <a:gd name="T8" fmla="*/ 0 60000 65536"/>
                  <a:gd name="T9" fmla="*/ 0 60000 65536"/>
                  <a:gd name="T10" fmla="*/ 0 60000 65536"/>
                  <a:gd name="T11" fmla="*/ 0 60000 65536"/>
                  <a:gd name="T12" fmla="*/ 0 w 163"/>
                  <a:gd name="T13" fmla="*/ 0 h 111"/>
                  <a:gd name="T14" fmla="*/ 163 w 163"/>
                  <a:gd name="T15" fmla="*/ 111 h 111"/>
                </a:gdLst>
                <a:ahLst/>
                <a:cxnLst>
                  <a:cxn ang="T8">
                    <a:pos x="T0" y="T1"/>
                  </a:cxn>
                  <a:cxn ang="T9">
                    <a:pos x="T2" y="T3"/>
                  </a:cxn>
                  <a:cxn ang="T10">
                    <a:pos x="T4" y="T5"/>
                  </a:cxn>
                  <a:cxn ang="T11">
                    <a:pos x="T6" y="T7"/>
                  </a:cxn>
                </a:cxnLst>
                <a:rect l="T12" t="T13" r="T14" b="T15"/>
                <a:pathLst>
                  <a:path w="163" h="111">
                    <a:moveTo>
                      <a:pt x="163" y="0"/>
                    </a:moveTo>
                    <a:cubicBezTo>
                      <a:pt x="116" y="10"/>
                      <a:pt x="63" y="18"/>
                      <a:pt x="7" y="25"/>
                    </a:cubicBezTo>
                    <a:cubicBezTo>
                      <a:pt x="0" y="111"/>
                      <a:pt x="0" y="111"/>
                      <a:pt x="0" y="111"/>
                    </a:cubicBezTo>
                    <a:lnTo>
                      <a:pt x="163" y="0"/>
                    </a:lnTo>
                    <a:close/>
                  </a:path>
                </a:pathLst>
              </a:custGeom>
              <a:solidFill>
                <a:srgbClr val="FBB040"/>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4" name="Freeform 1335"/>
              <p:cNvSpPr>
                <a:spLocks noChangeArrowheads="1"/>
              </p:cNvSpPr>
              <p:nvPr/>
            </p:nvSpPr>
            <p:spPr bwMode="auto">
              <a:xfrm>
                <a:off x="1614488" y="930274"/>
                <a:ext cx="301625" cy="187325"/>
              </a:xfrm>
              <a:custGeom>
                <a:avLst/>
                <a:gdLst>
                  <a:gd name="T0" fmla="*/ 128211427 w 261"/>
                  <a:gd name="T1" fmla="*/ 216608985 h 162"/>
                  <a:gd name="T2" fmla="*/ 348573336 w 261"/>
                  <a:gd name="T3" fmla="*/ 0 h 162"/>
                  <a:gd name="T4" fmla="*/ 217691199 w 261"/>
                  <a:gd name="T5" fmla="*/ 32090391 h 162"/>
                  <a:gd name="T6" fmla="*/ 0 w 261"/>
                  <a:gd name="T7" fmla="*/ 180507295 h 162"/>
                  <a:gd name="T8" fmla="*/ 128211427 w 261"/>
                  <a:gd name="T9" fmla="*/ 216608985 h 162"/>
                  <a:gd name="T10" fmla="*/ 0 60000 65536"/>
                  <a:gd name="T11" fmla="*/ 0 60000 65536"/>
                  <a:gd name="T12" fmla="*/ 0 60000 65536"/>
                  <a:gd name="T13" fmla="*/ 0 60000 65536"/>
                  <a:gd name="T14" fmla="*/ 0 60000 65536"/>
                  <a:gd name="T15" fmla="*/ 0 w 261"/>
                  <a:gd name="T16" fmla="*/ 0 h 162"/>
                  <a:gd name="T17" fmla="*/ 261 w 261"/>
                  <a:gd name="T18" fmla="*/ 162 h 162"/>
                </a:gdLst>
                <a:ahLst/>
                <a:cxnLst>
                  <a:cxn ang="T10">
                    <a:pos x="T0" y="T1"/>
                  </a:cxn>
                  <a:cxn ang="T11">
                    <a:pos x="T2" y="T3"/>
                  </a:cxn>
                  <a:cxn ang="T12">
                    <a:pos x="T4" y="T5"/>
                  </a:cxn>
                  <a:cxn ang="T13">
                    <a:pos x="T6" y="T7"/>
                  </a:cxn>
                  <a:cxn ang="T14">
                    <a:pos x="T8" y="T9"/>
                  </a:cxn>
                </a:cxnLst>
                <a:rect l="T15" t="T16" r="T17" b="T18"/>
                <a:pathLst>
                  <a:path w="261" h="162">
                    <a:moveTo>
                      <a:pt x="96" y="162"/>
                    </a:moveTo>
                    <a:cubicBezTo>
                      <a:pt x="261" y="0"/>
                      <a:pt x="261" y="0"/>
                      <a:pt x="261" y="0"/>
                    </a:cubicBezTo>
                    <a:cubicBezTo>
                      <a:pt x="232" y="9"/>
                      <a:pt x="199" y="17"/>
                      <a:pt x="163" y="24"/>
                    </a:cubicBezTo>
                    <a:cubicBezTo>
                      <a:pt x="0" y="135"/>
                      <a:pt x="0" y="135"/>
                      <a:pt x="0" y="135"/>
                    </a:cubicBezTo>
                    <a:lnTo>
                      <a:pt x="96" y="162"/>
                    </a:lnTo>
                    <a:close/>
                  </a:path>
                </a:pathLst>
              </a:custGeom>
              <a:solidFill>
                <a:srgbClr val="FFFFFF"/>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sp>
            <p:nvSpPr>
              <p:cNvPr id="65" name="Freeform 1336"/>
              <p:cNvSpPr>
                <a:spLocks noChangeArrowheads="1"/>
              </p:cNvSpPr>
              <p:nvPr/>
            </p:nvSpPr>
            <p:spPr bwMode="auto">
              <a:xfrm>
                <a:off x="2100263" y="777874"/>
                <a:ext cx="28575" cy="71437"/>
              </a:xfrm>
              <a:custGeom>
                <a:avLst/>
                <a:gdLst>
                  <a:gd name="T0" fmla="*/ 5670947 w 24"/>
                  <a:gd name="T1" fmla="*/ 23896829 h 62"/>
                  <a:gd name="T2" fmla="*/ 2834878 w 24"/>
                  <a:gd name="T3" fmla="*/ 38499934 h 62"/>
                  <a:gd name="T4" fmla="*/ 34022109 w 24"/>
                  <a:gd name="T5" fmla="*/ 82310403 h 62"/>
                  <a:gd name="T6" fmla="*/ 0 w 24"/>
                  <a:gd name="T7" fmla="*/ 0 h 62"/>
                  <a:gd name="T8" fmla="*/ 5670947 w 24"/>
                  <a:gd name="T9" fmla="*/ 23896829 h 62"/>
                  <a:gd name="T10" fmla="*/ 0 60000 65536"/>
                  <a:gd name="T11" fmla="*/ 0 60000 65536"/>
                  <a:gd name="T12" fmla="*/ 0 60000 65536"/>
                  <a:gd name="T13" fmla="*/ 0 60000 65536"/>
                  <a:gd name="T14" fmla="*/ 0 60000 65536"/>
                  <a:gd name="T15" fmla="*/ 0 w 24"/>
                  <a:gd name="T16" fmla="*/ 0 h 62"/>
                  <a:gd name="T17" fmla="*/ 24 w 24"/>
                  <a:gd name="T18" fmla="*/ 62 h 62"/>
                </a:gdLst>
                <a:ahLst/>
                <a:cxnLst>
                  <a:cxn ang="T10">
                    <a:pos x="T0" y="T1"/>
                  </a:cxn>
                  <a:cxn ang="T11">
                    <a:pos x="T2" y="T3"/>
                  </a:cxn>
                  <a:cxn ang="T12">
                    <a:pos x="T4" y="T5"/>
                  </a:cxn>
                  <a:cxn ang="T13">
                    <a:pos x="T6" y="T7"/>
                  </a:cxn>
                  <a:cxn ang="T14">
                    <a:pos x="T8" y="T9"/>
                  </a:cxn>
                </a:cxnLst>
                <a:rect l="T15" t="T16" r="T17" b="T18"/>
                <a:pathLst>
                  <a:path w="24" h="62">
                    <a:moveTo>
                      <a:pt x="4" y="18"/>
                    </a:moveTo>
                    <a:cubicBezTo>
                      <a:pt x="4" y="21"/>
                      <a:pt x="3" y="25"/>
                      <a:pt x="2" y="29"/>
                    </a:cubicBezTo>
                    <a:cubicBezTo>
                      <a:pt x="24" y="62"/>
                      <a:pt x="24" y="62"/>
                      <a:pt x="24" y="62"/>
                    </a:cubicBezTo>
                    <a:cubicBezTo>
                      <a:pt x="0" y="0"/>
                      <a:pt x="0" y="0"/>
                      <a:pt x="0" y="0"/>
                    </a:cubicBezTo>
                    <a:cubicBezTo>
                      <a:pt x="3" y="6"/>
                      <a:pt x="4" y="12"/>
                      <a:pt x="4" y="18"/>
                    </a:cubicBezTo>
                    <a:close/>
                  </a:path>
                </a:pathLst>
              </a:custGeom>
              <a:solidFill>
                <a:srgbClr val="07AFBC"/>
              </a:solidFill>
              <a:ln>
                <a:noFill/>
              </a:ln>
              <a:extLst>
                <a:ext uri="{91240B29-F687-4F45-9708-019B960494DF}">
                  <a14:hiddenLine xmlns:a14="http://schemas.microsoft.com/office/drawing/2010/main" w="9525">
                    <a:solidFill>
                      <a:srgbClr val="000000"/>
                    </a:solidFill>
                    <a:bevel/>
                  </a14:hiddenLine>
                </a:ext>
              </a:extLst>
            </p:spPr>
            <p:txBody>
              <a:bodyPr/>
              <a:lstStyle/>
              <a:p>
                <a:endParaRPr lang="zh-CN" altLang="en-US"/>
              </a:p>
            </p:txBody>
          </p:sp>
        </p:grpSp>
      </p:grpSp>
      <p:sp>
        <p:nvSpPr>
          <p:cNvPr id="66" name="任意多边形 98"/>
          <p:cNvSpPr>
            <a:spLocks noChangeArrowheads="1"/>
          </p:cNvSpPr>
          <p:nvPr/>
        </p:nvSpPr>
        <p:spPr bwMode="auto">
          <a:xfrm>
            <a:off x="3715403" y="2356325"/>
            <a:ext cx="1746647" cy="360759"/>
          </a:xfrm>
          <a:custGeom>
            <a:avLst/>
            <a:gdLst>
              <a:gd name="T0" fmla="*/ 0 w 2541974"/>
              <a:gd name="T1" fmla="*/ 0 h 636814"/>
              <a:gd name="T2" fmla="*/ 2133619 w 2541974"/>
              <a:gd name="T3" fmla="*/ 0 h 636814"/>
              <a:gd name="T4" fmla="*/ 1991723 w 2541974"/>
              <a:gd name="T5" fmla="*/ 181664 h 636814"/>
              <a:gd name="T6" fmla="*/ 2133619 w 2541974"/>
              <a:gd name="T7" fmla="*/ 363328 h 636814"/>
              <a:gd name="T8" fmla="*/ 0 w 2541974"/>
              <a:gd name="T9" fmla="*/ 363328 h 636814"/>
              <a:gd name="T10" fmla="*/ 141809 w 2541974"/>
              <a:gd name="T11" fmla="*/ 181664 h 636814"/>
              <a:gd name="T12" fmla="*/ 0 60000 65536"/>
              <a:gd name="T13" fmla="*/ 0 60000 65536"/>
              <a:gd name="T14" fmla="*/ 0 60000 65536"/>
              <a:gd name="T15" fmla="*/ 0 60000 65536"/>
              <a:gd name="T16" fmla="*/ 0 60000 65536"/>
              <a:gd name="T17" fmla="*/ 0 60000 65536"/>
              <a:gd name="T18" fmla="*/ 0 w 2541974"/>
              <a:gd name="T19" fmla="*/ 0 h 636814"/>
              <a:gd name="T20" fmla="*/ 2541974 w 2541974"/>
              <a:gd name="T21" fmla="*/ 636814 h 636814"/>
            </a:gdLst>
            <a:ahLst/>
            <a:cxnLst>
              <a:cxn ang="T12">
                <a:pos x="T0" y="T1"/>
              </a:cxn>
              <a:cxn ang="T13">
                <a:pos x="T2" y="T3"/>
              </a:cxn>
              <a:cxn ang="T14">
                <a:pos x="T4" y="T5"/>
              </a:cxn>
              <a:cxn ang="T15">
                <a:pos x="T6" y="T7"/>
              </a:cxn>
              <a:cxn ang="T16">
                <a:pos x="T8" y="T9"/>
              </a:cxn>
              <a:cxn ang="T17">
                <a:pos x="T10" y="T11"/>
              </a:cxn>
            </a:cxnLst>
            <a:rect l="T18" t="T19" r="T20" b="T21"/>
            <a:pathLst>
              <a:path w="2541974" h="636814">
                <a:moveTo>
                  <a:pt x="0" y="0"/>
                </a:moveTo>
                <a:lnTo>
                  <a:pt x="2541974" y="0"/>
                </a:lnTo>
                <a:lnTo>
                  <a:pt x="2372921" y="318407"/>
                </a:lnTo>
                <a:lnTo>
                  <a:pt x="2541974" y="636814"/>
                </a:lnTo>
                <a:lnTo>
                  <a:pt x="0" y="636814"/>
                </a:lnTo>
                <a:lnTo>
                  <a:pt x="168950" y="318407"/>
                </a:lnTo>
                <a:lnTo>
                  <a:pt x="0" y="0"/>
                </a:lnTo>
                <a:close/>
              </a:path>
            </a:pathLst>
          </a:custGeom>
          <a:blipFill dpi="0" rotWithShape="1">
            <a:blip r:embed="rId2" cstate="print"/>
            <a:srcRect/>
            <a:tile tx="0" ty="0" sx="100000" sy="100000" flip="none" algn="tl"/>
          </a:blipFill>
          <a:ln>
            <a:noFill/>
          </a:ln>
          <a:extLst>
            <a:ext uri="{91240B29-F687-4F45-9708-019B960494DF}">
              <a14:hiddenLine xmlns:a14="http://schemas.microsoft.com/office/drawing/2010/main" w="12700">
                <a:solidFill>
                  <a:srgbClr val="42719B"/>
                </a:solidFill>
                <a:bevel/>
              </a14:hiddenLine>
            </a:ext>
          </a:extLst>
        </p:spPr>
        <p:txBody>
          <a:bodyPr anchor="ctr"/>
          <a:lstStyle/>
          <a:p>
            <a:r>
              <a:rPr lang="zh-CN" altLang="en-US" dirty="0">
                <a:solidFill>
                  <a:schemeClr val="bg1"/>
                </a:solidFill>
                <a:latin typeface="+mn-ea"/>
                <a:ea typeface="+mn-ea"/>
              </a:rPr>
              <a:t>谢谢聆听</a:t>
            </a:r>
            <a:endParaRPr lang="zh-CN" altLang="en-US" dirty="0">
              <a:solidFill>
                <a:schemeClr val="bg1"/>
              </a:solidFill>
              <a:latin typeface="+mn-ea"/>
              <a:ea typeface="+mn-ea"/>
            </a:endParaRPr>
          </a:p>
        </p:txBody>
      </p:sp>
      <p:pic>
        <p:nvPicPr>
          <p:cNvPr id="69" name="图片 3"/>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0191" y="138184"/>
            <a:ext cx="2257425" cy="432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p:transition>
</p:sld>
</file>

<file path=ppt/tags/tag1.xml><?xml version="1.0" encoding="utf-8"?>
<p:tagLst xmlns:p="http://schemas.openxmlformats.org/presentationml/2006/main">
  <p:tag name="MH" val="20160502203916"/>
  <p:tag name="MH_LIBRARY" val="GRAPHIC"/>
  <p:tag name="MH_TYPE" val="SubTitle"/>
  <p:tag name="MH_ORDER" val="3"/>
</p:tagLst>
</file>

<file path=ppt/tags/tag2.xml><?xml version="1.0" encoding="utf-8"?>
<p:tagLst xmlns:p="http://schemas.openxmlformats.org/presentationml/2006/main">
  <p:tag name="MH" val="20160502203916"/>
  <p:tag name="MH_LIBRARY" val="GRAPHIC"/>
  <p:tag name="MH_TYPE" val="SubTitle"/>
  <p:tag name="MH_ORDER" val="3"/>
</p:tagLst>
</file>

<file path=ppt/tags/tag3.xml><?xml version="1.0" encoding="utf-8"?>
<p:tagLst xmlns:p="http://schemas.openxmlformats.org/presentationml/2006/main">
  <p:tag name="KSO_WM_DOC_GUID" val="{81dabb2a-5c89-48a6-b1ea-dad5b136c813}"/>
</p:tagLst>
</file>

<file path=ppt/theme/theme1.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主题">
      <a:majorFont>
        <a:latin typeface="Browallia New"/>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6503</Words>
  <Application>WPS 演示</Application>
  <PresentationFormat>全屏显示(16:9)</PresentationFormat>
  <Paragraphs>831</Paragraphs>
  <Slides>54</Slides>
  <Notes>60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54</vt:i4>
      </vt:variant>
    </vt:vector>
  </HeadingPairs>
  <TitlesOfParts>
    <vt:vector size="73" baseType="lpstr">
      <vt:lpstr>Arial</vt:lpstr>
      <vt:lpstr>宋体</vt:lpstr>
      <vt:lpstr>Wingdings</vt:lpstr>
      <vt:lpstr>黑体</vt:lpstr>
      <vt:lpstr>Calibri</vt:lpstr>
      <vt:lpstr>微软雅黑</vt:lpstr>
      <vt:lpstr>Browallia New</vt:lpstr>
      <vt:lpstr>Tahoma</vt:lpstr>
      <vt:lpstr>Times New Roman</vt:lpstr>
      <vt:lpstr>Wingdings</vt:lpstr>
      <vt:lpstr>方正兰亭粗黑_GBK</vt:lpstr>
      <vt:lpstr>Segoe Print</vt:lpstr>
      <vt:lpstr>楷体_GB2312</vt:lpstr>
      <vt:lpstr>Arial Unicode MS</vt:lpstr>
      <vt:lpstr>Arial Black</vt:lpstr>
      <vt:lpstr>Mangal</vt:lpstr>
      <vt:lpstr>Impact</vt:lpstr>
      <vt:lpstr>新宋体</vt:lpstr>
      <vt:lpstr>Office 主题</vt:lpstr>
      <vt:lpstr>第十二单元</vt:lpstr>
      <vt:lpstr>第一课时</vt:lpstr>
      <vt:lpstr>知识回顾</vt:lpstr>
      <vt:lpstr>贯穿案例</vt:lpstr>
      <vt:lpstr>知识目标</vt:lpstr>
      <vt:lpstr>为什么使用函数</vt:lpstr>
      <vt:lpstr>为什么使用函数</vt:lpstr>
      <vt:lpstr>为什么使用函数</vt:lpstr>
      <vt:lpstr>什么是函数</vt:lpstr>
      <vt:lpstr>什么是函数</vt:lpstr>
      <vt:lpstr>什么是函数</vt:lpstr>
      <vt:lpstr>如何使用函数</vt:lpstr>
      <vt:lpstr>函数四种基本表现形式</vt:lpstr>
      <vt:lpstr>函数的应用</vt:lpstr>
      <vt:lpstr>无参无返回值函数</vt:lpstr>
      <vt:lpstr>如何使用函数</vt:lpstr>
      <vt:lpstr>课堂案例</vt:lpstr>
      <vt:lpstr>课堂案例</vt:lpstr>
      <vt:lpstr>课堂案例二</vt:lpstr>
      <vt:lpstr>第一课时</vt:lpstr>
      <vt:lpstr>课堂案例三</vt:lpstr>
      <vt:lpstr>函数四种基本表现形式</vt:lpstr>
      <vt:lpstr>无参无返回值函数</vt:lpstr>
      <vt:lpstr>如何使用函数</vt:lpstr>
      <vt:lpstr>如何使用函数</vt:lpstr>
      <vt:lpstr>如何使用函数</vt:lpstr>
      <vt:lpstr>什么是实参、形参</vt:lpstr>
      <vt:lpstr>什么是实参、形参</vt:lpstr>
      <vt:lpstr>如何使用实参、形参</vt:lpstr>
      <vt:lpstr>课堂检测</vt:lpstr>
      <vt:lpstr>课堂检测</vt:lpstr>
      <vt:lpstr>课堂案例三</vt:lpstr>
      <vt:lpstr>课堂案例一</vt:lpstr>
      <vt:lpstr>第二课时</vt:lpstr>
      <vt:lpstr>课堂案例</vt:lpstr>
      <vt:lpstr>函数四种基本表现形式</vt:lpstr>
      <vt:lpstr>如何使用函数</vt:lpstr>
      <vt:lpstr>如何使用函数</vt:lpstr>
      <vt:lpstr>课堂案例</vt:lpstr>
      <vt:lpstr>如何使用函数</vt:lpstr>
      <vt:lpstr>如何使用函数</vt:lpstr>
      <vt:lpstr>第二课时</vt:lpstr>
      <vt:lpstr>函数四种基本表现形式</vt:lpstr>
      <vt:lpstr>如何使用函数</vt:lpstr>
      <vt:lpstr>课堂案例</vt:lpstr>
      <vt:lpstr>默认参数的应用</vt:lpstr>
      <vt:lpstr>默认参数的应用</vt:lpstr>
      <vt:lpstr>函数的作用</vt:lpstr>
      <vt:lpstr>单元总结</vt:lpstr>
      <vt:lpstr>课堂案例</vt:lpstr>
      <vt:lpstr>概念图</vt:lpstr>
      <vt:lpstr>课堂案例</vt:lpstr>
      <vt:lpstr>作业</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第1章内容回顾</dc:title>
  <dc:creator>xiaojing.dai</dc:creator>
  <cp:lastModifiedBy>姚慧</cp:lastModifiedBy>
  <cp:revision>3934</cp:revision>
  <dcterms:created xsi:type="dcterms:W3CDTF">2006-03-08T06:55:00Z</dcterms:created>
  <dcterms:modified xsi:type="dcterms:W3CDTF">2020-11-23T03:07:18Z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2052-11.3.0.9228</vt:lpwstr>
  </property>
</Properties>
</file>