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1140" r:id="rId2"/>
    <p:sldId id="2398" r:id="rId3"/>
    <p:sldId id="2820" r:id="rId4"/>
    <p:sldId id="2821" r:id="rId5"/>
    <p:sldId id="2822" r:id="rId6"/>
    <p:sldId id="2823" r:id="rId7"/>
    <p:sldId id="2824" r:id="rId8"/>
    <p:sldId id="2825" r:id="rId9"/>
    <p:sldId id="2826" r:id="rId10"/>
    <p:sldId id="2827" r:id="rId11"/>
    <p:sldId id="2828" r:id="rId12"/>
    <p:sldId id="2829" r:id="rId13"/>
    <p:sldId id="2830" r:id="rId14"/>
    <p:sldId id="2831" r:id="rId15"/>
    <p:sldId id="2832" r:id="rId16"/>
    <p:sldId id="2878" r:id="rId17"/>
    <p:sldId id="2399" r:id="rId18"/>
    <p:sldId id="2709" r:id="rId19"/>
    <p:sldId id="1597" r:id="rId20"/>
    <p:sldId id="1598" r:id="rId21"/>
    <p:sldId id="1599" r:id="rId22"/>
    <p:sldId id="1601" r:id="rId23"/>
    <p:sldId id="1603" r:id="rId24"/>
    <p:sldId id="2524" r:id="rId25"/>
    <p:sldId id="2400" r:id="rId26"/>
    <p:sldId id="2366" r:id="rId27"/>
    <p:sldId id="1604" r:id="rId28"/>
    <p:sldId id="1605" r:id="rId29"/>
    <p:sldId id="1607" r:id="rId30"/>
    <p:sldId id="2558" r:id="rId31"/>
    <p:sldId id="1606" r:id="rId32"/>
    <p:sldId id="2198" r:id="rId33"/>
    <p:sldId id="1611" r:id="rId34"/>
    <p:sldId id="1616" r:id="rId35"/>
    <p:sldId id="1612" r:id="rId36"/>
    <p:sldId id="1614" r:id="rId37"/>
    <p:sldId id="2197" r:id="rId38"/>
    <p:sldId id="1613" r:id="rId39"/>
    <p:sldId id="1609" r:id="rId40"/>
    <p:sldId id="1618" r:id="rId41"/>
    <p:sldId id="2525" r:id="rId42"/>
    <p:sldId id="2295" r:id="rId43"/>
    <p:sldId id="2879" r:id="rId44"/>
    <p:sldId id="1361" r:id="rId45"/>
    <p:sldId id="1249" r:id="rId46"/>
    <p:sldId id="2925" r:id="rId47"/>
    <p:sldId id="2880" r:id="rId48"/>
    <p:sldId id="1623" r:id="rId49"/>
    <p:sldId id="1267" r:id="rId50"/>
  </p:sldIdLst>
  <p:sldSz cx="9144000" cy="5143500" type="screen16x9"/>
  <p:notesSz cx="6858000" cy="9144000"/>
  <p:custDataLst>
    <p:tags r:id="rId53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黑体" panose="0201060906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9">
          <p15:clr>
            <a:srgbClr val="A4A3A4"/>
          </p15:clr>
        </p15:guide>
        <p15:guide id="2" orient="horz" pos="2185">
          <p15:clr>
            <a:srgbClr val="A4A3A4"/>
          </p15:clr>
        </p15:guide>
        <p15:guide id="3" pos="292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7">
          <p15:clr>
            <a:srgbClr val="A4A3A4"/>
          </p15:clr>
        </p15:guide>
        <p15:guide id="2" pos="2239">
          <p15:clr>
            <a:srgbClr val="A4A3A4"/>
          </p15:clr>
        </p15:guide>
      </p15:notesGuideLst>
    </p:ext>
    <p:ext uri="{505F2C04-C923-438B-8C0F-E0CD2BADF298}">
      <wppc:fontMiss xmlns:wppc="http://www.wps.cn/officeDocument/PresentationCustomData" xmlns="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0F04"/>
    <a:srgbClr val="0070C0"/>
    <a:srgbClr val="3F95D2"/>
    <a:srgbClr val="FB3223"/>
    <a:srgbClr val="F9F9F9"/>
    <a:srgbClr val="404A1A"/>
    <a:srgbClr val="00CC99"/>
    <a:srgbClr val="EDF5FD"/>
    <a:srgbClr val="E2F5FE"/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08" autoAdjust="0"/>
    <p:restoredTop sz="86292" autoAdjust="0"/>
  </p:normalViewPr>
  <p:slideViewPr>
    <p:cSldViewPr>
      <p:cViewPr varScale="1">
        <p:scale>
          <a:sx n="107" d="100"/>
          <a:sy n="107" d="100"/>
        </p:scale>
        <p:origin x="84" y="222"/>
      </p:cViewPr>
      <p:guideLst>
        <p:guide orient="horz" pos="1799"/>
        <p:guide orient="horz" pos="2185"/>
        <p:guide pos="292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78"/>
      </p:cViewPr>
      <p:guideLst>
        <p:guide orient="horz" pos="3007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DB3C531B-D83C-493A-84AD-316F78881EC3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9190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fld id="{CB801823-96DB-4EC2-991A-2DEE593AD1DA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26017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切片</a:t>
            </a:r>
            <a:r>
              <a:rPr lang="en-US" altLang="zh-CN" dirty="0"/>
              <a:t>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5110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0933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7706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556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3532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778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620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t>9</a:t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9886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01373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US" dirty="0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t>11</a:t>
            </a:fld>
            <a:endParaRPr lang="zh-CN" altLang="en-US" sz="12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2910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方法是用来模拟类所具有的能力，动作或者行为，一般为名词。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13998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方法是用来模拟类所具有的能力，动作或者行为，一般为名词。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000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方法是用来模拟类所具有的能力，动作或者行为，一般为名词。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482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6815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090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8471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讲师：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7427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099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当运行</a:t>
            </a:r>
            <a:r>
              <a:rPr lang="en-US" altLang="zh-CN" dirty="0"/>
              <a:t>say()</a:t>
            </a:r>
            <a:r>
              <a:rPr lang="zh-CN" altLang="en-US" dirty="0"/>
              <a:t>会出现错误么？不会的，因为我们给参数设置了默认值，当我们没有赋值的时候就会使用默认值。</a:t>
            </a:r>
          </a:p>
          <a:p>
            <a:pPr algn="l"/>
            <a:r>
              <a:rPr lang="zh-CN" altLang="en-US" dirty="0"/>
              <a:t>如果运行</a:t>
            </a:r>
            <a:r>
              <a:rPr lang="en-US" altLang="zh-CN" dirty="0">
                <a:sym typeface="+mn-ea"/>
              </a:rPr>
              <a:t>say("张三", 5)</a:t>
            </a:r>
            <a:r>
              <a:rPr lang="zh-CN" altLang="en-US" dirty="0">
                <a:sym typeface="+mn-ea"/>
              </a:rPr>
              <a:t>，则会运行我们传递的数据。</a:t>
            </a:r>
            <a:endParaRPr lang="en-US" altLang="zh-CN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5848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  <a:sym typeface="+mn-ea"/>
              </a:rPr>
              <a:t>位置参数和默认参数可以混合使用，一定要注意位置参数在前，默认参数在所有位置参数后面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9907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rgbClr val="09131F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09131F"/>
                </a:solidFill>
                <a:sym typeface="+mn-ea"/>
              </a:rPr>
              <a:t>、有返回值函数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定义函数时可以返回非None的函数，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使用的时候需要接受函数的返回值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无返回值函数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定义函数时不写return或只写一个return语句的函数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使用的时候不需要赋值操作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、</a:t>
            </a:r>
          </a:p>
          <a:p>
            <a:pPr algn="l"/>
            <a:r>
              <a:rPr lang="zh-CN" altLang="en-US" dirty="0">
                <a:sym typeface="+mn-ea"/>
              </a:rPr>
              <a:t>在定义时，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位置参数必须在所有默认参数前定义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默认参数必须在所有位置参数后定义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在调用时，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位置参数必须有赋值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默认参数可以不用赋值，有默认值</a:t>
            </a:r>
          </a:p>
          <a:p>
            <a:pPr algn="l"/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、</a:t>
            </a:r>
          </a:p>
          <a:p>
            <a:pPr algn="l"/>
            <a:r>
              <a:rPr lang="zh-CN" altLang="en-US" dirty="0">
                <a:sym typeface="+mn-ea"/>
              </a:rPr>
              <a:t>参数外延： 位置参数，默认参数，非关键字可变长参数，关键字可变长参数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440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rgbClr val="09131F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09131F"/>
                </a:solidFill>
                <a:sym typeface="+mn-ea"/>
              </a:rPr>
              <a:t>、有返回值函数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定义函数时可以返回非None的函数，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使用的时候需要接受函数的返回值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无返回值函数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定义函数时不写return或只写一个return语句的函数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使用的时候不需要赋值操作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、</a:t>
            </a:r>
          </a:p>
          <a:p>
            <a:pPr algn="l"/>
            <a:r>
              <a:rPr lang="zh-CN" altLang="en-US" dirty="0">
                <a:sym typeface="+mn-ea"/>
              </a:rPr>
              <a:t>在定义时，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位置参数必须在所有默认参数前定义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默认参数必须在所有位置参数后定义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在调用时，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位置参数必须有赋值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默认参数可以不用赋值，有默认值</a:t>
            </a:r>
          </a:p>
          <a:p>
            <a:pPr algn="l"/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、</a:t>
            </a:r>
          </a:p>
          <a:p>
            <a:pPr algn="l"/>
            <a:r>
              <a:rPr lang="zh-CN" altLang="en-US" dirty="0">
                <a:sym typeface="+mn-ea"/>
              </a:rPr>
              <a:t>参数外延： 位置参数，默认参数，非关键字可变长参数，关键字可变长参数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899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003524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>
                <a:solidFill>
                  <a:srgbClr val="09131F"/>
                </a:solidFill>
                <a:sym typeface="+mn-ea"/>
              </a:rPr>
              <a:t>1</a:t>
            </a:r>
            <a:r>
              <a:rPr lang="zh-CN" altLang="en-US" dirty="0">
                <a:solidFill>
                  <a:srgbClr val="09131F"/>
                </a:solidFill>
                <a:sym typeface="+mn-ea"/>
              </a:rPr>
              <a:t>、有返回值函数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定义函数时可以返回非None的函数，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使用的时候需要接受函数的返回值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无返回值函数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定义函数时不写return或只写一个return语句的函数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zh-CN" altLang="en-US" dirty="0">
                <a:solidFill>
                  <a:srgbClr val="09131F"/>
                </a:solidFill>
                <a:sym typeface="+mn-ea"/>
              </a:rPr>
              <a:t>     使用的时候不需要赋值操作</a:t>
            </a:r>
            <a:endParaRPr lang="zh-CN" altLang="en-US" dirty="0">
              <a:solidFill>
                <a:srgbClr val="09131F"/>
              </a:solidFill>
            </a:endParaRPr>
          </a:p>
          <a:p>
            <a:pPr algn="l"/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、</a:t>
            </a:r>
          </a:p>
          <a:p>
            <a:pPr algn="l"/>
            <a:r>
              <a:rPr lang="zh-CN" altLang="en-US" dirty="0">
                <a:sym typeface="+mn-ea"/>
              </a:rPr>
              <a:t>在定义时，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位置参数必须在所有默认参数前定义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默认参数必须在所有位置参数后定义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在调用时，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位置参数必须有赋值</a:t>
            </a:r>
            <a:endParaRPr lang="zh-CN" altLang="en-US" dirty="0"/>
          </a:p>
          <a:p>
            <a:pPr algn="l"/>
            <a:r>
              <a:rPr lang="zh-CN" altLang="en-US" dirty="0">
                <a:sym typeface="+mn-ea"/>
              </a:rPr>
              <a:t>        默认参数可以不用赋值，有默认值</a:t>
            </a:r>
          </a:p>
          <a:p>
            <a:pPr algn="l"/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、</a:t>
            </a:r>
          </a:p>
          <a:p>
            <a:pPr algn="l"/>
            <a:r>
              <a:rPr lang="zh-CN" altLang="en-US" dirty="0">
                <a:sym typeface="+mn-ea"/>
              </a:rPr>
              <a:t>参数外延： 位置参数，默认参数，非关键字可变长参数，关键字可变长参数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129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输出五个数中最大的值怎么办？，为了接受不定数个单一参数，我们引入一个参数叫非关键字可变长参数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017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18550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90954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2163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4295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  <a:endParaRPr lang="zh-CN" altLang="zh-CN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讲师：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如果参数还有城市， 国家等等，参数不固定，能否像非关键字可变长参数一样呢，</a:t>
            </a:r>
          </a:p>
          <a:p>
            <a:r>
              <a:rPr lang="zh-CN" altLang="zh-CN" sz="12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讲师：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这就是关键字可变长参数，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72618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4341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3581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13038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10386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1893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904090E-D64E-40C3-B961-86ECD9067041}" type="slidenum">
              <a:rPr lang="zh-CN" altLang="en-US" smtClean="0"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5586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71929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29486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44430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2376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515447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讲师：说到函数，本单元主要通过分类来讲解不同的函数。</a:t>
            </a:r>
          </a:p>
          <a:p>
            <a:r>
              <a:rPr lang="zh-CN" altLang="en-US"/>
              <a:t>讲师：函数按照返回值分有返回值函数，无返回值函数，</a:t>
            </a:r>
          </a:p>
          <a:p>
            <a:r>
              <a:rPr lang="zh-CN" altLang="en-US"/>
              <a:t>按照有无参数分为有返回值函数，无返回值函数</a:t>
            </a:r>
          </a:p>
          <a:p>
            <a:r>
              <a:rPr lang="zh-CN" altLang="en-US"/>
              <a:t>按定义划分，内置函数，自定义函数，</a:t>
            </a:r>
          </a:p>
          <a:p>
            <a:r>
              <a:rPr lang="zh-CN" altLang="en-US"/>
              <a:t>而有参函数也可分单参函数，多参函数。</a:t>
            </a:r>
          </a:p>
          <a:p>
            <a:r>
              <a:rPr lang="zh-CN" altLang="en-US"/>
              <a:t>讲师：同时在有参函数中我们解除了参数的分类，在函数定时时的形参，在使用函数时候的实参，而形参又分很多种，主要包括位置参数，默认参数，非关键字可变长参数，关键字可变长参数</a:t>
            </a:r>
          </a:p>
          <a:p>
            <a:r>
              <a:rPr lang="zh-CN" altLang="en-US"/>
              <a:t>讲师：在定义划分时候我们涉及到内置函数，自定义函数，其中内置函数我们都使用过，像print()我们直接使用，没有定义过，而自定义函数在今后的几天我们会慢慢接触下面几个比较特殊，比较常用的函数，匿名函数，闭包函数递归函数，装饰器函数，生成器函数。</a:t>
            </a:r>
          </a:p>
        </p:txBody>
      </p:sp>
    </p:spTree>
    <p:extLst>
      <p:ext uri="{BB962C8B-B14F-4D97-AF65-F5344CB8AC3E}">
        <p14:creationId xmlns:p14="http://schemas.microsoft.com/office/powerpoint/2010/main" val="201538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57688" y="214297"/>
            <a:ext cx="4606927" cy="392415"/>
          </a:xfrm>
          <a:solidFill>
            <a:schemeClr val="bg1"/>
          </a:solidFill>
        </p:spPr>
        <p:txBody>
          <a:bodyPr>
            <a:spAutoFit/>
          </a:bodyPr>
          <a:lstStyle>
            <a:lvl1pPr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254" y="910817"/>
            <a:ext cx="7645398" cy="3857652"/>
          </a:xfrm>
        </p:spPr>
        <p:txBody>
          <a:bodyPr/>
          <a:lstStyle>
            <a:lvl1pPr>
              <a:buSzPct val="100000"/>
              <a:buFont typeface="Wingdings" panose="05000000000000000000" pitchFamily="2" charset="2"/>
              <a:buChar char="n"/>
              <a:defRPr b="1">
                <a:latin typeface="+mn-lt"/>
              </a:defRPr>
            </a:lvl1pPr>
            <a:lvl2pPr>
              <a:buSzPct val="100000"/>
              <a:buFont typeface="Wingdings" panose="05000000000000000000" pitchFamily="2" charset="2"/>
              <a:buChar char="u"/>
              <a:defRPr b="1">
                <a:latin typeface="+mn-lt"/>
              </a:defRPr>
            </a:lvl2pPr>
            <a:lvl3pPr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b="1">
                <a:latin typeface="+mn-lt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6938963" y="4816080"/>
            <a:ext cx="2133600" cy="273844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35F12-52FC-45A8-B539-88DCF394FD7F}" type="slidenum">
              <a:rPr lang="zh-CN" altLang="en-US" smtClean="0"/>
              <a:t>‹#›</a:t>
            </a:fld>
            <a:r>
              <a:rPr lang="en-US" altLang="zh-CN" dirty="0"/>
              <a:t>/48</a:t>
            </a:r>
            <a:endParaRPr lang="zh-CN" alt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8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1671638" y="951313"/>
            <a:ext cx="0" cy="419219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71550"/>
            <a:ext cx="8640960" cy="374441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5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</a:p>
        </p:txBody>
      </p:sp>
      <p:sp>
        <p:nvSpPr>
          <p:cNvPr id="5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4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5213" y="1059657"/>
            <a:ext cx="4038600" cy="33944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12/22/2020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4213" y="195263"/>
            <a:ext cx="8229600" cy="5941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4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5213" y="1059656"/>
            <a:ext cx="4038600" cy="163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4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75213" y="2813448"/>
            <a:ext cx="4038600" cy="16406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 bwMode="auto">
          <a:xfrm>
            <a:off x="755650" y="4786313"/>
            <a:ext cx="2133600" cy="1619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/>
          <a:p>
            <a:pPr algn="r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5"/>
          </p:nvPr>
        </p:nvSpPr>
        <p:spPr>
          <a:xfrm>
            <a:off x="457200" y="4767263"/>
            <a:ext cx="2133600" cy="274638"/>
          </a:xfrm>
        </p:spPr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B241C3-5186-4186-B816-417DFF777CEE}" type="datetime1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12/22/2020</a:t>
            </a:fld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6"/>
          </p:nvPr>
        </p:nvSpPr>
        <p:spPr>
          <a:xfrm>
            <a:off x="3124200" y="4767263"/>
            <a:ext cx="2895600" cy="274638"/>
          </a:xfr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683568" y="2391033"/>
            <a:ext cx="7776864" cy="59406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8" y="3056791"/>
            <a:ext cx="9155113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/>
        </p:nvSpPr>
        <p:spPr bwMode="auto">
          <a:xfrm>
            <a:off x="2442815" y="3962401"/>
            <a:ext cx="4289425" cy="359569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知识很简单  学习很快乐</a:t>
            </a:r>
            <a:endParaRPr lang="zh-CN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203598"/>
            <a:ext cx="8352928" cy="3137572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467544" y="771550"/>
            <a:ext cx="7488832" cy="36004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000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352928" cy="3600400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1800" b="1">
                <a:latin typeface="+mn-lt"/>
                <a:ea typeface="+mn-ea"/>
              </a:defRPr>
            </a:lvl4pPr>
            <a:lvl5pPr>
              <a:defRPr sz="1600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5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DC92ECF9-1C64-45C7-A351-5C2B04CB53AB}" type="datetimeFigureOut">
              <a:rPr lang="zh-CN" altLang="en-US" smtClean="0"/>
              <a:t>2020/12/22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lIns="65306" tIns="32653" rIns="65306" bIns="32653"/>
          <a:lstStyle/>
          <a:p>
            <a:fld id="{EE00B7EE-1E89-4FFA-B365-5BB8C64452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000" b="0" dirty="0">
                <a:solidFill>
                  <a:srgbClr val="0070C0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17"/>
          <p:cNvSpPr>
            <a:spLocks noChangeArrowheads="1"/>
          </p:cNvSpPr>
          <p:nvPr userDrawn="1"/>
        </p:nvSpPr>
        <p:spPr bwMode="auto">
          <a:xfrm>
            <a:off x="0" y="771550"/>
            <a:ext cx="16176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8623697" y="4693446"/>
            <a:ext cx="522684" cy="330994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3" y="573529"/>
            <a:ext cx="9146381" cy="41126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8792769" y="4731544"/>
            <a:ext cx="4716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41CE8-2465-49E5-8469-C528E9CDFDF7}" type="slidenum"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‹#›</a:t>
            </a:fld>
            <a:r>
              <a:rPr lang="zh-CN" altLang="en-US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</a:t>
            </a:r>
            <a:endParaRPr lang="zh-CN" altLang="en-US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0" name="直接连接符 2"/>
          <p:cNvSpPr>
            <a:spLocks noChangeShapeType="1"/>
          </p:cNvSpPr>
          <p:nvPr userDrawn="1"/>
        </p:nvSpPr>
        <p:spPr bwMode="auto">
          <a:xfrm flipH="1">
            <a:off x="2121864" y="3"/>
            <a:ext cx="1864" cy="536711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3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0113"/>
            <a:ext cx="2123728" cy="406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/>
  </p:transition>
  <p:txStyles>
    <p:titleStyle>
      <a:lvl1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Browallia New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charset="0"/>
          <a:ea typeface="微软雅黑" panose="020B0503020204020204" pitchFamily="34" charset="-122"/>
          <a:sym typeface="Browallia New" charset="0"/>
        </a:defRPr>
      </a:lvl9pPr>
    </p:titleStyle>
    <p:bodyStyle>
      <a:lvl1pPr marL="227330" indent="-22733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45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17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5989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6130" indent="-22733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wmf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754817" y="1253209"/>
            <a:ext cx="7772400" cy="1102519"/>
          </a:xfrm>
        </p:spPr>
        <p:txBody>
          <a:bodyPr/>
          <a:lstStyle/>
          <a:p>
            <a:r>
              <a:rPr lang="zh-CN" altLang="en-US"/>
              <a:t>第十四单元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函数（二）</a:t>
            </a: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/>
              <a:t>局部变量和全局变量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"/>
    </mc:Choice>
    <mc:Fallback xmlns="">
      <p:transition spd="slow" advTm="9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9332"/>
          </a:xfrm>
        </p:spPr>
        <p:txBody>
          <a:bodyPr/>
          <a:lstStyle/>
          <a:p>
            <a:r>
              <a:rPr lang="zh-CN" altLang="en-US" dirty="0"/>
              <a:t>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203598"/>
            <a:ext cx="8640960" cy="3312368"/>
          </a:xfrm>
        </p:spPr>
        <p:txBody>
          <a:bodyPr/>
          <a:lstStyle/>
          <a:p>
            <a:r>
              <a:rPr lang="zh-CN" altLang="en-US" dirty="0"/>
              <a:t>什么是函数？</a:t>
            </a:r>
            <a:endParaRPr lang="en-US" altLang="zh-CN" dirty="0"/>
          </a:p>
          <a:p>
            <a:r>
              <a:rPr lang="zh-CN" altLang="en-US" dirty="0"/>
              <a:t>如何创建一个函数？</a:t>
            </a:r>
            <a:endParaRPr lang="en-US" altLang="zh-CN" dirty="0"/>
          </a:p>
          <a:p>
            <a:r>
              <a:rPr lang="zh-CN" altLang="en-US" dirty="0"/>
              <a:t>函数如何调用？</a:t>
            </a:r>
            <a:endParaRPr lang="en-US" altLang="zh-CN" dirty="0"/>
          </a:p>
          <a:p>
            <a:r>
              <a:rPr lang="zh-CN" altLang="en-US" dirty="0"/>
              <a:t>函数返回值的关键字是什么？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77155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</a:p>
        </p:txBody>
      </p:sp>
      <p:pic>
        <p:nvPicPr>
          <p:cNvPr id="10" name="图片 9" descr="现场提问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贯穿案例</a:t>
            </a:r>
          </a:p>
        </p:txBody>
      </p:sp>
      <p:pic>
        <p:nvPicPr>
          <p:cNvPr id="2" name="图片 1" descr="YD8W4{@5TW%3Y185X@YDC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330" y="1192530"/>
            <a:ext cx="3748405" cy="3432810"/>
          </a:xfrm>
          <a:prstGeom prst="rect">
            <a:avLst/>
          </a:prstGeom>
        </p:spPr>
      </p:pic>
      <p:pic>
        <p:nvPicPr>
          <p:cNvPr id="3" name="图片 2" descr="J7G{C5L7P[3BN2L716J%$S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850" y="1036955"/>
            <a:ext cx="3301365" cy="3588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知识目标</a:t>
            </a:r>
          </a:p>
        </p:txBody>
      </p:sp>
      <p:pic>
        <p:nvPicPr>
          <p:cNvPr id="2" name="图片 1" descr="VPG`AGG(_%{1[XLH@LN96U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90955" y="376555"/>
            <a:ext cx="6791960" cy="4766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为什么学习全局变量和局部变量</a:t>
            </a:r>
          </a:p>
        </p:txBody>
      </p:sp>
      <p:sp>
        <p:nvSpPr>
          <p:cNvPr id="90" name="矩形 13"/>
          <p:cNvSpPr>
            <a:spLocks noChangeArrowheads="1"/>
          </p:cNvSpPr>
          <p:nvPr/>
        </p:nvSpPr>
        <p:spPr bwMode="auto">
          <a:xfrm>
            <a:off x="4681220" y="1457325"/>
            <a:ext cx="3095625" cy="6750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两个</a:t>
            </a: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都是变量</a:t>
            </a:r>
          </a:p>
        </p:txBody>
      </p:sp>
      <p:pic>
        <p:nvPicPr>
          <p:cNvPr id="10" name="图片 9" descr="2U~ETSR_5Q9Q[2P~(VUOWN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15" y="1704975"/>
            <a:ext cx="3712210" cy="1428750"/>
          </a:xfrm>
          <a:prstGeom prst="rect">
            <a:avLst/>
          </a:prstGeom>
        </p:spPr>
      </p:pic>
      <p:sp>
        <p:nvSpPr>
          <p:cNvPr id="11" name="矩形 13"/>
          <p:cNvSpPr>
            <a:spLocks noChangeArrowheads="1"/>
          </p:cNvSpPr>
          <p:nvPr/>
        </p:nvSpPr>
        <p:spPr bwMode="auto">
          <a:xfrm>
            <a:off x="4681220" y="2833370"/>
            <a:ext cx="3095625" cy="67500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两个</a:t>
            </a:r>
            <a:r>
              <a:rPr lang="en-US" altLang="zh-CN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a</a:t>
            </a:r>
            <a:r>
              <a:rPr lang="zh-CN" altLang="en-US" sz="18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位置不同</a:t>
            </a:r>
          </a:p>
        </p:txBody>
      </p:sp>
      <p:sp>
        <p:nvSpPr>
          <p:cNvPr id="12" name="矩形 13"/>
          <p:cNvSpPr>
            <a:spLocks noChangeArrowheads="1"/>
          </p:cNvSpPr>
          <p:nvPr/>
        </p:nvSpPr>
        <p:spPr bwMode="auto">
          <a:xfrm>
            <a:off x="1717040" y="4065270"/>
            <a:ext cx="5504815" cy="675005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effectLst>
            <a:glow rad="127000">
              <a:srgbClr val="92D050"/>
            </a:glow>
            <a:outerShdw blurRad="50800" dist="50800" dir="5400000" algn="ctr" rotWithShape="0">
              <a:srgbClr val="A5A9AE">
                <a:alpha val="100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395E8A"/>
                </a:solidFill>
                <a:bevel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结构决定功能，接下来学习变量的分类和作用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ldLvl="0" animBg="1"/>
      <p:bldP spid="11" grpId="0" bldLvl="0" animBg="1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为什么学习全局变量和局部变量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91235"/>
            <a:ext cx="8640960" cy="3744416"/>
          </a:xfrm>
        </p:spPr>
        <p:txBody>
          <a:bodyPr/>
          <a:lstStyle/>
          <a:p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7" name="图片 6" descr="${9[65[`2J7ON}}3FJCM`B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25" y="1064260"/>
            <a:ext cx="5898515" cy="3198495"/>
          </a:xfrm>
          <a:prstGeom prst="rect">
            <a:avLst/>
          </a:prstGeom>
        </p:spPr>
      </p:pic>
      <p:pic>
        <p:nvPicPr>
          <p:cNvPr id="8" name="图片 7" descr="U9`SO0LZ1MQ8JAWJT_I}NJ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70" y="3601085"/>
            <a:ext cx="3651250" cy="1122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为什么学习全局变量和局部变量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6" name="图片 5" descr="`@1L20K(UW)16G2({MY4}K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" y="890270"/>
            <a:ext cx="6032500" cy="3625850"/>
          </a:xfrm>
          <a:prstGeom prst="rect">
            <a:avLst/>
          </a:prstGeom>
        </p:spPr>
      </p:pic>
      <p:pic>
        <p:nvPicPr>
          <p:cNvPr id="7" name="图片 6" descr="5()A~GDO5VY0}0ZV_R37`@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695" y="3773170"/>
            <a:ext cx="3411855" cy="1137920"/>
          </a:xfrm>
          <a:prstGeom prst="rect">
            <a:avLst/>
          </a:prstGeom>
        </p:spPr>
      </p:pic>
      <p:pic>
        <p:nvPicPr>
          <p:cNvPr id="4" name="图片 3" descr="RATZ0HQ$S)BLDI}S]FXK}$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6620" y="1113155"/>
            <a:ext cx="2988310" cy="1073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ym typeface="Browallia New" charset="0"/>
              </a:rPr>
              <a:t>什么是全局变量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02005" y="1878965"/>
            <a:ext cx="81629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solidFill>
                  <a:srgbClr val="FF0000"/>
                </a:solidFill>
              </a:rPr>
              <a:t>global</a:t>
            </a:r>
            <a:r>
              <a:rPr lang="zh-CN" altLang="en-US" sz="2400"/>
              <a:t>	英[ˈɡləʊbl]     美[ˈɡloʊbl]</a:t>
            </a:r>
          </a:p>
          <a:p>
            <a:pPr algn="l"/>
            <a:endParaRPr lang="zh-CN" altLang="en-US" sz="2400"/>
          </a:p>
          <a:p>
            <a:pPr algn="l"/>
            <a:r>
              <a:rPr lang="zh-CN" altLang="en-US" sz="2400"/>
              <a:t>adj.	全球的; 全世界的; 整体的; 全面的; 总括的;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ym typeface="Browallia New" charset="0"/>
              </a:rPr>
              <a:t>什么是全局变量</a:t>
            </a:r>
          </a:p>
        </p:txBody>
      </p:sp>
      <p:sp>
        <p:nvSpPr>
          <p:cNvPr id="2" name="椭圆 1"/>
          <p:cNvSpPr/>
          <p:nvPr/>
        </p:nvSpPr>
        <p:spPr>
          <a:xfrm>
            <a:off x="1014730" y="1968183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全局变量</a:t>
            </a:r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585153" y="149225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1827530" y="149225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</a:p>
        </p:txBody>
      </p:sp>
      <p:sp>
        <p:nvSpPr>
          <p:cNvPr id="3" name="椭圆 2"/>
          <p:cNvSpPr/>
          <p:nvPr/>
        </p:nvSpPr>
        <p:spPr>
          <a:xfrm>
            <a:off x="2348548" y="196850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变量</a:t>
            </a:r>
          </a:p>
        </p:txBody>
      </p:sp>
      <p:sp>
        <p:nvSpPr>
          <p:cNvPr id="14" name="Text Box 12"/>
          <p:cNvSpPr txBox="1"/>
          <p:nvPr/>
        </p:nvSpPr>
        <p:spPr>
          <a:xfrm>
            <a:off x="534670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833620" y="1968500"/>
            <a:ext cx="425386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827530" y="3464885"/>
            <a:ext cx="39827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定义</a:t>
            </a:r>
            <a:r>
              <a:rPr lang="en-US" altLang="zh-CN" b="1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: </a:t>
            </a: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全局变量是所有函数外的变量。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Calibri" panose="020F0502020204030204" pitchFamily="34" charset="0"/>
            </a:endParaRPr>
          </a:p>
          <a:p>
            <a:pPr algn="l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69585" y="2245360"/>
            <a:ext cx="13258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dirty="0">
                <a:latin typeface="+mj-ea"/>
                <a:ea typeface="+mj-ea"/>
                <a:sym typeface="+mn-ea"/>
              </a:rPr>
              <a:t>所有函数外</a:t>
            </a:r>
            <a:endParaRPr lang="zh-CN" altLang="en-US">
              <a:latin typeface="+mj-ea"/>
              <a:ea typeface="+mj-ea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675063" y="1997075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局部变量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323590" y="152146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10" grpId="0"/>
      <p:bldP spid="8" grpId="0"/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标题 1"/>
          <p:cNvSpPr>
            <a:spLocks noGrp="1"/>
          </p:cNvSpPr>
          <p:nvPr>
            <p:ph type="title"/>
          </p:nvPr>
        </p:nvSpPr>
        <p:spPr>
          <a:xfrm>
            <a:off x="2195513" y="141288"/>
            <a:ext cx="6769100" cy="368300"/>
          </a:xfrm>
          <a:ln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dirty="0">
                <a:sym typeface="Browallia New" charset="0"/>
              </a:rPr>
              <a:t>什么是局部变量</a:t>
            </a:r>
          </a:p>
        </p:txBody>
      </p:sp>
      <p:sp>
        <p:nvSpPr>
          <p:cNvPr id="2" name="椭圆 1"/>
          <p:cNvSpPr/>
          <p:nvPr/>
        </p:nvSpPr>
        <p:spPr>
          <a:xfrm>
            <a:off x="935990" y="1929448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局部变量</a:t>
            </a:r>
            <a:endParaRPr lang="en-US" altLang="zh-CN" sz="2000" b="1" strike="noStrike" noProof="1">
              <a:solidFill>
                <a:schemeClr val="accent1"/>
              </a:solidFill>
            </a:endParaRPr>
          </a:p>
          <a:p>
            <a:pPr algn="ctr" fontAlgn="base"/>
            <a:endParaRPr lang="en-US" altLang="zh-CN" sz="2000" b="1" strike="noStrike" noProof="1">
              <a:solidFill>
                <a:schemeClr val="accent1"/>
              </a:solidFill>
            </a:endParaRPr>
          </a:p>
        </p:txBody>
      </p:sp>
      <p:sp>
        <p:nvSpPr>
          <p:cNvPr id="16" name="Text Box 14"/>
          <p:cNvSpPr txBox="1"/>
          <p:nvPr/>
        </p:nvSpPr>
        <p:spPr>
          <a:xfrm>
            <a:off x="506413" y="1521460"/>
            <a:ext cx="18573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被定义项</a:t>
            </a:r>
          </a:p>
        </p:txBody>
      </p:sp>
      <p:sp>
        <p:nvSpPr>
          <p:cNvPr id="11" name="Text Box 8"/>
          <p:cNvSpPr txBox="1"/>
          <p:nvPr/>
        </p:nvSpPr>
        <p:spPr>
          <a:xfrm>
            <a:off x="1734185" y="152146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临近的属</a:t>
            </a:r>
          </a:p>
        </p:txBody>
      </p:sp>
      <p:sp>
        <p:nvSpPr>
          <p:cNvPr id="3" name="椭圆 2"/>
          <p:cNvSpPr/>
          <p:nvPr/>
        </p:nvSpPr>
        <p:spPr>
          <a:xfrm>
            <a:off x="2255203" y="1968500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变量</a:t>
            </a:r>
          </a:p>
        </p:txBody>
      </p:sp>
      <p:sp>
        <p:nvSpPr>
          <p:cNvPr id="14" name="Text Box 12"/>
          <p:cNvSpPr txBox="1"/>
          <p:nvPr/>
        </p:nvSpPr>
        <p:spPr>
          <a:xfrm>
            <a:off x="5346700" y="1492250"/>
            <a:ext cx="177165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种差（内涵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833620" y="1968500"/>
            <a:ext cx="4253865" cy="977900"/>
            <a:chOff x="4304043" y="1286668"/>
            <a:chExt cx="3837944" cy="2757793"/>
          </a:xfrm>
          <a:effectLst>
            <a:outerShdw blurRad="381000" dist="2540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4304043" y="1286668"/>
              <a:ext cx="3837944" cy="2757793"/>
            </a:xfrm>
            <a:prstGeom prst="roundRect">
              <a:avLst/>
            </a:prstGeom>
            <a:gradFill>
              <a:gsLst>
                <a:gs pos="62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351931" y="1367703"/>
              <a:ext cx="3742172" cy="2595722"/>
            </a:xfrm>
            <a:prstGeom prst="roundRect">
              <a:avLst/>
            </a:prstGeom>
            <a:gradFill>
              <a:gsLst>
                <a:gs pos="42000">
                  <a:srgbClr val="F0F0F0"/>
                </a:gs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98270" y="3347410"/>
            <a:ext cx="55829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定义</a:t>
            </a:r>
            <a:r>
              <a:rPr lang="en-US" altLang="zh-CN" b="1" noProof="1">
                <a:latin typeface="Arial" panose="020B0604020202020204" pitchFamily="34" charset="0"/>
                <a:ea typeface="黑体" panose="02010609060101010101" pitchFamily="2" charset="-122"/>
                <a:cs typeface="+mn-cs"/>
              </a:rPr>
              <a:t>: </a:t>
            </a:r>
            <a:r>
              <a:rPr lang="zh-CN" altLang="en-US" noProof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局部变量是在程序特定过程中或函数内的变量。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Calibri" panose="020F0502020204030204" pitchFamily="34" charset="0"/>
            </a:endParaRPr>
          </a:p>
          <a:p>
            <a:pPr algn="l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8" name="AutoShape 7"/>
          <p:cNvSpPr/>
          <p:nvPr/>
        </p:nvSpPr>
        <p:spPr>
          <a:xfrm flipH="1">
            <a:off x="775018" y="3171190"/>
            <a:ext cx="215900" cy="576263"/>
          </a:xfrm>
          <a:prstGeom prst="downArrow">
            <a:avLst>
              <a:gd name="adj1" fmla="val 50000"/>
              <a:gd name="adj2" fmla="val 6646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ctr"/>
          <a:lstStyle/>
          <a:p>
            <a:pPr algn="ctr"/>
            <a:endParaRPr lang="zh-CN" altLang="en-US"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9" name="Text Box 8"/>
          <p:cNvSpPr txBox="1"/>
          <p:nvPr/>
        </p:nvSpPr>
        <p:spPr>
          <a:xfrm>
            <a:off x="154060" y="374794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外延</a:t>
            </a:r>
          </a:p>
        </p:txBody>
      </p:sp>
      <p:grpSp>
        <p:nvGrpSpPr>
          <p:cNvPr id="36" name="组合 35"/>
          <p:cNvGrpSpPr/>
          <p:nvPr/>
        </p:nvGrpSpPr>
        <p:grpSpPr>
          <a:xfrm>
            <a:off x="3650114" y="4201583"/>
            <a:ext cx="2477832" cy="485919"/>
            <a:chOff x="897128" y="1459399"/>
            <a:chExt cx="1868348" cy="276935"/>
          </a:xfrm>
          <a:solidFill>
            <a:schemeClr val="accent1"/>
          </a:solidFill>
        </p:grpSpPr>
        <p:sp>
          <p:nvSpPr>
            <p:cNvPr id="37" name="AutoShape 7"/>
            <p:cNvSpPr>
              <a:spLocks noChangeArrowheads="1"/>
            </p:cNvSpPr>
            <p:nvPr/>
          </p:nvSpPr>
          <p:spPr bwMode="auto">
            <a:xfrm>
              <a:off x="897128" y="1459399"/>
              <a:ext cx="1868348" cy="276935"/>
            </a:xfrm>
            <a:prstGeom prst="homePlate">
              <a:avLst>
                <a:gd name="adj" fmla="val 11944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>
              <a:spAutoFit/>
            </a:bodyPr>
            <a:lstStyle/>
            <a:p>
              <a:pPr fontAlgn="base">
                <a:defRPr/>
              </a:pPr>
              <a:endParaRPr lang="zh-CN" altLang="en-US" strike="noStrike" kern="0" noProof="1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978940" y="1507535"/>
              <a:ext cx="1649550" cy="1838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 fontAlgn="base"/>
              <a:endParaRPr lang="zh-CN" altLang="en-US" sz="2100" b="1" strike="noStrike" kern="0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149533" y="2245360"/>
            <a:ext cx="29260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sym typeface="+mn-ea"/>
              </a:rPr>
              <a:t>在函数内或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程序特定过程中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78580" y="4263390"/>
            <a:ext cx="1783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函数内部的变量</a:t>
            </a:r>
          </a:p>
        </p:txBody>
      </p:sp>
      <p:sp>
        <p:nvSpPr>
          <p:cNvPr id="20" name="AutoShape 5"/>
          <p:cNvSpPr>
            <a:spLocks noChangeArrowheads="1"/>
          </p:cNvSpPr>
          <p:nvPr/>
        </p:nvSpPr>
        <p:spPr bwMode="auto">
          <a:xfrm>
            <a:off x="991280" y="4204755"/>
            <a:ext cx="2480356" cy="485918"/>
          </a:xfrm>
          <a:prstGeom prst="chevron">
            <a:avLst>
              <a:gd name="adj" fmla="val 12153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anchor="ctr">
            <a:spAutoFit/>
          </a:bodyPr>
          <a:lstStyle/>
          <a:p>
            <a:pPr fontAlgn="base">
              <a:defRPr/>
            </a:pPr>
            <a:endParaRPr lang="zh-CN" altLang="en-US" strike="noStrike" kern="0" noProof="1">
              <a:solidFill>
                <a:sysClr val="windowText" lastClr="00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86535" y="4286250"/>
            <a:ext cx="1325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函数的形参</a:t>
            </a:r>
          </a:p>
        </p:txBody>
      </p:sp>
      <p:sp>
        <p:nvSpPr>
          <p:cNvPr id="7" name="椭圆 6"/>
          <p:cNvSpPr/>
          <p:nvPr/>
        </p:nvSpPr>
        <p:spPr>
          <a:xfrm>
            <a:off x="3471228" y="1997075"/>
            <a:ext cx="998538" cy="1055688"/>
          </a:xfrm>
          <a:prstGeom prst="ellipse">
            <a:avLst/>
          </a:prstGeom>
          <a:gradFill>
            <a:gsLst>
              <a:gs pos="0">
                <a:schemeClr val="bg1"/>
              </a:gs>
              <a:gs pos="51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8900000" scaled="0"/>
          </a:gradFill>
          <a:ln>
            <a:noFill/>
          </a:ln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zh-CN" altLang="en-US" sz="2000" b="1" strike="noStrike" noProof="1">
                <a:solidFill>
                  <a:schemeClr val="accent1"/>
                </a:solidFill>
              </a:rPr>
              <a:t>全局变量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108325" y="1521460"/>
            <a:ext cx="204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同属的其它种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6" grpId="0"/>
      <p:bldP spid="11" grpId="0"/>
      <p:bldP spid="3" grpId="0" bldLvl="0" animBg="1"/>
      <p:bldP spid="14" grpId="0"/>
      <p:bldP spid="10" grpId="0"/>
      <p:bldP spid="18" grpId="0" bldLvl="0" animBg="1"/>
      <p:bldP spid="19" grpId="0"/>
      <p:bldP spid="8" grpId="0"/>
      <p:bldP spid="17" grpId="0"/>
      <p:bldP spid="20" grpId="0" bldLvl="0" animBg="1"/>
      <p:bldP spid="21" grpId="0"/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465" y="195580"/>
            <a:ext cx="3665220" cy="368300"/>
          </a:xfrm>
        </p:spPr>
        <p:txBody>
          <a:bodyPr wrap="square"/>
          <a:lstStyle/>
          <a:p>
            <a:r>
              <a:rPr lang="zh-CN" altLang="en-US" dirty="0">
                <a:sym typeface="+mn-ea"/>
              </a:rPr>
              <a:t>如何使用全局变量和局部变量</a:t>
            </a:r>
            <a:endParaRPr lang="zh-CN" altLang="en-US" dirty="0"/>
          </a:p>
        </p:txBody>
      </p:sp>
      <p:pic>
        <p:nvPicPr>
          <p:cNvPr id="5" name="图片 4" descr="I34}REQZ{F3ASZBUYV0YQ6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" y="1434465"/>
            <a:ext cx="5742940" cy="2933065"/>
          </a:xfrm>
          <a:prstGeom prst="rect">
            <a:avLst/>
          </a:prstGeom>
        </p:spPr>
      </p:pic>
      <p:pic>
        <p:nvPicPr>
          <p:cNvPr id="6" name="图片 5" descr="T5X[HU21~QP3Y[QK]5YLX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795" y="3553460"/>
            <a:ext cx="3866515" cy="1257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4485" y="763270"/>
            <a:ext cx="353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</a:rPr>
              <a:t>全局变量和局部变量同名问题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465" y="195580"/>
            <a:ext cx="3665220" cy="368300"/>
          </a:xfrm>
        </p:spPr>
        <p:txBody>
          <a:bodyPr wrap="square"/>
          <a:lstStyle/>
          <a:p>
            <a:r>
              <a:rPr lang="zh-CN" altLang="en-US" dirty="0"/>
              <a:t>如何使用全局变量和局部变量</a:t>
            </a:r>
          </a:p>
        </p:txBody>
      </p:sp>
      <p:pic>
        <p:nvPicPr>
          <p:cNvPr id="3" name="图片 2" descr="CM3)ZYORUV}KMLXZ1366_`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40" y="1370965"/>
            <a:ext cx="5200015" cy="3218815"/>
          </a:xfrm>
          <a:prstGeom prst="rect">
            <a:avLst/>
          </a:prstGeom>
        </p:spPr>
      </p:pic>
      <p:pic>
        <p:nvPicPr>
          <p:cNvPr id="4" name="图片 3" descr="IC}}5N~I$52YS8V174{@`)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850" y="3539490"/>
            <a:ext cx="3809365" cy="1238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4485" y="763270"/>
            <a:ext cx="3318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</a:rPr>
              <a:t>修改不可变类型全局变量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96685" y="153289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 全局变量 是不可变对象时，在函数中修改全局变量时，需要加 global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71465" y="195580"/>
            <a:ext cx="3665220" cy="368300"/>
          </a:xfrm>
        </p:spPr>
        <p:txBody>
          <a:bodyPr wrap="square"/>
          <a:lstStyle/>
          <a:p>
            <a:r>
              <a:rPr lang="zh-CN" altLang="en-US" dirty="0">
                <a:sym typeface="+mn-ea"/>
              </a:rPr>
              <a:t>如何使用全局变量和局部变量</a:t>
            </a:r>
            <a:endParaRPr lang="zh-CN" altLang="en-US" dirty="0"/>
          </a:p>
        </p:txBody>
      </p:sp>
      <p:pic>
        <p:nvPicPr>
          <p:cNvPr id="5" name="图片 4" descr="NF6IEWIXRXO9Q]MDZ`2$`_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930" y="1684655"/>
            <a:ext cx="5104765" cy="2009775"/>
          </a:xfrm>
          <a:prstGeom prst="rect">
            <a:avLst/>
          </a:prstGeom>
        </p:spPr>
      </p:pic>
      <p:pic>
        <p:nvPicPr>
          <p:cNvPr id="6" name="图片 5" descr="QE`9AOBV_ATJ9B3(H22N([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565" y="3286760"/>
            <a:ext cx="3742690" cy="10287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4485" y="763270"/>
            <a:ext cx="3318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</a:rPr>
              <a:t>修改可变类型全局变量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04610" y="1684655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 全局变量 是可变对象（列表）时，在函数中修改全局变量时，就不需要加 global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Browallia New" charset="0"/>
              </a:rPr>
              <a:t>全局变量和局部变量的作用</a:t>
            </a:r>
            <a:endParaRPr lang="zh-CN" altLang="en-US" dirty="0"/>
          </a:p>
        </p:txBody>
      </p:sp>
      <p:sp>
        <p:nvSpPr>
          <p:cNvPr id="22" name="Chevron 21"/>
          <p:cNvSpPr/>
          <p:nvPr/>
        </p:nvSpPr>
        <p:spPr>
          <a:xfrm>
            <a:off x="977900" y="1328420"/>
            <a:ext cx="6911975" cy="982980"/>
          </a:xfrm>
          <a:prstGeom prst="chevron">
            <a:avLst/>
          </a:prstGeom>
          <a:gradFill>
            <a:gsLst>
              <a:gs pos="61000">
                <a:srgbClr val="7DA8DF"/>
              </a:gs>
              <a:gs pos="48000">
                <a:schemeClr val="tx2">
                  <a:lumMod val="40000"/>
                  <a:lumOff val="6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0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ea"/>
              </a:rPr>
              <a:t>全局变量：</a:t>
            </a:r>
            <a:r>
              <a:rPr sz="240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ea"/>
              </a:rPr>
              <a:t>保存数据</a:t>
            </a:r>
            <a:r>
              <a:rPr lang="zh-CN" sz="240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ea"/>
              </a:rPr>
              <a:t>，为整个脚本文件提供使用</a:t>
            </a:r>
          </a:p>
        </p:txBody>
      </p:sp>
      <p:sp>
        <p:nvSpPr>
          <p:cNvPr id="3" name="Chevron 21"/>
          <p:cNvSpPr/>
          <p:nvPr/>
        </p:nvSpPr>
        <p:spPr>
          <a:xfrm>
            <a:off x="977900" y="2971165"/>
            <a:ext cx="7057390" cy="982980"/>
          </a:xfrm>
          <a:prstGeom prst="chevron">
            <a:avLst/>
          </a:prstGeom>
          <a:gradFill>
            <a:gsLst>
              <a:gs pos="61000">
                <a:srgbClr val="7DA8DF"/>
              </a:gs>
              <a:gs pos="48000">
                <a:schemeClr val="tx2">
                  <a:lumMod val="40000"/>
                  <a:lumOff val="6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160" rtlCol="0" anchor="ctr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sz="240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ea"/>
              </a:rPr>
              <a:t>局部变量：</a:t>
            </a:r>
            <a:r>
              <a:rPr sz="240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ea"/>
              </a:rPr>
              <a:t>临时保存数据</a:t>
            </a:r>
            <a:r>
              <a:rPr lang="zh-CN" sz="2400">
                <a:ln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sym typeface="+mn-ea"/>
              </a:rPr>
              <a:t>，为局部代码块提供使用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案例</a:t>
            </a:r>
          </a:p>
        </p:txBody>
      </p:sp>
      <p:pic>
        <p:nvPicPr>
          <p:cNvPr id="2" name="图片 1" descr="YD8W4{@5TW%3Y185X@YDC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330" y="1192530"/>
            <a:ext cx="3748405" cy="3432810"/>
          </a:xfrm>
          <a:prstGeom prst="rect">
            <a:avLst/>
          </a:prstGeom>
        </p:spPr>
      </p:pic>
      <p:pic>
        <p:nvPicPr>
          <p:cNvPr id="3" name="图片 2" descr="J7G{C5L7P[3BN2L716J%$S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4850" y="1036955"/>
            <a:ext cx="3301365" cy="3588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random/>
      </p:transition>
    </mc:Choice>
    <mc:Fallback xmlns="">
      <p:transition spd="med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53209"/>
            <a:ext cx="7772400" cy="1102519"/>
          </a:xfrm>
        </p:spPr>
        <p:txBody>
          <a:bodyPr/>
          <a:lstStyle/>
          <a:p>
            <a:r>
              <a:rPr lang="zh-CN" altLang="en-US" dirty="0"/>
              <a:t>第二课时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83568" y="2391033"/>
            <a:ext cx="7776864" cy="594066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函数参数（一）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"/>
    </mc:Choice>
    <mc:Fallback xmlns="">
      <p:transition spd="slow" advTm="96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>
                <a:sym typeface="+mn-ea"/>
              </a:rPr>
              <a:t>形参外延</a:t>
            </a:r>
          </a:p>
        </p:txBody>
      </p:sp>
      <p:pic>
        <p:nvPicPr>
          <p:cNvPr id="4" name="图片 3" descr="N%B]G9ON6GFL8Q%HA`O_LLU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9790" y="654685"/>
            <a:ext cx="7632700" cy="436181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2600960" y="2884170"/>
            <a:ext cx="1110615" cy="60515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425575" y="2679700"/>
            <a:ext cx="1102360" cy="60515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456180" y="1734185"/>
            <a:ext cx="1182370" cy="60515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3" grpId="0" bldLvl="0" animBg="1"/>
      <p:bldP spid="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什么是位置参数</a:t>
            </a:r>
          </a:p>
        </p:txBody>
      </p:sp>
      <p:sp>
        <p:nvSpPr>
          <p:cNvPr id="18" name="右箭头 17"/>
          <p:cNvSpPr/>
          <p:nvPr/>
        </p:nvSpPr>
        <p:spPr bwMode="auto">
          <a:xfrm>
            <a:off x="5007182" y="3003798"/>
            <a:ext cx="745127" cy="95022"/>
          </a:xfrm>
          <a:prstGeom prst="rightArrow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 bwMode="auto">
          <a:xfrm>
            <a:off x="1908175" y="1697355"/>
            <a:ext cx="1031240" cy="44894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1012190" y="1635760"/>
            <a:ext cx="7200265" cy="195343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def say(name, number):</a:t>
            </a:r>
          </a:p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   for i in range(number):</a:t>
            </a:r>
          </a:p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print("{}说：知识简简单单，学习快快乐乐".format(name))</a:t>
            </a:r>
          </a:p>
          <a:p>
            <a:pPr algn="l"/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say("张三", 5)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836420" y="1635125"/>
            <a:ext cx="1823085" cy="37401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auto">
          <a:xfrm>
            <a:off x="3665220" y="1076405"/>
            <a:ext cx="1200785" cy="408146"/>
          </a:xfrm>
          <a:prstGeom prst="wedgeRoundRectCallout">
            <a:avLst>
              <a:gd name="adj1" fmla="val -50176"/>
              <a:gd name="adj2" fmla="val -156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位置参数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 rot="11820000" flipH="1">
            <a:off x="3107055" y="1330960"/>
            <a:ext cx="492760" cy="38227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957580" y="4067079"/>
            <a:ext cx="5972175" cy="411038"/>
          </a:xfrm>
          <a:prstGeom prst="wedgeRoundRectCallout">
            <a:avLst>
              <a:gd name="adj1" fmla="val -50176"/>
              <a:gd name="adj2" fmla="val -156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位置参数是定义函数时，依据实参位置来接收数据的形参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9" grpId="0" bldLvl="0" animBg="1"/>
      <p:bldP spid="21" grpId="0" bldLvl="0" animBg="1"/>
      <p:bldP spid="3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什么是默认参数</a:t>
            </a:r>
          </a:p>
        </p:txBody>
      </p:sp>
      <p:sp>
        <p:nvSpPr>
          <p:cNvPr id="40" name="圆角矩形 39"/>
          <p:cNvSpPr/>
          <p:nvPr/>
        </p:nvSpPr>
        <p:spPr bwMode="auto">
          <a:xfrm>
            <a:off x="2410460" y="1410335"/>
            <a:ext cx="1031240" cy="44894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AutoShape 15"/>
          <p:cNvSpPr>
            <a:spLocks noChangeArrowheads="1"/>
          </p:cNvSpPr>
          <p:nvPr/>
        </p:nvSpPr>
        <p:spPr bwMode="auto">
          <a:xfrm>
            <a:off x="835025" y="1338580"/>
            <a:ext cx="7079615" cy="1643009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def say(name="王二", number=3):</a:t>
            </a:r>
          </a:p>
          <a:p>
            <a:pPr algn="l"/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    for i in range(number):</a:t>
            </a:r>
          </a:p>
          <a:p>
            <a:pPr algn="l"/>
            <a:r>
              <a:rPr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print("{}说：知识简简单单，学习快快乐乐".format(name))</a:t>
            </a:r>
          </a:p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say()</a:t>
            </a:r>
            <a:endParaRPr lang="en-US" altLang="zh-C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say("张三", 5)</a:t>
            </a:r>
            <a:endParaRPr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549400" y="1348105"/>
            <a:ext cx="3098165" cy="43942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900" b="10772"/>
          <a:stretch>
            <a:fillRect/>
          </a:stretch>
        </p:blipFill>
        <p:spPr>
          <a:xfrm>
            <a:off x="1313815" y="3357880"/>
            <a:ext cx="2607310" cy="1744345"/>
          </a:xfrm>
          <a:prstGeom prst="rect">
            <a:avLst/>
          </a:prstGeom>
        </p:spPr>
      </p:pic>
      <p:sp>
        <p:nvSpPr>
          <p:cNvPr id="10" name="副标题 9"/>
          <p:cNvSpPr>
            <a:spLocks noGrp="1"/>
          </p:cNvSpPr>
          <p:nvPr>
            <p:ph type="subTitle" idx="10"/>
          </p:nvPr>
        </p:nvSpPr>
        <p:spPr>
          <a:xfrm>
            <a:off x="762635" y="3053080"/>
            <a:ext cx="1064895" cy="360045"/>
          </a:xfrm>
        </p:spPr>
        <p:txBody>
          <a:bodyPr/>
          <a:lstStyle/>
          <a:p>
            <a:r>
              <a:rPr lang="zh-CN" altLang="en-US" dirty="0"/>
              <a:t>输出结果</a:t>
            </a:r>
          </a:p>
        </p:txBody>
      </p:sp>
      <p:sp>
        <p:nvSpPr>
          <p:cNvPr id="19" name="AutoShape 4"/>
          <p:cNvSpPr>
            <a:spLocks noChangeArrowheads="1"/>
          </p:cNvSpPr>
          <p:nvPr/>
        </p:nvSpPr>
        <p:spPr bwMode="auto">
          <a:xfrm>
            <a:off x="3665220" y="787938"/>
            <a:ext cx="1200785" cy="411040"/>
          </a:xfrm>
          <a:prstGeom prst="wedgeRoundRectCallout">
            <a:avLst>
              <a:gd name="adj1" fmla="val -50176"/>
              <a:gd name="adj2" fmla="val -156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默认参数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 rot="11820000" flipH="1">
            <a:off x="3107055" y="1043940"/>
            <a:ext cx="492760" cy="38227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4866005" y="3425238"/>
            <a:ext cx="2931160" cy="775875"/>
          </a:xfrm>
          <a:prstGeom prst="wedgeRoundRectCallout">
            <a:avLst>
              <a:gd name="adj1" fmla="val -50176"/>
              <a:gd name="adj2" fmla="val -156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默认参数是函数定义时，</a:t>
            </a:r>
          </a:p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含有默认值的形参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286510" y="3425190"/>
            <a:ext cx="2518410" cy="60642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286510" y="4031615"/>
            <a:ext cx="2518410" cy="107061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肘形连接符 11"/>
          <p:cNvCxnSpPr>
            <a:stCxn id="4" idx="0"/>
          </p:cNvCxnSpPr>
          <p:nvPr/>
        </p:nvCxnSpPr>
        <p:spPr>
          <a:xfrm rot="16200000" flipV="1">
            <a:off x="1582420" y="2390140"/>
            <a:ext cx="997585" cy="107188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5" name="肘形连接符 14"/>
          <p:cNvCxnSpPr>
            <a:stCxn id="11" idx="3"/>
          </p:cNvCxnSpPr>
          <p:nvPr/>
        </p:nvCxnSpPr>
        <p:spPr>
          <a:xfrm flipV="1">
            <a:off x="3876675" y="2787650"/>
            <a:ext cx="549275" cy="1779270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肘形连接符 16"/>
          <p:cNvCxnSpPr/>
          <p:nvPr/>
        </p:nvCxnSpPr>
        <p:spPr>
          <a:xfrm rot="10800000">
            <a:off x="2913380" y="2787015"/>
            <a:ext cx="1508125" cy="3175"/>
          </a:xfrm>
          <a:prstGeom prst="bentConnector3">
            <a:avLst>
              <a:gd name="adj1" fmla="val 49979"/>
            </a:avLst>
          </a:prstGeom>
          <a:solidFill>
            <a:schemeClr val="accent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0" grpId="0" build="p"/>
      <p:bldP spid="19" grpId="0" bldLvl="0" animBg="1"/>
      <p:bldP spid="21" grpId="0" bldLvl="0" animBg="1"/>
      <p:bldP spid="3" grpId="0" bldLvl="0" animBg="1"/>
      <p:bldP spid="4" grpId="0" bldLvl="0" animBg="1"/>
      <p:bldP spid="1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如何使用默认参数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4674" y="113159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90500" y="843915"/>
            <a:ext cx="65995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默认参数与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位置参数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混合使用注意事项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256540" y="1257300"/>
            <a:ext cx="4137025" cy="158092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def say1(name, number=3):</a:t>
            </a:r>
          </a:p>
          <a:p>
            <a:pPr algn="l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   # 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位置参数在前，默认参数在后</a:t>
            </a:r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   for i in range(number):</a:t>
            </a:r>
          </a:p>
          <a:p>
            <a:pPr algn="l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print("{}说：知识简简单单".format(name))</a:t>
            </a:r>
          </a:p>
          <a:p>
            <a:pPr algn="l"/>
            <a:endParaRPr lang="en-US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say1('张三', 2)</a:t>
            </a:r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4608830" y="1257300"/>
            <a:ext cx="4404995" cy="1580924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def say2(name="张三", number):</a:t>
            </a:r>
          </a:p>
          <a:p>
            <a:pPr algn="l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# </a:t>
            </a: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位置参数在后，默认参数在前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    for i in range(number):</a:t>
            </a:r>
          </a:p>
          <a:p>
            <a:pPr algn="l"/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        print("{}说：知识简简单单".format(name))</a:t>
            </a:r>
          </a:p>
          <a:p>
            <a:pPr algn="l"/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sz="1600" dirty="0">
                <a:latin typeface="Calibri" panose="020F0502020204030204" pitchFamily="34" charset="0"/>
                <a:cs typeface="Calibri" panose="020F0502020204030204" pitchFamily="34" charset="0"/>
              </a:rPr>
              <a:t>say2("张三", 2)</a:t>
            </a:r>
          </a:p>
        </p:txBody>
      </p:sp>
      <p:sp>
        <p:nvSpPr>
          <p:cNvPr id="252" name=" 252"/>
          <p:cNvSpPr/>
          <p:nvPr/>
        </p:nvSpPr>
        <p:spPr>
          <a:xfrm rot="3360000">
            <a:off x="7035800" y="951230"/>
            <a:ext cx="1944370" cy="2166620"/>
          </a:xfrm>
          <a:prstGeom prst="mathPlus">
            <a:avLst>
              <a:gd name="adj1" fmla="val 922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1135" y="2851785"/>
            <a:ext cx="1128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r="6128"/>
          <a:stretch>
            <a:fillRect/>
          </a:stretch>
        </p:blipFill>
        <p:spPr>
          <a:xfrm>
            <a:off x="2239645" y="3021330"/>
            <a:ext cx="4095115" cy="7524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t="4876" r="15061"/>
          <a:stretch>
            <a:fillRect/>
          </a:stretch>
        </p:blipFill>
        <p:spPr>
          <a:xfrm>
            <a:off x="514350" y="3272155"/>
            <a:ext cx="2048510" cy="681355"/>
          </a:xfrm>
          <a:prstGeom prst="rect">
            <a:avLst/>
          </a:prstGeom>
        </p:spPr>
      </p:pic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514350" y="4123756"/>
            <a:ext cx="5050790" cy="837434"/>
          </a:xfrm>
          <a:prstGeom prst="wedgeRoundRectCallout">
            <a:avLst>
              <a:gd name="adj1" fmla="val -50176"/>
              <a:gd name="adj2" fmla="val -1562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在定义时默认参数必须在所有位置参数后定义，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lt1"/>
                </a:solidFill>
                <a:latin typeface="+mn-lt"/>
                <a:ea typeface="+mn-ea"/>
                <a:sym typeface="+mn-ea"/>
              </a:rPr>
              <a:t>在调用时默认参数可以不用赋值。</a:t>
            </a:r>
            <a:endParaRPr lang="zh-CN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6"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252" grpId="0" bldLvl="0" animBg="1"/>
      <p:bldP spid="4" grpId="0"/>
      <p:bldP spid="1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默认参数的应用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460" y="916305"/>
            <a:ext cx="8662670" cy="313753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定义一个</a:t>
            </a:r>
            <a:r>
              <a:rPr lang="en-US" altLang="zh-CN" dirty="0"/>
              <a:t>login</a:t>
            </a:r>
            <a:r>
              <a:rPr lang="zh-CN" altLang="en-US" dirty="0"/>
              <a:t>函数，含有位置参数</a:t>
            </a:r>
            <a:r>
              <a:rPr lang="en-US" altLang="zh-CN" dirty="0"/>
              <a:t>name</a:t>
            </a:r>
            <a:r>
              <a:rPr lang="zh-CN" altLang="en-US" dirty="0"/>
              <a:t>，默认值参数</a:t>
            </a:r>
            <a:r>
              <a:rPr lang="en-US" altLang="zh-CN" dirty="0"/>
              <a:t>number</a:t>
            </a:r>
            <a:r>
              <a:rPr lang="zh-CN" altLang="en-US" dirty="0"/>
              <a:t>默认值为</a:t>
            </a:r>
            <a:r>
              <a:rPr lang="en-US" altLang="zh-CN" dirty="0"/>
              <a:t>1</a:t>
            </a:r>
            <a:endParaRPr lang="zh-CN" alt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如果只传参数用户名，打印</a:t>
            </a:r>
            <a:r>
              <a:rPr lang="en-US" altLang="zh-CN" dirty="0"/>
              <a:t>“</a:t>
            </a:r>
            <a:r>
              <a:rPr lang="zh-CN" altLang="en-US" dirty="0">
                <a:sym typeface="+mn-ea"/>
              </a:rPr>
              <a:t>欢迎</a:t>
            </a:r>
            <a:r>
              <a:rPr lang="en-US" altLang="zh-CN" dirty="0"/>
              <a:t>xxx</a:t>
            </a:r>
            <a:r>
              <a:rPr lang="zh-CN" altLang="en-US" dirty="0"/>
              <a:t>光临八维餐厅</a:t>
            </a:r>
            <a:r>
              <a:rPr lang="en-US" altLang="zh-CN" dirty="0"/>
              <a:t>”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如果</a:t>
            </a:r>
            <a:r>
              <a:rPr lang="en-US" altLang="zh-CN" dirty="0"/>
              <a:t>number</a:t>
            </a:r>
            <a:r>
              <a:rPr lang="zh-CN" altLang="en-US" dirty="0"/>
              <a:t>传递为</a:t>
            </a:r>
            <a:r>
              <a:rPr lang="en-US" altLang="zh-CN" dirty="0"/>
              <a:t>2</a:t>
            </a:r>
            <a:r>
              <a:rPr lang="zh-CN" altLang="en-US" dirty="0"/>
              <a:t>，打印</a:t>
            </a:r>
            <a:r>
              <a:rPr lang="en-US" altLang="zh-CN" dirty="0"/>
              <a:t>“</a:t>
            </a:r>
            <a:r>
              <a:rPr lang="zh-CN" altLang="en-US" dirty="0"/>
              <a:t>欢迎</a:t>
            </a:r>
            <a:r>
              <a:rPr lang="en-US" altLang="zh-CN" dirty="0"/>
              <a:t>xxx</a:t>
            </a:r>
            <a:r>
              <a:rPr lang="zh-CN" altLang="en-US" dirty="0"/>
              <a:t>进入后台</a:t>
            </a:r>
            <a:r>
              <a:rPr lang="en-US" altLang="zh-CN" dirty="0"/>
              <a:t>”</a:t>
            </a:r>
          </a:p>
          <a:p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843305"/>
            <a:ext cx="7488832" cy="360040"/>
          </a:xfrm>
        </p:spPr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67360" y="3190771"/>
            <a:ext cx="15123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70" y="3616325"/>
            <a:ext cx="1613535" cy="28130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185" y="3616325"/>
            <a:ext cx="2162810" cy="2755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t="22181"/>
          <a:stretch>
            <a:fillRect/>
          </a:stretch>
        </p:blipFill>
        <p:spPr>
          <a:xfrm>
            <a:off x="5558790" y="3597910"/>
            <a:ext cx="1581150" cy="29400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5821363" y="142558"/>
            <a:ext cx="3143250" cy="368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algn="r">
              <a:defRPr/>
            </a:pPr>
            <a:r>
              <a:rPr lang="zh-CN" altLang="en-US" dirty="0">
                <a:sym typeface="+mn-ea"/>
              </a:rPr>
              <a:t>默认参数的应用</a:t>
            </a:r>
            <a:endParaRPr lang="zh-CN" altLang="en-US" sz="2000" dirty="0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2095" y="782216"/>
            <a:ext cx="15123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参考代码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3850" y="3908321"/>
            <a:ext cx="151235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输出结果</a:t>
            </a:r>
          </a:p>
        </p:txBody>
      </p:sp>
      <p:sp>
        <p:nvSpPr>
          <p:cNvPr id="7" name="AutoShape 15"/>
          <p:cNvSpPr>
            <a:spLocks noChangeArrowheads="1"/>
          </p:cNvSpPr>
          <p:nvPr/>
        </p:nvSpPr>
        <p:spPr bwMode="auto">
          <a:xfrm>
            <a:off x="862330" y="1150620"/>
            <a:ext cx="3753485" cy="2715092"/>
          </a:xfrm>
          <a:prstGeom prst="roundRect">
            <a:avLst>
              <a:gd name="adj" fmla="val 1347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def login(name, number=1):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   if number == 1: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       print("欢迎{}光临八维餐厅".format(name))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   elif number == 2: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       print("欢迎{}进入后台".format(name))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   else: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        print("输入有误")</a:t>
            </a:r>
          </a:p>
          <a:p>
            <a:pPr algn="l">
              <a:lnSpc>
                <a:spcPct val="110000"/>
              </a:lnSpc>
            </a:pPr>
            <a:endParaRPr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login("张三")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login("admin", 2)</a:t>
            </a:r>
          </a:p>
          <a:p>
            <a:pPr algn="l">
              <a:lnSpc>
                <a:spcPct val="110000"/>
              </a:lnSpc>
            </a:pPr>
            <a:r>
              <a:rPr sz="1400" dirty="0">
                <a:latin typeface="Calibri" panose="020F0502020204030204" pitchFamily="34" charset="0"/>
                <a:cs typeface="Calibri" panose="020F0502020204030204" pitchFamily="34" charset="0"/>
              </a:rPr>
              <a:t>login("张三", 3)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477385"/>
            <a:ext cx="1613535" cy="2813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940" y="4477385"/>
            <a:ext cx="2162810" cy="2755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t="22181"/>
          <a:stretch>
            <a:fillRect/>
          </a:stretch>
        </p:blipFill>
        <p:spPr>
          <a:xfrm>
            <a:off x="5630545" y="4458970"/>
            <a:ext cx="1581150" cy="29400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课堂小结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47420" y="1463675"/>
            <a:ext cx="5802630" cy="27686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函数的基本格式包含哪些？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有返回值函数与无返回值函数区别？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什么是实参什么是形参？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位置参数与默认参数一起使用注意事项有哪些？</a:t>
            </a:r>
            <a:endParaRPr lang="zh-CN" altLang="en-US" dirty="0"/>
          </a:p>
          <a:p>
            <a:pPr algn="l"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39552" y="77155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</a:p>
        </p:txBody>
      </p:sp>
      <p:pic>
        <p:nvPicPr>
          <p:cNvPr id="10" name="图片 9" descr="现场提问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函数参数（二）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"/>
    </mc:Choice>
    <mc:Fallback xmlns="">
      <p:transition spd="slow" advTm="964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47420" y="1176655"/>
            <a:ext cx="5802630" cy="23069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函数的基本格式包含哪些？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有返回值函数与无返回值函数的区别是什么？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sz="2000" dirty="0">
                <a:latin typeface="+mn-ea"/>
                <a:ea typeface="+mn-ea"/>
                <a:sym typeface="+mn-ea"/>
              </a:rPr>
              <a:t>位置参数与默认参数一起使用注意事项有哪些？</a:t>
            </a:r>
            <a:endParaRPr lang="zh-CN" altLang="en-US" dirty="0"/>
          </a:p>
          <a:p>
            <a:pPr algn="ctr"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39552" y="77155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</a:p>
        </p:txBody>
      </p:sp>
      <p:pic>
        <p:nvPicPr>
          <p:cNvPr id="10" name="图片 9" descr="现场提问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723157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为什么使用非关键字可变长参数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255" y="1019810"/>
            <a:ext cx="604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定义一个有参函数，输出两个数中最大的值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1112520" y="1628775"/>
            <a:ext cx="2725420" cy="1931398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def fun(n1, n2):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if n1 &gt; n2: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print("最大值为",n1)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else: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        print("最大值为", n2)</a:t>
            </a:r>
          </a:p>
          <a:p>
            <a:pPr algn="l">
              <a:lnSpc>
                <a:spcPct val="120000"/>
              </a:lnSpc>
            </a:pP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fun(3,4)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40765" y="3924935"/>
            <a:ext cx="1203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输出结果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6519"/>
          <a:stretch>
            <a:fillRect/>
          </a:stretch>
        </p:blipFill>
        <p:spPr>
          <a:xfrm>
            <a:off x="1635760" y="4410710"/>
            <a:ext cx="1438275" cy="400685"/>
          </a:xfrm>
          <a:prstGeom prst="rect">
            <a:avLst/>
          </a:prstGeom>
        </p:spPr>
      </p:pic>
      <p:pic>
        <p:nvPicPr>
          <p:cNvPr id="16" name="Picture 20" descr="0quav023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15025" y="1710055"/>
            <a:ext cx="1588770" cy="2007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云形标注 16"/>
          <p:cNvSpPr/>
          <p:nvPr/>
        </p:nvSpPr>
        <p:spPr>
          <a:xfrm>
            <a:off x="5320030" y="1409700"/>
            <a:ext cx="3136265" cy="100838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algn="l"/>
            <a:r>
              <a:rPr lang="zh-CN" altLang="en-US" sz="1400" dirty="0">
                <a:sym typeface="+mn-ea"/>
              </a:rPr>
              <a:t>输出五个数或者不确定个数中最大值如何实现？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/>
      <p:bldP spid="17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什么是非关键字可变长参数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1033145" y="1787525"/>
            <a:ext cx="3564890" cy="1892625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def fun(*args):</a:t>
            </a: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print(type(args))</a:t>
            </a: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    print(args)</a:t>
            </a: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print("最大值为：", max(args))</a:t>
            </a:r>
          </a:p>
          <a:p>
            <a:pPr algn="l">
              <a:lnSpc>
                <a:spcPct val="120000"/>
              </a:lnSpc>
            </a:pP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fun(1,2,3,4,5)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4405" y="1212215"/>
            <a:ext cx="604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/>
              <a:t>输出五个数中最大的值</a:t>
            </a:r>
          </a:p>
        </p:txBody>
      </p:sp>
      <p:sp>
        <p:nvSpPr>
          <p:cNvPr id="5" name="TextBox 30"/>
          <p:cNvSpPr txBox="1"/>
          <p:nvPr/>
        </p:nvSpPr>
        <p:spPr>
          <a:xfrm>
            <a:off x="1026160" y="4110990"/>
            <a:ext cx="7393305" cy="337185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latin typeface="+mn-ea"/>
                <a:cs typeface="+mn-ea"/>
                <a:sym typeface="+mn-ea"/>
              </a:rPr>
              <a:t>非关键字可变长参数</a:t>
            </a:r>
            <a:r>
              <a:rPr lang="zh-CN" altLang="en-US" sz="1600" dirty="0">
                <a:latin typeface="+mn-ea"/>
                <a:cs typeface="+mn-ea"/>
              </a:rPr>
              <a:t>是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在定义时以一个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*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开始，</a:t>
            </a:r>
            <a:r>
              <a:rPr lang="zh-CN" altLang="en-US" sz="1600" dirty="0">
                <a:latin typeface="+mn-ea"/>
                <a:cs typeface="+mn-ea"/>
              </a:rPr>
              <a:t>用于接收任意个只含参数值的形参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70195" y="1700530"/>
            <a:ext cx="1203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charset="0"/>
              <a:buNone/>
            </a:pPr>
            <a:r>
              <a:rPr lang="zh-CN" altLang="en-US" b="1" dirty="0">
                <a:solidFill>
                  <a:srgbClr val="0070C0"/>
                </a:solidFill>
              </a:rPr>
              <a:t>输出结果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990" y="2223770"/>
            <a:ext cx="2314575" cy="968375"/>
          </a:xfrm>
          <a:prstGeom prst="rect">
            <a:avLst/>
          </a:prstGeom>
        </p:spPr>
      </p:pic>
      <p:sp>
        <p:nvSpPr>
          <p:cNvPr id="508942" name="AutoShape 14"/>
          <p:cNvSpPr>
            <a:spLocks noChangeArrowheads="1"/>
          </p:cNvSpPr>
          <p:nvPr/>
        </p:nvSpPr>
        <p:spPr bwMode="auto">
          <a:xfrm>
            <a:off x="3198495" y="1832978"/>
            <a:ext cx="1052195" cy="373915"/>
          </a:xfrm>
          <a:prstGeom prst="wedgeRoundRectCallout">
            <a:avLst>
              <a:gd name="adj1" fmla="val -68"/>
              <a:gd name="adj2" fmla="val 5151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以</a:t>
            </a:r>
            <a:r>
              <a:rPr lang="en-US" altLang="zh-CN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*</a:t>
            </a:r>
            <a:r>
              <a:rPr lang="zh-CN" altLang="en-US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开头</a:t>
            </a:r>
          </a:p>
        </p:txBody>
      </p:sp>
      <p:sp>
        <p:nvSpPr>
          <p:cNvPr id="3" name="Line 12"/>
          <p:cNvSpPr>
            <a:spLocks noChangeShapeType="1"/>
          </p:cNvSpPr>
          <p:nvPr/>
        </p:nvSpPr>
        <p:spPr bwMode="auto">
          <a:xfrm rot="10800000" flipH="1" flipV="1">
            <a:off x="2553970" y="2016125"/>
            <a:ext cx="556260" cy="889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24294" name="Rectangle 6"/>
          <p:cNvSpPr>
            <a:spLocks noChangeArrowheads="1"/>
          </p:cNvSpPr>
          <p:nvPr/>
        </p:nvSpPr>
        <p:spPr bwMode="auto">
          <a:xfrm>
            <a:off x="1711960" y="1868805"/>
            <a:ext cx="665480" cy="29781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0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4" grpId="0"/>
      <p:bldP spid="5" grpId="0" bldLvl="0" animBg="1"/>
      <p:bldP spid="6" grpId="0"/>
      <p:bldP spid="508942" grpId="0" bldLvl="0" animBg="1"/>
      <p:bldP spid="3" grpId="0" bldLvl="0" animBg="1"/>
      <p:bldP spid="524294" grpId="0" uiExpand="1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非关键字可变长参数的应用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1990" y="916305"/>
            <a:ext cx="8352790" cy="179197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定义一个</a:t>
            </a:r>
            <a:r>
              <a:rPr lang="en-US" altLang="zh-CN" dirty="0"/>
              <a:t>get_max</a:t>
            </a:r>
            <a:r>
              <a:rPr lang="zh-CN" altLang="en-US" dirty="0"/>
              <a:t>函数，参数为</a:t>
            </a:r>
            <a:r>
              <a:rPr lang="en-US" altLang="zh-CN" dirty="0"/>
              <a:t>name</a:t>
            </a:r>
            <a:r>
              <a:rPr lang="zh-CN" altLang="en-US" dirty="0"/>
              <a:t>和</a:t>
            </a:r>
            <a:r>
              <a:rPr lang="en-US" altLang="zh-CN" dirty="0"/>
              <a:t>*args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zh-CN" dirty="0"/>
              <a:t>name</a:t>
            </a:r>
            <a:r>
              <a:rPr lang="zh-CN" altLang="en-US" dirty="0"/>
              <a:t>接受用户名，</a:t>
            </a:r>
            <a:r>
              <a:rPr lang="en-US" altLang="zh-CN" dirty="0"/>
              <a:t>*args</a:t>
            </a:r>
            <a:r>
              <a:rPr lang="zh-CN" altLang="en-US" dirty="0"/>
              <a:t>接受多个整数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打印结果为</a:t>
            </a:r>
            <a:r>
              <a:rPr lang="en-US" altLang="zh-CN" dirty="0"/>
              <a:t>“xx</a:t>
            </a:r>
            <a:r>
              <a:rPr lang="zh-CN" altLang="en-US" dirty="0"/>
              <a:t>获得最大的数字为</a:t>
            </a:r>
            <a:r>
              <a:rPr lang="en-US" altLang="zh-CN" dirty="0"/>
              <a:t>yy”</a:t>
            </a:r>
          </a:p>
          <a:p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771550"/>
            <a:ext cx="7488832" cy="360040"/>
          </a:xfrm>
        </p:spPr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771550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67360" y="2800881"/>
            <a:ext cx="15123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17094" b="27521"/>
          <a:stretch>
            <a:fillRect/>
          </a:stretch>
        </p:blipFill>
        <p:spPr>
          <a:xfrm>
            <a:off x="947420" y="3357245"/>
            <a:ext cx="3926840" cy="35369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3055" y="142875"/>
            <a:ext cx="3571875" cy="64516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/>
          <a:lstStyle/>
          <a:p>
            <a:pPr algn="r">
              <a:defRPr/>
            </a:pPr>
            <a:r>
              <a:rPr lang="zh-CN" altLang="en-US" dirty="0">
                <a:sym typeface="+mn-ea"/>
              </a:rPr>
              <a:t>非关键字可变长参数</a:t>
            </a:r>
            <a:r>
              <a:rPr lang="zh-CN" altLang="en-US" sz="2000" b="0" dirty="0">
                <a:solidFill>
                  <a:srgbClr val="0070C0"/>
                </a:solidFill>
                <a:sym typeface="+mn-ea"/>
              </a:rPr>
              <a:t>的应用</a:t>
            </a:r>
            <a:br>
              <a:rPr lang="zh-CN" altLang="en-US" sz="2000" b="0" dirty="0">
                <a:solidFill>
                  <a:srgbClr val="0070C0"/>
                </a:solidFill>
                <a:sym typeface="+mn-ea"/>
              </a:rPr>
            </a:br>
            <a:endParaRPr lang="zh-CN" altLang="en-US" sz="2000" b="0" dirty="0">
              <a:solidFill>
                <a:srgbClr val="0070C0"/>
              </a:solidFill>
            </a:endParaRPr>
          </a:p>
        </p:txBody>
      </p:sp>
      <p:sp>
        <p:nvSpPr>
          <p:cNvPr id="15" name="AutoShape 5"/>
          <p:cNvSpPr>
            <a:spLocks noChangeArrowheads="1"/>
          </p:cNvSpPr>
          <p:nvPr/>
        </p:nvSpPr>
        <p:spPr bwMode="auto">
          <a:xfrm>
            <a:off x="803910" y="1337310"/>
            <a:ext cx="5705475" cy="1490155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def get_max(name, *args):</a:t>
            </a:r>
          </a:p>
          <a:p>
            <a:pPr algn="l">
              <a:lnSpc>
                <a:spcPct val="14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print("{}  获得最大的数字为{}".format(name, max(args)))</a:t>
            </a:r>
          </a:p>
          <a:p>
            <a:pPr algn="l">
              <a:lnSpc>
                <a:spcPct val="140000"/>
              </a:lnSpc>
            </a:pP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4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get_max("张三", 1,2,3,4,5)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52095" y="772056"/>
            <a:ext cx="15123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参考代码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23850" y="3087901"/>
            <a:ext cx="151235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输出结果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rcRect t="17094" b="27521"/>
          <a:stretch>
            <a:fillRect/>
          </a:stretch>
        </p:blipFill>
        <p:spPr>
          <a:xfrm>
            <a:off x="803910" y="3716020"/>
            <a:ext cx="3926840" cy="35369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非关键字可变长参数的应用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961827" y="1644377"/>
            <a:ext cx="7235825" cy="1365189"/>
          </a:xfrm>
          <a:prstGeom prst="roundRect">
            <a:avLst>
              <a:gd name="adj" fmla="val 245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50800">
            <a:noFill/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7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、定义的时候是以一个</a:t>
            </a:r>
            <a:r>
              <a:rPr lang="en-US" altLang="zh-CN" sz="1600" dirty="0">
                <a:latin typeface="+mn-ea"/>
                <a:ea typeface="+mn-ea"/>
                <a:cs typeface="+mn-ea"/>
              </a:rPr>
              <a:t>”*”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 开始，后面的参数名可以换，但是推荐使用</a:t>
            </a:r>
            <a:r>
              <a:rPr lang="en-US" altLang="zh-CN" sz="1600" dirty="0">
                <a:latin typeface="+mn-ea"/>
                <a:ea typeface="+mn-ea"/>
                <a:cs typeface="+mn-ea"/>
              </a:rPr>
              <a:t>args</a:t>
            </a:r>
            <a:endParaRPr lang="zh-CN" altLang="en-US" sz="1600" dirty="0">
              <a:latin typeface="+mn-ea"/>
              <a:ea typeface="+mn-ea"/>
              <a:cs typeface="+mn-ea"/>
            </a:endParaRPr>
          </a:p>
          <a:p>
            <a:pPr algn="l">
              <a:lnSpc>
                <a:spcPct val="17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</a:rPr>
              <a:t>2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、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定义的位置为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所有位置参数和默认参数的后面</a:t>
            </a:r>
          </a:p>
          <a:p>
            <a:pPr algn="l">
              <a:lnSpc>
                <a:spcPct val="17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、在使用的时候，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args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是参数组成的一个元组类型</a:t>
            </a:r>
            <a:endParaRPr lang="zh-CN" altLang="en-US" sz="1600" dirty="0"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3360" y="833755"/>
            <a:ext cx="28244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非关键字可变长参数注意事项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非关键字可变长参数的作用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1061522" y="1567542"/>
            <a:ext cx="7235825" cy="878127"/>
          </a:xfrm>
          <a:prstGeom prst="roundRect">
            <a:avLst>
              <a:gd name="adj" fmla="val 245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50800">
            <a:noFill/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</a:rPr>
              <a:t>1</a:t>
            </a:r>
            <a:r>
              <a:rPr lang="zh-CN" altLang="en-US" sz="1800" dirty="0">
                <a:latin typeface="+mn-ea"/>
                <a:ea typeface="+mn-ea"/>
                <a:cs typeface="+mn-ea"/>
              </a:rPr>
              <a:t>、解决了使用函数时，只含参数值的个数不确定问题</a:t>
            </a:r>
          </a:p>
          <a:p>
            <a:pPr algn="l">
              <a:lnSpc>
                <a:spcPct val="140000"/>
              </a:lnSpc>
            </a:pPr>
            <a:r>
              <a:rPr lang="en-US" altLang="zh-CN" sz="1800" dirty="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1800" dirty="0">
                <a:latin typeface="+mn-ea"/>
                <a:ea typeface="+mn-ea"/>
                <a:cs typeface="+mn-ea"/>
                <a:sym typeface="+mn-ea"/>
              </a:rPr>
              <a:t>、提高了</a:t>
            </a:r>
            <a:r>
              <a:rPr sz="1800" dirty="0">
                <a:latin typeface="+mn-ea"/>
                <a:ea typeface="+mn-ea"/>
                <a:cs typeface="+mn-ea"/>
                <a:sym typeface="+mn-ea"/>
              </a:rPr>
              <a:t>程序的容错性</a:t>
            </a:r>
            <a:endParaRPr lang="zh-CN" altLang="en-US" sz="1800" dirty="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为什么使用关键字可变长参数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5500" y="1306830"/>
            <a:ext cx="604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</a:rPr>
              <a:t>定义一个有参函数，输出两个数中最大的值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2095" y="772160"/>
            <a:ext cx="29978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强制定位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97255" y="1809750"/>
            <a:ext cx="4582160" cy="2281256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/>
              <a:t>def fun(n1, n2):</a:t>
            </a:r>
          </a:p>
          <a:p>
            <a:pPr algn="l"/>
            <a:r>
              <a:rPr lang="zh-CN" altLang="en-US" sz="1400" dirty="0"/>
              <a:t>    if n1 &gt; n2:</a:t>
            </a:r>
          </a:p>
          <a:p>
            <a:pPr algn="l"/>
            <a:r>
              <a:rPr lang="zh-CN" altLang="en-US" sz="1400" dirty="0"/>
              <a:t>        print("最大值为",n1)</a:t>
            </a:r>
          </a:p>
          <a:p>
            <a:pPr algn="l"/>
            <a:r>
              <a:rPr lang="zh-CN" altLang="en-US" sz="1400" dirty="0"/>
              <a:t>    else:</a:t>
            </a:r>
          </a:p>
          <a:p>
            <a:pPr algn="l"/>
            <a:r>
              <a:rPr lang="zh-CN" altLang="en-US" sz="1400" dirty="0"/>
              <a:t>        print("最大值为", n2)</a:t>
            </a:r>
          </a:p>
          <a:p>
            <a:pPr algn="l"/>
            <a:endParaRPr lang="zh-CN" altLang="en-US" sz="1400" dirty="0"/>
          </a:p>
          <a:p>
            <a:pPr algn="l"/>
            <a:endParaRPr lang="zh-CN" altLang="en-US" sz="1400" dirty="0"/>
          </a:p>
          <a:p>
            <a:pPr algn="l"/>
            <a:r>
              <a:rPr lang="zh-CN" altLang="en-US" sz="1400" dirty="0"/>
              <a:t>fun(3,4)</a:t>
            </a:r>
          </a:p>
          <a:p>
            <a:pPr algn="l"/>
            <a:endParaRPr lang="zh-CN" altLang="en-US" sz="1400" dirty="0"/>
          </a:p>
          <a:p>
            <a:pPr algn="l"/>
            <a:r>
              <a:rPr lang="zh-CN" altLang="en-US" sz="1400" dirty="0">
                <a:sym typeface="+mn-ea"/>
              </a:rPr>
              <a:t>fun(n1=3, n2=4)</a:t>
            </a:r>
            <a:endParaRPr lang="zh-CN" altLang="en-US" sz="1400" dirty="0"/>
          </a:p>
        </p:txBody>
      </p:sp>
      <p:sp>
        <p:nvSpPr>
          <p:cNvPr id="8" name="圆角矩形 7"/>
          <p:cNvSpPr/>
          <p:nvPr/>
        </p:nvSpPr>
        <p:spPr>
          <a:xfrm>
            <a:off x="1266825" y="3757295"/>
            <a:ext cx="1054100" cy="31178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 rot="13500000" flipH="1" flipV="1">
            <a:off x="2242820" y="4264025"/>
            <a:ext cx="556260" cy="889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AutoShape 14"/>
          <p:cNvSpPr>
            <a:spLocks noChangeArrowheads="1"/>
          </p:cNvSpPr>
          <p:nvPr/>
        </p:nvSpPr>
        <p:spPr bwMode="auto">
          <a:xfrm>
            <a:off x="2792095" y="4326115"/>
            <a:ext cx="3187065" cy="373661"/>
          </a:xfrm>
          <a:prstGeom prst="wedgeRoundRectCallout">
            <a:avLst>
              <a:gd name="adj1" fmla="val -68"/>
              <a:gd name="adj2" fmla="val 5151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等号前为形参名，等号后为实参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7" grpId="0" bldLvl="0" animBg="1"/>
      <p:bldP spid="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为什么使用关键字可变长参数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5500" y="1287780"/>
            <a:ext cx="604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latin typeface="+mn-ea"/>
                <a:ea typeface="+mn-ea"/>
              </a:rPr>
              <a:t>强制明确形参与实参的对应关系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97255" y="1737995"/>
            <a:ext cx="4427855" cy="2453248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def login(password, name):</a:t>
            </a: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if name == "admin" and password == "123456":</a:t>
            </a: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print("登陆成功")</a:t>
            </a: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else:</a:t>
            </a: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       print("登陆失败")</a:t>
            </a:r>
          </a:p>
          <a:p>
            <a:pPr algn="l">
              <a:lnSpc>
                <a:spcPct val="120000"/>
              </a:lnSpc>
            </a:pPr>
            <a:endParaRPr lang="zh-C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login("admin", "123456")</a:t>
            </a: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400" dirty="0">
                <a:sym typeface="+mn-ea"/>
              </a:rPr>
              <a:t>login(name="admin", password="123456")</a:t>
            </a:r>
            <a:endParaRPr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4"/>
          <p:cNvSpPr txBox="1"/>
          <p:nvPr/>
        </p:nvSpPr>
        <p:spPr>
          <a:xfrm>
            <a:off x="275590" y="831850"/>
            <a:ext cx="12877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强制定位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1348105" y="3837940"/>
            <a:ext cx="2964815" cy="37401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8942" name="AutoShape 14"/>
          <p:cNvSpPr>
            <a:spLocks noChangeArrowheads="1"/>
          </p:cNvSpPr>
          <p:nvPr/>
        </p:nvSpPr>
        <p:spPr bwMode="auto">
          <a:xfrm>
            <a:off x="3079115" y="4430255"/>
            <a:ext cx="1131570" cy="373661"/>
          </a:xfrm>
          <a:prstGeom prst="wedgeRoundRectCallout">
            <a:avLst>
              <a:gd name="adj1" fmla="val -68"/>
              <a:gd name="adj2" fmla="val 5151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lvl="1" indent="-285750" algn="l" eaLnBrk="0" hangingPunct="0">
              <a:spcBef>
                <a:spcPct val="20000"/>
              </a:spcBef>
              <a:buClr>
                <a:srgbClr val="233DA9"/>
              </a:buClr>
              <a:buSzPct val="80000"/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强制定位</a:t>
            </a:r>
          </a:p>
        </p:txBody>
      </p:sp>
      <p:sp>
        <p:nvSpPr>
          <p:cNvPr id="3" name="Line 12"/>
          <p:cNvSpPr>
            <a:spLocks noChangeShapeType="1"/>
          </p:cNvSpPr>
          <p:nvPr/>
        </p:nvSpPr>
        <p:spPr bwMode="auto">
          <a:xfrm rot="13500000" flipH="1" flipV="1">
            <a:off x="2601595" y="4407535"/>
            <a:ext cx="556260" cy="889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3" name="副标题 3"/>
          <p:cNvSpPr>
            <a:spLocks noGrp="1"/>
          </p:cNvSpPr>
          <p:nvPr/>
        </p:nvSpPr>
        <p:spPr>
          <a:xfrm>
            <a:off x="5735320" y="1245870"/>
            <a:ext cx="1075690" cy="3600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695" y="1687830"/>
            <a:ext cx="1342390" cy="377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695" y="2187575"/>
            <a:ext cx="1412240" cy="353060"/>
          </a:xfrm>
          <a:prstGeom prst="rect">
            <a:avLst/>
          </a:prstGeom>
        </p:spPr>
      </p:pic>
      <p:pic>
        <p:nvPicPr>
          <p:cNvPr id="16" name="Picture 20" descr="0quav023[1]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70320" y="3129915"/>
            <a:ext cx="1588770" cy="2007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云形标注 16"/>
          <p:cNvSpPr/>
          <p:nvPr/>
        </p:nvSpPr>
        <p:spPr>
          <a:xfrm>
            <a:off x="6051550" y="2962910"/>
            <a:ext cx="2606040" cy="87503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algn="l"/>
            <a:r>
              <a:rPr lang="zh-CN" altLang="en-US" sz="1400" dirty="0">
                <a:sym typeface="+mn-ea"/>
              </a:rPr>
              <a:t>不确定有多少个强制定位形式的参数？</a:t>
            </a:r>
            <a:endParaRPr kumimoji="0" lang="zh-CN" altLang="zh-CN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0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bldLvl="0" animBg="1"/>
      <p:bldP spid="508942" grpId="0" bldLvl="0" animBg="1"/>
      <p:bldP spid="3" grpId="0" bldLvl="0" animBg="1"/>
      <p:bldP spid="13" grpId="0"/>
      <p:bldP spid="1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什么是关键字可变长参数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24485" y="831215"/>
            <a:ext cx="27279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  <a:sym typeface="+mn-ea"/>
              </a:rPr>
              <a:t>举例代码</a:t>
            </a:r>
            <a:endParaRPr lang="zh-CN" altLang="en-US" sz="16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59790" y="1193800"/>
            <a:ext cx="5524500" cy="2090526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def fun(**kwargs):</a:t>
            </a:r>
          </a:p>
          <a:p>
            <a:pPr algn="l">
              <a:lnSpc>
                <a:spcPct val="120000"/>
              </a:lnSpc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  print(type(kwargs))</a:t>
            </a:r>
          </a:p>
          <a:p>
            <a:pPr algn="l">
              <a:lnSpc>
                <a:spcPct val="120000"/>
              </a:lnSpc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  print(kwargs)</a:t>
            </a:r>
          </a:p>
          <a:p>
            <a:pPr algn="l">
              <a:lnSpc>
                <a:spcPct val="120000"/>
              </a:lnSpc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   print("{}住在{}".format(kwargs['name'], kwargs['city']))</a:t>
            </a:r>
          </a:p>
          <a:p>
            <a:pPr algn="l">
              <a:lnSpc>
                <a:spcPct val="120000"/>
              </a:lnSpc>
            </a:pPr>
            <a:endParaRPr lang="zh-CN" alt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zh-CN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fun(name="张三", password="123456", city="北京")</a:t>
            </a:r>
          </a:p>
        </p:txBody>
      </p:sp>
      <p:sp>
        <p:nvSpPr>
          <p:cNvPr id="5" name="TextBox 30"/>
          <p:cNvSpPr txBox="1"/>
          <p:nvPr/>
        </p:nvSpPr>
        <p:spPr>
          <a:xfrm>
            <a:off x="874395" y="4462780"/>
            <a:ext cx="5650230" cy="583565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latin typeface="+mn-ea"/>
                <a:cs typeface="+mn-ea"/>
                <a:sym typeface="+mn-ea"/>
              </a:rPr>
              <a:t>关键字可变长参数</a:t>
            </a:r>
            <a:r>
              <a:rPr lang="zh-CN" altLang="en-US" sz="1600" dirty="0">
                <a:latin typeface="+mn-ea"/>
                <a:cs typeface="+mn-ea"/>
              </a:rPr>
              <a:t>是在定义时以两个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'</a:t>
            </a:r>
            <a:r>
              <a:rPr lang="en-US" altLang="zh-CN" sz="1600" dirty="0">
                <a:latin typeface="+mn-ea"/>
                <a:cs typeface="+mn-ea"/>
              </a:rPr>
              <a:t>*'</a:t>
            </a:r>
            <a:r>
              <a:rPr lang="zh-CN" altLang="en-US" sz="1600" dirty="0">
                <a:latin typeface="+mn-ea"/>
                <a:cs typeface="+mn-ea"/>
              </a:rPr>
              <a:t>开始，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用于接收以参数名和参数值成对出现</a:t>
            </a:r>
            <a:r>
              <a:rPr lang="zh-CN" altLang="en-US" sz="1600" dirty="0">
                <a:latin typeface="+mn-ea"/>
                <a:cs typeface="+mn-ea"/>
              </a:rPr>
              <a:t>的形参</a:t>
            </a:r>
          </a:p>
        </p:txBody>
      </p:sp>
      <p:sp>
        <p:nvSpPr>
          <p:cNvPr id="13" name="副标题 3"/>
          <p:cNvSpPr>
            <a:spLocks noGrp="1"/>
          </p:cNvSpPr>
          <p:nvPr/>
        </p:nvSpPr>
        <p:spPr>
          <a:xfrm>
            <a:off x="417195" y="3296920"/>
            <a:ext cx="1075690" cy="3600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90" y="3642995"/>
            <a:ext cx="3914775" cy="676275"/>
          </a:xfrm>
          <a:prstGeom prst="rect">
            <a:avLst/>
          </a:prstGeom>
        </p:spPr>
      </p:pic>
      <p:sp>
        <p:nvSpPr>
          <p:cNvPr id="508942" name="AutoShape 14"/>
          <p:cNvSpPr>
            <a:spLocks noChangeArrowheads="1"/>
          </p:cNvSpPr>
          <p:nvPr/>
        </p:nvSpPr>
        <p:spPr bwMode="auto">
          <a:xfrm>
            <a:off x="3413760" y="1257776"/>
            <a:ext cx="1052195" cy="376239"/>
          </a:xfrm>
          <a:prstGeom prst="wedgeRoundRectCallout">
            <a:avLst>
              <a:gd name="adj1" fmla="val -68"/>
              <a:gd name="adj2" fmla="val 51513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以</a:t>
            </a:r>
            <a:r>
              <a:rPr lang="en-US" altLang="zh-CN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**</a:t>
            </a:r>
            <a:r>
              <a:rPr lang="zh-CN" altLang="en-US" sz="1600" kern="0" dirty="0">
                <a:solidFill>
                  <a:schemeClr val="bg1"/>
                </a:solidFill>
                <a:latin typeface="+mn-ea"/>
                <a:ea typeface="+mn-ea"/>
                <a:sym typeface="+mn-ea"/>
              </a:rPr>
              <a:t>开头</a:t>
            </a:r>
          </a:p>
        </p:txBody>
      </p:sp>
      <p:sp>
        <p:nvSpPr>
          <p:cNvPr id="6" name="Line 12"/>
          <p:cNvSpPr>
            <a:spLocks noChangeShapeType="1"/>
          </p:cNvSpPr>
          <p:nvPr/>
        </p:nvSpPr>
        <p:spPr bwMode="auto">
          <a:xfrm rot="10800000" flipH="1" flipV="1">
            <a:off x="2769235" y="1442085"/>
            <a:ext cx="556260" cy="8890"/>
          </a:xfrm>
          <a:prstGeom prst="line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24294" name="Rectangle 6"/>
          <p:cNvSpPr>
            <a:spLocks noChangeArrowheads="1"/>
          </p:cNvSpPr>
          <p:nvPr/>
        </p:nvSpPr>
        <p:spPr bwMode="auto">
          <a:xfrm>
            <a:off x="1640205" y="1294765"/>
            <a:ext cx="989330" cy="303530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08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5" grpId="0" bldLvl="0" animBg="1"/>
      <p:bldP spid="13" grpId="0"/>
      <p:bldP spid="508942" grpId="0" bldLvl="0" animBg="1"/>
      <p:bldP spid="6" grpId="0" bldLvl="0" animBg="1"/>
      <p:bldP spid="524294" grpId="0" uiExpand="1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>
                <a:sym typeface="+mn-ea"/>
              </a:rPr>
              <a:t>关键字可变长参数的应用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8793" y="1131843"/>
            <a:ext cx="8352928" cy="313757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Char char="ü"/>
            </a:pPr>
            <a:r>
              <a:rPr lang="zh-CN" altLang="en-US" dirty="0"/>
              <a:t>定义一个</a:t>
            </a:r>
            <a:r>
              <a:rPr lang="en-US" altLang="zh-CN" dirty="0"/>
              <a:t>get_city</a:t>
            </a:r>
            <a:r>
              <a:rPr lang="zh-CN" altLang="en-US" dirty="0"/>
              <a:t>函数，含有关键字可变长参数</a:t>
            </a:r>
            <a:r>
              <a:rPr lang="en-US" altLang="zh-CN" dirty="0"/>
              <a:t>**kwargs</a:t>
            </a:r>
            <a:endParaRPr lang="zh-CN" alt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如果传递的值有</a:t>
            </a:r>
            <a:r>
              <a:rPr lang="en-US" altLang="zh-CN" dirty="0"/>
              <a:t>city</a:t>
            </a:r>
            <a:r>
              <a:rPr lang="zh-CN" altLang="en-US" dirty="0"/>
              <a:t>，则打印这个姓名，密码，城市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/>
              <a:t>如果没有则打印</a:t>
            </a:r>
            <a:r>
              <a:rPr lang="zh-CN" altLang="en-US" dirty="0">
                <a:sym typeface="+mn-ea"/>
              </a:rPr>
              <a:t>姓名，密码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771550"/>
            <a:ext cx="7488832" cy="360040"/>
          </a:xfrm>
        </p:spPr>
        <p:txBody>
          <a:bodyPr/>
          <a:lstStyle/>
          <a:p>
            <a:r>
              <a:rPr lang="zh-CN" altLang="en-US" dirty="0"/>
              <a:t>需求分析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771550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副标题 3"/>
          <p:cNvSpPr>
            <a:spLocks noGrp="1"/>
          </p:cNvSpPr>
          <p:nvPr/>
        </p:nvSpPr>
        <p:spPr>
          <a:xfrm>
            <a:off x="469900" y="3062605"/>
            <a:ext cx="1075690" cy="3600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" y="3748405"/>
            <a:ext cx="3062605" cy="5207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关键字可变长参数的应用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0"/>
          </p:nvPr>
        </p:nvSpPr>
        <p:spPr>
          <a:xfrm>
            <a:off x="470084" y="843305"/>
            <a:ext cx="7488832" cy="360040"/>
          </a:xfrm>
        </p:spPr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2858" y="843305"/>
            <a:ext cx="216694" cy="231536"/>
            <a:chOff x="436488" y="2946400"/>
            <a:chExt cx="231776" cy="247651"/>
          </a:xfrm>
        </p:grpSpPr>
        <p:sp>
          <p:nvSpPr>
            <p:cNvPr id="6" name="Freeform 65"/>
            <p:cNvSpPr>
              <a:spLocks noEditPoints="1"/>
            </p:cNvSpPr>
            <p:nvPr/>
          </p:nvSpPr>
          <p:spPr bwMode="auto">
            <a:xfrm>
              <a:off x="436488" y="2946400"/>
              <a:ext cx="198438" cy="247650"/>
            </a:xfrm>
            <a:custGeom>
              <a:avLst/>
              <a:gdLst>
                <a:gd name="T0" fmla="*/ 53 w 53"/>
                <a:gd name="T1" fmla="*/ 36 h 66"/>
                <a:gd name="T2" fmla="*/ 53 w 53"/>
                <a:gd name="T3" fmla="*/ 13 h 66"/>
                <a:gd name="T4" fmla="*/ 45 w 53"/>
                <a:gd name="T5" fmla="*/ 5 h 66"/>
                <a:gd name="T6" fmla="*/ 38 w 53"/>
                <a:gd name="T7" fmla="*/ 5 h 66"/>
                <a:gd name="T8" fmla="*/ 32 w 53"/>
                <a:gd name="T9" fmla="*/ 0 h 66"/>
                <a:gd name="T10" fmla="*/ 21 w 53"/>
                <a:gd name="T11" fmla="*/ 0 h 66"/>
                <a:gd name="T12" fmla="*/ 15 w 53"/>
                <a:gd name="T13" fmla="*/ 5 h 66"/>
                <a:gd name="T14" fmla="*/ 8 w 53"/>
                <a:gd name="T15" fmla="*/ 5 h 66"/>
                <a:gd name="T16" fmla="*/ 0 w 53"/>
                <a:gd name="T17" fmla="*/ 13 h 66"/>
                <a:gd name="T18" fmla="*/ 0 w 53"/>
                <a:gd name="T19" fmla="*/ 58 h 66"/>
                <a:gd name="T20" fmla="*/ 8 w 53"/>
                <a:gd name="T21" fmla="*/ 66 h 66"/>
                <a:gd name="T22" fmla="*/ 32 w 53"/>
                <a:gd name="T23" fmla="*/ 66 h 66"/>
                <a:gd name="T24" fmla="*/ 32 w 53"/>
                <a:gd name="T25" fmla="*/ 64 h 66"/>
                <a:gd name="T26" fmla="*/ 53 w 53"/>
                <a:gd name="T27" fmla="*/ 36 h 66"/>
                <a:gd name="T28" fmla="*/ 21 w 53"/>
                <a:gd name="T29" fmla="*/ 4 h 66"/>
                <a:gd name="T30" fmla="*/ 32 w 53"/>
                <a:gd name="T31" fmla="*/ 4 h 66"/>
                <a:gd name="T32" fmla="*/ 34 w 53"/>
                <a:gd name="T33" fmla="*/ 6 h 66"/>
                <a:gd name="T34" fmla="*/ 32 w 53"/>
                <a:gd name="T35" fmla="*/ 8 h 66"/>
                <a:gd name="T36" fmla="*/ 21 w 53"/>
                <a:gd name="T37" fmla="*/ 8 h 66"/>
                <a:gd name="T38" fmla="*/ 19 w 53"/>
                <a:gd name="T39" fmla="*/ 6 h 66"/>
                <a:gd name="T40" fmla="*/ 21 w 53"/>
                <a:gd name="T41" fmla="*/ 4 h 66"/>
                <a:gd name="T42" fmla="*/ 15 w 53"/>
                <a:gd name="T43" fmla="*/ 25 h 66"/>
                <a:gd name="T44" fmla="*/ 38 w 53"/>
                <a:gd name="T45" fmla="*/ 25 h 66"/>
                <a:gd name="T46" fmla="*/ 40 w 53"/>
                <a:gd name="T47" fmla="*/ 27 h 66"/>
                <a:gd name="T48" fmla="*/ 38 w 53"/>
                <a:gd name="T49" fmla="*/ 29 h 66"/>
                <a:gd name="T50" fmla="*/ 15 w 53"/>
                <a:gd name="T51" fmla="*/ 29 h 66"/>
                <a:gd name="T52" fmla="*/ 14 w 53"/>
                <a:gd name="T53" fmla="*/ 27 h 66"/>
                <a:gd name="T54" fmla="*/ 15 w 53"/>
                <a:gd name="T55" fmla="*/ 25 h 66"/>
                <a:gd name="T56" fmla="*/ 30 w 53"/>
                <a:gd name="T57" fmla="*/ 47 h 66"/>
                <a:gd name="T58" fmla="*/ 15 w 53"/>
                <a:gd name="T59" fmla="*/ 47 h 66"/>
                <a:gd name="T60" fmla="*/ 14 w 53"/>
                <a:gd name="T61" fmla="*/ 45 h 66"/>
                <a:gd name="T62" fmla="*/ 15 w 53"/>
                <a:gd name="T63" fmla="*/ 43 h 66"/>
                <a:gd name="T64" fmla="*/ 30 w 53"/>
                <a:gd name="T65" fmla="*/ 43 h 66"/>
                <a:gd name="T66" fmla="*/ 32 w 53"/>
                <a:gd name="T67" fmla="*/ 45 h 66"/>
                <a:gd name="T68" fmla="*/ 30 w 53"/>
                <a:gd name="T69" fmla="*/ 47 h 66"/>
                <a:gd name="T70" fmla="*/ 15 w 53"/>
                <a:gd name="T71" fmla="*/ 37 h 66"/>
                <a:gd name="T72" fmla="*/ 14 w 53"/>
                <a:gd name="T73" fmla="*/ 36 h 66"/>
                <a:gd name="T74" fmla="*/ 15 w 53"/>
                <a:gd name="T75" fmla="*/ 34 h 66"/>
                <a:gd name="T76" fmla="*/ 38 w 53"/>
                <a:gd name="T77" fmla="*/ 34 h 66"/>
                <a:gd name="T78" fmla="*/ 40 w 53"/>
                <a:gd name="T79" fmla="*/ 36 h 66"/>
                <a:gd name="T80" fmla="*/ 38 w 53"/>
                <a:gd name="T81" fmla="*/ 37 h 66"/>
                <a:gd name="T82" fmla="*/ 15 w 53"/>
                <a:gd name="T83" fmla="*/ 37 h 66"/>
                <a:gd name="T84" fmla="*/ 15 w 53"/>
                <a:gd name="T85" fmla="*/ 37 h 66"/>
                <a:gd name="T86" fmla="*/ 15 w 53"/>
                <a:gd name="T87" fmla="*/ 37 h 66"/>
                <a:gd name="T88" fmla="*/ 15 w 53"/>
                <a:gd name="T89" fmla="*/ 3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3" h="66">
                  <a:moveTo>
                    <a:pt x="53" y="36"/>
                  </a:moveTo>
                  <a:cubicBezTo>
                    <a:pt x="53" y="13"/>
                    <a:pt x="53" y="13"/>
                    <a:pt x="53" y="13"/>
                  </a:cubicBezTo>
                  <a:cubicBezTo>
                    <a:pt x="53" y="9"/>
                    <a:pt x="49" y="5"/>
                    <a:pt x="45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3"/>
                    <a:pt x="36" y="0"/>
                    <a:pt x="32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8" y="0"/>
                    <a:pt x="15" y="2"/>
                    <a:pt x="15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4" y="6"/>
                    <a:pt x="0" y="9"/>
                    <a:pt x="0" y="13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62"/>
                    <a:pt x="4" y="66"/>
                    <a:pt x="8" y="66"/>
                  </a:cubicBezTo>
                  <a:cubicBezTo>
                    <a:pt x="32" y="66"/>
                    <a:pt x="32" y="66"/>
                    <a:pt x="32" y="66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3" y="39"/>
                    <a:pt x="53" y="36"/>
                    <a:pt x="53" y="36"/>
                  </a:cubicBezTo>
                  <a:close/>
                  <a:moveTo>
                    <a:pt x="21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5"/>
                    <a:pt x="34" y="6"/>
                  </a:cubicBezTo>
                  <a:cubicBezTo>
                    <a:pt x="34" y="7"/>
                    <a:pt x="33" y="8"/>
                    <a:pt x="32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8"/>
                    <a:pt x="19" y="7"/>
                    <a:pt x="19" y="6"/>
                  </a:cubicBezTo>
                  <a:cubicBezTo>
                    <a:pt x="19" y="5"/>
                    <a:pt x="20" y="4"/>
                    <a:pt x="21" y="4"/>
                  </a:cubicBezTo>
                  <a:close/>
                  <a:moveTo>
                    <a:pt x="15" y="25"/>
                  </a:moveTo>
                  <a:cubicBezTo>
                    <a:pt x="38" y="25"/>
                    <a:pt x="38" y="25"/>
                    <a:pt x="38" y="25"/>
                  </a:cubicBezTo>
                  <a:cubicBezTo>
                    <a:pt x="39" y="25"/>
                    <a:pt x="40" y="26"/>
                    <a:pt x="40" y="27"/>
                  </a:cubicBezTo>
                  <a:cubicBezTo>
                    <a:pt x="40" y="28"/>
                    <a:pt x="39" y="29"/>
                    <a:pt x="38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8"/>
                    <a:pt x="14" y="27"/>
                  </a:cubicBezTo>
                  <a:cubicBezTo>
                    <a:pt x="14" y="25"/>
                    <a:pt x="14" y="25"/>
                    <a:pt x="15" y="25"/>
                  </a:cubicBezTo>
                  <a:close/>
                  <a:moveTo>
                    <a:pt x="30" y="47"/>
                  </a:moveTo>
                  <a:cubicBezTo>
                    <a:pt x="15" y="47"/>
                    <a:pt x="15" y="47"/>
                    <a:pt x="15" y="47"/>
                  </a:cubicBezTo>
                  <a:cubicBezTo>
                    <a:pt x="15" y="47"/>
                    <a:pt x="14" y="46"/>
                    <a:pt x="14" y="45"/>
                  </a:cubicBezTo>
                  <a:cubicBezTo>
                    <a:pt x="14" y="44"/>
                    <a:pt x="15" y="43"/>
                    <a:pt x="15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1" y="43"/>
                    <a:pt x="32" y="44"/>
                    <a:pt x="32" y="45"/>
                  </a:cubicBezTo>
                  <a:cubicBezTo>
                    <a:pt x="32" y="46"/>
                    <a:pt x="31" y="47"/>
                    <a:pt x="30" y="47"/>
                  </a:cubicBezTo>
                  <a:close/>
                  <a:moveTo>
                    <a:pt x="15" y="37"/>
                  </a:moveTo>
                  <a:cubicBezTo>
                    <a:pt x="15" y="37"/>
                    <a:pt x="14" y="37"/>
                    <a:pt x="14" y="36"/>
                  </a:cubicBezTo>
                  <a:cubicBezTo>
                    <a:pt x="14" y="35"/>
                    <a:pt x="15" y="34"/>
                    <a:pt x="15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9" y="34"/>
                    <a:pt x="40" y="35"/>
                    <a:pt x="40" y="36"/>
                  </a:cubicBezTo>
                  <a:cubicBezTo>
                    <a:pt x="40" y="37"/>
                    <a:pt x="39" y="37"/>
                    <a:pt x="38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15" y="37"/>
                  </a:moveTo>
                  <a:cubicBezTo>
                    <a:pt x="15" y="37"/>
                    <a:pt x="15" y="37"/>
                    <a:pt x="15" y="3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66"/>
            <p:cNvSpPr>
              <a:spLocks noEditPoints="1"/>
            </p:cNvSpPr>
            <p:nvPr/>
          </p:nvSpPr>
          <p:spPr bwMode="auto">
            <a:xfrm>
              <a:off x="593651" y="3092450"/>
              <a:ext cx="52388" cy="49213"/>
            </a:xfrm>
            <a:custGeom>
              <a:avLst/>
              <a:gdLst>
                <a:gd name="T0" fmla="*/ 0 w 14"/>
                <a:gd name="T1" fmla="*/ 7 h 13"/>
                <a:gd name="T2" fmla="*/ 7 w 14"/>
                <a:gd name="T3" fmla="*/ 13 h 13"/>
                <a:gd name="T4" fmla="*/ 14 w 14"/>
                <a:gd name="T5" fmla="*/ 7 h 13"/>
                <a:gd name="T6" fmla="*/ 7 w 14"/>
                <a:gd name="T7" fmla="*/ 0 h 13"/>
                <a:gd name="T8" fmla="*/ 0 w 14"/>
                <a:gd name="T9" fmla="*/ 7 h 13"/>
                <a:gd name="T10" fmla="*/ 0 w 14"/>
                <a:gd name="T11" fmla="*/ 7 h 13"/>
                <a:gd name="T12" fmla="*/ 0 w 14"/>
                <a:gd name="T13" fmla="*/ 7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0" y="10"/>
                    <a:pt x="3" y="13"/>
                    <a:pt x="7" y="13"/>
                  </a:cubicBezTo>
                  <a:cubicBezTo>
                    <a:pt x="11" y="13"/>
                    <a:pt x="14" y="10"/>
                    <a:pt x="14" y="7"/>
                  </a:cubicBezTo>
                  <a:cubicBezTo>
                    <a:pt x="14" y="3"/>
                    <a:pt x="11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lose/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67"/>
            <p:cNvSpPr>
              <a:spLocks noEditPoints="1"/>
            </p:cNvSpPr>
            <p:nvPr/>
          </p:nvSpPr>
          <p:spPr bwMode="auto">
            <a:xfrm>
              <a:off x="571426" y="3144838"/>
              <a:ext cx="96838" cy="49213"/>
            </a:xfrm>
            <a:custGeom>
              <a:avLst/>
              <a:gdLst>
                <a:gd name="T0" fmla="*/ 13 w 26"/>
                <a:gd name="T1" fmla="*/ 0 h 13"/>
                <a:gd name="T2" fmla="*/ 0 w 26"/>
                <a:gd name="T3" fmla="*/ 13 h 13"/>
                <a:gd name="T4" fmla="*/ 26 w 26"/>
                <a:gd name="T5" fmla="*/ 13 h 13"/>
                <a:gd name="T6" fmla="*/ 13 w 26"/>
                <a:gd name="T7" fmla="*/ 0 h 13"/>
                <a:gd name="T8" fmla="*/ 13 w 26"/>
                <a:gd name="T9" fmla="*/ 0 h 13"/>
                <a:gd name="T10" fmla="*/ 13 w 26"/>
                <a:gd name="T1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13">
                  <a:moveTo>
                    <a:pt x="13" y="0"/>
                  </a:moveTo>
                  <a:cubicBezTo>
                    <a:pt x="6" y="0"/>
                    <a:pt x="1" y="6"/>
                    <a:pt x="0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5"/>
                    <a:pt x="21" y="0"/>
                    <a:pt x="13" y="0"/>
                  </a:cubicBezTo>
                  <a:close/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136A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875665" y="1215390"/>
            <a:ext cx="7981950" cy="2452016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28575">
            <a:solidFill>
              <a:srgbClr val="00B0F0"/>
            </a:solidFill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dirty="0"/>
              <a:t>def get_city(**kwargs):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    city = kwargs.get('city', '')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    if city: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        print('name:{},  password:{},  city:{}'.format(kwargs['name'], kwargs['password'], kwargs['city']))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    else: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        print('name:{},  password:{}'.format(kwargs['name'], kwargs['password']))</a:t>
            </a:r>
          </a:p>
          <a:p>
            <a:pPr algn="l">
              <a:lnSpc>
                <a:spcPct val="120000"/>
              </a:lnSpc>
            </a:pPr>
            <a:endParaRPr lang="zh-CN" altLang="en-US" sz="1400" dirty="0"/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get_city(name=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张三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, password=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123456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, city=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北京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)</a:t>
            </a:r>
          </a:p>
          <a:p>
            <a:pPr algn="l">
              <a:lnSpc>
                <a:spcPct val="120000"/>
              </a:lnSpc>
            </a:pPr>
            <a:r>
              <a:rPr lang="zh-CN" altLang="en-US" sz="1400" dirty="0"/>
              <a:t>get_city(name=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张三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, password=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123456</a:t>
            </a:r>
            <a:r>
              <a:rPr lang="zh-CN" altLang="en-US" sz="1400" dirty="0">
                <a:sym typeface="+mn-ea"/>
              </a:rPr>
              <a:t>'</a:t>
            </a:r>
            <a:r>
              <a:rPr lang="zh-CN" altLang="en-US" sz="1400" dirty="0"/>
              <a:t>)</a:t>
            </a:r>
          </a:p>
        </p:txBody>
      </p:sp>
      <p:sp>
        <p:nvSpPr>
          <p:cNvPr id="13" name="副标题 3"/>
          <p:cNvSpPr>
            <a:spLocks noGrp="1"/>
          </p:cNvSpPr>
          <p:nvPr/>
        </p:nvSpPr>
        <p:spPr>
          <a:xfrm>
            <a:off x="469900" y="3708400"/>
            <a:ext cx="1075690" cy="3600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Calibri" panose="020F0502020204030204" pitchFamily="34" charset="0"/>
              </a:defRPr>
            </a:lvl5pPr>
            <a:lvl6pPr marL="22860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输出结果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65" y="4250690"/>
            <a:ext cx="2857500" cy="48577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>
                <a:sym typeface="+mn-ea"/>
              </a:rPr>
              <a:t>关键字可变长参数的应用</a:t>
            </a:r>
            <a:endParaRPr lang="zh-CN" altLang="en-US" dirty="0"/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1160780" y="1650365"/>
            <a:ext cx="6638290" cy="1591324"/>
          </a:xfrm>
          <a:prstGeom prst="roundRect">
            <a:avLst>
              <a:gd name="adj" fmla="val 245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50800">
            <a:noFill/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、定义的时候是以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'**'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 开始，后面的参数名可以换，但是推荐使用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kwargs</a:t>
            </a:r>
            <a:endParaRPr lang="zh-CN" altLang="en-US" sz="1600" dirty="0">
              <a:latin typeface="+mn-ea"/>
              <a:ea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、定义的位置为所有位置参数、默认参数、非关键字可变长参数的后面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、在使用的时候，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kwargs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是参数组成的一个字典类型</a:t>
            </a:r>
            <a:endParaRPr lang="zh-CN" altLang="en-US" sz="1600" dirty="0">
              <a:latin typeface="+mn-ea"/>
              <a:ea typeface="+mn-ea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7325" y="828675"/>
            <a:ext cx="2621280" cy="3371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关键字可变长参数注意事项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关键字可变长参数的作用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1061720" y="1567815"/>
            <a:ext cx="6374130" cy="842049"/>
          </a:xfrm>
          <a:prstGeom prst="roundRect">
            <a:avLst>
              <a:gd name="adj" fmla="val 245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50800">
            <a:noFill/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+mn-ea"/>
                <a:ea typeface="+mn-ea"/>
                <a:cs typeface="+mn-ea"/>
              </a:rPr>
              <a:t>1、解决在使用函数时，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参数值和参数名成对出现的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个数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不确定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问题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2、提高程序的容错性</a:t>
            </a:r>
            <a:endParaRPr lang="zh-CN" altLang="en-US" sz="1600" dirty="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r>
              <a:rPr lang="zh-CN" altLang="en-US" dirty="0"/>
              <a:t>两种可变长参数对比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9565" y="3045460"/>
            <a:ext cx="3588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  <a:sym typeface="+mn-ea"/>
              </a:rPr>
              <a:t>关键字可变长参数</a:t>
            </a: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989965" y="3653155"/>
            <a:ext cx="7557135" cy="1216442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50800">
            <a:noFill/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、定义的时候是以一个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”**”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 开始，后面的参数名可以换，但是推荐使用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kwargs</a:t>
            </a:r>
            <a:endParaRPr lang="zh-CN" altLang="en-US" sz="1600" dirty="0">
              <a:latin typeface="+mn-ea"/>
              <a:ea typeface="+mn-ea"/>
              <a:cs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、定义的位置为所有位置参数、默认参数、非关键字可变长参数的后面</a:t>
            </a: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、在使用的时候，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kwargs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是关键字参数组成的一个字典类型</a:t>
            </a:r>
            <a:endParaRPr lang="zh-CN" altLang="en-US" sz="1600" dirty="0">
              <a:latin typeface="+mn-ea"/>
              <a:ea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9565" y="1117600"/>
            <a:ext cx="3588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0070C0"/>
                </a:solidFill>
                <a:sym typeface="+mn-ea"/>
              </a:rPr>
              <a:t>非关键字可变长参数</a:t>
            </a: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989965" y="1586230"/>
            <a:ext cx="7557135" cy="1140342"/>
          </a:xfrm>
          <a:prstGeom prst="roundRect">
            <a:avLst>
              <a:gd name="adj" fmla="val 2454"/>
            </a:avLst>
          </a:prstGeom>
          <a:solidFill>
            <a:srgbClr val="EDF5FD"/>
          </a:solidFill>
          <a:ln w="50800">
            <a:noFill/>
            <a:bevel/>
          </a:ln>
          <a:effectLst>
            <a:outerShdw sx="100999" sy="100999" algn="ctr" rotWithShape="0">
              <a:srgbClr val="000000">
                <a:alpha val="6998"/>
              </a:srgb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、定义的时候是以一个</a:t>
            </a:r>
            <a:r>
              <a:rPr lang="en-US" altLang="zh-CN" sz="1600" dirty="0">
                <a:latin typeface="+mn-ea"/>
                <a:ea typeface="+mn-ea"/>
                <a:cs typeface="+mn-ea"/>
              </a:rPr>
              <a:t>”*”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 开始，后面的参数名可以换，但是推荐使用</a:t>
            </a:r>
            <a:r>
              <a:rPr lang="en-US" altLang="zh-CN" sz="1600" dirty="0">
                <a:latin typeface="+mn-ea"/>
                <a:ea typeface="+mn-ea"/>
                <a:cs typeface="+mn-ea"/>
              </a:rPr>
              <a:t>args</a:t>
            </a:r>
            <a:endParaRPr lang="zh-CN" altLang="en-US" sz="1600" dirty="0">
              <a:latin typeface="+mn-ea"/>
              <a:ea typeface="+mn-ea"/>
              <a:cs typeface="+mn-ea"/>
            </a:endParaRPr>
          </a:p>
          <a:p>
            <a:pPr algn="l">
              <a:lnSpc>
                <a:spcPct val="14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</a:rPr>
              <a:t>2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、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定义的位置为</a:t>
            </a:r>
            <a:r>
              <a:rPr lang="zh-CN" altLang="en-US" sz="1600" dirty="0">
                <a:latin typeface="+mn-ea"/>
                <a:ea typeface="+mn-ea"/>
                <a:cs typeface="+mn-ea"/>
              </a:rPr>
              <a:t>所有位置参数和默认参数的后面</a:t>
            </a:r>
          </a:p>
          <a:p>
            <a:pPr algn="l">
              <a:lnSpc>
                <a:spcPct val="140000"/>
              </a:lnSpc>
            </a:pP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、在使用的时候，</a:t>
            </a:r>
            <a:r>
              <a:rPr lang="en-US" altLang="zh-CN" sz="1600" dirty="0">
                <a:latin typeface="+mn-ea"/>
                <a:ea typeface="+mn-ea"/>
                <a:cs typeface="+mn-ea"/>
                <a:sym typeface="+mn-ea"/>
              </a:rPr>
              <a:t>args</a:t>
            </a:r>
            <a:r>
              <a:rPr lang="zh-CN" altLang="en-US" sz="1600" dirty="0">
                <a:latin typeface="+mn-ea"/>
                <a:ea typeface="+mn-ea"/>
                <a:cs typeface="+mn-ea"/>
                <a:sym typeface="+mn-ea"/>
              </a:rPr>
              <a:t>是位置参数组成的一个元组类型</a:t>
            </a:r>
            <a:endParaRPr lang="zh-CN" altLang="en-US" sz="1600" dirty="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第四课时</a:t>
            </a: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4"/>
    </mc:Choice>
    <mc:Fallback xmlns="">
      <p:transition spd="slow" advTm="964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单元总结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2770" y="1545590"/>
            <a:ext cx="6236970" cy="262763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函数关键字是什么？</a:t>
            </a:r>
          </a:p>
          <a:p>
            <a:pPr>
              <a:defRPr/>
            </a:pPr>
            <a:r>
              <a:rPr lang="zh-CN" altLang="en-US" dirty="0"/>
              <a:t>函数的分类都有哪些？</a:t>
            </a:r>
          </a:p>
          <a:p>
            <a:pPr>
              <a:defRPr/>
            </a:pPr>
            <a:r>
              <a:rPr lang="zh-CN" altLang="en-US" dirty="0"/>
              <a:t>形参与实参的区别？</a:t>
            </a:r>
          </a:p>
          <a:p>
            <a:pPr>
              <a:defRPr/>
            </a:pPr>
            <a:r>
              <a:rPr lang="zh-CN" altLang="en-US" dirty="0"/>
              <a:t>参数分类之间的区别？</a:t>
            </a:r>
          </a:p>
          <a:p>
            <a:pPr>
              <a:defRPr/>
            </a:pPr>
            <a:endParaRPr lang="zh-CN" altLang="en-US" dirty="0"/>
          </a:p>
          <a:p>
            <a:pPr marL="457200" lvl="1" indent="0">
              <a:buNone/>
              <a:defRPr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294967295"/>
          </p:nvPr>
        </p:nvSpPr>
        <p:spPr>
          <a:xfrm>
            <a:off x="7010400" y="4816475"/>
            <a:ext cx="2133600" cy="274638"/>
          </a:xfrm>
        </p:spPr>
        <p:txBody>
          <a:bodyPr/>
          <a:lstStyle/>
          <a:p>
            <a:pPr>
              <a:defRPr/>
            </a:pPr>
            <a:fld id="{20A3C244-A2EA-421B-AA84-7941BACD046B}" type="slidenum">
              <a:rPr lang="zh-CN" altLang="en-US" sz="180" smtClean="0"/>
              <a:t>42</a:t>
            </a:fld>
            <a:r>
              <a:rPr lang="en-US" altLang="zh-CN" sz="180"/>
              <a:t>/47</a:t>
            </a:r>
            <a:endParaRPr lang="zh-CN" altLang="en-US" sz="180" dirty="0"/>
          </a:p>
        </p:txBody>
      </p:sp>
      <p:sp>
        <p:nvSpPr>
          <p:cNvPr id="9" name="TextBox 8"/>
          <p:cNvSpPr txBox="1"/>
          <p:nvPr/>
        </p:nvSpPr>
        <p:spPr>
          <a:xfrm>
            <a:off x="539552" y="843305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+mj-ea"/>
                <a:ea typeface="+mj-ea"/>
              </a:rPr>
              <a:t>现场提问</a:t>
            </a:r>
          </a:p>
        </p:txBody>
      </p:sp>
      <p:pic>
        <p:nvPicPr>
          <p:cNvPr id="10" name="图片 9" descr="现场提问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794912"/>
            <a:ext cx="405385" cy="408433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课堂案例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65125" y="826135"/>
            <a:ext cx="6729730" cy="40614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1．创建一个函数，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fun1,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计算一个数的幂；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（1）函数名：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fun1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（2）参数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num1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，整数类型；</a:t>
            </a: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（3）参数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num2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，整数类型；</a:t>
            </a: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（4）返回值：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num1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</a:t>
            </a:r>
            <a:r>
              <a:rPr 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方；</a:t>
            </a: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（5）功能介绍：该函数计算两个数的次方并返回计算结果；</a:t>
            </a:r>
          </a:p>
          <a:p>
            <a:pPr marL="0" indent="266700" algn="l"/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2．创建函数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fun2</a:t>
            </a:r>
            <a:endParaRPr 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（1）函数名：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fun2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（2）参数：非关键字变长参数，类型为字符串；</a:t>
            </a: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（3）返回值：任意多个字符串的拼接；</a:t>
            </a:r>
          </a:p>
          <a:p>
            <a:pPr marL="0" indent="266700" algn="l"/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（4）功能介绍：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先使用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循环显示所有传递过来的参数值；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创建字符串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str1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，将所有参数拼接并赋值到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str1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上；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str1</a:t>
            </a:r>
            <a:r>
              <a:rPr 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sz="1050" b="1" dirty="0">
              <a:latin typeface="宋体" panose="02010600030101010101" pitchFamily="2" charset="-122"/>
              <a:ea typeface="等线" panose="02010600030101010101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课堂案例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732790" y="1802130"/>
            <a:ext cx="75565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fun1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，传入参数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;3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，输出返回值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调用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fun2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，传入参数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;a,b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，输出返回值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创建匿名函数计算两个数的平方差，并传入参数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，输出返回值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20272" y="195486"/>
            <a:ext cx="2016224" cy="368300"/>
          </a:xfrm>
        </p:spPr>
        <p:txBody>
          <a:bodyPr/>
          <a:lstStyle/>
          <a:p>
            <a:r>
              <a:rPr lang="zh-CN" altLang="en-US" dirty="0"/>
              <a:t>函数的作用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1593850" y="1577340"/>
            <a:ext cx="5956300" cy="1767179"/>
          </a:xfrm>
          <a:prstGeom prst="roundRect">
            <a:avLst>
              <a:gd name="adj" fmla="val 134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50800">
            <a:noFill/>
            <a:bevel/>
          </a:ln>
          <a:effectLst>
            <a:outerShdw sx="100999" sy="100999" algn="ctr" rotWithShape="0">
              <a:srgbClr val="000000">
                <a:alpha val="6999"/>
              </a:srgbClr>
            </a:outerShdw>
          </a:effectLst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+mn-ea"/>
                <a:ea typeface="+mn-ea"/>
                <a:sym typeface="+mn-ea"/>
              </a:rPr>
              <a:t>使程序变的更加简短，更加清晰</a:t>
            </a:r>
            <a:endParaRPr lang="zh-CN" altLang="en-US" sz="1800"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+mn-ea"/>
                <a:ea typeface="+mn-ea"/>
                <a:sym typeface="+mn-ea"/>
              </a:rPr>
              <a:t>有利于维护代码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+mn-ea"/>
                <a:ea typeface="+mn-ea"/>
                <a:sym typeface="+mn-ea"/>
              </a:rPr>
              <a:t>提高代码的重用性</a:t>
            </a:r>
            <a:endParaRPr lang="zh-CN" altLang="en-US" sz="1800">
              <a:latin typeface="+mn-ea"/>
              <a:ea typeface="+mn-ea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>
                <a:latin typeface="+mn-ea"/>
                <a:ea typeface="+mn-ea"/>
                <a:sym typeface="+mn-ea"/>
              </a:rPr>
              <a:t>提高程序开发的效率</a:t>
            </a:r>
            <a:endParaRPr lang="zh-CN" altLang="en-US" sz="1800" b="1" dirty="0">
              <a:solidFill>
                <a:srgbClr val="09131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push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作业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893445" y="1139190"/>
            <a:ext cx="682942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．创建函数，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fun1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（1）函数名：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fun1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（2）参数：关键字变长参数；</a:t>
            </a: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（3）返回值：列表；</a:t>
            </a: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（4）功能介绍：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先使用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for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循环显示关键字变长参数中所有的键；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再将关键字变长参数中所有的值保存到列表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vlist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中；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最后返回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vlist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5739" y="141482"/>
            <a:ext cx="6768877" cy="368300"/>
          </a:xfrm>
        </p:spPr>
        <p:txBody>
          <a:bodyPr/>
          <a:lstStyle/>
          <a:p>
            <a:pPr algn="r"/>
            <a:r>
              <a:rPr lang="zh-CN" altLang="en-US" dirty="0"/>
              <a:t>作业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513715" y="793115"/>
            <a:ext cx="816356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．创建函数，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fun2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（1）函数名：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fun2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（2）参数：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，字符串类型；</a:t>
            </a: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（3）返回值：字符串；</a:t>
            </a: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（4）功能介绍：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判断字符串长度，保存到变量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中；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大于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，则返回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前三个字符；</a:t>
            </a:r>
            <a:endParaRPr 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小于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，则返回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</a:t>
            </a:r>
          </a:p>
          <a:p>
            <a:pPr marL="0" indent="266700" algn="l"/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6．测试；</a:t>
            </a:r>
          </a:p>
          <a:p>
            <a:pPr marL="0" indent="266700" algn="l"/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）调用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fun1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，传入参数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;a=3,b=6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，输出返回值</a:t>
            </a:r>
          </a:p>
          <a:p>
            <a:pPr marL="0" indent="266700" algn="l"/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）调用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fun2,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传入参数字符串</a:t>
            </a: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‘asdfg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’，输出返回值</a:t>
            </a:r>
          </a:p>
          <a:p>
            <a:pPr marL="0" indent="266700" algn="l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概念图</a:t>
            </a:r>
          </a:p>
        </p:txBody>
      </p:sp>
      <p:pic>
        <p:nvPicPr>
          <p:cNvPr id="7" name="图片 6" descr="10-函数 概念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0" y="653415"/>
            <a:ext cx="7525385" cy="438086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07" y="3102770"/>
            <a:ext cx="9144001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/>
          <p:nvPr/>
        </p:nvGrpSpPr>
        <p:grpSpPr bwMode="auto">
          <a:xfrm>
            <a:off x="0" y="-204696"/>
            <a:ext cx="9151144" cy="3852068"/>
            <a:chOff x="0" y="107177"/>
            <a:chExt cx="9151144" cy="3852791"/>
          </a:xfrm>
        </p:grpSpPr>
        <p:sp>
          <p:nvSpPr>
            <p:cNvPr id="5" name="矩形 254"/>
            <p:cNvSpPr>
              <a:spLocks noChangeArrowheads="1"/>
            </p:cNvSpPr>
            <p:nvPr/>
          </p:nvSpPr>
          <p:spPr bwMode="auto">
            <a:xfrm>
              <a:off x="0" y="113953"/>
              <a:ext cx="9144000" cy="3846015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</a:gdLst>
              <a:ahLst/>
              <a:cxnLst/>
              <a:rect l="T0" t="T1" r="T2" b="T3"/>
              <a:pathLst>
                <a:path w="9144000" h="3846015">
                  <a:moveTo>
                    <a:pt x="0" y="0"/>
                  </a:moveTo>
                  <a:lnTo>
                    <a:pt x="9144000" y="0"/>
                  </a:lnTo>
                  <a:lnTo>
                    <a:pt x="9144000" y="3651870"/>
                  </a:lnTo>
                  <a:lnTo>
                    <a:pt x="4766144" y="3651870"/>
                  </a:lnTo>
                  <a:lnTo>
                    <a:pt x="4571999" y="3846015"/>
                  </a:lnTo>
                  <a:lnTo>
                    <a:pt x="4377855" y="3651870"/>
                  </a:lnTo>
                  <a:lnTo>
                    <a:pt x="0" y="3651870"/>
                  </a:lnTo>
                  <a:close/>
                </a:path>
              </a:pathLst>
            </a:custGeom>
            <a:solidFill>
              <a:srgbClr val="292929">
                <a:alpha val="2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矩形 254"/>
            <p:cNvSpPr>
              <a:spLocks noChangeArrowheads="1"/>
            </p:cNvSpPr>
            <p:nvPr/>
          </p:nvSpPr>
          <p:spPr bwMode="auto">
            <a:xfrm>
              <a:off x="0" y="107177"/>
              <a:ext cx="9151144" cy="3738838"/>
            </a:xfrm>
            <a:custGeom>
              <a:avLst/>
              <a:gdLst>
                <a:gd name="T0" fmla="*/ 0 w 9144000"/>
                <a:gd name="T1" fmla="*/ 0 h 3846015"/>
                <a:gd name="T2" fmla="*/ 9144000 w 9144000"/>
                <a:gd name="T3" fmla="*/ 3846015 h 3846015"/>
                <a:gd name="connsiteX0" fmla="*/ 42863 w 9144000"/>
                <a:gd name="connsiteY0" fmla="*/ 643058 h 3846015"/>
                <a:gd name="connsiteX1" fmla="*/ 9144000 w 9144000"/>
                <a:gd name="connsiteY1" fmla="*/ 0 h 3846015"/>
                <a:gd name="connsiteX2" fmla="*/ 9144000 w 9144000"/>
                <a:gd name="connsiteY2" fmla="*/ 3651870 h 3846015"/>
                <a:gd name="connsiteX3" fmla="*/ 4766144 w 9144000"/>
                <a:gd name="connsiteY3" fmla="*/ 3651870 h 3846015"/>
                <a:gd name="connsiteX4" fmla="*/ 4571999 w 9144000"/>
                <a:gd name="connsiteY4" fmla="*/ 3846015 h 3846015"/>
                <a:gd name="connsiteX5" fmla="*/ 4377855 w 9144000"/>
                <a:gd name="connsiteY5" fmla="*/ 3651870 h 3846015"/>
                <a:gd name="connsiteX6" fmla="*/ 0 w 9144000"/>
                <a:gd name="connsiteY6" fmla="*/ 3651870 h 3846015"/>
                <a:gd name="connsiteX7" fmla="*/ 42863 w 9144000"/>
                <a:gd name="connsiteY7" fmla="*/ 643058 h 3846015"/>
                <a:gd name="connsiteX0-1" fmla="*/ 7145 w 9144000"/>
                <a:gd name="connsiteY0-2" fmla="*/ 121467 h 3846015"/>
                <a:gd name="connsiteX1-3" fmla="*/ 9144000 w 9144000"/>
                <a:gd name="connsiteY1-4" fmla="*/ 0 h 3846015"/>
                <a:gd name="connsiteX2-5" fmla="*/ 9144000 w 9144000"/>
                <a:gd name="connsiteY2-6" fmla="*/ 3651870 h 3846015"/>
                <a:gd name="connsiteX3-7" fmla="*/ 4766144 w 9144000"/>
                <a:gd name="connsiteY3-8" fmla="*/ 3651870 h 3846015"/>
                <a:gd name="connsiteX4-9" fmla="*/ 4571999 w 9144000"/>
                <a:gd name="connsiteY4-10" fmla="*/ 3846015 h 3846015"/>
                <a:gd name="connsiteX5-11" fmla="*/ 4377855 w 9144000"/>
                <a:gd name="connsiteY5-12" fmla="*/ 3651870 h 3846015"/>
                <a:gd name="connsiteX6-13" fmla="*/ 0 w 9144000"/>
                <a:gd name="connsiteY6-14" fmla="*/ 3651870 h 3846015"/>
                <a:gd name="connsiteX7-15" fmla="*/ 7145 w 9144000"/>
                <a:gd name="connsiteY7-16" fmla="*/ 121467 h 3846015"/>
                <a:gd name="connsiteX0-17" fmla="*/ 7145 w 9144000"/>
                <a:gd name="connsiteY0-18" fmla="*/ 0 h 3724548"/>
                <a:gd name="connsiteX1-19" fmla="*/ 8851106 w 9144000"/>
                <a:gd name="connsiteY1-20" fmla="*/ 392980 h 3724548"/>
                <a:gd name="connsiteX2-21" fmla="*/ 9144000 w 9144000"/>
                <a:gd name="connsiteY2-22" fmla="*/ 3530403 h 3724548"/>
                <a:gd name="connsiteX3-23" fmla="*/ 4766144 w 9144000"/>
                <a:gd name="connsiteY3-24" fmla="*/ 3530403 h 3724548"/>
                <a:gd name="connsiteX4-25" fmla="*/ 4571999 w 9144000"/>
                <a:gd name="connsiteY4-26" fmla="*/ 3724548 h 3724548"/>
                <a:gd name="connsiteX5-27" fmla="*/ 4377855 w 9144000"/>
                <a:gd name="connsiteY5-28" fmla="*/ 3530403 h 3724548"/>
                <a:gd name="connsiteX6-29" fmla="*/ 0 w 9144000"/>
                <a:gd name="connsiteY6-30" fmla="*/ 3530403 h 3724548"/>
                <a:gd name="connsiteX7-31" fmla="*/ 7145 w 9144000"/>
                <a:gd name="connsiteY7-32" fmla="*/ 0 h 3724548"/>
                <a:gd name="connsiteX0-33" fmla="*/ 7145 w 9151144"/>
                <a:gd name="connsiteY0-34" fmla="*/ 14290 h 3738838"/>
                <a:gd name="connsiteX1-35" fmla="*/ 9151144 w 9151144"/>
                <a:gd name="connsiteY1-36" fmla="*/ 0 h 3738838"/>
                <a:gd name="connsiteX2-37" fmla="*/ 9144000 w 9151144"/>
                <a:gd name="connsiteY2-38" fmla="*/ 3544693 h 3738838"/>
                <a:gd name="connsiteX3-39" fmla="*/ 4766144 w 9151144"/>
                <a:gd name="connsiteY3-40" fmla="*/ 3544693 h 3738838"/>
                <a:gd name="connsiteX4-41" fmla="*/ 4571999 w 9151144"/>
                <a:gd name="connsiteY4-42" fmla="*/ 3738838 h 3738838"/>
                <a:gd name="connsiteX5-43" fmla="*/ 4377855 w 9151144"/>
                <a:gd name="connsiteY5-44" fmla="*/ 3544693 h 3738838"/>
                <a:gd name="connsiteX6-45" fmla="*/ 0 w 9151144"/>
                <a:gd name="connsiteY6-46" fmla="*/ 3544693 h 3738838"/>
                <a:gd name="connsiteX7-47" fmla="*/ 7145 w 9151144"/>
                <a:gd name="connsiteY7-48" fmla="*/ 14290 h 3738838"/>
                <a:gd name="connsiteX0-49" fmla="*/ 7145 w 9151144"/>
                <a:gd name="connsiteY0-50" fmla="*/ 7145 h 3738838"/>
                <a:gd name="connsiteX1-51" fmla="*/ 9151144 w 9151144"/>
                <a:gd name="connsiteY1-52" fmla="*/ 0 h 3738838"/>
                <a:gd name="connsiteX2-53" fmla="*/ 9144000 w 9151144"/>
                <a:gd name="connsiteY2-54" fmla="*/ 3544693 h 3738838"/>
                <a:gd name="connsiteX3-55" fmla="*/ 4766144 w 9151144"/>
                <a:gd name="connsiteY3-56" fmla="*/ 3544693 h 3738838"/>
                <a:gd name="connsiteX4-57" fmla="*/ 4571999 w 9151144"/>
                <a:gd name="connsiteY4-58" fmla="*/ 3738838 h 3738838"/>
                <a:gd name="connsiteX5-59" fmla="*/ 4377855 w 9151144"/>
                <a:gd name="connsiteY5-60" fmla="*/ 3544693 h 3738838"/>
                <a:gd name="connsiteX6-61" fmla="*/ 0 w 9151144"/>
                <a:gd name="connsiteY6-62" fmla="*/ 3544693 h 3738838"/>
                <a:gd name="connsiteX7-63" fmla="*/ 7145 w 9151144"/>
                <a:gd name="connsiteY7-64" fmla="*/ 7145 h 37388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9151144" h="3738838">
                  <a:moveTo>
                    <a:pt x="7145" y="7145"/>
                  </a:moveTo>
                  <a:lnTo>
                    <a:pt x="9151144" y="0"/>
                  </a:lnTo>
                  <a:cubicBezTo>
                    <a:pt x="9148763" y="1181564"/>
                    <a:pt x="9146381" y="2363129"/>
                    <a:pt x="9144000" y="3544693"/>
                  </a:cubicBezTo>
                  <a:lnTo>
                    <a:pt x="4766144" y="3544693"/>
                  </a:lnTo>
                  <a:lnTo>
                    <a:pt x="4571999" y="3738838"/>
                  </a:lnTo>
                  <a:lnTo>
                    <a:pt x="4377855" y="3544693"/>
                  </a:lnTo>
                  <a:lnTo>
                    <a:pt x="0" y="3544693"/>
                  </a:lnTo>
                  <a:cubicBezTo>
                    <a:pt x="0" y="2327403"/>
                    <a:pt x="7145" y="1224435"/>
                    <a:pt x="7145" y="714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16723" y="3983478"/>
            <a:ext cx="9144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2" algn="ctr"/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创新教育</a:t>
            </a:r>
            <a:r>
              <a:rPr lang="en-US" altLang="zh-CN" sz="4800" b="1" dirty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4800" b="1" dirty="0">
                <a:solidFill>
                  <a:schemeClr val="bg1"/>
                </a:solidFill>
                <a:latin typeface="+mn-ea"/>
                <a:ea typeface="+mn-ea"/>
              </a:rPr>
              <a:t>引领未来</a:t>
            </a:r>
            <a:endParaRPr lang="zh-CN" altLang="en-US" sz="4800" b="1" dirty="0">
              <a:solidFill>
                <a:schemeClr val="bg1"/>
              </a:solidFill>
              <a:latin typeface="+mn-ea"/>
              <a:ea typeface="+mn-ea"/>
              <a:sym typeface="Impact" panose="020B0806030902050204" pitchFamily="34" charset="0"/>
            </a:endParaRPr>
          </a:p>
        </p:txBody>
      </p:sp>
      <p:grpSp>
        <p:nvGrpSpPr>
          <p:cNvPr id="14" name="组合 46"/>
          <p:cNvGrpSpPr/>
          <p:nvPr/>
        </p:nvGrpSpPr>
        <p:grpSpPr bwMode="auto">
          <a:xfrm>
            <a:off x="3795175" y="970438"/>
            <a:ext cx="1587103" cy="1587103"/>
            <a:chOff x="0" y="0"/>
            <a:chExt cx="2116920" cy="2116920"/>
          </a:xfrm>
        </p:grpSpPr>
        <p:sp>
          <p:nvSpPr>
            <p:cNvPr id="15" name="椭圆 47"/>
            <p:cNvSpPr>
              <a:spLocks noChangeArrowheads="1"/>
            </p:cNvSpPr>
            <p:nvPr/>
          </p:nvSpPr>
          <p:spPr bwMode="auto">
            <a:xfrm>
              <a:off x="0" y="0"/>
              <a:ext cx="2116920" cy="2116920"/>
            </a:xfrm>
            <a:prstGeom prst="ellipse">
              <a:avLst/>
            </a:prstGeom>
            <a:solidFill>
              <a:srgbClr val="F2F2F2"/>
            </a:solidFill>
            <a:ln w="57150">
              <a:solidFill>
                <a:srgbClr val="1D8DE5"/>
              </a:solidFill>
              <a:beve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</a:endParaRPr>
            </a:p>
          </p:txBody>
        </p:sp>
        <p:grpSp>
          <p:nvGrpSpPr>
            <p:cNvPr id="16" name="组合 48"/>
            <p:cNvGrpSpPr/>
            <p:nvPr/>
          </p:nvGrpSpPr>
          <p:grpSpPr bwMode="auto">
            <a:xfrm>
              <a:off x="461855" y="280091"/>
              <a:ext cx="1193210" cy="1836829"/>
              <a:chOff x="0" y="0"/>
              <a:chExt cx="2598738" cy="4000499"/>
            </a:xfrm>
          </p:grpSpPr>
          <p:sp>
            <p:nvSpPr>
              <p:cNvPr id="17" name="Freeform 1281"/>
              <p:cNvSpPr>
                <a:spLocks noChangeArrowheads="1"/>
              </p:cNvSpPr>
              <p:nvPr/>
            </p:nvSpPr>
            <p:spPr bwMode="auto">
              <a:xfrm>
                <a:off x="1435100" y="3543299"/>
                <a:ext cx="327025" cy="457200"/>
              </a:xfrm>
              <a:custGeom>
                <a:avLst/>
                <a:gdLst>
                  <a:gd name="T0" fmla="*/ 519152188 w 206"/>
                  <a:gd name="T1" fmla="*/ 0 h 288"/>
                  <a:gd name="T2" fmla="*/ 367942813 w 206"/>
                  <a:gd name="T3" fmla="*/ 0 h 288"/>
                  <a:gd name="T4" fmla="*/ 153730325 w 206"/>
                  <a:gd name="T5" fmla="*/ 0 h 288"/>
                  <a:gd name="T6" fmla="*/ 0 w 206"/>
                  <a:gd name="T7" fmla="*/ 0 h 288"/>
                  <a:gd name="T8" fmla="*/ 0 w 206"/>
                  <a:gd name="T9" fmla="*/ 20161250 h 288"/>
                  <a:gd name="T10" fmla="*/ 153730325 w 206"/>
                  <a:gd name="T11" fmla="*/ 20161250 h 288"/>
                  <a:gd name="T12" fmla="*/ 153730325 w 206"/>
                  <a:gd name="T13" fmla="*/ 725805000 h 288"/>
                  <a:gd name="T14" fmla="*/ 153730325 w 206"/>
                  <a:gd name="T15" fmla="*/ 725805000 h 288"/>
                  <a:gd name="T16" fmla="*/ 367942813 w 206"/>
                  <a:gd name="T17" fmla="*/ 725805000 h 288"/>
                  <a:gd name="T18" fmla="*/ 367942813 w 206"/>
                  <a:gd name="T19" fmla="*/ 725805000 h 288"/>
                  <a:gd name="T20" fmla="*/ 367942813 w 206"/>
                  <a:gd name="T21" fmla="*/ 20161250 h 288"/>
                  <a:gd name="T22" fmla="*/ 519152188 w 206"/>
                  <a:gd name="T23" fmla="*/ 20161250 h 288"/>
                  <a:gd name="T24" fmla="*/ 519152188 w 206"/>
                  <a:gd name="T25" fmla="*/ 0 h 28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06"/>
                  <a:gd name="T40" fmla="*/ 0 h 288"/>
                  <a:gd name="T41" fmla="*/ 206 w 206"/>
                  <a:gd name="T42" fmla="*/ 288 h 28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06" h="288">
                    <a:moveTo>
                      <a:pt x="206" y="0"/>
                    </a:moveTo>
                    <a:lnTo>
                      <a:pt x="146" y="0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8"/>
                    </a:lnTo>
                    <a:lnTo>
                      <a:pt x="61" y="8"/>
                    </a:lnTo>
                    <a:lnTo>
                      <a:pt x="61" y="288"/>
                    </a:lnTo>
                    <a:lnTo>
                      <a:pt x="146" y="288"/>
                    </a:lnTo>
                    <a:lnTo>
                      <a:pt x="146" y="8"/>
                    </a:lnTo>
                    <a:lnTo>
                      <a:pt x="206" y="8"/>
                    </a:lnTo>
                    <a:lnTo>
                      <a:pt x="20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283"/>
              <p:cNvSpPr>
                <a:spLocks noChangeArrowheads="1"/>
              </p:cNvSpPr>
              <p:nvPr/>
            </p:nvSpPr>
            <p:spPr bwMode="auto">
              <a:xfrm>
                <a:off x="1820863" y="3541712"/>
                <a:ext cx="328613" cy="458787"/>
              </a:xfrm>
              <a:custGeom>
                <a:avLst/>
                <a:gdLst>
                  <a:gd name="T0" fmla="*/ 521673931 w 207"/>
                  <a:gd name="T1" fmla="*/ 0 h 289"/>
                  <a:gd name="T2" fmla="*/ 214214401 w 207"/>
                  <a:gd name="T3" fmla="*/ 0 h 289"/>
                  <a:gd name="T4" fmla="*/ 138609598 w 207"/>
                  <a:gd name="T5" fmla="*/ 0 h 289"/>
                  <a:gd name="T6" fmla="*/ 0 w 207"/>
                  <a:gd name="T7" fmla="*/ 0 h 289"/>
                  <a:gd name="T8" fmla="*/ 0 w 207"/>
                  <a:gd name="T9" fmla="*/ 728323569 h 289"/>
                  <a:gd name="T10" fmla="*/ 138609598 w 207"/>
                  <a:gd name="T11" fmla="*/ 728323569 h 289"/>
                  <a:gd name="T12" fmla="*/ 214214401 w 207"/>
                  <a:gd name="T13" fmla="*/ 728323569 h 289"/>
                  <a:gd name="T14" fmla="*/ 521673931 w 207"/>
                  <a:gd name="T15" fmla="*/ 728323569 h 289"/>
                  <a:gd name="T16" fmla="*/ 521673931 w 207"/>
                  <a:gd name="T17" fmla="*/ 708162341 h 289"/>
                  <a:gd name="T18" fmla="*/ 214214401 w 207"/>
                  <a:gd name="T19" fmla="*/ 708162341 h 289"/>
                  <a:gd name="T20" fmla="*/ 214214401 w 207"/>
                  <a:gd name="T21" fmla="*/ 161289824 h 289"/>
                  <a:gd name="T22" fmla="*/ 405746567 w 207"/>
                  <a:gd name="T23" fmla="*/ 161289824 h 289"/>
                  <a:gd name="T24" fmla="*/ 405746567 w 207"/>
                  <a:gd name="T25" fmla="*/ 141128596 h 289"/>
                  <a:gd name="T26" fmla="*/ 214214401 w 207"/>
                  <a:gd name="T27" fmla="*/ 141128596 h 289"/>
                  <a:gd name="T28" fmla="*/ 214214401 w 207"/>
                  <a:gd name="T29" fmla="*/ 20161228 h 289"/>
                  <a:gd name="T30" fmla="*/ 521673931 w 207"/>
                  <a:gd name="T31" fmla="*/ 20161228 h 289"/>
                  <a:gd name="T32" fmla="*/ 521673931 w 207"/>
                  <a:gd name="T33" fmla="*/ 0 h 289"/>
                  <a:gd name="T34" fmla="*/ 521673931 w 207"/>
                  <a:gd name="T35" fmla="*/ 0 h 28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7"/>
                  <a:gd name="T55" fmla="*/ 0 h 289"/>
                  <a:gd name="T56" fmla="*/ 207 w 207"/>
                  <a:gd name="T57" fmla="*/ 289 h 28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7" h="289">
                    <a:moveTo>
                      <a:pt x="207" y="0"/>
                    </a:moveTo>
                    <a:lnTo>
                      <a:pt x="85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0" y="289"/>
                    </a:lnTo>
                    <a:lnTo>
                      <a:pt x="55" y="289"/>
                    </a:lnTo>
                    <a:lnTo>
                      <a:pt x="85" y="289"/>
                    </a:lnTo>
                    <a:lnTo>
                      <a:pt x="207" y="289"/>
                    </a:lnTo>
                    <a:lnTo>
                      <a:pt x="207" y="281"/>
                    </a:lnTo>
                    <a:lnTo>
                      <a:pt x="85" y="281"/>
                    </a:lnTo>
                    <a:lnTo>
                      <a:pt x="85" y="64"/>
                    </a:lnTo>
                    <a:lnTo>
                      <a:pt x="161" y="64"/>
                    </a:lnTo>
                    <a:lnTo>
                      <a:pt x="161" y="56"/>
                    </a:lnTo>
                    <a:lnTo>
                      <a:pt x="85" y="56"/>
                    </a:lnTo>
                    <a:lnTo>
                      <a:pt x="85" y="8"/>
                    </a:lnTo>
                    <a:lnTo>
                      <a:pt x="207" y="8"/>
                    </a:lnTo>
                    <a:lnTo>
                      <a:pt x="20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284"/>
              <p:cNvSpPr>
                <a:spLocks noChangeArrowheads="1"/>
              </p:cNvSpPr>
              <p:nvPr/>
            </p:nvSpPr>
            <p:spPr bwMode="auto">
              <a:xfrm>
                <a:off x="2598738" y="3733799"/>
                <a:ext cx="1" cy="3175"/>
              </a:xfrm>
              <a:custGeom>
                <a:avLst/>
                <a:gdLst>
                  <a:gd name="T0" fmla="*/ 0 w 1"/>
                  <a:gd name="T1" fmla="*/ 0 h 2"/>
                  <a:gd name="T2" fmla="*/ 0 w 1"/>
                  <a:gd name="T3" fmla="*/ 2520950 h 2"/>
                  <a:gd name="T4" fmla="*/ 0 w 1"/>
                  <a:gd name="T5" fmla="*/ 504031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2"/>
                  <a:gd name="T14" fmla="*/ 1 w 1"/>
                  <a:gd name="T15" fmla="*/ 2 h 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2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Freeform 1289"/>
              <p:cNvSpPr>
                <a:spLocks noChangeArrowheads="1"/>
              </p:cNvSpPr>
              <p:nvPr/>
            </p:nvSpPr>
            <p:spPr bwMode="auto">
              <a:xfrm>
                <a:off x="1112838" y="3733799"/>
                <a:ext cx="1" cy="3175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2240492 h 3"/>
                  <a:gd name="T4" fmla="*/ 0 w 1"/>
                  <a:gd name="T5" fmla="*/ 3360208 h 3"/>
                  <a:gd name="T6" fmla="*/ 0 w 1"/>
                  <a:gd name="T7" fmla="*/ 0 h 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3"/>
                  <a:gd name="T14" fmla="*/ 1 w 1"/>
                  <a:gd name="T15" fmla="*/ 3 h 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Freeform 1292"/>
              <p:cNvSpPr>
                <a:spLocks noChangeArrowheads="1"/>
              </p:cNvSpPr>
              <p:nvPr/>
            </p:nvSpPr>
            <p:spPr bwMode="auto">
              <a:xfrm>
                <a:off x="0" y="3543299"/>
                <a:ext cx="395288" cy="457200"/>
              </a:xfrm>
              <a:custGeom>
                <a:avLst/>
                <a:gdLst>
                  <a:gd name="T0" fmla="*/ 627520494 w 249"/>
                  <a:gd name="T1" fmla="*/ 0 h 288"/>
                  <a:gd name="T2" fmla="*/ 521673797 w 249"/>
                  <a:gd name="T3" fmla="*/ 0 h 288"/>
                  <a:gd name="T4" fmla="*/ 413306148 w 249"/>
                  <a:gd name="T5" fmla="*/ 0 h 288"/>
                  <a:gd name="T6" fmla="*/ 413306148 w 249"/>
                  <a:gd name="T7" fmla="*/ 138609388 h 288"/>
                  <a:gd name="T8" fmla="*/ 214214346 w 249"/>
                  <a:gd name="T9" fmla="*/ 138609388 h 288"/>
                  <a:gd name="T10" fmla="*/ 214214346 w 249"/>
                  <a:gd name="T11" fmla="*/ 0 h 288"/>
                  <a:gd name="T12" fmla="*/ 0 w 249"/>
                  <a:gd name="T13" fmla="*/ 0 h 288"/>
                  <a:gd name="T14" fmla="*/ 0 w 249"/>
                  <a:gd name="T15" fmla="*/ 725805000 h 288"/>
                  <a:gd name="T16" fmla="*/ 214214346 w 249"/>
                  <a:gd name="T17" fmla="*/ 725805000 h 288"/>
                  <a:gd name="T18" fmla="*/ 214214346 w 249"/>
                  <a:gd name="T19" fmla="*/ 161290000 h 288"/>
                  <a:gd name="T20" fmla="*/ 413306148 w 249"/>
                  <a:gd name="T21" fmla="*/ 161290000 h 288"/>
                  <a:gd name="T22" fmla="*/ 413306148 w 249"/>
                  <a:gd name="T23" fmla="*/ 725805000 h 288"/>
                  <a:gd name="T24" fmla="*/ 521673797 w 249"/>
                  <a:gd name="T25" fmla="*/ 725805000 h 288"/>
                  <a:gd name="T26" fmla="*/ 627520494 w 249"/>
                  <a:gd name="T27" fmla="*/ 725805000 h 288"/>
                  <a:gd name="T28" fmla="*/ 627520494 w 249"/>
                  <a:gd name="T29" fmla="*/ 725805000 h 288"/>
                  <a:gd name="T30" fmla="*/ 627520494 w 249"/>
                  <a:gd name="T31" fmla="*/ 0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49"/>
                  <a:gd name="T49" fmla="*/ 0 h 288"/>
                  <a:gd name="T50" fmla="*/ 249 w 249"/>
                  <a:gd name="T51" fmla="*/ 288 h 28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49" h="288">
                    <a:moveTo>
                      <a:pt x="249" y="0"/>
                    </a:moveTo>
                    <a:lnTo>
                      <a:pt x="207" y="0"/>
                    </a:lnTo>
                    <a:lnTo>
                      <a:pt x="164" y="0"/>
                    </a:lnTo>
                    <a:lnTo>
                      <a:pt x="164" y="55"/>
                    </a:lnTo>
                    <a:lnTo>
                      <a:pt x="85" y="55"/>
                    </a:lnTo>
                    <a:lnTo>
                      <a:pt x="8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85" y="288"/>
                    </a:lnTo>
                    <a:lnTo>
                      <a:pt x="85" y="64"/>
                    </a:lnTo>
                    <a:lnTo>
                      <a:pt x="164" y="64"/>
                    </a:lnTo>
                    <a:lnTo>
                      <a:pt x="164" y="288"/>
                    </a:lnTo>
                    <a:lnTo>
                      <a:pt x="207" y="288"/>
                    </a:lnTo>
                    <a:lnTo>
                      <a:pt x="249" y="288"/>
                    </a:lnTo>
                    <a:lnTo>
                      <a:pt x="24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1293"/>
              <p:cNvSpPr>
                <a:spLocks noEditPoints="1" noChangeArrowheads="1"/>
              </p:cNvSpPr>
              <p:nvPr/>
            </p:nvSpPr>
            <p:spPr bwMode="auto">
              <a:xfrm>
                <a:off x="319088" y="1646237"/>
                <a:ext cx="1916113" cy="677862"/>
              </a:xfrm>
              <a:custGeom>
                <a:avLst/>
                <a:gdLst>
                  <a:gd name="T0" fmla="*/ 2147483646 w 1660"/>
                  <a:gd name="T1" fmla="*/ 137354242 h 587"/>
                  <a:gd name="T2" fmla="*/ 2126468733 w 1660"/>
                  <a:gd name="T3" fmla="*/ 90681076 h 587"/>
                  <a:gd name="T4" fmla="*/ 1460281260 w 1660"/>
                  <a:gd name="T5" fmla="*/ 52008298 h 587"/>
                  <a:gd name="T6" fmla="*/ 1115196235 w 1660"/>
                  <a:gd name="T7" fmla="*/ 198697866 h 587"/>
                  <a:gd name="T8" fmla="*/ 1096544144 w 1660"/>
                  <a:gd name="T9" fmla="*/ 198697866 h 587"/>
                  <a:gd name="T10" fmla="*/ 751459119 w 1660"/>
                  <a:gd name="T11" fmla="*/ 52008298 h 587"/>
                  <a:gd name="T12" fmla="*/ 85271646 w 1660"/>
                  <a:gd name="T13" fmla="*/ 90681076 h 587"/>
                  <a:gd name="T14" fmla="*/ 2665244 w 1660"/>
                  <a:gd name="T15" fmla="*/ 137354242 h 587"/>
                  <a:gd name="T16" fmla="*/ 35974444 w 1660"/>
                  <a:gd name="T17" fmla="*/ 214699797 h 587"/>
                  <a:gd name="T18" fmla="*/ 130572712 w 1660"/>
                  <a:gd name="T19" fmla="*/ 394728165 h 587"/>
                  <a:gd name="T20" fmla="*/ 285128003 w 1660"/>
                  <a:gd name="T21" fmla="*/ 721446102 h 587"/>
                  <a:gd name="T22" fmla="*/ 818077520 w 1660"/>
                  <a:gd name="T23" fmla="*/ 716110970 h 587"/>
                  <a:gd name="T24" fmla="*/ 1103205523 w 1660"/>
                  <a:gd name="T25" fmla="*/ 317382610 h 587"/>
                  <a:gd name="T26" fmla="*/ 1108534856 w 1660"/>
                  <a:gd name="T27" fmla="*/ 317382610 h 587"/>
                  <a:gd name="T28" fmla="*/ 1393662859 w 1660"/>
                  <a:gd name="T29" fmla="*/ 716110970 h 587"/>
                  <a:gd name="T30" fmla="*/ 1926612376 w 1660"/>
                  <a:gd name="T31" fmla="*/ 721446102 h 587"/>
                  <a:gd name="T32" fmla="*/ 2081167666 w 1660"/>
                  <a:gd name="T33" fmla="*/ 394728165 h 587"/>
                  <a:gd name="T34" fmla="*/ 2147483646 w 1660"/>
                  <a:gd name="T35" fmla="*/ 214699797 h 587"/>
                  <a:gd name="T36" fmla="*/ 2147483646 w 1660"/>
                  <a:gd name="T37" fmla="*/ 137354242 h 587"/>
                  <a:gd name="T38" fmla="*/ 892690498 w 1660"/>
                  <a:gd name="T39" fmla="*/ 454738006 h 587"/>
                  <a:gd name="T40" fmla="*/ 783436274 w 1660"/>
                  <a:gd name="T41" fmla="*/ 652102089 h 587"/>
                  <a:gd name="T42" fmla="*/ 547605473 w 1660"/>
                  <a:gd name="T43" fmla="*/ 692107495 h 587"/>
                  <a:gd name="T44" fmla="*/ 311775825 w 1660"/>
                  <a:gd name="T45" fmla="*/ 653434717 h 587"/>
                  <a:gd name="T46" fmla="*/ 213180268 w 1660"/>
                  <a:gd name="T47" fmla="*/ 421399206 h 587"/>
                  <a:gd name="T48" fmla="*/ 194527024 w 1660"/>
                  <a:gd name="T49" fmla="*/ 176027019 h 587"/>
                  <a:gd name="T50" fmla="*/ 539610895 w 1660"/>
                  <a:gd name="T51" fmla="*/ 118684744 h 587"/>
                  <a:gd name="T52" fmla="*/ 935326321 w 1660"/>
                  <a:gd name="T53" fmla="*/ 226701534 h 587"/>
                  <a:gd name="T54" fmla="*/ 892690498 w 1660"/>
                  <a:gd name="T55" fmla="*/ 454738006 h 587"/>
                  <a:gd name="T56" fmla="*/ 1998560110 w 1660"/>
                  <a:gd name="T57" fmla="*/ 421399206 h 587"/>
                  <a:gd name="T58" fmla="*/ 1899964554 w 1660"/>
                  <a:gd name="T59" fmla="*/ 653434717 h 587"/>
                  <a:gd name="T60" fmla="*/ 1664134906 w 1660"/>
                  <a:gd name="T61" fmla="*/ 692107495 h 587"/>
                  <a:gd name="T62" fmla="*/ 1428304104 w 1660"/>
                  <a:gd name="T63" fmla="*/ 652102089 h 587"/>
                  <a:gd name="T64" fmla="*/ 1319049881 w 1660"/>
                  <a:gd name="T65" fmla="*/ 454738006 h 587"/>
                  <a:gd name="T66" fmla="*/ 1276414058 w 1660"/>
                  <a:gd name="T67" fmla="*/ 226701534 h 587"/>
                  <a:gd name="T68" fmla="*/ 1672129484 w 1660"/>
                  <a:gd name="T69" fmla="*/ 118684744 h 587"/>
                  <a:gd name="T70" fmla="*/ 2017213355 w 1660"/>
                  <a:gd name="T71" fmla="*/ 176027019 h 587"/>
                  <a:gd name="T72" fmla="*/ 1998560110 w 1660"/>
                  <a:gd name="T73" fmla="*/ 421399206 h 58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660"/>
                  <a:gd name="T112" fmla="*/ 0 h 587"/>
                  <a:gd name="T113" fmla="*/ 1660 w 1660"/>
                  <a:gd name="T114" fmla="*/ 587 h 58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660" h="587">
                    <a:moveTo>
                      <a:pt x="1658" y="103"/>
                    </a:moveTo>
                    <a:cubicBezTo>
                      <a:pt x="1658" y="71"/>
                      <a:pt x="1653" y="83"/>
                      <a:pt x="1596" y="68"/>
                    </a:cubicBezTo>
                    <a:cubicBezTo>
                      <a:pt x="1539" y="52"/>
                      <a:pt x="1364" y="0"/>
                      <a:pt x="1096" y="39"/>
                    </a:cubicBezTo>
                    <a:cubicBezTo>
                      <a:pt x="872" y="72"/>
                      <a:pt x="929" y="146"/>
                      <a:pt x="837" y="149"/>
                    </a:cubicBezTo>
                    <a:cubicBezTo>
                      <a:pt x="823" y="149"/>
                      <a:pt x="823" y="149"/>
                      <a:pt x="823" y="149"/>
                    </a:cubicBezTo>
                    <a:cubicBezTo>
                      <a:pt x="731" y="146"/>
                      <a:pt x="788" y="72"/>
                      <a:pt x="564" y="39"/>
                    </a:cubicBezTo>
                    <a:cubicBezTo>
                      <a:pt x="296" y="0"/>
                      <a:pt x="121" y="52"/>
                      <a:pt x="64" y="68"/>
                    </a:cubicBezTo>
                    <a:cubicBezTo>
                      <a:pt x="7" y="83"/>
                      <a:pt x="2" y="71"/>
                      <a:pt x="2" y="103"/>
                    </a:cubicBezTo>
                    <a:cubicBezTo>
                      <a:pt x="3" y="135"/>
                      <a:pt x="0" y="161"/>
                      <a:pt x="27" y="161"/>
                    </a:cubicBezTo>
                    <a:cubicBezTo>
                      <a:pt x="55" y="161"/>
                      <a:pt x="55" y="161"/>
                      <a:pt x="98" y="296"/>
                    </a:cubicBezTo>
                    <a:cubicBezTo>
                      <a:pt x="150" y="458"/>
                      <a:pt x="164" y="504"/>
                      <a:pt x="214" y="541"/>
                    </a:cubicBezTo>
                    <a:cubicBezTo>
                      <a:pt x="275" y="587"/>
                      <a:pt x="531" y="587"/>
                      <a:pt x="614" y="537"/>
                    </a:cubicBezTo>
                    <a:cubicBezTo>
                      <a:pt x="717" y="475"/>
                      <a:pt x="704" y="241"/>
                      <a:pt x="828" y="238"/>
                    </a:cubicBezTo>
                    <a:cubicBezTo>
                      <a:pt x="829" y="238"/>
                      <a:pt x="831" y="238"/>
                      <a:pt x="832" y="238"/>
                    </a:cubicBezTo>
                    <a:cubicBezTo>
                      <a:pt x="956" y="241"/>
                      <a:pt x="943" y="475"/>
                      <a:pt x="1046" y="537"/>
                    </a:cubicBezTo>
                    <a:cubicBezTo>
                      <a:pt x="1129" y="587"/>
                      <a:pt x="1385" y="587"/>
                      <a:pt x="1446" y="541"/>
                    </a:cubicBezTo>
                    <a:cubicBezTo>
                      <a:pt x="1496" y="504"/>
                      <a:pt x="1510" y="458"/>
                      <a:pt x="1562" y="296"/>
                    </a:cubicBezTo>
                    <a:cubicBezTo>
                      <a:pt x="1605" y="161"/>
                      <a:pt x="1605" y="161"/>
                      <a:pt x="1633" y="161"/>
                    </a:cubicBezTo>
                    <a:cubicBezTo>
                      <a:pt x="1660" y="161"/>
                      <a:pt x="1657" y="135"/>
                      <a:pt x="1658" y="103"/>
                    </a:cubicBezTo>
                    <a:close/>
                    <a:moveTo>
                      <a:pt x="670" y="341"/>
                    </a:moveTo>
                    <a:cubicBezTo>
                      <a:pt x="644" y="407"/>
                      <a:pt x="624" y="465"/>
                      <a:pt x="588" y="489"/>
                    </a:cubicBezTo>
                    <a:cubicBezTo>
                      <a:pt x="550" y="515"/>
                      <a:pt x="494" y="520"/>
                      <a:pt x="411" y="519"/>
                    </a:cubicBezTo>
                    <a:cubicBezTo>
                      <a:pt x="341" y="517"/>
                      <a:pt x="266" y="520"/>
                      <a:pt x="234" y="490"/>
                    </a:cubicBezTo>
                    <a:cubicBezTo>
                      <a:pt x="208" y="465"/>
                      <a:pt x="182" y="386"/>
                      <a:pt x="160" y="316"/>
                    </a:cubicBezTo>
                    <a:cubicBezTo>
                      <a:pt x="129" y="219"/>
                      <a:pt x="115" y="161"/>
                      <a:pt x="146" y="132"/>
                    </a:cubicBezTo>
                    <a:cubicBezTo>
                      <a:pt x="185" y="97"/>
                      <a:pt x="286" y="91"/>
                      <a:pt x="405" y="89"/>
                    </a:cubicBezTo>
                    <a:cubicBezTo>
                      <a:pt x="524" y="88"/>
                      <a:pt x="682" y="123"/>
                      <a:pt x="702" y="170"/>
                    </a:cubicBezTo>
                    <a:cubicBezTo>
                      <a:pt x="718" y="205"/>
                      <a:pt x="693" y="282"/>
                      <a:pt x="670" y="341"/>
                    </a:cubicBezTo>
                    <a:close/>
                    <a:moveTo>
                      <a:pt x="1500" y="316"/>
                    </a:moveTo>
                    <a:cubicBezTo>
                      <a:pt x="1478" y="386"/>
                      <a:pt x="1452" y="465"/>
                      <a:pt x="1426" y="490"/>
                    </a:cubicBezTo>
                    <a:cubicBezTo>
                      <a:pt x="1394" y="520"/>
                      <a:pt x="1319" y="517"/>
                      <a:pt x="1249" y="519"/>
                    </a:cubicBezTo>
                    <a:cubicBezTo>
                      <a:pt x="1166" y="520"/>
                      <a:pt x="1110" y="515"/>
                      <a:pt x="1072" y="489"/>
                    </a:cubicBezTo>
                    <a:cubicBezTo>
                      <a:pt x="1036" y="465"/>
                      <a:pt x="1016" y="407"/>
                      <a:pt x="990" y="341"/>
                    </a:cubicBezTo>
                    <a:cubicBezTo>
                      <a:pt x="967" y="282"/>
                      <a:pt x="942" y="205"/>
                      <a:pt x="958" y="170"/>
                    </a:cubicBezTo>
                    <a:cubicBezTo>
                      <a:pt x="978" y="123"/>
                      <a:pt x="1136" y="88"/>
                      <a:pt x="1255" y="89"/>
                    </a:cubicBezTo>
                    <a:cubicBezTo>
                      <a:pt x="1374" y="91"/>
                      <a:pt x="1475" y="97"/>
                      <a:pt x="1514" y="132"/>
                    </a:cubicBezTo>
                    <a:cubicBezTo>
                      <a:pt x="1546" y="161"/>
                      <a:pt x="1531" y="219"/>
                      <a:pt x="1500" y="316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1294"/>
              <p:cNvSpPr>
                <a:spLocks noChangeArrowheads="1"/>
              </p:cNvSpPr>
              <p:nvPr/>
            </p:nvSpPr>
            <p:spPr bwMode="auto">
              <a:xfrm>
                <a:off x="663575" y="2454274"/>
                <a:ext cx="622300" cy="488950"/>
              </a:xfrm>
              <a:custGeom>
                <a:avLst/>
                <a:gdLst>
                  <a:gd name="T0" fmla="*/ 0 w 538"/>
                  <a:gd name="T1" fmla="*/ 461452328 h 424"/>
                  <a:gd name="T2" fmla="*/ 204704313 w 538"/>
                  <a:gd name="T3" fmla="*/ 398949758 h 424"/>
                  <a:gd name="T4" fmla="*/ 457573257 w 538"/>
                  <a:gd name="T5" fmla="*/ 216762836 h 424"/>
                  <a:gd name="T6" fmla="*/ 709105067 w 538"/>
                  <a:gd name="T7" fmla="*/ 115695487 h 424"/>
                  <a:gd name="T8" fmla="*/ 544539104 w 538"/>
                  <a:gd name="T9" fmla="*/ 2659242 h 424"/>
                  <a:gd name="T10" fmla="*/ 198014009 w 538"/>
                  <a:gd name="T11" fmla="*/ 239369855 h 424"/>
                  <a:gd name="T12" fmla="*/ 109711027 w 538"/>
                  <a:gd name="T13" fmla="*/ 433525672 h 424"/>
                  <a:gd name="T14" fmla="*/ 0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0" y="347"/>
                    </a:moveTo>
                    <a:cubicBezTo>
                      <a:pt x="0" y="347"/>
                      <a:pt x="82" y="424"/>
                      <a:pt x="153" y="300"/>
                    </a:cubicBezTo>
                    <a:cubicBezTo>
                      <a:pt x="209" y="203"/>
                      <a:pt x="220" y="166"/>
                      <a:pt x="342" y="163"/>
                    </a:cubicBezTo>
                    <a:cubicBezTo>
                      <a:pt x="465" y="160"/>
                      <a:pt x="522" y="141"/>
                      <a:pt x="530" y="87"/>
                    </a:cubicBezTo>
                    <a:cubicBezTo>
                      <a:pt x="538" y="33"/>
                      <a:pt x="492" y="0"/>
                      <a:pt x="407" y="2"/>
                    </a:cubicBezTo>
                    <a:cubicBezTo>
                      <a:pt x="323" y="4"/>
                      <a:pt x="210" y="54"/>
                      <a:pt x="148" y="180"/>
                    </a:cubicBezTo>
                    <a:cubicBezTo>
                      <a:pt x="104" y="269"/>
                      <a:pt x="108" y="298"/>
                      <a:pt x="82" y="326"/>
                    </a:cubicBezTo>
                    <a:cubicBezTo>
                      <a:pt x="56" y="354"/>
                      <a:pt x="0" y="347"/>
                      <a:pt x="0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1295"/>
              <p:cNvSpPr>
                <a:spLocks noChangeArrowheads="1"/>
              </p:cNvSpPr>
              <p:nvPr/>
            </p:nvSpPr>
            <p:spPr bwMode="auto">
              <a:xfrm>
                <a:off x="1268413" y="2454274"/>
                <a:ext cx="622300" cy="488950"/>
              </a:xfrm>
              <a:custGeom>
                <a:avLst/>
                <a:gdLst>
                  <a:gd name="T0" fmla="*/ 719809089 w 538"/>
                  <a:gd name="T1" fmla="*/ 461452328 h 424"/>
                  <a:gd name="T2" fmla="*/ 515104777 w 538"/>
                  <a:gd name="T3" fmla="*/ 398949758 h 424"/>
                  <a:gd name="T4" fmla="*/ 262235832 w 538"/>
                  <a:gd name="T5" fmla="*/ 216762836 h 424"/>
                  <a:gd name="T6" fmla="*/ 10704023 w 538"/>
                  <a:gd name="T7" fmla="*/ 115695487 h 424"/>
                  <a:gd name="T8" fmla="*/ 175269985 w 538"/>
                  <a:gd name="T9" fmla="*/ 2659242 h 424"/>
                  <a:gd name="T10" fmla="*/ 521795080 w 538"/>
                  <a:gd name="T11" fmla="*/ 239369855 h 424"/>
                  <a:gd name="T12" fmla="*/ 610098062 w 538"/>
                  <a:gd name="T13" fmla="*/ 433525672 h 424"/>
                  <a:gd name="T14" fmla="*/ 719809089 w 538"/>
                  <a:gd name="T15" fmla="*/ 461452328 h 4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538"/>
                  <a:gd name="T25" fmla="*/ 0 h 424"/>
                  <a:gd name="T26" fmla="*/ 538 w 538"/>
                  <a:gd name="T27" fmla="*/ 424 h 42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538" h="424">
                    <a:moveTo>
                      <a:pt x="538" y="347"/>
                    </a:moveTo>
                    <a:cubicBezTo>
                      <a:pt x="538" y="347"/>
                      <a:pt x="456" y="424"/>
                      <a:pt x="385" y="300"/>
                    </a:cubicBezTo>
                    <a:cubicBezTo>
                      <a:pt x="329" y="203"/>
                      <a:pt x="318" y="166"/>
                      <a:pt x="196" y="163"/>
                    </a:cubicBezTo>
                    <a:cubicBezTo>
                      <a:pt x="74" y="160"/>
                      <a:pt x="16" y="141"/>
                      <a:pt x="8" y="87"/>
                    </a:cubicBezTo>
                    <a:cubicBezTo>
                      <a:pt x="0" y="33"/>
                      <a:pt x="46" y="0"/>
                      <a:pt x="131" y="2"/>
                    </a:cubicBezTo>
                    <a:cubicBezTo>
                      <a:pt x="215" y="4"/>
                      <a:pt x="328" y="54"/>
                      <a:pt x="390" y="180"/>
                    </a:cubicBezTo>
                    <a:cubicBezTo>
                      <a:pt x="434" y="269"/>
                      <a:pt x="430" y="298"/>
                      <a:pt x="456" y="326"/>
                    </a:cubicBezTo>
                    <a:cubicBezTo>
                      <a:pt x="482" y="354"/>
                      <a:pt x="538" y="347"/>
                      <a:pt x="538" y="347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1296"/>
              <p:cNvSpPr>
                <a:spLocks noChangeArrowheads="1"/>
              </p:cNvSpPr>
              <p:nvPr/>
            </p:nvSpPr>
            <p:spPr bwMode="auto">
              <a:xfrm>
                <a:off x="454025" y="2387599"/>
                <a:ext cx="1647825" cy="1027112"/>
              </a:xfrm>
              <a:custGeom>
                <a:avLst/>
                <a:gdLst>
                  <a:gd name="T0" fmla="*/ 1680137151 w 1427"/>
                  <a:gd name="T1" fmla="*/ 299666273 h 890"/>
                  <a:gd name="T2" fmla="*/ 1357444054 w 1427"/>
                  <a:gd name="T3" fmla="*/ 728522463 h 890"/>
                  <a:gd name="T4" fmla="*/ 1056086077 w 1427"/>
                  <a:gd name="T5" fmla="*/ 554049602 h 890"/>
                  <a:gd name="T6" fmla="*/ 950744216 w 1427"/>
                  <a:gd name="T7" fmla="*/ 499444174 h 890"/>
                  <a:gd name="T8" fmla="*/ 845402355 w 1427"/>
                  <a:gd name="T9" fmla="*/ 554049602 h 890"/>
                  <a:gd name="T10" fmla="*/ 544044378 w 1427"/>
                  <a:gd name="T11" fmla="*/ 728522463 h 890"/>
                  <a:gd name="T12" fmla="*/ 221351281 w 1427"/>
                  <a:gd name="T13" fmla="*/ 299666273 h 890"/>
                  <a:gd name="T14" fmla="*/ 0 w 1427"/>
                  <a:gd name="T15" fmla="*/ 0 h 890"/>
                  <a:gd name="T16" fmla="*/ 120009467 w 1427"/>
                  <a:gd name="T17" fmla="*/ 594005413 h 890"/>
                  <a:gd name="T18" fmla="*/ 616049827 w 1427"/>
                  <a:gd name="T19" fmla="*/ 1049498425 h 890"/>
                  <a:gd name="T20" fmla="*/ 950744216 w 1427"/>
                  <a:gd name="T21" fmla="*/ 1172028271 h 890"/>
                  <a:gd name="T22" fmla="*/ 1285438605 w 1427"/>
                  <a:gd name="T23" fmla="*/ 1049498425 h 890"/>
                  <a:gd name="T24" fmla="*/ 1781478966 w 1427"/>
                  <a:gd name="T25" fmla="*/ 594005413 h 890"/>
                  <a:gd name="T26" fmla="*/ 1902822166 w 1427"/>
                  <a:gd name="T27" fmla="*/ 0 h 890"/>
                  <a:gd name="T28" fmla="*/ 1680137151 w 1427"/>
                  <a:gd name="T29" fmla="*/ 299666273 h 89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27"/>
                  <a:gd name="T46" fmla="*/ 0 h 890"/>
                  <a:gd name="T47" fmla="*/ 1427 w 1427"/>
                  <a:gd name="T48" fmla="*/ 890 h 89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27" h="890">
                    <a:moveTo>
                      <a:pt x="1260" y="225"/>
                    </a:moveTo>
                    <a:cubicBezTo>
                      <a:pt x="1249" y="317"/>
                      <a:pt x="1157" y="492"/>
                      <a:pt x="1018" y="547"/>
                    </a:cubicBezTo>
                    <a:cubicBezTo>
                      <a:pt x="879" y="602"/>
                      <a:pt x="841" y="467"/>
                      <a:pt x="792" y="416"/>
                    </a:cubicBezTo>
                    <a:cubicBezTo>
                      <a:pt x="753" y="376"/>
                      <a:pt x="724" y="374"/>
                      <a:pt x="713" y="375"/>
                    </a:cubicBezTo>
                    <a:cubicBezTo>
                      <a:pt x="702" y="374"/>
                      <a:pt x="673" y="376"/>
                      <a:pt x="634" y="416"/>
                    </a:cubicBezTo>
                    <a:cubicBezTo>
                      <a:pt x="585" y="467"/>
                      <a:pt x="547" y="602"/>
                      <a:pt x="408" y="547"/>
                    </a:cubicBezTo>
                    <a:cubicBezTo>
                      <a:pt x="269" y="492"/>
                      <a:pt x="177" y="317"/>
                      <a:pt x="166" y="225"/>
                    </a:cubicBezTo>
                    <a:cubicBezTo>
                      <a:pt x="143" y="32"/>
                      <a:pt x="0" y="0"/>
                      <a:pt x="0" y="0"/>
                    </a:cubicBezTo>
                    <a:cubicBezTo>
                      <a:pt x="0" y="0"/>
                      <a:pt x="41" y="368"/>
                      <a:pt x="90" y="446"/>
                    </a:cubicBezTo>
                    <a:cubicBezTo>
                      <a:pt x="139" y="523"/>
                      <a:pt x="332" y="684"/>
                      <a:pt x="462" y="788"/>
                    </a:cubicBezTo>
                    <a:cubicBezTo>
                      <a:pt x="590" y="890"/>
                      <a:pt x="643" y="880"/>
                      <a:pt x="713" y="880"/>
                    </a:cubicBezTo>
                    <a:cubicBezTo>
                      <a:pt x="783" y="880"/>
                      <a:pt x="836" y="890"/>
                      <a:pt x="964" y="788"/>
                    </a:cubicBezTo>
                    <a:cubicBezTo>
                      <a:pt x="1095" y="684"/>
                      <a:pt x="1287" y="523"/>
                      <a:pt x="1336" y="446"/>
                    </a:cubicBezTo>
                    <a:cubicBezTo>
                      <a:pt x="1385" y="368"/>
                      <a:pt x="1427" y="0"/>
                      <a:pt x="1427" y="0"/>
                    </a:cubicBezTo>
                    <a:cubicBezTo>
                      <a:pt x="1427" y="0"/>
                      <a:pt x="1284" y="32"/>
                      <a:pt x="1260" y="225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Oval 1297"/>
              <p:cNvSpPr>
                <a:spLocks noChangeArrowheads="1"/>
              </p:cNvSpPr>
              <p:nvPr/>
            </p:nvSpPr>
            <p:spPr bwMode="auto">
              <a:xfrm>
                <a:off x="19050" y="719137"/>
                <a:ext cx="2516188" cy="909637"/>
              </a:xfrm>
              <a:prstGeom prst="ellipse">
                <a:avLst/>
              </a:pr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27" name="Freeform 1298"/>
              <p:cNvSpPr>
                <a:spLocks noChangeArrowheads="1"/>
              </p:cNvSpPr>
              <p:nvPr/>
            </p:nvSpPr>
            <p:spPr bwMode="auto">
              <a:xfrm>
                <a:off x="449263" y="0"/>
                <a:ext cx="1655763" cy="1004887"/>
              </a:xfrm>
              <a:custGeom>
                <a:avLst/>
                <a:gdLst>
                  <a:gd name="T0" fmla="*/ 1906487547 w 1434"/>
                  <a:gd name="T1" fmla="*/ 897865379 h 870"/>
                  <a:gd name="T2" fmla="*/ 1906487547 w 1434"/>
                  <a:gd name="T3" fmla="*/ 896531305 h 870"/>
                  <a:gd name="T4" fmla="*/ 1905155085 w 1434"/>
                  <a:gd name="T5" fmla="*/ 895197231 h 870"/>
                  <a:gd name="T6" fmla="*/ 1541188588 w 1434"/>
                  <a:gd name="T7" fmla="*/ 126741662 h 870"/>
                  <a:gd name="T8" fmla="*/ 990573493 w 1434"/>
                  <a:gd name="T9" fmla="*/ 269493368 h 870"/>
                  <a:gd name="T10" fmla="*/ 525284461 w 1434"/>
                  <a:gd name="T11" fmla="*/ 69374164 h 870"/>
                  <a:gd name="T12" fmla="*/ 5333312 w 1434"/>
                  <a:gd name="T13" fmla="*/ 896531305 h 870"/>
                  <a:gd name="T14" fmla="*/ 5333312 w 1434"/>
                  <a:gd name="T15" fmla="*/ 896531305 h 870"/>
                  <a:gd name="T16" fmla="*/ 0 w 1434"/>
                  <a:gd name="T17" fmla="*/ 921878714 h 870"/>
                  <a:gd name="T18" fmla="*/ 79992751 w 1434"/>
                  <a:gd name="T19" fmla="*/ 1016601441 h 870"/>
                  <a:gd name="T20" fmla="*/ 955909852 w 1434"/>
                  <a:gd name="T21" fmla="*/ 1160687222 h 870"/>
                  <a:gd name="T22" fmla="*/ 1831828108 w 1434"/>
                  <a:gd name="T23" fmla="*/ 1016601441 h 870"/>
                  <a:gd name="T24" fmla="*/ 1911820859 w 1434"/>
                  <a:gd name="T25" fmla="*/ 921878714 h 870"/>
                  <a:gd name="T26" fmla="*/ 1906487547 w 1434"/>
                  <a:gd name="T27" fmla="*/ 897865379 h 87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434"/>
                  <a:gd name="T43" fmla="*/ 0 h 870"/>
                  <a:gd name="T44" fmla="*/ 1434 w 1434"/>
                  <a:gd name="T45" fmla="*/ 870 h 87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434" h="870">
                    <a:moveTo>
                      <a:pt x="1430" y="673"/>
                    </a:moveTo>
                    <a:cubicBezTo>
                      <a:pt x="1430" y="672"/>
                      <a:pt x="1430" y="672"/>
                      <a:pt x="1430" y="672"/>
                    </a:cubicBezTo>
                    <a:cubicBezTo>
                      <a:pt x="1429" y="671"/>
                      <a:pt x="1429" y="671"/>
                      <a:pt x="1429" y="671"/>
                    </a:cubicBezTo>
                    <a:cubicBezTo>
                      <a:pt x="1429" y="671"/>
                      <a:pt x="1245" y="189"/>
                      <a:pt x="1156" y="95"/>
                    </a:cubicBezTo>
                    <a:cubicBezTo>
                      <a:pt x="1067" y="0"/>
                      <a:pt x="934" y="156"/>
                      <a:pt x="743" y="202"/>
                    </a:cubicBezTo>
                    <a:cubicBezTo>
                      <a:pt x="606" y="234"/>
                      <a:pt x="550" y="74"/>
                      <a:pt x="394" y="52"/>
                    </a:cubicBezTo>
                    <a:cubicBezTo>
                      <a:pt x="262" y="34"/>
                      <a:pt x="14" y="646"/>
                      <a:pt x="4" y="672"/>
                    </a:cubicBezTo>
                    <a:cubicBezTo>
                      <a:pt x="4" y="672"/>
                      <a:pt x="4" y="672"/>
                      <a:pt x="4" y="672"/>
                    </a:cubicBezTo>
                    <a:cubicBezTo>
                      <a:pt x="1" y="678"/>
                      <a:pt x="0" y="684"/>
                      <a:pt x="0" y="691"/>
                    </a:cubicBezTo>
                    <a:cubicBezTo>
                      <a:pt x="0" y="716"/>
                      <a:pt x="22" y="740"/>
                      <a:pt x="60" y="762"/>
                    </a:cubicBezTo>
                    <a:cubicBezTo>
                      <a:pt x="171" y="826"/>
                      <a:pt x="423" y="870"/>
                      <a:pt x="717" y="870"/>
                    </a:cubicBezTo>
                    <a:cubicBezTo>
                      <a:pt x="1011" y="870"/>
                      <a:pt x="1263" y="826"/>
                      <a:pt x="1374" y="762"/>
                    </a:cubicBezTo>
                    <a:cubicBezTo>
                      <a:pt x="1412" y="740"/>
                      <a:pt x="1434" y="716"/>
                      <a:pt x="1434" y="691"/>
                    </a:cubicBezTo>
                    <a:cubicBezTo>
                      <a:pt x="1434" y="685"/>
                      <a:pt x="1433" y="679"/>
                      <a:pt x="1430" y="673"/>
                    </a:cubicBezTo>
                    <a:close/>
                  </a:path>
                </a:pathLst>
              </a:custGeom>
              <a:solidFill>
                <a:srgbClr val="2F12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1299"/>
              <p:cNvSpPr>
                <a:spLocks noChangeArrowheads="1"/>
              </p:cNvSpPr>
              <p:nvPr/>
            </p:nvSpPr>
            <p:spPr bwMode="auto">
              <a:xfrm>
                <a:off x="433388" y="785812"/>
                <a:ext cx="25400" cy="44450"/>
              </a:xfrm>
              <a:custGeom>
                <a:avLst/>
                <a:gdLst>
                  <a:gd name="T0" fmla="*/ 17328573 w 22"/>
                  <a:gd name="T1" fmla="*/ 14288965 h 39"/>
                  <a:gd name="T2" fmla="*/ 18662073 w 22"/>
                  <a:gd name="T3" fmla="*/ 0 h 39"/>
                  <a:gd name="T4" fmla="*/ 18662073 w 22"/>
                  <a:gd name="T5" fmla="*/ 0 h 39"/>
                  <a:gd name="T6" fmla="*/ 0 w 22"/>
                  <a:gd name="T7" fmla="*/ 48064127 h 39"/>
                  <a:gd name="T8" fmla="*/ 29325455 w 22"/>
                  <a:gd name="T9" fmla="*/ 50661603 h 39"/>
                  <a:gd name="T10" fmla="*/ 17328573 w 22"/>
                  <a:gd name="T11" fmla="*/ 14288965 h 3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2"/>
                  <a:gd name="T19" fmla="*/ 0 h 39"/>
                  <a:gd name="T20" fmla="*/ 22 w 22"/>
                  <a:gd name="T21" fmla="*/ 39 h 3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2" h="39">
                    <a:moveTo>
                      <a:pt x="13" y="11"/>
                    </a:moveTo>
                    <a:cubicBezTo>
                      <a:pt x="13" y="7"/>
                      <a:pt x="14" y="3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22" y="39"/>
                      <a:pt x="22" y="39"/>
                      <a:pt x="22" y="39"/>
                    </a:cubicBezTo>
                    <a:cubicBezTo>
                      <a:pt x="16" y="30"/>
                      <a:pt x="13" y="20"/>
                      <a:pt x="13" y="11"/>
                    </a:cubicBez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Freeform 1300"/>
              <p:cNvSpPr>
                <a:spLocks noChangeArrowheads="1"/>
              </p:cNvSpPr>
              <p:nvPr/>
            </p:nvSpPr>
            <p:spPr bwMode="auto">
              <a:xfrm>
                <a:off x="760413" y="1246187"/>
                <a:ext cx="411163" cy="38100"/>
              </a:xfrm>
              <a:custGeom>
                <a:avLst/>
                <a:gdLst>
                  <a:gd name="T0" fmla="*/ 0 w 355"/>
                  <a:gd name="T1" fmla="*/ 1333500 h 33"/>
                  <a:gd name="T2" fmla="*/ 335359599 w 355"/>
                  <a:gd name="T3" fmla="*/ 43988182 h 33"/>
                  <a:gd name="T4" fmla="*/ 476211303 w 355"/>
                  <a:gd name="T5" fmla="*/ 0 h 33"/>
                  <a:gd name="T6" fmla="*/ 0 w 355"/>
                  <a:gd name="T7" fmla="*/ 1333500 h 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5"/>
                  <a:gd name="T13" fmla="*/ 0 h 33"/>
                  <a:gd name="T14" fmla="*/ 355 w 355"/>
                  <a:gd name="T15" fmla="*/ 33 h 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5" h="33">
                    <a:moveTo>
                      <a:pt x="0" y="1"/>
                    </a:moveTo>
                    <a:cubicBezTo>
                      <a:pt x="75" y="16"/>
                      <a:pt x="159" y="27"/>
                      <a:pt x="250" y="33"/>
                    </a:cubicBezTo>
                    <a:cubicBezTo>
                      <a:pt x="355" y="0"/>
                      <a:pt x="355" y="0"/>
                      <a:pt x="355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1301"/>
              <p:cNvSpPr>
                <a:spLocks noChangeArrowheads="1"/>
              </p:cNvSpPr>
              <p:nvPr/>
            </p:nvSpPr>
            <p:spPr bwMode="auto">
              <a:xfrm>
                <a:off x="450850" y="776287"/>
                <a:ext cx="3175" cy="9525"/>
              </a:xfrm>
              <a:custGeom>
                <a:avLst/>
                <a:gdLst>
                  <a:gd name="T0" fmla="*/ 3360208 w 3"/>
                  <a:gd name="T1" fmla="*/ 0 h 8"/>
                  <a:gd name="T2" fmla="*/ 3360208 w 3"/>
                  <a:gd name="T3" fmla="*/ 1418034 h 8"/>
                  <a:gd name="T4" fmla="*/ 0 w 3"/>
                  <a:gd name="T5" fmla="*/ 11340703 h 8"/>
                  <a:gd name="T6" fmla="*/ 0 w 3"/>
                  <a:gd name="T7" fmla="*/ 11340703 h 8"/>
                  <a:gd name="T8" fmla="*/ 3360208 w 3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8"/>
                  <a:gd name="T17" fmla="*/ 3 w 3"/>
                  <a:gd name="T18" fmla="*/ 8 h 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8">
                    <a:moveTo>
                      <a:pt x="3" y="0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5"/>
                      <a:pt x="2" y="3"/>
                      <a:pt x="3" y="0"/>
                    </a:cubicBez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1302"/>
              <p:cNvSpPr>
                <a:spLocks noChangeArrowheads="1"/>
              </p:cNvSpPr>
              <p:nvPr/>
            </p:nvSpPr>
            <p:spPr bwMode="auto">
              <a:xfrm>
                <a:off x="1355725" y="1117599"/>
                <a:ext cx="485775" cy="128587"/>
              </a:xfrm>
              <a:custGeom>
                <a:avLst/>
                <a:gdLst>
                  <a:gd name="T0" fmla="*/ 0 w 421"/>
                  <a:gd name="T1" fmla="*/ 113358625 h 112"/>
                  <a:gd name="T2" fmla="*/ 508591425 w 421"/>
                  <a:gd name="T3" fmla="*/ 147630505 h 112"/>
                  <a:gd name="T4" fmla="*/ 560516272 w 421"/>
                  <a:gd name="T5" fmla="*/ 137085223 h 112"/>
                  <a:gd name="T6" fmla="*/ 426045444 w 421"/>
                  <a:gd name="T7" fmla="*/ 0 h 112"/>
                  <a:gd name="T8" fmla="*/ 0 w 421"/>
                  <a:gd name="T9" fmla="*/ 113358625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1"/>
                  <a:gd name="T16" fmla="*/ 0 h 112"/>
                  <a:gd name="T17" fmla="*/ 421 w 421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1" h="112">
                    <a:moveTo>
                      <a:pt x="0" y="86"/>
                    </a:moveTo>
                    <a:cubicBezTo>
                      <a:pt x="382" y="112"/>
                      <a:pt x="382" y="112"/>
                      <a:pt x="382" y="112"/>
                    </a:cubicBezTo>
                    <a:cubicBezTo>
                      <a:pt x="395" y="109"/>
                      <a:pt x="408" y="107"/>
                      <a:pt x="421" y="104"/>
                    </a:cubicBezTo>
                    <a:cubicBezTo>
                      <a:pt x="320" y="0"/>
                      <a:pt x="320" y="0"/>
                      <a:pt x="320" y="0"/>
                    </a:cubicBez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1303"/>
              <p:cNvSpPr>
                <a:spLocks noChangeArrowheads="1"/>
              </p:cNvSpPr>
              <p:nvPr/>
            </p:nvSpPr>
            <p:spPr bwMode="auto">
              <a:xfrm>
                <a:off x="1065213" y="998537"/>
                <a:ext cx="180975" cy="47625"/>
              </a:xfrm>
              <a:custGeom>
                <a:avLst/>
                <a:gdLst>
                  <a:gd name="T0" fmla="*/ 209948401 w 156"/>
                  <a:gd name="T1" fmla="*/ 7715250 h 42"/>
                  <a:gd name="T2" fmla="*/ 0 w 156"/>
                  <a:gd name="T3" fmla="*/ 0 h 42"/>
                  <a:gd name="T4" fmla="*/ 14803987 w 156"/>
                  <a:gd name="T5" fmla="*/ 54003348 h 42"/>
                  <a:gd name="T6" fmla="*/ 209948401 w 156"/>
                  <a:gd name="T7" fmla="*/ 7715250 h 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6"/>
                  <a:gd name="T13" fmla="*/ 0 h 42"/>
                  <a:gd name="T14" fmla="*/ 156 w 156"/>
                  <a:gd name="T15" fmla="*/ 42 h 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6" h="42">
                    <a:moveTo>
                      <a:pt x="156" y="6"/>
                    </a:moveTo>
                    <a:cubicBezTo>
                      <a:pt x="102" y="5"/>
                      <a:pt x="50" y="3"/>
                      <a:pt x="0" y="0"/>
                    </a:cubicBezTo>
                    <a:cubicBezTo>
                      <a:pt x="11" y="42"/>
                      <a:pt x="11" y="42"/>
                      <a:pt x="11" y="42"/>
                    </a:cubicBezTo>
                    <a:lnTo>
                      <a:pt x="156" y="6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Freeform 1304"/>
              <p:cNvSpPr>
                <a:spLocks noChangeArrowheads="1"/>
              </p:cNvSpPr>
              <p:nvPr/>
            </p:nvSpPr>
            <p:spPr bwMode="auto">
              <a:xfrm>
                <a:off x="1077913" y="1004887"/>
                <a:ext cx="244475" cy="60325"/>
              </a:xfrm>
              <a:custGeom>
                <a:avLst/>
                <a:gdLst>
                  <a:gd name="T0" fmla="*/ 193314841 w 211"/>
                  <a:gd name="T1" fmla="*/ 69982800 h 52"/>
                  <a:gd name="T2" fmla="*/ 283260785 w 211"/>
                  <a:gd name="T3" fmla="*/ 0 h 52"/>
                  <a:gd name="T4" fmla="*/ 230904900 w 211"/>
                  <a:gd name="T5" fmla="*/ 0 h 52"/>
                  <a:gd name="T6" fmla="*/ 194657715 w 211"/>
                  <a:gd name="T7" fmla="*/ 0 h 52"/>
                  <a:gd name="T8" fmla="*/ 0 w 211"/>
                  <a:gd name="T9" fmla="*/ 48449096 h 52"/>
                  <a:gd name="T10" fmla="*/ 193314841 w 211"/>
                  <a:gd name="T11" fmla="*/ 69982800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11"/>
                  <a:gd name="T19" fmla="*/ 0 h 52"/>
                  <a:gd name="T20" fmla="*/ 211 w 211"/>
                  <a:gd name="T21" fmla="*/ 52 h 5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11" h="52">
                    <a:moveTo>
                      <a:pt x="144" y="52"/>
                    </a:moveTo>
                    <a:cubicBezTo>
                      <a:pt x="211" y="0"/>
                      <a:pt x="211" y="0"/>
                      <a:pt x="211" y="0"/>
                    </a:cubicBezTo>
                    <a:cubicBezTo>
                      <a:pt x="198" y="0"/>
                      <a:pt x="185" y="0"/>
                      <a:pt x="172" y="0"/>
                    </a:cubicBezTo>
                    <a:cubicBezTo>
                      <a:pt x="163" y="0"/>
                      <a:pt x="154" y="0"/>
                      <a:pt x="145" y="0"/>
                    </a:cubicBezTo>
                    <a:cubicBezTo>
                      <a:pt x="0" y="36"/>
                      <a:pt x="0" y="36"/>
                      <a:pt x="0" y="36"/>
                    </a:cubicBezTo>
                    <a:lnTo>
                      <a:pt x="144" y="5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1305"/>
              <p:cNvSpPr>
                <a:spLocks noChangeArrowheads="1"/>
              </p:cNvSpPr>
              <p:nvPr/>
            </p:nvSpPr>
            <p:spPr bwMode="auto">
              <a:xfrm>
                <a:off x="633413" y="927099"/>
                <a:ext cx="1588" cy="1587"/>
              </a:xfrm>
              <a:custGeom>
                <a:avLst/>
                <a:gdLst>
                  <a:gd name="T0" fmla="*/ 1260872 w 2"/>
                  <a:gd name="T1" fmla="*/ 2518569 h 1"/>
                  <a:gd name="T2" fmla="*/ 0 w 2"/>
                  <a:gd name="T3" fmla="*/ 0 h 1"/>
                  <a:gd name="T4" fmla="*/ 1260872 w 2"/>
                  <a:gd name="T5" fmla="*/ 2518569 h 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"/>
                  <a:gd name="T11" fmla="*/ 2 w 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">
                    <a:moveTo>
                      <a:pt x="2" y="1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1306"/>
              <p:cNvSpPr>
                <a:spLocks noChangeArrowheads="1"/>
              </p:cNvSpPr>
              <p:nvPr/>
            </p:nvSpPr>
            <p:spPr bwMode="auto">
              <a:xfrm>
                <a:off x="423863" y="828674"/>
                <a:ext cx="158750" cy="80962"/>
              </a:xfrm>
              <a:custGeom>
                <a:avLst/>
                <a:gdLst>
                  <a:gd name="T0" fmla="*/ 110102974 w 137"/>
                  <a:gd name="T1" fmla="*/ 58513860 h 71"/>
                  <a:gd name="T2" fmla="*/ 41624945 w 137"/>
                  <a:gd name="T3" fmla="*/ 2601047 h 71"/>
                  <a:gd name="T4" fmla="*/ 12084699 w 137"/>
                  <a:gd name="T5" fmla="*/ 0 h 71"/>
                  <a:gd name="T6" fmla="*/ 0 w 137"/>
                  <a:gd name="T7" fmla="*/ 29906907 h 71"/>
                  <a:gd name="T8" fmla="*/ 183953011 w 137"/>
                  <a:gd name="T9" fmla="*/ 92321767 h 71"/>
                  <a:gd name="T10" fmla="*/ 110102974 w 137"/>
                  <a:gd name="T11" fmla="*/ 58513860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7"/>
                  <a:gd name="T19" fmla="*/ 0 h 71"/>
                  <a:gd name="T20" fmla="*/ 137 w 137"/>
                  <a:gd name="T21" fmla="*/ 71 h 7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7" h="71">
                    <a:moveTo>
                      <a:pt x="82" y="45"/>
                    </a:moveTo>
                    <a:cubicBezTo>
                      <a:pt x="58" y="32"/>
                      <a:pt x="41" y="17"/>
                      <a:pt x="31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37" y="71"/>
                      <a:pt x="137" y="71"/>
                      <a:pt x="137" y="71"/>
                    </a:cubicBezTo>
                    <a:cubicBezTo>
                      <a:pt x="116" y="63"/>
                      <a:pt x="98" y="54"/>
                      <a:pt x="82" y="45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Freeform 1307"/>
              <p:cNvSpPr>
                <a:spLocks noChangeArrowheads="1"/>
              </p:cNvSpPr>
              <p:nvPr/>
            </p:nvSpPr>
            <p:spPr bwMode="auto">
              <a:xfrm>
                <a:off x="361950" y="855662"/>
                <a:ext cx="273050" cy="247650"/>
              </a:xfrm>
              <a:custGeom>
                <a:avLst/>
                <a:gdLst>
                  <a:gd name="T0" fmla="*/ 313239258 w 236"/>
                  <a:gd name="T1" fmla="*/ 83587058 h 215"/>
                  <a:gd name="T2" fmla="*/ 254339133 w 236"/>
                  <a:gd name="T3" fmla="*/ 63685213 h 215"/>
                  <a:gd name="T4" fmla="*/ 70947877 w 236"/>
                  <a:gd name="T5" fmla="*/ 0 h 215"/>
                  <a:gd name="T6" fmla="*/ 6693196 w 236"/>
                  <a:gd name="T7" fmla="*/ 164521382 h 215"/>
                  <a:gd name="T8" fmla="*/ 5354557 w 236"/>
                  <a:gd name="T9" fmla="*/ 169828003 h 215"/>
                  <a:gd name="T10" fmla="*/ 4015918 w 236"/>
                  <a:gd name="T11" fmla="*/ 172481890 h 215"/>
                  <a:gd name="T12" fmla="*/ 4015918 w 236"/>
                  <a:gd name="T13" fmla="*/ 172481890 h 215"/>
                  <a:gd name="T14" fmla="*/ 0 w 236"/>
                  <a:gd name="T15" fmla="*/ 199017299 h 215"/>
                  <a:gd name="T16" fmla="*/ 42836454 w 236"/>
                  <a:gd name="T17" fmla="*/ 285258244 h 215"/>
                  <a:gd name="T18" fmla="*/ 315916536 w 236"/>
                  <a:gd name="T19" fmla="*/ 84914002 h 215"/>
                  <a:gd name="T20" fmla="*/ 313239258 w 236"/>
                  <a:gd name="T21" fmla="*/ 83587058 h 21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6"/>
                  <a:gd name="T34" fmla="*/ 0 h 215"/>
                  <a:gd name="T35" fmla="*/ 236 w 236"/>
                  <a:gd name="T36" fmla="*/ 215 h 21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6" h="215">
                    <a:moveTo>
                      <a:pt x="234" y="63"/>
                    </a:moveTo>
                    <a:cubicBezTo>
                      <a:pt x="218" y="58"/>
                      <a:pt x="204" y="53"/>
                      <a:pt x="190" y="4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4" y="128"/>
                      <a:pt x="4" y="128"/>
                      <a:pt x="4" y="128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1" y="137"/>
                      <a:pt x="0" y="144"/>
                      <a:pt x="0" y="150"/>
                    </a:cubicBezTo>
                    <a:cubicBezTo>
                      <a:pt x="0" y="173"/>
                      <a:pt x="11" y="194"/>
                      <a:pt x="32" y="215"/>
                    </a:cubicBezTo>
                    <a:cubicBezTo>
                      <a:pt x="236" y="64"/>
                      <a:pt x="236" y="64"/>
                      <a:pt x="236" y="64"/>
                    </a:cubicBezTo>
                    <a:lnTo>
                      <a:pt x="234" y="63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Freeform 1308"/>
              <p:cNvSpPr>
                <a:spLocks noChangeArrowheads="1"/>
              </p:cNvSpPr>
              <p:nvPr/>
            </p:nvSpPr>
            <p:spPr bwMode="auto">
              <a:xfrm>
                <a:off x="1355725" y="1216024"/>
                <a:ext cx="441325" cy="58737"/>
              </a:xfrm>
              <a:custGeom>
                <a:avLst/>
                <a:gdLst>
                  <a:gd name="T0" fmla="*/ 289633973 w 382"/>
                  <a:gd name="T1" fmla="*/ 67647748 h 51"/>
                  <a:gd name="T2" fmla="*/ 509863235 w 382"/>
                  <a:gd name="T3" fmla="*/ 34486681 h 51"/>
                  <a:gd name="T4" fmla="*/ 0 w 382"/>
                  <a:gd name="T5" fmla="*/ 0 h 51"/>
                  <a:gd name="T6" fmla="*/ 289633973 w 382"/>
                  <a:gd name="T7" fmla="*/ 67647748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2"/>
                  <a:gd name="T13" fmla="*/ 0 h 51"/>
                  <a:gd name="T14" fmla="*/ 382 w 382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2" h="51">
                    <a:moveTo>
                      <a:pt x="217" y="51"/>
                    </a:moveTo>
                    <a:cubicBezTo>
                      <a:pt x="276" y="45"/>
                      <a:pt x="331" y="36"/>
                      <a:pt x="382" y="26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17" y="51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1309"/>
              <p:cNvSpPr>
                <a:spLocks noChangeArrowheads="1"/>
              </p:cNvSpPr>
              <p:nvPr/>
            </p:nvSpPr>
            <p:spPr bwMode="auto">
              <a:xfrm>
                <a:off x="1077913" y="1046162"/>
                <a:ext cx="166688" cy="38100"/>
              </a:xfrm>
              <a:custGeom>
                <a:avLst/>
                <a:gdLst>
                  <a:gd name="T0" fmla="*/ 264617994 w 105"/>
                  <a:gd name="T1" fmla="*/ 30241875 h 24"/>
                  <a:gd name="T2" fmla="*/ 0 w 105"/>
                  <a:gd name="T3" fmla="*/ 0 h 24"/>
                  <a:gd name="T4" fmla="*/ 206653432 w 105"/>
                  <a:gd name="T5" fmla="*/ 60483750 h 24"/>
                  <a:gd name="T6" fmla="*/ 264617994 w 105"/>
                  <a:gd name="T7" fmla="*/ 30241875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5"/>
                  <a:gd name="T13" fmla="*/ 0 h 24"/>
                  <a:gd name="T14" fmla="*/ 105 w 105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5" h="24">
                    <a:moveTo>
                      <a:pt x="105" y="12"/>
                    </a:moveTo>
                    <a:lnTo>
                      <a:pt x="0" y="0"/>
                    </a:lnTo>
                    <a:lnTo>
                      <a:pt x="82" y="24"/>
                    </a:lnTo>
                    <a:lnTo>
                      <a:pt x="105" y="1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1310"/>
              <p:cNvSpPr>
                <a:spLocks noChangeArrowheads="1"/>
              </p:cNvSpPr>
              <p:nvPr/>
            </p:nvSpPr>
            <p:spPr bwMode="auto">
              <a:xfrm>
                <a:off x="1171575" y="1084262"/>
                <a:ext cx="184150" cy="161925"/>
              </a:xfrm>
              <a:custGeom>
                <a:avLst/>
                <a:gdLst>
                  <a:gd name="T0" fmla="*/ 0 w 116"/>
                  <a:gd name="T1" fmla="*/ 257055938 h 102"/>
                  <a:gd name="T2" fmla="*/ 292338125 w 116"/>
                  <a:gd name="T3" fmla="*/ 209173763 h 102"/>
                  <a:gd name="T4" fmla="*/ 57964388 w 116"/>
                  <a:gd name="T5" fmla="*/ 0 h 102"/>
                  <a:gd name="T6" fmla="*/ 0 w 116"/>
                  <a:gd name="T7" fmla="*/ 257055938 h 10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6"/>
                  <a:gd name="T13" fmla="*/ 0 h 102"/>
                  <a:gd name="T14" fmla="*/ 116 w 116"/>
                  <a:gd name="T15" fmla="*/ 102 h 10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6" h="102">
                    <a:moveTo>
                      <a:pt x="0" y="102"/>
                    </a:moveTo>
                    <a:lnTo>
                      <a:pt x="116" y="83"/>
                    </a:lnTo>
                    <a:lnTo>
                      <a:pt x="23" y="0"/>
                    </a:lnTo>
                    <a:lnTo>
                      <a:pt x="0" y="102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1311"/>
              <p:cNvSpPr>
                <a:spLocks noChangeArrowheads="1"/>
              </p:cNvSpPr>
              <p:nvPr/>
            </p:nvSpPr>
            <p:spPr bwMode="auto">
              <a:xfrm>
                <a:off x="1208088" y="1065212"/>
                <a:ext cx="147638" cy="150812"/>
              </a:xfrm>
              <a:custGeom>
                <a:avLst/>
                <a:gdLst>
                  <a:gd name="T0" fmla="*/ 0 w 93"/>
                  <a:gd name="T1" fmla="*/ 30241775 h 95"/>
                  <a:gd name="T2" fmla="*/ 234376119 w 93"/>
                  <a:gd name="T3" fmla="*/ 239413256 h 95"/>
                  <a:gd name="T4" fmla="*/ 57964584 w 93"/>
                  <a:gd name="T5" fmla="*/ 0 h 95"/>
                  <a:gd name="T6" fmla="*/ 0 w 93"/>
                  <a:gd name="T7" fmla="*/ 3024177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3"/>
                  <a:gd name="T13" fmla="*/ 0 h 95"/>
                  <a:gd name="T14" fmla="*/ 93 w 9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3" h="95">
                    <a:moveTo>
                      <a:pt x="0" y="12"/>
                    </a:moveTo>
                    <a:lnTo>
                      <a:pt x="93" y="95"/>
                    </a:lnTo>
                    <a:lnTo>
                      <a:pt x="23" y="0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Rectangle 1312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42" name="Freeform 1313"/>
              <p:cNvSpPr>
                <a:spLocks noChangeArrowheads="1"/>
              </p:cNvSpPr>
              <p:nvPr/>
            </p:nvSpPr>
            <p:spPr bwMode="auto">
              <a:xfrm>
                <a:off x="661988" y="1065212"/>
                <a:ext cx="509588" cy="182562"/>
              </a:xfrm>
              <a:custGeom>
                <a:avLst/>
                <a:gdLst>
                  <a:gd name="T0" fmla="*/ 204292789 w 441"/>
                  <a:gd name="T1" fmla="*/ 0 h 158"/>
                  <a:gd name="T2" fmla="*/ 0 w 441"/>
                  <a:gd name="T3" fmla="*/ 184240877 h 158"/>
                  <a:gd name="T4" fmla="*/ 114830629 w 441"/>
                  <a:gd name="T5" fmla="*/ 210942303 h 158"/>
                  <a:gd name="T6" fmla="*/ 588843378 w 441"/>
                  <a:gd name="T7" fmla="*/ 209607751 h 158"/>
                  <a:gd name="T8" fmla="*/ 204292789 w 441"/>
                  <a:gd name="T9" fmla="*/ 0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41"/>
                  <a:gd name="T16" fmla="*/ 0 h 158"/>
                  <a:gd name="T17" fmla="*/ 441 w 441"/>
                  <a:gd name="T18" fmla="*/ 158 h 15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41" h="158">
                    <a:moveTo>
                      <a:pt x="153" y="0"/>
                    </a:moveTo>
                    <a:cubicBezTo>
                      <a:pt x="0" y="138"/>
                      <a:pt x="0" y="138"/>
                      <a:pt x="0" y="138"/>
                    </a:cubicBezTo>
                    <a:cubicBezTo>
                      <a:pt x="27" y="145"/>
                      <a:pt x="56" y="152"/>
                      <a:pt x="86" y="158"/>
                    </a:cubicBezTo>
                    <a:cubicBezTo>
                      <a:pt x="441" y="157"/>
                      <a:pt x="441" y="157"/>
                      <a:pt x="441" y="157"/>
                    </a:cubicBezTo>
                    <a:lnTo>
                      <a:pt x="153" y="0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Freeform 1314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307975" cy="136525"/>
              </a:xfrm>
              <a:custGeom>
                <a:avLst/>
                <a:gdLst>
                  <a:gd name="T0" fmla="*/ 234164812 w 267"/>
                  <a:gd name="T1" fmla="*/ 157958268 h 118"/>
                  <a:gd name="T2" fmla="*/ 355238205 w 267"/>
                  <a:gd name="T3" fmla="*/ 68270599 h 118"/>
                  <a:gd name="T4" fmla="*/ 1329944 w 267"/>
                  <a:gd name="T5" fmla="*/ 0 h 118"/>
                  <a:gd name="T6" fmla="*/ 0 w 267"/>
                  <a:gd name="T7" fmla="*/ 0 h 118"/>
                  <a:gd name="T8" fmla="*/ 234164812 w 267"/>
                  <a:gd name="T9" fmla="*/ 15795826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7"/>
                  <a:gd name="T16" fmla="*/ 0 h 118"/>
                  <a:gd name="T17" fmla="*/ 267 w 267"/>
                  <a:gd name="T18" fmla="*/ 118 h 1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7" h="118">
                    <a:moveTo>
                      <a:pt x="176" y="118"/>
                    </a:moveTo>
                    <a:cubicBezTo>
                      <a:pt x="267" y="51"/>
                      <a:pt x="267" y="51"/>
                      <a:pt x="267" y="51"/>
                    </a:cubicBezTo>
                    <a:cubicBezTo>
                      <a:pt x="163" y="39"/>
                      <a:pt x="72" y="22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76" y="118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Freeform 1315"/>
              <p:cNvSpPr>
                <a:spLocks noChangeArrowheads="1"/>
              </p:cNvSpPr>
              <p:nvPr/>
            </p:nvSpPr>
            <p:spPr bwMode="auto">
              <a:xfrm>
                <a:off x="838200" y="987424"/>
                <a:ext cx="239713" cy="77787"/>
              </a:xfrm>
              <a:custGeom>
                <a:avLst/>
                <a:gdLst>
                  <a:gd name="T0" fmla="*/ 276261165 w 208"/>
                  <a:gd name="T1" fmla="*/ 68743971 h 67"/>
                  <a:gd name="T2" fmla="*/ 261651349 w 208"/>
                  <a:gd name="T3" fmla="*/ 12131289 h 67"/>
                  <a:gd name="T4" fmla="*/ 120863756 w 208"/>
                  <a:gd name="T5" fmla="*/ 0 h 67"/>
                  <a:gd name="T6" fmla="*/ 0 w 208"/>
                  <a:gd name="T7" fmla="*/ 90310707 h 67"/>
                  <a:gd name="T8" fmla="*/ 276261165 w 208"/>
                  <a:gd name="T9" fmla="*/ 68743971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8"/>
                  <a:gd name="T16" fmla="*/ 0 h 67"/>
                  <a:gd name="T17" fmla="*/ 208 w 208"/>
                  <a:gd name="T18" fmla="*/ 67 h 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8" h="67">
                    <a:moveTo>
                      <a:pt x="208" y="51"/>
                    </a:moveTo>
                    <a:cubicBezTo>
                      <a:pt x="197" y="9"/>
                      <a:pt x="197" y="9"/>
                      <a:pt x="197" y="9"/>
                    </a:cubicBezTo>
                    <a:cubicBezTo>
                      <a:pt x="160" y="7"/>
                      <a:pt x="125" y="4"/>
                      <a:pt x="91" y="0"/>
                    </a:cubicBezTo>
                    <a:cubicBezTo>
                      <a:pt x="0" y="67"/>
                      <a:pt x="0" y="67"/>
                      <a:pt x="0" y="67"/>
                    </a:cubicBezTo>
                    <a:lnTo>
                      <a:pt x="208" y="51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1316"/>
              <p:cNvSpPr>
                <a:spLocks noChangeArrowheads="1"/>
              </p:cNvSpPr>
              <p:nvPr/>
            </p:nvSpPr>
            <p:spPr bwMode="auto">
              <a:xfrm>
                <a:off x="838200" y="1046162"/>
                <a:ext cx="369888" cy="38100"/>
              </a:xfrm>
              <a:custGeom>
                <a:avLst/>
                <a:gdLst>
                  <a:gd name="T0" fmla="*/ 380544902 w 233"/>
                  <a:gd name="T1" fmla="*/ 0 h 24"/>
                  <a:gd name="T2" fmla="*/ 0 w 233"/>
                  <a:gd name="T3" fmla="*/ 30241875 h 24"/>
                  <a:gd name="T4" fmla="*/ 587197994 w 233"/>
                  <a:gd name="T5" fmla="*/ 60483750 h 24"/>
                  <a:gd name="T6" fmla="*/ 380544902 w 233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24"/>
                  <a:gd name="T14" fmla="*/ 233 w 233"/>
                  <a:gd name="T15" fmla="*/ 24 h 2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24">
                    <a:moveTo>
                      <a:pt x="151" y="0"/>
                    </a:moveTo>
                    <a:lnTo>
                      <a:pt x="0" y="12"/>
                    </a:lnTo>
                    <a:lnTo>
                      <a:pt x="233" y="2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Freeform 1317"/>
              <p:cNvSpPr>
                <a:spLocks noChangeArrowheads="1"/>
              </p:cNvSpPr>
              <p:nvPr/>
            </p:nvSpPr>
            <p:spPr bwMode="auto">
              <a:xfrm>
                <a:off x="838200" y="1065212"/>
                <a:ext cx="369888" cy="180975"/>
              </a:xfrm>
              <a:custGeom>
                <a:avLst/>
                <a:gdLst>
                  <a:gd name="T0" fmla="*/ 0 w 233"/>
                  <a:gd name="T1" fmla="*/ 0 h 114"/>
                  <a:gd name="T2" fmla="*/ 529233528 w 233"/>
                  <a:gd name="T3" fmla="*/ 287297813 h 114"/>
                  <a:gd name="T4" fmla="*/ 587197994 w 233"/>
                  <a:gd name="T5" fmla="*/ 30241875 h 114"/>
                  <a:gd name="T6" fmla="*/ 0 w 233"/>
                  <a:gd name="T7" fmla="*/ 0 h 11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114"/>
                  <a:gd name="T14" fmla="*/ 233 w 233"/>
                  <a:gd name="T15" fmla="*/ 114 h 11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114">
                    <a:moveTo>
                      <a:pt x="0" y="0"/>
                    </a:moveTo>
                    <a:lnTo>
                      <a:pt x="210" y="114"/>
                    </a:lnTo>
                    <a:lnTo>
                      <a:pt x="233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Freeform 1318"/>
              <p:cNvSpPr>
                <a:spLocks noChangeArrowheads="1"/>
              </p:cNvSpPr>
              <p:nvPr/>
            </p:nvSpPr>
            <p:spPr bwMode="auto">
              <a:xfrm>
                <a:off x="642938" y="1065212"/>
                <a:ext cx="195263" cy="158750"/>
              </a:xfrm>
              <a:custGeom>
                <a:avLst/>
                <a:gdLst>
                  <a:gd name="T0" fmla="*/ 33373797 w 169"/>
                  <a:gd name="T1" fmla="*/ 59549656 h 138"/>
                  <a:gd name="T2" fmla="*/ 0 w 169"/>
                  <a:gd name="T3" fmla="*/ 177327201 h 138"/>
                  <a:gd name="T4" fmla="*/ 21358768 w 169"/>
                  <a:gd name="T5" fmla="*/ 182620018 h 138"/>
                  <a:gd name="T6" fmla="*/ 225607332 w 169"/>
                  <a:gd name="T7" fmla="*/ 0 h 138"/>
                  <a:gd name="T8" fmla="*/ 33373797 w 169"/>
                  <a:gd name="T9" fmla="*/ 59549656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38"/>
                  <a:gd name="T17" fmla="*/ 169 w 169"/>
                  <a:gd name="T18" fmla="*/ 138 h 1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38">
                    <a:moveTo>
                      <a:pt x="25" y="45"/>
                    </a:moveTo>
                    <a:cubicBezTo>
                      <a:pt x="0" y="134"/>
                      <a:pt x="0" y="134"/>
                      <a:pt x="0" y="134"/>
                    </a:cubicBezTo>
                    <a:cubicBezTo>
                      <a:pt x="5" y="135"/>
                      <a:pt x="11" y="136"/>
                      <a:pt x="16" y="138"/>
                    </a:cubicBezTo>
                    <a:cubicBezTo>
                      <a:pt x="169" y="0"/>
                      <a:pt x="169" y="0"/>
                      <a:pt x="169" y="0"/>
                    </a:cubicBezTo>
                    <a:lnTo>
                      <a:pt x="25" y="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Freeform 131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203200" cy="188912"/>
              </a:xfrm>
              <a:custGeom>
                <a:avLst/>
                <a:gdLst>
                  <a:gd name="T0" fmla="*/ 57964388 w 128"/>
                  <a:gd name="T1" fmla="*/ 299897006 h 119"/>
                  <a:gd name="T2" fmla="*/ 322580000 w 128"/>
                  <a:gd name="T3" fmla="*/ 216732864 h 119"/>
                  <a:gd name="T4" fmla="*/ 0 w 128"/>
                  <a:gd name="T5" fmla="*/ 0 h 119"/>
                  <a:gd name="T6" fmla="*/ 57964388 w 128"/>
                  <a:gd name="T7" fmla="*/ 299897006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8"/>
                  <a:gd name="T13" fmla="*/ 0 h 119"/>
                  <a:gd name="T14" fmla="*/ 128 w 128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8" h="119">
                    <a:moveTo>
                      <a:pt x="23" y="119"/>
                    </a:moveTo>
                    <a:lnTo>
                      <a:pt x="128" y="86"/>
                    </a:lnTo>
                    <a:lnTo>
                      <a:pt x="0" y="0"/>
                    </a:lnTo>
                    <a:lnTo>
                      <a:pt x="23" y="119"/>
                    </a:ln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1320"/>
              <p:cNvSpPr>
                <a:spLocks noChangeArrowheads="1"/>
              </p:cNvSpPr>
              <p:nvPr/>
            </p:nvSpPr>
            <p:spPr bwMode="auto">
              <a:xfrm>
                <a:off x="463550" y="1117599"/>
                <a:ext cx="207963" cy="103187"/>
              </a:xfrm>
              <a:custGeom>
                <a:avLst/>
                <a:gdLst>
                  <a:gd name="T0" fmla="*/ 0 w 181"/>
                  <a:gd name="T1" fmla="*/ 37637748 h 89"/>
                  <a:gd name="T2" fmla="*/ 205939669 w 181"/>
                  <a:gd name="T3" fmla="*/ 119635472 h 89"/>
                  <a:gd name="T4" fmla="*/ 238942593 w 181"/>
                  <a:gd name="T5" fmla="*/ 0 h 89"/>
                  <a:gd name="T6" fmla="*/ 0 w 181"/>
                  <a:gd name="T7" fmla="*/ 37637748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1"/>
                  <a:gd name="T13" fmla="*/ 0 h 89"/>
                  <a:gd name="T14" fmla="*/ 181 w 181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1" h="89">
                    <a:moveTo>
                      <a:pt x="0" y="28"/>
                    </a:moveTo>
                    <a:cubicBezTo>
                      <a:pt x="41" y="51"/>
                      <a:pt x="93" y="71"/>
                      <a:pt x="156" y="89"/>
                    </a:cubicBezTo>
                    <a:cubicBezTo>
                      <a:pt x="181" y="0"/>
                      <a:pt x="181" y="0"/>
                      <a:pt x="181" y="0"/>
                    </a:cubicBez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1321"/>
              <p:cNvSpPr>
                <a:spLocks noChangeArrowheads="1"/>
              </p:cNvSpPr>
              <p:nvPr/>
            </p:nvSpPr>
            <p:spPr bwMode="auto">
              <a:xfrm>
                <a:off x="400050" y="928687"/>
                <a:ext cx="271463" cy="220662"/>
              </a:xfrm>
              <a:custGeom>
                <a:avLst/>
                <a:gdLst>
                  <a:gd name="T0" fmla="*/ 269914741 w 236"/>
                  <a:gd name="T1" fmla="*/ 0 h 191"/>
                  <a:gd name="T2" fmla="*/ 0 w 236"/>
                  <a:gd name="T3" fmla="*/ 201541811 h 191"/>
                  <a:gd name="T4" fmla="*/ 72771639 w 236"/>
                  <a:gd name="T5" fmla="*/ 254930462 h 191"/>
                  <a:gd name="T6" fmla="*/ 312254917 w 236"/>
                  <a:gd name="T7" fmla="*/ 217558868 h 191"/>
                  <a:gd name="T8" fmla="*/ 269914741 w 236"/>
                  <a:gd name="T9" fmla="*/ 0 h 1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91"/>
                  <a:gd name="T17" fmla="*/ 236 w 236"/>
                  <a:gd name="T18" fmla="*/ 191 h 1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91">
                    <a:moveTo>
                      <a:pt x="20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14" y="165"/>
                      <a:pt x="33" y="178"/>
                      <a:pt x="55" y="191"/>
                    </a:cubicBezTo>
                    <a:cubicBezTo>
                      <a:pt x="236" y="163"/>
                      <a:pt x="236" y="163"/>
                      <a:pt x="236" y="163"/>
                    </a:cubicBezTo>
                    <a:lnTo>
                      <a:pt x="204" y="0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1322"/>
              <p:cNvSpPr>
                <a:spLocks noChangeArrowheads="1"/>
              </p:cNvSpPr>
              <p:nvPr/>
            </p:nvSpPr>
            <p:spPr bwMode="auto">
              <a:xfrm>
                <a:off x="1049338" y="1246187"/>
                <a:ext cx="220663" cy="47625"/>
              </a:xfrm>
              <a:custGeom>
                <a:avLst/>
                <a:gdLst>
                  <a:gd name="T0" fmla="*/ 0 w 191"/>
                  <a:gd name="T1" fmla="*/ 44525890 h 41"/>
                  <a:gd name="T2" fmla="*/ 254932773 w 191"/>
                  <a:gd name="T3" fmla="*/ 55320503 h 41"/>
                  <a:gd name="T4" fmla="*/ 140146422 w 191"/>
                  <a:gd name="T5" fmla="*/ 0 h 41"/>
                  <a:gd name="T6" fmla="*/ 0 w 191"/>
                  <a:gd name="T7" fmla="*/ 4452589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1"/>
                  <a:gd name="T13" fmla="*/ 0 h 41"/>
                  <a:gd name="T14" fmla="*/ 191 w 191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1" h="41">
                    <a:moveTo>
                      <a:pt x="0" y="33"/>
                    </a:moveTo>
                    <a:cubicBezTo>
                      <a:pt x="61" y="38"/>
                      <a:pt x="125" y="40"/>
                      <a:pt x="191" y="41"/>
                    </a:cubicBezTo>
                    <a:cubicBezTo>
                      <a:pt x="105" y="0"/>
                      <a:pt x="105" y="0"/>
                      <a:pt x="105" y="0"/>
                    </a:cubicBez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1323"/>
              <p:cNvSpPr>
                <a:spLocks noChangeArrowheads="1"/>
              </p:cNvSpPr>
              <p:nvPr/>
            </p:nvSpPr>
            <p:spPr bwMode="auto">
              <a:xfrm>
                <a:off x="1171575" y="1216024"/>
                <a:ext cx="184150" cy="77787"/>
              </a:xfrm>
              <a:custGeom>
                <a:avLst/>
                <a:gdLst>
                  <a:gd name="T0" fmla="*/ 0 w 160"/>
                  <a:gd name="T1" fmla="*/ 35045946 h 67"/>
                  <a:gd name="T2" fmla="*/ 113920945 w 160"/>
                  <a:gd name="T3" fmla="*/ 90310707 h 67"/>
                  <a:gd name="T4" fmla="*/ 121868168 w 160"/>
                  <a:gd name="T5" fmla="*/ 90310707 h 67"/>
                  <a:gd name="T6" fmla="*/ 180153945 w 160"/>
                  <a:gd name="T7" fmla="*/ 88962786 h 67"/>
                  <a:gd name="T8" fmla="*/ 211945141 w 160"/>
                  <a:gd name="T9" fmla="*/ 0 h 67"/>
                  <a:gd name="T10" fmla="*/ 0 w 160"/>
                  <a:gd name="T11" fmla="*/ 35045946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67"/>
                  <a:gd name="T20" fmla="*/ 160 w 160"/>
                  <a:gd name="T21" fmla="*/ 67 h 6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67">
                    <a:moveTo>
                      <a:pt x="0" y="26"/>
                    </a:moveTo>
                    <a:cubicBezTo>
                      <a:pt x="86" y="67"/>
                      <a:pt x="86" y="67"/>
                      <a:pt x="86" y="67"/>
                    </a:cubicBezTo>
                    <a:cubicBezTo>
                      <a:pt x="88" y="67"/>
                      <a:pt x="90" y="67"/>
                      <a:pt x="92" y="67"/>
                    </a:cubicBezTo>
                    <a:cubicBezTo>
                      <a:pt x="107" y="67"/>
                      <a:pt x="121" y="66"/>
                      <a:pt x="136" y="66"/>
                    </a:cubicBezTo>
                    <a:cubicBezTo>
                      <a:pt x="160" y="0"/>
                      <a:pt x="160" y="0"/>
                      <a:pt x="160" y="0"/>
                    </a:cubicBez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1324"/>
              <p:cNvSpPr>
                <a:spLocks noChangeArrowheads="1"/>
              </p:cNvSpPr>
              <p:nvPr/>
            </p:nvSpPr>
            <p:spPr bwMode="auto">
              <a:xfrm>
                <a:off x="1328738" y="1216024"/>
                <a:ext cx="277813" cy="76200"/>
              </a:xfrm>
              <a:custGeom>
                <a:avLst/>
                <a:gdLst>
                  <a:gd name="T0" fmla="*/ 0 w 241"/>
                  <a:gd name="T1" fmla="*/ 87976364 h 66"/>
                  <a:gd name="T2" fmla="*/ 320249224 w 241"/>
                  <a:gd name="T3" fmla="*/ 67981945 h 66"/>
                  <a:gd name="T4" fmla="*/ 31892010 w 241"/>
                  <a:gd name="T5" fmla="*/ 0 h 66"/>
                  <a:gd name="T6" fmla="*/ 0 w 241"/>
                  <a:gd name="T7" fmla="*/ 87976364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1"/>
                  <a:gd name="T13" fmla="*/ 0 h 66"/>
                  <a:gd name="T14" fmla="*/ 241 w 241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1" h="66">
                    <a:moveTo>
                      <a:pt x="0" y="66"/>
                    </a:moveTo>
                    <a:cubicBezTo>
                      <a:pt x="84" y="65"/>
                      <a:pt x="165" y="60"/>
                      <a:pt x="241" y="51"/>
                    </a:cubicBezTo>
                    <a:cubicBezTo>
                      <a:pt x="24" y="0"/>
                      <a:pt x="24" y="0"/>
                      <a:pt x="24" y="0"/>
                    </a:cubicBez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102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1325"/>
              <p:cNvSpPr>
                <a:spLocks noChangeArrowheads="1"/>
              </p:cNvSpPr>
              <p:nvPr/>
            </p:nvSpPr>
            <p:spPr bwMode="auto">
              <a:xfrm>
                <a:off x="1725613" y="1117599"/>
                <a:ext cx="358775" cy="119062"/>
              </a:xfrm>
              <a:custGeom>
                <a:avLst/>
                <a:gdLst>
                  <a:gd name="T0" fmla="*/ 134413727 w 311"/>
                  <a:gd name="T1" fmla="*/ 136305383 h 104"/>
                  <a:gd name="T2" fmla="*/ 413889070 w 311"/>
                  <a:gd name="T3" fmla="*/ 40629908 h 104"/>
                  <a:gd name="T4" fmla="*/ 0 w 311"/>
                  <a:gd name="T5" fmla="*/ 0 h 104"/>
                  <a:gd name="T6" fmla="*/ 134413727 w 311"/>
                  <a:gd name="T7" fmla="*/ 13630538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1"/>
                  <a:gd name="T13" fmla="*/ 0 h 104"/>
                  <a:gd name="T14" fmla="*/ 311 w 31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1" h="104">
                    <a:moveTo>
                      <a:pt x="101" y="104"/>
                    </a:moveTo>
                    <a:cubicBezTo>
                      <a:pt x="188" y="84"/>
                      <a:pt x="259" y="59"/>
                      <a:pt x="311" y="31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01" y="104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1326"/>
              <p:cNvSpPr>
                <a:spLocks noChangeArrowheads="1"/>
              </p:cNvSpPr>
              <p:nvPr/>
            </p:nvSpPr>
            <p:spPr bwMode="auto">
              <a:xfrm>
                <a:off x="2085975" y="811212"/>
                <a:ext cx="106363" cy="315912"/>
              </a:xfrm>
              <a:custGeom>
                <a:avLst/>
                <a:gdLst>
                  <a:gd name="T0" fmla="*/ 0 w 91"/>
                  <a:gd name="T1" fmla="*/ 34816280 h 273"/>
                  <a:gd name="T2" fmla="*/ 49181784 w 91"/>
                  <a:gd name="T3" fmla="*/ 365569201 h 273"/>
                  <a:gd name="T4" fmla="*/ 124319646 w 91"/>
                  <a:gd name="T5" fmla="*/ 251747148 h 273"/>
                  <a:gd name="T6" fmla="*/ 117489037 w 91"/>
                  <a:gd name="T7" fmla="*/ 216930869 h 273"/>
                  <a:gd name="T8" fmla="*/ 117489037 w 91"/>
                  <a:gd name="T9" fmla="*/ 216930869 h 273"/>
                  <a:gd name="T10" fmla="*/ 49181784 w 91"/>
                  <a:gd name="T11" fmla="*/ 44189493 h 273"/>
                  <a:gd name="T12" fmla="*/ 19126639 w 91"/>
                  <a:gd name="T13" fmla="*/ 0 h 273"/>
                  <a:gd name="T14" fmla="*/ 0 w 91"/>
                  <a:gd name="T15" fmla="*/ 34816280 h 2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1"/>
                  <a:gd name="T25" fmla="*/ 0 h 273"/>
                  <a:gd name="T26" fmla="*/ 91 w 91"/>
                  <a:gd name="T27" fmla="*/ 273 h 2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1" h="273">
                    <a:moveTo>
                      <a:pt x="0" y="26"/>
                    </a:moveTo>
                    <a:cubicBezTo>
                      <a:pt x="36" y="273"/>
                      <a:pt x="36" y="273"/>
                      <a:pt x="36" y="273"/>
                    </a:cubicBezTo>
                    <a:cubicBezTo>
                      <a:pt x="71" y="247"/>
                      <a:pt x="91" y="218"/>
                      <a:pt x="91" y="188"/>
                    </a:cubicBezTo>
                    <a:cubicBezTo>
                      <a:pt x="91" y="179"/>
                      <a:pt x="89" y="171"/>
                      <a:pt x="86" y="162"/>
                    </a:cubicBezTo>
                    <a:cubicBezTo>
                      <a:pt x="86" y="162"/>
                      <a:pt x="86" y="162"/>
                      <a:pt x="86" y="162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2" y="9"/>
                      <a:pt x="7" y="18"/>
                      <a:pt x="0" y="26"/>
                    </a:cubicBez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Freeform 1327"/>
              <p:cNvSpPr>
                <a:spLocks noChangeArrowheads="1"/>
              </p:cNvSpPr>
              <p:nvPr/>
            </p:nvSpPr>
            <p:spPr bwMode="auto">
              <a:xfrm>
                <a:off x="1725613" y="841374"/>
                <a:ext cx="403225" cy="311150"/>
              </a:xfrm>
              <a:custGeom>
                <a:avLst/>
                <a:gdLst>
                  <a:gd name="T0" fmla="*/ 359083994 w 349"/>
                  <a:gd name="T1" fmla="*/ 45153627 h 270"/>
                  <a:gd name="T2" fmla="*/ 220255591 w 349"/>
                  <a:gd name="T3" fmla="*/ 102258871 h 270"/>
                  <a:gd name="T4" fmla="*/ 0 w 349"/>
                  <a:gd name="T5" fmla="*/ 317401810 h 270"/>
                  <a:gd name="T6" fmla="*/ 415149599 w 349"/>
                  <a:gd name="T7" fmla="*/ 358571565 h 270"/>
                  <a:gd name="T8" fmla="*/ 465875073 w 349"/>
                  <a:gd name="T9" fmla="*/ 328027006 h 270"/>
                  <a:gd name="T10" fmla="*/ 417819665 w 349"/>
                  <a:gd name="T11" fmla="*/ 0 h 270"/>
                  <a:gd name="T12" fmla="*/ 359083994 w 349"/>
                  <a:gd name="T13" fmla="*/ 45153627 h 27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49"/>
                  <a:gd name="T22" fmla="*/ 0 h 270"/>
                  <a:gd name="T23" fmla="*/ 349 w 349"/>
                  <a:gd name="T24" fmla="*/ 270 h 27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49" h="270">
                    <a:moveTo>
                      <a:pt x="269" y="34"/>
                    </a:moveTo>
                    <a:cubicBezTo>
                      <a:pt x="242" y="50"/>
                      <a:pt x="207" y="64"/>
                      <a:pt x="165" y="77"/>
                    </a:cubicBezTo>
                    <a:cubicBezTo>
                      <a:pt x="0" y="239"/>
                      <a:pt x="0" y="239"/>
                      <a:pt x="0" y="239"/>
                    </a:cubicBezTo>
                    <a:cubicBezTo>
                      <a:pt x="311" y="270"/>
                      <a:pt x="311" y="270"/>
                      <a:pt x="311" y="270"/>
                    </a:cubicBezTo>
                    <a:cubicBezTo>
                      <a:pt x="325" y="262"/>
                      <a:pt x="338" y="255"/>
                      <a:pt x="349" y="247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03" y="12"/>
                      <a:pt x="288" y="23"/>
                      <a:pt x="269" y="34"/>
                    </a:cubicBezTo>
                    <a:close/>
                  </a:path>
                </a:pathLst>
              </a:custGeom>
              <a:solidFill>
                <a:srgbClr val="FE5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Rectangle 1328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587"/>
              </a:xfrm>
              <a:prstGeom prst="rect">
                <a:avLst/>
              </a:pr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endParaRPr>
              </a:p>
            </p:txBody>
          </p:sp>
          <p:sp>
            <p:nvSpPr>
              <p:cNvPr id="58" name="Freeform 1329"/>
              <p:cNvSpPr>
                <a:spLocks noChangeArrowheads="1"/>
              </p:cNvSpPr>
              <p:nvPr/>
            </p:nvSpPr>
            <p:spPr bwMode="auto">
              <a:xfrm>
                <a:off x="635000" y="928687"/>
                <a:ext cx="1588" cy="1"/>
              </a:xfrm>
              <a:custGeom>
                <a:avLst/>
                <a:gdLst>
                  <a:gd name="T0" fmla="*/ 2521744 w 1"/>
                  <a:gd name="T1" fmla="*/ 0 h 1"/>
                  <a:gd name="T2" fmla="*/ 2521744 w 1"/>
                  <a:gd name="T3" fmla="*/ 0 h 1"/>
                  <a:gd name="T4" fmla="*/ 0 w 1"/>
                  <a:gd name="T5" fmla="*/ 0 h 1"/>
                  <a:gd name="T6" fmla="*/ 252174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1"/>
                  <a:gd name="T14" fmla="*/ 1 w 1"/>
                  <a:gd name="T15" fmla="*/ 1 h 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1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Freeform 1330"/>
              <p:cNvSpPr>
                <a:spLocks noChangeArrowheads="1"/>
              </p:cNvSpPr>
              <p:nvPr/>
            </p:nvSpPr>
            <p:spPr bwMode="auto">
              <a:xfrm>
                <a:off x="1244600" y="1065212"/>
                <a:ext cx="369888" cy="150812"/>
              </a:xfrm>
              <a:custGeom>
                <a:avLst/>
                <a:gdLst>
                  <a:gd name="T0" fmla="*/ 0 w 233"/>
                  <a:gd name="T1" fmla="*/ 0 h 95"/>
                  <a:gd name="T2" fmla="*/ 176411176 w 233"/>
                  <a:gd name="T3" fmla="*/ 239413256 h 95"/>
                  <a:gd name="T4" fmla="*/ 587197994 w 233"/>
                  <a:gd name="T5" fmla="*/ 32761129 h 95"/>
                  <a:gd name="T6" fmla="*/ 0 w 233"/>
                  <a:gd name="T7" fmla="*/ 0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95"/>
                  <a:gd name="T14" fmla="*/ 233 w 233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95">
                    <a:moveTo>
                      <a:pt x="0" y="0"/>
                    </a:moveTo>
                    <a:lnTo>
                      <a:pt x="70" y="95"/>
                    </a:lnTo>
                    <a:lnTo>
                      <a:pt x="233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Freeform 1331"/>
              <p:cNvSpPr>
                <a:spLocks noChangeArrowheads="1"/>
              </p:cNvSpPr>
              <p:nvPr/>
            </p:nvSpPr>
            <p:spPr bwMode="auto">
              <a:xfrm>
                <a:off x="1244600" y="1003299"/>
                <a:ext cx="369888" cy="82550"/>
              </a:xfrm>
              <a:custGeom>
                <a:avLst/>
                <a:gdLst>
                  <a:gd name="T0" fmla="*/ 427553539 w 320"/>
                  <a:gd name="T1" fmla="*/ 94645868 h 72"/>
                  <a:gd name="T2" fmla="*/ 197743281 w 320"/>
                  <a:gd name="T3" fmla="*/ 0 h 72"/>
                  <a:gd name="T4" fmla="*/ 89518676 w 320"/>
                  <a:gd name="T5" fmla="*/ 2628988 h 72"/>
                  <a:gd name="T6" fmla="*/ 0 w 320"/>
                  <a:gd name="T7" fmla="*/ 70984974 h 72"/>
                  <a:gd name="T8" fmla="*/ 427553539 w 320"/>
                  <a:gd name="T9" fmla="*/ 94645868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0"/>
                  <a:gd name="T16" fmla="*/ 0 h 72"/>
                  <a:gd name="T17" fmla="*/ 320 w 320"/>
                  <a:gd name="T18" fmla="*/ 72 h 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0" h="72">
                    <a:moveTo>
                      <a:pt x="320" y="72"/>
                    </a:moveTo>
                    <a:cubicBezTo>
                      <a:pt x="148" y="0"/>
                      <a:pt x="148" y="0"/>
                      <a:pt x="148" y="0"/>
                    </a:cubicBezTo>
                    <a:cubicBezTo>
                      <a:pt x="121" y="1"/>
                      <a:pt x="94" y="1"/>
                      <a:pt x="67" y="2"/>
                    </a:cubicBezTo>
                    <a:cubicBezTo>
                      <a:pt x="0" y="54"/>
                      <a:pt x="0" y="54"/>
                      <a:pt x="0" y="54"/>
                    </a:cubicBezTo>
                    <a:lnTo>
                      <a:pt x="320" y="72"/>
                    </a:lnTo>
                    <a:close/>
                  </a:path>
                </a:pathLst>
              </a:custGeom>
              <a:solidFill>
                <a:srgbClr val="D1D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Freeform 1332"/>
              <p:cNvSpPr>
                <a:spLocks noChangeArrowheads="1"/>
              </p:cNvSpPr>
              <p:nvPr/>
            </p:nvSpPr>
            <p:spPr bwMode="auto">
              <a:xfrm>
                <a:off x="1355725" y="1085849"/>
                <a:ext cx="369888" cy="130175"/>
              </a:xfrm>
              <a:custGeom>
                <a:avLst/>
                <a:gdLst>
                  <a:gd name="T0" fmla="*/ 0 w 233"/>
                  <a:gd name="T1" fmla="*/ 206652813 h 82"/>
                  <a:gd name="T2" fmla="*/ 587197994 w 233"/>
                  <a:gd name="T3" fmla="*/ 50403125 h 82"/>
                  <a:gd name="T4" fmla="*/ 410786818 w 233"/>
                  <a:gd name="T5" fmla="*/ 0 h 82"/>
                  <a:gd name="T6" fmla="*/ 0 w 233"/>
                  <a:gd name="T7" fmla="*/ 206652813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33"/>
                  <a:gd name="T13" fmla="*/ 0 h 82"/>
                  <a:gd name="T14" fmla="*/ 233 w 233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33" h="82">
                    <a:moveTo>
                      <a:pt x="0" y="82"/>
                    </a:moveTo>
                    <a:lnTo>
                      <a:pt x="233" y="20"/>
                    </a:lnTo>
                    <a:lnTo>
                      <a:pt x="163" y="0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2F6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Freeform 1333"/>
              <p:cNvSpPr>
                <a:spLocks noChangeArrowheads="1"/>
              </p:cNvSpPr>
              <p:nvPr/>
            </p:nvSpPr>
            <p:spPr bwMode="auto">
              <a:xfrm>
                <a:off x="1416050" y="985837"/>
                <a:ext cx="206375" cy="100012"/>
              </a:xfrm>
              <a:custGeom>
                <a:avLst/>
                <a:gdLst>
                  <a:gd name="T0" fmla="*/ 237936540 w 179"/>
                  <a:gd name="T1" fmla="*/ 0 h 86"/>
                  <a:gd name="T2" fmla="*/ 0 w 179"/>
                  <a:gd name="T3" fmla="*/ 18933667 h 86"/>
                  <a:gd name="T4" fmla="*/ 228631218 w 179"/>
                  <a:gd name="T5" fmla="*/ 116306978 h 86"/>
                  <a:gd name="T6" fmla="*/ 237936540 w 179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9"/>
                  <a:gd name="T13" fmla="*/ 0 h 86"/>
                  <a:gd name="T14" fmla="*/ 179 w 179"/>
                  <a:gd name="T15" fmla="*/ 86 h 8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9" h="86">
                    <a:moveTo>
                      <a:pt x="179" y="0"/>
                    </a:moveTo>
                    <a:cubicBezTo>
                      <a:pt x="123" y="6"/>
                      <a:pt x="63" y="11"/>
                      <a:pt x="0" y="14"/>
                    </a:cubicBezTo>
                    <a:cubicBezTo>
                      <a:pt x="172" y="86"/>
                      <a:pt x="172" y="86"/>
                      <a:pt x="172" y="86"/>
                    </a:cubicBezTo>
                    <a:lnTo>
                      <a:pt x="179" y="0"/>
                    </a:ln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Freeform 1334"/>
              <p:cNvSpPr>
                <a:spLocks noChangeArrowheads="1"/>
              </p:cNvSpPr>
              <p:nvPr/>
            </p:nvSpPr>
            <p:spPr bwMode="auto">
              <a:xfrm>
                <a:off x="1614488" y="957262"/>
                <a:ext cx="188913" cy="128587"/>
              </a:xfrm>
              <a:custGeom>
                <a:avLst/>
                <a:gdLst>
                  <a:gd name="T0" fmla="*/ 218945531 w 163"/>
                  <a:gd name="T1" fmla="*/ 0 h 111"/>
                  <a:gd name="T2" fmla="*/ 9402768 w 163"/>
                  <a:gd name="T3" fmla="*/ 33549623 h 111"/>
                  <a:gd name="T4" fmla="*/ 0 w 163"/>
                  <a:gd name="T5" fmla="*/ 148960510 h 111"/>
                  <a:gd name="T6" fmla="*/ 218945531 w 163"/>
                  <a:gd name="T7" fmla="*/ 0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11"/>
                  <a:gd name="T14" fmla="*/ 163 w 163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11">
                    <a:moveTo>
                      <a:pt x="163" y="0"/>
                    </a:moveTo>
                    <a:cubicBezTo>
                      <a:pt x="116" y="10"/>
                      <a:pt x="63" y="18"/>
                      <a:pt x="7" y="25"/>
                    </a:cubicBezTo>
                    <a:cubicBezTo>
                      <a:pt x="0" y="111"/>
                      <a:pt x="0" y="111"/>
                      <a:pt x="0" y="111"/>
                    </a:cubicBezTo>
                    <a:lnTo>
                      <a:pt x="163" y="0"/>
                    </a:lnTo>
                    <a:close/>
                  </a:path>
                </a:pathLst>
              </a:custGeom>
              <a:solidFill>
                <a:srgbClr val="FBB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Freeform 1335"/>
              <p:cNvSpPr>
                <a:spLocks noChangeArrowheads="1"/>
              </p:cNvSpPr>
              <p:nvPr/>
            </p:nvSpPr>
            <p:spPr bwMode="auto">
              <a:xfrm>
                <a:off x="1614488" y="930274"/>
                <a:ext cx="301625" cy="187325"/>
              </a:xfrm>
              <a:custGeom>
                <a:avLst/>
                <a:gdLst>
                  <a:gd name="T0" fmla="*/ 128211427 w 261"/>
                  <a:gd name="T1" fmla="*/ 216608985 h 162"/>
                  <a:gd name="T2" fmla="*/ 348573336 w 261"/>
                  <a:gd name="T3" fmla="*/ 0 h 162"/>
                  <a:gd name="T4" fmla="*/ 217691199 w 261"/>
                  <a:gd name="T5" fmla="*/ 32090391 h 162"/>
                  <a:gd name="T6" fmla="*/ 0 w 261"/>
                  <a:gd name="T7" fmla="*/ 180507295 h 162"/>
                  <a:gd name="T8" fmla="*/ 128211427 w 261"/>
                  <a:gd name="T9" fmla="*/ 216608985 h 1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1"/>
                  <a:gd name="T16" fmla="*/ 0 h 162"/>
                  <a:gd name="T17" fmla="*/ 261 w 261"/>
                  <a:gd name="T18" fmla="*/ 162 h 1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1" h="162">
                    <a:moveTo>
                      <a:pt x="96" y="162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32" y="9"/>
                      <a:pt x="199" y="17"/>
                      <a:pt x="163" y="24"/>
                    </a:cubicBezTo>
                    <a:cubicBezTo>
                      <a:pt x="0" y="135"/>
                      <a:pt x="0" y="135"/>
                      <a:pt x="0" y="135"/>
                    </a:cubicBezTo>
                    <a:lnTo>
                      <a:pt x="96" y="1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1336"/>
              <p:cNvSpPr>
                <a:spLocks noChangeArrowheads="1"/>
              </p:cNvSpPr>
              <p:nvPr/>
            </p:nvSpPr>
            <p:spPr bwMode="auto">
              <a:xfrm>
                <a:off x="2100263" y="777874"/>
                <a:ext cx="28575" cy="71437"/>
              </a:xfrm>
              <a:custGeom>
                <a:avLst/>
                <a:gdLst>
                  <a:gd name="T0" fmla="*/ 5670947 w 24"/>
                  <a:gd name="T1" fmla="*/ 23896829 h 62"/>
                  <a:gd name="T2" fmla="*/ 2834878 w 24"/>
                  <a:gd name="T3" fmla="*/ 38499934 h 62"/>
                  <a:gd name="T4" fmla="*/ 34022109 w 24"/>
                  <a:gd name="T5" fmla="*/ 82310403 h 62"/>
                  <a:gd name="T6" fmla="*/ 0 w 24"/>
                  <a:gd name="T7" fmla="*/ 0 h 62"/>
                  <a:gd name="T8" fmla="*/ 5670947 w 24"/>
                  <a:gd name="T9" fmla="*/ 23896829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"/>
                  <a:gd name="T16" fmla="*/ 0 h 62"/>
                  <a:gd name="T17" fmla="*/ 24 w 24"/>
                  <a:gd name="T18" fmla="*/ 62 h 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" h="62">
                    <a:moveTo>
                      <a:pt x="4" y="18"/>
                    </a:moveTo>
                    <a:cubicBezTo>
                      <a:pt x="4" y="21"/>
                      <a:pt x="3" y="25"/>
                      <a:pt x="2" y="29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4" y="12"/>
                      <a:pt x="4" y="18"/>
                    </a:cubicBezTo>
                    <a:close/>
                  </a:path>
                </a:pathLst>
              </a:custGeom>
              <a:solidFill>
                <a:srgbClr val="07AF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66" name="任意多边形 98"/>
          <p:cNvSpPr>
            <a:spLocks noChangeArrowheads="1"/>
          </p:cNvSpPr>
          <p:nvPr/>
        </p:nvSpPr>
        <p:spPr bwMode="auto">
          <a:xfrm>
            <a:off x="3715403" y="2356325"/>
            <a:ext cx="1746647" cy="360759"/>
          </a:xfrm>
          <a:custGeom>
            <a:avLst/>
            <a:gdLst>
              <a:gd name="T0" fmla="*/ 0 w 2541974"/>
              <a:gd name="T1" fmla="*/ 0 h 636814"/>
              <a:gd name="T2" fmla="*/ 2133619 w 2541974"/>
              <a:gd name="T3" fmla="*/ 0 h 636814"/>
              <a:gd name="T4" fmla="*/ 1991723 w 2541974"/>
              <a:gd name="T5" fmla="*/ 181664 h 636814"/>
              <a:gd name="T6" fmla="*/ 2133619 w 2541974"/>
              <a:gd name="T7" fmla="*/ 363328 h 636814"/>
              <a:gd name="T8" fmla="*/ 0 w 2541974"/>
              <a:gd name="T9" fmla="*/ 363328 h 636814"/>
              <a:gd name="T10" fmla="*/ 141809 w 2541974"/>
              <a:gd name="T11" fmla="*/ 181664 h 63681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41974"/>
              <a:gd name="T19" fmla="*/ 0 h 636814"/>
              <a:gd name="T20" fmla="*/ 2541974 w 2541974"/>
              <a:gd name="T21" fmla="*/ 636814 h 63681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41974" h="636814">
                <a:moveTo>
                  <a:pt x="0" y="0"/>
                </a:moveTo>
                <a:lnTo>
                  <a:pt x="2541974" y="0"/>
                </a:lnTo>
                <a:lnTo>
                  <a:pt x="2372921" y="318407"/>
                </a:lnTo>
                <a:lnTo>
                  <a:pt x="2541974" y="636814"/>
                </a:lnTo>
                <a:lnTo>
                  <a:pt x="0" y="636814"/>
                </a:lnTo>
                <a:lnTo>
                  <a:pt x="168950" y="318407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print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/>
          <a:p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谢谢聆听</a:t>
            </a:r>
          </a:p>
        </p:txBody>
      </p:sp>
      <p:pic>
        <p:nvPicPr>
          <p:cNvPr id="69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91" y="138184"/>
            <a:ext cx="2257425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sh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81dabb2a-5c89-48a6-b1ea-dad5b136c813}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2847</Words>
  <Application>Microsoft Office PowerPoint</Application>
  <PresentationFormat>全屏显示(16:9)</PresentationFormat>
  <Paragraphs>416</Paragraphs>
  <Slides>49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1" baseType="lpstr">
      <vt:lpstr>Browallia New</vt:lpstr>
      <vt:lpstr>等线</vt:lpstr>
      <vt:lpstr>黑体</vt:lpstr>
      <vt:lpstr>宋体</vt:lpstr>
      <vt:lpstr>微软雅黑</vt:lpstr>
      <vt:lpstr>Arial</vt:lpstr>
      <vt:lpstr>Calibri</vt:lpstr>
      <vt:lpstr>Impact</vt:lpstr>
      <vt:lpstr>Tahoma</vt:lpstr>
      <vt:lpstr>Times New Roman</vt:lpstr>
      <vt:lpstr>Wingdings</vt:lpstr>
      <vt:lpstr>Office 主题</vt:lpstr>
      <vt:lpstr>第十四单元</vt:lpstr>
      <vt:lpstr>第一课时</vt:lpstr>
      <vt:lpstr>回顾</vt:lpstr>
      <vt:lpstr>贯穿案例</vt:lpstr>
      <vt:lpstr>知识目标</vt:lpstr>
      <vt:lpstr>为什么学习全局变量和局部变量</vt:lpstr>
      <vt:lpstr>为什么学习全局变量和局部变量</vt:lpstr>
      <vt:lpstr>为什么学习全局变量和局部变量</vt:lpstr>
      <vt:lpstr>什么是全局变量</vt:lpstr>
      <vt:lpstr>什么是全局变量</vt:lpstr>
      <vt:lpstr>什么是局部变量</vt:lpstr>
      <vt:lpstr>如何使用全局变量和局部变量</vt:lpstr>
      <vt:lpstr>如何使用全局变量和局部变量</vt:lpstr>
      <vt:lpstr>如何使用全局变量和局部变量</vt:lpstr>
      <vt:lpstr>全局变量和局部变量的作用</vt:lpstr>
      <vt:lpstr>案例</vt:lpstr>
      <vt:lpstr>第二课时</vt:lpstr>
      <vt:lpstr>形参外延</vt:lpstr>
      <vt:lpstr>什么是位置参数</vt:lpstr>
      <vt:lpstr>什么是默认参数</vt:lpstr>
      <vt:lpstr>如何使用默认参数</vt:lpstr>
      <vt:lpstr>默认参数的应用</vt:lpstr>
      <vt:lpstr>默认参数的应用</vt:lpstr>
      <vt:lpstr>课堂小结</vt:lpstr>
      <vt:lpstr>第三课时</vt:lpstr>
      <vt:lpstr>知识回顾</vt:lpstr>
      <vt:lpstr>为什么使用非关键字可变长参数</vt:lpstr>
      <vt:lpstr>什么是非关键字可变长参数</vt:lpstr>
      <vt:lpstr>非关键字可变长参数的应用</vt:lpstr>
      <vt:lpstr>非关键字可变长参数的应用 </vt:lpstr>
      <vt:lpstr>非关键字可变长参数的应用</vt:lpstr>
      <vt:lpstr>非关键字可变长参数的作用</vt:lpstr>
      <vt:lpstr>为什么使用关键字可变长参数</vt:lpstr>
      <vt:lpstr>为什么使用关键字可变长参数</vt:lpstr>
      <vt:lpstr>什么是关键字可变长参数</vt:lpstr>
      <vt:lpstr>关键字可变长参数的应用</vt:lpstr>
      <vt:lpstr>关键字可变长参数的应用</vt:lpstr>
      <vt:lpstr>关键字可变长参数的应用</vt:lpstr>
      <vt:lpstr>关键字可变长参数的作用</vt:lpstr>
      <vt:lpstr>两种可变长参数对比</vt:lpstr>
      <vt:lpstr>第四课时</vt:lpstr>
      <vt:lpstr>单元总结</vt:lpstr>
      <vt:lpstr>课堂案例</vt:lpstr>
      <vt:lpstr>课堂案例</vt:lpstr>
      <vt:lpstr>函数的作用</vt:lpstr>
      <vt:lpstr>作业</vt:lpstr>
      <vt:lpstr>作业</vt:lpstr>
      <vt:lpstr>概念图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第1章内容回顾</dc:title>
  <dc:creator>xiaojing.dai</dc:creator>
  <cp:lastModifiedBy>Pengfei</cp:lastModifiedBy>
  <cp:revision>3934</cp:revision>
  <dcterms:created xsi:type="dcterms:W3CDTF">2006-03-08T06:55:00Z</dcterms:created>
  <dcterms:modified xsi:type="dcterms:W3CDTF">2020-12-22T06:27:23Z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