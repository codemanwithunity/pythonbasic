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1140" r:id="rId3"/>
    <p:sldId id="1824" r:id="rId5"/>
    <p:sldId id="1244" r:id="rId6"/>
    <p:sldId id="1413" r:id="rId7"/>
    <p:sldId id="1247" r:id="rId8"/>
    <p:sldId id="1644" r:id="rId9"/>
    <p:sldId id="1574" r:id="rId10"/>
    <p:sldId id="1542" r:id="rId11"/>
    <p:sldId id="1904" r:id="rId12"/>
    <p:sldId id="1543" r:id="rId13"/>
    <p:sldId id="1544" r:id="rId14"/>
    <p:sldId id="1988" r:id="rId15"/>
    <p:sldId id="1610" r:id="rId16"/>
    <p:sldId id="1825" r:id="rId17"/>
    <p:sldId id="1611" r:id="rId18"/>
    <p:sldId id="1670" r:id="rId19"/>
    <p:sldId id="1547" r:id="rId20"/>
    <p:sldId id="1938" r:id="rId21"/>
    <p:sldId id="1575" r:id="rId22"/>
    <p:sldId id="1940" r:id="rId23"/>
    <p:sldId id="1370" r:id="rId24"/>
    <p:sldId id="1826" r:id="rId25"/>
    <p:sldId id="1466" r:id="rId26"/>
    <p:sldId id="1367" r:id="rId27"/>
    <p:sldId id="1368" r:id="rId28"/>
    <p:sldId id="1455" r:id="rId29"/>
    <p:sldId id="1460" r:id="rId30"/>
    <p:sldId id="1672" r:id="rId31"/>
    <p:sldId id="1462" r:id="rId32"/>
    <p:sldId id="1364" r:id="rId33"/>
    <p:sldId id="1267" r:id="rId34"/>
  </p:sldIdLst>
  <p:sldSz cx="9144000" cy="5143500" type="screen16x9"/>
  <p:notesSz cx="6858000" cy="9144000"/>
  <p:custDataLst>
    <p:tags r:id="rId40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0070C0"/>
    <a:srgbClr val="404A1A"/>
    <a:srgbClr val="00CC99"/>
    <a:srgbClr val="EDF5FD"/>
    <a:srgbClr val="E2F5FE"/>
    <a:srgbClr val="E7F4FF"/>
    <a:srgbClr val="EAEFF7"/>
    <a:srgbClr val="A5A9AE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28" autoAdjust="0"/>
    <p:restoredTop sz="87656" autoAdjust="0"/>
  </p:normalViewPr>
  <p:slideViewPr>
    <p:cSldViewPr>
      <p:cViewPr varScale="1">
        <p:scale>
          <a:sx n="82" d="100"/>
          <a:sy n="82" d="100"/>
        </p:scale>
        <p:origin x="24" y="82"/>
      </p:cViewPr>
      <p:guideLst>
        <p:guide orient="horz" pos="1665"/>
        <p:guide orient="horz" pos="223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78"/>
      </p:cViewPr>
      <p:guideLst>
        <p:guide orient="horz" pos="2960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727D62-A6A9-4D88-9397-C589A33C1D59}" type="doc">
      <dgm:prSet loTypeId="urn:microsoft.com/office/officeart/2005/8/layout/equation1" loCatId="process" qsTypeId="urn:microsoft.com/office/officeart/2005/8/quickstyle/simple4#2" qsCatId="simple" csTypeId="urn:microsoft.com/office/officeart/2005/8/colors/accent1_2#2" csCatId="accent1" phldr="1"/>
      <dgm:spPr/>
    </dgm:pt>
    <dgm:pt modelId="{2979CAE4-12E7-42FE-80C8-B95E320A4FF5}">
      <dgm:prSet phldrT="[文本]"/>
      <dgm:spPr/>
      <dgm:t>
        <a:bodyPr/>
        <a:lstStyle/>
        <a:p>
          <a:r>
            <a:rPr lang="zh-CN" altLang="en-US" dirty="0"/>
            <a:t>功能</a:t>
          </a:r>
        </a:p>
      </dgm:t>
    </dgm:pt>
    <dgm:pt modelId="{FB2BAB13-D0E2-431B-8F5D-10CCEC8544A6}" cxnId="{FF446FE4-DCD8-438F-AFFD-1E0BC2680538}" type="parTrans">
      <dgm:prSet/>
      <dgm:spPr/>
      <dgm:t>
        <a:bodyPr/>
        <a:lstStyle/>
        <a:p>
          <a:endParaRPr lang="zh-CN" altLang="en-US"/>
        </a:p>
      </dgm:t>
    </dgm:pt>
    <dgm:pt modelId="{E857F505-A8A3-4C99-812E-F9673132E382}" cxnId="{FF446FE4-DCD8-438F-AFFD-1E0BC2680538}" type="sibTrans">
      <dgm:prSet/>
      <dgm:spPr/>
      <dgm:t>
        <a:bodyPr/>
        <a:lstStyle/>
        <a:p>
          <a:endParaRPr lang="zh-CN" altLang="en-US"/>
        </a:p>
      </dgm:t>
    </dgm:pt>
    <dgm:pt modelId="{C6C68CD7-7EC5-4FF7-86E7-10F1470B0D73}">
      <dgm:prSet phldrT="[文本]"/>
      <dgm:spPr/>
      <dgm:t>
        <a:bodyPr/>
        <a:lstStyle/>
        <a:p>
          <a:r>
            <a:rPr lang="zh-CN" altLang="en-US" dirty="0"/>
            <a:t>规范</a:t>
          </a:r>
        </a:p>
      </dgm:t>
    </dgm:pt>
    <dgm:pt modelId="{6443F65E-512F-4DE0-83F3-9581D2D8B6D3}" cxnId="{68B0F5F1-18DF-4F99-9CBE-FA7D98EB22D4}" type="parTrans">
      <dgm:prSet/>
      <dgm:spPr/>
      <dgm:t>
        <a:bodyPr/>
        <a:lstStyle/>
        <a:p>
          <a:endParaRPr lang="zh-CN" altLang="en-US"/>
        </a:p>
      </dgm:t>
    </dgm:pt>
    <dgm:pt modelId="{9FEB5A04-68F6-4EB3-99F9-4479C4641646}" cxnId="{68B0F5F1-18DF-4F99-9CBE-FA7D98EB22D4}" type="sibTrans">
      <dgm:prSet/>
      <dgm:spPr/>
      <dgm:t>
        <a:bodyPr/>
        <a:lstStyle/>
        <a:p>
          <a:endParaRPr lang="zh-CN" altLang="en-US"/>
        </a:p>
      </dgm:t>
    </dgm:pt>
    <dgm:pt modelId="{6E7CF3E8-DDD5-4D0E-9515-69EAB4C0D033}">
      <dgm:prSet phldrT="[文本]"/>
      <dgm:spPr/>
      <dgm:t>
        <a:bodyPr/>
        <a:lstStyle/>
        <a:p>
          <a:r>
            <a:rPr lang="zh-CN" altLang="en-US" dirty="0"/>
            <a:t>质量</a:t>
          </a:r>
        </a:p>
      </dgm:t>
    </dgm:pt>
    <dgm:pt modelId="{6A874BB7-07F3-440A-A227-D1F1BC54F71F}" cxnId="{E3FB47DF-B3B4-4DCE-BAB7-74067FA2E394}" type="parTrans">
      <dgm:prSet/>
      <dgm:spPr/>
      <dgm:t>
        <a:bodyPr/>
        <a:lstStyle/>
        <a:p>
          <a:endParaRPr lang="zh-CN" altLang="en-US"/>
        </a:p>
      </dgm:t>
    </dgm:pt>
    <dgm:pt modelId="{03026981-195D-4DB8-8CA2-73F564D4CE77}" cxnId="{E3FB47DF-B3B4-4DCE-BAB7-74067FA2E394}" type="sibTrans">
      <dgm:prSet/>
      <dgm:spPr/>
      <dgm:t>
        <a:bodyPr/>
        <a:lstStyle/>
        <a:p>
          <a:endParaRPr lang="zh-CN" altLang="en-US"/>
        </a:p>
      </dgm:t>
    </dgm:pt>
    <dgm:pt modelId="{4AEE5274-C6B2-41CE-927C-9A0FEBB7DCD1}" type="pres">
      <dgm:prSet presAssocID="{D8727D62-A6A9-4D88-9397-C589A33C1D59}" presName="linearFlow" presStyleCnt="0">
        <dgm:presLayoutVars>
          <dgm:dir/>
          <dgm:resizeHandles val="exact"/>
        </dgm:presLayoutVars>
      </dgm:prSet>
      <dgm:spPr/>
    </dgm:pt>
    <dgm:pt modelId="{EAC0F6B0-9E2F-4ACB-B249-F9CA734E2D45}" type="pres">
      <dgm:prSet presAssocID="{2979CAE4-12E7-42FE-80C8-B95E320A4FF5}" presName="node" presStyleLbl="node1" presStyleIdx="0" presStyleCnt="3">
        <dgm:presLayoutVars>
          <dgm:bulletEnabled val="1"/>
        </dgm:presLayoutVars>
      </dgm:prSet>
      <dgm:spPr/>
    </dgm:pt>
    <dgm:pt modelId="{A71B4BB3-28FE-465D-949B-3FF9BF0885EF}" type="pres">
      <dgm:prSet presAssocID="{E857F505-A8A3-4C99-812E-F9673132E382}" presName="spacerL" presStyleCnt="0"/>
      <dgm:spPr/>
    </dgm:pt>
    <dgm:pt modelId="{31073018-F5F2-4982-A06F-8BD0C210F86C}" type="pres">
      <dgm:prSet presAssocID="{E857F505-A8A3-4C99-812E-F9673132E382}" presName="sibTrans" presStyleLbl="sibTrans2D1" presStyleIdx="0" presStyleCnt="2"/>
      <dgm:spPr/>
    </dgm:pt>
    <dgm:pt modelId="{239F2779-96A4-4C9B-81A7-5B7DC7A18E9B}" type="pres">
      <dgm:prSet presAssocID="{E857F505-A8A3-4C99-812E-F9673132E382}" presName="spacerR" presStyleCnt="0"/>
      <dgm:spPr/>
    </dgm:pt>
    <dgm:pt modelId="{4819B1F7-D0DE-4BBE-9A67-D147C229E44C}" type="pres">
      <dgm:prSet presAssocID="{C6C68CD7-7EC5-4FF7-86E7-10F1470B0D73}" presName="node" presStyleLbl="node1" presStyleIdx="1" presStyleCnt="3">
        <dgm:presLayoutVars>
          <dgm:bulletEnabled val="1"/>
        </dgm:presLayoutVars>
      </dgm:prSet>
      <dgm:spPr/>
    </dgm:pt>
    <dgm:pt modelId="{C137B257-3935-4B2E-910B-7BDE9D76A0A9}" type="pres">
      <dgm:prSet presAssocID="{9FEB5A04-68F6-4EB3-99F9-4479C4641646}" presName="spacerL" presStyleCnt="0"/>
      <dgm:spPr/>
    </dgm:pt>
    <dgm:pt modelId="{23C019EB-2838-4561-98A5-A2D347BD1C81}" type="pres">
      <dgm:prSet presAssocID="{9FEB5A04-68F6-4EB3-99F9-4479C4641646}" presName="sibTrans" presStyleLbl="sibTrans2D1" presStyleIdx="1" presStyleCnt="2"/>
      <dgm:spPr/>
    </dgm:pt>
    <dgm:pt modelId="{200994C8-316D-4C1B-A783-494628E1BB75}" type="pres">
      <dgm:prSet presAssocID="{9FEB5A04-68F6-4EB3-99F9-4479C4641646}" presName="spacerR" presStyleCnt="0"/>
      <dgm:spPr/>
    </dgm:pt>
    <dgm:pt modelId="{64EFE401-6B68-46D1-82BE-8905EFBB935B}" type="pres">
      <dgm:prSet presAssocID="{6E7CF3E8-DDD5-4D0E-9515-69EAB4C0D033}" presName="node" presStyleLbl="node1" presStyleIdx="2" presStyleCnt="3">
        <dgm:presLayoutVars>
          <dgm:bulletEnabled val="1"/>
        </dgm:presLayoutVars>
      </dgm:prSet>
      <dgm:spPr/>
    </dgm:pt>
  </dgm:ptLst>
  <dgm:cxnLst>
    <dgm:cxn modelId="{924A4906-A2BE-496E-9DFF-BB15579E27E2}" type="presOf" srcId="{D8727D62-A6A9-4D88-9397-C589A33C1D59}" destId="{4AEE5274-C6B2-41CE-927C-9A0FEBB7DCD1}" srcOrd="0" destOrd="0" presId="urn:microsoft.com/office/officeart/2005/8/layout/equation1"/>
    <dgm:cxn modelId="{880C864E-28EE-495A-8F4B-8A07D75AF20D}" type="presOf" srcId="{6E7CF3E8-DDD5-4D0E-9515-69EAB4C0D033}" destId="{64EFE401-6B68-46D1-82BE-8905EFBB935B}" srcOrd="0" destOrd="0" presId="urn:microsoft.com/office/officeart/2005/8/layout/equation1"/>
    <dgm:cxn modelId="{585CF88A-F986-4F4D-BB97-DB482E52B4A8}" type="presOf" srcId="{C6C68CD7-7EC5-4FF7-86E7-10F1470B0D73}" destId="{4819B1F7-D0DE-4BBE-9A67-D147C229E44C}" srcOrd="0" destOrd="0" presId="urn:microsoft.com/office/officeart/2005/8/layout/equation1"/>
    <dgm:cxn modelId="{83F4098F-DF2F-458D-A5BF-1E947AEAB489}" type="presOf" srcId="{2979CAE4-12E7-42FE-80C8-B95E320A4FF5}" destId="{EAC0F6B0-9E2F-4ACB-B249-F9CA734E2D45}" srcOrd="0" destOrd="0" presId="urn:microsoft.com/office/officeart/2005/8/layout/equation1"/>
    <dgm:cxn modelId="{7EF93FAA-629C-441C-BD33-21BCF301528F}" type="presOf" srcId="{E857F505-A8A3-4C99-812E-F9673132E382}" destId="{31073018-F5F2-4982-A06F-8BD0C210F86C}" srcOrd="0" destOrd="0" presId="urn:microsoft.com/office/officeart/2005/8/layout/equation1"/>
    <dgm:cxn modelId="{E3FB47DF-B3B4-4DCE-BAB7-74067FA2E394}" srcId="{D8727D62-A6A9-4D88-9397-C589A33C1D59}" destId="{6E7CF3E8-DDD5-4D0E-9515-69EAB4C0D033}" srcOrd="2" destOrd="0" parTransId="{6A874BB7-07F3-440A-A227-D1F1BC54F71F}" sibTransId="{03026981-195D-4DB8-8CA2-73F564D4CE77}"/>
    <dgm:cxn modelId="{FF446FE4-DCD8-438F-AFFD-1E0BC2680538}" srcId="{D8727D62-A6A9-4D88-9397-C589A33C1D59}" destId="{2979CAE4-12E7-42FE-80C8-B95E320A4FF5}" srcOrd="0" destOrd="0" parTransId="{FB2BAB13-D0E2-431B-8F5D-10CCEC8544A6}" sibTransId="{E857F505-A8A3-4C99-812E-F9673132E382}"/>
    <dgm:cxn modelId="{0971D6E9-74AD-4227-9826-161158004CC2}" type="presOf" srcId="{9FEB5A04-68F6-4EB3-99F9-4479C4641646}" destId="{23C019EB-2838-4561-98A5-A2D347BD1C81}" srcOrd="0" destOrd="0" presId="urn:microsoft.com/office/officeart/2005/8/layout/equation1"/>
    <dgm:cxn modelId="{68B0F5F1-18DF-4F99-9CBE-FA7D98EB22D4}" srcId="{D8727D62-A6A9-4D88-9397-C589A33C1D59}" destId="{C6C68CD7-7EC5-4FF7-86E7-10F1470B0D73}" srcOrd="1" destOrd="0" parTransId="{6443F65E-512F-4DE0-83F3-9581D2D8B6D3}" sibTransId="{9FEB5A04-68F6-4EB3-99F9-4479C4641646}"/>
    <dgm:cxn modelId="{CAB9A5B8-CBC4-4836-8420-512909D664F7}" type="presParOf" srcId="{4AEE5274-C6B2-41CE-927C-9A0FEBB7DCD1}" destId="{EAC0F6B0-9E2F-4ACB-B249-F9CA734E2D45}" srcOrd="0" destOrd="0" presId="urn:microsoft.com/office/officeart/2005/8/layout/equation1"/>
    <dgm:cxn modelId="{328220EB-8FBE-4559-94B0-2215CF653844}" type="presParOf" srcId="{4AEE5274-C6B2-41CE-927C-9A0FEBB7DCD1}" destId="{A71B4BB3-28FE-465D-949B-3FF9BF0885EF}" srcOrd="1" destOrd="0" presId="urn:microsoft.com/office/officeart/2005/8/layout/equation1"/>
    <dgm:cxn modelId="{92A5F452-8C3B-4F7F-BF3E-4D9EC9142D78}" type="presParOf" srcId="{4AEE5274-C6B2-41CE-927C-9A0FEBB7DCD1}" destId="{31073018-F5F2-4982-A06F-8BD0C210F86C}" srcOrd="2" destOrd="0" presId="urn:microsoft.com/office/officeart/2005/8/layout/equation1"/>
    <dgm:cxn modelId="{DC414900-1B57-401D-A850-503EB40E71F5}" type="presParOf" srcId="{4AEE5274-C6B2-41CE-927C-9A0FEBB7DCD1}" destId="{239F2779-96A4-4C9B-81A7-5B7DC7A18E9B}" srcOrd="3" destOrd="0" presId="urn:microsoft.com/office/officeart/2005/8/layout/equation1"/>
    <dgm:cxn modelId="{F4EC5A66-F372-460C-A4D8-0EDA19999493}" type="presParOf" srcId="{4AEE5274-C6B2-41CE-927C-9A0FEBB7DCD1}" destId="{4819B1F7-D0DE-4BBE-9A67-D147C229E44C}" srcOrd="4" destOrd="0" presId="urn:microsoft.com/office/officeart/2005/8/layout/equation1"/>
    <dgm:cxn modelId="{8337BD72-FF03-4A4E-AA69-8EC09031641C}" type="presParOf" srcId="{4AEE5274-C6B2-41CE-927C-9A0FEBB7DCD1}" destId="{C137B257-3935-4B2E-910B-7BDE9D76A0A9}" srcOrd="5" destOrd="0" presId="urn:microsoft.com/office/officeart/2005/8/layout/equation1"/>
    <dgm:cxn modelId="{987B6583-86E2-445F-8B6A-9EE57A6D812D}" type="presParOf" srcId="{4AEE5274-C6B2-41CE-927C-9A0FEBB7DCD1}" destId="{23C019EB-2838-4561-98A5-A2D347BD1C81}" srcOrd="6" destOrd="0" presId="urn:microsoft.com/office/officeart/2005/8/layout/equation1"/>
    <dgm:cxn modelId="{E96D2C3D-A746-475D-89C8-C2F0C04F7F4F}" type="presParOf" srcId="{4AEE5274-C6B2-41CE-927C-9A0FEBB7DCD1}" destId="{200994C8-316D-4C1B-A783-494628E1BB75}" srcOrd="7" destOrd="0" presId="urn:microsoft.com/office/officeart/2005/8/layout/equation1"/>
    <dgm:cxn modelId="{BEFB451E-80BE-4FE4-91FB-79CAA3ADB2E2}" type="presParOf" srcId="{4AEE5274-C6B2-41CE-927C-9A0FEBB7DCD1}" destId="{64EFE401-6B68-46D1-82BE-8905EFBB935B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0F6B0-9E2F-4ACB-B249-F9CA734E2D45}">
      <dsp:nvSpPr>
        <dsp:cNvPr id="0" name=""/>
        <dsp:cNvSpPr/>
      </dsp:nvSpPr>
      <dsp:spPr>
        <a:xfrm>
          <a:off x="766" y="31828"/>
          <a:ext cx="1016463" cy="101646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功能</a:t>
          </a:r>
        </a:p>
      </dsp:txBody>
      <dsp:txXfrm>
        <a:off x="149624" y="180686"/>
        <a:ext cx="718747" cy="718747"/>
      </dsp:txXfrm>
    </dsp:sp>
    <dsp:sp modelId="{31073018-F5F2-4982-A06F-8BD0C210F86C}">
      <dsp:nvSpPr>
        <dsp:cNvPr id="0" name=""/>
        <dsp:cNvSpPr/>
      </dsp:nvSpPr>
      <dsp:spPr>
        <a:xfrm>
          <a:off x="1099766" y="245285"/>
          <a:ext cx="589548" cy="589548"/>
        </a:xfrm>
        <a:prstGeom prst="mathPlus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1177911" y="470728"/>
        <a:ext cx="433258" cy="138662"/>
      </dsp:txXfrm>
    </dsp:sp>
    <dsp:sp modelId="{4819B1F7-D0DE-4BBE-9A67-D147C229E44C}">
      <dsp:nvSpPr>
        <dsp:cNvPr id="0" name=""/>
        <dsp:cNvSpPr/>
      </dsp:nvSpPr>
      <dsp:spPr>
        <a:xfrm>
          <a:off x="1771852" y="31828"/>
          <a:ext cx="1016463" cy="101646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规范</a:t>
          </a:r>
        </a:p>
      </dsp:txBody>
      <dsp:txXfrm>
        <a:off x="1920710" y="180686"/>
        <a:ext cx="718747" cy="718747"/>
      </dsp:txXfrm>
    </dsp:sp>
    <dsp:sp modelId="{23C019EB-2838-4561-98A5-A2D347BD1C81}">
      <dsp:nvSpPr>
        <dsp:cNvPr id="0" name=""/>
        <dsp:cNvSpPr/>
      </dsp:nvSpPr>
      <dsp:spPr>
        <a:xfrm>
          <a:off x="2870852" y="245285"/>
          <a:ext cx="589548" cy="589548"/>
        </a:xfrm>
        <a:prstGeom prst="mathEqual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0" kern="1200"/>
        </a:p>
      </dsp:txBody>
      <dsp:txXfrm>
        <a:off x="2948997" y="366732"/>
        <a:ext cx="433258" cy="346654"/>
      </dsp:txXfrm>
    </dsp:sp>
    <dsp:sp modelId="{64EFE401-6B68-46D1-82BE-8905EFBB935B}">
      <dsp:nvSpPr>
        <dsp:cNvPr id="0" name=""/>
        <dsp:cNvSpPr/>
      </dsp:nvSpPr>
      <dsp:spPr>
        <a:xfrm>
          <a:off x="3542937" y="31828"/>
          <a:ext cx="1016463" cy="101646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质量</a:t>
          </a:r>
        </a:p>
      </dsp:txBody>
      <dsp:txXfrm>
        <a:off x="3691795" y="180686"/>
        <a:ext cx="718747" cy="718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方法是用来模拟类所具有的能力，动作或者行为，一般为名词。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用</a:t>
            </a:r>
            <a:r>
              <a:rPr lang="en-US" altLang="zh-CN" dirty="0"/>
              <a:t>return</a:t>
            </a:r>
            <a:r>
              <a:rPr lang="zh-CN" altLang="en-US" dirty="0"/>
              <a:t>返回给方法调用者的，类型和方法返回类型一致的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方法是用来模拟类所具有的能力，动作或者行为，一般为名词。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/>
          </a:p>
          <a:p>
            <a:pPr eaLnBrk="1" hangingPunct="1"/>
            <a:r>
              <a:rPr lang="zh-CN" altLang="en-US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/>
          </a:p>
          <a:p>
            <a:pPr eaLnBrk="1" hangingPunct="1"/>
            <a:r>
              <a:rPr lang="zh-CN" altLang="en-US"/>
              <a:t>不少于</a:t>
            </a:r>
            <a:r>
              <a:rPr lang="en-US" altLang="zh-CN"/>
              <a:t>4</a:t>
            </a:r>
            <a:r>
              <a:rPr lang="zh-CN" altLang="en-US"/>
              <a:t>道题，其中至少包含一道简述题，主要了解学员对重要知识点的理解程度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8" y="214297"/>
            <a:ext cx="4606927" cy="392415"/>
          </a:xfrm>
          <a:solidFill>
            <a:schemeClr val="bg1"/>
          </a:solidFill>
        </p:spPr>
        <p:txBody>
          <a:bodyPr>
            <a:spAutoFit/>
          </a:bodyPr>
          <a:lstStyle>
            <a:lvl1pPr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80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35F12-52FC-45A8-B539-88DCF394FD7F}" type="slidenum">
              <a:rPr lang="zh-CN" altLang="en-US" smtClean="0"/>
            </a:fld>
            <a:r>
              <a:rPr lang="en-US" altLang="zh-CN" dirty="0"/>
              <a:t>/48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4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4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75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6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082826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352928" cy="3600400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DC92ECF9-1C64-45C7-A351-5C2B04CB53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EE00B7EE-1E89-4FFA-B365-5BB8C64452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6.png"/><Relationship Id="rId13" Type="http://schemas.microsoft.com/office/2007/relationships/hdphoto" Target="../media/image5.wdp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73529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0" name="直接连接符 2"/>
          <p:cNvSpPr>
            <a:spLocks noChangeShapeType="1"/>
          </p:cNvSpPr>
          <p:nvPr userDrawn="1"/>
        </p:nvSpPr>
        <p:spPr bwMode="auto">
          <a:xfrm flipH="1">
            <a:off x="2121864" y="3"/>
            <a:ext cx="1864" cy="536711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0113"/>
            <a:ext cx="2123728" cy="40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253209"/>
            <a:ext cx="7772400" cy="1102519"/>
          </a:xfrm>
        </p:spPr>
        <p:txBody>
          <a:bodyPr/>
          <a:lstStyle/>
          <a:p>
            <a:r>
              <a:rPr lang="zh-CN" altLang="en-US"/>
              <a:t>第十五</a:t>
            </a:r>
            <a:r>
              <a:rPr lang="zh-CN" altLang="en-US"/>
              <a:t>单元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匿名函数、递归函数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5905" y="781685"/>
            <a:ext cx="6092825" cy="411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3128645" y="1908175"/>
            <a:ext cx="27355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sym typeface="+mn-ea"/>
              </a:rPr>
              <a:t>第一二</a:t>
            </a:r>
            <a:r>
              <a:rPr lang="zh-CN" altLang="en-US" sz="4000" b="1">
                <a:solidFill>
                  <a:schemeClr val="bg1"/>
                </a:solidFill>
                <a:sym typeface="+mn-ea"/>
              </a:rPr>
              <a:t>节课</a:t>
            </a:r>
            <a:endParaRPr lang="zh-CN" altLang="en-US" sz="4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89986" y="2747645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3"/>
                </a:solidFill>
                <a:sym typeface="+mn-ea"/>
              </a:rPr>
              <a:t>匿名函数</a:t>
            </a:r>
            <a:endParaRPr lang="zh-CN" altLang="en-US" sz="2800" b="1">
              <a:solidFill>
                <a:schemeClr val="accent3"/>
              </a:solidFill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03598"/>
            <a:ext cx="8640960" cy="3312368"/>
          </a:xfrm>
        </p:spPr>
        <p:txBody>
          <a:bodyPr/>
          <a:lstStyle/>
          <a:p>
            <a:r>
              <a:rPr lang="zh-CN" altLang="en-US" dirty="0"/>
              <a:t>什么是函数？</a:t>
            </a:r>
            <a:endParaRPr lang="en-US" altLang="zh-CN" dirty="0"/>
          </a:p>
          <a:p>
            <a:r>
              <a:rPr lang="zh-CN" altLang="en-US" dirty="0"/>
              <a:t>如何创建一个函数？</a:t>
            </a:r>
            <a:endParaRPr lang="en-US" altLang="zh-CN" dirty="0"/>
          </a:p>
          <a:p>
            <a:r>
              <a:rPr lang="zh-CN" altLang="en-US" dirty="0"/>
              <a:t>函数如何调用？</a:t>
            </a:r>
            <a:endParaRPr lang="en-US" altLang="zh-CN" dirty="0"/>
          </a:p>
          <a:p>
            <a:r>
              <a:rPr lang="zh-CN" altLang="en-US" dirty="0"/>
              <a:t>函数返回值的关键字是什么？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77155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  <a:endParaRPr lang="zh-CN" altLang="en-US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10" name="图片 9" descr="现场提问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贯穿案例</a:t>
            </a:r>
            <a:endParaRPr lang="zh-CN" altLang="en-US" dirty="0"/>
          </a:p>
        </p:txBody>
      </p:sp>
      <p:pic>
        <p:nvPicPr>
          <p:cNvPr id="2" name="图片 1" descr="YD8W4{@5TW%3Y185X@YDC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5330" y="1192530"/>
            <a:ext cx="3748405" cy="3432810"/>
          </a:xfrm>
          <a:prstGeom prst="rect">
            <a:avLst/>
          </a:prstGeom>
        </p:spPr>
      </p:pic>
      <p:pic>
        <p:nvPicPr>
          <p:cNvPr id="3" name="图片 2" descr="J7G{C5L7P[3BN2L716J%$S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850" y="1036955"/>
            <a:ext cx="3301365" cy="3588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知识目标</a:t>
            </a:r>
            <a:endParaRPr lang="zh-CN" altLang="en-US" dirty="0"/>
          </a:p>
        </p:txBody>
      </p:sp>
      <p:pic>
        <p:nvPicPr>
          <p:cNvPr id="2" name="图片 1" descr="VPG`AGG(_%{1[XLH@LN96U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0955" y="376555"/>
            <a:ext cx="6791960" cy="4766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465" y="195580"/>
            <a:ext cx="3665220" cy="645160"/>
          </a:xfrm>
        </p:spPr>
        <p:txBody>
          <a:bodyPr wrap="square"/>
          <a:lstStyle/>
          <a:p>
            <a:r>
              <a:rPr lang="zh-CN" altLang="en-US" dirty="0">
                <a:sym typeface="+mn-ea"/>
              </a:rPr>
              <a:t>为什么使用匿名函数</a:t>
            </a:r>
            <a:br>
              <a:rPr lang="zh-CN" altLang="en-US" dirty="0">
                <a:sym typeface="+mn-ea"/>
              </a:rPr>
            </a:br>
            <a:endParaRPr lang="zh-CN" altLang="en-US" dirty="0"/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4978400" y="2477135"/>
            <a:ext cx="3220085" cy="557483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19050">
            <a:solidFill>
              <a:schemeClr val="accent1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lambda  a,b : a+b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038225" y="2116455"/>
            <a:ext cx="3249295" cy="1488115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19050">
            <a:solidFill>
              <a:schemeClr val="accent1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def funcname(a,b):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c = a+b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return c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13535" y="1393190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+mn-ea"/>
                <a:ea typeface="+mn-ea"/>
              </a:rPr>
              <a:t>普通函数实现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29910" y="1393190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+mj-ea"/>
                <a:ea typeface="+mj-ea"/>
              </a:rPr>
              <a:t>匿名函数实现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0365" y="840740"/>
            <a:ext cx="2011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latin typeface="+mn-ea"/>
                <a:ea typeface="+mn-ea"/>
                <a:sym typeface="+mn-ea"/>
              </a:rPr>
              <a:t>求两个数的之和</a:t>
            </a:r>
            <a:r>
              <a:rPr lang="zh-CN" altLang="en-US">
                <a:latin typeface="+mn-ea"/>
                <a:ea typeface="+mn-ea"/>
                <a:sym typeface="+mn-ea"/>
              </a:rPr>
              <a:t>：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613535" y="2192655"/>
            <a:ext cx="1242695" cy="52006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云形标注 14"/>
          <p:cNvSpPr/>
          <p:nvPr/>
        </p:nvSpPr>
        <p:spPr>
          <a:xfrm>
            <a:off x="3320415" y="1393190"/>
            <a:ext cx="1915795" cy="918210"/>
          </a:xfrm>
          <a:prstGeom prst="cloud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有函数名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云形标注 15"/>
          <p:cNvSpPr/>
          <p:nvPr/>
        </p:nvSpPr>
        <p:spPr>
          <a:xfrm>
            <a:off x="7191375" y="1464945"/>
            <a:ext cx="1915795" cy="918210"/>
          </a:xfrm>
          <a:prstGeom prst="cloud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无函数名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双大括号 16"/>
          <p:cNvSpPr/>
          <p:nvPr/>
        </p:nvSpPr>
        <p:spPr>
          <a:xfrm>
            <a:off x="5235575" y="4015105"/>
            <a:ext cx="2731135" cy="433070"/>
          </a:xfrm>
          <a:prstGeom prst="bracePair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不用担心函数名冲突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双大括号 18"/>
          <p:cNvSpPr/>
          <p:nvPr/>
        </p:nvSpPr>
        <p:spPr>
          <a:xfrm>
            <a:off x="5236210" y="3463290"/>
            <a:ext cx="2730500" cy="433070"/>
          </a:xfrm>
          <a:prstGeom prst="bracePair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创建简单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双大括号 19"/>
          <p:cNvSpPr/>
          <p:nvPr/>
        </p:nvSpPr>
        <p:spPr>
          <a:xfrm>
            <a:off x="5236210" y="4624070"/>
            <a:ext cx="2730500" cy="433070"/>
          </a:xfrm>
          <a:prstGeom prst="bracePair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不需要使用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return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关键字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8" grpId="0" bldLvl="0" animBg="1"/>
      <p:bldP spid="6" grpId="0"/>
      <p:bldP spid="7" grpId="0"/>
      <p:bldP spid="12" grpId="0" animBg="1"/>
      <p:bldP spid="15" grpId="0" animBg="1"/>
      <p:bldP spid="16" grpId="0" animBg="1"/>
      <p:bldP spid="17" grpId="0" bldLvl="0" animBg="1"/>
      <p:bldP spid="19" grpId="0" bldLvl="0" animBg="1"/>
      <p:bldP spid="2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ym typeface="Browallia New" charset="0"/>
              </a:rPr>
              <a:t>什么是匿名函数</a:t>
            </a:r>
            <a:endParaRPr lang="zh-CN" altLang="en-US" dirty="0">
              <a:sym typeface="Browallia New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22630" y="1889443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2000" b="1">
                <a:solidFill>
                  <a:schemeClr val="accent1"/>
                </a:solidFill>
                <a:sym typeface="Calibri" panose="020F0502020204030204" pitchFamily="34" charset="0"/>
              </a:rPr>
              <a:t>匿名函数</a:t>
            </a:r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293053" y="152146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29222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813243" y="186055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函数</a:t>
            </a:r>
            <a:endParaRPr lang="zh-CN" altLang="en-US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534670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33620" y="1968500"/>
            <a:ext cx="425386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98270" y="3347410"/>
            <a:ext cx="594550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定义</a:t>
            </a:r>
            <a:r>
              <a:rPr lang="en-US" altLang="zh-CN" b="1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: </a:t>
            </a:r>
            <a:r>
              <a:rPr lang="zh-CN" noProof="1">
                <a:latin typeface="+mn-ea"/>
                <a:ea typeface="+mn-ea"/>
                <a:cs typeface="+mn-ea"/>
              </a:rPr>
              <a:t>匿名函数是</a:t>
            </a:r>
            <a:r>
              <a:rPr lang="zh-CN" dirty="0">
                <a:latin typeface="+mn-ea"/>
                <a:ea typeface="+mn-ea"/>
                <a:cs typeface="+mn-ea"/>
                <a:sym typeface="+mn-ea"/>
              </a:rPr>
              <a:t>通过lambda定义，没有函数名的函数</a:t>
            </a: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Calibri" panose="020F0502020204030204" pitchFamily="34" charset="0"/>
            </a:endParaRPr>
          </a:p>
          <a:p>
            <a:pPr algn="l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8" name="AutoShape 7"/>
          <p:cNvSpPr/>
          <p:nvPr/>
        </p:nvSpPr>
        <p:spPr>
          <a:xfrm flipH="1">
            <a:off x="775018" y="3101340"/>
            <a:ext cx="215900" cy="576263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-228210" y="3833665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外延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650114" y="4201583"/>
            <a:ext cx="2477832" cy="485919"/>
            <a:chOff x="897128" y="1459399"/>
            <a:chExt cx="1868348" cy="27693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459399"/>
              <a:ext cx="1868348" cy="276935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endParaRPr lang="zh-CN" altLang="en-US" sz="2100" b="1" strike="noStrike" kern="0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292726" y="2040255"/>
            <a:ext cx="2279650" cy="755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dirty="0">
                <a:latin typeface="+mn-ea"/>
                <a:ea typeface="+mn-ea"/>
                <a:cs typeface="+mn-ea"/>
                <a:sym typeface="+mn-ea"/>
              </a:rPr>
              <a:t>、</a:t>
            </a:r>
            <a:r>
              <a:rPr lang="zh-CN" dirty="0">
                <a:latin typeface="+mn-ea"/>
                <a:ea typeface="+mn-ea"/>
                <a:cs typeface="+mn-ea"/>
                <a:sym typeface="+mn-ea"/>
              </a:rPr>
              <a:t>通过lambda定义</a:t>
            </a:r>
            <a:endParaRPr lang="zh-CN" dirty="0">
              <a:latin typeface="+mn-ea"/>
              <a:ea typeface="+mn-ea"/>
              <a:cs typeface="+mn-ea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dirty="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dirty="0">
                <a:latin typeface="+mn-ea"/>
                <a:ea typeface="+mn-ea"/>
                <a:cs typeface="+mn-ea"/>
                <a:sym typeface="+mn-ea"/>
              </a:rPr>
              <a:t>、</a:t>
            </a:r>
            <a:r>
              <a:rPr lang="zh-CN" dirty="0">
                <a:latin typeface="+mn-ea"/>
                <a:ea typeface="+mn-ea"/>
                <a:cs typeface="+mn-ea"/>
                <a:sym typeface="+mn-ea"/>
              </a:rPr>
              <a:t>没有函数名</a:t>
            </a:r>
            <a:endParaRPr lang="zh-CN" altLang="en-US" dirty="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991280" y="4204755"/>
            <a:ext cx="2480356" cy="485918"/>
          </a:xfrm>
          <a:prstGeom prst="chevron">
            <a:avLst>
              <a:gd name="adj" fmla="val 121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>
            <a:spAutoFit/>
          </a:bodyPr>
          <a:lstStyle/>
          <a:p>
            <a:pPr fontAlgn="base">
              <a:defRPr/>
            </a:pPr>
            <a:endParaRPr lang="zh-CN" altLang="en-US" strike="noStrike" kern="0" noProof="1">
              <a:solidFill>
                <a:sysClr val="windowText" lastClr="0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95095" y="428625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+mn-ea"/>
                <a:ea typeface="+mn-ea"/>
              </a:rPr>
              <a:t>有参匿名函数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2220" y="428625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+mn-ea"/>
                <a:ea typeface="+mn-ea"/>
              </a:rPr>
              <a:t>无参匿名函数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105150" y="1890395"/>
            <a:ext cx="1488440" cy="105600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1600" b="1" strike="noStrike" noProof="1">
                <a:solidFill>
                  <a:schemeClr val="accent1"/>
                </a:solidFill>
              </a:rPr>
              <a:t>递归函数</a:t>
            </a:r>
            <a:endParaRPr lang="zh-CN" altLang="en-US" sz="16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1600" b="1" strike="noStrike" noProof="1">
                <a:solidFill>
                  <a:schemeClr val="accent1"/>
                </a:solidFill>
              </a:rPr>
              <a:t>普通函数</a:t>
            </a:r>
            <a:endParaRPr lang="zh-CN" altLang="en-US" sz="1600" b="1" strike="noStrike" noProof="1">
              <a:solidFill>
                <a:schemeClr val="accent1"/>
              </a:solidFill>
            </a:endParaRPr>
          </a:p>
        </p:txBody>
      </p:sp>
      <p:sp>
        <p:nvSpPr>
          <p:cNvPr id="12" name="Text Box 8"/>
          <p:cNvSpPr txBox="1"/>
          <p:nvPr/>
        </p:nvSpPr>
        <p:spPr>
          <a:xfrm>
            <a:off x="281241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10" grpId="0"/>
      <p:bldP spid="18" grpId="0" bldLvl="0" animBg="1"/>
      <p:bldP spid="19" grpId="0"/>
      <p:bldP spid="8" grpId="0"/>
      <p:bldP spid="20" grpId="0" animBg="1"/>
      <p:bldP spid="21" grpId="0"/>
      <p:bldP spid="7" grpId="0"/>
      <p:bldP spid="9" grpId="0" bldLvl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645160"/>
          </a:xfrm>
        </p:spPr>
        <p:txBody>
          <a:bodyPr/>
          <a:lstStyle/>
          <a:p>
            <a:r>
              <a:rPr lang="zh-CN" altLang="en-US" dirty="0"/>
              <a:t>如何使用匿名函数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90" name="矩形 13"/>
          <p:cNvSpPr>
            <a:spLocks noChangeArrowheads="1"/>
          </p:cNvSpPr>
          <p:nvPr/>
        </p:nvSpPr>
        <p:spPr bwMode="auto">
          <a:xfrm>
            <a:off x="873125" y="4016375"/>
            <a:ext cx="7232015" cy="6750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金句：冒号前面的是形参，冒号后面的是表达式，表达式就是返回值</a:t>
            </a:r>
            <a:endParaRPr lang="zh-CN" altLang="en-US" sz="1800">
              <a:solidFill>
                <a:srgbClr val="FF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77025" y="2211710"/>
            <a:ext cx="2971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 bwMode="auto">
          <a:xfrm>
            <a:off x="1268730" y="1078865"/>
            <a:ext cx="4423410" cy="445770"/>
          </a:xfrm>
          <a:prstGeom prst="roundRect">
            <a:avLst/>
          </a:prstGeom>
          <a:solidFill>
            <a:srgbClr val="E2F5F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格式：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lambda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形参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1,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形参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kumimoji="0" lang="en-US" altLang="zh-CN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: </a:t>
            </a:r>
            <a:r>
              <a:rPr kumimoji="0" lang="zh-CN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1268730" y="1932305"/>
            <a:ext cx="4423410" cy="457200"/>
          </a:xfrm>
          <a:prstGeom prst="roundRect">
            <a:avLst/>
          </a:prstGeom>
          <a:solidFill>
            <a:srgbClr val="E2F5F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demo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：定义：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lambda </a:t>
            </a:r>
            <a:r>
              <a:rPr lang="en-US" altLang="zh-CN" sz="18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 : </a:t>
            </a:r>
            <a:r>
              <a:rPr lang="en-US" altLang="zh-CN" sz="18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a+b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1268730" y="2974340"/>
            <a:ext cx="4423410" cy="457200"/>
          </a:xfrm>
          <a:prstGeom prst="roundRect">
            <a:avLst/>
          </a:prstGeom>
          <a:solidFill>
            <a:srgbClr val="E2F5F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调用：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(lambda </a:t>
            </a:r>
            <a:r>
              <a:rPr lang="en-US" altLang="zh-CN" sz="18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 : </a:t>
            </a:r>
            <a:r>
              <a:rPr lang="en-US" altLang="zh-CN" sz="18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a+b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)(1,2)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ldLvl="0" animBg="1"/>
      <p:bldP spid="7" grpId="0" animBg="1"/>
      <p:bldP spid="8" grpId="0" bldLvl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645160"/>
          </a:xfrm>
        </p:spPr>
        <p:txBody>
          <a:bodyPr/>
          <a:lstStyle/>
          <a:p>
            <a:r>
              <a:rPr lang="zh-CN" altLang="en-US" dirty="0"/>
              <a:t>匿名函数的作用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3" name="图片 2" descr="3H_}1S~UQNAM2WW5K47VK)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4110" y="1352550"/>
            <a:ext cx="6876415" cy="2438400"/>
          </a:xfrm>
          <a:prstGeom prst="rect">
            <a:avLst/>
          </a:prstGeom>
          <a:ln>
            <a:solidFill>
              <a:schemeClr val="bg1"/>
            </a:solidFill>
            <a:prstDash val="dash"/>
          </a:ln>
        </p:spPr>
      </p:pic>
      <p:sp>
        <p:nvSpPr>
          <p:cNvPr id="4" name="文本框 3"/>
          <p:cNvSpPr txBox="1"/>
          <p:nvPr/>
        </p:nvSpPr>
        <p:spPr>
          <a:xfrm>
            <a:off x="1640205" y="1775460"/>
            <a:ext cx="10985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/>
              <a:t>创</a:t>
            </a:r>
            <a:r>
              <a:rPr lang="zh-CN" altLang="en-US" b="1">
                <a:latin typeface="+mn-ea"/>
                <a:ea typeface="+mn-ea"/>
              </a:rPr>
              <a:t>建简单</a:t>
            </a:r>
            <a:endParaRPr lang="zh-CN" altLang="en-US" b="1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05885" y="1775460"/>
            <a:ext cx="1332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/>
              <a:t>不需要命名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5998210" y="1637030"/>
            <a:ext cx="1920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适用于功能简单</a:t>
            </a:r>
            <a:endParaRPr lang="zh-CN" altLang="en-US" b="1"/>
          </a:p>
          <a:p>
            <a:pPr algn="ctr"/>
            <a:r>
              <a:rPr lang="zh-CN" altLang="en-US" b="1"/>
              <a:t>的函数创建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课堂编程</a:t>
            </a:r>
            <a:endParaRPr lang="zh-CN" altLang="en-US" dirty="0"/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718820" y="1595120"/>
            <a:ext cx="4685030" cy="195343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# 1、匿名函数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print((lambda x,y,z:x+y+z)(1,2,3))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# 2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使用匿名函数但有名字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f = lambda x,y,z:x+y+z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print(f(1,2,3))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4477385" y="2159635"/>
            <a:ext cx="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" name="右箭头 3"/>
          <p:cNvSpPr/>
          <p:nvPr/>
        </p:nvSpPr>
        <p:spPr>
          <a:xfrm>
            <a:off x="5581015" y="1939290"/>
            <a:ext cx="1162050" cy="6731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5775" y="209169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" name="右箭头 5"/>
          <p:cNvSpPr/>
          <p:nvPr/>
        </p:nvSpPr>
        <p:spPr>
          <a:xfrm>
            <a:off x="5581015" y="2934970"/>
            <a:ext cx="1225550" cy="6731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43065" y="3147060"/>
            <a:ext cx="49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4" grpId="0" bldLvl="0" animBg="1"/>
      <p:bldP spid="5" grpId="0"/>
      <p:bldP spid="6" grpId="0" bldLvl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课堂编程</a:t>
            </a:r>
            <a:endParaRPr lang="zh-CN" altLang="en-US" dirty="0"/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964565" y="1572260"/>
            <a:ext cx="4248150" cy="226321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# 3、匿名函数默认值参数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 = lambda x, y=2,z=3: x+y+z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print(g(1))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# 4、匿名函数关键字参数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 = lambda x, y=2,z=3: x+y+z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print(g(1,z=4,y=1))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212715" y="2989580"/>
            <a:ext cx="1728470" cy="6731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5212715" y="1808480"/>
            <a:ext cx="1728470" cy="6731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18705" y="19608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418705" y="31419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4" grpId="0" bldLvl="0" animBg="1"/>
      <p:bldP spid="3" grpId="0" bldLvl="0" animBg="1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</a:t>
            </a:r>
            <a:r>
              <a:rPr lang="zh-CN" altLang="en-US" dirty="0"/>
              <a:t>案例</a:t>
            </a:r>
            <a:endParaRPr lang="zh-CN" altLang="en-US" dirty="0"/>
          </a:p>
        </p:txBody>
      </p:sp>
      <p:pic>
        <p:nvPicPr>
          <p:cNvPr id="2" name="图片 1" descr="YD8W4{@5TW%3Y185X@YDC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1680" y="1383665"/>
            <a:ext cx="3748405" cy="3432810"/>
          </a:xfrm>
          <a:prstGeom prst="rect">
            <a:avLst/>
          </a:prstGeom>
        </p:spPr>
      </p:pic>
      <p:pic>
        <p:nvPicPr>
          <p:cNvPr id="3" name="图片 2" descr="J7G{C5L7P[3BN2L716J%$S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480" y="1306195"/>
            <a:ext cx="3301365" cy="35883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1685" y="777240"/>
            <a:ext cx="3491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使用匿名函数完成简易计算器</a:t>
            </a:r>
            <a:endParaRPr lang="zh-CN" altLang="en-US" sz="200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264473" y="391438"/>
            <a:ext cx="8352928" cy="360040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什么是局部变量和全局变量？</a:t>
            </a:r>
            <a:endParaRPr lang="en-US" altLang="zh-CN" dirty="0"/>
          </a:p>
          <a:p>
            <a:r>
              <a:rPr lang="zh-CN" altLang="en-US">
                <a:sym typeface="+mn-ea"/>
              </a:rPr>
              <a:t>什么是匿名函数？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匿名函数有什么特点？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口诀</a:t>
            </a:r>
            <a:r>
              <a:rPr lang="en-US" altLang="zh-CN">
                <a:sym typeface="+mn-ea"/>
              </a:rPr>
              <a:t>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5905" y="781685"/>
            <a:ext cx="6092825" cy="411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3383915" y="1908175"/>
            <a:ext cx="22250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sym typeface="+mn-ea"/>
              </a:rPr>
              <a:t>第三节课</a:t>
            </a:r>
            <a:endParaRPr lang="zh-CN" altLang="en-US" sz="4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89986" y="2747645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3"/>
                </a:solidFill>
                <a:sym typeface="+mn-ea"/>
              </a:rPr>
              <a:t>递归函数</a:t>
            </a:r>
            <a:endParaRPr lang="zh-CN" altLang="en-US" sz="2800" b="1">
              <a:solidFill>
                <a:schemeClr val="accent3"/>
              </a:solidFill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知识回顾</a:t>
            </a: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323528" y="432078"/>
            <a:ext cx="8352928" cy="360040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什么是全局变量？</a:t>
            </a:r>
            <a:endParaRPr lang="zh-CN" altLang="en-US" dirty="0"/>
          </a:p>
          <a:p>
            <a:r>
              <a:rPr lang="zh-CN" altLang="en-US" dirty="0"/>
              <a:t>什么是局部变量？</a:t>
            </a:r>
            <a:endParaRPr lang="en-US" altLang="zh-CN" dirty="0"/>
          </a:p>
          <a:p>
            <a:r>
              <a:rPr lang="zh-CN" altLang="en-US">
                <a:sym typeface="+mn-ea"/>
              </a:rPr>
              <a:t>什么是匿名函数？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匿名函数有什么特点？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口诀</a:t>
            </a:r>
            <a:r>
              <a:rPr lang="en-US" altLang="zh-CN">
                <a:sym typeface="+mn-ea"/>
              </a:rPr>
              <a:t>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为什么使用递归函数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78485" y="4391025"/>
            <a:ext cx="6294755" cy="65595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从前有座山，山里有座庙，庙里有个老和尚，正在给小和尚讲故事！故事是什么呢？</a:t>
            </a: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从前有座山，山里有座庙</a:t>
            </a:r>
            <a:r>
              <a:rPr lang="en-US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......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20" y="1105535"/>
            <a:ext cx="4194810" cy="2621280"/>
          </a:xfrm>
          <a:prstGeom prst="rect">
            <a:avLst/>
          </a:prstGeom>
        </p:spPr>
      </p:pic>
      <p:pic>
        <p:nvPicPr>
          <p:cNvPr id="6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3290" y="739140"/>
            <a:ext cx="2773045" cy="358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为什么使用递归函数</a:t>
            </a:r>
            <a:endParaRPr lang="zh-CN" altLang="en-US" dirty="0"/>
          </a:p>
        </p:txBody>
      </p:sp>
      <p:sp>
        <p:nvSpPr>
          <p:cNvPr id="4" name="单圆角矩形 3"/>
          <p:cNvSpPr/>
          <p:nvPr/>
        </p:nvSpPr>
        <p:spPr>
          <a:xfrm>
            <a:off x="6306185" y="2637155"/>
            <a:ext cx="1880870" cy="431165"/>
          </a:xfrm>
          <a:prstGeom prst="round1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匿名函数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单圆角矩形 4"/>
          <p:cNvSpPr/>
          <p:nvPr/>
        </p:nvSpPr>
        <p:spPr>
          <a:xfrm>
            <a:off x="6306185" y="1609090"/>
            <a:ext cx="1880870" cy="431165"/>
          </a:xfrm>
          <a:prstGeom prst="round1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普通函数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单圆角矩形 5"/>
          <p:cNvSpPr/>
          <p:nvPr/>
        </p:nvSpPr>
        <p:spPr>
          <a:xfrm>
            <a:off x="6306185" y="3823970"/>
            <a:ext cx="1880870" cy="431165"/>
          </a:xfrm>
          <a:prstGeom prst="round1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递归函数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92830" y="2637155"/>
            <a:ext cx="922655" cy="398780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/>
              <a:t>函数</a:t>
            </a:r>
            <a:endParaRPr lang="zh-CN" altLang="en-US" b="1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4608830" y="1856105"/>
            <a:ext cx="1682115" cy="6711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" name="直接箭头连接符 12"/>
          <p:cNvCxnSpPr>
            <a:endCxn id="6" idx="1"/>
          </p:cNvCxnSpPr>
          <p:nvPr/>
        </p:nvCxnSpPr>
        <p:spPr>
          <a:xfrm>
            <a:off x="4608830" y="3151505"/>
            <a:ext cx="1697355" cy="8883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直接箭头连接符 13"/>
          <p:cNvCxnSpPr>
            <a:endCxn id="4" idx="1"/>
          </p:cNvCxnSpPr>
          <p:nvPr/>
        </p:nvCxnSpPr>
        <p:spPr>
          <a:xfrm flipV="1">
            <a:off x="4625340" y="2853055"/>
            <a:ext cx="1680845" cy="152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0" name="文本框 9"/>
          <p:cNvSpPr txBox="1"/>
          <p:nvPr/>
        </p:nvSpPr>
        <p:spPr>
          <a:xfrm>
            <a:off x="408305" y="1609090"/>
            <a:ext cx="28670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  </a:t>
            </a:r>
            <a:r>
              <a:rPr lang="zh-CN" altLang="en-US">
                <a:latin typeface="+mn-ea"/>
                <a:ea typeface="+mn-ea"/>
                <a:cs typeface="+mn-ea"/>
              </a:rPr>
              <a:t>     5！ = 5 * 4！</a:t>
            </a:r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cs typeface="+mn-ea"/>
              </a:rPr>
              <a:t>       4！ = 4 * 3！</a:t>
            </a:r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cs typeface="+mn-ea"/>
              </a:rPr>
              <a:t>       3！ = 3 * 2！</a:t>
            </a:r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cs typeface="+mn-ea"/>
              </a:rPr>
              <a:t>      2！ = 2 *1！</a:t>
            </a:r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cs typeface="+mn-ea"/>
              </a:rPr>
              <a:t>1！ = 1</a:t>
            </a:r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cs typeface="+mn-ea"/>
              </a:rPr>
              <a:t>       如何计算这个公式呢？</a:t>
            </a:r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endParaRPr lang="zh-CN" altLang="en-US">
              <a:latin typeface="+mn-ea"/>
              <a:ea typeface="+mn-ea"/>
              <a:cs typeface="+mn-ea"/>
            </a:endParaRPr>
          </a:p>
          <a:p>
            <a:pPr algn="ctr"/>
            <a:r>
              <a:rPr lang="en-US" altLang="zh-CN">
                <a:latin typeface="+mn-ea"/>
                <a:ea typeface="+mn-ea"/>
                <a:cs typeface="+mn-ea"/>
              </a:rPr>
              <a:t>     5</a:t>
            </a:r>
            <a:r>
              <a:rPr lang="zh-CN" altLang="en-US">
                <a:latin typeface="+mn-ea"/>
                <a:ea typeface="+mn-ea"/>
                <a:cs typeface="+mn-ea"/>
              </a:rPr>
              <a:t>！</a:t>
            </a:r>
            <a:r>
              <a:rPr lang="en-US" altLang="zh-CN">
                <a:latin typeface="+mn-ea"/>
                <a:ea typeface="+mn-ea"/>
                <a:cs typeface="+mn-ea"/>
              </a:rPr>
              <a:t>= 5*4*3*2*1</a:t>
            </a:r>
            <a:endParaRPr lang="en-US" altLang="zh-CN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64516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为什么使用递归函数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3916680" y="908050"/>
            <a:ext cx="3567430" cy="266880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127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递归函数实现：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def f</a:t>
            </a:r>
            <a:r>
              <a:rPr lang="en-US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actorial</a:t>
            </a: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(n):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if n == 1 or n == 0: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    return 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else: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    return n * f</a:t>
            </a:r>
            <a:r>
              <a:rPr lang="en-US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actorial</a:t>
            </a: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(n-1)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print(f</a:t>
            </a:r>
            <a:r>
              <a:rPr lang="en-US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actorial</a:t>
            </a: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(5))</a:t>
            </a:r>
            <a:endParaRPr lang="zh-CN" altLang="zh-CN" sz="1800" dirty="0">
              <a:ln>
                <a:noFill/>
              </a:ln>
              <a:effectLst/>
              <a:latin typeface="仿宋" panose="02010609060101010101" charset="-122"/>
              <a:ea typeface="宋体" panose="02010600030101010101" pitchFamily="2" charset="-122"/>
              <a:cs typeface="仿宋" panose="02010609060101010101" charset="-122"/>
              <a:sym typeface="+mn-ea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627380" y="908050"/>
            <a:ext cx="2945765" cy="266880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127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普通函数实现：</a:t>
            </a:r>
            <a:endParaRPr lang="zh-CN" altLang="zh-CN" sz="2000">
              <a:ln>
                <a:noFill/>
              </a:ln>
              <a:effectLst/>
              <a:ea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def fun(n):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mul = 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for i in range(1,n+1):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    mul *= i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    return mul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>
                <a:ln>
                  <a:noFill/>
                </a:ln>
                <a:effectLst/>
                <a:ea typeface="宋体" panose="02010600030101010101" pitchFamily="2" charset="-122"/>
                <a:sym typeface="+mn-ea"/>
              </a:rPr>
              <a:t>print(fun(5))</a:t>
            </a:r>
            <a:endParaRPr lang="zh-CN" altLang="zh-CN" sz="1800" dirty="0">
              <a:ln>
                <a:noFill/>
              </a:ln>
              <a:effectLst/>
              <a:latin typeface="仿宋" panose="02010609060101010101" charset="-122"/>
              <a:ea typeface="宋体" panose="02010600030101010101" pitchFamily="2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3571" b="20952"/>
          <a:stretch>
            <a:fillRect/>
          </a:stretch>
        </p:blipFill>
        <p:spPr>
          <a:xfrm>
            <a:off x="6261100" y="908050"/>
            <a:ext cx="2503805" cy="1233805"/>
          </a:xfrm>
          <a:prstGeom prst="rect">
            <a:avLst/>
          </a:prstGeom>
        </p:spPr>
      </p:pic>
      <p:sp>
        <p:nvSpPr>
          <p:cNvPr id="17" name="双大括号 16"/>
          <p:cNvSpPr/>
          <p:nvPr/>
        </p:nvSpPr>
        <p:spPr>
          <a:xfrm>
            <a:off x="4088130" y="4006850"/>
            <a:ext cx="3223895" cy="433070"/>
          </a:xfrm>
          <a:prstGeom prst="bracePair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思路清晰，代码简单易懂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双大括号 7"/>
          <p:cNvSpPr/>
          <p:nvPr/>
        </p:nvSpPr>
        <p:spPr>
          <a:xfrm>
            <a:off x="4088765" y="4557395"/>
            <a:ext cx="3395345" cy="433070"/>
          </a:xfrm>
          <a:prstGeom prst="bracePair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可以解决现实中的递归问题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4" grpId="0" bldLvl="0" animBg="1"/>
      <p:bldP spid="17" grpId="0" bldLvl="0" animBg="1"/>
      <p:bldP spid="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ym typeface="Browallia New" charset="0"/>
              </a:rPr>
              <a:t>什么是递归函数</a:t>
            </a:r>
            <a:endParaRPr lang="zh-CN" altLang="en-US" dirty="0">
              <a:sym typeface="Browallia New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16890" y="1968183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递归函数</a:t>
            </a:r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87313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13601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657033" y="196850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函数</a:t>
            </a:r>
            <a:endParaRPr lang="zh-CN" altLang="en-US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534670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33620" y="1968500"/>
            <a:ext cx="425386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04850" y="3712210"/>
            <a:ext cx="7173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noProof="1">
                <a:latin typeface="+mn-ea"/>
                <a:ea typeface="+mn-ea"/>
                <a:cs typeface="+mn-ea"/>
              </a:rPr>
              <a:t>定义</a:t>
            </a:r>
            <a:r>
              <a:rPr lang="en-US" altLang="zh-CN" b="1" noProof="1">
                <a:latin typeface="+mn-ea"/>
                <a:ea typeface="+mn-ea"/>
                <a:cs typeface="+mn-ea"/>
              </a:rPr>
              <a:t>: </a:t>
            </a:r>
            <a:r>
              <a:rPr lang="zh-CN" altLang="en-US" b="1" noProof="1">
                <a:latin typeface="+mn-ea"/>
                <a:ea typeface="+mn-ea"/>
                <a:cs typeface="+mn-ea"/>
              </a:rPr>
              <a:t>递归函数是</a:t>
            </a:r>
            <a:r>
              <a:rPr lang="zh-CN" altLang="en-US" b="1">
                <a:latin typeface="+mn-ea"/>
                <a:ea typeface="+mn-ea"/>
                <a:cs typeface="+mn-ea"/>
                <a:sym typeface="+mn-ea"/>
              </a:rPr>
              <a:t>自身直接或者间接调用自身并且有终止条件的函数</a:t>
            </a:r>
            <a:r>
              <a:rPr lang="zh-CN" altLang="en-US" b="1" noProof="1">
                <a:latin typeface="+mn-ea"/>
                <a:ea typeface="+mn-ea"/>
                <a:cs typeface="+mn-ea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Calibri" panose="020F0502020204030204" pitchFamily="34" charset="0"/>
            </a:endParaRPr>
          </a:p>
          <a:p>
            <a:pPr algn="l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20970" y="2079625"/>
            <a:ext cx="2943860" cy="68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+mn-ea"/>
                <a:ea typeface="+mn-ea"/>
                <a:sym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  <a:sym typeface="+mn-ea"/>
              </a:rPr>
              <a:t>、</a:t>
            </a:r>
            <a:r>
              <a:rPr lang="zh-CN" sz="1600" dirty="0">
                <a:latin typeface="+mn-ea"/>
                <a:ea typeface="+mn-ea"/>
                <a:sym typeface="+mn-ea"/>
              </a:rPr>
              <a:t>自身直接或者间接调用自身</a:t>
            </a:r>
            <a:endParaRPr lang="zh-CN" sz="1600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+mn-ea"/>
                <a:ea typeface="+mn-ea"/>
                <a:sym typeface="+mn-ea"/>
              </a:rPr>
              <a:t>2</a:t>
            </a:r>
            <a:r>
              <a:rPr lang="zh-CN" altLang="en-US" sz="1600" dirty="0">
                <a:latin typeface="+mn-ea"/>
                <a:ea typeface="+mn-ea"/>
                <a:sym typeface="+mn-ea"/>
              </a:rPr>
              <a:t>、</a:t>
            </a:r>
            <a:r>
              <a:rPr lang="zh-CN" sz="1600" dirty="0">
                <a:latin typeface="+mn-ea"/>
                <a:ea typeface="+mn-ea"/>
                <a:sym typeface="+mn-ea"/>
              </a:rPr>
              <a:t>有终止条件</a:t>
            </a:r>
            <a:endParaRPr lang="zh-CN" altLang="en-US" sz="1600" dirty="0">
              <a:latin typeface="+mn-ea"/>
              <a:ea typeface="+mn-ea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858135" y="1929765"/>
            <a:ext cx="1488440" cy="105600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1600" b="1" strike="noStrike" noProof="1">
                <a:solidFill>
                  <a:schemeClr val="accent1"/>
                </a:solidFill>
              </a:rPr>
              <a:t>匿名函数</a:t>
            </a:r>
            <a:endParaRPr lang="zh-CN" altLang="en-US" sz="16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1600" b="1" strike="noStrike" noProof="1">
                <a:solidFill>
                  <a:schemeClr val="accent1"/>
                </a:solidFill>
              </a:rPr>
              <a:t>普通函数</a:t>
            </a:r>
            <a:endParaRPr lang="zh-CN" altLang="en-US" sz="1600" b="1" strike="noStrike" noProof="1">
              <a:solidFill>
                <a:schemeClr val="accent1"/>
              </a:solidFill>
            </a:endParaRPr>
          </a:p>
        </p:txBody>
      </p:sp>
      <p:sp>
        <p:nvSpPr>
          <p:cNvPr id="7" name="Text Box 8"/>
          <p:cNvSpPr txBox="1"/>
          <p:nvPr/>
        </p:nvSpPr>
        <p:spPr>
          <a:xfrm>
            <a:off x="265620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10" grpId="0"/>
      <p:bldP spid="8" grpId="0"/>
      <p:bldP spid="9" grpId="0" bldLvl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递归函数的应用</a:t>
            </a:r>
            <a:endParaRPr lang="zh-CN" altLang="en-US" dirty="0"/>
          </a:p>
        </p:txBody>
      </p:sp>
      <p:sp>
        <p:nvSpPr>
          <p:cNvPr id="4" name="单圆角矩形 3"/>
          <p:cNvSpPr/>
          <p:nvPr/>
        </p:nvSpPr>
        <p:spPr>
          <a:xfrm>
            <a:off x="894715" y="998220"/>
            <a:ext cx="3380740" cy="361950"/>
          </a:xfrm>
          <a:prstGeom prst="round1Rect">
            <a:avLst/>
          </a:prstGeom>
          <a:solidFill>
            <a:srgbClr val="E2F5F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到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100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的累加和。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985645" y="1849120"/>
            <a:ext cx="3572510" cy="2494915"/>
          </a:xfrm>
          <a:prstGeom prst="roundRect">
            <a:avLst/>
          </a:prstGeom>
          <a:solidFill>
            <a:srgbClr val="E2F5F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递归函数实现：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def sum(n):</a:t>
            </a:r>
            <a:endParaRPr kumimoji="0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if n == 1:</a:t>
            </a:r>
            <a:endParaRPr kumimoji="0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return 1</a:t>
            </a:r>
            <a:endParaRPr kumimoji="0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else:</a:t>
            </a:r>
            <a:endParaRPr kumimoji="0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return n + sum(n-1)</a:t>
            </a:r>
            <a:endParaRPr kumimoji="0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sum(100)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 descr="@R$0O(VUNNC~NG1%JNEGD~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605" y="3598545"/>
            <a:ext cx="1371600" cy="676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递归函数的作用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363712" y="3006337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缩小问题规模</a:t>
            </a:r>
            <a:endParaRPr lang="zh-CN" altLang="zh-CN" sz="1400" dirty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38810" y="2361565"/>
            <a:ext cx="6656070" cy="806450"/>
          </a:xfrm>
          <a:prstGeom prst="chevron">
            <a:avLst/>
          </a:prstGeom>
          <a:gradFill>
            <a:gsLst>
              <a:gs pos="61000">
                <a:srgbClr val="7DA8DF"/>
              </a:gs>
              <a:gs pos="48000">
                <a:schemeClr val="tx2">
                  <a:lumMod val="40000"/>
                  <a:lumOff val="6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0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 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代码简洁、清晰,易懂</a:t>
            </a:r>
            <a:endParaRPr lang="zh-CN" altLang="zh-CN" sz="240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Chevron 21"/>
          <p:cNvSpPr/>
          <p:nvPr/>
        </p:nvSpPr>
        <p:spPr>
          <a:xfrm>
            <a:off x="638810" y="1082040"/>
            <a:ext cx="6813550" cy="824865"/>
          </a:xfrm>
          <a:prstGeom prst="chevron">
            <a:avLst/>
          </a:prstGeom>
          <a:gradFill>
            <a:gsLst>
              <a:gs pos="61000">
                <a:srgbClr val="7DA8DF"/>
              </a:gs>
              <a:gs pos="48000">
                <a:schemeClr val="tx2">
                  <a:lumMod val="40000"/>
                  <a:lumOff val="6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0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 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缩小问题规模</a:t>
            </a:r>
            <a:endParaRPr lang="zh-CN" altLang="zh-CN" sz="240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Chevron 21"/>
          <p:cNvSpPr/>
          <p:nvPr/>
        </p:nvSpPr>
        <p:spPr>
          <a:xfrm>
            <a:off x="638810" y="3572510"/>
            <a:ext cx="6813550" cy="865505"/>
          </a:xfrm>
          <a:prstGeom prst="chevron">
            <a:avLst/>
          </a:prstGeom>
          <a:gradFill>
            <a:gsLst>
              <a:gs pos="61000">
                <a:srgbClr val="7DA8DF"/>
              </a:gs>
              <a:gs pos="48000">
                <a:schemeClr val="tx2">
                  <a:lumMod val="40000"/>
                  <a:lumOff val="6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0" rtlCol="0" anchor="ctr"/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+mn-ea"/>
                <a:cs typeface="+mn-ea"/>
                <a:sym typeface="宋体" panose="02010600030101010101" pitchFamily="2" charset="-122"/>
              </a:rPr>
              <a:t> 3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cs typeface="+mn-ea"/>
                <a:sym typeface="宋体" panose="02010600030101010101" pitchFamily="2" charset="-122"/>
              </a:rPr>
              <a:t>、可以解决递归关系的问题</a:t>
            </a:r>
            <a:endParaRPr lang="zh-CN" altLang="en-US" sz="240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3" grpId="0" bldLvl="0" animBg="1"/>
      <p:bldP spid="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5905" y="781685"/>
            <a:ext cx="6092825" cy="411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3383915" y="1908175"/>
            <a:ext cx="22250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sym typeface="+mn-ea"/>
              </a:rPr>
              <a:t>第四节课</a:t>
            </a:r>
            <a:endParaRPr lang="zh-CN" altLang="en-US" sz="4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32481" y="2747645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3"/>
                </a:solidFill>
                <a:sym typeface="+mn-ea"/>
              </a:rPr>
              <a:t>斐波那契数列</a:t>
            </a:r>
            <a:endParaRPr lang="zh-CN" altLang="en-US" sz="2800" b="1">
              <a:solidFill>
                <a:schemeClr val="accent3"/>
              </a:solidFill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斐波那契数列案例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55420"/>
            <a:ext cx="3202940" cy="24149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40" y="2326640"/>
            <a:ext cx="4076065" cy="10382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90625" y="4533265"/>
            <a:ext cx="6762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+mn-ea"/>
                <a:ea typeface="+mn-ea"/>
              </a:rPr>
              <a:t>数列特点：该数列从第三项开始，每个数的值为其前两个数之和。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7660" y="76454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认识斐波那契数列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斐波那契数列案例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508184" y="771550"/>
            <a:ext cx="7488832" cy="360040"/>
          </a:xfrm>
        </p:spPr>
        <p:txBody>
          <a:bodyPr/>
          <a:lstStyle/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需求分析：</a:t>
            </a:r>
            <a:endParaRPr lang="zh-CN" altLang="en-US" sz="20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输入一个数字表示第几个数字，正确输出n项斐波那契数。</a:t>
            </a:r>
            <a:endParaRPr lang="zh-CN" altLang="en-US" sz="20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2858" y="771550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aphicFrame>
        <p:nvGraphicFramePr>
          <p:cNvPr id="12" name="图示 11"/>
          <p:cNvGraphicFramePr/>
          <p:nvPr/>
        </p:nvGraphicFramePr>
        <p:xfrm>
          <a:off x="1931789" y="2154550"/>
          <a:ext cx="4560168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2450148" y="4068445"/>
            <a:ext cx="35223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+mn-ea"/>
                <a:ea typeface="+mn-ea"/>
                <a:cs typeface="+mn-ea"/>
              </a:rPr>
              <a:t>1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1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2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3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5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8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13</a:t>
            </a:r>
            <a:r>
              <a:rPr lang="zh-CN" altLang="en-US">
                <a:latin typeface="+mn-ea"/>
                <a:ea typeface="+mn-ea"/>
                <a:cs typeface="+mn-ea"/>
              </a:rPr>
              <a:t>，</a:t>
            </a:r>
            <a:r>
              <a:rPr lang="en-US" altLang="zh-CN">
                <a:latin typeface="+mn-ea"/>
                <a:ea typeface="+mn-ea"/>
                <a:cs typeface="+mn-ea"/>
              </a:rPr>
              <a:t>21... ...</a:t>
            </a:r>
            <a:endParaRPr lang="zh-CN" altLang="en-US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斐波那契数列案例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58775" y="776605"/>
            <a:ext cx="3318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</a:rPr>
              <a:t>普通函数代码实现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pic>
        <p:nvPicPr>
          <p:cNvPr id="8" name="图片 7" descr="YVQK(%IWCLZ`JDM9}$V%RQJ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4505" y="1930400"/>
            <a:ext cx="2362200" cy="1752600"/>
          </a:xfrm>
          <a:prstGeom prst="rect">
            <a:avLst/>
          </a:prstGeom>
        </p:spPr>
      </p:pic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1255395" y="2011045"/>
            <a:ext cx="3189605" cy="1591324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19050">
            <a:solidFill>
              <a:schemeClr val="accent1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 err="1">
                <a:latin typeface="仿宋" panose="02010609060101010101" charset="-122"/>
                <a:ea typeface="仿宋" panose="02010609060101010101" charset="-122"/>
                <a:sym typeface="+mn-ea"/>
              </a:rPr>
              <a:t>def</a:t>
            </a:r>
            <a:r>
              <a:rPr lang="en-US" altLang="zh-CN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en-US" altLang="zh-CN" sz="1600" dirty="0" err="1">
                <a:latin typeface="仿宋" panose="02010609060101010101" charset="-122"/>
                <a:ea typeface="仿宋" panose="02010609060101010101" charset="-122"/>
                <a:sym typeface="+mn-ea"/>
              </a:rPr>
              <a:t>feibo</a:t>
            </a:r>
            <a:r>
              <a:rPr lang="en-US" altLang="zh-CN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(n)</a:t>
            </a:r>
            <a:endParaRPr lang="en-US" altLang="zh-CN" sz="1600" dirty="0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    a=0</a:t>
            </a:r>
            <a:endParaRPr lang="zh-CN" altLang="en-US" sz="1600" dirty="0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    b=1</a:t>
            </a:r>
            <a:endParaRPr lang="zh-CN" altLang="en-US" sz="1600" dirty="0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    while b &lt; </a:t>
            </a:r>
            <a:r>
              <a:rPr lang="en-US" altLang="zh-CN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n</a:t>
            </a:r>
            <a:r>
              <a:rPr lang="zh-CN" altLang="en-US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:</a:t>
            </a:r>
            <a:endParaRPr lang="zh-CN" altLang="en-US" sz="1600" dirty="0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          print(b)</a:t>
            </a:r>
            <a:endParaRPr lang="zh-CN" altLang="en-US" sz="1600" dirty="0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600" dirty="0">
                <a:latin typeface="仿宋" panose="02010609060101010101" charset="-122"/>
                <a:ea typeface="仿宋" panose="02010609060101010101" charset="-122"/>
                <a:sym typeface="+mn-ea"/>
              </a:rPr>
              <a:t>          a, b = b, a+b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斐波那契数列案例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74674" y="113159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24485" y="763270"/>
            <a:ext cx="3318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</a:rPr>
              <a:t>递归函数代码实现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92125" y="1278255"/>
            <a:ext cx="5010150" cy="3086927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1905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def fun(n):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if n &lt; 0: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 print('输入有误！')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elif n == 1 or n == 2: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 return 1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else: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 return fun(n-1) + fun(n-2)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 = int(input('请输入要生成的斐波那契数列项数：'))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for i in range(1,n+1):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600">
                <a:solidFill>
                  <a:srgbClr val="09131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print(fun(i))</a:t>
            </a:r>
            <a:endParaRPr lang="en-US" altLang="zh-CN" sz="1600">
              <a:solidFill>
                <a:srgbClr val="09131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710" y="763270"/>
            <a:ext cx="4173220" cy="2025015"/>
          </a:xfrm>
          <a:prstGeom prst="rect">
            <a:avLst/>
          </a:prstGeom>
        </p:spPr>
      </p:pic>
      <p:pic>
        <p:nvPicPr>
          <p:cNvPr id="8" name="图片 7" descr="M)KPD1_UZ`L}ST1AS1EWGR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75" y="3131820"/>
            <a:ext cx="3043555" cy="1767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课堂编程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045766" y="2126774"/>
            <a:ext cx="3195871" cy="744736"/>
            <a:chOff x="1095296" y="1131590"/>
            <a:chExt cx="3195871" cy="744736"/>
          </a:xfrm>
        </p:grpSpPr>
        <p:sp>
          <p:nvSpPr>
            <p:cNvPr id="23" name="TextBox 32"/>
            <p:cNvSpPr>
              <a:spLocks noChangeArrowheads="1"/>
            </p:cNvSpPr>
            <p:nvPr/>
          </p:nvSpPr>
          <p:spPr bwMode="auto">
            <a:xfrm>
              <a:off x="1095296" y="1131590"/>
              <a:ext cx="452368" cy="646331"/>
            </a:xfrm>
            <a:prstGeom prst="rect">
              <a:avLst/>
            </a:prstGeom>
            <a:solidFill>
              <a:srgbClr val="E2F5FE"/>
            </a:solidFill>
            <a:ln>
              <a:solidFill>
                <a:srgbClr val="FFFF0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FF0000"/>
                  </a:solidFill>
                  <a:latin typeface="Dotum" pitchFamily="2" charset="-127"/>
                  <a:ea typeface="Dotum" pitchFamily="2" charset="-127"/>
                </a:rPr>
                <a:t>1</a:t>
              </a:r>
              <a:endParaRPr lang="zh-CN" altLang="en-US" sz="3600" b="1" dirty="0">
                <a:solidFill>
                  <a:srgbClr val="FF0000"/>
                </a:solidFill>
                <a:latin typeface="Dotum" pitchFamily="2" charset="-127"/>
                <a:ea typeface="Dotum" pitchFamily="2" charset="-127"/>
              </a:endParaRPr>
            </a:p>
          </p:txBody>
        </p:sp>
        <p:sp>
          <p:nvSpPr>
            <p:cNvPr id="24" name="矩形 33"/>
            <p:cNvSpPr>
              <a:spLocks noChangeArrowheads="1"/>
            </p:cNvSpPr>
            <p:nvPr/>
          </p:nvSpPr>
          <p:spPr bwMode="auto">
            <a:xfrm>
              <a:off x="1180424" y="1830607"/>
              <a:ext cx="306093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00B050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6" name="TextBox 11"/>
            <p:cNvSpPr>
              <a:spLocks noChangeArrowheads="1"/>
            </p:cNvSpPr>
            <p:nvPr/>
          </p:nvSpPr>
          <p:spPr bwMode="auto">
            <a:xfrm flipH="1">
              <a:off x="1403648" y="1489966"/>
              <a:ext cx="2887519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3F3F3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注意核心代码</a:t>
              </a:r>
              <a:endParaRPr lang="zh-CN" altLang="en-US" sz="1600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66086" y="3322960"/>
            <a:ext cx="3125746" cy="780008"/>
            <a:chOff x="1115616" y="2283718"/>
            <a:chExt cx="3125746" cy="780008"/>
          </a:xfrm>
        </p:grpSpPr>
        <p:sp>
          <p:nvSpPr>
            <p:cNvPr id="28" name="TextBox 32"/>
            <p:cNvSpPr>
              <a:spLocks noChangeArrowheads="1"/>
            </p:cNvSpPr>
            <p:nvPr/>
          </p:nvSpPr>
          <p:spPr bwMode="auto">
            <a:xfrm>
              <a:off x="1115616" y="2283718"/>
              <a:ext cx="452368" cy="646331"/>
            </a:xfrm>
            <a:prstGeom prst="rect">
              <a:avLst/>
            </a:prstGeom>
            <a:solidFill>
              <a:srgbClr val="EDF5FD"/>
            </a:solidFill>
            <a:ln>
              <a:solidFill>
                <a:srgbClr val="FFFF0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FF0000"/>
                  </a:solidFill>
                  <a:latin typeface="Dotum" pitchFamily="2" charset="-127"/>
                  <a:ea typeface="Dotum" pitchFamily="2" charset="-127"/>
                </a:rPr>
                <a:t>2</a:t>
              </a:r>
              <a:endParaRPr lang="zh-CN" altLang="en-US" sz="3600" b="1" dirty="0">
                <a:solidFill>
                  <a:srgbClr val="FF0000"/>
                </a:solidFill>
                <a:latin typeface="Dotum" pitchFamily="2" charset="-127"/>
                <a:ea typeface="Dotum" pitchFamily="2" charset="-127"/>
              </a:endParaRPr>
            </a:p>
          </p:txBody>
        </p:sp>
        <p:sp>
          <p:nvSpPr>
            <p:cNvPr id="29" name="矩形 33"/>
            <p:cNvSpPr>
              <a:spLocks noChangeArrowheads="1"/>
            </p:cNvSpPr>
            <p:nvPr/>
          </p:nvSpPr>
          <p:spPr bwMode="auto">
            <a:xfrm flipV="1">
              <a:off x="1180424" y="3003798"/>
              <a:ext cx="3060938" cy="5992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0" name="TextBox 11"/>
            <p:cNvSpPr>
              <a:spLocks noChangeArrowheads="1"/>
            </p:cNvSpPr>
            <p:nvPr/>
          </p:nvSpPr>
          <p:spPr bwMode="auto">
            <a:xfrm flipH="1">
              <a:off x="1301650" y="2592842"/>
              <a:ext cx="281842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>
                  <a:solidFill>
                    <a:srgbClr val="3F3F3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理清思路</a:t>
              </a:r>
              <a:endParaRPr lang="zh-CN" altLang="en-US" sz="1600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" name="AutoShape 2" descr="data:image/jpeg;base64,/9j/4AAQSkZJRgABAQAAAQABAAD/2wBDAAgGBgcGBQgHBwcJCQgKDBQNDAsLDBkSEw8UHRofHh0aHBwgJC4nICIsIxwcKDcpLDAxNDQ0Hyc5PTgyPC4zNDL/2wBDAQkJCQwLDBgNDRgyIRwhMjIyMjIyMjIyMjIyMjIyMjIyMjIyMjIyMjIyMjIyMjIyMjIyMjIyMjIyMjIyMjIyMjL/wAARCAGzAf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Jx1oAKKTIxnNMY56UASUUgORS0AFFFFABRRRQAUUUUAFFFFABRRRQAUUUUAFFFFABRRRQAUUUUAFFFFABRRRQAUUUUAFFISB1oyMZoAWioyx3cVIORQAUUUUAFFFFABRRRQAUUUUAFFFFABRRRQAUUUUAFFFFABRRRQAUUUUAFFFFABRRRQAUUUUAFFFFABRRRQAU1xletOpjct7UANAwMU5V70qrjrTqACiiigAooqCWcKdq9e9AExYL1OKYZV96rGTJyaN1AFnzl9DTg6t0NVN9G+gC7RVaOfBwx49asE4GaAAnnFGT6D86Q8cD8aQ+5FADs+oxS0zpwelOHvQAtFFFABRRRQAUUUUAFFFFABRRRQAUUUZxQAyRc96b2ApxyWIpVXFAAq4p1FFABRRRQAUUUUAFFFFABRRRQAUmecUE9vWmn0HSgB2T6D86Ac+xppxnqKPY0APopAciloAKKKKACiiigAooooAKKKKACiiigAooooAKKKKACiimFucUAIxz0NKq9zQq9zT6ACiiigAooooAiuJfJhLd+grM833qbVpNgiXsST+WP8ay/PHSgC95vvR53vVHzh6ik8/wB6AL/ne9Hm1Q88etL549aALvme9XrWbzY9pPKn9KwzcD1q3pk+bzZnhlNAGyeDzRnH+NKRxzn60mB6/kKAA/dP1py96TBPt7UoGKAFooooAKKKKACiiigAooooAKKKDxQAE4qMnJoLbuKcq460ACrjk9adRRQAUUUUAFFFFABRRRQAUUUUAFFFFACHqKb0NPIyKaffj3oATtjGKOy+tGB9foKXaSc0AKvSloAwKKACiiigAooooAKKKKACiiigAooooAKKKKACiiigCMn5jTgvHNLgZpaACiiigAooooAKKKKAMTxJlLWKYdEbB/H/APVXM/bcd67m+tUvLOW3fpIuM+noa8tvvOsLuS2nG2SM4Pv7igDZ+3e9H24etc417jvTDf8AvQB03273oN72zXMC/wDepUvt52k/j6UAdCbz3rY8N7ri9kk/hjTr7n/JrihcM0ixRgs7EAAc7j7V6XoOmnTdNRJP9c/zSfX0/CgDUooqN5kRtrHmgCSigHIyKKACiiigAooooAKKKKACiiigAqPqcVJSYGaAAD160tFFABRRRQAUUUUAFFFFABRRRQAUUUUAFFFFABRRRQAUUUUAFFFFABRRRQAUUUUAFFFFABSHoaWigCLdjgmipNoooAWiiigAooooAKKKKACiiigArFv71o7mVN2NuMH04q9fX8dmo3EAnnmuavNY0d52e5eLzD1y5B/nQB18bbo1b1ANOrE0fxBZ6jcfZbeRXKpkbTngYFbEkiRKWdgqjuaAH1geJvDketWu+IrHdxj5HPRh6H2q82s2oJ273x6CoJPEESDi3lb8RQB43ffaLC5kt7mNopUOGVqz3vvevQ/FqQ+IVjcwCCWPgPnJI9DXiGtXGoWOs3NmsvEbYXCjpjI/SgDq1vGZsCrtrLNczJb2yPLK5wFUZLH2rnPC0Vxqv2hJLg4QqN+3qTnIHt0r07wns8OSySJai6kkGDI52lR6DrQB1XhXwodLRbu/2yXhHyqORFn09T711dYUPiaFxmS1lT6EGtG21S1uvuSYPowxQBcrF1KYpfYAY/IOg+tX9Slli06Z4MGUL8oJxk1yb6j4gTldO3j/AGZV/wAaAOws38y0jbPap65jTdTvmdftVtJCSwBDe59RxXT0AFFFFABRRRQAUUUUAFFFFABRRRQAUUUUAFFFFABRRRQAUUUUAFFFFABRRRQAUUUUAFFFFABRSEgdTiuX8Q+OdO0XfBGRdXnQRIeAfc0pSUVdmVWtCjHmqOyOlmnigjMkrqiKMlmOAK4/UPiXo1ndGGMT3IBwzxKMD8yM15trnifUtbkP2mc7O0SHCL/j9aq6Hol5r2opaWicnl3P3UX1Nc8qzbtE8Ktm9SpNQw6/zPfdN1C31TT4b22YtDKu5SRg/jVqqWk6bFpGlW1hCSUhTbk9SepP51droV7an0EOblXNv1CiiimUFFFFABRRRQAUUUUAFFFFABRRRQAUUUUAFFFFAGD4i+zIIZLmMOmGyD07Vz663ZBdtnamX2ghLfyFdL4lZotN89IvNMTAlfY8f4VzEWp6o6fJYJCnYySBR+mTQBoaBdTPey3J042sZTG+RQrOc+nX86k1a9Zg2WzWUNQukuALiaE5H3IyTj8aZezebGeaAK9pqOLh0J461rRyrKua4Wa5NvdMc4yDW1omo/aYV5zQBuTW6yAjFeOfEuxWz1mCVOPtEZD++0//AFx+Vezq4K8V5N8Wcf2hp3rsk/mtAGt8NtHjXQhc7gxnkZjx0xxj9K79IEjHQcVxXwvuA/hfy88xTOv65/rXV3t2Ioic0AOu5guFHer+nyDArl5LvzHj56it2xlCxA55NAG/dOs9g8DTNEGxtYHkHtWC9prVvzBd21wPRsoT/Olv7iOS2MUgLKecBip/MVmhrYpth1O4tX7JLhgPz5/WgDa0q71Ge/iivbVoirrg5BB59q7SuB8Mi8n1xEe+juoYlLsyLj2Hf/OK76gAooooAKKKKACiiigAooooAKKKKACiiigAooooAKKKKACiiigAooooAKKKKACiigkAc0AFVNQ1Oz0u2a4vJ1ijHdj19h61z/ifxvY6CrQRFbi9I4jU8L/vH+leQ6trV/rd2ZryZpGz8qj7qj0ArGdVR0W55eNzOFD3Iay/BHUeJviDe6kz2unb7a3PBb+N/wAun4VxbMRnnLnq1LuAGwn5um709q1PD3hu98Q6h9ngUpEpBlmI+VB/U+grmblJnzs51sVU11kyLQtBvNfv1trVflHMkhHyoPU/4V7hoOg2egaettapyeXkP3nb1NP0bRLPQ7FLW0j2qOWY/ec+pNaVdVOmo6vc+lwGAjho8z1kwooorU9EKKKKACiiigAooooAKKKKACiiigAooooAKKKKACiiigCOeGO4geKVdyOpBHtXhniafWPDetS201xJJbZzHnglT0Oe9e71k694d07xFZG2v4d2PuSKcMh9QaAPGrHWVlAbOCeTzWv/AGopj5aq+qfCjXtOlaTSLiG9gzwjt5cg/Pg/nT9G+HXie+mA1LytPgH3iZFkc/QKSPzNAHPavfrklW5zWh4Tus2qbTnPU+teo6f8PvDdjBsl06O8cjDSXY8wt+B4H4CuEt7CG21C5FtEsUHnP5aKMBV3HAH4UAdJA+UFeUfFWTdrVmn92En8z/8AWr1SAYQV5F8UH3eJol/u26/+hNQBsfCm6/0bUbbP3XVwPqMf0rrNakcW749K88+GNx5evXMOf9ZBn8iP8a9LvoPMjIxQBxA11Ld0Ex2445rpbPXY3gVlcEY9aveFPDtnc+IYJbmBJBES4DDIyBx+tdxrvg/S9cjy8Zt7kfduIcKw+vY/jQB5vd6yiKSW+b+Vcvd6lc6rdJY2+5zI2AqjJJ9q74fB4yTf6Rr8zQ5+6kAVsfUk/wAq7Lw/4L0Tw2N1jbE3BGGuJTukP49vwxQAzwX4f/4R7QY4JFxPId8vOSD6Zro6KKACiiigAooooAKKKKACiiigAooooAKKKKACiiigAooooAKKKKACiiigAooqjqurWejWTXV5MI0HT1Y+gHc0N2JlJRXNJ2RblmjgiaSR1RFGWZjgAV5h4s+IzSl7LRWKp0a57n/d9PrXPeKPGd54glaJCYLIH5Ygfve7etcwBk4HWuWpWb0ifOY7NJVPco6Lv3HMzyyFmJZ2PJPJNKTsGB97uaCQgwOW7n0rd8LeFbrxJe7VzHaIf3s3p7D1NYpNuyPJp0p1JKEFdsZ4Z8MXfiO92RAx2yH97MRwvsPU17fpWlWmj2EdpaRhI0H4k+pPc07TdMtdJso7SziEcSdAOp9z6mrldlOmoLzPrMDgYYaPeT3YUUUVod4UUUUAFFFFABRRRQAUUUUAFFFFABRRRQAUUUUAFFFFABRRRQAUUUUAFFFFAEV1J5VrLJ/cQt+QrzSKHDZ716FrD7NJuD6rj8ziuIC4oAkQYWvFviM+/wAWyD+7Eg/mf617T0WvDfHcm/xhe/7Owf8AjooAPAk/keLrTnAkDIfyz/Sva3TcteBeH5/s/iHT5egFwgP0Jwf519BLjYD3x+VAFvw4oh1ePP8AFkfoa7iuF06Tyr6Fyejg5/Gu6HSgAooooAKKKDwKACimqwanUAFFFFABRRRQAUUUUAFFFFABRRRQAUUUUAFFFFABRRRQAUUVyfi7xpb+H4TBAVlvmHEfZPdv8KUpKKuzOrWhRg5zdkX/ABH4psfDtrvnYPMw/dwqeW/wHvXiut6/e6/eG4vJMgcJGD8qD0Aqnf391qV291dzNLK5yWaqwBJwOtcc6jn6HymNx88S7bR7f5jgMnA5NPJ8sFR97ufT2ppOwYU/N3P9K6Dwt4ZufE97t5jtoz+9mx29B71CTbsjkp05VJKENWw8K+FbnxJegANHZxsPOmx09h717fp2nW2l2UdpaRLHDGMAAfqfejTtOtdKso7SziEcMYwAP5n3q1XZTpqK8z6zBYKOGj3k92FFFFaHcFFIxwM0BsigBaKKKACiiigAooooAKKKKACiiigAooooAKKKKACiikJ7DrQAucUmQe4puR6ZPqaM+ooAfRTQcdOlOoAKKKKAMvxA23SXHqyj9a4/NdZ4kONL/wC2g/rXIZoAezYQ14N4vk8zxZqLf9NMfkAK90lb5DXhHiVZbfxLfmWMq7SsyE+hPBoAzopPssqS/wDLRWDD/Zx/Wvoe0kEttG453KDXzkoaSQKqlnY4AHUmvoHRFlj0e0ScYlWFQ4z3xzQBqxnD5rvLaTzbWKT+8oNcArYNdposhk0uLJ6ZH60AaFFFITgUARq7buaXJJpOtSBcUAIqgc96dRRQAUUUUAFFFFABRRRQAUUUUAFBIHU0hPOBTcjsPxoAdkHvS0zPqKUHn27UAOooooAKKK4Dxv47Gmh9N0uQNd8rLKOkXsPf+VTKSirswxGIhQhzzZP408cxaOj2Gnssl8Rhm6iL6+/tXj09xLczPNM7SSOcszHJJpru8js7sWZjkknJNNrjnNyd2fJYvFzxM+aW3RCjJOB1p5IQYB+Y9TTQ20HA5PetTw9oF14h1NbW3GFHMspHCL6//WqUr6IwhCU5KMVdsn8MeGrrxJqAhjylumDNNjhR6D1PtXummaZa6TYR2dpEI4oxgDuT6n1NR6Po9pounR2dpGFjQcnux7kn1rQrsp01FeZ9ZgcFHDR11k9wooorQ7xDwOKjRz3qRjgUzqcUAAyTTwoHSgDFLQAUUUUAFFFFABRRRQAUUUUAFFFFABRRRQAUUUUAFNPU/SnUh4Oe1ADRwKM/U0YI6dKMfgKADvinjpTByafQAUUUUAY/iQE6UT6OtcaWrtvEIzo8n1X+dcO+VoAGbIrkfGHhtNZszJEAt1GMo3r7GunaSoi+aAPO/AvhiQ3h1C+hKeUxWNHH8Q6mvUVIUADpVNGA6VOr5oAsK3Ndf4bfdpzjush/kK41Dk11fhiT9zOnoQf8/lQB0BOBUe4mgkmnKuPrQAoGBS0UUAFFFFABRRRQAUUUUAFFFFABRRRQA09D9aSlPU56GkwaAF/kfWkHeihRQA+iiuM8c+Mk0K1+x2bhtQlHGD/ql/vH39BSlJRV2ZVq0KMHOexS8eeNhpsbaXpsgN24xLIP+WQ9B/tfyryNmLsWYkk8kmkkkeWRpHYs7HLMTkk0gyTgVxTm5O7PkMVip4mfNL5IWihvlOMjPtUtpaz313Fa20TSTSMFVV6k1BzKLbsizpGk3WtajHZWibpH6k9FHcn2r3jw9oFr4e05bW3GW6ySEcu3qf8ACqfhHwvB4c00KQr3coBmkx39B7CujrspU+VXe59Vl2BWHjzz+J/gFFFFanphSMcCgkCmZJOKADJbingcUAYpaACiiigAooooAKKKKACiiigAooooAKKKKACiiigAooooAKKKKAEx6cUYpaKACiiigAooooAzNfONKk9Sw/nXDyLya7XxAf8AQFX1cfyNcnJHmgDKlBFU3k2mtaSLg1h6iDCpcdqAJ0kzVuM5xWLp9wJ+Qcit2FNwGBz/ADoAsRDc2M4rpPDnE8idCU5HoQf8K5+EbM5GQwwea19Gl26rDjIDDZ19qAOvVcU6iigAooooAKKKqX+p2el2rXN7cRwxL/E56+w9TQJtJXZborynX/ipJIzQaNBsQcefIOT9F7fjXOWni/VxdC4Go3BlByVdyyn8OlYyrxR5VfOKFOVknLzR7zRWB4Y8T2/iG0JGIrqMDzIs/qPat+tU01dHpUqsKsFODumFFFFM0CiiigApMehIpaKAEAxS0VkeItetfD2lvd3DZbpHGOrt6Ck3ZXZM5xhFyk7JFHxf4qh8OacSpD3koIhiP/oR9hXhd3dTXt1Jc3EjSSyNuZm6k1Pq2q3WtajLe3b7pHPA7KOwHtVQrjGOQelcdSbmz5PHYuWJnp8K2GgZOBTziMYH3u59KCfLGB97ufSmVmcOwoBYgAZJ6CvZfAHhAaPajUbyMfb5lyFP/LJT2+p7/lXP/Djwl9qlXWr6P9yh/wBHRh95h/F9B29/pXrNdNGn9pn0GVYGy9vUWvT/ADCiiiug9wKaWwRTqay5NADcb+9PAwKAMfWloAKKKKACiiigAooooAKKKKACiiigAooooAKKKKACiiigAooooAKKKKACiiigAooooAKKKKAMTxA3ywL6kn+X+NYDLmtvxAczwj0Un/P5Vik0AVpE4rntcULayH2NdLIeK5zXz/ocv0NAHKeFZpd7xzKynduXcMZU9DXf26fID37VzV1aLp99oTYA8/SIGI/2uc/zFdNatuQE0AWVGfr/ADqe0k8m8gf0kU/rUOaZI3fPzCgD0WimRP5kSv8A3gDT6ACgnFVr7ULXTbR7m7mSGFBlnY8V5L4p+Il1qu+10wva2XRpekkn09B/n2qJzUdzmxOLp4dXk9ex2Xifx/YaIrwWxFzeqcFVPyof9o+vsP0ryLVdbvtdujPf3DO/8AzhVHoB2FZzuXOT+Aptcs6jlufNYrHVMQ9dF2FIIJBGDQCQQQcGnAhgFbqOh/pTSCDgjBqDiZt6HrM+lahDfW5xJGfmXPDDuD9a9702/h1PT4Ly3bdFKu4eo9j7181xvsfPbvXpXw01/wAi6k0iZ/kly8Gezdx+I5/D3rWjPldu56eU4n2NX2Mvhl+f/BPVKKKK6z6gKKKKACiio55o7eF5pXCRoCzMx4A9aAK+p6lbaTYS3l1IEijXJP8AQe9eC+JfEVz4j1RrmYlYl+WGLPCL/j6mtDxr4sk8RagYoSVsISRGvTef7x/pXKgZOBXJVqc2i2PmMxx3tpezh8K/EOSalD+UMdSfvU3/AFfA+93PpTKxPL2HsuBkcqehrd8I+HJPEesLCQRaxYed/RfQe5/xrEt45Jp0giQyPIwVUHViemK9+8KeH4vDuix2y4Mz/PM4/iY/0HStaUOZnoZfhPrFS7+Fb/5GzbwR21ukEKBI41CqqjAAHapKKK7D6sKKKKACiiigAooooAKKKKACiiigAooooAKKKKACiiigAooooAKKKKACiiigAooooAKKKKACiiigAooooAKKKKAOb8QN/pyD0jH8zWQTWn4gb/iYj/rmP5msktQAyQ8VzfiBwllKx67TgV0UrYXJrmNdzNEY+7kL+fFAGn47tPsi+F5gPuW7QMfoqEf1qSwk3Ritj4oW+fDtjMBzBdp+AKsP54rnNLkzEtAGzmoJm4NSZyKrzt8tAHoumSebpdq/rEv8qt1meHX8zQLNv9jH5EitOgDzj4sWl7LZWVwhY2ULN5yr2Y42k/qPbPvXk7NuPoB0HpX01cW8V1byQTRrJFIpVlYZBFeD+MvC8nhvVSIwzWUxLQOe3qp9xXNWg78x8/m2Fkpe2Wz3ObooorA8QKeCGG1jg9jTKKBhVywuZba4imik2SxMHRvQiqgBOcdqFbawNAn3R9H6HqsWs6Pb30ZH7xfmXP3WHBH51o15N8MNd+z6hLpMz/urj54s9nA5H4gfpXrPWu2nLmjc+wwWI+sUVPr19QoooqzrEJA6kCvIfiH4yOoTtpFhJ/oqHE8iniRh2HsP51ufETxj9ghbSLCX/SpB++dTzGp7fU/oK8h5J9656tT7KPBzTHb0Kb9f8hepp5PljA+93PpQR5XH8R7+lR1znhbC0UlaOiaTNrer29hBwZG+ZsfdXufwFCVxxi5SUY7s7r4X+G/NmbXLmPKRkpbhh1bu34dPz9K9WxgYFV7Cyh06xhs7dAkMKhUHsKsV3Qjyqx9lhcOqFJQXz9QoooqjoCiiigAooooAKKKKACiiigAooooAKKKKACiiigAooooAKKKKACiiigAooooAKKKKACiiigAooooAKKKKACiiigDk/EZxqY/65j+ZrI34GT+Va3ighdRQ/wDTIfzNYBegBZn4PNYcq+fq1hD133US/mwrUmf5TVLSk8/xXpaelwG/75Bb+lAHcfEGDz/BV9xzHskH4Op/lmvPtJk/cr9K9U8SQfafDGpQ45a1kA+u04/WvI9Ib9yv0oA6QN8tVrh+DT1b5RVecgqSeBQB6B4Sff4btvYuP/HjW3WB4Obd4ch4x87/APoRrfoAKzNf0W217SZrG5HDDKMByjdiK06KGr6EyipJxezPmrVdNudH1Gaxuk2yxNj2YdiPY1SzXt3xA8KDXNO+2Wseb+3HygDmRe6/XuP/AK9eIEYODXFOHK7HyWNwrw9S3R7DqVV3H27n0pqqWPoO59KVm42rwv8AOoOQczcbV+7/ADptNzS5oAs2l1LZ3MVxCxWWFw6N6EHIr6I0PVItZ0e2vocbZUBI/unoR+BzXzcDzXo3wr8Q+ReTaJO+Fm/eQZ/vDqPxHP4VrRlZ2PUynEezq8j2l+Z65XMeM/FcXhvTD5ZV72YFYYz2/wBo+wrY1nVrbRdLmvrp8RxjoOrHsB7mvn3WtXudd1SW+uTl3OFUdEXsorarPlVluermGM9hDlj8T/ApzTS3Vw80ztJLIxZmJyWJpPucD73c+lB+Tgfe7n0plch8u2OVhja3T19KRlKnBpKcrDG1unY+lAhtey/DPw7/AGdpJ1O4jxcXa/JkcrH2/Pr+Ved+D/Dza/4git3U/Zo/3k7DptHb8TxXvyII0VFACqMADoK3ow+0z2sowt260umw6iiiuk+gCiiigAooooAKKKKACiiigAooooAKKKKACiiigAooooAKKKKACiiigAooooAKKKKACiiigAooooAKKKKACiiigAooooA5LxYP9MhP/TP+tc0xxXUeK/8Aj6g/3D/OuYkFAFaZvlNTeEovN8ZWrf8APNJH/wDHSP61Xm6GtbwFFv8AEV1N/wA87fb+JYf4GgD0OaMSwSRno6lT+IrxDTFMa7D1U4Ne5V43JAINYv4uipcyAf8AfRoAuIfl5PFV7hsj29KnblMjoO3pVSbpQB6J4M/5FqH/AH3/APQjXQVg+Dl2+GLX3Ln/AMeNb1ABRRmkzQAteOfEfwp/Z99/a1om22nP74Dojnv9D/P617FmqupWMGp6dcWVwm6KZCjev1HvUTjzKxzYvDRxFNxe/Q+aWYY2rwv86bVzVtOn0nVLmxuBiSFypPqOx/EYNUq4j5CUWm0xaKTNGaCbC0R3M9jdwXls5SaJwyMOxHSjNGM8daBxbi7o6XxX4uufFD2ylDDBEg/dA5y+OT/Qf/XrnifLGB97ufSlXamVzhz/ABelRkbTg9abbbuzSrUnUk5zd2wzRmkopGIuaOppK634feHv7b19ZZlzaWmJJMjhm/hX8+fwppXdka0aUqs1CO7PS/APh/8AsPw+hmXF3c4llz1X0X8B+pNdXSDAFLXclZWR9lSpxpwUI7IKKKKZoFFFFABRRRQAUUUUAFFFFABRRRQAUUUUAFFFFABRRRQAUUUUAFFFFABRRRQAUUmaSgB1FNooAXNGaSigBc0hYAUU1wCMGgBd/Gc01mJ6U0cDAp4GOT1oAcCcc0uTSUZoA5XxWf8ASoP+uf8AWuZc10vizi5gP+wf51y7mgCtOeDXSfD2LnUp/VkQfgCT/MVzFwflNdp4Ai2aDLL/AM9bhj+AAH9KAOrryXVlKeKNRQ/89ifz5/rXrOa8s8Sp5fjC+H94o3/jgoAiBwtVZjU+flqtMetAHp3hZdnhqyGP4CfzYmtes3QlMehWKY5ECfqM1of8CAoAdRTckdenrS0ALRSUUAeYfFfQsrBrcK9P3M+PT+Fv6flXltfSuq6dDq2l3NjOP3cyFSfQ9j+B5r5xvbSWwvp7SddssLlGHuDXLWjZ3Pm81w/JU9otpfmQUUUAZOBWJ5QAZOBUhIjGB97ufSgnyxgfe7n0qOgewU9WDDa34H0plFAhSCpwetJTwwI2t26H0plAEkMEtw+yJCzele+eDdCTw/4dhgZR9pk/eTn/AGj2/AcfhXm3w10ZtS1l7mVAbW1w5JHWT+EfzP4V7MOmBXTRjpzHv5Thko+2e72FJJPFSAnFNAxS5rc9oWjNFFAC5NGTSUUALk0ZNJRQAuaM0lFAC5ozSUmSen50AOzRmm5/2hRn1oAfRTaKAHUU2lzQAtFJmjNAC0UZozQAUUZooAKKKKAG0UlFAC0ZpKKAFzSUZFNzigB2cU0nJ68UwtmlC96AHAYp1NooAdSZpKKAOY8XjBtH9Qw/lXIu1dl4wXOnwSf3ZMfmP/rVxBJPPagCC5b5CfavR/CMPkeF7EdC6mQ/8CJP8jXmV822E169YQfZdOtrfp5USp+QxQBZzXmnjJfL8WFv+ekKN/Mf0r0qvPPHq7dds5P70G38mP8AjQBjlvlquQZZVjB5YgVIx+QUumAy6zZpjO6ZQfpmgD1qCPyLaKBeiIF/IVJwOMn8KaTh8mk3deRj2NAD+V75BpRkEj0qMt8n48UueT+VAD80ZpuaM0AOzXkfxU0QW2pQatCmI7kbJSOzgcH8R/KvWs1keJ9IXXPD91Y4HmMu6Ins45H+H41E480bHLjKHtqLj16HzyMk4FPJEYwPvdz6UrqYWZCMSAkN7e1RVxnyOwuaKSigQtFJRRYBafFDJPII4o2dz0VRk0kUTzOEQZPXriu7+Heim71USTRL5dt+8ckZDk/cwfYgn8KcY3djfD0HWmoLqeieEtDXQPD9vaMB57DzJiO7nr+XT8K3hxTVGPrS5rtSsrI+whBQiox2Q7NGabmjNModmjNNzS5oAXNLmm0UAOoptFADqKbRmgBTzx60HJOB0pM8ikzhjmgBePU/lS9OD0NN3cdR+FL/AHRQA4HilpopaAFopKKAFopM0ZoAWiiigAozRRQAZooooAbmjNJRQAUUUlAC5phbnvSHOacBx2oAAMc0tJSZoAdmkzTc0hNAD80m6m5pN1AGT4oj83Qpjz+7ZX/XH9a8/wA59hXpOqbZdPmg7yKVFcRPpMsSHoaAMXZ9p1SztsZ8yZFI9iRXsGTXluh2rf8ACX2Kyj7pZvxCkivTN9AE2a4X4hp8+nTDt5in/wAdx/Wuz31yfjsLJp9oP4vOyPpigDkt2YhWl4Stjc+JYmIysCNIf5D9TUVpphkiVy4C1u6DFFpV28gbcJF2tx0oA7TdxgjIpNy/7RqqLqJvuyKfxp+/NAE5bNG6oN9G+gCfdRvqDfRvoAsbqN1V99G+gDxv4iaN/ZniR541xBeAzL6Bv4h+fP41yNe1ePdK/tbw3K6Lme1/fJ6kD7w/L+QrxWuSpG0j5bMaHsq7ts9QoopVUscDr6etZnBYSnIjOcKpJwT+FNrUwY4RKBuEcQKyN0cHgofzPvxTSZUY3Gi3WGGOeEZGw+Y0h+VgQOPrkkY68V7X4P0ldH8O28ZiEc0o82Rcngntz6DFeQ+EdMXWPFNtBsP2dG86RSc4VecficD8a9231vRXU93KqSd6tvInzRmod9Lvrc9klzS7qi3UbqAJd1G6ow3rS7qAH5pc1GDS5oAfmlzTM0ZoAfmim5paAF60Z4wwz7ikooAXj0J+tGDnOaKKAFoozRQAuaM0lFADqKbS5NAC0UmaWgAozRQehoAMiio8n0Y/SigB1FFFACUUUUAIcZoopM0ABpKUmm5oADTSaUkUxnAoACarPc5ZlU9DgmlknCiuNv8AxKmn6hNA4/iyPx5oA6a4+fJZifxrntSm8hGcMdo61VHimOb5eBnvmsbV9VEqfZoiC8nAGaALOhXvneKLecnuyj/vk16J5w9a800TR5YZkuGkZpF6Y4Arr4jNtGSTQBtGcetct4wuFZLRWI25fJ9OlahEjVn3+lx30eyaMOuc8jvQBzdpqZtyIs7o+xrqLOZGjD8c1zdx4XeJi1szj/ZJyP1qCG61HTXKXNnPs7OillP5dKAO6MiBc5FJa3o+1rCHG1geM9+tcJda7dzfJbwXDf7sbVa8Ow6vJqa3FxbyxxqDjfxknjpQB6KG460ufeqcXmYGamBagCbJ9aUtxUBYjjPNN3NigCYvSeZVZ2fGRVeR5scUAXmkBBU4IIwQa8N8SaX/AGRrtzaqMRbt0X+4eR/h+Ferz3F4oO1SfwrhvF9pe37R3RhctEu04XqvX/H86yqxujzsyw7q0bxWqOLopWUqcMCPrTsiLuN/8v8A69cx81yPqh5AIwR+9/z+tRZOMZ49KTPPWp4o3upFRBmVjgD1oGk5OyPRPhjYGG1u9RdcGVhFGfYcn9SPyr0IS5ri9Du57LT4LRIl8uJdowOvqa6GG8kYcx4rsiuVWPrsNS9jSjDsaokp4eqaSk/w1Ore1Ubk4anA8VGp4zTx0oAdSg0DBpQKAFpwpAKWgApaKWgAooFLigBaKKKAClpMUtABRRS0AFFFFABRRRQAUuaSlxQAtFFFACYHoKKWigBlFFJQAUE0UhoATNJS0lABTSadSYoAYaaRUhFNxQBA8SsORWHqXhPS9Uk8y5t8vjG4MQf0rottBWgDiz8P9J6DzwM5wJm/xq5Z+ENLsTuht/n7sxLH8zXTbfajZ7UAZiafGgwqgVKLcdhV3bSbaAKnkjsOKTyB6Vb2e1Gz2oApm3U9qT7MndRiruyk2UAU/ssY/hH5U4QgdBVrZRsoAr7KNuKsFabsoAg20hU1Y2UbKAKu000x57Vb2e1Hl0AUTFmmNbgjGK0PL9qPLFAGS1gn90Z+lRHTImPMan6itryhS+VQBhf2Lat963iP1QVLDpFnA4aO1hVvURjNbHlD0pfL9qAsUhbr2UA/SpVjA7CrPl0uygCELjtUgFPCUu3NACCnA0BaXFACinA0mKUCgBwNKDTaUCgBwpc0nQUUAOozSUUAOzS02lFAC5paSigBaM0lLQAtFJRQAtFFFABS5pKKAHUU2lzQAtFGaKAGUlLRQAlFLikoATFJTqKAG0lPPNJigBtJinYoIoAbikIp+KMUAM20badRigBhHNJipMUYoAjxRtqTFGKAI9tJtqXFIRQBHijFSbaTbQBHto21JtpdtAEW2jbUm2jbQBHtpNlS7aXbQBDso2VLto20ARbPal2VJto20AR7aNtSbaNtAEe2lC1IBilxQBHto20/FLigCPFGKkxRigBu2jbTqMUAIBRj0p2KMUAJiilxRigBMUtLijFACUoFLRQAUUUuKAEpaKKACiilxQAUUUUAFFFFABRRRQAUUUUAFJilooASilooASilxSUAJiilooASjrS0UAJijFLRQAmBSYp2KMUANxRinYpKAExRtp2KTFACbaTHNPpKAG4oxTqKAG4oxTqKAG4oxTqWgBmKMU6igBuKXbS0UAJto20tFACbaNtOxRQA3bRtp2KMUAN20Yp2KMUANxRinUUAIBRgUtFACYoxS0UAJRilooATFGKWjFABRS4ooASilooATFLRRQAUUUUAFFFFABRRS4oASlxS4ooATFFLRQA2inYFJigBKKXFGKAEooxRigAooJApM/5xQAtFFFABRRRQAYoxRRQAYoxRRQAYoxRRQAYoxRRQAYpMUtFABikPApg3BuaXkmgBQc96dikAx9aWgAxRiiigAxRiiigAxRiiigAxRiiigAxRiikyM4oAXFGKTIpaACiiigAooooAKKKKACiiigAopcUYoASilxRigBKKUjjio1yOtADicCgHPTmkAJNSAYoAbS4paKADFGKKKACiiigAooooAKKKKAM2bQdLEEpFlD0Lfd7/ANPpXDbLb/n1h/74FelT/wDHvJ/un+VcJokaNcTzyKHFtC0oU9yOleLmilKpThF2vf8AQiW5EmmSPH5iaWSnXIh6/pVYx24ODaRAjr8graeRVkja5kvJJnRZXmifAiDdMD05FV9ZjYKksuPPWRoZGHG8jBDfka86tScYOUZPTz/r9fUlo2E0/SbfRILmawR/MEQwi5YsxAAHpyRToovDrh2lt7e2cP5LJOoQhsA4weM4IOR61aS1a98O2caTLC6iGVXZdwBRlYZGR6etVZfDbzvNOb5TcXKOkzmEFSjBRhVzxgIMEk985r6el/Dj6I1RZGm6CpU+VZ5Xpkj+9t59eeOe/FVvI8Nny1jS0kVnI3oQwUhSx3HPAwD1pR4VhF/9pFy+3fuEZGRt+9tz/wBdPnz+FE3haKaGKP7QVEcKRcIOdqOoP/j3T2x3rQB5tPDbIr/6BtnbapDrhiD0Xn+VEdr4fmvzaRQ2skyxsWVACFCkA59Dkj3qC68LzXRldtRUSTMWk2wkLkhAMAN6IOpPfpVzTtFayvUmN0skcMLwxoItpAZg3zNnk8egoAp2v/CMXEKyqtmioWK+YyjIBxu68jPrUz23hmNQrtYKHHmLmRRkeoOen6UL4bWP5o7gCYeWUdo8gFGZhkZ5B3+o6Utt4bSBtxn3sZUlY+Xj5ld3OOeBlzj0oAspoujzx+bHaW7pKAQyAYI9Rjp+FPGg6WGB+wwZA2/c7f4+9WLC0FjYxWofeIxjdjGas0AZo0DSgFAsYflORlf5+v40HQNKIYfYYcMcn5f84rSooAzjoOllmP2GD5hg/J/L0/CgaDpYKn7DBlRgfJ/P1/GtGigDNGgaUFVfsMOFOR8v+c0HQNKIYfYYfmOThcfl6fhWlRQBnf2Dpe4n7DBkjb9z/PPvQNB0sFSLGH5emV/n6/jWjRQBm/8ACP6VtC/YYcA7vu85+v8ASg6BpR3/AOgw/P1wv8vT8K0qKAM7+wdLzn7DBnbt+5xj/H360g0HSxsxYw/L0+X+fr+NaVFAGb/YGlbSv2GHBOfu8/n/AEpToOlkufsMPzdcLj8vT8K0aKAM4aDpYYH7DBkDb9zt/j70g0DSgFAsYflORlf5+v41pUUAZp0DSiGH2GHDHJ+X/OKU6DpZZj9hg+YYPyfy9PwrRooAzhoOlgqfsMGVGB8n8/X8aQaBpQVV+ww4U5Hy/wCc1pUUAZp0DSiGH2GH5jk4XH5en4Uv9g6Xkn7DBkjafk/zz71o0UAZw0HSwVP2GD5emVz+fr+NJ/wj+lbQv2GHAOfu8/n/AErSooAzToGlnfmxh+fr8v8AL0/Ckk0DTGVttpCjFdoYIOPfB4z71p0UMDjL7RJI0UNpcLNEcx3FqoJ/4EjdfzpbaXSjabLnSAtyG+dBGQP97J6LXZVl6ha/6ZHdbnXCFNyc7ecjjuPWuCrSqUn7SnJ+d/66f8OTaxTt7LTJ5xHJplspmUlWjYMpx9On4VfGg6WGB+wwZC7fudv8feprKNGiWfyEjlYYJC4J/wD19at11UuZxvJ3KM0aBpQCgWMPynIyv8/X8aDoGlEMPsMOGOT8v+cVpUVqBnHQdLLMfsMHzDB+X+Xp+FA0HSwVP2GHKjA+T+fr+NaNFAGaNA0oKq/YocKcj5f85oOgaUQw+ww/McnC/wAvT8K0qKAM7+wtLyT9hg5G0/J2/wAfeqJh8NxuAYrbcmR9zP5+v41vHpXDiQQpJFJYyNIHPPl5yPTPb61x4vESo25et+4m7HSR6Jo8sKtHZwNGTuBA6/j/AEp50LSjv/0KH5uvy/y9Pwqvb213LpFgIpfJKFGkVlOWAYHHB9M0yPT9SWT57tScN+9BbqSf4c4xz6+npz1Qk5RTfUZb/sPSt2fsUGdu37vb/H360DQtKGzFlD8vT5f5+v41Qi0vU0MRa4DMnl5PmthsDByCD/PnrVjT7C+t7mFppQ0aJtP7wsT97rwAeoOeOlUBP/YGlbSv2GHBOfu/5/KlOg6WS5NjD83XC4/L0/CtGigDOGg6WGB+wwZA2/c7f4+9INA0oBR9hh+U5GV/n6/jWlRQBmnQNKIYfYYcMcn5f84pToOllmP2GD5hg/L/AC9PwrRooAzToOlkAfYYeBgfLRWlRQBHcf8AHvL/ALp/lXnGn3xsLoS7A6EFXQ/xKeor0ogEYIyKw7/wvZXeXhBt5D3Tp+VebmGFq1nGdJ6xJkm9jAN5p6KCtxcyRDGLdkAOAchS/wDdzWfeahJekFwB8zOcdyT/AIAD8K0G8KakLgRqI2Q/8tN2B+XWtyw8KWlvh7kmd/Q8L+VeWsLi6/uNcq/r+uxNmyvq9rLe+CLaKG2a5b/R2MS4yyh1LDnjoDWZY6ZrUV232CKfTdPmnkkS2yh2ARrgHqFDODwPfpmu1khP2byoT5eBhdvGKrLFfrLzMhj2kcjnOOO3rX0kI8sVHsaHGq3jD+zmDi9MrOvIEYZDsbPTqpbb6fXFTxQeKrgRPNc3kLOdrqgjAUfZwcjIP/LUYrpzFqpx++hGOoAP+FOaLUwh2zQ7uMZXA9+1UBx9zB4qvYbiCUXZE1kQQpRAr+UvA65y+R2PJ7YpPsniRI7s2n2uAESyx/LHukcRRbA3HJLBx+Fdh5Wpgj9/ERnJ4wf5fWnNHqHAWSPAA5I7457fWgDlL1PF0Rkit5rp4lmfy5QsZc/JGVyOBt3GT06CtLU59bmuoDBBexQqrIfI8vLShlwzbs/IRn/OK2Vj1H5w0sZ+UbTjvx7fX9KZIuqIx2PG69uMH+VAHNSL4rd5lR7pGLESNiPYv75dpi748vdnP860dEh1yHVV+2z3EtqRcKfNCYAWQCI8AclcmthI7/Me+SP/AG8Dr16cfSmpFqCRMGlRmAAX1JzyTx6UAaNFZwj1M5zNFg/7J4oWLVCV3zw477VOf84oA0aKzQNTMeMxh9x5PTHH/wBel26oWP7yIDH4Zyfb6UAaNFZ8aakJFMksJQHkAHOPypDHqYCnzYyd3IA7f5z+lAGjRSKSVGRg9xS0AFFFFABRRRQAUUUUAFFFFABRRRQAUUUUAFFFFABRRRQAUUUUAFBGetFFABRRRQAUUUUAFFFFABRRRQAHpXPnxHORI6WAZFJG4y4zj2xXQHpXLN4f1ICREltShJKls7lz6cVxYx1lb2V+u1v1E79Ddh1CF7O3uJSIvOIVQTn5j0FP/tGz80R/aIyxUtwcjA756djVRdHjl0+2t7lmJhXgoxHzetKNCtVjKBpAOxDYxwRx6feNdVO/KubcZaXULNpFjFxHubOBnr0/xpTfWojdxPGyohc7Wz8o6niqEPhywgUhA4BULw2OhBH4/KB9BT4dCtreCaOJnBkWRSxwfv4z+oqwLn26289oDKFkU4IYEDPHQng9R09aU3tqBk3EQ4zy46Zx/OoH0qCS4M0hdiW3BSeAcAf+yiqg8M2GFGH2qhQAEAYJye30/KgDRa/tEALXMXOMfMOcgkfoDTheWzdJ4zyBww6noKpHQrQvIwMg3kk4OOoIP6EikOgWJKkoSVZW5weQMD9KALxurcHBmjBB24LDr6U6KaKdS0UiuBwSpzVCTQ7aUHzGkOSSefU7iP8AvoZ/+txVu0sobMSCEEB2LH60AWKKKKACiiigAooooAKKKKACiiigAooooAKKKKACiiigAooooAKKKKACiiigAooooAKKKKACiiigAooooAKKKKACiiigAooooAKKKKACiiigAooooAKKKKACiiigAooooAKKKKACiiigAooooAKKKKACiiigAooooAKKKKACiiigAoooo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AutoShape 4" descr="data:image/jpeg;base64,/9j/4AAQSkZJRgABAQAAAQABAAD/2wBDAAgGBgcGBQgHBwcJCQgKDBQNDAsLDBkSEw8UHRofHh0aHBwgJC4nICIsIxwcKDcpLDAxNDQ0Hyc5PTgyPC4zNDL/2wBDAQkJCQwLDBgNDRgyIRwhMjIyMjIyMjIyMjIyMjIyMjIyMjIyMjIyMjIyMjIyMjIyMjIyMjIyMjIyMjIyMjIyMjL/wAARCAGzAf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Jx1oAKKTIxnNMY56UASUUgORS0AFFFFABRRRQAUUUUAFFFFABRRRQAUUUUAFFFFABRRRQAUUUUAFFFFABRRRQAUUUUAFFISB1oyMZoAWioyx3cVIORQAUUUUAFFFFABRRRQAUUUUAFFFFABRRRQAUUUUAFFFFABRRRQAUUUUAFFFFABRRRQAUUUUAFFFFABRRRQAU1xletOpjct7UANAwMU5V70qrjrTqACiiigAooqCWcKdq9e9AExYL1OKYZV96rGTJyaN1AFnzl9DTg6t0NVN9G+gC7RVaOfBwx49asE4GaAAnnFGT6D86Q8cD8aQ+5FADs+oxS0zpwelOHvQAtFFFABRRRQAUUUUAFFFFABRRRQAUUUZxQAyRc96b2ApxyWIpVXFAAq4p1FFABRRRQAUUUUAFFFFABRRRQAUmecUE9vWmn0HSgB2T6D86Ac+xppxnqKPY0APopAciloAKKKKACiiigAooooAKKKKACiiigAooooAKKKKACiimFucUAIxz0NKq9zQq9zT6ACiiigAooooAiuJfJhLd+grM833qbVpNgiXsST+WP8ay/PHSgC95vvR53vVHzh6ik8/wB6AL/ne9Hm1Q88etL549aALvme9XrWbzY9pPKn9KwzcD1q3pk+bzZnhlNAGyeDzRnH+NKRxzn60mB6/kKAA/dP1py96TBPt7UoGKAFooooAKKKKACiiigAooooAKKKDxQAE4qMnJoLbuKcq460ACrjk9adRRQAUUUUAFFFFABRRRQAUUUUAFFFFACHqKb0NPIyKaffj3oATtjGKOy+tGB9foKXaSc0AKvSloAwKKACiiigAooooAKKKKACiiigAooooAKKKKACiiigCMn5jTgvHNLgZpaACiiigAooooAKKKKAMTxJlLWKYdEbB/H/APVXM/bcd67m+tUvLOW3fpIuM+noa8tvvOsLuS2nG2SM4Pv7igDZ+3e9H24etc417jvTDf8AvQB03273oN72zXMC/wDepUvt52k/j6UAdCbz3rY8N7ri9kk/hjTr7n/JrihcM0ixRgs7EAAc7j7V6XoOmnTdNRJP9c/zSfX0/CgDUooqN5kRtrHmgCSigHIyKKACiiigAooooAKKKKACiiigAqPqcVJSYGaAAD160tFFABRRRQAUUUUAFFFFABRRRQAUUUUAFFFFABRRRQAUUUUAFFFFABRRRQAUUUUAFFFFABSHoaWigCLdjgmipNoooAWiiigAooooAKKKKACiiigArFv71o7mVN2NuMH04q9fX8dmo3EAnnmuavNY0d52e5eLzD1y5B/nQB18bbo1b1ANOrE0fxBZ6jcfZbeRXKpkbTngYFbEkiRKWdgqjuaAH1geJvDketWu+IrHdxj5HPRh6H2q82s2oJ273x6CoJPEESDi3lb8RQB43ffaLC5kt7mNopUOGVqz3vvevQ/FqQ+IVjcwCCWPgPnJI9DXiGtXGoWOs3NmsvEbYXCjpjI/SgDq1vGZsCrtrLNczJb2yPLK5wFUZLH2rnPC0Vxqv2hJLg4QqN+3qTnIHt0r07wns8OSySJai6kkGDI52lR6DrQB1XhXwodLRbu/2yXhHyqORFn09T711dYUPiaFxmS1lT6EGtG21S1uvuSYPowxQBcrF1KYpfYAY/IOg+tX9Slli06Z4MGUL8oJxk1yb6j4gTldO3j/AGZV/wAaAOws38y0jbPap65jTdTvmdftVtJCSwBDe59RxXT0AFFFFABRRRQAUUUUAFFFFABRRRQAUUUUAFFFFABRRRQAUUUUAFFFFABRRRQAUUUUAFFFFABRSEgdTiuX8Q+OdO0XfBGRdXnQRIeAfc0pSUVdmVWtCjHmqOyOlmnigjMkrqiKMlmOAK4/UPiXo1ndGGMT3IBwzxKMD8yM15trnifUtbkP2mc7O0SHCL/j9aq6Hol5r2opaWicnl3P3UX1Nc8qzbtE8Ktm9SpNQw6/zPfdN1C31TT4b22YtDKu5SRg/jVqqWk6bFpGlW1hCSUhTbk9SepP51droV7an0EOblXNv1CiiimUFFFFABRRRQAUUUUAFFFFABRRRQAUUUUAFFFFAGD4i+zIIZLmMOmGyD07Vz663ZBdtnamX2ghLfyFdL4lZotN89IvNMTAlfY8f4VzEWp6o6fJYJCnYySBR+mTQBoaBdTPey3J042sZTG+RQrOc+nX86k1a9Zg2WzWUNQukuALiaE5H3IyTj8aZezebGeaAK9pqOLh0J461rRyrKua4Wa5NvdMc4yDW1omo/aYV5zQBuTW6yAjFeOfEuxWz1mCVOPtEZD++0//AFx+Vezq4K8V5N8Wcf2hp3rsk/mtAGt8NtHjXQhc7gxnkZjx0xxj9K79IEjHQcVxXwvuA/hfy88xTOv65/rXV3t2Ioic0AOu5guFHer+nyDArl5LvzHj56it2xlCxA55NAG/dOs9g8DTNEGxtYHkHtWC9prVvzBd21wPRsoT/Olv7iOS2MUgLKecBip/MVmhrYpth1O4tX7JLhgPz5/WgDa0q71Ge/iivbVoirrg5BB59q7SuB8Mi8n1xEe+juoYlLsyLj2Hf/OK76gAooooAKKKKACiiigAooooAKKKKACiiigAooooAKKKKACiiigAooooAKKKKACiigkAc0AFVNQ1Oz0u2a4vJ1ijHdj19h61z/ifxvY6CrQRFbi9I4jU8L/vH+leQ6trV/rd2ZryZpGz8qj7qj0ArGdVR0W55eNzOFD3Iay/BHUeJviDe6kz2unb7a3PBb+N/wAun4VxbMRnnLnq1LuAGwn5um709q1PD3hu98Q6h9ngUpEpBlmI+VB/U+grmblJnzs51sVU11kyLQtBvNfv1trVflHMkhHyoPU/4V7hoOg2egaettapyeXkP3nb1NP0bRLPQ7FLW0j2qOWY/ec+pNaVdVOmo6vc+lwGAjho8z1kwooorU9EKKKKACiiigAooooAKKKKACiiigAooooAKKKKACiiigCOeGO4geKVdyOpBHtXhniafWPDetS201xJJbZzHnglT0Oe9e71k694d07xFZG2v4d2PuSKcMh9QaAPGrHWVlAbOCeTzWv/AGopj5aq+qfCjXtOlaTSLiG9gzwjt5cg/Pg/nT9G+HXie+mA1LytPgH3iZFkc/QKSPzNAHPavfrklW5zWh4Tus2qbTnPU+teo6f8PvDdjBsl06O8cjDSXY8wt+B4H4CuEt7CG21C5FtEsUHnP5aKMBV3HAH4UAdJA+UFeUfFWTdrVmn92En8z/8AWr1SAYQV5F8UH3eJol/u26/+hNQBsfCm6/0bUbbP3XVwPqMf0rrNakcW749K88+GNx5evXMOf9ZBn8iP8a9LvoPMjIxQBxA11Ld0Ex2445rpbPXY3gVlcEY9aveFPDtnc+IYJbmBJBES4DDIyBx+tdxrvg/S9cjy8Zt7kfduIcKw+vY/jQB5vd6yiKSW+b+Vcvd6lc6rdJY2+5zI2AqjJJ9q74fB4yTf6Rr8zQ5+6kAVsfUk/wAq7Lw/4L0Tw2N1jbE3BGGuJTukP49vwxQAzwX4f/4R7QY4JFxPId8vOSD6Zro6KKACiiigAooooAKKKKACiiigAooooAKKKKACiiigAooooAKKKKACiiigAooqjqurWejWTXV5MI0HT1Y+gHc0N2JlJRXNJ2RblmjgiaSR1RFGWZjgAV5h4s+IzSl7LRWKp0a57n/d9PrXPeKPGd54glaJCYLIH5Ygfve7etcwBk4HWuWpWb0ifOY7NJVPco6Lv3HMzyyFmJZ2PJPJNKTsGB97uaCQgwOW7n0rd8LeFbrxJe7VzHaIf3s3p7D1NYpNuyPJp0p1JKEFdsZ4Z8MXfiO92RAx2yH97MRwvsPU17fpWlWmj2EdpaRhI0H4k+pPc07TdMtdJso7SziEcSdAOp9z6mrldlOmoLzPrMDgYYaPeT3YUUUVod4UUUUAFFFFABRRRQAUUUUAFFFFABRRRQAUUUUAFFFFABRRRQAUUUUAFFFFAEV1J5VrLJ/cQt+QrzSKHDZ716FrD7NJuD6rj8ziuIC4oAkQYWvFviM+/wAWyD+7Eg/mf617T0WvDfHcm/xhe/7Owf8AjooAPAk/keLrTnAkDIfyz/Sva3TcteBeH5/s/iHT5egFwgP0Jwf519BLjYD3x+VAFvw4oh1ePP8AFkfoa7iuF06Tyr6Fyejg5/Gu6HSgAooooAKKKDwKACimqwanUAFFFFABRRRQAUUUUAFFFFABRRRQAUUUUAFFFFABRRRQAUUVyfi7xpb+H4TBAVlvmHEfZPdv8KUpKKuzOrWhRg5zdkX/ABH4psfDtrvnYPMw/dwqeW/wHvXiut6/e6/eG4vJMgcJGD8qD0Aqnf391qV291dzNLK5yWaqwBJwOtcc6jn6HymNx88S7bR7f5jgMnA5NPJ8sFR97ufT2ppOwYU/N3P9K6Dwt4ZufE97t5jtoz+9mx29B71CTbsjkp05VJKENWw8K+FbnxJegANHZxsPOmx09h717fp2nW2l2UdpaRLHDGMAAfqfejTtOtdKso7SziEcMYwAP5n3q1XZTpqK8z6zBYKOGj3k92FFFFaHcFFIxwM0BsigBaKKKACiiigAooooAKKKKACiiigAooooAKKKKACiikJ7DrQAucUmQe4puR6ZPqaM+ooAfRTQcdOlOoAKKKKAMvxA23SXHqyj9a4/NdZ4kONL/wC2g/rXIZoAezYQ14N4vk8zxZqLf9NMfkAK90lb5DXhHiVZbfxLfmWMq7SsyE+hPBoAzopPssqS/wDLRWDD/Zx/Wvoe0kEttG453KDXzkoaSQKqlnY4AHUmvoHRFlj0e0ScYlWFQ4z3xzQBqxnD5rvLaTzbWKT+8oNcArYNdposhk0uLJ6ZH60AaFFFITgUARq7buaXJJpOtSBcUAIqgc96dRRQAUUUUAFFFFABRRRQAUUUUAFBIHU0hPOBTcjsPxoAdkHvS0zPqKUHn27UAOooooAKKK4Dxv47Gmh9N0uQNd8rLKOkXsPf+VTKSirswxGIhQhzzZP408cxaOj2Gnssl8Rhm6iL6+/tXj09xLczPNM7SSOcszHJJpru8js7sWZjkknJNNrjnNyd2fJYvFzxM+aW3RCjJOB1p5IQYB+Y9TTQ20HA5PetTw9oF14h1NbW3GFHMspHCL6//WqUr6IwhCU5KMVdsn8MeGrrxJqAhjylumDNNjhR6D1PtXummaZa6TYR2dpEI4oxgDuT6n1NR6Po9pounR2dpGFjQcnux7kn1rQrsp01FeZ9ZgcFHDR11k9wooorQ7xDwOKjRz3qRjgUzqcUAAyTTwoHSgDFLQAUUUUAFFFFABRRRQAUUUUAFFFFABRRRQAUUUUAFNPU/SnUh4Oe1ADRwKM/U0YI6dKMfgKADvinjpTByafQAUUUUAY/iQE6UT6OtcaWrtvEIzo8n1X+dcO+VoAGbIrkfGHhtNZszJEAt1GMo3r7GunaSoi+aAPO/AvhiQ3h1C+hKeUxWNHH8Q6mvUVIUADpVNGA6VOr5oAsK3Ndf4bfdpzjush/kK41Dk11fhiT9zOnoQf8/lQB0BOBUe4mgkmnKuPrQAoGBS0UUAFFFFABRRRQAUUUUAFFFFABRRRQA09D9aSlPU56GkwaAF/kfWkHeihRQA+iiuM8c+Mk0K1+x2bhtQlHGD/ql/vH39BSlJRV2ZVq0KMHOexS8eeNhpsbaXpsgN24xLIP+WQ9B/tfyryNmLsWYkk8kmkkkeWRpHYs7HLMTkk0gyTgVxTm5O7PkMVip4mfNL5IWihvlOMjPtUtpaz313Fa20TSTSMFVV6k1BzKLbsizpGk3WtajHZWibpH6k9FHcn2r3jw9oFr4e05bW3GW6ySEcu3qf8ACqfhHwvB4c00KQr3coBmkx39B7CujrspU+VXe59Vl2BWHjzz+J/gFFFFanphSMcCgkCmZJOKADJbingcUAYpaACiiigAooooAKKKKACiiigAooooAKKKKACiiigAooooAKKKKAEx6cUYpaKACiiigAooooAzNfONKk9Sw/nXDyLya7XxAf8AQFX1cfyNcnJHmgDKlBFU3k2mtaSLg1h6iDCpcdqAJ0kzVuM5xWLp9wJ+Qcit2FNwGBz/ADoAsRDc2M4rpPDnE8idCU5HoQf8K5+EbM5GQwwea19Gl26rDjIDDZ19qAOvVcU6iigAooooAKKKqX+p2el2rXN7cRwxL/E56+w9TQJtJXZborynX/ipJIzQaNBsQcefIOT9F7fjXOWni/VxdC4Go3BlByVdyyn8OlYyrxR5VfOKFOVknLzR7zRWB4Y8T2/iG0JGIrqMDzIs/qPat+tU01dHpUqsKsFODumFFFFM0CiiigApMehIpaKAEAxS0VkeItetfD2lvd3DZbpHGOrt6Ck3ZXZM5xhFyk7JFHxf4qh8OacSpD3koIhiP/oR9hXhd3dTXt1Jc3EjSSyNuZm6k1Pq2q3WtajLe3b7pHPA7KOwHtVQrjGOQelcdSbmz5PHYuWJnp8K2GgZOBTziMYH3u59KCfLGB97ufSmVmcOwoBYgAZJ6CvZfAHhAaPajUbyMfb5lyFP/LJT2+p7/lXP/Djwl9qlXWr6P9yh/wBHRh95h/F9B29/pXrNdNGn9pn0GVYGy9vUWvT/ADCiiiug9wKaWwRTqay5NADcb+9PAwKAMfWloAKKKKACiiigAooooAKKKKACiiigAooooAKKKKACiiigAooooAKKKKACiiigAooooAKKKKAMTxA3ywL6kn+X+NYDLmtvxAczwj0Un/P5Vik0AVpE4rntcULayH2NdLIeK5zXz/ocv0NAHKeFZpd7xzKynduXcMZU9DXf26fID37VzV1aLp99oTYA8/SIGI/2uc/zFdNatuQE0AWVGfr/ADqe0k8m8gf0kU/rUOaZI3fPzCgD0WimRP5kSv8A3gDT6ACgnFVr7ULXTbR7m7mSGFBlnY8V5L4p+Il1qu+10wva2XRpekkn09B/n2qJzUdzmxOLp4dXk9ex2Xifx/YaIrwWxFzeqcFVPyof9o+vsP0ryLVdbvtdujPf3DO/8AzhVHoB2FZzuXOT+Aptcs6jlufNYrHVMQ9dF2FIIJBGDQCQQQcGnAhgFbqOh/pTSCDgjBqDiZt6HrM+lahDfW5xJGfmXPDDuD9a9702/h1PT4Ly3bdFKu4eo9j7181xvsfPbvXpXw01/wAi6k0iZ/kly8Gezdx+I5/D3rWjPldu56eU4n2NX2Mvhl+f/BPVKKKK6z6gKKKKACiio55o7eF5pXCRoCzMx4A9aAK+p6lbaTYS3l1IEijXJP8AQe9eC+JfEVz4j1RrmYlYl+WGLPCL/j6mtDxr4sk8RagYoSVsISRGvTef7x/pXKgZOBXJVqc2i2PmMxx3tpezh8K/EOSalD+UMdSfvU3/AFfA+93PpTKxPL2HsuBkcqehrd8I+HJPEesLCQRaxYed/RfQe5/xrEt45Jp0giQyPIwVUHViemK9+8KeH4vDuix2y4Mz/PM4/iY/0HStaUOZnoZfhPrFS7+Fb/5GzbwR21ukEKBI41CqqjAAHapKKK7D6sKKKKACiiigAooooAKKKKACiiigAooooAKKKKACiiigAooooAKKKKACiiigAooooAKKKKACiiigAooooAKKKKAOb8QN/pyD0jH8zWQTWn4gb/iYj/rmP5msktQAyQ8VzfiBwllKx67TgV0UrYXJrmNdzNEY+7kL+fFAGn47tPsi+F5gPuW7QMfoqEf1qSwk3Ritj4oW+fDtjMBzBdp+AKsP54rnNLkzEtAGzmoJm4NSZyKrzt8tAHoumSebpdq/rEv8qt1meHX8zQLNv9jH5EitOgDzj4sWl7LZWVwhY2ULN5yr2Y42k/qPbPvXk7NuPoB0HpX01cW8V1byQTRrJFIpVlYZBFeD+MvC8nhvVSIwzWUxLQOe3qp9xXNWg78x8/m2Fkpe2Wz3ObooorA8QKeCGG1jg9jTKKBhVywuZba4imik2SxMHRvQiqgBOcdqFbawNAn3R9H6HqsWs6Pb30ZH7xfmXP3WHBH51o15N8MNd+z6hLpMz/urj54s9nA5H4gfpXrPWu2nLmjc+wwWI+sUVPr19QoooqzrEJA6kCvIfiH4yOoTtpFhJ/oqHE8iniRh2HsP51ufETxj9ghbSLCX/SpB++dTzGp7fU/oK8h5J9656tT7KPBzTHb0Kb9f8hepp5PljA+93PpQR5XH8R7+lR1znhbC0UlaOiaTNrer29hBwZG+ZsfdXufwFCVxxi5SUY7s7r4X+G/NmbXLmPKRkpbhh1bu34dPz9K9WxgYFV7Cyh06xhs7dAkMKhUHsKsV3Qjyqx9lhcOqFJQXz9QoooqjoCiiigAooooAKKKKACiiigAooooAKKKKACiiigAooooAKKKKACiiigAooooAKKKKACiiigAooooAKKKKACiiigDk/EZxqY/65j+ZrI34GT+Va3ighdRQ/wDTIfzNYBegBZn4PNYcq+fq1hD133US/mwrUmf5TVLSk8/xXpaelwG/75Bb+lAHcfEGDz/BV9xzHskH4Op/lmvPtJk/cr9K9U8SQfafDGpQ45a1kA+u04/WvI9Ib9yv0oA6QN8tVrh+DT1b5RVecgqSeBQB6B4Sff4btvYuP/HjW3WB4Obd4ch4x87/APoRrfoAKzNf0W217SZrG5HDDKMByjdiK06KGr6EyipJxezPmrVdNudH1Gaxuk2yxNj2YdiPY1SzXt3xA8KDXNO+2Wseb+3HygDmRe6/XuP/AK9eIEYODXFOHK7HyWNwrw9S3R7DqVV3H27n0pqqWPoO59KVm42rwv8AOoOQczcbV+7/ADptNzS5oAs2l1LZ3MVxCxWWFw6N6EHIr6I0PVItZ0e2vocbZUBI/unoR+BzXzcDzXo3wr8Q+ReTaJO+Fm/eQZ/vDqPxHP4VrRlZ2PUynEezq8j2l+Z65XMeM/FcXhvTD5ZV72YFYYz2/wBo+wrY1nVrbRdLmvrp8RxjoOrHsB7mvn3WtXudd1SW+uTl3OFUdEXsorarPlVluermGM9hDlj8T/ApzTS3Vw80ztJLIxZmJyWJpPucD73c+lB+Tgfe7n0plch8u2OVhja3T19KRlKnBpKcrDG1unY+lAhtey/DPw7/AGdpJ1O4jxcXa/JkcrH2/Pr+Ved+D/Dza/4git3U/Zo/3k7DptHb8TxXvyII0VFACqMADoK3ow+0z2sowt260umw6iiiuk+gCiiigAooooAKKKKACiiigAooooAKKKKACiiigAooooAKKKKACiiigAooooAKKKKACiiigAooooAKKKKACiiigAooooA5LxYP9MhP/TP+tc0xxXUeK/8Aj6g/3D/OuYkFAFaZvlNTeEovN8ZWrf8APNJH/wDHSP61Xm6GtbwFFv8AEV1N/wA87fb+JYf4GgD0OaMSwSRno6lT+IrxDTFMa7D1U4Ne5V43JAINYv4uipcyAf8AfRoAuIfl5PFV7hsj29KnblMjoO3pVSbpQB6J4M/5FqH/AH3/APQjXQVg+Dl2+GLX3Ln/AMeNb1ABRRmkzQAteOfEfwp/Z99/a1om22nP74Dojnv9D/P617FmqupWMGp6dcWVwm6KZCjev1HvUTjzKxzYvDRxFNxe/Q+aWYY2rwv86bVzVtOn0nVLmxuBiSFypPqOx/EYNUq4j5CUWm0xaKTNGaCbC0R3M9jdwXls5SaJwyMOxHSjNGM8daBxbi7o6XxX4uufFD2ylDDBEg/dA5y+OT/Qf/XrnifLGB97ufSlXamVzhz/ABelRkbTg9abbbuzSrUnUk5zd2wzRmkopGIuaOppK634feHv7b19ZZlzaWmJJMjhm/hX8+fwppXdka0aUqs1CO7PS/APh/8AsPw+hmXF3c4llz1X0X8B+pNdXSDAFLXclZWR9lSpxpwUI7IKKKKZoFFFFABRRRQAUUUUAFFFFABRRRQAUUUUAFFFFABRRRQAUUUUAFFFFABRRRQAUUmaSgB1FNooAXNGaSigBc0hYAUU1wCMGgBd/Gc01mJ6U0cDAp4GOT1oAcCcc0uTSUZoA5XxWf8ASoP+uf8AWuZc10vizi5gP+wf51y7mgCtOeDXSfD2LnUp/VkQfgCT/MVzFwflNdp4Ai2aDLL/AM9bhj+AAH9KAOrryXVlKeKNRQ/89ifz5/rXrOa8s8Sp5fjC+H94o3/jgoAiBwtVZjU+flqtMetAHp3hZdnhqyGP4CfzYmtes3QlMehWKY5ECfqM1of8CAoAdRTckdenrS0ALRSUUAeYfFfQsrBrcK9P3M+PT+Fv6flXltfSuq6dDq2l3NjOP3cyFSfQ9j+B5r5xvbSWwvp7SddssLlGHuDXLWjZ3Pm81w/JU9otpfmQUUUAZOBWJ5QAZOBUhIjGB97ufSgnyxgfe7n0qOgewU9WDDa34H0plFAhSCpwetJTwwI2t26H0plAEkMEtw+yJCzele+eDdCTw/4dhgZR9pk/eTn/AGj2/AcfhXm3w10ZtS1l7mVAbW1w5JHWT+EfzP4V7MOmBXTRjpzHv5Thko+2e72FJJPFSAnFNAxS5rc9oWjNFFAC5NGTSUUALk0ZNJRQAuaM0lFAC5ozSUmSen50AOzRmm5/2hRn1oAfRTaKAHUU2lzQAtFJmjNAC0UZozQAUUZooAKKKKAG0UlFAC0ZpKKAFzSUZFNzigB2cU0nJ68UwtmlC96AHAYp1NooAdSZpKKAOY8XjBtH9Qw/lXIu1dl4wXOnwSf3ZMfmP/rVxBJPPagCC5b5CfavR/CMPkeF7EdC6mQ/8CJP8jXmV822E169YQfZdOtrfp5USp+QxQBZzXmnjJfL8WFv+ekKN/Mf0r0qvPPHq7dds5P70G38mP8AjQBjlvlquQZZVjB5YgVIx+QUumAy6zZpjO6ZQfpmgD1qCPyLaKBeiIF/IVJwOMn8KaTh8mk3deRj2NAD+V75BpRkEj0qMt8n48UueT+VAD80ZpuaM0AOzXkfxU0QW2pQatCmI7kbJSOzgcH8R/KvWs1keJ9IXXPD91Y4HmMu6Ins45H+H41E480bHLjKHtqLj16HzyMk4FPJEYwPvdz6UrqYWZCMSAkN7e1RVxnyOwuaKSigQtFJRRYBafFDJPII4o2dz0VRk0kUTzOEQZPXriu7+Heim71USTRL5dt+8ckZDk/cwfYgn8KcY3djfD0HWmoLqeieEtDXQPD9vaMB57DzJiO7nr+XT8K3hxTVGPrS5rtSsrI+whBQiox2Q7NGabmjNModmjNNzS5oAXNLmm0UAOoptFADqKbRmgBTzx60HJOB0pM8ikzhjmgBePU/lS9OD0NN3cdR+FL/AHRQA4HilpopaAFopKKAFopM0ZoAWiiigAozRRQAZooooAbmjNJRQAUUUlAC5phbnvSHOacBx2oAAMc0tJSZoAdmkzTc0hNAD80m6m5pN1AGT4oj83Qpjz+7ZX/XH9a8/wA59hXpOqbZdPmg7yKVFcRPpMsSHoaAMXZ9p1SztsZ8yZFI9iRXsGTXluh2rf8ACX2Kyj7pZvxCkivTN9AE2a4X4hp8+nTDt5in/wAdx/Wuz31yfjsLJp9oP4vOyPpigDkt2YhWl4Stjc+JYmIysCNIf5D9TUVpphkiVy4C1u6DFFpV28gbcJF2tx0oA7TdxgjIpNy/7RqqLqJvuyKfxp+/NAE5bNG6oN9G+gCfdRvqDfRvoAsbqN1V99G+gDxv4iaN/ZniR541xBeAzL6Bv4h+fP41yNe1ePdK/tbw3K6Lme1/fJ6kD7w/L+QrxWuSpG0j5bMaHsq7ts9QoopVUscDr6etZnBYSnIjOcKpJwT+FNrUwY4RKBuEcQKyN0cHgofzPvxTSZUY3Gi3WGGOeEZGw+Y0h+VgQOPrkkY68V7X4P0ldH8O28ZiEc0o82Rcngntz6DFeQ+EdMXWPFNtBsP2dG86RSc4VecficD8a9231vRXU93KqSd6tvInzRmod9Lvrc9klzS7qi3UbqAJd1G6ow3rS7qAH5pc1GDS5oAfmlzTM0ZoAfmim5paAF60Z4wwz7ikooAXj0J+tGDnOaKKAFoozRQAuaM0lFADqKbS5NAC0UmaWgAozRQehoAMiio8n0Y/SigB1FFFACUUUUAIcZoopM0ABpKUmm5oADTSaUkUxnAoACarPc5ZlU9DgmlknCiuNv8AxKmn6hNA4/iyPx5oA6a4+fJZifxrntSm8hGcMdo61VHimOb5eBnvmsbV9VEqfZoiC8nAGaALOhXvneKLecnuyj/vk16J5w9a800TR5YZkuGkZpF6Y4Arr4jNtGSTQBtGcetct4wuFZLRWI25fJ9OlahEjVn3+lx30eyaMOuc8jvQBzdpqZtyIs7o+xrqLOZGjD8c1zdx4XeJi1szj/ZJyP1qCG61HTXKXNnPs7OillP5dKAO6MiBc5FJa3o+1rCHG1geM9+tcJda7dzfJbwXDf7sbVa8Ow6vJqa3FxbyxxqDjfxknjpQB6KG460ufeqcXmYGamBagCbJ9aUtxUBYjjPNN3NigCYvSeZVZ2fGRVeR5scUAXmkBBU4IIwQa8N8SaX/AGRrtzaqMRbt0X+4eR/h+Ferz3F4oO1SfwrhvF9pe37R3RhctEu04XqvX/H86yqxujzsyw7q0bxWqOLopWUqcMCPrTsiLuN/8v8A69cx81yPqh5AIwR+9/z+tRZOMZ49KTPPWp4o3upFRBmVjgD1oGk5OyPRPhjYGG1u9RdcGVhFGfYcn9SPyr0IS5ri9Du57LT4LRIl8uJdowOvqa6GG8kYcx4rsiuVWPrsNS9jSjDsaokp4eqaSk/w1Ore1Ubk4anA8VGp4zTx0oAdSg0DBpQKAFpwpAKWgApaKWgAooFLigBaKKKAClpMUtABRRS0AFFFFABRRRQAUuaSlxQAtFFFACYHoKKWigBlFFJQAUE0UhoATNJS0lABTSadSYoAYaaRUhFNxQBA8SsORWHqXhPS9Uk8y5t8vjG4MQf0rottBWgDiz8P9J6DzwM5wJm/xq5Z+ENLsTuht/n7sxLH8zXTbfajZ7UAZiafGgwqgVKLcdhV3bSbaAKnkjsOKTyB6Vb2e1Gz2oApm3U9qT7MndRiruyk2UAU/ssY/hH5U4QgdBVrZRsoAr7KNuKsFabsoAg20hU1Y2UbKAKu000x57Vb2e1Hl0AUTFmmNbgjGK0PL9qPLFAGS1gn90Z+lRHTImPMan6itryhS+VQBhf2Lat963iP1QVLDpFnA4aO1hVvURjNbHlD0pfL9qAsUhbr2UA/SpVjA7CrPl0uygCELjtUgFPCUu3NACCnA0BaXFACinA0mKUCgBwNKDTaUCgBwpc0nQUUAOozSUUAOzS02lFAC5paSigBaM0lLQAtFJRQAtFFFABS5pKKAHUU2lzQAtFGaKAGUlLRQAlFLikoATFJTqKAG0lPPNJigBtJinYoIoAbikIp+KMUAM20badRigBhHNJipMUYoAjxRtqTFGKAI9tJtqXFIRQBHijFSbaTbQBHto21JtpdtAEW2jbUm2jbQBHtpNlS7aXbQBDso2VLto20ARbPal2VJto20AR7aNtSbaNtAEe2lC1IBilxQBHto20/FLigCPFGKkxRigBu2jbTqMUAIBRj0p2KMUAJiilxRigBMUtLijFACUoFLRQAUUUuKAEpaKKACiilxQAUUUUAFFFFABRRRQAUUUUAFJilooASilooASilxSUAJiilooASjrS0UAJijFLRQAmBSYp2KMUANxRinYpKAExRtp2KTFACbaTHNPpKAG4oxTqKAG4oxTqKAG4oxTqWgBmKMU6igBuKXbS0UAJto20tFACbaNtOxRQA3bRtp2KMUAN20Yp2KMUANxRinUUAIBRgUtFACYoxS0UAJRilooATFGKWjFABRS4ooASilooATFLRRQAUUUUAFFFFABRRS4oASlxS4ooATFFLRQA2inYFJigBKKXFGKAEooxRigAooJApM/5xQAtFFFABRRRQAYoxRRQAYoxRRQAYoxRRQAYoxRRQAYpMUtFABikPApg3BuaXkmgBQc96dikAx9aWgAxRiiigAxRiiigAxRiiigAxRiiigAxRiikyM4oAXFGKTIpaACiiigAooooAKKKKACiiigAopcUYoASilxRigBKKUjjio1yOtADicCgHPTmkAJNSAYoAbS4paKADFGKKKACiiigAooooAKKKKAM2bQdLEEpFlD0Lfd7/ANPpXDbLb/n1h/74FelT/wDHvJ/un+VcJokaNcTzyKHFtC0oU9yOleLmilKpThF2vf8AQiW5EmmSPH5iaWSnXIh6/pVYx24ODaRAjr8graeRVkja5kvJJnRZXmifAiDdMD05FV9ZjYKksuPPWRoZGHG8jBDfka86tScYOUZPTz/r9fUlo2E0/SbfRILmawR/MEQwi5YsxAAHpyRToovDrh2lt7e2cP5LJOoQhsA4weM4IOR61aS1a98O2caTLC6iGVXZdwBRlYZGR6etVZfDbzvNOb5TcXKOkzmEFSjBRhVzxgIMEk985r6el/Dj6I1RZGm6CpU+VZ5Xpkj+9t59eeOe/FVvI8Nny1jS0kVnI3oQwUhSx3HPAwD1pR4VhF/9pFy+3fuEZGRt+9tz/wBdPnz+FE3haKaGKP7QVEcKRcIOdqOoP/j3T2x3rQB5tPDbIr/6BtnbapDrhiD0Xn+VEdr4fmvzaRQ2skyxsWVACFCkA59Dkj3qC68LzXRldtRUSTMWk2wkLkhAMAN6IOpPfpVzTtFayvUmN0skcMLwxoItpAZg3zNnk8egoAp2v/CMXEKyqtmioWK+YyjIBxu68jPrUz23hmNQrtYKHHmLmRRkeoOen6UL4bWP5o7gCYeWUdo8gFGZhkZ5B3+o6Utt4bSBtxn3sZUlY+Xj5ld3OOeBlzj0oAspoujzx+bHaW7pKAQyAYI9Rjp+FPGg6WGB+wwZA2/c7f4+9WLC0FjYxWofeIxjdjGas0AZo0DSgFAsYflORlf5+v40HQNKIYfYYcMcn5f84rSooAzjoOllmP2GD5hg/J/L0/CgaDpYKn7DBlRgfJ/P1/GtGigDNGgaUFVfsMOFOR8v+c0HQNKIYfYYfmOThcfl6fhWlRQBnf2Dpe4n7DBkjb9z/PPvQNB0sFSLGH5emV/n6/jWjRQBm/8ACP6VtC/YYcA7vu85+v8ASg6BpR3/AOgw/P1wv8vT8K0qKAM7+wdLzn7DBnbt+5xj/H360g0HSxsxYw/L0+X+fr+NaVFAGb/YGlbSv2GHBOfu8/n/AEpToOlkufsMPzdcLj8vT8K0aKAM4aDpYYH7DBkDb9zt/j70g0DSgFAsYflORlf5+v41pUUAZp0DSiGH2GHDHJ+X/OKU6DpZZj9hg+YYPyfy9PwrRooAzhoOlgqfsMGVGB8n8/X8aQaBpQVV+ww4U5Hy/wCc1pUUAZp0DSiGH2GH5jk4XH5en4Uv9g6Xkn7DBkjafk/zz71o0UAZw0HSwVP2GD5emVz+fr+NJ/wj+lbQv2GHAOfu8/n/AErSooAzToGlnfmxh+fr8v8AL0/Ckk0DTGVttpCjFdoYIOPfB4z71p0UMDjL7RJI0UNpcLNEcx3FqoJ/4EjdfzpbaXSjabLnSAtyG+dBGQP97J6LXZVl6ha/6ZHdbnXCFNyc7ecjjuPWuCrSqUn7SnJ+d/66f8OTaxTt7LTJ5xHJplspmUlWjYMpx9On4VfGg6WGB+wwZC7fudv8feprKNGiWfyEjlYYJC4J/wD19at11UuZxvJ3KM0aBpQCgWMPynIyv8/X8aDoGlEMPsMOGOT8v+cVpUVqBnHQdLLMfsMHzDB+X+Xp+FA0HSwVP2GHKjA+T+fr+NaNFAGaNA0oKq/YocKcj5f85oOgaUQw+ww/McnC/wAvT8K0qKAM7+wtLyT9hg5G0/J2/wAfeqJh8NxuAYrbcmR9zP5+v41vHpXDiQQpJFJYyNIHPPl5yPTPb61x4vESo25et+4m7HSR6Jo8sKtHZwNGTuBA6/j/AEp50LSjv/0KH5uvy/y9Pwqvb213LpFgIpfJKFGkVlOWAYHHB9M0yPT9SWT57tScN+9BbqSf4c4xz6+npz1Qk5RTfUZb/sPSt2fsUGdu37vb/H360DQtKGzFlD8vT5f5+v41Qi0vU0MRa4DMnl5PmthsDByCD/PnrVjT7C+t7mFppQ0aJtP7wsT97rwAeoOeOlUBP/YGlbSv2GHBOfu/5/KlOg6WS5NjD83XC4/L0/CtGigDOGg6WGB+wwZA2/c7f4+9INA0oBR9hh+U5GV/n6/jWlRQBmnQNKIYfYYcMcn5f84pToOllmP2GD5hg/L/AC9PwrRooAzToOlkAfYYeBgfLRWlRQBHcf8AHvL/ALp/lXnGn3xsLoS7A6EFXQ/xKeor0ogEYIyKw7/wvZXeXhBt5D3Tp+VebmGFq1nGdJ6xJkm9jAN5p6KCtxcyRDGLdkAOAchS/wDdzWfeahJekFwB8zOcdyT/AIAD8K0G8KakLgRqI2Q/8tN2B+XWtyw8KWlvh7kmd/Q8L+VeWsLi6/uNcq/r+uxNmyvq9rLe+CLaKG2a5b/R2MS4yyh1LDnjoDWZY6ZrUV232CKfTdPmnkkS2yh2ARrgHqFDODwPfpmu1khP2byoT5eBhdvGKrLFfrLzMhj2kcjnOOO3rX0kI8sVHsaHGq3jD+zmDi9MrOvIEYZDsbPTqpbb6fXFTxQeKrgRPNc3kLOdrqgjAUfZwcjIP/LUYrpzFqpx++hGOoAP+FOaLUwh2zQ7uMZXA9+1UBx9zB4qvYbiCUXZE1kQQpRAr+UvA65y+R2PJ7YpPsniRI7s2n2uAESyx/LHukcRRbA3HJLBx+Fdh5Wpgj9/ERnJ4wf5fWnNHqHAWSPAA5I7457fWgDlL1PF0Rkit5rp4lmfy5QsZc/JGVyOBt3GT06CtLU59bmuoDBBexQqrIfI8vLShlwzbs/IRn/OK2Vj1H5w0sZ+UbTjvx7fX9KZIuqIx2PG69uMH+VAHNSL4rd5lR7pGLESNiPYv75dpi748vdnP860dEh1yHVV+2z3EtqRcKfNCYAWQCI8AclcmthI7/Me+SP/AG8Dr16cfSmpFqCRMGlRmAAX1JzyTx6UAaNFZwj1M5zNFg/7J4oWLVCV3zw477VOf84oA0aKzQNTMeMxh9x5PTHH/wBel26oWP7yIDH4Zyfb6UAaNFZ8aakJFMksJQHkAHOPypDHqYCnzYyd3IA7f5z+lAGjRSKSVGRg9xS0AFFFFABRRRQAUUUUAFFFFABRRRQAUUUUAFFFFABRRRQAUUUUAFBGetFFABRRRQAUUUUAFFFFABRRRQAHpXPnxHORI6WAZFJG4y4zj2xXQHpXLN4f1ICREltShJKls7lz6cVxYx1lb2V+u1v1E79Ddh1CF7O3uJSIvOIVQTn5j0FP/tGz80R/aIyxUtwcjA756djVRdHjl0+2t7lmJhXgoxHzetKNCtVjKBpAOxDYxwRx6feNdVO/KubcZaXULNpFjFxHubOBnr0/xpTfWojdxPGyohc7Wz8o6niqEPhywgUhA4BULw2OhBH4/KB9BT4dCtreCaOJnBkWRSxwfv4z+oqwLn26289oDKFkU4IYEDPHQng9R09aU3tqBk3EQ4zy46Zx/OoH0qCS4M0hdiW3BSeAcAf+yiqg8M2GFGH2qhQAEAYJye30/KgDRa/tEALXMXOMfMOcgkfoDTheWzdJ4zyBww6noKpHQrQvIwMg3kk4OOoIP6EikOgWJKkoSVZW5weQMD9KALxurcHBmjBB24LDr6U6KaKdS0UiuBwSpzVCTQ7aUHzGkOSSefU7iP8AvoZ/+txVu0sobMSCEEB2LH60AWKKKKACiiigAooooAKKKKACiiigAooooAKKKKACiiigAooooAKKKKACiiigAooooAKKKKACiiigAooooAKKKKACiiigAooooAKKKKACiiigAooooAKKKKACiiigAooooAKKKKACiiigAooooAKKKKACiiigAooooAKKKKACiiigAooooA/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AutoShape 10"/>
          <p:cNvSpPr>
            <a:spLocks noChangeArrowheads="1"/>
          </p:cNvSpPr>
          <p:nvPr/>
        </p:nvSpPr>
        <p:spPr bwMode="auto">
          <a:xfrm>
            <a:off x="2451735" y="1055198"/>
            <a:ext cx="4240530" cy="37626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GB" sz="1600" kern="0" dirty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传递过来一个数字</a:t>
            </a:r>
            <a:r>
              <a:rPr lang="en-US" altLang="zh-CN" sz="1600" kern="0" dirty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n</a:t>
            </a:r>
            <a:r>
              <a:rPr lang="zh-CN" altLang="en-GB" sz="1600" kern="0" dirty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，求第</a:t>
            </a:r>
            <a:r>
              <a:rPr lang="en-US" altLang="zh-CN" sz="1600" kern="0" dirty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n </a:t>
            </a:r>
            <a:r>
              <a:rPr lang="zh-CN" altLang="en-US" sz="1600" kern="0" dirty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个斐波那契数</a:t>
            </a:r>
            <a:endParaRPr lang="zh-CN" altLang="en-US" sz="1600" kern="0" dirty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465" y="195580"/>
            <a:ext cx="3665220" cy="368300"/>
          </a:xfrm>
        </p:spPr>
        <p:txBody>
          <a:bodyPr wrap="square"/>
          <a:lstStyle/>
          <a:p>
            <a:r>
              <a:rPr lang="zh-CN" altLang="en-US" dirty="0"/>
              <a:t>课堂</a:t>
            </a:r>
            <a:r>
              <a:rPr lang="zh-CN" altLang="en-US" dirty="0"/>
              <a:t>案例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437515" y="1084580"/>
            <a:ext cx="8179435" cy="133258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1905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lvl="1" algn="l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编程实现：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defRPr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月工资按天发放，第一天给你一分钱，然后，后一天是前一天的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倍，那么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天后工资为多少？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概念图总结</a:t>
            </a:r>
            <a:endParaRPr lang="zh-CN" altLang="en-US" dirty="0"/>
          </a:p>
        </p:txBody>
      </p:sp>
      <p:pic>
        <p:nvPicPr>
          <p:cNvPr id="3" name="图片 2" descr="VPG`AGG(_%{1[XLH@LN96U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3950" y="575945"/>
            <a:ext cx="6448425" cy="4525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作业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使用递归完成以下</a:t>
            </a:r>
            <a:r>
              <a:rPr lang="zh-CN" altLang="en-US" dirty="0"/>
              <a:t>作业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求</a:t>
            </a:r>
            <a:r>
              <a:rPr lang="en-US" altLang="zh-CN" dirty="0"/>
              <a:t>n-m</a:t>
            </a:r>
            <a:r>
              <a:rPr lang="zh-CN" altLang="en-US" dirty="0"/>
              <a:t>的累加和</a:t>
            </a:r>
            <a:endParaRPr lang="zh-CN" altLang="en-US" dirty="0"/>
          </a:p>
          <a:p>
            <a:pPr lvl="1">
              <a:defRPr/>
            </a:pPr>
            <a:r>
              <a:rPr lang="zh-CN" altLang="en-US" dirty="0"/>
              <a:t>求</a:t>
            </a:r>
            <a:r>
              <a:rPr lang="en-US" altLang="zh-CN" dirty="0"/>
              <a:t>n</a:t>
            </a:r>
            <a:r>
              <a:rPr lang="zh-CN" altLang="en-US" dirty="0"/>
              <a:t>的阶乘</a:t>
            </a:r>
            <a:endParaRPr lang="zh-CN" altLang="en-US" dirty="0"/>
          </a:p>
          <a:p>
            <a:pPr lvl="1">
              <a:defRPr/>
            </a:pPr>
            <a:r>
              <a:rPr lang="zh-CN" altLang="en-US" dirty="0"/>
              <a:t>猴子每天吃的比前一天的一半还多</a:t>
            </a:r>
            <a:r>
              <a:rPr lang="en-US" altLang="zh-CN" dirty="0"/>
              <a:t>1</a:t>
            </a:r>
            <a:r>
              <a:rPr lang="zh-CN" altLang="en-US" dirty="0"/>
              <a:t>个桃，第十天的时候剩一个桃子，问第一天猴子有多少个桃子？</a:t>
            </a:r>
            <a:endParaRPr lang="zh-CN" altLang="en-US" dirty="0"/>
          </a:p>
          <a:p>
            <a:pPr marL="457200" lvl="1" indent="0">
              <a:buNone/>
              <a:defRPr/>
            </a:pPr>
            <a:endParaRPr lang="zh-CN" altLang="en-US" dirty="0"/>
          </a:p>
          <a:p>
            <a:pPr marL="0" indent="0">
              <a:buNone/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9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" y="138184"/>
            <a:ext cx="2257425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</p:sld>
</file>

<file path=ppt/tags/tag1.xml><?xml version="1.0" encoding="utf-8"?>
<p:tagLst xmlns:p="http://schemas.openxmlformats.org/presentationml/2006/main">
  <p:tag name="KSO_WM_DOC_GUID" val="{afe4f600-54ab-4c53-a9b9-1b8e6756ecce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2127</Words>
  <Application>WPS 演示</Application>
  <PresentationFormat>全屏显示(16:9)</PresentationFormat>
  <Paragraphs>323</Paragraphs>
  <Slides>31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1" baseType="lpstr">
      <vt:lpstr>Arial</vt:lpstr>
      <vt:lpstr>宋体</vt:lpstr>
      <vt:lpstr>Wingdings</vt:lpstr>
      <vt:lpstr>黑体</vt:lpstr>
      <vt:lpstr>Calibri</vt:lpstr>
      <vt:lpstr>微软雅黑</vt:lpstr>
      <vt:lpstr>Browallia New</vt:lpstr>
      <vt:lpstr>Tahoma</vt:lpstr>
      <vt:lpstr>Times New Roman</vt:lpstr>
      <vt:lpstr>Segoe Print</vt:lpstr>
      <vt:lpstr>楷体_GB2312</vt:lpstr>
      <vt:lpstr>仿宋</vt:lpstr>
      <vt:lpstr>Arial Unicode MS</vt:lpstr>
      <vt:lpstr>Dotum</vt:lpstr>
      <vt:lpstr>Malgun Gothic</vt:lpstr>
      <vt:lpstr>Arial</vt:lpstr>
      <vt:lpstr>Impact</vt:lpstr>
      <vt:lpstr>Dotum</vt:lpstr>
      <vt:lpstr>新宋体</vt:lpstr>
      <vt:lpstr>Office 主题</vt:lpstr>
      <vt:lpstr>第十五单元</vt:lpstr>
      <vt:lpstr>PowerPoint 演示文稿</vt:lpstr>
      <vt:lpstr>回顾</vt:lpstr>
      <vt:lpstr>贯穿案例</vt:lpstr>
      <vt:lpstr>知识目标</vt:lpstr>
      <vt:lpstr>为什么使用匿名函数 </vt:lpstr>
      <vt:lpstr>什么是匿名函数</vt:lpstr>
      <vt:lpstr>如何使用匿名函数 </vt:lpstr>
      <vt:lpstr>匿名函数的作用 </vt:lpstr>
      <vt:lpstr>课堂编程</vt:lpstr>
      <vt:lpstr>课堂编程</vt:lpstr>
      <vt:lpstr>课堂案例</vt:lpstr>
      <vt:lpstr>小结</vt:lpstr>
      <vt:lpstr>PowerPoint 演示文稿</vt:lpstr>
      <vt:lpstr>知识回顾</vt:lpstr>
      <vt:lpstr>为什么使用递归函数</vt:lpstr>
      <vt:lpstr>为什么使用递归函数</vt:lpstr>
      <vt:lpstr>为什么使用递归函数 </vt:lpstr>
      <vt:lpstr>什么是递归函数</vt:lpstr>
      <vt:lpstr>递归函数的应用</vt:lpstr>
      <vt:lpstr>递归函数的作用</vt:lpstr>
      <vt:lpstr>PowerPoint 演示文稿</vt:lpstr>
      <vt:lpstr>斐波那契数列案例</vt:lpstr>
      <vt:lpstr>斐波那契数列案例</vt:lpstr>
      <vt:lpstr>斐波那契数列案例</vt:lpstr>
      <vt:lpstr>斐波那契数列案例</vt:lpstr>
      <vt:lpstr>课堂编程</vt:lpstr>
      <vt:lpstr>综合案例</vt:lpstr>
      <vt:lpstr>概念图总结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姚慧</cp:lastModifiedBy>
  <cp:revision>3697</cp:revision>
  <dcterms:created xsi:type="dcterms:W3CDTF">2006-03-08T06:55:00Z</dcterms:created>
  <dcterms:modified xsi:type="dcterms:W3CDTF">2020-11-20T03:02:49Z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