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7" r:id="rId4"/>
    <p:sldMasterId id="2147483676" r:id="rId5"/>
    <p:sldMasterId id="2147483685" r:id="rId6"/>
    <p:sldMasterId id="2147483693" r:id="rId7"/>
    <p:sldMasterId id="2147483702" r:id="rId8"/>
    <p:sldMasterId id="2147483710" r:id="rId9"/>
    <p:sldMasterId id="2147483719" r:id="rId10"/>
    <p:sldMasterId id="2147483728" r:id="rId11"/>
    <p:sldMasterId id="2147483737" r:id="rId12"/>
    <p:sldMasterId id="2147483746" r:id="rId13"/>
    <p:sldMasterId id="2147483755" r:id="rId14"/>
    <p:sldMasterId id="2147483764" r:id="rId15"/>
  </p:sldMasterIdLst>
  <p:notesMasterIdLst>
    <p:notesMasterId r:id="rId17"/>
  </p:notesMasterIdLst>
  <p:handoutMasterIdLst>
    <p:handoutMasterId r:id="rId58"/>
  </p:handoutMasterIdLst>
  <p:sldIdLst>
    <p:sldId id="2666" r:id="rId16"/>
    <p:sldId id="2288" r:id="rId18"/>
    <p:sldId id="2289" r:id="rId19"/>
    <p:sldId id="2291" r:id="rId20"/>
    <p:sldId id="2374" r:id="rId21"/>
    <p:sldId id="2375" r:id="rId22"/>
    <p:sldId id="2439" r:id="rId23"/>
    <p:sldId id="2293" r:id="rId24"/>
    <p:sldId id="2295" r:id="rId25"/>
    <p:sldId id="2296" r:id="rId26"/>
    <p:sldId id="2298" r:id="rId27"/>
    <p:sldId id="2299" r:id="rId28"/>
    <p:sldId id="2300" r:id="rId29"/>
    <p:sldId id="2301" r:id="rId30"/>
    <p:sldId id="2302" r:id="rId31"/>
    <p:sldId id="2538" r:id="rId32"/>
    <p:sldId id="2050" r:id="rId33"/>
    <p:sldId id="2052" r:id="rId34"/>
    <p:sldId id="2570" r:id="rId35"/>
    <p:sldId id="2571" r:id="rId36"/>
    <p:sldId id="2574" r:id="rId37"/>
    <p:sldId id="2607" r:id="rId38"/>
    <p:sldId id="2642" r:id="rId39"/>
    <p:sldId id="2572" r:id="rId40"/>
    <p:sldId id="2053" r:id="rId41"/>
    <p:sldId id="2236" r:id="rId42"/>
    <p:sldId id="2639" r:id="rId43"/>
    <p:sldId id="2573" r:id="rId44"/>
    <p:sldId id="2054" r:id="rId45"/>
    <p:sldId id="2055" r:id="rId46"/>
    <p:sldId id="2056" r:id="rId47"/>
    <p:sldId id="2057" r:id="rId48"/>
    <p:sldId id="2498" r:id="rId49"/>
    <p:sldId id="2060" r:id="rId50"/>
    <p:sldId id="2659" r:id="rId51"/>
    <p:sldId id="2640" r:id="rId52"/>
    <p:sldId id="2660" r:id="rId53"/>
    <p:sldId id="2641" r:id="rId54"/>
    <p:sldId id="2076" r:id="rId55"/>
    <p:sldId id="2078" r:id="rId56"/>
    <p:sldId id="2079" r:id="rId57"/>
  </p:sldIdLst>
  <p:sldSz cx="9144000" cy="5143500" type="screen16x9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4" userDrawn="1">
          <p15:clr>
            <a:srgbClr val="A4A3A4"/>
          </p15:clr>
        </p15:guide>
        <p15:guide id="2" orient="horz" pos="2098" userDrawn="1">
          <p15:clr>
            <a:srgbClr val="A4A3A4"/>
          </p15:clr>
        </p15:guide>
        <p15:guide id="3" pos="28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C037D"/>
    <a:srgbClr val="E7FEFF"/>
    <a:srgbClr val="FDFEE8"/>
    <a:srgbClr val="FDF0E7"/>
    <a:srgbClr val="E7F4FF"/>
    <a:srgbClr val="5AADD6"/>
    <a:srgbClr val="D5EBFF"/>
    <a:srgbClr val="E1FEFF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/>
    <p:restoredTop sz="90647" autoAdjust="0"/>
  </p:normalViewPr>
  <p:slideViewPr>
    <p:cSldViewPr showGuides="1">
      <p:cViewPr varScale="1">
        <p:scale>
          <a:sx n="89" d="100"/>
          <a:sy n="89" d="100"/>
        </p:scale>
        <p:origin x="780" y="84"/>
      </p:cViewPr>
      <p:guideLst>
        <p:guide orient="horz" pos="1444"/>
        <p:guide orient="horz" pos="2098"/>
        <p:guide pos="28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Master" Target="slideMasters/slideMaster5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41.xml"/><Relationship Id="rId56" Type="http://schemas.openxmlformats.org/officeDocument/2006/relationships/slide" Target="slides/slide40.xml"/><Relationship Id="rId55" Type="http://schemas.openxmlformats.org/officeDocument/2006/relationships/slide" Target="slides/slide39.xml"/><Relationship Id="rId54" Type="http://schemas.openxmlformats.org/officeDocument/2006/relationships/slide" Target="slides/slide38.xml"/><Relationship Id="rId53" Type="http://schemas.openxmlformats.org/officeDocument/2006/relationships/slide" Target="slides/slide37.xml"/><Relationship Id="rId52" Type="http://schemas.openxmlformats.org/officeDocument/2006/relationships/slide" Target="slides/slide36.xml"/><Relationship Id="rId51" Type="http://schemas.openxmlformats.org/officeDocument/2006/relationships/slide" Target="slides/slide35.xml"/><Relationship Id="rId50" Type="http://schemas.openxmlformats.org/officeDocument/2006/relationships/slide" Target="slides/slide3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3.xml"/><Relationship Id="rId48" Type="http://schemas.openxmlformats.org/officeDocument/2006/relationships/slide" Target="slides/slide32.xml"/><Relationship Id="rId47" Type="http://schemas.openxmlformats.org/officeDocument/2006/relationships/slide" Target="slides/slide31.xml"/><Relationship Id="rId46" Type="http://schemas.openxmlformats.org/officeDocument/2006/relationships/slide" Target="slides/slide30.xml"/><Relationship Id="rId45" Type="http://schemas.openxmlformats.org/officeDocument/2006/relationships/slide" Target="slides/slide29.xml"/><Relationship Id="rId44" Type="http://schemas.openxmlformats.org/officeDocument/2006/relationships/slide" Target="slides/slide28.xml"/><Relationship Id="rId43" Type="http://schemas.openxmlformats.org/officeDocument/2006/relationships/slide" Target="slides/slide27.xml"/><Relationship Id="rId42" Type="http://schemas.openxmlformats.org/officeDocument/2006/relationships/slide" Target="slides/slide26.xml"/><Relationship Id="rId41" Type="http://schemas.openxmlformats.org/officeDocument/2006/relationships/slide" Target="slides/slide25.xml"/><Relationship Id="rId40" Type="http://schemas.openxmlformats.org/officeDocument/2006/relationships/slide" Target="slides/slide2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3.xml"/><Relationship Id="rId38" Type="http://schemas.openxmlformats.org/officeDocument/2006/relationships/slide" Target="slides/slide22.xml"/><Relationship Id="rId37" Type="http://schemas.openxmlformats.org/officeDocument/2006/relationships/slide" Target="slides/slide21.xml"/><Relationship Id="rId36" Type="http://schemas.openxmlformats.org/officeDocument/2006/relationships/slide" Target="slides/slide20.xml"/><Relationship Id="rId35" Type="http://schemas.openxmlformats.org/officeDocument/2006/relationships/slide" Target="slides/slide19.xml"/><Relationship Id="rId34" Type="http://schemas.openxmlformats.org/officeDocument/2006/relationships/slide" Target="slides/slide18.xml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fld id="{DB3C531B-D83C-493A-84AD-316F78881EC3}" type="slidenum">
              <a:rPr lang="zh-CN" altLang="en-US" strike="noStrike" noProof="1">
                <a:latin typeface="Tahoma" panose="020B0604030504040204" pitchFamily="34" charset="0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8909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9093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0"/>
            <a:r>
              <a:rPr lang="en-US" altLang="zh-CN"/>
              <a:t>Second level</a:t>
            </a:r>
            <a:endParaRPr lang="en-US" altLang="zh-CN"/>
          </a:p>
          <a:p>
            <a:pPr lvl="2" indent="0"/>
            <a:r>
              <a:rPr lang="en-US" altLang="zh-CN"/>
              <a:t>Third level</a:t>
            </a:r>
            <a:endParaRPr lang="en-US" altLang="zh-CN"/>
          </a:p>
          <a:p>
            <a:pPr lvl="3" indent="0"/>
            <a:r>
              <a:rPr lang="en-US" altLang="zh-CN"/>
              <a:t>Fourth level</a:t>
            </a:r>
            <a:endParaRPr lang="en-US" altLang="zh-CN"/>
          </a:p>
          <a:p>
            <a:pPr lvl="4" indent="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 fontAlgn="base">
              <a:defRPr/>
            </a:pPr>
            <a:fld id="{CB801823-96DB-4EC2-991A-2DEE593AD1DA}" type="slidenum">
              <a:rPr lang="zh-CN" altLang="en-US" strike="noStrike" noProof="1">
                <a:latin typeface="Tahoma" panose="020B0604030504040204" pitchFamily="34" charset="0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9318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4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dirty="0"/>
              <a:t>大数据时代需要大量的数据，如何快速的获取数据</a:t>
            </a:r>
            <a:endParaRPr lang="zh-CN" altLang="en-US" dirty="0"/>
          </a:p>
          <a:p>
            <a:r>
              <a:rPr lang="zh-CN" altLang="en-US" dirty="0"/>
              <a:t>类似百度图片，其实开始是没有图片的，如果你一张一张的添加会非常慢，用户还没等到你添加完，就不会看了，时间长，这个网站就没人关注了，可以快速获取别的网站的图片？这种从其他网站获取数据的方式就是网络爬虫。（住房信息，旅游信息，关注度信息都</a:t>
            </a:r>
            <a:r>
              <a:rPr lang="zh-CN" altLang="en-US" dirty="0">
                <a:sym typeface="+mn-ea"/>
              </a:rPr>
              <a:t>可获取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今日头条和百度新闻推荐，为什么会推荐我们想看的新闻，让我们止不住的继续浏览网页？通过数据分析。</a:t>
            </a:r>
            <a:endParaRPr lang="zh-CN" altLang="en-US" dirty="0"/>
          </a:p>
          <a:p>
            <a:r>
              <a:rPr lang="zh-CN" altLang="en-US" dirty="0"/>
              <a:t>围棋大战，阿尔法狗。机器人胜出</a:t>
            </a:r>
            <a:endParaRPr lang="zh-CN" altLang="en-US" dirty="0"/>
          </a:p>
        </p:txBody>
      </p:sp>
      <p:sp>
        <p:nvSpPr>
          <p:cNvPr id="952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Python</a:t>
            </a:r>
            <a:r>
              <a:rPr lang="zh-CN" altLang="en-US" dirty="0"/>
              <a:t>有这些优缺点，它是怎么创建出来的呢？</a:t>
            </a:r>
            <a:endParaRPr lang="zh-CN" altLang="en-US" dirty="0"/>
          </a:p>
        </p:txBody>
      </p:sp>
      <p:sp>
        <p:nvSpPr>
          <p:cNvPr id="1167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5954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编写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代码，会得到一个以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.py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为扩展名的文本文件</a:t>
            </a:r>
            <a:endParaRPr lang="zh-CN" altLang="en-US" strike="noStrike" kern="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/>
              <a:t>如何去运行这个</a:t>
            </a:r>
            <a:r>
              <a:rPr lang="en-US" altLang="zh-CN"/>
              <a:t>py</a:t>
            </a:r>
            <a:r>
              <a:rPr lang="zh-CN" altLang="en-US"/>
              <a:t>源文件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任何编程语言都需要处理数据，比如数字、字符串、字符等，我们可以直接使用数据，也可以将数据保存到变量中，方便以后使用。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6AF6BF-FFFC-4E9D-96B5-CEDA40342436}" type="slidenum">
              <a:rPr lang="zh-CN" altLang="en-US"/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6AF6BF-FFFC-4E9D-96B5-CEDA40342436}" type="slidenum">
              <a:rPr lang="zh-CN" altLang="en-US"/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CC3306-FD81-493B-99B4-EA06E8617F5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1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350" y="3101975"/>
            <a:ext cx="9155113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2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</p:spPr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</p:spPr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:checker/>
      </p:transition>
    </mc:Choice>
    <mc:Fallback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3" tIns="107570" rIns="134463" bIns="107570" numCol="1" spcCol="0" rtlCol="0" fromWordArt="0" anchor="t" anchorCtr="0" forceAA="0" compatLnSpc="1">
            <a:noAutofit/>
          </a:bodyPr>
          <a:lstStyle/>
          <a:p>
            <a:pPr algn="ctr" defTabSz="9321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765" strike="noStrike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矩形 3"/>
          <p:cNvSpPr/>
          <p:nvPr userDrawn="1"/>
        </p:nvSpPr>
        <p:spPr bwMode="auto">
          <a:xfrm>
            <a:off x="112713" y="112713"/>
            <a:ext cx="9144000" cy="51435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3" tIns="107570" rIns="134463" bIns="107570" numCol="1" spcCol="0" rtlCol="0" fromWordArt="0" anchor="t" anchorCtr="0" forceAA="0" compatLnSpc="1">
            <a:noAutofit/>
          </a:bodyPr>
          <a:lstStyle/>
          <a:p>
            <a:pPr algn="ctr" defTabSz="9321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765" strike="noStrike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" y="217133"/>
            <a:ext cx="8741880" cy="674749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9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0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5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6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1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5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6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5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6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1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2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993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3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7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11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2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113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八维教育研究院</a:t>
            </a:r>
            <a:endParaRPr lang="zh-CN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0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632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4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656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8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112" y="3082925"/>
            <a:ext cx="9155112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80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《C#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物联网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3" name="直接连接符 14"/>
          <p:cNvSpPr/>
          <p:nvPr userDrawn="1"/>
        </p:nvSpPr>
        <p:spPr>
          <a:xfrm>
            <a:off x="1671638" y="950913"/>
            <a:ext cx="0" cy="4192587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miter/>
            <a:headEnd type="oval" w="med" len="med"/>
            <a:tailEnd type="none" w="med" len="med"/>
          </a:ln>
        </p:spPr>
        <p:txBody>
          <a:bodyPr anchor="t"/>
          <a:lstStyle/>
          <a:p>
            <a:pPr lvl="0" indent="0"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单击此处编辑式</a:t>
            </a:r>
            <a:endParaRPr lang="zh-CN" alt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7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350" y="3101975"/>
            <a:ext cx="9155113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8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1929" name="文本框 147"/>
          <p:cNvSpPr/>
          <p:nvPr userDrawn="1"/>
        </p:nvSpPr>
        <p:spPr>
          <a:xfrm>
            <a:off x="2443163" y="3508375"/>
            <a:ext cx="42672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《Python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全栈开发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网工学院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1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AC84F06B-68BB-49FF-9082-040D3B5B474B}" type="datetime1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pPr fontAlgn="base"/>
            <a:fld id="{00E0E93F-4BAF-4B04-AF3C-1DA2743F9C80}" type="slidenum">
              <a:rPr lang="zh-CN" altLang="en-US" strike="noStrike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fld>
            <a:endParaRPr lang="zh-CN" altLang="en-US" sz="18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9" name="矩形 17"/>
          <p:cNvSpPr/>
          <p:nvPr userDrawn="1"/>
        </p:nvSpPr>
        <p:spPr>
          <a:xfrm>
            <a:off x="0" y="771525"/>
            <a:ext cx="161925" cy="331788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</p:spPr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</p:spPr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:checker/>
      </p:transition>
    </mc:Choice>
    <mc:Fallback>
      <p:transition spd="slow">
        <p:checker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3" tIns="107570" rIns="134463" bIns="107570" numCol="1" spcCol="0" rtlCol="0" fromWordArt="0" anchor="t" anchorCtr="0" forceAA="0" compatLnSpc="1">
            <a:noAutofit/>
          </a:bodyPr>
          <a:lstStyle/>
          <a:p>
            <a:pPr algn="ctr" defTabSz="9321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765" strike="noStrike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矩形 3"/>
          <p:cNvSpPr/>
          <p:nvPr userDrawn="1"/>
        </p:nvSpPr>
        <p:spPr bwMode="auto">
          <a:xfrm>
            <a:off x="112713" y="112713"/>
            <a:ext cx="9144000" cy="51435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3" tIns="107570" rIns="134463" bIns="107570" numCol="1" spcCol="0" rtlCol="0" fromWordArt="0" anchor="t" anchorCtr="0" forceAA="0" compatLnSpc="1">
            <a:noAutofit/>
          </a:bodyPr>
          <a:lstStyle/>
          <a:p>
            <a:pPr algn="ctr" defTabSz="9321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765" strike="noStrike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" y="217133"/>
            <a:ext cx="8741880" cy="674749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1" Type="http://schemas.openxmlformats.org/officeDocument/2006/relationships/theme" Target="../theme/theme3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1" Type="http://schemas.openxmlformats.org/officeDocument/2006/relationships/theme" Target="../theme/theme4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0" Type="http://schemas.openxmlformats.org/officeDocument/2006/relationships/theme" Target="../theme/theme5.xml"/><Relationship Id="rId1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1" Type="http://schemas.openxmlformats.org/officeDocument/2006/relationships/theme" Target="../theme/theme6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4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1" Type="http://schemas.openxmlformats.org/officeDocument/2006/relationships/theme" Target="../theme/theme8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56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1" Type="http://schemas.openxmlformats.org/officeDocument/2006/relationships/theme" Target="../theme/theme9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64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79.xml"/><Relationship Id="rId7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3.xml"/><Relationship Id="rId11" Type="http://schemas.openxmlformats.org/officeDocument/2006/relationships/theme" Target="../theme/theme10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7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1" Type="http://schemas.openxmlformats.org/officeDocument/2006/relationships/theme" Target="../theme/theme11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80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9.xml"/><Relationship Id="rId11" Type="http://schemas.openxmlformats.org/officeDocument/2006/relationships/theme" Target="../theme/theme12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88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1" Type="http://schemas.openxmlformats.org/officeDocument/2006/relationships/theme" Target="../theme/theme13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96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5.xml"/><Relationship Id="rId13" Type="http://schemas.openxmlformats.org/officeDocument/2006/relationships/theme" Target="../theme/theme14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30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52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53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6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7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078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0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1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102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4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5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126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8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9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150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172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173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17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196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197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198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9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220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221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222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44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45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46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268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269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1270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292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293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2294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316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317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318" name="图片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矩形 17"/>
          <p:cNvSpPr/>
          <p:nvPr userDrawn="1"/>
        </p:nvSpPr>
        <p:spPr>
          <a:xfrm>
            <a:off x="8623300" y="4694238"/>
            <a:ext cx="522288" cy="330200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0" name="矩形 31"/>
          <p:cNvSpPr/>
          <p:nvPr userDrawn="1"/>
        </p:nvSpPr>
        <p:spPr>
          <a:xfrm flipV="1">
            <a:off x="0" y="555625"/>
            <a:ext cx="9147175" cy="41275"/>
          </a:xfrm>
          <a:prstGeom prst="rect">
            <a:avLst/>
          </a:prstGeom>
          <a:solidFill>
            <a:srgbClr val="3F95D2"/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1" name="TextBox 15"/>
          <p:cNvSpPr/>
          <p:nvPr userDrawn="1"/>
        </p:nvSpPr>
        <p:spPr>
          <a:xfrm>
            <a:off x="8793163" y="4732338"/>
            <a:ext cx="471487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4342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7950" y="88900"/>
            <a:ext cx="1547813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sldNum="0" hdr="0" ftr="0" dt="0"/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1.png"/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第一单元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基础入门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第一课时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什么是</a:t>
            </a:r>
            <a:r>
              <a:rPr lang="en-US" altLang="zh-CN" dirty="0"/>
              <a:t>Python</a:t>
            </a:r>
            <a:endParaRPr lang="zh-CN" altLang="en-US" dirty="0"/>
          </a:p>
        </p:txBody>
      </p:sp>
    </p:spTree>
  </p:cSld>
  <p:clrMapOvr>
    <a:masterClrMapping/>
  </p:clrMapOvr>
  <p:transition spd="slow" advTm="96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2" name="Object 2" descr="image8"/>
          <p:cNvGraphicFramePr/>
          <p:nvPr/>
        </p:nvGraphicFramePr>
        <p:xfrm>
          <a:off x="6500826" y="2606253"/>
          <a:ext cx="428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5" name="" r:id="rId1" imgW="586105" imgH="485775" progId="Visio.Drawing.11">
                  <p:embed/>
                </p:oleObj>
              </mc:Choice>
              <mc:Fallback>
                <p:oleObj name="" r:id="rId1" imgW="586105" imgH="485775" progId="Visio.Drawing.11">
                  <p:embed/>
                  <p:pic>
                    <p:nvPicPr>
                      <p:cNvPr id="0" name="Object 2" descr="image8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26" y="2606253"/>
                        <a:ext cx="4286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面向过程的软件开发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zh-CN" altLang="en-US" dirty="0"/>
              <a:t>银行软件系统</a:t>
            </a:r>
            <a:endParaRPr lang="zh-CN" altLang="en-US" dirty="0"/>
          </a:p>
        </p:txBody>
      </p:sp>
      <p:graphicFrame>
        <p:nvGraphicFramePr>
          <p:cNvPr id="560133" name="对象 560132"/>
          <p:cNvGraphicFramePr/>
          <p:nvPr/>
        </p:nvGraphicFramePr>
        <p:xfrm>
          <a:off x="1099185" y="2675466"/>
          <a:ext cx="423863" cy="1029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6" name="" r:id="rId3" imgW="628650" imgH="1500505" progId="Visio.Drawing.11">
                  <p:embed/>
                </p:oleObj>
              </mc:Choice>
              <mc:Fallback>
                <p:oleObj name="" r:id="rId3" imgW="628650" imgH="1500505" progId="Visio.Drawing.11">
                  <p:embed/>
                  <p:pic>
                    <p:nvPicPr>
                      <p:cNvPr id="0" name="对象 56013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185" y="2675466"/>
                        <a:ext cx="423863" cy="1029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34" name="对象 560133"/>
          <p:cNvGraphicFramePr/>
          <p:nvPr/>
        </p:nvGraphicFramePr>
        <p:xfrm>
          <a:off x="2714612" y="1000114"/>
          <a:ext cx="5543550" cy="360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7" name="" r:id="rId5" imgW="10081260" imgH="6558915" progId="Visio.Drawing.11">
                  <p:embed/>
                </p:oleObj>
              </mc:Choice>
              <mc:Fallback>
                <p:oleObj name="" r:id="rId5" imgW="10081260" imgH="6558915" progId="Visio.Drawing.11">
                  <p:embed/>
                  <p:pic>
                    <p:nvPicPr>
                      <p:cNvPr id="0" name="对象 56013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1000114"/>
                        <a:ext cx="5543550" cy="3606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36" name="文本框 560135"/>
          <p:cNvSpPr txBox="1"/>
          <p:nvPr/>
        </p:nvSpPr>
        <p:spPr>
          <a:xfrm>
            <a:off x="5484508" y="1233461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0138" name="圆角矩形 560137"/>
          <p:cNvSpPr/>
          <p:nvPr/>
        </p:nvSpPr>
        <p:spPr>
          <a:xfrm>
            <a:off x="3071802" y="2820567"/>
            <a:ext cx="1571636" cy="35719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/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、输入密码 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0140" name="圆角矩形 560139"/>
          <p:cNvSpPr/>
          <p:nvPr/>
        </p:nvSpPr>
        <p:spPr>
          <a:xfrm>
            <a:off x="3071802" y="2256209"/>
            <a:ext cx="1571636" cy="3500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buClrTx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、插入银行卡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0144" name="圆角矩形 560143"/>
          <p:cNvSpPr/>
          <p:nvPr/>
        </p:nvSpPr>
        <p:spPr>
          <a:xfrm>
            <a:off x="5484802" y="2256059"/>
            <a:ext cx="1571636" cy="3500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/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、输入取款金额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</a:pP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484500" y="3328039"/>
            <a:ext cx="1714512" cy="3500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buClrTx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ATM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吐出钞票 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484495" y="2818765"/>
            <a:ext cx="1714500" cy="34988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buClrTx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ATM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验证余额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071495" y="3328035"/>
            <a:ext cx="2264410" cy="34988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buClrTx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ATM</a:t>
            </a:r>
            <a:r>
              <a: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验证账号和密码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>
            <a:off x="4143372" y="4643860"/>
            <a:ext cx="2286016" cy="37375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围绕过程的步骤来设计</a:t>
            </a:r>
            <a:endParaRPr lang="zh-CN" altLang="en-US" sz="1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0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0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0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0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8" grpId="0" bldLvl="0" animBg="1"/>
      <p:bldP spid="560140" grpId="0" bldLvl="0" animBg="1"/>
      <p:bldP spid="560144" grpId="0" bldLvl="0" animBg="1"/>
      <p:bldP spid="15" grpId="0" bldLvl="0" animBg="1"/>
      <p:bldP spid="16" grpId="0" bldLvl="0" animBg="1"/>
      <p:bldP spid="24" grpId="0" bldLvl="0" animBg="1"/>
      <p:bldP spid="1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95465" y="131445"/>
            <a:ext cx="2235835" cy="368300"/>
          </a:xfr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/>
            <a:r>
              <a:rPr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本月课程知识目标 </a:t>
            </a:r>
            <a:endParaRPr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《python全栈开アˉ总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15" y="624840"/>
            <a:ext cx="8761730" cy="4502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kern="1200" dirty="0">
                <a:solidFill>
                  <a:srgbClr val="0070C0"/>
                </a:solidFill>
                <a:latin typeface="+mj-lt"/>
                <a:ea typeface="+mj-ea"/>
                <a:cs typeface="+mj-cs"/>
                <a:sym typeface="Browallia New" charset="0"/>
              </a:rPr>
              <a:t>本单元贯穿案例</a:t>
            </a:r>
            <a:endParaRPr lang="zh-CN" altLang="en-US" kern="1200" dirty="0">
              <a:solidFill>
                <a:srgbClr val="0070C0"/>
              </a:solidFill>
              <a:latin typeface="+mj-lt"/>
              <a:ea typeface="+mj-ea"/>
              <a:cs typeface="+mj-cs"/>
              <a:sym typeface="Browallia New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771525"/>
            <a:ext cx="8640763" cy="3744913"/>
          </a:xfrm>
        </p:spPr>
        <p:txBody>
          <a:bodyPr/>
          <a:lstStyle/>
          <a:p>
            <a:pPr fontAlgn="base"/>
            <a:r>
              <a:rPr lang="zh-CN" altLang="en-US" b="1" strike="noStrike" noProof="1"/>
              <a:t>需求说明</a:t>
            </a:r>
            <a:endParaRPr lang="en-US" altLang="zh-CN" strike="noStrike" noProof="1"/>
          </a:p>
          <a:p>
            <a:pPr lvl="1" fontAlgn="base"/>
            <a:r>
              <a:rPr lang="zh-CN" altLang="en-US" strike="noStrike" noProof="1"/>
              <a:t>完成双色球彩票系统用户登录界面、双色球界面显示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使用</a:t>
            </a:r>
            <a:r>
              <a:rPr lang="en-US" strike="noStrike" noProof="1"/>
              <a:t>input</a:t>
            </a:r>
            <a:r>
              <a:rPr lang="zh-CN" altLang="en-US" strike="noStrike" noProof="1"/>
              <a:t>函数输入，</a:t>
            </a:r>
            <a:r>
              <a:rPr lang="en-US" altLang="zh-CN" strike="noStrike" noProof="1"/>
              <a:t>print</a:t>
            </a:r>
            <a:r>
              <a:rPr lang="zh-CN" altLang="en-US" strike="noStrike" noProof="1"/>
              <a:t>输出界面内容</a:t>
            </a:r>
            <a:endParaRPr lang="zh-CN" altLang="en-US" strike="noStrike" noProof="1"/>
          </a:p>
          <a:p>
            <a:pPr lvl="2" fontAlgn="base"/>
            <a:endParaRPr lang="zh-CN" altLang="en-US" strike="noStrike" noProof="1"/>
          </a:p>
          <a:p>
            <a:pPr lvl="2" fontAlgn="base"/>
            <a:endParaRPr lang="zh-CN" altLang="en-US" strike="noStrike" noProof="1"/>
          </a:p>
          <a:p>
            <a:pPr lvl="2" fontAlgn="base"/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正确使用缩进，保证界面美观</a:t>
            </a:r>
            <a:endParaRPr lang="en-US" altLang="zh-CN" strike="noStrike" noProof="1"/>
          </a:p>
          <a:p>
            <a:pPr marL="914400" lvl="2" indent="0" fontAlgn="base">
              <a:buNone/>
            </a:pPr>
            <a:endParaRPr lang="en-US" altLang="zh-CN" strike="noStrike" noProof="1"/>
          </a:p>
          <a:p>
            <a:pPr lvl="2" fontAlgn="base"/>
            <a:endParaRPr lang="en-US" altLang="zh-CN" strike="noStrike" noProof="1"/>
          </a:p>
          <a:p>
            <a:pPr lvl="2" fontAlgn="base"/>
            <a:endParaRPr lang="zh-CN" altLang="en-US" strike="noStrike" noProof="1"/>
          </a:p>
          <a:p>
            <a:pPr lvl="2" fontAlgn="base"/>
            <a:endParaRPr lang="en-US" altLang="zh-CN" strike="noStrike" noProof="1"/>
          </a:p>
          <a:p>
            <a:pPr lvl="2" fontAlgn="base"/>
            <a:endParaRPr lang="en-US" altLang="zh-CN" strike="noStrike" noProof="1"/>
          </a:p>
          <a:p>
            <a:pPr lvl="2" fontAlgn="base"/>
            <a:endParaRPr lang="zh-CN" altLang="en-US" sz="1400" strike="noStrike" noProof="1"/>
          </a:p>
          <a:p>
            <a:pPr lvl="2" fontAlgn="base"/>
            <a:endParaRPr lang="en-US" altLang="zh-CN" strike="noStrike" noProof="1"/>
          </a:p>
          <a:p>
            <a:pPr lvl="1" fontAlgn="base"/>
            <a:endParaRPr lang="zh-CN" altLang="en-US" strike="noStrike" noProof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0" y="2164715"/>
            <a:ext cx="3890010" cy="9588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760" y="2022475"/>
            <a:ext cx="2452370" cy="1734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altLang="en-US" kern="1200">
                <a:solidFill>
                  <a:srgbClr val="0070C0"/>
                </a:solidFill>
                <a:latin typeface="+mj-lt"/>
                <a:ea typeface="+mj-ea"/>
                <a:cs typeface="+mj-cs"/>
                <a:sym typeface="Browallia New" charset="0"/>
              </a:rPr>
              <a:t>本单元知识目标</a:t>
            </a:r>
            <a:endParaRPr lang="zh-CN" altLang="en-US" kern="1200">
              <a:solidFill>
                <a:srgbClr val="0070C0"/>
              </a:solidFill>
              <a:latin typeface="+mj-lt"/>
              <a:ea typeface="+mj-ea"/>
              <a:cs typeface="+mj-cs"/>
              <a:sym typeface="Browallia New" charset="0"/>
            </a:endParaRPr>
          </a:p>
        </p:txBody>
      </p:sp>
      <p:pic>
        <p:nvPicPr>
          <p:cNvPr id="3" name="图片 2" descr="第1单元  python基础入门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386080" y="547370"/>
            <a:ext cx="8726805" cy="55524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/>
        </p:nvSpPr>
        <p:spPr>
          <a:xfrm>
            <a:off x="2195513" y="141288"/>
            <a:ext cx="6769100" cy="3683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913130" indent="-913130" algn="r" eaLnBrk="0" hangingPunct="0">
              <a:lnSpc>
                <a:spcPct val="9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为什么学习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50825" y="1506220"/>
            <a:ext cx="2346325" cy="2001838"/>
            <a:chOff x="694448" y="2044874"/>
            <a:chExt cx="2198738" cy="2009551"/>
          </a:xfrm>
        </p:grpSpPr>
        <p:sp>
          <p:nvSpPr>
            <p:cNvPr id="40" name="五角星 18"/>
            <p:cNvSpPr/>
            <p:nvPr/>
          </p:nvSpPr>
          <p:spPr>
            <a:xfrm rot="2134838">
              <a:off x="694448" y="2044874"/>
              <a:ext cx="2198738" cy="2009551"/>
            </a:xfrm>
            <a:prstGeom prst="diamond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117226" tIns="58613" rIns="117226" bIns="58613"/>
            <a:lstStyle/>
            <a:p>
              <a:pPr fontAlgn="base"/>
              <a:endParaRPr lang="zh-CN" altLang="en-US" strike="noStrike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13" name="TextBox 6"/>
            <p:cNvSpPr txBox="1"/>
            <p:nvPr/>
          </p:nvSpPr>
          <p:spPr>
            <a:xfrm>
              <a:off x="874597" y="2782013"/>
              <a:ext cx="1838614" cy="4877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17226" tIns="58613" rIns="117226" bIns="58613" anchor="t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网络爬虫</a:t>
              </a:r>
              <a:endPara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405063" y="1507808"/>
            <a:ext cx="2344737" cy="2000250"/>
            <a:chOff x="3253305" y="2109943"/>
            <a:chExt cx="2198738" cy="2009551"/>
          </a:xfrm>
        </p:grpSpPr>
        <p:sp>
          <p:nvSpPr>
            <p:cNvPr id="43" name="五角星 18"/>
            <p:cNvSpPr/>
            <p:nvPr/>
          </p:nvSpPr>
          <p:spPr>
            <a:xfrm rot="2134838">
              <a:off x="3253305" y="2109943"/>
              <a:ext cx="2198738" cy="2009551"/>
            </a:xfrm>
            <a:prstGeom prst="diamond">
              <a:avLst/>
            </a:prstGeom>
            <a:solidFill>
              <a:srgbClr val="92D05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117226" tIns="58613" rIns="117226" bIns="58613"/>
            <a:lstStyle/>
            <a:p>
              <a:pPr fontAlgn="base"/>
              <a:endParaRPr lang="zh-CN" altLang="en-US" strike="noStrike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16" name="TextBox 9"/>
            <p:cNvSpPr txBox="1"/>
            <p:nvPr/>
          </p:nvSpPr>
          <p:spPr>
            <a:xfrm>
              <a:off x="3505812" y="2782964"/>
              <a:ext cx="1679221" cy="4878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17226" tIns="58613" rIns="117226" bIns="58613" anchor="t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数据分析</a:t>
              </a:r>
              <a:endPara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856730" y="1483356"/>
            <a:ext cx="2345686" cy="2000670"/>
            <a:chOff x="5845255" y="2109943"/>
            <a:chExt cx="2198738" cy="200955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6" name="五角星 18"/>
            <p:cNvSpPr/>
            <p:nvPr/>
          </p:nvSpPr>
          <p:spPr>
            <a:xfrm rot="2134838">
              <a:off x="5845255" y="2109943"/>
              <a:ext cx="2198738" cy="2009551"/>
            </a:xfrm>
            <a:prstGeom prst="diamond">
              <a:avLst/>
            </a:prstGeom>
            <a:grpFill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117226" tIns="58613" rIns="117226" bIns="58613" numCol="1" anchor="t" anchorCtr="0" compatLnSpc="1"/>
            <a:lstStyle/>
            <a:p>
              <a:pPr fontAlgn="base"/>
              <a:endParaRPr lang="zh-CN" altLang="en-US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Box 12"/>
            <p:cNvSpPr txBox="1"/>
            <p:nvPr/>
          </p:nvSpPr>
          <p:spPr>
            <a:xfrm>
              <a:off x="6252385" y="2780292"/>
              <a:ext cx="1386860" cy="487932"/>
            </a:xfrm>
            <a:prstGeom prst="rect">
              <a:avLst/>
            </a:prstGeom>
            <a:noFill/>
          </p:spPr>
          <p:txBody>
            <a:bodyPr wrap="square" lIns="117226" tIns="58613" rIns="117226" bIns="58613" rtlCol="0">
              <a:spAutoFit/>
            </a:bodyPr>
            <a:lstStyle/>
            <a:p>
              <a:pPr lvl="0" algn="ctr" fontAlgn="base"/>
              <a:r>
                <a:rPr lang="zh-CN" sz="2400" b="1" strike="noStrike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</a:t>
              </a:r>
              <a:endParaRPr lang="zh-CN" sz="2400" b="1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41850" y="1491933"/>
            <a:ext cx="2346325" cy="2000250"/>
            <a:chOff x="5845255" y="2109943"/>
            <a:chExt cx="2198738" cy="2009551"/>
          </a:xfrm>
        </p:grpSpPr>
        <p:sp>
          <p:nvSpPr>
            <p:cNvPr id="3" name="五角星 18"/>
            <p:cNvSpPr/>
            <p:nvPr/>
          </p:nvSpPr>
          <p:spPr>
            <a:xfrm rot="2134838">
              <a:off x="5845255" y="2109943"/>
              <a:ext cx="2198738" cy="2009551"/>
            </a:xfrm>
            <a:prstGeom prst="diamond">
              <a:avLst/>
            </a:prstGeom>
            <a:solidFill>
              <a:srgbClr val="FFC000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117226" tIns="58613" rIns="117226" bIns="58613" numCol="1" anchor="t" anchorCtr="0" compatLnSpc="1"/>
            <a:lstStyle/>
            <a:p>
              <a:pPr fontAlgn="base"/>
              <a:endParaRPr lang="zh-CN" altLang="en-US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20" name="TextBox 12"/>
            <p:cNvSpPr txBox="1"/>
            <p:nvPr/>
          </p:nvSpPr>
          <p:spPr>
            <a:xfrm>
              <a:off x="6000123" y="2785824"/>
              <a:ext cx="1838614" cy="4879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17226" tIns="58613" rIns="117226" bIns="58613" anchor="t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WEB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开发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为什么学习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rowallia New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1421765" y="1491534"/>
            <a:ext cx="1978025" cy="3398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4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、伪代码本质</a:t>
            </a:r>
            <a:endParaRPr lang="zh-CN" altLang="en-US" sz="1400" strike="noStrike" kern="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1421765" y="3105704"/>
            <a:ext cx="1978025" cy="3398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、面向对象</a:t>
            </a:r>
            <a:endParaRPr lang="zh-CN" altLang="en-US" sz="1400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1421765" y="2545634"/>
            <a:ext cx="1978025" cy="3398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、可移植性</a:t>
            </a:r>
            <a:endParaRPr lang="zh-CN" altLang="en-US" sz="1400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1421765" y="3688634"/>
            <a:ext cx="2008505" cy="3398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、可扩展性和嵌入性</a:t>
            </a:r>
            <a:endParaRPr lang="zh-CN" altLang="en-US" sz="1400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1421765" y="2056684"/>
            <a:ext cx="1978025" cy="3398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、代码开源</a:t>
            </a:r>
            <a:endParaRPr lang="zh-CN" altLang="en-US" sz="1400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421765" y="4186998"/>
            <a:ext cx="2008505" cy="340109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</a:pPr>
            <a:r>
              <a:rPr lang="en-US" altLang="zh-CN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400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、强大的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第三方库</a:t>
            </a:r>
            <a:endParaRPr lang="zh-CN" altLang="en-US" sz="1400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4945" y="741045"/>
            <a:ext cx="2328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Python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语言的优点：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rowallia New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什么是</a:t>
            </a:r>
            <a:r>
              <a:rPr lang="en-US" altLang="zh-CN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Python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rowallia New" charset="0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0" hasCustomPrompt="1"/>
          </p:nvPr>
        </p:nvSpPr>
        <p:spPr>
          <a:xfrm>
            <a:off x="2195513" y="3729355"/>
            <a:ext cx="1312862" cy="360363"/>
          </a:xfrm>
          <a:noFill/>
          <a:ln>
            <a:noFill/>
          </a:ln>
        </p:spPr>
        <p:txBody>
          <a:bodyPr anchor="t"/>
          <a:lstStyle/>
          <a:p>
            <a:r>
              <a:rPr lang="zh-CN" altLang="en-US" kern="1200" dirty="0">
                <a:solidFill>
                  <a:srgbClr val="0070C0"/>
                </a:solidFill>
                <a:cs typeface="+mn-cs"/>
                <a:sym typeface="Calibri" panose="020F0502020204030204" pitchFamily="34" charset="0"/>
              </a:rPr>
              <a:t>名词解释</a:t>
            </a:r>
            <a:endParaRPr lang="zh-CN" altLang="en-US" kern="1200" dirty="0">
              <a:solidFill>
                <a:srgbClr val="0070C0"/>
              </a:solidFill>
              <a:cs typeface="+mn-cs"/>
              <a:sym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62138" y="4030980"/>
            <a:ext cx="3627438" cy="106045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defTabSz="381000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en-US"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Python----</a:t>
            </a:r>
            <a:r>
              <a:rPr lang="zh-CN"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牛津词典</a:t>
            </a:r>
            <a:endParaRPr lang="zh-CN" altLang="en-US" sz="14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indent="-224155" defTabSz="381000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美国发音：/ˈpaɪθɑːn/</a:t>
            </a:r>
            <a:r>
              <a:rPr lang="en-US"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endParaRPr lang="zh-CN" altLang="en-US" sz="14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indent="-224155" defTabSz="381000">
              <a:lnSpc>
                <a:spcPct val="150000"/>
              </a:lnSpc>
              <a:buClr>
                <a:schemeClr val="folHlink"/>
              </a:buClr>
              <a:buSzPct val="60000"/>
              <a:defRPr/>
            </a:pPr>
            <a:r>
              <a:rPr lang="en-US"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n.</a:t>
            </a:r>
            <a:r>
              <a:rPr lang="zh-CN" altLang="en-US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大蛇、蟒蛇的意思 </a:t>
            </a:r>
            <a:endParaRPr lang="zh-CN" altLang="en-US" sz="1400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Group 36"/>
          <p:cNvGrpSpPr>
            <a:grpSpLocks noChangeAspect="1"/>
          </p:cNvGrpSpPr>
          <p:nvPr/>
        </p:nvGrpSpPr>
        <p:grpSpPr>
          <a:xfrm>
            <a:off x="1927225" y="3794443"/>
            <a:ext cx="196850" cy="160337"/>
            <a:chOff x="1202" y="2799"/>
            <a:chExt cx="223" cy="182"/>
          </a:xfrm>
        </p:grpSpPr>
        <p:sp>
          <p:nvSpPr>
            <p:cNvPr id="115717" name="AutoShape 35"/>
            <p:cNvSpPr>
              <a:spLocks noChangeAspect="1" noTextEdit="1"/>
            </p:cNvSpPr>
            <p:nvPr/>
          </p:nvSpPr>
          <p:spPr>
            <a:xfrm>
              <a:off x="1202" y="2799"/>
              <a:ext cx="22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anchor="t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718" name="Freeform 37"/>
            <p:cNvSpPr>
              <a:spLocks noEditPoints="1"/>
            </p:cNvSpPr>
            <p:nvPr/>
          </p:nvSpPr>
          <p:spPr>
            <a:xfrm>
              <a:off x="1202" y="2796"/>
              <a:ext cx="223" cy="187"/>
            </a:xfrm>
            <a:custGeom>
              <a:avLst/>
              <a:gdLst/>
              <a:ahLst/>
              <a:cxnLst>
                <a:cxn ang="0">
                  <a:pos x="664" y="258"/>
                </a:cxn>
                <a:cxn ang="0">
                  <a:pos x="528" y="258"/>
                </a:cxn>
                <a:cxn ang="0">
                  <a:pos x="502" y="284"/>
                </a:cxn>
                <a:cxn ang="0">
                  <a:pos x="502" y="288"/>
                </a:cxn>
                <a:cxn ang="0">
                  <a:pos x="528" y="314"/>
                </a:cxn>
                <a:cxn ang="0">
                  <a:pos x="664" y="314"/>
                </a:cxn>
                <a:cxn ang="0">
                  <a:pos x="690" y="288"/>
                </a:cxn>
                <a:cxn ang="0">
                  <a:pos x="690" y="284"/>
                </a:cxn>
                <a:cxn ang="0">
                  <a:pos x="664" y="258"/>
                </a:cxn>
                <a:cxn ang="0">
                  <a:pos x="354" y="26"/>
                </a:cxn>
                <a:cxn ang="0">
                  <a:pos x="166" y="148"/>
                </a:cxn>
                <a:cxn ang="0">
                  <a:pos x="166" y="153"/>
                </a:cxn>
                <a:cxn ang="0">
                  <a:pos x="109" y="166"/>
                </a:cxn>
                <a:cxn ang="0">
                  <a:pos x="35" y="166"/>
                </a:cxn>
                <a:cxn ang="0">
                  <a:pos x="0" y="196"/>
                </a:cxn>
                <a:cxn ang="0">
                  <a:pos x="0" y="375"/>
                </a:cxn>
                <a:cxn ang="0">
                  <a:pos x="35" y="406"/>
                </a:cxn>
                <a:cxn ang="0">
                  <a:pos x="113" y="406"/>
                </a:cxn>
                <a:cxn ang="0">
                  <a:pos x="166" y="423"/>
                </a:cxn>
                <a:cxn ang="0">
                  <a:pos x="166" y="428"/>
                </a:cxn>
                <a:cxn ang="0">
                  <a:pos x="354" y="550"/>
                </a:cxn>
                <a:cxn ang="0">
                  <a:pos x="410" y="519"/>
                </a:cxn>
                <a:cxn ang="0">
                  <a:pos x="410" y="52"/>
                </a:cxn>
                <a:cxn ang="0">
                  <a:pos x="354" y="26"/>
                </a:cxn>
                <a:cxn ang="0">
                  <a:pos x="476" y="153"/>
                </a:cxn>
                <a:cxn ang="0">
                  <a:pos x="506" y="161"/>
                </a:cxn>
                <a:cxn ang="0">
                  <a:pos x="616" y="70"/>
                </a:cxn>
                <a:cxn ang="0">
                  <a:pos x="620" y="30"/>
                </a:cxn>
                <a:cxn ang="0">
                  <a:pos x="616" y="22"/>
                </a:cxn>
                <a:cxn ang="0">
                  <a:pos x="585" y="13"/>
                </a:cxn>
                <a:cxn ang="0">
                  <a:pos x="476" y="105"/>
                </a:cxn>
                <a:cxn ang="0">
                  <a:pos x="471" y="144"/>
                </a:cxn>
                <a:cxn ang="0">
                  <a:pos x="476" y="153"/>
                </a:cxn>
                <a:cxn ang="0">
                  <a:pos x="511" y="415"/>
                </a:cxn>
                <a:cxn ang="0">
                  <a:pos x="480" y="423"/>
                </a:cxn>
                <a:cxn ang="0">
                  <a:pos x="476" y="432"/>
                </a:cxn>
                <a:cxn ang="0">
                  <a:pos x="480" y="471"/>
                </a:cxn>
                <a:cxn ang="0">
                  <a:pos x="594" y="563"/>
                </a:cxn>
                <a:cxn ang="0">
                  <a:pos x="624" y="554"/>
                </a:cxn>
                <a:cxn ang="0">
                  <a:pos x="629" y="546"/>
                </a:cxn>
                <a:cxn ang="0">
                  <a:pos x="624" y="506"/>
                </a:cxn>
                <a:cxn ang="0">
                  <a:pos x="511" y="415"/>
                </a:cxn>
                <a:cxn ang="0">
                  <a:pos x="511" y="415"/>
                </a:cxn>
                <a:cxn ang="0">
                  <a:pos x="511" y="415"/>
                </a:cxn>
              </a:cxnLst>
              <a:rect l="0" t="0" r="0" b="0"/>
              <a:pathLst>
                <a:path w="690" h="576">
                  <a:moveTo>
                    <a:pt x="664" y="258"/>
                  </a:moveTo>
                  <a:cubicBezTo>
                    <a:pt x="528" y="258"/>
                    <a:pt x="528" y="258"/>
                    <a:pt x="528" y="258"/>
                  </a:cubicBezTo>
                  <a:cubicBezTo>
                    <a:pt x="511" y="258"/>
                    <a:pt x="502" y="271"/>
                    <a:pt x="502" y="284"/>
                  </a:cubicBezTo>
                  <a:cubicBezTo>
                    <a:pt x="502" y="288"/>
                    <a:pt x="502" y="288"/>
                    <a:pt x="502" y="288"/>
                  </a:cubicBezTo>
                  <a:cubicBezTo>
                    <a:pt x="502" y="301"/>
                    <a:pt x="515" y="314"/>
                    <a:pt x="528" y="314"/>
                  </a:cubicBezTo>
                  <a:cubicBezTo>
                    <a:pt x="664" y="314"/>
                    <a:pt x="664" y="314"/>
                    <a:pt x="664" y="314"/>
                  </a:cubicBezTo>
                  <a:cubicBezTo>
                    <a:pt x="677" y="314"/>
                    <a:pt x="690" y="301"/>
                    <a:pt x="690" y="288"/>
                  </a:cubicBezTo>
                  <a:cubicBezTo>
                    <a:pt x="690" y="284"/>
                    <a:pt x="690" y="284"/>
                    <a:pt x="690" y="284"/>
                  </a:cubicBezTo>
                  <a:cubicBezTo>
                    <a:pt x="690" y="271"/>
                    <a:pt x="677" y="258"/>
                    <a:pt x="664" y="258"/>
                  </a:cubicBezTo>
                  <a:close/>
                  <a:moveTo>
                    <a:pt x="354" y="26"/>
                  </a:moveTo>
                  <a:cubicBezTo>
                    <a:pt x="310" y="57"/>
                    <a:pt x="223" y="105"/>
                    <a:pt x="166" y="148"/>
                  </a:cubicBezTo>
                  <a:cubicBezTo>
                    <a:pt x="166" y="153"/>
                    <a:pt x="166" y="153"/>
                    <a:pt x="166" y="153"/>
                  </a:cubicBezTo>
                  <a:cubicBezTo>
                    <a:pt x="153" y="153"/>
                    <a:pt x="148" y="166"/>
                    <a:pt x="109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13" y="166"/>
                    <a:pt x="0" y="175"/>
                    <a:pt x="0" y="196"/>
                  </a:cubicBezTo>
                  <a:cubicBezTo>
                    <a:pt x="0" y="375"/>
                    <a:pt x="0" y="375"/>
                    <a:pt x="0" y="375"/>
                  </a:cubicBezTo>
                  <a:cubicBezTo>
                    <a:pt x="0" y="397"/>
                    <a:pt x="13" y="406"/>
                    <a:pt x="35" y="406"/>
                  </a:cubicBezTo>
                  <a:cubicBezTo>
                    <a:pt x="113" y="406"/>
                    <a:pt x="113" y="406"/>
                    <a:pt x="113" y="406"/>
                  </a:cubicBezTo>
                  <a:cubicBezTo>
                    <a:pt x="153" y="406"/>
                    <a:pt x="157" y="419"/>
                    <a:pt x="166" y="423"/>
                  </a:cubicBezTo>
                  <a:cubicBezTo>
                    <a:pt x="166" y="428"/>
                    <a:pt x="166" y="428"/>
                    <a:pt x="166" y="428"/>
                  </a:cubicBezTo>
                  <a:cubicBezTo>
                    <a:pt x="227" y="471"/>
                    <a:pt x="310" y="519"/>
                    <a:pt x="354" y="550"/>
                  </a:cubicBezTo>
                  <a:cubicBezTo>
                    <a:pt x="367" y="559"/>
                    <a:pt x="410" y="576"/>
                    <a:pt x="410" y="519"/>
                  </a:cubicBezTo>
                  <a:cubicBezTo>
                    <a:pt x="410" y="52"/>
                    <a:pt x="410" y="52"/>
                    <a:pt x="410" y="52"/>
                  </a:cubicBezTo>
                  <a:cubicBezTo>
                    <a:pt x="410" y="0"/>
                    <a:pt x="367" y="17"/>
                    <a:pt x="354" y="26"/>
                  </a:cubicBezTo>
                  <a:close/>
                  <a:moveTo>
                    <a:pt x="476" y="153"/>
                  </a:moveTo>
                  <a:cubicBezTo>
                    <a:pt x="485" y="166"/>
                    <a:pt x="498" y="170"/>
                    <a:pt x="506" y="161"/>
                  </a:cubicBezTo>
                  <a:cubicBezTo>
                    <a:pt x="616" y="70"/>
                    <a:pt x="616" y="70"/>
                    <a:pt x="616" y="70"/>
                  </a:cubicBezTo>
                  <a:cubicBezTo>
                    <a:pt x="624" y="61"/>
                    <a:pt x="629" y="44"/>
                    <a:pt x="620" y="30"/>
                  </a:cubicBezTo>
                  <a:cubicBezTo>
                    <a:pt x="616" y="22"/>
                    <a:pt x="616" y="22"/>
                    <a:pt x="616" y="22"/>
                  </a:cubicBezTo>
                  <a:cubicBezTo>
                    <a:pt x="607" y="9"/>
                    <a:pt x="594" y="4"/>
                    <a:pt x="585" y="13"/>
                  </a:cubicBezTo>
                  <a:cubicBezTo>
                    <a:pt x="476" y="105"/>
                    <a:pt x="476" y="105"/>
                    <a:pt x="476" y="105"/>
                  </a:cubicBezTo>
                  <a:cubicBezTo>
                    <a:pt x="467" y="113"/>
                    <a:pt x="463" y="131"/>
                    <a:pt x="471" y="144"/>
                  </a:cubicBezTo>
                  <a:lnTo>
                    <a:pt x="476" y="153"/>
                  </a:lnTo>
                  <a:close/>
                  <a:moveTo>
                    <a:pt x="511" y="415"/>
                  </a:moveTo>
                  <a:cubicBezTo>
                    <a:pt x="502" y="406"/>
                    <a:pt x="485" y="410"/>
                    <a:pt x="480" y="423"/>
                  </a:cubicBezTo>
                  <a:cubicBezTo>
                    <a:pt x="476" y="432"/>
                    <a:pt x="476" y="432"/>
                    <a:pt x="476" y="432"/>
                  </a:cubicBezTo>
                  <a:cubicBezTo>
                    <a:pt x="467" y="445"/>
                    <a:pt x="471" y="463"/>
                    <a:pt x="480" y="471"/>
                  </a:cubicBezTo>
                  <a:cubicBezTo>
                    <a:pt x="594" y="563"/>
                    <a:pt x="594" y="563"/>
                    <a:pt x="594" y="563"/>
                  </a:cubicBezTo>
                  <a:cubicBezTo>
                    <a:pt x="602" y="572"/>
                    <a:pt x="620" y="568"/>
                    <a:pt x="624" y="554"/>
                  </a:cubicBezTo>
                  <a:cubicBezTo>
                    <a:pt x="629" y="546"/>
                    <a:pt x="629" y="546"/>
                    <a:pt x="629" y="546"/>
                  </a:cubicBezTo>
                  <a:cubicBezTo>
                    <a:pt x="637" y="533"/>
                    <a:pt x="633" y="515"/>
                    <a:pt x="624" y="506"/>
                  </a:cubicBezTo>
                  <a:lnTo>
                    <a:pt x="511" y="415"/>
                  </a:lnTo>
                  <a:close/>
                  <a:moveTo>
                    <a:pt x="511" y="415"/>
                  </a:moveTo>
                  <a:cubicBezTo>
                    <a:pt x="511" y="415"/>
                    <a:pt x="511" y="415"/>
                    <a:pt x="511" y="415"/>
                  </a:cubicBezTo>
                </a:path>
              </a:pathLst>
            </a:custGeom>
            <a:solidFill>
              <a:srgbClr val="0070C0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 descr="5TKC8{TM~S5H@UYBJQA{FB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1475" y="4054793"/>
            <a:ext cx="1308100" cy="1014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TextBox 4"/>
          <p:cNvSpPr txBox="1"/>
          <p:nvPr/>
        </p:nvSpPr>
        <p:spPr>
          <a:xfrm>
            <a:off x="1806575" y="2479675"/>
            <a:ext cx="7015163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趣闻：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来自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Guido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所挚爱的电视剧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Monty Python’s Flying Circus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（大蟒蛇飞行马戏团）。他希望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语言符合他的理想：创造一种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之间，功能全面，易学易用，可拓展的语言。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AutoShape 3"/>
          <p:cNvSpPr/>
          <p:nvPr/>
        </p:nvSpPr>
        <p:spPr>
          <a:xfrm>
            <a:off x="1606550" y="1299845"/>
            <a:ext cx="193675" cy="877888"/>
          </a:xfrm>
          <a:prstGeom prst="leftBrace">
            <a:avLst>
              <a:gd name="adj1" fmla="val 61948"/>
              <a:gd name="adj2" fmla="val 50000"/>
            </a:avLst>
          </a:prstGeom>
          <a:noFill/>
          <a:ln w="28575" cap="flat" cmpd="sng">
            <a:solidFill>
              <a:srgbClr val="085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4"/>
          <p:cNvSpPr txBox="1"/>
          <p:nvPr/>
        </p:nvSpPr>
        <p:spPr>
          <a:xfrm>
            <a:off x="1800225" y="1277620"/>
            <a:ext cx="63531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产生：</a:t>
            </a:r>
            <a:r>
              <a:rPr lang="en-US" altLang="zh-CN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ython</a:t>
            </a:r>
            <a:r>
              <a:rPr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lang="zh-CN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由荷兰人Guido van Rossum（龟叔）于1989年发明</a:t>
            </a:r>
            <a:endParaRPr lang="zh-CN" altLang="zh-CN" dirty="0" err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性质：</a:t>
            </a:r>
            <a:r>
              <a:rPr lang="zh-CN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一种面向对象的解释型计算机程序设计语言</a:t>
            </a:r>
            <a:endParaRPr lang="en-US" altLang="zh-CN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AutoShape 3"/>
          <p:cNvSpPr/>
          <p:nvPr/>
        </p:nvSpPr>
        <p:spPr>
          <a:xfrm>
            <a:off x="1606550" y="2507933"/>
            <a:ext cx="193675" cy="2671762"/>
          </a:xfrm>
          <a:prstGeom prst="leftBrace">
            <a:avLst>
              <a:gd name="adj1" fmla="val 61822"/>
              <a:gd name="adj2" fmla="val 50000"/>
            </a:avLst>
          </a:prstGeom>
          <a:noFill/>
          <a:ln w="28575" cap="flat" cmpd="sng">
            <a:solidFill>
              <a:srgbClr val="085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180" y="3522980"/>
            <a:ext cx="1701165" cy="12896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2425" y="729615"/>
            <a:ext cx="187134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Python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的由来？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bldLvl="0" animBg="1"/>
      <p:bldP spid="18" grpId="0"/>
      <p:bldP spid="19" grpId="0" bldLvl="0" animBg="1"/>
      <p:bldP spid="27" grpId="0"/>
      <p:bldP spid="2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什么是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rowallia New" charset="0"/>
              </a:rPr>
              <a:t>Python</a:t>
            </a:r>
            <a:endParaRPr lang="en-US" altLang="zh-CN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rowallia New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07950" y="1905635"/>
            <a:ext cx="1325880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en-US" altLang="zh-CN" sz="16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-172402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29222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706563" y="186055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高级语言</a:t>
            </a:r>
            <a:endParaRPr lang="zh-CN" altLang="en-US" sz="2000" b="1" strike="noStrike" noProof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37125" y="198374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5077460" y="2012315"/>
            <a:ext cx="4113213" cy="1195705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1.跨平台、开源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2.面向对象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3.解释型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4.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脚本语言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7705" y="3881885"/>
            <a:ext cx="762762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en-US" altLang="zh-CN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altLang="zh-CN" b="1" spc="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b="1" spc="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是一种开源的面向对象的脚本解释型的高级语言</a:t>
            </a:r>
            <a:r>
              <a:rPr lang="en-US" altLang="zh-CN" b="1" spc="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</a:t>
            </a:r>
            <a:endParaRPr lang="en-US" altLang="zh-CN" b="1" strike="noStrike" spc="50" noProof="1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b="1" spc="50" noProof="1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294957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333750" y="1860550"/>
            <a:ext cx="996950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en-US" altLang="zh-CN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en-US" altLang="zh-CN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12" grpId="0"/>
      <p:bldP spid="1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Browallia New" charset="0"/>
              </a:rPr>
              <a:t>编程语言分类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Browallia New" charset="0"/>
            </a:endParaRPr>
          </a:p>
        </p:txBody>
      </p:sp>
      <p:sp>
        <p:nvSpPr>
          <p:cNvPr id="7" name="AutoShape 10"/>
          <p:cNvSpPr/>
          <p:nvPr/>
        </p:nvSpPr>
        <p:spPr>
          <a:xfrm rot="-5400000">
            <a:off x="2949575" y="307975"/>
            <a:ext cx="1398588" cy="3998913"/>
          </a:xfrm>
          <a:prstGeom prst="downArrow">
            <a:avLst>
              <a:gd name="adj1" fmla="val 49074"/>
              <a:gd name="adj2" fmla="val 44741"/>
            </a:avLst>
          </a:prstGeom>
          <a:solidFill>
            <a:srgbClr val="53C3B0"/>
          </a:solidFill>
          <a:ln w="9525">
            <a:noFill/>
          </a:ln>
        </p:spPr>
        <p:txBody>
          <a:bodyPr anchor="t"/>
          <a:lstStyle/>
          <a:p>
            <a:endParaRPr lang="zh-CN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41"/>
          <p:cNvGrpSpPr/>
          <p:nvPr/>
        </p:nvGrpSpPr>
        <p:grpSpPr>
          <a:xfrm>
            <a:off x="3235325" y="1536700"/>
            <a:ext cx="1701800" cy="1539875"/>
            <a:chOff x="0" y="0"/>
            <a:chExt cx="1935848" cy="1751017"/>
          </a:xfrm>
        </p:grpSpPr>
        <p:grpSp>
          <p:nvGrpSpPr>
            <p:cNvPr id="122884" name="Group 6"/>
            <p:cNvGrpSpPr/>
            <p:nvPr/>
          </p:nvGrpSpPr>
          <p:grpSpPr>
            <a:xfrm>
              <a:off x="80986" y="0"/>
              <a:ext cx="1753450" cy="1751017"/>
              <a:chOff x="0" y="0"/>
              <a:chExt cx="1801" cy="1801"/>
            </a:xfrm>
          </p:grpSpPr>
          <p:sp>
            <p:nvSpPr>
              <p:cNvPr id="122885" name="Oval 7"/>
              <p:cNvSpPr/>
              <p:nvPr/>
            </p:nvSpPr>
            <p:spPr>
              <a:xfrm>
                <a:off x="0" y="0"/>
                <a:ext cx="1801" cy="1801"/>
              </a:xfrm>
              <a:prstGeom prst="ellipse">
                <a:avLst/>
              </a:prstGeom>
              <a:solidFill>
                <a:srgbClr val="D8D8D8">
                  <a:alpha val="46999"/>
                </a:srgbClr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2886" name="Oval 8"/>
              <p:cNvSpPr/>
              <p:nvPr/>
            </p:nvSpPr>
            <p:spPr>
              <a:xfrm>
                <a:off x="122" y="122"/>
                <a:ext cx="1556" cy="1556"/>
              </a:xfrm>
              <a:prstGeom prst="ellipse">
                <a:avLst/>
              </a:prstGeom>
              <a:solidFill>
                <a:srgbClr val="EE3636"/>
              </a:solidFill>
              <a:ln w="38100" cap="flat" cmpd="sng">
                <a:solidFill>
                  <a:srgbClr val="FFFF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22887" name="Text Box 9"/>
            <p:cNvSpPr/>
            <p:nvPr/>
          </p:nvSpPr>
          <p:spPr>
            <a:xfrm>
              <a:off x="0" y="627060"/>
              <a:ext cx="1935848" cy="6201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algn="ctr"/>
              <a:r>
                <a:rPr lang="zh-CN" altLang="en-US" sz="2000" b="1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汇编语言</a:t>
              </a:r>
              <a:endParaRPr lang="zh-CN" altLang="en-US" sz="20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40"/>
          <p:cNvGrpSpPr/>
          <p:nvPr/>
        </p:nvGrpSpPr>
        <p:grpSpPr>
          <a:xfrm>
            <a:off x="1558925" y="1536700"/>
            <a:ext cx="1701800" cy="1539875"/>
            <a:chOff x="0" y="0"/>
            <a:chExt cx="1935848" cy="1751017"/>
          </a:xfrm>
        </p:grpSpPr>
        <p:grpSp>
          <p:nvGrpSpPr>
            <p:cNvPr id="122889" name="Group 6"/>
            <p:cNvGrpSpPr/>
            <p:nvPr/>
          </p:nvGrpSpPr>
          <p:grpSpPr>
            <a:xfrm>
              <a:off x="80986" y="0"/>
              <a:ext cx="1753450" cy="1751017"/>
              <a:chOff x="0" y="0"/>
              <a:chExt cx="1801" cy="1801"/>
            </a:xfrm>
          </p:grpSpPr>
          <p:sp>
            <p:nvSpPr>
              <p:cNvPr id="122890" name="Oval 7"/>
              <p:cNvSpPr/>
              <p:nvPr/>
            </p:nvSpPr>
            <p:spPr>
              <a:xfrm>
                <a:off x="0" y="0"/>
                <a:ext cx="1801" cy="1801"/>
              </a:xfrm>
              <a:prstGeom prst="ellipse">
                <a:avLst/>
              </a:prstGeom>
              <a:solidFill>
                <a:srgbClr val="D8D8D8">
                  <a:alpha val="46999"/>
                </a:srgbClr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2891" name="Oval 8"/>
              <p:cNvSpPr/>
              <p:nvPr/>
            </p:nvSpPr>
            <p:spPr>
              <a:xfrm>
                <a:off x="123" y="122"/>
                <a:ext cx="1556" cy="1556"/>
              </a:xfrm>
              <a:prstGeom prst="ellipse">
                <a:avLst/>
              </a:prstGeom>
              <a:solidFill>
                <a:srgbClr val="EE3636"/>
              </a:solidFill>
              <a:ln w="38100" cap="flat" cmpd="sng">
                <a:solidFill>
                  <a:srgbClr val="FFFF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22892" name="Text Box 9"/>
            <p:cNvSpPr/>
            <p:nvPr/>
          </p:nvSpPr>
          <p:spPr>
            <a:xfrm>
              <a:off x="0" y="608010"/>
              <a:ext cx="1935848" cy="6201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algn="ctr"/>
              <a:r>
                <a:rPr lang="zh-CN" altLang="en-US" sz="2000" b="1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机器语言</a:t>
              </a:r>
              <a:endParaRPr lang="zh-CN" altLang="en-US" sz="20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8" name="组合 41"/>
          <p:cNvGrpSpPr/>
          <p:nvPr/>
        </p:nvGrpSpPr>
        <p:grpSpPr>
          <a:xfrm>
            <a:off x="5592763" y="1536700"/>
            <a:ext cx="1701800" cy="1539875"/>
            <a:chOff x="0" y="0"/>
            <a:chExt cx="1935848" cy="1751017"/>
          </a:xfrm>
        </p:grpSpPr>
        <p:grpSp>
          <p:nvGrpSpPr>
            <p:cNvPr id="122894" name="Group 6"/>
            <p:cNvGrpSpPr/>
            <p:nvPr/>
          </p:nvGrpSpPr>
          <p:grpSpPr>
            <a:xfrm>
              <a:off x="80986" y="0"/>
              <a:ext cx="1753450" cy="1751017"/>
              <a:chOff x="0" y="0"/>
              <a:chExt cx="1801" cy="1801"/>
            </a:xfrm>
          </p:grpSpPr>
          <p:sp>
            <p:nvSpPr>
              <p:cNvPr id="122895" name="Oval 7"/>
              <p:cNvSpPr/>
              <p:nvPr/>
            </p:nvSpPr>
            <p:spPr>
              <a:xfrm>
                <a:off x="0" y="0"/>
                <a:ext cx="1801" cy="1801"/>
              </a:xfrm>
              <a:prstGeom prst="ellipse">
                <a:avLst/>
              </a:prstGeom>
              <a:solidFill>
                <a:srgbClr val="D8D8D8">
                  <a:alpha val="46999"/>
                </a:srgbClr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2896" name="Oval 8"/>
              <p:cNvSpPr/>
              <p:nvPr/>
            </p:nvSpPr>
            <p:spPr>
              <a:xfrm>
                <a:off x="122" y="122"/>
                <a:ext cx="1556" cy="1556"/>
              </a:xfrm>
              <a:prstGeom prst="ellipse">
                <a:avLst/>
              </a:prstGeom>
              <a:solidFill>
                <a:srgbClr val="5AADD6"/>
              </a:solidFill>
              <a:ln w="38100" cap="flat" cmpd="sng">
                <a:solidFill>
                  <a:srgbClr val="FFFF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22897" name="Text Box 9"/>
            <p:cNvSpPr/>
            <p:nvPr/>
          </p:nvSpPr>
          <p:spPr>
            <a:xfrm>
              <a:off x="0" y="627060"/>
              <a:ext cx="1935848" cy="6201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algn="ctr"/>
              <a:r>
                <a:rPr lang="zh-CN" altLang="en-US" sz="2000" b="1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高级语言</a:t>
              </a:r>
              <a:endParaRPr lang="zh-CN" altLang="en-US" sz="20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9" name="AutoShape 4"/>
          <p:cNvSpPr/>
          <p:nvPr/>
        </p:nvSpPr>
        <p:spPr bwMode="auto">
          <a:xfrm rot="5400000">
            <a:off x="3067050" y="2381250"/>
            <a:ext cx="193675" cy="1527175"/>
          </a:xfrm>
          <a:prstGeom prst="rightBrace">
            <a:avLst>
              <a:gd name="adj1" fmla="val 20815"/>
              <a:gd name="adj2" fmla="val 50000"/>
            </a:avLst>
          </a:prstGeom>
          <a:ln w="38100">
            <a:solidFill>
              <a:srgbClr val="EE363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pPr fontAlgn="base"/>
            <a:endParaRPr lang="zh-CN" altLang="en-US" strike="noStrike" noProof="1">
              <a:solidFill>
                <a:srgbClr val="EE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2609850" y="3452813"/>
            <a:ext cx="1109663" cy="385763"/>
          </a:xfrm>
          <a:prstGeom prst="rect">
            <a:avLst/>
          </a:prstGeom>
          <a:solidFill>
            <a:srgbClr val="FF0000"/>
          </a:solidFill>
          <a:ln w="12700">
            <a:solidFill>
              <a:schemeClr val="bg1"/>
            </a:solidFill>
            <a:bevel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zh-CN" altLang="en-US" sz="1600" strike="noStrike" noProof="1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低级语言</a:t>
            </a:r>
            <a:endParaRPr lang="zh-CN" altLang="en-US" sz="1600" strike="noStrike" noProof="1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2" name="组合 41"/>
          <p:cNvGrpSpPr/>
          <p:nvPr/>
        </p:nvGrpSpPr>
        <p:grpSpPr>
          <a:xfrm>
            <a:off x="4434205" y="3830320"/>
            <a:ext cx="1388110" cy="1191895"/>
            <a:chOff x="0" y="0"/>
            <a:chExt cx="1935848" cy="1751017"/>
          </a:xfrm>
        </p:grpSpPr>
        <p:grpSp>
          <p:nvGrpSpPr>
            <p:cNvPr id="3" name="Group 6"/>
            <p:cNvGrpSpPr/>
            <p:nvPr/>
          </p:nvGrpSpPr>
          <p:grpSpPr>
            <a:xfrm>
              <a:off x="80986" y="0"/>
              <a:ext cx="1753450" cy="1751017"/>
              <a:chOff x="0" y="0"/>
              <a:chExt cx="1801" cy="1801"/>
            </a:xfrm>
          </p:grpSpPr>
          <p:sp>
            <p:nvSpPr>
              <p:cNvPr id="4" name="Oval 7"/>
              <p:cNvSpPr/>
              <p:nvPr/>
            </p:nvSpPr>
            <p:spPr>
              <a:xfrm>
                <a:off x="0" y="0"/>
                <a:ext cx="1801" cy="1801"/>
              </a:xfrm>
              <a:prstGeom prst="ellipse">
                <a:avLst/>
              </a:prstGeom>
              <a:solidFill>
                <a:srgbClr val="D8D8D8">
                  <a:alpha val="46999"/>
                </a:srgbClr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" name="Oval 8"/>
              <p:cNvSpPr/>
              <p:nvPr/>
            </p:nvSpPr>
            <p:spPr>
              <a:xfrm>
                <a:off x="122" y="122"/>
                <a:ext cx="1556" cy="1556"/>
              </a:xfrm>
              <a:prstGeom prst="ellipse">
                <a:avLst/>
              </a:prstGeom>
              <a:solidFill>
                <a:srgbClr val="EE3636"/>
              </a:solidFill>
              <a:ln w="38100" cap="flat" cmpd="sng">
                <a:solidFill>
                  <a:srgbClr val="FFFF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6" name="Text Box 9"/>
            <p:cNvSpPr/>
            <p:nvPr/>
          </p:nvSpPr>
          <p:spPr>
            <a:xfrm>
              <a:off x="0" y="627060"/>
              <a:ext cx="1935848" cy="6201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algn="ctr"/>
              <a:r>
                <a:rPr lang="zh-CN" altLang="en-US" sz="2000" b="1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编译型</a:t>
              </a:r>
              <a:endParaRPr lang="zh-CN" altLang="en-US" sz="20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41"/>
          <p:cNvGrpSpPr/>
          <p:nvPr/>
        </p:nvGrpSpPr>
        <p:grpSpPr>
          <a:xfrm>
            <a:off x="7072630" y="3885565"/>
            <a:ext cx="1388110" cy="1191895"/>
            <a:chOff x="0" y="0"/>
            <a:chExt cx="1935848" cy="1751017"/>
          </a:xfrm>
        </p:grpSpPr>
        <p:grpSp>
          <p:nvGrpSpPr>
            <p:cNvPr id="10" name="Group 6"/>
            <p:cNvGrpSpPr/>
            <p:nvPr/>
          </p:nvGrpSpPr>
          <p:grpSpPr>
            <a:xfrm>
              <a:off x="80986" y="0"/>
              <a:ext cx="1753450" cy="1751017"/>
              <a:chOff x="0" y="0"/>
              <a:chExt cx="1801" cy="1801"/>
            </a:xfrm>
          </p:grpSpPr>
          <p:sp>
            <p:nvSpPr>
              <p:cNvPr id="11" name="Oval 7"/>
              <p:cNvSpPr/>
              <p:nvPr/>
            </p:nvSpPr>
            <p:spPr>
              <a:xfrm>
                <a:off x="0" y="0"/>
                <a:ext cx="1801" cy="1801"/>
              </a:xfrm>
              <a:prstGeom prst="ellipse">
                <a:avLst/>
              </a:prstGeom>
              <a:solidFill>
                <a:srgbClr val="D8D8D8">
                  <a:alpha val="46999"/>
                </a:srgbClr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" name="Oval 8"/>
              <p:cNvSpPr/>
              <p:nvPr/>
            </p:nvSpPr>
            <p:spPr>
              <a:xfrm>
                <a:off x="122" y="122"/>
                <a:ext cx="1556" cy="1556"/>
              </a:xfrm>
              <a:prstGeom prst="ellipse">
                <a:avLst/>
              </a:prstGeom>
              <a:solidFill>
                <a:srgbClr val="EE3636"/>
              </a:solidFill>
              <a:ln w="38100" cap="flat" cmpd="sng">
                <a:solidFill>
                  <a:srgbClr val="FFFF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zh-CN" sz="20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4" name="Text Box 9"/>
            <p:cNvSpPr/>
            <p:nvPr/>
          </p:nvSpPr>
          <p:spPr>
            <a:xfrm>
              <a:off x="0" y="627060"/>
              <a:ext cx="1935848" cy="6201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pPr algn="ctr"/>
              <a:r>
                <a:rPr lang="zh-CN" altLang="en-US" sz="2000" b="1" dirty="0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解释型</a:t>
              </a:r>
              <a:endParaRPr lang="zh-CN" altLang="en-US" sz="20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692775" y="2906395"/>
            <a:ext cx="1628140" cy="1238250"/>
            <a:chOff x="8819" y="4436"/>
            <a:chExt cx="2564" cy="1950"/>
          </a:xfrm>
        </p:grpSpPr>
        <p:sp>
          <p:nvSpPr>
            <p:cNvPr id="135" name=" 135"/>
            <p:cNvSpPr/>
            <p:nvPr/>
          </p:nvSpPr>
          <p:spPr>
            <a:xfrm rot="7800000">
              <a:off x="8081" y="5196"/>
              <a:ext cx="1928" cy="453"/>
            </a:xfrm>
            <a:custGeom>
              <a:avLst/>
              <a:gdLst>
                <a:gd name="connsiteX0" fmla="*/ 4381875 w 6516714"/>
                <a:gd name="connsiteY0" fmla="*/ 0 h 2476413"/>
                <a:gd name="connsiteX1" fmla="*/ 6516714 w 6516714"/>
                <a:gd name="connsiteY1" fmla="*/ 1238208 h 2476413"/>
                <a:gd name="connsiteX2" fmla="*/ 4381875 w 6516714"/>
                <a:gd name="connsiteY2" fmla="*/ 2476413 h 2476413"/>
                <a:gd name="connsiteX3" fmla="*/ 4381875 w 6516714"/>
                <a:gd name="connsiteY3" fmla="*/ 2456682 h 2476413"/>
                <a:gd name="connsiteX4" fmla="*/ 4855462 w 6516714"/>
                <a:gd name="connsiteY4" fmla="*/ 1644997 h 2476413"/>
                <a:gd name="connsiteX5" fmla="*/ 0 w 6516714"/>
                <a:gd name="connsiteY5" fmla="*/ 1238206 h 2476413"/>
                <a:gd name="connsiteX6" fmla="*/ 4855461 w 6516714"/>
                <a:gd name="connsiteY6" fmla="*/ 831415 h 2476413"/>
                <a:gd name="connsiteX7" fmla="*/ 4381875 w 6516714"/>
                <a:gd name="connsiteY7" fmla="*/ 19731 h 2476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16714" h="2476413">
                  <a:moveTo>
                    <a:pt x="4381875" y="0"/>
                  </a:moveTo>
                  <a:lnTo>
                    <a:pt x="6516714" y="1238208"/>
                  </a:lnTo>
                  <a:lnTo>
                    <a:pt x="4381875" y="2476413"/>
                  </a:lnTo>
                  <a:lnTo>
                    <a:pt x="4381875" y="2456682"/>
                  </a:lnTo>
                  <a:lnTo>
                    <a:pt x="4855462" y="1644997"/>
                  </a:lnTo>
                  <a:lnTo>
                    <a:pt x="0" y="1238206"/>
                  </a:lnTo>
                  <a:lnTo>
                    <a:pt x="4855461" y="831415"/>
                  </a:lnTo>
                  <a:lnTo>
                    <a:pt x="4381875" y="197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 135"/>
            <p:cNvSpPr/>
            <p:nvPr/>
          </p:nvSpPr>
          <p:spPr>
            <a:xfrm rot="3180000">
              <a:off x="10193" y="5174"/>
              <a:ext cx="1928" cy="453"/>
            </a:xfrm>
            <a:custGeom>
              <a:avLst/>
              <a:gdLst>
                <a:gd name="connsiteX0" fmla="*/ 4381875 w 6516714"/>
                <a:gd name="connsiteY0" fmla="*/ 0 h 2476413"/>
                <a:gd name="connsiteX1" fmla="*/ 6516714 w 6516714"/>
                <a:gd name="connsiteY1" fmla="*/ 1238208 h 2476413"/>
                <a:gd name="connsiteX2" fmla="*/ 4381875 w 6516714"/>
                <a:gd name="connsiteY2" fmla="*/ 2476413 h 2476413"/>
                <a:gd name="connsiteX3" fmla="*/ 4381875 w 6516714"/>
                <a:gd name="connsiteY3" fmla="*/ 2456682 h 2476413"/>
                <a:gd name="connsiteX4" fmla="*/ 4855462 w 6516714"/>
                <a:gd name="connsiteY4" fmla="*/ 1644997 h 2476413"/>
                <a:gd name="connsiteX5" fmla="*/ 0 w 6516714"/>
                <a:gd name="connsiteY5" fmla="*/ 1238206 h 2476413"/>
                <a:gd name="connsiteX6" fmla="*/ 4855461 w 6516714"/>
                <a:gd name="connsiteY6" fmla="*/ 831415 h 2476413"/>
                <a:gd name="connsiteX7" fmla="*/ 4381875 w 6516714"/>
                <a:gd name="connsiteY7" fmla="*/ 19731 h 2476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16714" h="2476413">
                  <a:moveTo>
                    <a:pt x="4381875" y="0"/>
                  </a:moveTo>
                  <a:lnTo>
                    <a:pt x="6516714" y="1238208"/>
                  </a:lnTo>
                  <a:lnTo>
                    <a:pt x="4381875" y="2476413"/>
                  </a:lnTo>
                  <a:lnTo>
                    <a:pt x="4381875" y="2456682"/>
                  </a:lnTo>
                  <a:lnTo>
                    <a:pt x="4855462" y="1644997"/>
                  </a:lnTo>
                  <a:lnTo>
                    <a:pt x="0" y="1238206"/>
                  </a:lnTo>
                  <a:lnTo>
                    <a:pt x="4855461" y="831415"/>
                  </a:lnTo>
                  <a:lnTo>
                    <a:pt x="4381875" y="197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69900" y="814070"/>
            <a:ext cx="2240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Browallia New" charset="0"/>
              </a:rPr>
              <a:t>通过执行方式来分：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9" grpId="0" bldLvl="0" animBg="1"/>
      <p:bldP spid="30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</p:spPr>
        <p:txBody>
          <a:bodyPr wrap="square">
            <a:spAutoFit/>
          </a:bodyPr>
          <a:lstStyle/>
          <a:p>
            <a:pPr fontAlgn="base"/>
            <a:r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什么是编译型语言</a:t>
            </a:r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409575" y="1017514"/>
            <a:ext cx="4993640" cy="407818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代表语言：   </a:t>
            </a:r>
            <a:r>
              <a:rPr lang="en-US" altLang="zh-CN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语言，</a:t>
            </a:r>
            <a:r>
              <a:rPr lang="en-US" altLang="zh-CN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C++</a:t>
            </a: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</a:t>
            </a:r>
            <a:endParaRPr lang="zh-CN" altLang="en-US" sz="1800" strike="noStrike" kern="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409575" y="3322955"/>
            <a:ext cx="6677660" cy="1476374"/>
          </a:xfrm>
          <a:prstGeom prst="roundRect">
            <a:avLst>
              <a:gd name="adj" fmla="val 0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406400" algn="l" eaLnBrk="1" fontAlgn="base" latinLnBrk="0" hangingPunct="1"/>
            <a:endParaRPr lang="zh-CN" altLang="en-US" sz="1800" strike="noStrike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  <a:p>
            <a:pPr indent="406400" algn="l" eaLnBrk="1" fontAlgn="base" latinLnBrk="0" hangingPunct="1"/>
            <a:r>
              <a:rPr lang="zh-CN" altLang="en-US" sz="1800" strike="noStrike" noProof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总结：编译器将源代码逐条编译成机器代码，任何一条语句有错，都不能通过编译，最终形成目标代码，以后每次执行只执行目标代码即可，因此执行速度快。</a:t>
            </a:r>
            <a:endParaRPr lang="zh-CN" altLang="en-US" sz="1800" strike="noStrike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  <a:p>
            <a:pPr indent="406400" algn="l" eaLnBrk="1" fontAlgn="base" latinLnBrk="0" hangingPunct="1"/>
            <a:endParaRPr lang="zh-CN" altLang="en-US" sz="18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0695" y="2068195"/>
            <a:ext cx="1125855" cy="50673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源代码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1691640" y="2249170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469005" y="2232660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009390" y="2068830"/>
            <a:ext cx="1125855" cy="50673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目标代码</a:t>
            </a:r>
            <a:endParaRPr lang="zh-CN" altLang="en-US"/>
          </a:p>
        </p:txBody>
      </p:sp>
      <p:sp>
        <p:nvSpPr>
          <p:cNvPr id="11" name="流程图: 可选过程 10"/>
          <p:cNvSpPr/>
          <p:nvPr/>
        </p:nvSpPr>
        <p:spPr>
          <a:xfrm>
            <a:off x="2305685" y="2040890"/>
            <a:ext cx="1053465" cy="561982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sym typeface="+mn-ea"/>
              </a:rPr>
              <a:t>编译器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246370" y="2287905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3" name="流程图: 可选过程 12"/>
          <p:cNvSpPr/>
          <p:nvPr/>
        </p:nvSpPr>
        <p:spPr>
          <a:xfrm>
            <a:off x="5805170" y="2096135"/>
            <a:ext cx="1053465" cy="56155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6951980" y="2271395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6" name="流程图: 可选过程 15"/>
          <p:cNvSpPr/>
          <p:nvPr/>
        </p:nvSpPr>
        <p:spPr>
          <a:xfrm>
            <a:off x="7510780" y="2079625"/>
            <a:ext cx="1053465" cy="56155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805170" y="2766695"/>
            <a:ext cx="1302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多次执行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</p:spPr>
        <p:txBody>
          <a:bodyPr wrap="square">
            <a:spAutoFit/>
          </a:bodyPr>
          <a:lstStyle/>
          <a:p>
            <a:pPr fontAlgn="base"/>
            <a:r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什么是解释型语言</a:t>
            </a:r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2010728" y="1131650"/>
            <a:ext cx="4992370" cy="407818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 anchorCtr="0">
            <a:spAutoFit/>
          </a:bodyPr>
          <a:lstStyle/>
          <a:p>
            <a:pPr marL="0" lvl="1" indent="-285750" algn="l" eaLnBrk="0" fontAlgn="base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代表语言：     </a:t>
            </a:r>
            <a:r>
              <a:rPr lang="en-US" altLang="zh-CN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语言，</a:t>
            </a:r>
            <a:r>
              <a:rPr lang="en-US" altLang="zh-CN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JavaScript</a:t>
            </a:r>
            <a:r>
              <a:rPr lang="zh-CN" altLang="en-US" sz="1800" strike="noStrike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</a:t>
            </a:r>
            <a:endParaRPr lang="zh-CN" altLang="en-US" sz="1800" strike="noStrike" kern="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2010263" y="3454021"/>
            <a:ext cx="4992688" cy="922019"/>
          </a:xfrm>
          <a:prstGeom prst="roundRect">
            <a:avLst>
              <a:gd name="adj" fmla="val 0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406400" algn="l" eaLnBrk="1" fontAlgn="base" latinLnBrk="0" hangingPunct="1"/>
            <a:endParaRPr lang="zh-CN" altLang="en-US" sz="1800" strike="noStrike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  <a:p>
            <a:pPr indent="406400" algn="l" eaLnBrk="1" fontAlgn="base" latinLnBrk="0" hangingPunct="1"/>
            <a:r>
              <a:rPr lang="zh-CN" altLang="en-US" sz="1800" strike="noStrike" noProof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解释器逐条解释源代码，成功一条就执行一条，每次执行时都需要解释，所以速度稍慢</a:t>
            </a:r>
            <a:endParaRPr lang="zh-CN" altLang="en-US" sz="1800" strike="noStrike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78368" y="1954684"/>
            <a:ext cx="1125855" cy="50673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源代码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389313" y="2135659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1" name="流程图: 可选过程 10"/>
          <p:cNvSpPr/>
          <p:nvPr/>
        </p:nvSpPr>
        <p:spPr>
          <a:xfrm>
            <a:off x="4003358" y="1927379"/>
            <a:ext cx="1053465" cy="56155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解释器</a:t>
            </a:r>
            <a:endParaRPr lang="zh-CN" altLang="en-US" dirty="0"/>
          </a:p>
        </p:txBody>
      </p:sp>
      <p:sp>
        <p:nvSpPr>
          <p:cNvPr id="14" name="右箭头 13"/>
          <p:cNvSpPr/>
          <p:nvPr/>
        </p:nvSpPr>
        <p:spPr>
          <a:xfrm>
            <a:off x="5277168" y="2157884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6" name="流程图: 可选过程 15"/>
          <p:cNvSpPr/>
          <p:nvPr/>
        </p:nvSpPr>
        <p:spPr>
          <a:xfrm>
            <a:off x="5835968" y="1966114"/>
            <a:ext cx="1053465" cy="56155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534728" y="2771929"/>
            <a:ext cx="336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每次执行都需要解释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6" grpId="0" bldLvl="0" animBg="1"/>
      <p:bldP spid="7" grpId="0" bldLvl="0" animBg="1"/>
      <p:bldP spid="11" grpId="0" bldLvl="0" animBg="1"/>
      <p:bldP spid="14" grpId="0" bldLvl="0" animBg="1"/>
      <p:bldP spid="16" grpId="0" bldLvl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为什么使用</a:t>
            </a:r>
            <a:r>
              <a:rPr lang="en-US" altLang="zh-CN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r>
              <a:rPr lang="zh-CN" altLang="en-US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解释器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rowallia New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3395" y="3100070"/>
            <a:ext cx="956945" cy="149796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 bwMode="auto">
          <a:xfrm>
            <a:off x="8113132" y="4598149"/>
            <a:ext cx="864096" cy="432048"/>
          </a:xfrm>
          <a:prstGeom prst="round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57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t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085850"/>
            <a:ext cx="3409315" cy="1710690"/>
          </a:xfrm>
          <a:prstGeom prst="rect">
            <a:avLst/>
          </a:prstGeom>
        </p:spPr>
      </p:pic>
      <p:pic>
        <p:nvPicPr>
          <p:cNvPr id="6" name="图片 5" descr="timg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20" y="1166495"/>
            <a:ext cx="2169795" cy="163004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3844290" y="1818640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1" name="流程图: 可选过程 10"/>
          <p:cNvSpPr/>
          <p:nvPr/>
        </p:nvSpPr>
        <p:spPr>
          <a:xfrm>
            <a:off x="4458335" y="1610360"/>
            <a:ext cx="1053465" cy="56155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ctr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sym typeface="+mn-ea"/>
              </a:rPr>
              <a:t>解释器</a:t>
            </a: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5732145" y="1840865"/>
            <a:ext cx="504190" cy="144145"/>
          </a:xfrm>
          <a:prstGeom prst="rightArrow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7" grpId="0" bldLvl="0" animBg="1"/>
      <p:bldP spid="11" grpId="0" bldLvl="0" animBg="1"/>
      <p:bldP spid="1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charset="0"/>
              </a:rPr>
              <a:t>什么是解释器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Browallia New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14300" y="190658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解释器</a:t>
            </a:r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-315912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29222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706563" y="186055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37125" y="198374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5077460" y="2120900"/>
            <a:ext cx="4113213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逐条解释并执行源代码的一种程序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5255" y="3211520"/>
            <a:ext cx="68776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定义:解释器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是一种将源程序代码逐条解释成机器语言并执行的程序</a:t>
            </a:r>
            <a:endParaRPr lang="zh-CN" altLang="en-US" b="1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294957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333750" y="1860550"/>
            <a:ext cx="996950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7"/>
          <p:cNvSpPr/>
          <p:nvPr/>
        </p:nvSpPr>
        <p:spPr>
          <a:xfrm flipH="1">
            <a:off x="506413" y="3082925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82305" y="3715555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791505" y="4155860"/>
            <a:ext cx="2480356" cy="485918"/>
            <a:chOff x="2782599" y="1459401"/>
            <a:chExt cx="1870251" cy="276935"/>
          </a:xfrm>
          <a:solidFill>
            <a:schemeClr val="accent1"/>
          </a:solidFill>
        </p:grpSpPr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2782599" y="1459401"/>
              <a:ext cx="1870251" cy="276935"/>
            </a:xfrm>
            <a:prstGeom prst="chevron">
              <a:avLst>
                <a:gd name="adj" fmla="val 12153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2997593" y="1507535"/>
              <a:ext cx="1491634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PyPy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90964" y="415586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CPython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297093" y="4155860"/>
            <a:ext cx="2480356" cy="485918"/>
            <a:chOff x="4671876" y="1459401"/>
            <a:chExt cx="1870251" cy="276935"/>
          </a:xfrm>
          <a:solidFill>
            <a:schemeClr val="accent1"/>
          </a:solidFill>
        </p:grpSpPr>
        <p:sp>
          <p:nvSpPr>
            <p:cNvPr id="40" name="AutoShape 9"/>
            <p:cNvSpPr>
              <a:spLocks noChangeArrowheads="1"/>
            </p:cNvSpPr>
            <p:nvPr/>
          </p:nvSpPr>
          <p:spPr bwMode="auto">
            <a:xfrm>
              <a:off x="4671876" y="1459401"/>
              <a:ext cx="1870251" cy="276935"/>
            </a:xfrm>
            <a:prstGeom prst="chevron">
              <a:avLst>
                <a:gd name="adj" fmla="val 12153"/>
              </a:avLst>
            </a:prstGeom>
            <a:solidFill>
              <a:srgbClr val="92D05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4886869" y="1507535"/>
              <a:ext cx="1493537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Jython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12" grpId="0"/>
      <p:bldP spid="15" grpId="0" bldLvl="0" animBg="1"/>
      <p:bldP spid="18" grpId="0" bldLvl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charset="0"/>
              </a:rPr>
              <a:t>解释器的作用</a:t>
            </a:r>
            <a:endParaRPr lang="zh-CN" altLang="en-US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Browallia New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22425" y="958215"/>
            <a:ext cx="3854450" cy="171894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1981835" y="1199515"/>
            <a:ext cx="4113530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将源程序逐条解释成机器语言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8" name="TextBox 22"/>
          <p:cNvSpPr txBox="1"/>
          <p:nvPr/>
        </p:nvSpPr>
        <p:spPr>
          <a:xfrm>
            <a:off x="1976755" y="1805305"/>
            <a:ext cx="4113530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.执行程序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基本语法</a:t>
            </a:r>
            <a:r>
              <a:rPr lang="en-US" altLang="zh-CN" dirty="0"/>
              <a:t>1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课程导入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6078" y="802640"/>
            <a:ext cx="34004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C语言中的运算符和数据类型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134938" y="624205"/>
            <a:ext cx="5143500" cy="4523105"/>
          </a:xfrm>
          <a:prstGeom prst="roundRect">
            <a:avLst>
              <a:gd name="adj" fmla="val 0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lIns="0" rIns="0">
            <a:spAutoFit/>
          </a:bodyPr>
          <a:lstStyle/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#include&lt;stdio.h&gt;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#include&lt;stdlib.h&gt;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char b[6]={'8 ', '8 ', '8 ', '8 ', '8 ', '8 '};	//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存放密码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void Login()  {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char a[20],ch; 		//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用户登陆密码，用以验证</a:t>
            </a:r>
            <a:endParaRPr lang="zh-CN" altLang="en-US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i=0,n=1,k;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printf("\n\t\t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欢迎使用</a:t>
            </a: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ICBC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自动存取取款机</a:t>
            </a: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\n");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printf("\n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请输入密码</a:t>
            </a: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:");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for(n=1;n&lt;=5;n++) {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while((int)(a[i]=getch())!=13) {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i=i+1;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4155" lvl="1" indent="-224155" algn="l" defTabSz="381000" eaLnBrk="0" fontAlgn="base" hangingPunct="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printf("*"); 	//</a:t>
            </a:r>
            <a:r>
              <a:rPr lang="zh-CN" altLang="en-US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将用户输入的密码以*显示</a:t>
            </a:r>
            <a:r>
              <a:rPr lang="en-US" altLang="zh-CN" sz="1600" strike="noStrike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705" y="1491615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5275" y="2224405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>
            <a:stCxn id="4" idx="3"/>
          </p:cNvCxnSpPr>
          <p:nvPr/>
        </p:nvCxnSpPr>
        <p:spPr>
          <a:xfrm>
            <a:off x="755650" y="1635760"/>
            <a:ext cx="1080135" cy="28829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" idx="3"/>
          </p:cNvCxnSpPr>
          <p:nvPr/>
        </p:nvCxnSpPr>
        <p:spPr>
          <a:xfrm flipV="1">
            <a:off x="871220" y="1995805"/>
            <a:ext cx="892810" cy="372745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952625" y="177990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字符型</a:t>
            </a:r>
            <a:endParaRPr lang="zh-CN" altLang="zh-CN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5255" y="2566670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1825" y="3616960"/>
            <a:ext cx="477520" cy="50673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11200" y="2499995"/>
            <a:ext cx="980440" cy="21082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577340" y="233743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</a:t>
            </a:r>
            <a:endParaRPr lang="zh-CN" altLang="zh-CN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972185" y="3291840"/>
            <a:ext cx="1727835" cy="32512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637155" y="318198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</a:t>
            </a:r>
            <a:endParaRPr lang="zh-CN" altLang="zh-CN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89355" y="3600450"/>
            <a:ext cx="477520" cy="50673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1666875" y="3796030"/>
            <a:ext cx="1033145" cy="2921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764155" y="359600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  <a:endParaRPr lang="zh-CN" altLang="zh-CN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0560" y="4229735"/>
            <a:ext cx="477520" cy="50673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1148080" y="4497070"/>
            <a:ext cx="1033145" cy="2921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173605" y="429704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算术运算符</a:t>
            </a:r>
            <a:endParaRPr lang="zh-CN" altLang="zh-CN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2" grpId="0"/>
      <p:bldP spid="14" grpId="0" animBg="1"/>
      <p:bldP spid="15" grpId="0" animBg="1"/>
      <p:bldP spid="17" grpId="0"/>
      <p:bldP spid="19" grpId="0"/>
      <p:bldP spid="20" grpId="0" animBg="1"/>
      <p:bldP spid="22" grpId="0"/>
      <p:bldP spid="23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的变量和常量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9085" y="875030"/>
            <a:ext cx="8277225" cy="3138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、变量（Variable）：可以看成一个小箱子，专门用来“盛装”程序中的数据。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每个变量都拥有独一无二的名字，通过变量的名字就能找到变量中的数据。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从底层看：程序中的数据最终都要放到内存（内存条）中，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变量就是这块内存的名字。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常量（Constant）：也可以看成是用来“盛装”数据的小箱子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不同的是：变量保存的数据可以被多次修改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常量一旦保存某个数据之后就不能修改了。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9085" y="4013200"/>
            <a:ext cx="5986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中变量无需定义，根据所赋的值决定变量类型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的变量和常量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205" y="697230"/>
            <a:ext cx="589597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变量命名规则：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由字母，数字，下划线组成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只能由字母和下划线开头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不可以使用关键字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最好见名知义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buNone/>
            </a:pP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可以使用如下格式</a:t>
            </a:r>
            <a:r>
              <a:rPr lang="zh-CN" altLang="en-US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2400" b="1" dirty="0" err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1: a =10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b = 20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buNone/>
            </a:pP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algn="l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 a = b = 10           #将10赋给a和b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>
              <a:buNone/>
            </a:pP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algn="l">
              <a:buNone/>
            </a:pP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3: a , b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10 , 20      #将10赋给a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20赋给b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的输入和输出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875" y="1031875"/>
            <a:ext cx="75438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---print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print('hello')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print(100)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print(100, 'hello')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---input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input('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请输入一个数：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= input(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请输入一个数：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print(a+b)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547495"/>
            <a:ext cx="3505200" cy="247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" y="3159125"/>
            <a:ext cx="2009775" cy="171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194310" y="709295"/>
            <a:ext cx="2173605" cy="368300"/>
          </a:xfrm>
        </p:spPr>
        <p:txBody>
          <a:bodyPr wrap="square"/>
          <a:lstStyle/>
          <a:p>
            <a:pPr>
              <a:defRPr/>
            </a:pPr>
            <a:r>
              <a:rPr lang="zh-CN" dirty="0"/>
              <a:t>判断数据类型</a:t>
            </a:r>
            <a:endParaRPr lang="zh-CN" dirty="0"/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8605521" y="812006"/>
            <a:ext cx="30988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fontAlgn="b" hangingPunct="1"/>
            <a:endParaRPr lang="zh-CN" altLang="en-US" sz="4400" b="1">
              <a:solidFill>
                <a:schemeClr val="tx2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5715000" y="1580515"/>
            <a:ext cx="951230" cy="306704"/>
          </a:xfrm>
          <a:prstGeom prst="roundRect">
            <a:avLst>
              <a:gd name="adj" fmla="val 0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type()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6189980" y="1912620"/>
            <a:ext cx="635" cy="631825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1859280" y="1580515"/>
            <a:ext cx="1289685" cy="306704"/>
          </a:xfrm>
          <a:prstGeom prst="roundRect">
            <a:avLst>
              <a:gd name="adj" fmla="val 0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isinstance()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1173480" y="2544445"/>
            <a:ext cx="2661285" cy="164338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600" b="0" i="0" baseline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isinstance('aaa',str)</a:t>
            </a:r>
            <a:endParaRPr kumimoji="0" lang="zh-CN" altLang="en-US" sz="1600" b="0" i="0" baseline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" name="直接箭头连接符 1"/>
          <p:cNvCxnSpPr/>
          <p:nvPr/>
        </p:nvCxnSpPr>
        <p:spPr bwMode="auto">
          <a:xfrm>
            <a:off x="2503805" y="1912620"/>
            <a:ext cx="635" cy="631825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 bwMode="auto">
          <a:xfrm>
            <a:off x="4931410" y="2544445"/>
            <a:ext cx="2661285" cy="1643380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600" b="0" i="0" baseline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  type(“</a:t>
            </a:r>
            <a:r>
              <a:rPr kumimoji="0" lang="zh-CN" altLang="en-US" sz="1600" b="0" i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中国</a:t>
            </a:r>
            <a:r>
              <a:rPr kumimoji="0" lang="en-US" altLang="zh-CN" sz="1600" b="0" i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”)</a:t>
            </a:r>
            <a:endParaRPr kumimoji="0" lang="en-US" altLang="zh-CN" sz="1600" b="0" i="0" baseline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35015" y="119380"/>
            <a:ext cx="30803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python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如何判断数据类型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52930" y="4401820"/>
            <a:ext cx="1296035" cy="50673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True/False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614035" y="4401820"/>
            <a:ext cx="1191260" cy="506730"/>
          </a:xfrm>
          <a:prstGeom prst="rect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具体类型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12" grpId="0" bldLvl="0" animBg="1"/>
      <p:bldP spid="16" grpId="0" bldLvl="0" animBg="1"/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344805" y="812165"/>
            <a:ext cx="2173605" cy="368300"/>
          </a:xfrm>
        </p:spPr>
        <p:txBody>
          <a:bodyPr wrap="square"/>
          <a:lstStyle/>
          <a:p>
            <a:pPr>
              <a:defRPr/>
            </a:pPr>
            <a:r>
              <a:rPr lang="en-US" altLang="zh-CN" dirty="0">
                <a:latin typeface="+mj-ea"/>
              </a:rPr>
              <a:t>id()</a:t>
            </a:r>
            <a:r>
              <a:rPr lang="zh-CN" altLang="en-US" dirty="0">
                <a:latin typeface="+mj-ea"/>
              </a:rPr>
              <a:t>函数的用法：</a:t>
            </a:r>
            <a:endParaRPr lang="zh-CN" altLang="en-US" dirty="0">
              <a:latin typeface="+mj-ea"/>
            </a:endParaRP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8605521" y="812006"/>
            <a:ext cx="30988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fontAlgn="b" hangingPunct="1"/>
            <a:endParaRPr lang="zh-CN" altLang="en-US" sz="4400" b="1">
              <a:solidFill>
                <a:schemeClr val="tx2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5265" y="93980"/>
            <a:ext cx="29724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python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中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id()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函数的使用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71725" y="812165"/>
            <a:ext cx="5179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</a:rPr>
              <a:t> 用于获取对象的内存地址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1175" y="1356995"/>
            <a:ext cx="35433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id 语法：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id([object])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参数说明：</a:t>
            </a:r>
            <a:endParaRPr lang="zh-CN" altLang="en-US"/>
          </a:p>
          <a:p>
            <a:r>
              <a:rPr lang="zh-CN" altLang="en-US"/>
              <a:t>object -- 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返回值：</a:t>
            </a:r>
            <a:endParaRPr lang="zh-CN" altLang="en-US"/>
          </a:p>
          <a:p>
            <a:r>
              <a:rPr lang="zh-CN" altLang="en-US"/>
              <a:t>返回对象的内存地址。</a:t>
            </a:r>
            <a:endParaRPr lang="zh-CN" altLang="en-US"/>
          </a:p>
        </p:txBody>
      </p:sp>
      <p:sp>
        <p:nvSpPr>
          <p:cNvPr id="9" name="爆炸形 2 8"/>
          <p:cNvSpPr/>
          <p:nvPr/>
        </p:nvSpPr>
        <p:spPr>
          <a:xfrm>
            <a:off x="4608830" y="1580515"/>
            <a:ext cx="3744595" cy="1276309"/>
          </a:xfrm>
          <a:prstGeom prst="irregularSeal2">
            <a:avLst/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万物皆对象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98315" y="3668395"/>
            <a:ext cx="1790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= 100</a:t>
            </a:r>
            <a:endParaRPr lang="en-US" altLang="zh-CN"/>
          </a:p>
          <a:p>
            <a:r>
              <a:rPr lang="en-US" altLang="zh-CN"/>
              <a:t>print( id(a))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511175" y="4198620"/>
            <a:ext cx="93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练习：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98315" y="4313555"/>
            <a:ext cx="1790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= ‘hello'</a:t>
            </a:r>
            <a:endParaRPr lang="en-US" altLang="zh-CN"/>
          </a:p>
          <a:p>
            <a:r>
              <a:rPr lang="en-US" altLang="zh-CN"/>
              <a:t>print( id(a))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查看关键字小代码：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070" y="802005"/>
            <a:ext cx="840486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  keyword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导包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print(keyword.kwlist)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查看所有关键字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['False', 'None', 'True', 'and', 'as', 'assert', 'async', 'await', 'break', 'class', 'continue', 'def', 'del', 'elif','else', 'except', 'finally', 'for', 'from', 'global', 'if',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'import', 'in', 'is', 'lambda', 'nonlocal', 'not', 'or', 'pass', 'raise', 'return', 'try', 'while', 'with', 'yield']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endParaRPr lang="zh-CN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中的数据类型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4340" y="634365"/>
            <a:ext cx="75438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、整型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整数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=20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、浮点型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浮点数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小数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float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=2.3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、布尔类型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bool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alse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bool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、字符串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a、使用单引号(')            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='this is string'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b、使用双引号(")            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="this is string"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c、使用三单引号(''')           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='''this is string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'''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、使用三双引号( """""")           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"""this is string """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中的数据类型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en-US" altLang="zh-CN" sz="180">
                <a:latin typeface="微软雅黑" panose="020B0503020204020204" pitchFamily="34" charset="-122"/>
                <a:ea typeface="微软雅黑" panose="020B0503020204020204" pitchFamily="34" charset="-122"/>
              </a:rPr>
              <a:t>/47</a:t>
            </a:r>
            <a:endParaRPr lang="zh-CN" altLang="en-US" sz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4417060" y="-44353"/>
            <a:ext cx="184731" cy="1200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/>
            <a:endParaRPr lang="zh-CN" altLang="en-US" sz="1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0115" y="906780"/>
            <a:ext cx="99568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元组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4013" y="1708150"/>
            <a:ext cx="3519170" cy="506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输出函数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（要输出的内容）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tim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487" t="26323" r="20990" b="25662"/>
          <a:stretch>
            <a:fillRect/>
          </a:stretch>
        </p:blipFill>
        <p:spPr>
          <a:xfrm rot="20400000">
            <a:off x="144145" y="750570"/>
            <a:ext cx="1172210" cy="9620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33705" y="675640"/>
            <a:ext cx="453136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双色球界面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 descr="U(AO[7S`T`_6~UO`}DXFE@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40" y="675640"/>
            <a:ext cx="3449955" cy="20739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" y="2393950"/>
            <a:ext cx="3677285" cy="2600960"/>
          </a:xfrm>
          <a:prstGeom prst="rect">
            <a:avLst/>
          </a:prstGeom>
        </p:spPr>
      </p:pic>
      <p:pic>
        <p:nvPicPr>
          <p:cNvPr id="8" name="图片 7" descr="WQYWYV3CRTQ_3G$USH}_J~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340" y="2854960"/>
            <a:ext cx="3449320" cy="2139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基本语法</a:t>
            </a:r>
            <a:r>
              <a:rPr lang="en-US" altLang="zh-CN" dirty="0"/>
              <a:t>2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endParaRPr lang="zh-CN" altLang="en-US" b="1" kern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778" y="1335043"/>
            <a:ext cx="8352928" cy="3137572"/>
          </a:xfrm>
        </p:spPr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371600" y="1263015"/>
          <a:ext cx="6699885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555"/>
                <a:gridCol w="1744345"/>
                <a:gridCol w="1887855"/>
                <a:gridCol w="167513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endParaRPr lang="zh-CN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加法</a:t>
                      </a:r>
                      <a:endParaRPr lang="zh-CN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5+3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减法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5-3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乘法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5*3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除法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5/3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取模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5%3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乘方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**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5**3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整除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//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5//3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586345" y="1699895"/>
            <a:ext cx="30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09840" y="2139315"/>
            <a:ext cx="30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93330" y="2553335"/>
            <a:ext cx="478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05065" y="2967355"/>
            <a:ext cx="71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1.66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70800" y="3361055"/>
            <a:ext cx="631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3800" y="3795395"/>
            <a:ext cx="677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125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70800" y="4209415"/>
            <a:ext cx="30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86045" y="3795395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86045" y="4275455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7510" y="626110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算术运算符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bldLvl="0" animBg="1"/>
      <p:bldP spid="1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286510" y="967105"/>
          <a:ext cx="5024755" cy="376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750060"/>
                <a:gridCol w="1887855"/>
              </a:tblGrid>
              <a:tr h="414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赋值</a:t>
                      </a:r>
                      <a:endParaRPr lang="zh-CN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取模等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乘方等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**=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整除等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//=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100320" y="3953510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00320" y="4367530"/>
            <a:ext cx="575945" cy="2882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515" y="637540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赋值运算符</a:t>
            </a:r>
            <a:endParaRPr lang="zh-CN" altLang="en-US" b="1" kern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运算符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782445" y="1164590"/>
          <a:ext cx="5024755" cy="2939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750060"/>
                <a:gridCol w="1887855"/>
              </a:tblGrid>
              <a:tr h="424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</a:t>
                      </a:r>
                      <a:endParaRPr lang="zh-CN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大于等于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小于等于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等于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不等于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!= 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75815" y="4358640"/>
            <a:ext cx="486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关系表达式的运算结果为布尔值：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  False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990" y="67310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关系运算符</a:t>
            </a:r>
            <a:endParaRPr lang="zh-CN" altLang="en-US" sz="2000" b="1" kern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915795" y="1425575"/>
          <a:ext cx="5024755" cy="1682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750060"/>
                <a:gridCol w="1887855"/>
              </a:tblGrid>
              <a:tr h="424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endParaRPr lang="zh-CN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｜｜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！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915795" y="3290570"/>
            <a:ext cx="5678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逻辑表达式的运算结果一般为布尔值：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  False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6260" y="74993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逻辑运算符</a:t>
            </a:r>
            <a:endParaRPr lang="zh-CN" altLang="en-US" sz="2000" b="1" kern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90980" y="3848100"/>
            <a:ext cx="1953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print( 1 and 30)</a:t>
            </a:r>
            <a:endParaRPr lang="en-US" altLang="zh-CN"/>
          </a:p>
          <a:p>
            <a:r>
              <a:rPr lang="en-US" altLang="zh-CN">
                <a:sym typeface="+mn-ea"/>
              </a:rPr>
              <a:t>print( 30 and 1)</a:t>
            </a:r>
            <a:endParaRPr lang="en-US" altLang="zh-CN"/>
          </a:p>
          <a:p>
            <a:r>
              <a:rPr lang="en-US" altLang="zh-CN">
                <a:sym typeface="+mn-ea"/>
              </a:rPr>
              <a:t>print( 0 and 30)</a:t>
            </a:r>
            <a:endParaRPr lang="en-US" altLang="zh-CN"/>
          </a:p>
          <a:p>
            <a:r>
              <a:rPr lang="en-US" altLang="zh-CN">
                <a:sym typeface="+mn-ea"/>
              </a:rPr>
              <a:t>print( 30 and 0)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56260" y="3848100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思考：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796155" y="3986530"/>
            <a:ext cx="35661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数字作为判断条件，分为</a:t>
            </a:r>
            <a:r>
              <a:rPr lang="en-US" altLang="zh-CN"/>
              <a:t>0</a:t>
            </a:r>
            <a:r>
              <a:rPr lang="zh-CN" altLang="en-US"/>
              <a:t>和非零的数字，其中</a:t>
            </a:r>
            <a:r>
              <a:rPr lang="en-US" altLang="zh-CN"/>
              <a:t>0</a:t>
            </a:r>
            <a:r>
              <a:rPr lang="zh-CN" altLang="en-US"/>
              <a:t>认为是假，非零数字认为是真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6" grpId="1"/>
      <p:bldP spid="7" grpId="0"/>
      <p:bldP spid="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课堂案例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tim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487" t="26323" r="20990" b="25662"/>
          <a:stretch>
            <a:fillRect/>
          </a:stretch>
        </p:blipFill>
        <p:spPr>
          <a:xfrm rot="20400000">
            <a:off x="572135" y="868045"/>
            <a:ext cx="1172210" cy="9620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17270" y="818515"/>
            <a:ext cx="611378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双色球用户登录界面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70088" y="1634490"/>
            <a:ext cx="2829560" cy="506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提示：输入函数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（）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70405" y="2576830"/>
            <a:ext cx="5770880" cy="1014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输入一个同学的姓名，年龄和成绩，并且输出打印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将学生年龄和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岁比较，输出比较后的结果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第四课时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dirty="0"/>
              <a:t>案例</a:t>
            </a:r>
            <a:endParaRPr 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b="1" kern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运算符优先级别</a:t>
            </a:r>
            <a:endParaRPr lang="zh-CN" altLang="en-US" b="1" kern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746760"/>
            <a:ext cx="3533775" cy="3819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30" y="746760"/>
            <a:ext cx="3514725" cy="2190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课堂案例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tim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487" t="26323" r="20990" b="25662"/>
          <a:stretch>
            <a:fillRect/>
          </a:stretch>
        </p:blipFill>
        <p:spPr>
          <a:xfrm rot="20400000">
            <a:off x="572135" y="868045"/>
            <a:ext cx="1172210" cy="9620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17270" y="818515"/>
            <a:ext cx="611378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双色球用户登录界面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85" y="2109470"/>
            <a:ext cx="5487670" cy="1352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案例应用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4535" y="677545"/>
            <a:ext cx="3108325" cy="26765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案例：输入一个四位数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求个位数并输出</a:t>
            </a:r>
            <a:endParaRPr lang="zh-CN" altLang="en-US" sz="18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eaLnBrk="1" latinLnBrk="0" hangingPunct="1">
              <a:lnSpc>
                <a:spcPct val="150000"/>
              </a:lnSpc>
            </a:pPr>
            <a:r>
              <a:rPr lang="zh-CN" altLang="en-US" sz="18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求十位数并输出 </a:t>
            </a:r>
            <a:endParaRPr lang="zh-CN" altLang="en-US" sz="1800" b="1"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</a:pPr>
            <a:r>
              <a:rPr lang="zh-CN" altLang="en-US" sz="18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求百位数并输出</a:t>
            </a:r>
            <a:endParaRPr lang="zh-CN" altLang="en-US" sz="1800" b="1"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</a:pPr>
            <a:r>
              <a:rPr lang="zh-CN" altLang="en-US" sz="18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求千位数并输出</a:t>
            </a:r>
            <a:endParaRPr lang="zh-CN" altLang="en-US" sz="18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endParaRPr lang="zh-CN" altLang="en-US" sz="18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4535" y="677545"/>
            <a:ext cx="4500880" cy="42462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作业：输出一个消费金额实现以下功能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实现打折功能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打八五折后消费金额是多少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实现抹零功能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抹个位，</a:t>
            </a:r>
            <a:r>
              <a:rPr lang="zh-CN" altLang="en-US" sz="20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求实际消费金额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抹十位，</a:t>
            </a:r>
            <a:r>
              <a:rPr lang="zh-CN" altLang="en-US" sz="20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求实际消费金额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抹百位，</a:t>
            </a:r>
            <a:r>
              <a:rPr lang="zh-CN" altLang="en-US" sz="2000" b="1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求实际消费金额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实现满减功能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满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，求实际消费金额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  <a:noFill/>
        </p:spPr>
        <p:txBody>
          <a:bodyPr vert="horz" rtlCol="0">
            <a:spAutoFit/>
          </a:bodyPr>
          <a:lstStyle/>
          <a:p>
            <a:pPr lvl="0"/>
            <a:r>
              <a:rPr lang="zh-CN" altLang="en-US" dirty="0">
                <a:sym typeface="+mn-ea"/>
              </a:rPr>
              <a:t>单元总结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9595" y="915035"/>
            <a:ext cx="6463665" cy="2296795"/>
          </a:xfrm>
        </p:spPr>
        <p:txBody>
          <a:bodyPr/>
          <a:lstStyle/>
          <a:p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Python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的优点是什么？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Python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语言的应用？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解释型与编译型语言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的区别？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基本的运算符和数据类型有哪些？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 err="1">
                <a:latin typeface="+mj-ea"/>
              </a:rPr>
              <a:t>作业</a:t>
            </a:r>
            <a:endParaRPr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285" y="684530"/>
            <a:ext cx="7886065" cy="300736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>
                <a:latin typeface="华文楷体" panose="02010600040101010101" charset="-122"/>
                <a:ea typeface="华文楷体" panose="02010600040101010101" charset="-122"/>
              </a:rPr>
              <a:t>课后作业</a:t>
            </a:r>
            <a:endParaRPr 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>
              <a:defRPr/>
            </a:pPr>
            <a:r>
              <a:rPr lang="zh-CN" altLang="en-US" sz="2000" b="1" dirty="0">
                <a:latin typeface="华文楷体" panose="02010600040101010101" charset="-122"/>
                <a:ea typeface="华文楷体" panose="02010600040101010101" charset="-122"/>
              </a:rPr>
              <a:t>复习指引</a:t>
            </a:r>
            <a:endParaRPr lang="zh-CN" alt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en-US" altLang="en-US" sz="2000" dirty="0">
                <a:latin typeface="华文楷体" panose="02010600040101010101" charset="-122"/>
                <a:ea typeface="华文楷体" panose="02010600040101010101" charset="-122"/>
              </a:rPr>
              <a:t>Python</a:t>
            </a:r>
            <a:r>
              <a:rPr lang="zh-CN" altLang="en-US" sz="2000" dirty="0">
                <a:latin typeface="华文楷体" panose="02010600040101010101" charset="-122"/>
                <a:ea typeface="华文楷体" panose="02010600040101010101" charset="-122"/>
              </a:rPr>
              <a:t>的应用范围</a:t>
            </a:r>
            <a:endParaRPr lang="zh-CN" alt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en-US" altLang="zh-CN" sz="2000" dirty="0">
                <a:latin typeface="华文楷体" panose="02010600040101010101" charset="-122"/>
                <a:ea typeface="华文楷体" panose="02010600040101010101" charset="-122"/>
              </a:rPr>
              <a:t>Python</a:t>
            </a:r>
            <a:r>
              <a:rPr lang="zh-CN" altLang="en-US" sz="2000" dirty="0">
                <a:latin typeface="华文楷体" panose="02010600040101010101" charset="-122"/>
                <a:ea typeface="华文楷体" panose="02010600040101010101" charset="-122"/>
              </a:rPr>
              <a:t>的定义</a:t>
            </a:r>
            <a:endParaRPr lang="zh-CN" alt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000" dirty="0">
                <a:latin typeface="华文楷体" panose="02010600040101010101" charset="-122"/>
                <a:ea typeface="华文楷体" panose="02010600040101010101" charset="-122"/>
              </a:rPr>
              <a:t>环境的安装</a:t>
            </a:r>
            <a:endParaRPr lang="zh-CN" alt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>
              <a:defRPr/>
            </a:pPr>
            <a:r>
              <a:rPr lang="zh-CN" altLang="en-US" sz="2000" b="1" dirty="0">
                <a:latin typeface="华文楷体" panose="02010600040101010101" charset="-122"/>
                <a:ea typeface="华文楷体" panose="02010600040101010101" charset="-122"/>
              </a:rPr>
              <a:t>预习作业</a:t>
            </a:r>
            <a:endParaRPr lang="en-US" altLang="zh-CN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000" dirty="0">
                <a:latin typeface="华文楷体" panose="02010600040101010101" charset="-122"/>
                <a:ea typeface="华文楷体" panose="02010600040101010101" charset="-122"/>
              </a:rPr>
              <a:t>什么是控制语句。</a:t>
            </a:r>
            <a:endParaRPr lang="zh-CN" altLang="en-US" sz="2000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000" dirty="0">
                <a:latin typeface="华文楷体" panose="02010600040101010101" charset="-122"/>
                <a:ea typeface="华文楷体" panose="02010600040101010101" charset="-122"/>
              </a:rPr>
              <a:t>有哪些控制语句。</a:t>
            </a:r>
            <a:endParaRPr lang="en-US" altLang="zh-CN" sz="2000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7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b330c066-0da4-4879-8fec-1c8252aba7a9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3864</Words>
  <Application>WPS 演示</Application>
  <PresentationFormat>全屏显示(16:9)</PresentationFormat>
  <Paragraphs>686</Paragraphs>
  <Slides>41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14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76" baseType="lpstr">
      <vt:lpstr>Arial</vt:lpstr>
      <vt:lpstr>宋体</vt:lpstr>
      <vt:lpstr>Wingdings</vt:lpstr>
      <vt:lpstr>黑体</vt:lpstr>
      <vt:lpstr>Calibri</vt:lpstr>
      <vt:lpstr>微软雅黑</vt:lpstr>
      <vt:lpstr>Browallia New</vt:lpstr>
      <vt:lpstr>Segoe Print</vt:lpstr>
      <vt:lpstr>Segoe UI</vt:lpstr>
      <vt:lpstr>Tahoma</vt:lpstr>
      <vt:lpstr>Times New Roman</vt:lpstr>
      <vt:lpstr>Arial Unicode MS</vt:lpstr>
      <vt:lpstr>楷体_GB2312</vt:lpstr>
      <vt:lpstr>华文楷体</vt:lpstr>
      <vt:lpstr>Impact</vt:lpstr>
      <vt:lpstr>Wingdings</vt:lpstr>
      <vt:lpstr>新宋体</vt:lpstr>
      <vt:lpstr>A new day begins</vt:lpstr>
      <vt:lpstr>Office 主题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Visio.Drawing.11</vt:lpstr>
      <vt:lpstr>Visio.Drawing.11</vt:lpstr>
      <vt:lpstr>Visio.Drawing.11</vt:lpstr>
      <vt:lpstr>第一单元</vt:lpstr>
      <vt:lpstr>第一课时</vt:lpstr>
      <vt:lpstr>面向过程的软件开发</vt:lpstr>
      <vt:lpstr>本月课程知识目标 </vt:lpstr>
      <vt:lpstr>本单元贯穿案例</vt:lpstr>
      <vt:lpstr>本单元知识目标</vt:lpstr>
      <vt:lpstr>PowerPoint 演示文稿</vt:lpstr>
      <vt:lpstr>为什么学习Python</vt:lpstr>
      <vt:lpstr>什么是Python</vt:lpstr>
      <vt:lpstr>什么是Python</vt:lpstr>
      <vt:lpstr>编程语言分类</vt:lpstr>
      <vt:lpstr>什么是编译型语言</vt:lpstr>
      <vt:lpstr>什么是解释型语言</vt:lpstr>
      <vt:lpstr>为什么使用Python解释器</vt:lpstr>
      <vt:lpstr>什么是解释器</vt:lpstr>
      <vt:lpstr>解释器的作用</vt:lpstr>
      <vt:lpstr>第二课时</vt:lpstr>
      <vt:lpstr>课程导入</vt:lpstr>
      <vt:lpstr>Python的变量和常量</vt:lpstr>
      <vt:lpstr>Python的变量和常量</vt:lpstr>
      <vt:lpstr>Python的输入和输出</vt:lpstr>
      <vt:lpstr>判断数据类型</vt:lpstr>
      <vt:lpstr>id()函数的用法：</vt:lpstr>
      <vt:lpstr>查看关键字小代码：</vt:lpstr>
      <vt:lpstr>Python中的数据类型</vt:lpstr>
      <vt:lpstr>Python中的数据类型</vt:lpstr>
      <vt:lpstr>第一个Python程序</vt:lpstr>
      <vt:lpstr>第三课时</vt:lpstr>
      <vt:lpstr>运算符</vt:lpstr>
      <vt:lpstr>运算符</vt:lpstr>
      <vt:lpstr>运算符</vt:lpstr>
      <vt:lpstr>运算符</vt:lpstr>
      <vt:lpstr>课堂案例</vt:lpstr>
      <vt:lpstr>第四课时</vt:lpstr>
      <vt:lpstr>运算符优先级别</vt:lpstr>
      <vt:lpstr>课堂案例</vt:lpstr>
      <vt:lpstr>案例应用</vt:lpstr>
      <vt:lpstr>作业</vt:lpstr>
      <vt:lpstr>单元总结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第一单元</dc:title>
  <dc:creator>g h</dc:creator>
  <cp:lastModifiedBy>改逸</cp:lastModifiedBy>
  <cp:revision>34</cp:revision>
  <dcterms:created xsi:type="dcterms:W3CDTF">2021-09-09T01:40:00Z</dcterms:created>
  <dcterms:modified xsi:type="dcterms:W3CDTF">2026-02-27T12:32:52Z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D234C4113035450AB528865667EDE15B_12</vt:lpwstr>
  </property>
</Properties>
</file>