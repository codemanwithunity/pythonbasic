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gif" ContentType="image/gif"/>
  <Default Extension="wmf" ContentType="image/x-wm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51"/>
  </p:handoutMasterIdLst>
  <p:sldIdLst>
    <p:sldId id="1095" r:id="rId3"/>
    <p:sldId id="2279" r:id="rId4"/>
    <p:sldId id="1111" r:id="rId5"/>
    <p:sldId id="2300" r:id="rId7"/>
    <p:sldId id="2299" r:id="rId8"/>
    <p:sldId id="2244" r:id="rId9"/>
    <p:sldId id="2245" r:id="rId10"/>
    <p:sldId id="2246" r:id="rId11"/>
    <p:sldId id="2285" r:id="rId12"/>
    <p:sldId id="2384" r:id="rId13"/>
    <p:sldId id="2385" r:id="rId14"/>
    <p:sldId id="2388" r:id="rId15"/>
    <p:sldId id="2389" r:id="rId16"/>
    <p:sldId id="2400" r:id="rId17"/>
    <p:sldId id="2281" r:id="rId18"/>
    <p:sldId id="2393" r:id="rId19"/>
    <p:sldId id="2402" r:id="rId20"/>
    <p:sldId id="2403" r:id="rId21"/>
    <p:sldId id="2404" r:id="rId22"/>
    <p:sldId id="2395" r:id="rId23"/>
    <p:sldId id="2396" r:id="rId24"/>
    <p:sldId id="2397" r:id="rId25"/>
    <p:sldId id="2398" r:id="rId26"/>
    <p:sldId id="2399" r:id="rId27"/>
    <p:sldId id="2405" r:id="rId28"/>
    <p:sldId id="2256" r:id="rId29"/>
    <p:sldId id="2264" r:id="rId30"/>
    <p:sldId id="2415" r:id="rId31"/>
    <p:sldId id="2409" r:id="rId32"/>
    <p:sldId id="2410" r:id="rId33"/>
    <p:sldId id="2411" r:id="rId34"/>
    <p:sldId id="2282" r:id="rId35"/>
    <p:sldId id="2407" r:id="rId36"/>
    <p:sldId id="2419" r:id="rId37"/>
    <p:sldId id="2413" r:id="rId38"/>
    <p:sldId id="2412" r:id="rId39"/>
    <p:sldId id="2414" r:id="rId40"/>
    <p:sldId id="2416" r:id="rId41"/>
    <p:sldId id="2401" r:id="rId42"/>
    <p:sldId id="2275" r:id="rId43"/>
    <p:sldId id="2278" r:id="rId44"/>
    <p:sldId id="2295" r:id="rId45"/>
    <p:sldId id="2298" r:id="rId46"/>
    <p:sldId id="2274" r:id="rId47"/>
    <p:sldId id="2420" r:id="rId48"/>
    <p:sldId id="1204" r:id="rId49"/>
    <p:sldId id="515" r:id="rId50"/>
  </p:sldIdLst>
  <p:sldSz cx="9144000" cy="5143500" type="screen16x9"/>
  <p:notesSz cx="6858000" cy="9144000"/>
  <p:custDataLst>
    <p:tags r:id="rId55"/>
  </p:custDataLst>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D096"/>
    <a:srgbClr val="C00000"/>
    <a:srgbClr val="0070C0"/>
    <a:srgbClr val="CAD40A"/>
    <a:srgbClr val="5AADD6"/>
    <a:srgbClr val="E7F4FF"/>
    <a:srgbClr val="F6F6F6"/>
    <a:srgbClr val="F9F9F9"/>
    <a:srgbClr val="EAEFF7"/>
    <a:srgbClr val="A5A9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95" autoAdjust="0"/>
    <p:restoredTop sz="77106" autoAdjust="0"/>
  </p:normalViewPr>
  <p:slideViewPr>
    <p:cSldViewPr>
      <p:cViewPr varScale="1">
        <p:scale>
          <a:sx n="74" d="100"/>
          <a:sy n="74" d="100"/>
        </p:scale>
        <p:origin x="358" y="41"/>
      </p:cViewPr>
      <p:guideLst>
        <p:guide orient="horz" pos="1710"/>
        <p:guide orient="horz" pos="2305"/>
        <p:guide pos="2834"/>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78" y="-78"/>
      </p:cViewPr>
      <p:guideLst>
        <p:guide orient="horz" pos="3040"/>
        <p:guide pos="2125"/>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B3EEE59-FD25-49CD-A19A-D4CE5A995CA6}" type="doc">
      <dgm:prSet loTypeId="urn:microsoft.com/office/officeart/2005/8/layout/hProcess6" loCatId="process" qsTypeId="urn:microsoft.com/office/officeart/2005/8/quickstyle/simple1#1" qsCatId="simple" csTypeId="urn:microsoft.com/office/officeart/2005/8/colors/accent1_2#1" csCatId="accent1" phldr="1"/>
      <dgm:spPr/>
      <dgm:t>
        <a:bodyPr/>
        <a:lstStyle/>
        <a:p>
          <a:endParaRPr lang="zh-CN" altLang="en-US"/>
        </a:p>
      </dgm:t>
    </dgm:pt>
    <dgm:pt modelId="{F72DE9A6-CC90-494F-A5C9-0115E3E5CF70}">
      <dgm:prSet phldrT="[文本]"/>
      <dgm:spPr/>
      <dgm:t>
        <a:bodyPr/>
        <a:lstStyle/>
        <a:p>
          <a:r>
            <a:rPr lang="en-US" altLang="zh-CN" dirty="0"/>
            <a:t>1</a:t>
          </a:r>
          <a:endParaRPr lang="zh-CN" altLang="en-US" dirty="0"/>
        </a:p>
      </dgm:t>
    </dgm:pt>
    <dgm:pt modelId="{4EDE1543-CEFB-4D30-8963-79D6502E5709}" cxnId="{7FEFE4BC-7493-4F80-AEC8-AB38DF6C278D}" type="parTrans">
      <dgm:prSet/>
      <dgm:spPr/>
      <dgm:t>
        <a:bodyPr/>
        <a:lstStyle/>
        <a:p>
          <a:endParaRPr lang="zh-CN" altLang="en-US"/>
        </a:p>
      </dgm:t>
    </dgm:pt>
    <dgm:pt modelId="{0D70ECDA-C150-4660-AFE4-BB245E638162}" cxnId="{7FEFE4BC-7493-4F80-AEC8-AB38DF6C278D}" type="sibTrans">
      <dgm:prSet/>
      <dgm:spPr/>
      <dgm:t>
        <a:bodyPr/>
        <a:lstStyle/>
        <a:p>
          <a:endParaRPr lang="zh-CN" altLang="en-US"/>
        </a:p>
      </dgm:t>
    </dgm:pt>
    <dgm:pt modelId="{683E27D8-EEC3-4210-8188-85836BD2DC32}">
      <dgm:prSet phldrT="[文本]"/>
      <dgm:spPr/>
      <dgm:t>
        <a:bodyPr/>
        <a:lstStyle/>
        <a:p>
          <a:r>
            <a:rPr lang="zh-CN" altLang="en-US" dirty="0"/>
            <a:t>设置循环条件</a:t>
          </a:r>
        </a:p>
      </dgm:t>
    </dgm:pt>
    <dgm:pt modelId="{18B29105-4FD2-4246-888A-213784A8618E}" cxnId="{B9ACFF4D-11EA-4BB4-8A49-353F9B6E8F43}" type="parTrans">
      <dgm:prSet/>
      <dgm:spPr/>
      <dgm:t>
        <a:bodyPr/>
        <a:lstStyle/>
        <a:p>
          <a:endParaRPr lang="zh-CN" altLang="en-US"/>
        </a:p>
      </dgm:t>
    </dgm:pt>
    <dgm:pt modelId="{5FE419D6-BE9A-424E-81DE-EE2F91C2AAB2}" cxnId="{B9ACFF4D-11EA-4BB4-8A49-353F9B6E8F43}" type="sibTrans">
      <dgm:prSet/>
      <dgm:spPr/>
      <dgm:t>
        <a:bodyPr/>
        <a:lstStyle/>
        <a:p>
          <a:endParaRPr lang="zh-CN" altLang="en-US"/>
        </a:p>
      </dgm:t>
    </dgm:pt>
    <dgm:pt modelId="{76F9A409-709D-4BEC-B6A5-01E5A775205B}">
      <dgm:prSet phldrT="[文本]"/>
      <dgm:spPr/>
      <dgm:t>
        <a:bodyPr/>
        <a:lstStyle/>
        <a:p>
          <a:r>
            <a:rPr lang="en-US" altLang="zh-CN" dirty="0"/>
            <a:t>2</a:t>
          </a:r>
          <a:endParaRPr lang="zh-CN" altLang="en-US" dirty="0"/>
        </a:p>
      </dgm:t>
    </dgm:pt>
    <dgm:pt modelId="{A1C28A0B-8485-499F-BEFF-1B0C8CBE63EB}" cxnId="{817194A0-77FB-4DA3-999B-C0E116D9E910}" type="parTrans">
      <dgm:prSet/>
      <dgm:spPr/>
      <dgm:t>
        <a:bodyPr/>
        <a:lstStyle/>
        <a:p>
          <a:endParaRPr lang="zh-CN" altLang="en-US"/>
        </a:p>
      </dgm:t>
    </dgm:pt>
    <dgm:pt modelId="{A614CD47-769E-4703-BC85-C1805ABDAB9E}" cxnId="{817194A0-77FB-4DA3-999B-C0E116D9E910}" type="sibTrans">
      <dgm:prSet/>
      <dgm:spPr/>
      <dgm:t>
        <a:bodyPr/>
        <a:lstStyle/>
        <a:p>
          <a:endParaRPr lang="zh-CN" altLang="en-US"/>
        </a:p>
      </dgm:t>
    </dgm:pt>
    <dgm:pt modelId="{426B28A4-0D7C-47B2-B7CA-82F242C0C570}">
      <dgm:prSet phldrT="[文本]"/>
      <dgm:spPr/>
      <dgm:t>
        <a:bodyPr/>
        <a:lstStyle/>
        <a:p>
          <a:r>
            <a:rPr lang="zh-CN" altLang="en-US" dirty="0"/>
            <a:t>设置循环体</a:t>
          </a:r>
        </a:p>
      </dgm:t>
    </dgm:pt>
    <dgm:pt modelId="{C6B1C580-58CB-4B9A-B72F-0CD34133C6BC}" cxnId="{E20BA894-A67C-4405-94C8-7F07BCBCE0C4}" type="parTrans">
      <dgm:prSet/>
      <dgm:spPr/>
      <dgm:t>
        <a:bodyPr/>
        <a:lstStyle/>
        <a:p>
          <a:endParaRPr lang="zh-CN" altLang="en-US"/>
        </a:p>
      </dgm:t>
    </dgm:pt>
    <dgm:pt modelId="{1A36D5C9-CA3E-45F6-A5DA-34FC20E031BF}" cxnId="{E20BA894-A67C-4405-94C8-7F07BCBCE0C4}" type="sibTrans">
      <dgm:prSet/>
      <dgm:spPr/>
      <dgm:t>
        <a:bodyPr/>
        <a:lstStyle/>
        <a:p>
          <a:endParaRPr lang="zh-CN" altLang="en-US"/>
        </a:p>
      </dgm:t>
    </dgm:pt>
    <dgm:pt modelId="{C3F901DD-7846-4FD4-97CE-E633235B5DD5}">
      <dgm:prSet phldrT="[文本]"/>
      <dgm:spPr/>
      <dgm:t>
        <a:bodyPr/>
        <a:lstStyle/>
        <a:p>
          <a:r>
            <a:rPr lang="en-US" altLang="zh-CN" dirty="0"/>
            <a:t>3</a:t>
          </a:r>
          <a:endParaRPr lang="zh-CN" altLang="en-US" dirty="0"/>
        </a:p>
      </dgm:t>
    </dgm:pt>
    <dgm:pt modelId="{E82D5711-3945-45CD-8777-DA160BAE3717}" cxnId="{C7143836-0997-4B3A-B80B-45CBC2528B0B}" type="parTrans">
      <dgm:prSet/>
      <dgm:spPr/>
      <dgm:t>
        <a:bodyPr/>
        <a:lstStyle/>
        <a:p>
          <a:endParaRPr lang="zh-CN" altLang="en-US"/>
        </a:p>
      </dgm:t>
    </dgm:pt>
    <dgm:pt modelId="{4A311345-0BF5-432B-9C12-10189E475385}" cxnId="{C7143836-0997-4B3A-B80B-45CBC2528B0B}" type="sibTrans">
      <dgm:prSet/>
      <dgm:spPr/>
      <dgm:t>
        <a:bodyPr/>
        <a:lstStyle/>
        <a:p>
          <a:endParaRPr lang="zh-CN" altLang="en-US"/>
        </a:p>
      </dgm:t>
    </dgm:pt>
    <dgm:pt modelId="{873FB785-D577-4CF7-A25F-522B6300960E}">
      <dgm:prSet phldrT="[文本]"/>
      <dgm:spPr/>
      <dgm:t>
        <a:bodyPr/>
        <a:lstStyle/>
        <a:p>
          <a:r>
            <a:rPr lang="zh-CN" altLang="en-US" dirty="0"/>
            <a:t>设置退出循环的条件</a:t>
          </a:r>
        </a:p>
      </dgm:t>
    </dgm:pt>
    <dgm:pt modelId="{9454EF1C-9F85-4975-A411-D6E8DA6A7B0E}" cxnId="{A3FD5BEB-C3FB-4414-90DB-BFFC4935BFAC}" type="parTrans">
      <dgm:prSet/>
      <dgm:spPr/>
      <dgm:t>
        <a:bodyPr/>
        <a:lstStyle/>
        <a:p>
          <a:endParaRPr lang="zh-CN" altLang="en-US"/>
        </a:p>
      </dgm:t>
    </dgm:pt>
    <dgm:pt modelId="{1C702EB1-66B4-4CEE-9279-687CC7352BA8}" cxnId="{A3FD5BEB-C3FB-4414-90DB-BFFC4935BFAC}" type="sibTrans">
      <dgm:prSet/>
      <dgm:spPr/>
      <dgm:t>
        <a:bodyPr/>
        <a:lstStyle/>
        <a:p>
          <a:endParaRPr lang="zh-CN" altLang="en-US"/>
        </a:p>
      </dgm:t>
    </dgm:pt>
    <dgm:pt modelId="{B3A60BCC-A28E-4BD3-BC50-4EDD16C19D41}" type="pres">
      <dgm:prSet presAssocID="{4B3EEE59-FD25-49CD-A19A-D4CE5A995CA6}" presName="theList" presStyleCnt="0">
        <dgm:presLayoutVars>
          <dgm:dir/>
          <dgm:animLvl val="lvl"/>
          <dgm:resizeHandles val="exact"/>
        </dgm:presLayoutVars>
      </dgm:prSet>
      <dgm:spPr/>
    </dgm:pt>
    <dgm:pt modelId="{D9B2072A-963C-48F0-96EF-03BA218EB237}" type="pres">
      <dgm:prSet presAssocID="{F72DE9A6-CC90-494F-A5C9-0115E3E5CF70}" presName="compNode" presStyleCnt="0"/>
      <dgm:spPr/>
    </dgm:pt>
    <dgm:pt modelId="{06102857-822A-402E-84EA-F0774F189DE7}" type="pres">
      <dgm:prSet presAssocID="{F72DE9A6-CC90-494F-A5C9-0115E3E5CF70}" presName="noGeometry" presStyleCnt="0"/>
      <dgm:spPr/>
    </dgm:pt>
    <dgm:pt modelId="{9B15910B-252D-4D7C-9095-8A71A1FEBE36}" type="pres">
      <dgm:prSet presAssocID="{F72DE9A6-CC90-494F-A5C9-0115E3E5CF70}" presName="childTextVisible" presStyleLbl="bgAccFollowNode1" presStyleIdx="0" presStyleCnt="3">
        <dgm:presLayoutVars>
          <dgm:bulletEnabled val="1"/>
        </dgm:presLayoutVars>
      </dgm:prSet>
      <dgm:spPr/>
    </dgm:pt>
    <dgm:pt modelId="{1D607053-7B25-4B8C-921E-266891A76809}" type="pres">
      <dgm:prSet presAssocID="{F72DE9A6-CC90-494F-A5C9-0115E3E5CF70}" presName="childTextHidden" presStyleLbl="bgAccFollowNode1" presStyleIdx="0" presStyleCnt="3"/>
      <dgm:spPr/>
    </dgm:pt>
    <dgm:pt modelId="{A5AAD2C0-CFB2-4111-A7A3-5B3BC8C609C4}" type="pres">
      <dgm:prSet presAssocID="{F72DE9A6-CC90-494F-A5C9-0115E3E5CF70}" presName="parentText" presStyleLbl="node1" presStyleIdx="0" presStyleCnt="3">
        <dgm:presLayoutVars>
          <dgm:chMax val="1"/>
          <dgm:bulletEnabled val="1"/>
        </dgm:presLayoutVars>
      </dgm:prSet>
      <dgm:spPr/>
    </dgm:pt>
    <dgm:pt modelId="{8905860F-2293-4C70-AD14-475D3B964267}" type="pres">
      <dgm:prSet presAssocID="{F72DE9A6-CC90-494F-A5C9-0115E3E5CF70}" presName="aSpace" presStyleCnt="0"/>
      <dgm:spPr/>
    </dgm:pt>
    <dgm:pt modelId="{D2B11095-BD27-4DC5-8D20-1AA399F163E8}" type="pres">
      <dgm:prSet presAssocID="{76F9A409-709D-4BEC-B6A5-01E5A775205B}" presName="compNode" presStyleCnt="0"/>
      <dgm:spPr/>
    </dgm:pt>
    <dgm:pt modelId="{4D7D6861-6AE5-4F55-BE43-B28922A04A7A}" type="pres">
      <dgm:prSet presAssocID="{76F9A409-709D-4BEC-B6A5-01E5A775205B}" presName="noGeometry" presStyleCnt="0"/>
      <dgm:spPr/>
    </dgm:pt>
    <dgm:pt modelId="{5CA25FB8-83BB-4367-9B29-0D02619B5C45}" type="pres">
      <dgm:prSet presAssocID="{76F9A409-709D-4BEC-B6A5-01E5A775205B}" presName="childTextVisible" presStyleLbl="bgAccFollowNode1" presStyleIdx="1" presStyleCnt="3">
        <dgm:presLayoutVars>
          <dgm:bulletEnabled val="1"/>
        </dgm:presLayoutVars>
      </dgm:prSet>
      <dgm:spPr/>
    </dgm:pt>
    <dgm:pt modelId="{9B639813-8DAE-43CF-A203-8225301E9F71}" type="pres">
      <dgm:prSet presAssocID="{76F9A409-709D-4BEC-B6A5-01E5A775205B}" presName="childTextHidden" presStyleLbl="bgAccFollowNode1" presStyleIdx="1" presStyleCnt="3"/>
      <dgm:spPr/>
    </dgm:pt>
    <dgm:pt modelId="{99F5E184-1EC7-4F6E-BC77-49FF403E86AD}" type="pres">
      <dgm:prSet presAssocID="{76F9A409-709D-4BEC-B6A5-01E5A775205B}" presName="parentText" presStyleLbl="node1" presStyleIdx="1" presStyleCnt="3">
        <dgm:presLayoutVars>
          <dgm:chMax val="1"/>
          <dgm:bulletEnabled val="1"/>
        </dgm:presLayoutVars>
      </dgm:prSet>
      <dgm:spPr/>
    </dgm:pt>
    <dgm:pt modelId="{6989A262-2370-4386-A5F1-D163784F3A6E}" type="pres">
      <dgm:prSet presAssocID="{76F9A409-709D-4BEC-B6A5-01E5A775205B}" presName="aSpace" presStyleCnt="0"/>
      <dgm:spPr/>
    </dgm:pt>
    <dgm:pt modelId="{0CA1D794-4B6E-43F7-B9E1-DA6B2BFCE7FB}" type="pres">
      <dgm:prSet presAssocID="{C3F901DD-7846-4FD4-97CE-E633235B5DD5}" presName="compNode" presStyleCnt="0"/>
      <dgm:spPr/>
    </dgm:pt>
    <dgm:pt modelId="{D70E8F82-A188-42BA-B11C-1B7BFF5492F8}" type="pres">
      <dgm:prSet presAssocID="{C3F901DD-7846-4FD4-97CE-E633235B5DD5}" presName="noGeometry" presStyleCnt="0"/>
      <dgm:spPr/>
    </dgm:pt>
    <dgm:pt modelId="{6395A1D2-DAB2-43D4-A14F-2C0A68E92723}" type="pres">
      <dgm:prSet presAssocID="{C3F901DD-7846-4FD4-97CE-E633235B5DD5}" presName="childTextVisible" presStyleLbl="bgAccFollowNode1" presStyleIdx="2" presStyleCnt="3">
        <dgm:presLayoutVars>
          <dgm:bulletEnabled val="1"/>
        </dgm:presLayoutVars>
      </dgm:prSet>
      <dgm:spPr/>
    </dgm:pt>
    <dgm:pt modelId="{9594E969-1426-41B6-9DC9-9323B972E6A7}" type="pres">
      <dgm:prSet presAssocID="{C3F901DD-7846-4FD4-97CE-E633235B5DD5}" presName="childTextHidden" presStyleLbl="bgAccFollowNode1" presStyleIdx="2" presStyleCnt="3"/>
      <dgm:spPr/>
    </dgm:pt>
    <dgm:pt modelId="{7A2CAB38-409B-4315-91E7-755C8D8F1C9C}" type="pres">
      <dgm:prSet presAssocID="{C3F901DD-7846-4FD4-97CE-E633235B5DD5}" presName="parentText" presStyleLbl="node1" presStyleIdx="2" presStyleCnt="3">
        <dgm:presLayoutVars>
          <dgm:chMax val="1"/>
          <dgm:bulletEnabled val="1"/>
        </dgm:presLayoutVars>
      </dgm:prSet>
      <dgm:spPr/>
    </dgm:pt>
  </dgm:ptLst>
  <dgm:cxnLst>
    <dgm:cxn modelId="{00C50101-0724-4E1E-8A24-A98128F05ADD}" type="presOf" srcId="{426B28A4-0D7C-47B2-B7CA-82F242C0C570}" destId="{9B639813-8DAE-43CF-A203-8225301E9F71}" srcOrd="1" destOrd="0" presId="urn:microsoft.com/office/officeart/2005/8/layout/hProcess6"/>
    <dgm:cxn modelId="{3554C130-7AFE-4808-98F4-416892F4CF5E}" type="presOf" srcId="{F72DE9A6-CC90-494F-A5C9-0115E3E5CF70}" destId="{A5AAD2C0-CFB2-4111-A7A3-5B3BC8C609C4}" srcOrd="0" destOrd="0" presId="urn:microsoft.com/office/officeart/2005/8/layout/hProcess6"/>
    <dgm:cxn modelId="{C7143836-0997-4B3A-B80B-45CBC2528B0B}" srcId="{4B3EEE59-FD25-49CD-A19A-D4CE5A995CA6}" destId="{C3F901DD-7846-4FD4-97CE-E633235B5DD5}" srcOrd="2" destOrd="0" parTransId="{E82D5711-3945-45CD-8777-DA160BAE3717}" sibTransId="{4A311345-0BF5-432B-9C12-10189E475385}"/>
    <dgm:cxn modelId="{A203333A-5BA0-4C01-8FFA-429043266EB8}" type="presOf" srcId="{683E27D8-EEC3-4210-8188-85836BD2DC32}" destId="{1D607053-7B25-4B8C-921E-266891A76809}" srcOrd="1" destOrd="0" presId="urn:microsoft.com/office/officeart/2005/8/layout/hProcess6"/>
    <dgm:cxn modelId="{CE0A715B-C712-4AA0-97A2-9995594F14EA}" type="presOf" srcId="{C3F901DD-7846-4FD4-97CE-E633235B5DD5}" destId="{7A2CAB38-409B-4315-91E7-755C8D8F1C9C}" srcOrd="0" destOrd="0" presId="urn:microsoft.com/office/officeart/2005/8/layout/hProcess6"/>
    <dgm:cxn modelId="{BB0E0E43-DB25-43A1-82C6-62171B971EB7}" type="presOf" srcId="{683E27D8-EEC3-4210-8188-85836BD2DC32}" destId="{9B15910B-252D-4D7C-9095-8A71A1FEBE36}" srcOrd="0" destOrd="0" presId="urn:microsoft.com/office/officeart/2005/8/layout/hProcess6"/>
    <dgm:cxn modelId="{B9ACFF4D-11EA-4BB4-8A49-353F9B6E8F43}" srcId="{F72DE9A6-CC90-494F-A5C9-0115E3E5CF70}" destId="{683E27D8-EEC3-4210-8188-85836BD2DC32}" srcOrd="0" destOrd="0" parTransId="{18B29105-4FD2-4246-888A-213784A8618E}" sibTransId="{5FE419D6-BE9A-424E-81DE-EE2F91C2AAB2}"/>
    <dgm:cxn modelId="{D89A3584-F20E-42A3-B16C-6C6B5D8672AA}" type="presOf" srcId="{873FB785-D577-4CF7-A25F-522B6300960E}" destId="{9594E969-1426-41B6-9DC9-9323B972E6A7}" srcOrd="1" destOrd="0" presId="urn:microsoft.com/office/officeart/2005/8/layout/hProcess6"/>
    <dgm:cxn modelId="{E20BA894-A67C-4405-94C8-7F07BCBCE0C4}" srcId="{76F9A409-709D-4BEC-B6A5-01E5A775205B}" destId="{426B28A4-0D7C-47B2-B7CA-82F242C0C570}" srcOrd="0" destOrd="0" parTransId="{C6B1C580-58CB-4B9A-B72F-0CD34133C6BC}" sibTransId="{1A36D5C9-CA3E-45F6-A5DA-34FC20E031BF}"/>
    <dgm:cxn modelId="{817194A0-77FB-4DA3-999B-C0E116D9E910}" srcId="{4B3EEE59-FD25-49CD-A19A-D4CE5A995CA6}" destId="{76F9A409-709D-4BEC-B6A5-01E5A775205B}" srcOrd="1" destOrd="0" parTransId="{A1C28A0B-8485-499F-BEFF-1B0C8CBE63EB}" sibTransId="{A614CD47-769E-4703-BC85-C1805ABDAB9E}"/>
    <dgm:cxn modelId="{F95DD3A1-0C28-4EF0-A27A-05BBD281F6DE}" type="presOf" srcId="{76F9A409-709D-4BEC-B6A5-01E5A775205B}" destId="{99F5E184-1EC7-4F6E-BC77-49FF403E86AD}" srcOrd="0" destOrd="0" presId="urn:microsoft.com/office/officeart/2005/8/layout/hProcess6"/>
    <dgm:cxn modelId="{853D49A6-0BC7-418F-A1E2-92EBFD4B3686}" type="presOf" srcId="{873FB785-D577-4CF7-A25F-522B6300960E}" destId="{6395A1D2-DAB2-43D4-A14F-2C0A68E92723}" srcOrd="0" destOrd="0" presId="urn:microsoft.com/office/officeart/2005/8/layout/hProcess6"/>
    <dgm:cxn modelId="{7FEFE4BC-7493-4F80-AEC8-AB38DF6C278D}" srcId="{4B3EEE59-FD25-49CD-A19A-D4CE5A995CA6}" destId="{F72DE9A6-CC90-494F-A5C9-0115E3E5CF70}" srcOrd="0" destOrd="0" parTransId="{4EDE1543-CEFB-4D30-8963-79D6502E5709}" sibTransId="{0D70ECDA-C150-4660-AFE4-BB245E638162}"/>
    <dgm:cxn modelId="{7DAE4DBE-4738-42AB-8086-90C682B2AC96}" type="presOf" srcId="{4B3EEE59-FD25-49CD-A19A-D4CE5A995CA6}" destId="{B3A60BCC-A28E-4BD3-BC50-4EDD16C19D41}" srcOrd="0" destOrd="0" presId="urn:microsoft.com/office/officeart/2005/8/layout/hProcess6"/>
    <dgm:cxn modelId="{5883A5BF-A97C-4B38-A024-191A7D322F2F}" type="presOf" srcId="{426B28A4-0D7C-47B2-B7CA-82F242C0C570}" destId="{5CA25FB8-83BB-4367-9B29-0D02619B5C45}" srcOrd="0" destOrd="0" presId="urn:microsoft.com/office/officeart/2005/8/layout/hProcess6"/>
    <dgm:cxn modelId="{A3FD5BEB-C3FB-4414-90DB-BFFC4935BFAC}" srcId="{C3F901DD-7846-4FD4-97CE-E633235B5DD5}" destId="{873FB785-D577-4CF7-A25F-522B6300960E}" srcOrd="0" destOrd="0" parTransId="{9454EF1C-9F85-4975-A411-D6E8DA6A7B0E}" sibTransId="{1C702EB1-66B4-4CEE-9279-687CC7352BA8}"/>
    <dgm:cxn modelId="{C84ACAA4-A51C-4305-94BC-855A6B48B4F3}" type="presParOf" srcId="{B3A60BCC-A28E-4BD3-BC50-4EDD16C19D41}" destId="{D9B2072A-963C-48F0-96EF-03BA218EB237}" srcOrd="0" destOrd="0" presId="urn:microsoft.com/office/officeart/2005/8/layout/hProcess6"/>
    <dgm:cxn modelId="{74A60D18-D32F-4E9D-97CE-1C46E8312BBC}" type="presParOf" srcId="{D9B2072A-963C-48F0-96EF-03BA218EB237}" destId="{06102857-822A-402E-84EA-F0774F189DE7}" srcOrd="0" destOrd="0" presId="urn:microsoft.com/office/officeart/2005/8/layout/hProcess6"/>
    <dgm:cxn modelId="{55B88282-6A27-4FCF-8CF8-6F2A4FF2FA2C}" type="presParOf" srcId="{D9B2072A-963C-48F0-96EF-03BA218EB237}" destId="{9B15910B-252D-4D7C-9095-8A71A1FEBE36}" srcOrd="1" destOrd="0" presId="urn:microsoft.com/office/officeart/2005/8/layout/hProcess6"/>
    <dgm:cxn modelId="{89B7A209-7BF3-4FF5-9AA3-B6545602322E}" type="presParOf" srcId="{D9B2072A-963C-48F0-96EF-03BA218EB237}" destId="{1D607053-7B25-4B8C-921E-266891A76809}" srcOrd="2" destOrd="0" presId="urn:microsoft.com/office/officeart/2005/8/layout/hProcess6"/>
    <dgm:cxn modelId="{962989D9-9F7F-4074-ABD8-31DA277AE017}" type="presParOf" srcId="{D9B2072A-963C-48F0-96EF-03BA218EB237}" destId="{A5AAD2C0-CFB2-4111-A7A3-5B3BC8C609C4}" srcOrd="3" destOrd="0" presId="urn:microsoft.com/office/officeart/2005/8/layout/hProcess6"/>
    <dgm:cxn modelId="{0FB20B72-417D-4165-A965-0FDB5811A0BD}" type="presParOf" srcId="{B3A60BCC-A28E-4BD3-BC50-4EDD16C19D41}" destId="{8905860F-2293-4C70-AD14-475D3B964267}" srcOrd="1" destOrd="0" presId="urn:microsoft.com/office/officeart/2005/8/layout/hProcess6"/>
    <dgm:cxn modelId="{9D030FB7-9CE2-4153-9390-CFFF38163926}" type="presParOf" srcId="{B3A60BCC-A28E-4BD3-BC50-4EDD16C19D41}" destId="{D2B11095-BD27-4DC5-8D20-1AA399F163E8}" srcOrd="2" destOrd="0" presId="urn:microsoft.com/office/officeart/2005/8/layout/hProcess6"/>
    <dgm:cxn modelId="{5C679F32-D2E0-4A4C-8867-C82F1EFD3F2D}" type="presParOf" srcId="{D2B11095-BD27-4DC5-8D20-1AA399F163E8}" destId="{4D7D6861-6AE5-4F55-BE43-B28922A04A7A}" srcOrd="0" destOrd="0" presId="urn:microsoft.com/office/officeart/2005/8/layout/hProcess6"/>
    <dgm:cxn modelId="{B5031AC3-BE8E-4F92-81E2-64B0128A2280}" type="presParOf" srcId="{D2B11095-BD27-4DC5-8D20-1AA399F163E8}" destId="{5CA25FB8-83BB-4367-9B29-0D02619B5C45}" srcOrd="1" destOrd="0" presId="urn:microsoft.com/office/officeart/2005/8/layout/hProcess6"/>
    <dgm:cxn modelId="{5691BC1D-2886-4663-AC18-955C41B65F5C}" type="presParOf" srcId="{D2B11095-BD27-4DC5-8D20-1AA399F163E8}" destId="{9B639813-8DAE-43CF-A203-8225301E9F71}" srcOrd="2" destOrd="0" presId="urn:microsoft.com/office/officeart/2005/8/layout/hProcess6"/>
    <dgm:cxn modelId="{7B815EAD-742F-435E-86B1-05EECD7DA55C}" type="presParOf" srcId="{D2B11095-BD27-4DC5-8D20-1AA399F163E8}" destId="{99F5E184-1EC7-4F6E-BC77-49FF403E86AD}" srcOrd="3" destOrd="0" presId="urn:microsoft.com/office/officeart/2005/8/layout/hProcess6"/>
    <dgm:cxn modelId="{535EB656-B8DF-4895-9A81-8E7273A165D1}" type="presParOf" srcId="{B3A60BCC-A28E-4BD3-BC50-4EDD16C19D41}" destId="{6989A262-2370-4386-A5F1-D163784F3A6E}" srcOrd="3" destOrd="0" presId="urn:microsoft.com/office/officeart/2005/8/layout/hProcess6"/>
    <dgm:cxn modelId="{686D90FD-7724-412D-AD11-2657F6BFB080}" type="presParOf" srcId="{B3A60BCC-A28E-4BD3-BC50-4EDD16C19D41}" destId="{0CA1D794-4B6E-43F7-B9E1-DA6B2BFCE7FB}" srcOrd="4" destOrd="0" presId="urn:microsoft.com/office/officeart/2005/8/layout/hProcess6"/>
    <dgm:cxn modelId="{EBF33C34-D4D5-4B5B-8577-1F7942AF39F4}" type="presParOf" srcId="{0CA1D794-4B6E-43F7-B9E1-DA6B2BFCE7FB}" destId="{D70E8F82-A188-42BA-B11C-1B7BFF5492F8}" srcOrd="0" destOrd="0" presId="urn:microsoft.com/office/officeart/2005/8/layout/hProcess6"/>
    <dgm:cxn modelId="{46DDC077-DE40-4184-9754-5131737C99FF}" type="presParOf" srcId="{0CA1D794-4B6E-43F7-B9E1-DA6B2BFCE7FB}" destId="{6395A1D2-DAB2-43D4-A14F-2C0A68E92723}" srcOrd="1" destOrd="0" presId="urn:microsoft.com/office/officeart/2005/8/layout/hProcess6"/>
    <dgm:cxn modelId="{2F2EAFC6-D901-4572-BF88-CBD730ACFFA5}" type="presParOf" srcId="{0CA1D794-4B6E-43F7-B9E1-DA6B2BFCE7FB}" destId="{9594E969-1426-41B6-9DC9-9323B972E6A7}" srcOrd="2" destOrd="0" presId="urn:microsoft.com/office/officeart/2005/8/layout/hProcess6"/>
    <dgm:cxn modelId="{D390AB05-CDA8-43FD-91C8-35CD432A2EE2}" type="presParOf" srcId="{0CA1D794-4B6E-43F7-B9E1-DA6B2BFCE7FB}" destId="{7A2CAB38-409B-4315-91E7-755C8D8F1C9C}" srcOrd="3" destOrd="0" presId="urn:microsoft.com/office/officeart/2005/8/layout/hProcess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15910B-252D-4D7C-9095-8A71A1FEBE36}">
      <dsp:nvSpPr>
        <dsp:cNvPr id="0" name=""/>
        <dsp:cNvSpPr/>
      </dsp:nvSpPr>
      <dsp:spPr>
        <a:xfrm>
          <a:off x="402161" y="118212"/>
          <a:ext cx="1596552" cy="1395587"/>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设置循环条件</a:t>
          </a:r>
        </a:p>
      </dsp:txBody>
      <dsp:txXfrm>
        <a:off x="801299" y="327550"/>
        <a:ext cx="778319" cy="976911"/>
      </dsp:txXfrm>
    </dsp:sp>
    <dsp:sp modelId="{A5AAD2C0-CFB2-4111-A7A3-5B3BC8C609C4}">
      <dsp:nvSpPr>
        <dsp:cNvPr id="0" name=""/>
        <dsp:cNvSpPr/>
      </dsp:nvSpPr>
      <dsp:spPr>
        <a:xfrm>
          <a:off x="3023" y="416867"/>
          <a:ext cx="798276" cy="7982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altLang="zh-CN" sz="3700" kern="1200" dirty="0"/>
            <a:t>1</a:t>
          </a:r>
          <a:endParaRPr lang="zh-CN" altLang="en-US" sz="3700" kern="1200" dirty="0"/>
        </a:p>
      </dsp:txBody>
      <dsp:txXfrm>
        <a:off x="119928" y="533772"/>
        <a:ext cx="564466" cy="564466"/>
      </dsp:txXfrm>
    </dsp:sp>
    <dsp:sp modelId="{5CA25FB8-83BB-4367-9B29-0D02619B5C45}">
      <dsp:nvSpPr>
        <dsp:cNvPr id="0" name=""/>
        <dsp:cNvSpPr/>
      </dsp:nvSpPr>
      <dsp:spPr>
        <a:xfrm>
          <a:off x="2497636" y="118212"/>
          <a:ext cx="1596552" cy="1395587"/>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设置循环体</a:t>
          </a:r>
        </a:p>
      </dsp:txBody>
      <dsp:txXfrm>
        <a:off x="2896774" y="327550"/>
        <a:ext cx="778319" cy="976911"/>
      </dsp:txXfrm>
    </dsp:sp>
    <dsp:sp modelId="{99F5E184-1EC7-4F6E-BC77-49FF403E86AD}">
      <dsp:nvSpPr>
        <dsp:cNvPr id="0" name=""/>
        <dsp:cNvSpPr/>
      </dsp:nvSpPr>
      <dsp:spPr>
        <a:xfrm>
          <a:off x="2098498" y="416867"/>
          <a:ext cx="798276" cy="7982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altLang="zh-CN" sz="3700" kern="1200" dirty="0"/>
            <a:t>2</a:t>
          </a:r>
          <a:endParaRPr lang="zh-CN" altLang="en-US" sz="3700" kern="1200" dirty="0"/>
        </a:p>
      </dsp:txBody>
      <dsp:txXfrm>
        <a:off x="2215403" y="533772"/>
        <a:ext cx="564466" cy="564466"/>
      </dsp:txXfrm>
    </dsp:sp>
    <dsp:sp modelId="{6395A1D2-DAB2-43D4-A14F-2C0A68E92723}">
      <dsp:nvSpPr>
        <dsp:cNvPr id="0" name=""/>
        <dsp:cNvSpPr/>
      </dsp:nvSpPr>
      <dsp:spPr>
        <a:xfrm>
          <a:off x="4593111" y="118212"/>
          <a:ext cx="1596552" cy="1395587"/>
        </a:xfrm>
        <a:prstGeom prst="rightArrow">
          <a:avLst>
            <a:gd name="adj1" fmla="val 70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设置退出循环的条件</a:t>
          </a:r>
        </a:p>
      </dsp:txBody>
      <dsp:txXfrm>
        <a:off x="4992249" y="327550"/>
        <a:ext cx="778319" cy="976911"/>
      </dsp:txXfrm>
    </dsp:sp>
    <dsp:sp modelId="{7A2CAB38-409B-4315-91E7-755C8D8F1C9C}">
      <dsp:nvSpPr>
        <dsp:cNvPr id="0" name=""/>
        <dsp:cNvSpPr/>
      </dsp:nvSpPr>
      <dsp:spPr>
        <a:xfrm>
          <a:off x="4193973" y="416867"/>
          <a:ext cx="798276" cy="7982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altLang="zh-CN" sz="3700" kern="1200" dirty="0"/>
            <a:t>3</a:t>
          </a:r>
          <a:endParaRPr lang="zh-CN" altLang="en-US" sz="3700" kern="1200" dirty="0"/>
        </a:p>
      </dsp:txBody>
      <dsp:txXfrm>
        <a:off x="4310878" y="533772"/>
        <a:ext cx="564466" cy="56446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DB3C531B-D83C-493A-84AD-316F78881EC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CB801823-96DB-4EC2-991A-2DEE593AD1D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defRPr/>
            </a:pPr>
            <a:r>
              <a:rPr lang="en-US" altLang="zh-CN" sz="1400" strike="noStrike" kern="0" noProof="1">
                <a:solidFill>
                  <a:schemeClr val="bg1"/>
                </a:solidFill>
                <a:latin typeface="Times New Roman" panose="02020603050405020304" pitchFamily="18" charset="0"/>
                <a:ea typeface="宋体" panose="02010600030101010101" pitchFamily="2" charset="-122"/>
                <a:cs typeface="+mn-lt"/>
                <a:sym typeface="+mn-ea"/>
              </a:rPr>
              <a:t>1</a:t>
            </a:r>
            <a:r>
              <a:rPr lang="zh-CN" altLang="en-US" sz="1400" strike="noStrike" kern="0" noProof="1">
                <a:solidFill>
                  <a:schemeClr val="bg1"/>
                </a:solidFill>
                <a:latin typeface="Times New Roman" panose="02020603050405020304" pitchFamily="18" charset="0"/>
                <a:ea typeface="宋体" panose="02010600030101010101" pitchFamily="2" charset="-122"/>
                <a:cs typeface="+mn-lt"/>
                <a:sym typeface="+mn-ea"/>
              </a:rPr>
              <a:t>、伪代码本质，</a:t>
            </a:r>
            <a:r>
              <a:rPr lang="zh-CN" altLang="en-US" sz="1400" strike="noStrike" kern="1200" noProof="1">
                <a:solidFill>
                  <a:schemeClr val="bg1"/>
                </a:solidFill>
                <a:latin typeface="Times New Roman" panose="02020603050405020304" pitchFamily="18" charset="0"/>
                <a:ea typeface="黑体" panose="02010609060101010101" pitchFamily="2" charset="-122"/>
                <a:cs typeface="+mn-lt"/>
                <a:sym typeface="+mn-ea"/>
              </a:rPr>
              <a:t>代码开源，具有可移植性，面向对象，具有可扩展性和嵌入性，第三方库强大</a:t>
            </a: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2</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、命令模式，插入模式，末行模式</a:t>
            </a:r>
            <a:endPar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3</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a:t>
            </a: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pip install </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模块名</a:t>
            </a:r>
            <a:endPar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4</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a:t>
            </a: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import  </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模块名 或 </a:t>
            </a: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from </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模块名 </a:t>
            </a:r>
            <a:r>
              <a:rPr lang="en-US" altLang="zh-CN" sz="1400" strike="noStrike" kern="1200" noProof="1">
                <a:solidFill>
                  <a:schemeClr val="bg1"/>
                </a:solidFill>
                <a:latin typeface="Times New Roman" panose="02020603050405020304" pitchFamily="18" charset="0"/>
                <a:ea typeface="宋体" panose="02010600030101010101" pitchFamily="2" charset="-122"/>
                <a:cs typeface="+mn-lt"/>
                <a:sym typeface="+mn-ea"/>
              </a:rPr>
              <a:t>import </a:t>
            </a:r>
            <a:r>
              <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rPr>
              <a:t>函数</a:t>
            </a: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1200" noProof="1">
              <a:solidFill>
                <a:schemeClr val="bg1"/>
              </a:solidFill>
              <a:latin typeface="Times New Roman" panose="02020603050405020304" pitchFamily="18" charset="0"/>
              <a:ea typeface="宋体" panose="02010600030101010101" pitchFamily="2" charset="-122"/>
              <a:cs typeface="+mn-lt"/>
              <a:sym typeface="+mn-ea"/>
            </a:endParaRPr>
          </a:p>
          <a:p>
            <a:pPr marL="0" marR="0" lvl="1" indent="0" algn="l" defTabSz="914400" rtl="0" eaLnBrk="0" fontAlgn="base" latinLnBrk="0" hangingPunct="0">
              <a:lnSpc>
                <a:spcPct val="100000"/>
              </a:lnSpc>
              <a:spcBef>
                <a:spcPct val="30000"/>
              </a:spcBef>
              <a:spcAft>
                <a:spcPct val="0"/>
              </a:spcAft>
              <a:buClrTx/>
              <a:buSzTx/>
              <a:buFontTx/>
              <a:buNone/>
              <a:defRPr/>
            </a:pPr>
            <a:endParaRPr lang="zh-CN" altLang="en-US" sz="1400" strike="noStrike" kern="0" noProof="1">
              <a:solidFill>
                <a:schemeClr val="bg1"/>
              </a:solidFill>
              <a:latin typeface="Times New Roman" panose="02020603050405020304" pitchFamily="18" charset="0"/>
              <a:ea typeface="宋体" panose="02010600030101010101" pitchFamily="2" charset="-122"/>
              <a:cs typeface="+mn-lt"/>
              <a:sym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幻灯片图像占位符 1"/>
          <p:cNvSpPr>
            <a:spLocks noGrp="1" noRot="1" noChangeAspect="1" noTextEdit="1"/>
          </p:cNvSpPr>
          <p:nvPr>
            <p:ph type="sldImg"/>
          </p:nvPr>
        </p:nvSpPr>
        <p:spPr/>
      </p:sp>
      <p:sp>
        <p:nvSpPr>
          <p:cNvPr id="108546" name="文本占位符 2"/>
          <p:cNvSpPr>
            <a:spLocks noGrp="1"/>
          </p:cNvSpPr>
          <p:nvPr>
            <p:ph type="body"/>
          </p:nvPr>
        </p:nvSpPr>
        <p:spPr/>
        <p:txBody>
          <a:bodyPr wrap="square" lIns="91440" tIns="45720" rIns="91440" bIns="45720" anchor="t"/>
          <a:lstStyle/>
          <a:p>
            <a:pPr lvl="0"/>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小红框中的是循环条件，大红框的是我们希望反复执行的代码。</a:t>
            </a:r>
            <a:endParaRPr lang="en-US" altLang="zh-CN" dirty="0"/>
          </a:p>
          <a:p>
            <a:r>
              <a:rPr lang="zh-CN" altLang="en-US" dirty="0"/>
              <a:t>看这段代码的流程图</a:t>
            </a:r>
            <a:endParaRPr lang="en-US" altLang="zh-CN" dirty="0"/>
          </a:p>
          <a:p>
            <a:r>
              <a:rPr lang="zh-CN" altLang="en-US" dirty="0"/>
              <a:t>首先我们定义了一个变量，变量</a:t>
            </a:r>
            <a:r>
              <a:rPr lang="en-US" altLang="zh-CN" dirty="0" err="1"/>
              <a:t>i</a:t>
            </a:r>
            <a:r>
              <a:rPr lang="en-US" altLang="zh-CN" baseline="0" dirty="0"/>
              <a:t> </a:t>
            </a:r>
            <a:r>
              <a:rPr lang="zh-CN" altLang="en-US" baseline="0" dirty="0"/>
              <a:t>表示打印的次数。初始值是</a:t>
            </a:r>
            <a:r>
              <a:rPr lang="en-US" altLang="zh-CN" baseline="0" dirty="0"/>
              <a:t>1</a:t>
            </a:r>
            <a:r>
              <a:rPr lang="zh-CN" altLang="en-US" baseline="0" dirty="0"/>
              <a:t>。以后每执行一次</a:t>
            </a:r>
            <a:r>
              <a:rPr lang="en-US" altLang="zh-CN" baseline="0" dirty="0"/>
              <a:t>print()</a:t>
            </a:r>
            <a:r>
              <a:rPr lang="zh-CN" altLang="en-US" baseline="0" dirty="0"/>
              <a:t>输出语句，</a:t>
            </a:r>
            <a:r>
              <a:rPr lang="en-US" altLang="zh-CN" baseline="0" dirty="0" err="1"/>
              <a:t>i</a:t>
            </a:r>
            <a:r>
              <a:rPr lang="zh-CN" altLang="en-US" baseline="0" dirty="0"/>
              <a:t>的值就增加一个。就这样打印一次</a:t>
            </a:r>
            <a:r>
              <a:rPr lang="en-US" altLang="zh-CN" baseline="0" dirty="0" err="1"/>
              <a:t>i</a:t>
            </a:r>
            <a:r>
              <a:rPr lang="zh-CN" altLang="en-US" baseline="0" dirty="0"/>
              <a:t>加</a:t>
            </a:r>
            <a:r>
              <a:rPr lang="en-US" altLang="zh-CN" baseline="0" dirty="0"/>
              <a:t>1</a:t>
            </a:r>
            <a:r>
              <a:rPr lang="zh-CN" altLang="en-US" baseline="0" dirty="0"/>
              <a:t>，再打印一次，</a:t>
            </a:r>
            <a:r>
              <a:rPr lang="en-US" altLang="zh-CN" baseline="0" dirty="0" err="1"/>
              <a:t>i</a:t>
            </a:r>
            <a:r>
              <a:rPr lang="zh-CN" altLang="en-US" baseline="0" dirty="0"/>
              <a:t>再加</a:t>
            </a:r>
            <a:r>
              <a:rPr lang="en-US" altLang="zh-CN" baseline="0" dirty="0"/>
              <a:t>1.</a:t>
            </a:r>
            <a:r>
              <a:rPr lang="zh-CN" altLang="en-US" baseline="0" dirty="0"/>
              <a:t>一直到</a:t>
            </a:r>
            <a:r>
              <a:rPr lang="en-US" altLang="zh-CN" baseline="0" dirty="0" err="1"/>
              <a:t>i</a:t>
            </a:r>
            <a:r>
              <a:rPr lang="zh-CN" altLang="en-US" baseline="0" dirty="0"/>
              <a:t>加到</a:t>
            </a:r>
            <a:r>
              <a:rPr lang="en-US" altLang="zh-CN" baseline="0" dirty="0"/>
              <a:t>10001</a:t>
            </a:r>
            <a:r>
              <a:rPr lang="zh-CN" altLang="en-US" baseline="0" dirty="0"/>
              <a:t>，这时候不满足条件，循环就结束了。</a:t>
            </a:r>
            <a:endParaRPr lang="en-US" altLang="zh-CN" baseline="0"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10</a:t>
            </a:r>
            <a:r>
              <a:rPr lang="zh-CN" altLang="en-US" dirty="0"/>
              <a:t>】分析完代码我们都</a:t>
            </a:r>
            <a:r>
              <a:rPr lang="en-US" altLang="zh-CN" dirty="0"/>
              <a:t>while</a:t>
            </a:r>
            <a:r>
              <a:rPr lang="zh-CN" altLang="en-US" dirty="0"/>
              <a:t>循环结构有了一定的了解，那么下面我们使用</a:t>
            </a:r>
            <a:r>
              <a:rPr lang="en-US" altLang="zh-CN" dirty="0"/>
              <a:t>while</a:t>
            </a:r>
            <a:r>
              <a:rPr lang="zh-CN" altLang="en-US" dirty="0"/>
              <a:t>循环结构解决一下打印</a:t>
            </a:r>
            <a:r>
              <a:rPr lang="en-US" altLang="zh-CN" dirty="0"/>
              <a:t>50</a:t>
            </a:r>
            <a:r>
              <a:rPr lang="zh-CN" altLang="en-US" dirty="0"/>
              <a:t>张电影票的问题。</a:t>
            </a:r>
            <a:endParaRPr lang="en-US" altLang="zh-CN" dirty="0"/>
          </a:p>
          <a:p>
            <a:r>
              <a:rPr lang="en-US" altLang="zh-CN" dirty="0"/>
              <a:t>PPT</a:t>
            </a:r>
            <a:r>
              <a:rPr lang="zh-CN" altLang="en-US" dirty="0"/>
              <a:t>上列的是思路分析的过程，今天的作业大家一定要按照这样的过程写每一个作业。</a:t>
            </a:r>
            <a:endParaRPr lang="en-US" altLang="zh-CN" dirty="0"/>
          </a:p>
          <a:p>
            <a:r>
              <a:rPr lang="zh-CN" altLang="en-US" dirty="0"/>
              <a:t>首先分析打印</a:t>
            </a:r>
            <a:r>
              <a:rPr lang="en-US" altLang="zh-CN" dirty="0"/>
              <a:t>50</a:t>
            </a:r>
            <a:r>
              <a:rPr lang="zh-CN" altLang="en-US" dirty="0"/>
              <a:t>张电影票是不是一个多次重复执行的过程？</a:t>
            </a:r>
            <a:r>
              <a:rPr lang="en-US" altLang="zh-CN" dirty="0"/>
              <a:t>【</a:t>
            </a:r>
            <a:r>
              <a:rPr lang="zh-CN" altLang="en-US" dirty="0"/>
              <a:t>开放式提问</a:t>
            </a:r>
            <a:r>
              <a:rPr lang="en-US" altLang="zh-CN" dirty="0"/>
              <a:t>】 </a:t>
            </a:r>
            <a:r>
              <a:rPr lang="zh-CN" altLang="en-US" dirty="0"/>
              <a:t>是，好</a:t>
            </a:r>
            <a:endParaRPr lang="en-US" altLang="zh-CN" dirty="0"/>
          </a:p>
          <a:p>
            <a:r>
              <a:rPr lang="zh-CN" altLang="en-US" dirty="0"/>
              <a:t>那么我们就可以选择循环结构解决这个问题。</a:t>
            </a:r>
            <a:endParaRPr lang="en-US" altLang="zh-CN" dirty="0"/>
          </a:p>
          <a:p>
            <a:r>
              <a:rPr lang="zh-CN" altLang="en-US" dirty="0"/>
              <a:t>使用循环要找到循环体和循环条件。循环体是什么？</a:t>
            </a:r>
            <a:r>
              <a:rPr lang="zh-CN" altLang="en-US" baseline="0" dirty="0"/>
              <a:t> </a:t>
            </a:r>
            <a:r>
              <a:rPr lang="en-US" altLang="zh-CN" baseline="0" dirty="0"/>
              <a:t>【</a:t>
            </a:r>
            <a:r>
              <a:rPr lang="zh-CN" altLang="en-US" baseline="0" dirty="0"/>
              <a:t>开放式提问</a:t>
            </a:r>
            <a:r>
              <a:rPr lang="en-US" altLang="zh-CN" baseline="0" dirty="0"/>
              <a:t>】 </a:t>
            </a:r>
            <a:r>
              <a:rPr lang="zh-CN" altLang="en-US" baseline="0" dirty="0"/>
              <a:t>对，打印一张电影票。</a:t>
            </a:r>
            <a:endParaRPr lang="en-US" altLang="zh-CN" baseline="0" dirty="0"/>
          </a:p>
          <a:p>
            <a:r>
              <a:rPr lang="zh-CN" altLang="en-US" baseline="0" dirty="0"/>
              <a:t>循环条件是什么？</a:t>
            </a:r>
            <a:r>
              <a:rPr lang="en-US" altLang="zh-CN" baseline="0" dirty="0"/>
              <a:t> </a:t>
            </a:r>
            <a:r>
              <a:rPr lang="zh-CN" altLang="en-US" baseline="0" dirty="0"/>
              <a:t>也就是什么时候循环执行，什么时候不执行？</a:t>
            </a:r>
            <a:r>
              <a:rPr lang="en-US" altLang="zh-CN" baseline="0" dirty="0"/>
              <a:t>【</a:t>
            </a:r>
            <a:r>
              <a:rPr lang="zh-CN" altLang="en-US" baseline="0" dirty="0"/>
              <a:t>停顿</a:t>
            </a:r>
            <a:r>
              <a:rPr lang="en-US" altLang="zh-CN" baseline="0" dirty="0"/>
              <a:t>】 </a:t>
            </a:r>
            <a:r>
              <a:rPr lang="zh-CN" altLang="en-US" baseline="0" dirty="0"/>
              <a:t>打印的张数小于等于</a:t>
            </a:r>
            <a:r>
              <a:rPr lang="en-US" altLang="zh-CN" baseline="0" dirty="0"/>
              <a:t>50</a:t>
            </a:r>
            <a:r>
              <a:rPr lang="zh-CN" altLang="en-US" baseline="0" dirty="0"/>
              <a:t>要继续打印，大于</a:t>
            </a:r>
            <a:r>
              <a:rPr lang="en-US" altLang="zh-CN" baseline="0" dirty="0"/>
              <a:t>50</a:t>
            </a:r>
            <a:r>
              <a:rPr lang="zh-CN" altLang="en-US" baseline="0" dirty="0"/>
              <a:t>那就不打印</a:t>
            </a:r>
            <a:endParaRPr lang="en-US" altLang="zh-CN" baseline="0" dirty="0"/>
          </a:p>
          <a:p>
            <a:r>
              <a:rPr lang="zh-CN" altLang="en-US" baseline="0" dirty="0"/>
              <a:t>有了循环体和循环结构就可以画出流程图了。</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首先我们声明一个</a:t>
            </a:r>
            <a:r>
              <a:rPr lang="en-US" altLang="zh-CN" dirty="0"/>
              <a:t>count</a:t>
            </a:r>
            <a:r>
              <a:rPr lang="zh-CN" altLang="en-US" dirty="0"/>
              <a:t>并赋值为</a:t>
            </a:r>
            <a:r>
              <a:rPr lang="en-US" altLang="zh-CN" dirty="0"/>
              <a:t>1</a:t>
            </a:r>
            <a:r>
              <a:rPr lang="zh-CN" altLang="en-US" dirty="0"/>
              <a:t>，然后判断</a:t>
            </a:r>
            <a:r>
              <a:rPr lang="en-US" altLang="zh-CN" dirty="0"/>
              <a:t>count</a:t>
            </a:r>
            <a:r>
              <a:rPr lang="zh-CN" altLang="en-US" dirty="0"/>
              <a:t>的值与</a:t>
            </a:r>
            <a:r>
              <a:rPr lang="en-US" altLang="zh-CN" dirty="0"/>
              <a:t>50</a:t>
            </a:r>
            <a:r>
              <a:rPr lang="zh-CN" altLang="en-US" dirty="0"/>
              <a:t>的关系，如果</a:t>
            </a:r>
            <a:r>
              <a:rPr lang="en-US" altLang="zh-CN" dirty="0"/>
              <a:t>count</a:t>
            </a:r>
            <a:r>
              <a:rPr lang="zh-CN" altLang="en-US" dirty="0"/>
              <a:t>小于等于</a:t>
            </a:r>
            <a:r>
              <a:rPr lang="en-US" altLang="zh-CN" dirty="0"/>
              <a:t>50</a:t>
            </a:r>
            <a:r>
              <a:rPr lang="zh-CN" altLang="en-US" dirty="0"/>
              <a:t>那就执行循环体的打印语句，打印完之后</a:t>
            </a:r>
            <a:r>
              <a:rPr lang="en-US" altLang="zh-CN" dirty="0"/>
              <a:t>count</a:t>
            </a:r>
            <a:r>
              <a:rPr lang="zh-CN" altLang="en-US" dirty="0"/>
              <a:t>加</a:t>
            </a:r>
            <a:r>
              <a:rPr lang="en-US" altLang="zh-CN" dirty="0"/>
              <a:t>1</a:t>
            </a:r>
            <a:r>
              <a:rPr lang="zh-CN" altLang="en-US" dirty="0"/>
              <a:t>，循环体执行完之后再次判断循环条件，看</a:t>
            </a:r>
            <a:r>
              <a:rPr lang="en-US" altLang="zh-CN" dirty="0"/>
              <a:t>count</a:t>
            </a:r>
            <a:r>
              <a:rPr lang="zh-CN" altLang="en-US" dirty="0"/>
              <a:t>的值，这次是几了，如果依然小于</a:t>
            </a:r>
            <a:r>
              <a:rPr lang="en-US" altLang="zh-CN" dirty="0"/>
              <a:t>50</a:t>
            </a:r>
            <a:r>
              <a:rPr lang="zh-CN" altLang="en-US" dirty="0"/>
              <a:t>，那就还要执行循环体的打印和</a:t>
            </a:r>
            <a:r>
              <a:rPr lang="en-US" altLang="zh-CN" dirty="0"/>
              <a:t>count</a:t>
            </a:r>
            <a:r>
              <a:rPr lang="zh-CN" altLang="en-US" dirty="0"/>
              <a:t>加一。直到当</a:t>
            </a:r>
            <a:r>
              <a:rPr lang="en-US" altLang="zh-CN" dirty="0"/>
              <a:t>count</a:t>
            </a:r>
            <a:r>
              <a:rPr lang="zh-CN" altLang="en-US" dirty="0"/>
              <a:t>加到</a:t>
            </a:r>
            <a:r>
              <a:rPr lang="en-US" altLang="zh-CN" dirty="0"/>
              <a:t>51</a:t>
            </a:r>
            <a:r>
              <a:rPr lang="zh-CN" altLang="en-US" dirty="0"/>
              <a:t>时候不满足条件。循环停止。</a:t>
            </a:r>
            <a:endParaRPr lang="en-US" altLang="zh-CN" dirty="0"/>
          </a:p>
          <a:p>
            <a:r>
              <a:rPr lang="zh-CN" altLang="en-US" dirty="0"/>
              <a:t>对应流程图我们看一下代码实现</a:t>
            </a:r>
            <a:r>
              <a:rPr lang="en-US" altLang="zh-CN" dirty="0"/>
              <a:t>【</a:t>
            </a:r>
            <a:r>
              <a:rPr lang="zh-CN" altLang="en-US" dirty="0"/>
              <a:t>单击</a:t>
            </a:r>
            <a:r>
              <a:rPr lang="en-US" altLang="zh-CN" dirty="0" err="1"/>
              <a:t>ppt</a:t>
            </a:r>
            <a:r>
              <a:rPr lang="en-US" altLang="zh-CN" dirty="0"/>
              <a:t>】</a:t>
            </a:r>
            <a:endParaRPr lang="en-US" altLang="zh-CN" dirty="0"/>
          </a:p>
          <a:p>
            <a:r>
              <a:rPr lang="zh-CN" altLang="en-US" dirty="0"/>
              <a:t>首先声明</a:t>
            </a:r>
            <a:r>
              <a:rPr lang="en-US" altLang="zh-CN" dirty="0"/>
              <a:t>count</a:t>
            </a:r>
            <a:r>
              <a:rPr lang="zh-CN" altLang="en-US" dirty="0"/>
              <a:t>并赋值</a:t>
            </a:r>
            <a:r>
              <a:rPr lang="en-US" altLang="zh-CN" dirty="0"/>
              <a:t>【</a:t>
            </a:r>
            <a:r>
              <a:rPr lang="zh-CN" altLang="en-US" dirty="0"/>
              <a:t>点击</a:t>
            </a:r>
            <a:r>
              <a:rPr lang="en-US" altLang="zh-CN" dirty="0"/>
              <a:t>PPT】</a:t>
            </a:r>
            <a:endParaRPr lang="en-US" altLang="zh-CN" dirty="0"/>
          </a:p>
          <a:p>
            <a:r>
              <a:rPr lang="zh-CN" altLang="en-US" dirty="0"/>
              <a:t>然后写循环条件，条件是</a:t>
            </a:r>
            <a:r>
              <a:rPr lang="en-US" altLang="zh-CN" dirty="0"/>
              <a:t>count</a:t>
            </a:r>
            <a:r>
              <a:rPr lang="zh-CN" altLang="en-US" dirty="0"/>
              <a:t>小于等于</a:t>
            </a:r>
            <a:r>
              <a:rPr lang="en-US" altLang="zh-CN" dirty="0"/>
              <a:t>50</a:t>
            </a:r>
            <a:r>
              <a:rPr lang="zh-CN" altLang="en-US" dirty="0"/>
              <a:t>，</a:t>
            </a:r>
            <a:r>
              <a:rPr lang="en-US" altLang="zh-CN" dirty="0"/>
              <a:t>【</a:t>
            </a:r>
            <a:r>
              <a:rPr lang="zh-CN" altLang="en-US" dirty="0"/>
              <a:t>点击</a:t>
            </a:r>
            <a:r>
              <a:rPr lang="en-US" altLang="zh-CN" dirty="0"/>
              <a:t>PPT】</a:t>
            </a:r>
            <a:r>
              <a:rPr lang="zh-CN" altLang="en-US" dirty="0"/>
              <a:t>当满足条件时候也就是</a:t>
            </a:r>
            <a:r>
              <a:rPr lang="en-US" altLang="zh-CN" dirty="0"/>
              <a:t>count</a:t>
            </a:r>
            <a:r>
              <a:rPr lang="zh-CN" altLang="en-US" dirty="0"/>
              <a:t>满足小于等于</a:t>
            </a:r>
            <a:r>
              <a:rPr lang="en-US" altLang="zh-CN" dirty="0"/>
              <a:t>50</a:t>
            </a:r>
            <a:r>
              <a:rPr lang="zh-CN" altLang="en-US" dirty="0"/>
              <a:t>条件时候，执行循环体</a:t>
            </a:r>
            <a:r>
              <a:rPr lang="en-US" altLang="zh-CN" dirty="0"/>
              <a:t>【</a:t>
            </a:r>
            <a:r>
              <a:rPr lang="zh-CN" altLang="en-US" dirty="0"/>
              <a:t>点击</a:t>
            </a:r>
            <a:r>
              <a:rPr lang="en-US" altLang="zh-CN" dirty="0"/>
              <a:t>PPT】</a:t>
            </a:r>
            <a:endParaRPr lang="en-US" altLang="zh-CN" dirty="0"/>
          </a:p>
          <a:p>
            <a:r>
              <a:rPr lang="zh-CN" altLang="en-US" dirty="0"/>
              <a:t>打印电影票，然后</a:t>
            </a:r>
            <a:r>
              <a:rPr lang="en-US" altLang="zh-CN" dirty="0"/>
              <a:t>count</a:t>
            </a:r>
            <a:r>
              <a:rPr lang="zh-CN" altLang="en-US" dirty="0"/>
              <a:t>加一。程序写完后看一下运行结果</a:t>
            </a:r>
            <a:r>
              <a:rPr lang="en-US" altLang="zh-CN" dirty="0"/>
              <a:t>【</a:t>
            </a:r>
            <a:r>
              <a:rPr lang="zh-CN" altLang="en-US" dirty="0"/>
              <a:t>点击</a:t>
            </a:r>
            <a:r>
              <a:rPr lang="en-US" altLang="zh-CN" dirty="0"/>
              <a:t>PPT】</a:t>
            </a:r>
            <a:r>
              <a:rPr lang="zh-CN" altLang="en-US" dirty="0"/>
              <a:t>。结果条打印语句都输出了。</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10</a:t>
            </a:r>
            <a:r>
              <a:rPr lang="zh-CN" altLang="en-US" dirty="0"/>
              <a:t>】分析完代码我们都</a:t>
            </a:r>
            <a:r>
              <a:rPr lang="en-US" altLang="zh-CN" dirty="0"/>
              <a:t>while</a:t>
            </a:r>
            <a:r>
              <a:rPr lang="zh-CN" altLang="en-US" dirty="0"/>
              <a:t>循环结构有了一定的了解，那么下面我们使用</a:t>
            </a:r>
            <a:r>
              <a:rPr lang="en-US" altLang="zh-CN" dirty="0"/>
              <a:t>while</a:t>
            </a:r>
            <a:r>
              <a:rPr lang="zh-CN" altLang="en-US" dirty="0"/>
              <a:t>循环结构解决一下打印</a:t>
            </a:r>
            <a:r>
              <a:rPr lang="en-US" altLang="zh-CN" dirty="0"/>
              <a:t>50</a:t>
            </a:r>
            <a:r>
              <a:rPr lang="zh-CN" altLang="en-US" dirty="0"/>
              <a:t>张电影票的问题。</a:t>
            </a:r>
            <a:endParaRPr lang="en-US" altLang="zh-CN" dirty="0"/>
          </a:p>
          <a:p>
            <a:r>
              <a:rPr lang="en-US" altLang="zh-CN" dirty="0"/>
              <a:t>PPT</a:t>
            </a:r>
            <a:r>
              <a:rPr lang="zh-CN" altLang="en-US" dirty="0"/>
              <a:t>上列的是思路分析的过程，今天的作业大家一定要按照这样的过程写每一个作业。</a:t>
            </a:r>
            <a:endParaRPr lang="en-US" altLang="zh-CN" dirty="0"/>
          </a:p>
          <a:p>
            <a:r>
              <a:rPr lang="zh-CN" altLang="en-US" dirty="0"/>
              <a:t>首先分析打印</a:t>
            </a:r>
            <a:r>
              <a:rPr lang="en-US" altLang="zh-CN" dirty="0"/>
              <a:t>50</a:t>
            </a:r>
            <a:r>
              <a:rPr lang="zh-CN" altLang="en-US" dirty="0"/>
              <a:t>张电影票是不是一个多次重复执行的过程？</a:t>
            </a:r>
            <a:r>
              <a:rPr lang="en-US" altLang="zh-CN" dirty="0"/>
              <a:t>【</a:t>
            </a:r>
            <a:r>
              <a:rPr lang="zh-CN" altLang="en-US" dirty="0"/>
              <a:t>开放式提问</a:t>
            </a:r>
            <a:r>
              <a:rPr lang="en-US" altLang="zh-CN" dirty="0"/>
              <a:t>】 </a:t>
            </a:r>
            <a:r>
              <a:rPr lang="zh-CN" altLang="en-US" dirty="0"/>
              <a:t>是，好</a:t>
            </a:r>
            <a:endParaRPr lang="en-US" altLang="zh-CN" dirty="0"/>
          </a:p>
          <a:p>
            <a:r>
              <a:rPr lang="zh-CN" altLang="en-US" dirty="0"/>
              <a:t>那么我们就可以选择循环结构解决这个问题。</a:t>
            </a:r>
            <a:endParaRPr lang="en-US" altLang="zh-CN" dirty="0"/>
          </a:p>
          <a:p>
            <a:r>
              <a:rPr lang="zh-CN" altLang="en-US" dirty="0"/>
              <a:t>使用循环要找到循环体和循环条件。循环体是什么？</a:t>
            </a:r>
            <a:r>
              <a:rPr lang="zh-CN" altLang="en-US" baseline="0" dirty="0"/>
              <a:t> </a:t>
            </a:r>
            <a:r>
              <a:rPr lang="en-US" altLang="zh-CN" baseline="0" dirty="0"/>
              <a:t>【</a:t>
            </a:r>
            <a:r>
              <a:rPr lang="zh-CN" altLang="en-US" baseline="0" dirty="0"/>
              <a:t>开放式提问</a:t>
            </a:r>
            <a:r>
              <a:rPr lang="en-US" altLang="zh-CN" baseline="0" dirty="0"/>
              <a:t>】 </a:t>
            </a:r>
            <a:r>
              <a:rPr lang="zh-CN" altLang="en-US" baseline="0" dirty="0"/>
              <a:t>对，打印一张电影票。</a:t>
            </a:r>
            <a:endParaRPr lang="en-US" altLang="zh-CN" baseline="0" dirty="0"/>
          </a:p>
          <a:p>
            <a:r>
              <a:rPr lang="zh-CN" altLang="en-US" baseline="0" dirty="0"/>
              <a:t>循环条件是什么？</a:t>
            </a:r>
            <a:r>
              <a:rPr lang="en-US" altLang="zh-CN" baseline="0" dirty="0"/>
              <a:t> </a:t>
            </a:r>
            <a:r>
              <a:rPr lang="zh-CN" altLang="en-US" baseline="0" dirty="0"/>
              <a:t>也就是什么时候循环执行，什么时候不执行？</a:t>
            </a:r>
            <a:r>
              <a:rPr lang="en-US" altLang="zh-CN" baseline="0" dirty="0"/>
              <a:t>【</a:t>
            </a:r>
            <a:r>
              <a:rPr lang="zh-CN" altLang="en-US" baseline="0" dirty="0"/>
              <a:t>停顿</a:t>
            </a:r>
            <a:r>
              <a:rPr lang="en-US" altLang="zh-CN" baseline="0" dirty="0"/>
              <a:t>】 </a:t>
            </a:r>
            <a:r>
              <a:rPr lang="zh-CN" altLang="en-US" baseline="0" dirty="0"/>
              <a:t>打印的张数小于等于</a:t>
            </a:r>
            <a:r>
              <a:rPr lang="en-US" altLang="zh-CN" baseline="0" dirty="0"/>
              <a:t>50</a:t>
            </a:r>
            <a:r>
              <a:rPr lang="zh-CN" altLang="en-US" baseline="0" dirty="0"/>
              <a:t>要继续打印，大于</a:t>
            </a:r>
            <a:r>
              <a:rPr lang="en-US" altLang="zh-CN" baseline="0" dirty="0"/>
              <a:t>50</a:t>
            </a:r>
            <a:r>
              <a:rPr lang="zh-CN" altLang="en-US" baseline="0" dirty="0"/>
              <a:t>那就不打印</a:t>
            </a:r>
            <a:endParaRPr lang="en-US" altLang="zh-CN" baseline="0" dirty="0"/>
          </a:p>
          <a:p>
            <a:r>
              <a:rPr lang="zh-CN" altLang="en-US" baseline="0" dirty="0"/>
              <a:t>有了循环体和循环结构就可以画出流程图了。</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10</a:t>
            </a:r>
            <a:r>
              <a:rPr lang="zh-CN" altLang="en-US" dirty="0"/>
              <a:t>】分析完代码我们都</a:t>
            </a:r>
            <a:r>
              <a:rPr lang="en-US" altLang="zh-CN" dirty="0"/>
              <a:t>while</a:t>
            </a:r>
            <a:r>
              <a:rPr lang="zh-CN" altLang="en-US" dirty="0"/>
              <a:t>循环结构有了一定的了解，那么下面我们使用</a:t>
            </a:r>
            <a:r>
              <a:rPr lang="en-US" altLang="zh-CN" dirty="0"/>
              <a:t>while</a:t>
            </a:r>
            <a:r>
              <a:rPr lang="zh-CN" altLang="en-US" dirty="0"/>
              <a:t>循环结构解决一下打印</a:t>
            </a:r>
            <a:r>
              <a:rPr lang="en-US" altLang="zh-CN" dirty="0"/>
              <a:t>50</a:t>
            </a:r>
            <a:r>
              <a:rPr lang="zh-CN" altLang="en-US" dirty="0"/>
              <a:t>张电影票的问题。</a:t>
            </a:r>
            <a:endParaRPr lang="en-US" altLang="zh-CN" dirty="0"/>
          </a:p>
          <a:p>
            <a:r>
              <a:rPr lang="en-US" altLang="zh-CN" dirty="0"/>
              <a:t>PPT</a:t>
            </a:r>
            <a:r>
              <a:rPr lang="zh-CN" altLang="en-US" dirty="0"/>
              <a:t>上列的是思路分析的过程，今天的作业大家一定要按照这样的过程写每一个作业。</a:t>
            </a:r>
            <a:endParaRPr lang="en-US" altLang="zh-CN" dirty="0"/>
          </a:p>
          <a:p>
            <a:r>
              <a:rPr lang="zh-CN" altLang="en-US" dirty="0"/>
              <a:t>首先分析打印</a:t>
            </a:r>
            <a:r>
              <a:rPr lang="en-US" altLang="zh-CN" dirty="0"/>
              <a:t>50</a:t>
            </a:r>
            <a:r>
              <a:rPr lang="zh-CN" altLang="en-US" dirty="0"/>
              <a:t>张电影票是不是一个多次重复执行的过程？</a:t>
            </a:r>
            <a:r>
              <a:rPr lang="en-US" altLang="zh-CN" dirty="0"/>
              <a:t>【</a:t>
            </a:r>
            <a:r>
              <a:rPr lang="zh-CN" altLang="en-US" dirty="0"/>
              <a:t>开放式提问</a:t>
            </a:r>
            <a:r>
              <a:rPr lang="en-US" altLang="zh-CN" dirty="0"/>
              <a:t>】 </a:t>
            </a:r>
            <a:r>
              <a:rPr lang="zh-CN" altLang="en-US" dirty="0"/>
              <a:t>是，好</a:t>
            </a:r>
            <a:endParaRPr lang="en-US" altLang="zh-CN" dirty="0"/>
          </a:p>
          <a:p>
            <a:r>
              <a:rPr lang="zh-CN" altLang="en-US" dirty="0"/>
              <a:t>那么我们就可以选择循环结构解决这个问题。</a:t>
            </a:r>
            <a:endParaRPr lang="en-US" altLang="zh-CN" dirty="0"/>
          </a:p>
          <a:p>
            <a:r>
              <a:rPr lang="zh-CN" altLang="en-US" dirty="0"/>
              <a:t>使用循环要找到循环体和循环条件。循环体是什么？</a:t>
            </a:r>
            <a:r>
              <a:rPr lang="zh-CN" altLang="en-US" baseline="0" dirty="0"/>
              <a:t> </a:t>
            </a:r>
            <a:r>
              <a:rPr lang="en-US" altLang="zh-CN" baseline="0" dirty="0"/>
              <a:t>【</a:t>
            </a:r>
            <a:r>
              <a:rPr lang="zh-CN" altLang="en-US" baseline="0" dirty="0"/>
              <a:t>开放式提问</a:t>
            </a:r>
            <a:r>
              <a:rPr lang="en-US" altLang="zh-CN" baseline="0" dirty="0"/>
              <a:t>】 </a:t>
            </a:r>
            <a:r>
              <a:rPr lang="zh-CN" altLang="en-US" baseline="0" dirty="0"/>
              <a:t>对，打印一张电影票。</a:t>
            </a:r>
            <a:endParaRPr lang="en-US" altLang="zh-CN" baseline="0" dirty="0"/>
          </a:p>
          <a:p>
            <a:r>
              <a:rPr lang="zh-CN" altLang="en-US" baseline="0" dirty="0"/>
              <a:t>循环条件是什么？</a:t>
            </a:r>
            <a:r>
              <a:rPr lang="en-US" altLang="zh-CN" baseline="0" dirty="0"/>
              <a:t> </a:t>
            </a:r>
            <a:r>
              <a:rPr lang="zh-CN" altLang="en-US" baseline="0" dirty="0"/>
              <a:t>也就是什么时候循环执行，什么时候不执行？</a:t>
            </a:r>
            <a:r>
              <a:rPr lang="en-US" altLang="zh-CN" baseline="0" dirty="0"/>
              <a:t>【</a:t>
            </a:r>
            <a:r>
              <a:rPr lang="zh-CN" altLang="en-US" baseline="0" dirty="0"/>
              <a:t>停顿</a:t>
            </a:r>
            <a:r>
              <a:rPr lang="en-US" altLang="zh-CN" baseline="0" dirty="0"/>
              <a:t>】 </a:t>
            </a:r>
            <a:r>
              <a:rPr lang="zh-CN" altLang="en-US" baseline="0" dirty="0"/>
              <a:t>打印的张数小于等于</a:t>
            </a:r>
            <a:r>
              <a:rPr lang="en-US" altLang="zh-CN" baseline="0" dirty="0"/>
              <a:t>50</a:t>
            </a:r>
            <a:r>
              <a:rPr lang="zh-CN" altLang="en-US" baseline="0" dirty="0"/>
              <a:t>要继续打印，大于</a:t>
            </a:r>
            <a:r>
              <a:rPr lang="en-US" altLang="zh-CN" baseline="0" dirty="0"/>
              <a:t>50</a:t>
            </a:r>
            <a:r>
              <a:rPr lang="zh-CN" altLang="en-US" baseline="0" dirty="0"/>
              <a:t>那就不打印</a:t>
            </a:r>
            <a:endParaRPr lang="en-US" altLang="zh-CN" baseline="0" dirty="0"/>
          </a:p>
          <a:p>
            <a:r>
              <a:rPr lang="zh-CN" altLang="en-US" baseline="0" dirty="0"/>
              <a:t>有了循环体和循环结构就可以画出流程图了。</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10</a:t>
            </a:r>
            <a:r>
              <a:rPr lang="zh-CN" altLang="en-US" dirty="0"/>
              <a:t>】分析完代码我们都</a:t>
            </a:r>
            <a:r>
              <a:rPr lang="en-US" altLang="zh-CN" dirty="0"/>
              <a:t>while</a:t>
            </a:r>
            <a:r>
              <a:rPr lang="zh-CN" altLang="en-US" dirty="0"/>
              <a:t>循环结构有了一定的了解，那么下面我们使用</a:t>
            </a:r>
            <a:r>
              <a:rPr lang="en-US" altLang="zh-CN" dirty="0"/>
              <a:t>while</a:t>
            </a:r>
            <a:r>
              <a:rPr lang="zh-CN" altLang="en-US" dirty="0"/>
              <a:t>循环结构解决一下打印</a:t>
            </a:r>
            <a:r>
              <a:rPr lang="en-US" altLang="zh-CN" dirty="0"/>
              <a:t>50</a:t>
            </a:r>
            <a:r>
              <a:rPr lang="zh-CN" altLang="en-US" dirty="0"/>
              <a:t>张电影票的问题。</a:t>
            </a:r>
            <a:endParaRPr lang="en-US" altLang="zh-CN" dirty="0"/>
          </a:p>
          <a:p>
            <a:r>
              <a:rPr lang="en-US" altLang="zh-CN" dirty="0"/>
              <a:t>PPT</a:t>
            </a:r>
            <a:r>
              <a:rPr lang="zh-CN" altLang="en-US" dirty="0"/>
              <a:t>上列的是思路分析的过程，今天的作业大家一定要按照这样的过程写每一个作业。</a:t>
            </a:r>
            <a:endParaRPr lang="en-US" altLang="zh-CN" dirty="0"/>
          </a:p>
          <a:p>
            <a:r>
              <a:rPr lang="zh-CN" altLang="en-US" dirty="0"/>
              <a:t>首先分析打印</a:t>
            </a:r>
            <a:r>
              <a:rPr lang="en-US" altLang="zh-CN" dirty="0"/>
              <a:t>50</a:t>
            </a:r>
            <a:r>
              <a:rPr lang="zh-CN" altLang="en-US" dirty="0"/>
              <a:t>张电影票是不是一个多次重复执行的过程？</a:t>
            </a:r>
            <a:r>
              <a:rPr lang="en-US" altLang="zh-CN" dirty="0"/>
              <a:t>【</a:t>
            </a:r>
            <a:r>
              <a:rPr lang="zh-CN" altLang="en-US" dirty="0"/>
              <a:t>开放式提问</a:t>
            </a:r>
            <a:r>
              <a:rPr lang="en-US" altLang="zh-CN" dirty="0"/>
              <a:t>】 </a:t>
            </a:r>
            <a:r>
              <a:rPr lang="zh-CN" altLang="en-US" dirty="0"/>
              <a:t>是，好</a:t>
            </a:r>
            <a:endParaRPr lang="en-US" altLang="zh-CN" dirty="0"/>
          </a:p>
          <a:p>
            <a:r>
              <a:rPr lang="zh-CN" altLang="en-US" dirty="0"/>
              <a:t>那么我们就可以选择循环结构解决这个问题。</a:t>
            </a:r>
            <a:endParaRPr lang="en-US" altLang="zh-CN" dirty="0"/>
          </a:p>
          <a:p>
            <a:r>
              <a:rPr lang="zh-CN" altLang="en-US" dirty="0"/>
              <a:t>使用循环要找到循环体和循环条件。循环体是什么？</a:t>
            </a:r>
            <a:r>
              <a:rPr lang="zh-CN" altLang="en-US" baseline="0" dirty="0"/>
              <a:t> </a:t>
            </a:r>
            <a:r>
              <a:rPr lang="en-US" altLang="zh-CN" baseline="0" dirty="0"/>
              <a:t>【</a:t>
            </a:r>
            <a:r>
              <a:rPr lang="zh-CN" altLang="en-US" baseline="0" dirty="0"/>
              <a:t>开放式提问</a:t>
            </a:r>
            <a:r>
              <a:rPr lang="en-US" altLang="zh-CN" baseline="0" dirty="0"/>
              <a:t>】 </a:t>
            </a:r>
            <a:r>
              <a:rPr lang="zh-CN" altLang="en-US" baseline="0" dirty="0"/>
              <a:t>对，打印一张电影票。</a:t>
            </a:r>
            <a:endParaRPr lang="en-US" altLang="zh-CN" baseline="0" dirty="0"/>
          </a:p>
          <a:p>
            <a:r>
              <a:rPr lang="zh-CN" altLang="en-US" baseline="0" dirty="0"/>
              <a:t>循环条件是什么？</a:t>
            </a:r>
            <a:r>
              <a:rPr lang="en-US" altLang="zh-CN" baseline="0" dirty="0"/>
              <a:t> </a:t>
            </a:r>
            <a:r>
              <a:rPr lang="zh-CN" altLang="en-US" baseline="0" dirty="0"/>
              <a:t>也就是什么时候循环执行，什么时候不执行？</a:t>
            </a:r>
            <a:r>
              <a:rPr lang="en-US" altLang="zh-CN" baseline="0" dirty="0"/>
              <a:t>【</a:t>
            </a:r>
            <a:r>
              <a:rPr lang="zh-CN" altLang="en-US" baseline="0" dirty="0"/>
              <a:t>停顿</a:t>
            </a:r>
            <a:r>
              <a:rPr lang="en-US" altLang="zh-CN" baseline="0" dirty="0"/>
              <a:t>】 </a:t>
            </a:r>
            <a:r>
              <a:rPr lang="zh-CN" altLang="en-US" baseline="0" dirty="0"/>
              <a:t>打印的张数小于等于</a:t>
            </a:r>
            <a:r>
              <a:rPr lang="en-US" altLang="zh-CN" baseline="0" dirty="0"/>
              <a:t>50</a:t>
            </a:r>
            <a:r>
              <a:rPr lang="zh-CN" altLang="en-US" baseline="0" dirty="0"/>
              <a:t>要继续打印，大于</a:t>
            </a:r>
            <a:r>
              <a:rPr lang="en-US" altLang="zh-CN" baseline="0" dirty="0"/>
              <a:t>50</a:t>
            </a:r>
            <a:r>
              <a:rPr lang="zh-CN" altLang="en-US" baseline="0" dirty="0"/>
              <a:t>那就不打印</a:t>
            </a:r>
            <a:endParaRPr lang="en-US" altLang="zh-CN" baseline="0" dirty="0"/>
          </a:p>
          <a:p>
            <a:r>
              <a:rPr lang="zh-CN" altLang="en-US" baseline="0" dirty="0"/>
              <a:t>有了循环体和循环结构就可以画出流程图了。</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、简单</a:t>
            </a:r>
            <a:r>
              <a:rPr lang="en-US" altLang="zh-CN" dirty="0"/>
              <a:t>if</a:t>
            </a:r>
            <a:r>
              <a:rPr lang="zh-CN" altLang="en-US" dirty="0"/>
              <a:t>选择结构（单分支），</a:t>
            </a:r>
            <a:r>
              <a:rPr lang="en-US" altLang="zh-CN" dirty="0"/>
              <a:t>if-else</a:t>
            </a:r>
            <a:r>
              <a:rPr lang="zh-CN" altLang="en-US" dirty="0"/>
              <a:t>双分支选择结构，</a:t>
            </a:r>
            <a:r>
              <a:rPr lang="en-US" altLang="zh-CN" dirty="0"/>
              <a:t>if-</a:t>
            </a:r>
            <a:r>
              <a:rPr lang="en-US" altLang="zh-CN" dirty="0" err="1"/>
              <a:t>elif</a:t>
            </a:r>
            <a:r>
              <a:rPr lang="en-US" altLang="zh-CN" dirty="0"/>
              <a:t>-</a:t>
            </a:r>
            <a:r>
              <a:rPr lang="en-US" altLang="zh-CN" dirty="0" err="1"/>
              <a:t>elif</a:t>
            </a:r>
            <a:r>
              <a:rPr lang="en-US" altLang="zh-CN" dirty="0"/>
              <a:t>-[else]</a:t>
            </a:r>
            <a:r>
              <a:rPr lang="zh-CN" altLang="en-US" dirty="0"/>
              <a:t>多</a:t>
            </a:r>
            <a:r>
              <a:rPr lang="en-US" altLang="zh-CN" dirty="0"/>
              <a:t>e</a:t>
            </a:r>
            <a:r>
              <a:rPr lang="zh-CN" altLang="en-US" dirty="0"/>
              <a:t>分支选择结构</a:t>
            </a:r>
            <a:endParaRPr lang="en-US" altLang="zh-CN" dirty="0"/>
          </a:p>
          <a:p>
            <a:r>
              <a:rPr lang="en-US" altLang="zh-CN" dirty="0"/>
              <a:t>2</a:t>
            </a:r>
            <a:r>
              <a:rPr lang="zh-CN" altLang="en-US" dirty="0"/>
              <a:t>、</a:t>
            </a:r>
            <a:r>
              <a:rPr lang="en-US" altLang="zh-CN" dirty="0"/>
              <a:t>for</a:t>
            </a:r>
            <a:r>
              <a:rPr lang="zh-CN" altLang="en-US" dirty="0"/>
              <a:t>循环，</a:t>
            </a:r>
            <a:r>
              <a:rPr lang="en-US" altLang="zh-CN" dirty="0"/>
              <a:t>while</a:t>
            </a:r>
            <a:r>
              <a:rPr lang="zh-CN" altLang="en-US" dirty="0"/>
              <a:t>循环</a:t>
            </a:r>
            <a:endParaRPr lang="en-US" altLang="zh-CN" dirty="0"/>
          </a:p>
          <a:p>
            <a:pPr algn="l" defTabSz="914400">
              <a:lnSpc>
                <a:spcPct val="130000"/>
              </a:lnSpc>
              <a:buNone/>
            </a:pPr>
            <a:r>
              <a:rPr lang="en-US" altLang="zh-CN" dirty="0"/>
              <a:t>3</a:t>
            </a:r>
            <a:r>
              <a:rPr lang="zh-CN" altLang="en-US" dirty="0"/>
              <a:t>、</a:t>
            </a:r>
            <a:r>
              <a:rPr lang="en-US" altLang="x-none" sz="1200" dirty="0">
                <a:solidFill>
                  <a:srgbClr val="0000FF"/>
                </a:solidFill>
                <a:latin typeface="Times New Roman" panose="02020603050405020304" pitchFamily="18" charset="0"/>
                <a:ea typeface="宋体" panose="02010600030101010101" pitchFamily="2" charset="-122"/>
              </a:rPr>
              <a:t>for  </a:t>
            </a:r>
            <a:r>
              <a:rPr lang="en-US" altLang="x-none" sz="1200" dirty="0" err="1">
                <a:solidFill>
                  <a:srgbClr val="0000FF"/>
                </a:solidFill>
                <a:latin typeface="Times New Roman" panose="02020603050405020304" pitchFamily="18" charset="0"/>
                <a:ea typeface="宋体" panose="02010600030101010101" pitchFamily="2" charset="-122"/>
              </a:rPr>
              <a:t>i</a:t>
            </a:r>
            <a:r>
              <a:rPr lang="en-US" altLang="x-none" sz="1200" dirty="0">
                <a:solidFill>
                  <a:srgbClr val="0000FF"/>
                </a:solidFill>
                <a:latin typeface="Times New Roman" panose="02020603050405020304" pitchFamily="18" charset="0"/>
                <a:ea typeface="宋体" panose="02010600030101010101" pitchFamily="2" charset="-122"/>
              </a:rPr>
              <a:t>  in  </a:t>
            </a:r>
            <a:r>
              <a:rPr lang="zh-CN" altLang="en-US" sz="1200" dirty="0">
                <a:solidFill>
                  <a:srgbClr val="0000FF"/>
                </a:solidFill>
                <a:latin typeface="Times New Roman" panose="02020603050405020304" pitchFamily="18" charset="0"/>
                <a:ea typeface="宋体" panose="02010600030101010101" pitchFamily="2" charset="-122"/>
              </a:rPr>
              <a:t>序列：</a:t>
            </a:r>
            <a:endParaRPr lang="zh-CN" altLang="en-US" sz="12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200" dirty="0">
                <a:solidFill>
                  <a:srgbClr val="09131F"/>
                </a:solidFill>
                <a:latin typeface="Times New Roman" panose="02020603050405020304" pitchFamily="18" charset="0"/>
                <a:ea typeface="宋体" panose="02010600030101010101" pitchFamily="2" charset="-122"/>
              </a:rPr>
              <a:t>      pass </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、顺序结构，选择结构，循环结构</a:t>
            </a:r>
            <a:endParaRPr lang="en-US" altLang="zh-CN" dirty="0"/>
          </a:p>
          <a:p>
            <a:r>
              <a:rPr lang="en-US" altLang="zh-CN" dirty="0"/>
              <a:t>2</a:t>
            </a:r>
            <a:r>
              <a:rPr lang="zh-CN" altLang="en-US" dirty="0"/>
              <a:t>、</a:t>
            </a:r>
            <a:r>
              <a:rPr lang="en-US" altLang="zh-CN" dirty="0"/>
              <a:t>if</a:t>
            </a:r>
            <a:r>
              <a:rPr lang="zh-CN" altLang="en-US" dirty="0"/>
              <a:t>选择结构是根据条件表达式的值选择相应语句执行的程序控制结构</a:t>
            </a:r>
            <a:endParaRPr lang="zh-CN" altLang="en-US" dirty="0"/>
          </a:p>
          <a:p>
            <a:r>
              <a:rPr lang="en-US" altLang="zh-CN" dirty="0"/>
              <a:t>3</a:t>
            </a:r>
            <a:r>
              <a:rPr lang="zh-CN" altLang="en-US" dirty="0"/>
              <a:t>、循环结构是反复执行一系列指令直到某些特定条件满足的程序控制结构</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切片</a:t>
            </a:r>
            <a:r>
              <a:rPr lang="en-US" altLang="zh-CN" dirty="0"/>
              <a:t>15</a:t>
            </a:r>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11</a:t>
            </a:r>
            <a:r>
              <a:rPr lang="zh-CN" altLang="en-US" dirty="0"/>
              <a:t>】需要学生配合   现在按照刚才的思路分析这道题，用</a:t>
            </a:r>
            <a:r>
              <a:rPr lang="en-US" altLang="zh-CN" dirty="0"/>
              <a:t>10</a:t>
            </a:r>
            <a:r>
              <a:rPr lang="zh-CN" altLang="en-US" dirty="0"/>
              <a:t>分钟的时间编码实现这个功能。</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a:t>
            </a:r>
            <a:r>
              <a:rPr lang="zh-CN" altLang="en-US" dirty="0"/>
              <a:t>、选择结构是根据条件判断结果来决定程序执行流程的程序控制结构</a:t>
            </a:r>
            <a:endParaRPr lang="en-US" altLang="zh-CN" dirty="0"/>
          </a:p>
          <a:p>
            <a:r>
              <a:rPr lang="en-US" altLang="zh-CN" dirty="0"/>
              <a:t>2</a:t>
            </a:r>
            <a:r>
              <a:rPr lang="zh-CN" altLang="en-US" dirty="0"/>
              <a:t>、循环结构是反复执行一系列指令直到某些特定条件满足的程序控制结构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57688" y="214297"/>
            <a:ext cx="4606927" cy="392415"/>
          </a:xfrm>
          <a:solidFill>
            <a:schemeClr val="bg1"/>
          </a:solidFill>
        </p:spPr>
        <p:txBody>
          <a:bodyPr>
            <a:spAutoFit/>
          </a:bodyPr>
          <a:lstStyle>
            <a:lvl1pPr>
              <a:defRPr sz="2800" b="1">
                <a:solidFill>
                  <a:schemeClr val="tx2">
                    <a:lumMod val="50000"/>
                  </a:schemeClr>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84254" y="910817"/>
            <a:ext cx="7645398" cy="3857652"/>
          </a:xfrm>
        </p:spPr>
        <p:txBody>
          <a:bodyPr/>
          <a:lstStyle>
            <a:lvl1pPr>
              <a:buSzPct val="100000"/>
              <a:buFont typeface="Wingdings" panose="05000000000000000000" pitchFamily="2" charset="2"/>
              <a:buChar char="n"/>
              <a:defRPr b="1">
                <a:latin typeface="+mn-lt"/>
              </a:defRPr>
            </a:lvl1pPr>
            <a:lvl2pPr>
              <a:buSzPct val="100000"/>
              <a:buFont typeface="Wingdings" panose="05000000000000000000" pitchFamily="2" charset="2"/>
              <a:buChar char="u"/>
              <a:defRPr b="1">
                <a:latin typeface="+mn-lt"/>
              </a:defRPr>
            </a:lvl2pPr>
            <a:lvl3pPr>
              <a:buClr>
                <a:srgbClr val="0E9CDE"/>
              </a:buClr>
              <a:buSzPct val="85000"/>
              <a:buFont typeface="Wingdings" panose="05000000000000000000" pitchFamily="2" charset="2"/>
              <a:buChar char="Ø"/>
              <a:defRPr b="1">
                <a:latin typeface="+mn-lt"/>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5"/>
          <p:cNvSpPr>
            <a:spLocks noGrp="1"/>
          </p:cNvSpPr>
          <p:nvPr>
            <p:ph type="sldNum" sz="quarter" idx="10"/>
          </p:nvPr>
        </p:nvSpPr>
        <p:spPr>
          <a:xfrm>
            <a:off x="6938963" y="4816080"/>
            <a:ext cx="2133600" cy="273844"/>
          </a:xfrm>
        </p:spPr>
        <p:txBody>
          <a:bodyPr/>
          <a:lstStyle>
            <a:lvl1pPr>
              <a:defRPr/>
            </a:lvl1pPr>
          </a:lstStyle>
          <a:p>
            <a:pPr>
              <a:defRPr/>
            </a:pPr>
            <a:fld id="{E1F35F12-52FC-45A8-B539-88DCF394FD7F}" type="slidenum">
              <a:rPr lang="zh-CN" altLang="en-US" smtClean="0"/>
            </a:fld>
            <a:r>
              <a:rPr lang="en-US" altLang="zh-CN" dirty="0"/>
              <a:t>/48</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480131"/>
          </a:xfrm>
          <a:prstGeom prst="rect">
            <a:avLst/>
          </a:prstGeom>
          <a:noFill/>
        </p:spPr>
        <p:txBody>
          <a:bodyPr wrap="square">
            <a:spAutoFit/>
          </a:bodyPr>
          <a:lstStyle>
            <a:lvl1pPr algn="r">
              <a:defRPr sz="2800" b="1">
                <a:solidFill>
                  <a:schemeClr val="tx2">
                    <a:lumMod val="50000"/>
                  </a:schemeClr>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1">
        <a:schemeClr val="bg1"/>
      </p:bgRef>
    </p:bg>
    <p:spTree>
      <p:nvGrpSpPr>
        <p:cNvPr id="1" name=""/>
        <p:cNvGrpSpPr/>
        <p:nvPr/>
      </p:nvGrpSpPr>
      <p:grpSpPr>
        <a:xfrm>
          <a:off x="0" y="0"/>
          <a:ext cx="0" cy="0"/>
          <a:chOff x="0" y="0"/>
          <a:chExt cx="0" cy="0"/>
        </a:xfrm>
      </p:grpSpPr>
      <p:sp>
        <p:nvSpPr>
          <p:cNvPr id="2" name="直接连接符 14"/>
          <p:cNvSpPr>
            <a:spLocks noChangeShapeType="1"/>
          </p:cNvSpPr>
          <p:nvPr userDrawn="1"/>
        </p:nvSpPr>
        <p:spPr bwMode="auto">
          <a:xfrm>
            <a:off x="1671638" y="951313"/>
            <a:ext cx="0" cy="4192190"/>
          </a:xfrm>
          <a:prstGeom prst="line">
            <a:avLst/>
          </a:prstGeom>
          <a:noFill/>
          <a:ln w="9525">
            <a:solidFill>
              <a:schemeClr val="accent1"/>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4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4" name="副标题 2"/>
          <p:cNvSpPr>
            <a:spLocks noGrp="1"/>
          </p:cNvSpPr>
          <p:nvPr>
            <p:ph type="subTitle" idx="1"/>
          </p:nvPr>
        </p:nvSpPr>
        <p:spPr>
          <a:xfrm>
            <a:off x="683568" y="2409732"/>
            <a:ext cx="7776864" cy="594066"/>
          </a:xfrm>
          <a:prstGeom prst="rect">
            <a:avLst/>
          </a:prstGeom>
        </p:spPr>
        <p:txBody>
          <a:bodyPr/>
          <a:lstStyle>
            <a:lvl1pPr marL="0" indent="0" algn="ctr">
              <a:buNone/>
              <a:defRPr sz="2800" b="1">
                <a:solidFill>
                  <a:schemeClr val="tx1"/>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pic>
        <p:nvPicPr>
          <p:cNvPr id="23" name="图片 6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113" y="3082826"/>
            <a:ext cx="9155113"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圆角矩形 4"/>
          <p:cNvSpPr>
            <a:spLocks noChangeArrowheads="1"/>
          </p:cNvSpPr>
          <p:nvPr userDrawn="1"/>
        </p:nvSpPr>
        <p:spPr bwMode="auto">
          <a:xfrm>
            <a:off x="2354277" y="3962401"/>
            <a:ext cx="4289425" cy="359569"/>
          </a:xfrm>
          <a:prstGeom prst="roundRect">
            <a:avLst>
              <a:gd name="adj" fmla="val 7292"/>
            </a:avLst>
          </a:prstGeom>
          <a:solidFill>
            <a:srgbClr val="FFFFFF">
              <a:alpha val="32156"/>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不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179512" y="771550"/>
            <a:ext cx="86409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lIns="68580" tIns="34290" rIns="68580" bIns="34290"/>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a:xfrm>
            <a:off x="152400" y="4914900"/>
            <a:ext cx="8839200" cy="114300"/>
          </a:xfrm>
          <a:prstGeom prst="rect">
            <a:avLst/>
          </a:prstGeom>
        </p:spPr>
        <p:txBody>
          <a:bodyPr lIns="68580" tIns="34290" rIns="68580" bIns="34290"/>
          <a:lstStyle/>
          <a:p>
            <a:endParaRPr lang="zh-CN" altLang="en-US"/>
          </a:p>
        </p:txBody>
      </p:sp>
      <p:sp>
        <p:nvSpPr>
          <p:cNvPr id="4" name="文本框"/>
          <p:cNvSpPr>
            <a:spLocks noGrp="1"/>
          </p:cNvSpPr>
          <p:nvPr>
            <p:ph type="sldNum" sz="quarter" idx="12"/>
          </p:nvPr>
        </p:nvSpPr>
        <p:spPr/>
        <p:txBody>
          <a:bodyPr lIns="68580" tIns="34290" rIns="68580" bIns="34290"/>
          <a:lstStyle/>
          <a:p>
            <a:fld id="{3E00D155-3BB6-43CF-9AC4-BC63A66E74A9}" type="slidenum">
              <a:rPr lang="zh-CN" altLang="en-US" smtClean="0"/>
            </a:fld>
            <a:endParaRPr lang="zh-CN" altLang="en-US"/>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microsoft.com/office/2007/relationships/hdphoto" Target="../media/image3.wdp"/><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3"/>
          <p:cNvPicPr>
            <a:picLocks noChangeAspect="1" noChangeArrowheads="1"/>
          </p:cNvPicPr>
          <p:nvPr userDrawn="1"/>
        </p:nvPicPr>
        <p:blipFill>
          <a:blip r:embed="rId13" cstate="print">
            <a:extLst>
              <a:ext uri="{BEBA8EAE-BF5A-486C-A8C5-ECC9F3942E4B}">
                <a14:imgProps xmlns:a14="http://schemas.microsoft.com/office/drawing/2010/main">
                  <a14:imgLayer r:embed="rId1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矩形 17"/>
          <p:cNvSpPr>
            <a:spLocks noChangeArrowheads="1"/>
          </p:cNvSpPr>
          <p:nvPr userDrawn="1"/>
        </p:nvSpPr>
        <p:spPr bwMode="auto">
          <a:xfrm>
            <a:off x="8623697" y="4693446"/>
            <a:ext cx="52268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8" name="矩形 31"/>
          <p:cNvSpPr>
            <a:spLocks noChangeArrowheads="1"/>
          </p:cNvSpPr>
          <p:nvPr userDrawn="1"/>
        </p:nvSpPr>
        <p:spPr bwMode="auto">
          <a:xfrm flipV="1">
            <a:off x="3" y="573529"/>
            <a:ext cx="9146381" cy="41126"/>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9" name="TextBox 15"/>
          <p:cNvSpPr>
            <a:spLocks noChangeArrowheads="1"/>
          </p:cNvSpPr>
          <p:nvPr userDrawn="1"/>
        </p:nvSpPr>
        <p:spPr bwMode="auto">
          <a:xfrm>
            <a:off x="8792769" y="4731544"/>
            <a:ext cx="471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D41CE8-2465-49E5-8469-C528E9CDFDF7}" type="slidenum">
              <a:rPr lang="zh-CN" altLang="en-US" sz="1600">
                <a:solidFill>
                  <a:schemeClr val="bg1"/>
                </a:solidFill>
                <a:latin typeface="Calibri" panose="020F0502020204030204" pitchFamily="34" charset="0"/>
                <a:sym typeface="宋体" panose="02010600030101010101" pitchFamily="2" charset="-122"/>
              </a:rPr>
            </a:fld>
            <a:r>
              <a:rPr lang="zh-CN" altLang="en-US" sz="1600">
                <a:solidFill>
                  <a:schemeClr val="bg1"/>
                </a:solidFill>
                <a:latin typeface="Calibri" panose="020F0502020204030204" pitchFamily="34" charset="0"/>
                <a:sym typeface="宋体" panose="02010600030101010101" pitchFamily="2" charset="-122"/>
              </a:rPr>
              <a:t> </a:t>
            </a:r>
            <a:endParaRPr lang="zh-CN" altLang="en-US"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0" name="直接连接符 2"/>
          <p:cNvSpPr>
            <a:spLocks noChangeShapeType="1"/>
          </p:cNvSpPr>
          <p:nvPr userDrawn="1"/>
        </p:nvSpPr>
        <p:spPr bwMode="auto">
          <a:xfrm flipH="1">
            <a:off x="2121864" y="3"/>
            <a:ext cx="1864" cy="536711"/>
          </a:xfrm>
          <a:prstGeom prst="line">
            <a:avLst/>
          </a:prstGeom>
          <a:noFill/>
          <a:ln w="9525">
            <a:solidFill>
              <a:schemeClr val="accent1"/>
            </a:solidFill>
            <a:miter lim="800000"/>
            <a:tailEnd type="oval" w="med" len="med"/>
          </a:ln>
          <a:extLst>
            <a:ext uri="{909E8E84-426E-40DD-AFC4-6F175D3DCCD1}">
              <a14:hiddenFill xmlns:a14="http://schemas.microsoft.com/office/drawing/2010/main">
                <a:noFill/>
              </a14:hiddenFill>
            </a:ext>
          </a:extLst>
        </p:spPr>
        <p:txBody>
          <a:bodyPr/>
          <a:lstStyle/>
          <a:p>
            <a:endParaRPr lang="zh-CN" altLang="en-US"/>
          </a:p>
        </p:txBody>
      </p:sp>
      <p:pic>
        <p:nvPicPr>
          <p:cNvPr id="8" name="图片 3"/>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 y="130113"/>
            <a:ext cx="2123728" cy="40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913130" indent="-913130" algn="l" rtl="0" eaLnBrk="0" fontAlgn="base" hangingPunct="0">
        <a:lnSpc>
          <a:spcPct val="90000"/>
        </a:lnSpc>
        <a:spcBef>
          <a:spcPct val="0"/>
        </a:spcBef>
        <a:spcAft>
          <a:spcPct val="0"/>
        </a:spcAft>
        <a:defRPr sz="4400" kern="1200">
          <a:solidFill>
            <a:schemeClr val="tx1"/>
          </a:solidFill>
          <a:latin typeface="+mj-lt"/>
          <a:ea typeface="+mj-ea"/>
          <a:cs typeface="+mj-cs"/>
          <a:sym typeface="Browallia New" panose="020B0604020202020204"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6.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GIF"/><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image" Target="../media/image8.GIF"/></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vml"/><Relationship Id="rId3" Type="http://schemas.openxmlformats.org/officeDocument/2006/relationships/slideLayout" Target="../slideLayouts/slideLayout10.xml"/><Relationship Id="rId2" Type="http://schemas.openxmlformats.org/officeDocument/2006/relationships/image" Target="../media/image18.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0.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fontScale="90000"/>
          </a:bodyPr>
          <a:lstStyle/>
          <a:p>
            <a:pPr marL="913130" indent="-913130"/>
            <a:r>
              <a:rPr lang="zh-CN" altLang="en-US" sz="4000" dirty="0">
                <a:solidFill>
                  <a:schemeClr val="accent5">
                    <a:lumMod val="50000"/>
                  </a:schemeClr>
                </a:solidFill>
              </a:rPr>
              <a:t>第三单元 </a:t>
            </a:r>
            <a:r>
              <a:rPr lang="en-US" altLang="zh-CN" sz="4000" dirty="0">
                <a:solidFill>
                  <a:schemeClr val="accent5">
                    <a:lumMod val="50000"/>
                  </a:schemeClr>
                </a:solidFill>
              </a:rPr>
              <a:t>Python</a:t>
            </a:r>
            <a:r>
              <a:rPr lang="zh-CN" altLang="en-US" sz="4000" dirty="0">
                <a:solidFill>
                  <a:schemeClr val="accent5">
                    <a:lumMod val="50000"/>
                  </a:schemeClr>
                </a:solidFill>
              </a:rPr>
              <a:t>程序控制结构及其语句</a:t>
            </a:r>
            <a:r>
              <a:rPr lang="en-US" altLang="zh-CN" sz="4000" dirty="0">
                <a:solidFill>
                  <a:schemeClr val="accent5">
                    <a:lumMod val="50000"/>
                  </a:schemeClr>
                </a:solidFill>
              </a:rPr>
              <a:t>2</a:t>
            </a:r>
            <a:endParaRPr lang="en-US" altLang="zh-CN" sz="4000" dirty="0">
              <a:solidFill>
                <a:schemeClr val="accent5">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第一课时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zh-CN" altLang="en-US" dirty="0">
                <a:sym typeface="+mn-ea"/>
              </a:rPr>
              <a:t>程序控制结构</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知识回顾</a:t>
            </a:r>
            <a:endParaRPr lang="zh-CN" altLang="en-US" dirty="0"/>
          </a:p>
        </p:txBody>
      </p:sp>
      <p:sp>
        <p:nvSpPr>
          <p:cNvPr id="3" name="内容占位符 2"/>
          <p:cNvSpPr>
            <a:spLocks noGrp="1"/>
          </p:cNvSpPr>
          <p:nvPr>
            <p:ph idx="1"/>
          </p:nvPr>
        </p:nvSpPr>
        <p:spPr>
          <a:xfrm>
            <a:off x="467544" y="1275606"/>
            <a:ext cx="8064896" cy="3353596"/>
          </a:xfrm>
        </p:spPr>
        <p:txBody>
          <a:bodyPr/>
          <a:lstStyle/>
          <a:p>
            <a:r>
              <a:rPr lang="en-US" altLang="zh-CN" dirty="0">
                <a:sym typeface="+mn-ea"/>
              </a:rPr>
              <a:t>Python</a:t>
            </a:r>
            <a:r>
              <a:rPr lang="zh-CN" altLang="en-US" dirty="0">
                <a:sym typeface="+mn-ea"/>
              </a:rPr>
              <a:t>的选择结构</a:t>
            </a:r>
            <a:endParaRPr lang="en-US" altLang="zh-CN" dirty="0"/>
          </a:p>
          <a:p>
            <a:r>
              <a:rPr lang="zh-CN" altLang="en-US" dirty="0"/>
              <a:t>单分支</a:t>
            </a:r>
            <a:endParaRPr lang="zh-CN" altLang="en-US" dirty="0"/>
          </a:p>
          <a:p>
            <a:r>
              <a:rPr lang="zh-CN" altLang="en-US" dirty="0"/>
              <a:t>双分支</a:t>
            </a:r>
            <a:endParaRPr lang="zh-CN" altLang="en-US" dirty="0"/>
          </a:p>
          <a:p>
            <a:r>
              <a:rPr lang="zh-CN" altLang="en-US" dirty="0"/>
              <a:t>多分支</a:t>
            </a:r>
            <a:endParaRPr lang="zh-CN" altLang="en-US" dirty="0"/>
          </a:p>
          <a:p>
            <a:r>
              <a:rPr lang="en-US" altLang="zh-CN" dirty="0"/>
              <a:t>pass</a:t>
            </a:r>
            <a:r>
              <a:rPr lang="zh-CN" altLang="en-US" dirty="0"/>
              <a:t>语句</a:t>
            </a:r>
            <a:endParaRPr lang="zh-CN" altLang="en-US" dirty="0"/>
          </a:p>
        </p:txBody>
      </p:sp>
      <p:sp>
        <p:nvSpPr>
          <p:cNvPr id="9" name="TextBox 8"/>
          <p:cNvSpPr txBox="1"/>
          <p:nvPr/>
        </p:nvSpPr>
        <p:spPr>
          <a:xfrm>
            <a:off x="539552" y="771550"/>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2" name="图片 11" descr="现场提问3.png"/>
          <p:cNvPicPr>
            <a:picLocks noChangeAspect="1"/>
          </p:cNvPicPr>
          <p:nvPr/>
        </p:nvPicPr>
        <p:blipFill>
          <a:blip r:embed="rId1" cstate="print"/>
          <a:stretch>
            <a:fillRect/>
          </a:stretch>
        </p:blipFill>
        <p:spPr>
          <a:xfrm>
            <a:off x="179512" y="723157"/>
            <a:ext cx="405385" cy="408433"/>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p:cNvSpPr>
          <p:nvPr>
            <p:ph type="title"/>
          </p:nvPr>
        </p:nvSpPr>
        <p:spPr>
          <a:ln>
            <a:noFill/>
          </a:ln>
        </p:spPr>
        <p:txBody>
          <a:bodyPr wrap="square" anchor="t">
            <a:spAutoFit/>
          </a:bodyPr>
          <a:lstStyle/>
          <a:p>
            <a:r>
              <a:rPr lang="zh-CN" altLang="en-US" kern="1200" dirty="0">
                <a:solidFill>
                  <a:srgbClr val="0070C0"/>
                </a:solidFill>
                <a:latin typeface="+mj-lt"/>
                <a:ea typeface="+mj-ea"/>
                <a:cs typeface="+mj-cs"/>
                <a:sym typeface="Browallia New" panose="020B0604020202020204" charset="0"/>
              </a:rPr>
              <a:t>贯穿案例</a:t>
            </a:r>
            <a:endParaRPr lang="zh-CN" altLang="en-US" kern="1200" dirty="0">
              <a:solidFill>
                <a:srgbClr val="0070C0"/>
              </a:solidFill>
              <a:latin typeface="+mj-lt"/>
              <a:ea typeface="+mj-ea"/>
              <a:cs typeface="+mj-cs"/>
              <a:sym typeface="Browallia New" panose="020B0604020202020204" charset="0"/>
            </a:endParaRPr>
          </a:p>
        </p:txBody>
      </p:sp>
      <p:pic>
        <p:nvPicPr>
          <p:cNvPr id="2" name="图片 1"/>
          <p:cNvPicPr>
            <a:picLocks noChangeAspect="1"/>
          </p:cNvPicPr>
          <p:nvPr/>
        </p:nvPicPr>
        <p:blipFill>
          <a:blip r:embed="rId1"/>
          <a:stretch>
            <a:fillRect/>
          </a:stretch>
        </p:blipFill>
        <p:spPr>
          <a:xfrm>
            <a:off x="2182786" y="699542"/>
            <a:ext cx="4796513" cy="4298344"/>
          </a:xfrm>
          <a:prstGeom prst="rect">
            <a:avLst/>
          </a:prstGeom>
        </p:spPr>
      </p:pic>
      <p:sp>
        <p:nvSpPr>
          <p:cNvPr id="5" name="AutoShape 4"/>
          <p:cNvSpPr>
            <a:spLocks noChangeArrowheads="1"/>
          </p:cNvSpPr>
          <p:nvPr/>
        </p:nvSpPr>
        <p:spPr bwMode="auto">
          <a:xfrm>
            <a:off x="467544" y="699542"/>
            <a:ext cx="2952329" cy="510469"/>
          </a:xfrm>
          <a:prstGeom prst="roundRect">
            <a:avLst>
              <a:gd name="adj" fmla="val 0"/>
            </a:avLst>
          </a:prstGeom>
          <a:solidFill>
            <a:schemeClr val="accent1">
              <a:lumMod val="20000"/>
              <a:lumOff val="80000"/>
            </a:schemeClr>
          </a:solidFill>
          <a:ln w="19050">
            <a:solidFill>
              <a:schemeClr val="accent1"/>
            </a:solidFill>
          </a:ln>
        </p:spPr>
        <p:txBody>
          <a:bodyPr anchor="ctr"/>
          <a:lstStyle/>
          <a:p>
            <a:pPr marL="0" lvl="1" indent="-342900" algn="l" eaLnBrk="0" hangingPunct="0">
              <a:spcBef>
                <a:spcPct val="20000"/>
              </a:spcBef>
              <a:buClr>
                <a:srgbClr val="0E9CDE"/>
              </a:buClr>
              <a:buSzPct val="100000"/>
              <a:buFont typeface="Wingdings" panose="05000000000000000000" pitchFamily="2" charset="2"/>
              <a:buChar char="n"/>
              <a:defRPr/>
            </a:pPr>
            <a:r>
              <a:rPr lang="zh-CN" altLang="en-US" sz="2000" b="1" dirty="0">
                <a:ea typeface="微软雅黑" panose="020B0503020204020204" pitchFamily="34" charset="-122"/>
              </a:rPr>
              <a:t>用户登录注册流程图</a:t>
            </a:r>
            <a:endParaRPr lang="zh-CN" altLang="en-GB" sz="2000" b="1" dirty="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7"/>
          <p:cNvSpPr txBox="1"/>
          <p:nvPr/>
        </p:nvSpPr>
        <p:spPr>
          <a:xfrm>
            <a:off x="6215073" y="126868"/>
            <a:ext cx="2749539" cy="410751"/>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ea"/>
                <a:ea typeface="+mj-ea"/>
                <a:cs typeface="+mj-cs"/>
              </a:rPr>
              <a:t>概念图</a:t>
            </a:r>
            <a:endParaRPr lang="zh-CN" altLang="en-US" sz="2000" b="0" dirty="0">
              <a:solidFill>
                <a:srgbClr val="0070C0"/>
              </a:solidFill>
              <a:latin typeface="+mj-ea"/>
              <a:ea typeface="+mj-ea"/>
              <a:cs typeface="+mj-cs"/>
            </a:endParaRPr>
          </a:p>
        </p:txBody>
      </p:sp>
      <p:pic>
        <p:nvPicPr>
          <p:cNvPr id="2" name="图片 1"/>
          <p:cNvPicPr>
            <a:picLocks noChangeAspect="1"/>
          </p:cNvPicPr>
          <p:nvPr/>
        </p:nvPicPr>
        <p:blipFill>
          <a:blip r:embed="rId1"/>
          <a:stretch>
            <a:fillRect/>
          </a:stretch>
        </p:blipFill>
        <p:spPr>
          <a:xfrm>
            <a:off x="611560" y="843558"/>
            <a:ext cx="7951105" cy="3833553"/>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9332"/>
          </a:xfrm>
        </p:spPr>
        <p:txBody>
          <a:bodyPr/>
          <a:lstStyle/>
          <a:p>
            <a:r>
              <a:rPr lang="zh-CN" altLang="en-US" dirty="0"/>
              <a:t>生活中的循环</a:t>
            </a:r>
            <a:endParaRPr lang="zh-CN" altLang="en-US" dirty="0"/>
          </a:p>
        </p:txBody>
      </p:sp>
      <p:pic>
        <p:nvPicPr>
          <p:cNvPr id="48140" name="Picture 12" descr="C:\Users\lenovo\Desktop\timgNV9ZX0XS.gif"/>
          <p:cNvPicPr>
            <a:picLocks noChangeAspect="1" noChangeArrowheads="1" noCrop="1"/>
          </p:cNvPicPr>
          <p:nvPr/>
        </p:nvPicPr>
        <p:blipFill>
          <a:blip r:embed="rId1" cstate="print"/>
          <a:srcRect/>
          <a:stretch>
            <a:fillRect/>
          </a:stretch>
        </p:blipFill>
        <p:spPr bwMode="auto">
          <a:xfrm>
            <a:off x="1510291" y="771752"/>
            <a:ext cx="1766042" cy="1223934"/>
          </a:xfrm>
          <a:prstGeom prst="rect">
            <a:avLst/>
          </a:prstGeom>
          <a:noFill/>
        </p:spPr>
      </p:pic>
      <p:pic>
        <p:nvPicPr>
          <p:cNvPr id="48141" name="Picture 13" descr="C:\Users\lenovo\Desktop\timg.gif"/>
          <p:cNvPicPr>
            <a:picLocks noChangeAspect="1" noChangeArrowheads="1" noCrop="1"/>
          </p:cNvPicPr>
          <p:nvPr/>
        </p:nvPicPr>
        <p:blipFill>
          <a:blip r:embed="rId2" cstate="print"/>
          <a:srcRect/>
          <a:stretch>
            <a:fillRect/>
          </a:stretch>
        </p:blipFill>
        <p:spPr bwMode="auto">
          <a:xfrm>
            <a:off x="4211960" y="771751"/>
            <a:ext cx="1227517" cy="1279687"/>
          </a:xfrm>
          <a:prstGeom prst="rect">
            <a:avLst/>
          </a:prstGeom>
          <a:noFill/>
        </p:spPr>
      </p:pic>
      <p:sp>
        <p:nvSpPr>
          <p:cNvPr id="23" name="副标题 22"/>
          <p:cNvSpPr>
            <a:spLocks noGrp="1"/>
          </p:cNvSpPr>
          <p:nvPr/>
        </p:nvSpPr>
        <p:spPr>
          <a:xfrm>
            <a:off x="312604" y="656291"/>
            <a:ext cx="7488832"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l">
              <a:spcBef>
                <a:spcPct val="267000"/>
              </a:spcBef>
            </a:pPr>
            <a:r>
              <a:rPr lang="zh-CN" altLang="en-US" dirty="0">
                <a:latin typeface="+mn-ea"/>
              </a:rPr>
              <a:t>生活现象</a:t>
            </a:r>
            <a:endParaRPr lang="zh-CN" altLang="en-US" dirty="0">
              <a:latin typeface="+mn-ea"/>
            </a:endParaRPr>
          </a:p>
        </p:txBody>
      </p:sp>
      <p:sp>
        <p:nvSpPr>
          <p:cNvPr id="13" name="Freeform 59"/>
          <p:cNvSpPr>
            <a:spLocks noEditPoints="1"/>
          </p:cNvSpPr>
          <p:nvPr/>
        </p:nvSpPr>
        <p:spPr bwMode="auto">
          <a:xfrm>
            <a:off x="83790" y="705555"/>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3" name="图片 2"/>
          <p:cNvPicPr>
            <a:picLocks noChangeAspect="1"/>
          </p:cNvPicPr>
          <p:nvPr/>
        </p:nvPicPr>
        <p:blipFill>
          <a:blip r:embed="rId3"/>
          <a:stretch>
            <a:fillRect/>
          </a:stretch>
        </p:blipFill>
        <p:spPr>
          <a:xfrm>
            <a:off x="6469126" y="771550"/>
            <a:ext cx="1487250" cy="1326505"/>
          </a:xfrm>
          <a:prstGeom prst="rect">
            <a:avLst/>
          </a:prstGeom>
        </p:spPr>
      </p:pic>
      <p:sp>
        <p:nvSpPr>
          <p:cNvPr id="9" name="Rectangle 6"/>
          <p:cNvSpPr/>
          <p:nvPr/>
        </p:nvSpPr>
        <p:spPr>
          <a:xfrm>
            <a:off x="1743116" y="2083626"/>
            <a:ext cx="1300391" cy="338554"/>
          </a:xfrm>
          <a:prstGeom prst="rect">
            <a:avLst/>
          </a:prstGeom>
          <a:noFill/>
          <a:ln w="9525">
            <a:noFill/>
          </a:ln>
        </p:spPr>
        <p:txBody>
          <a:bodyPr wrap="square" anchor="t">
            <a:spAutoFit/>
          </a:bodyPr>
          <a:lstStyle/>
          <a:p>
            <a:pPr>
              <a:buNone/>
            </a:pPr>
            <a:r>
              <a:rPr lang="zh-CN" altLang="en-US" sz="1600" b="0" dirty="0">
                <a:solidFill>
                  <a:schemeClr val="tx1">
                    <a:lumMod val="75000"/>
                    <a:lumOff val="25000"/>
                  </a:schemeClr>
                </a:solidFill>
                <a:latin typeface="+mn-ea"/>
                <a:ea typeface="+mn-ea"/>
              </a:rPr>
              <a:t>打印火车票</a:t>
            </a:r>
            <a:endParaRPr lang="zh-CN" altLang="en-US" sz="1600" b="0" dirty="0">
              <a:solidFill>
                <a:schemeClr val="tx1">
                  <a:lumMod val="75000"/>
                  <a:lumOff val="25000"/>
                </a:schemeClr>
              </a:solidFill>
              <a:latin typeface="+mn-ea"/>
              <a:ea typeface="+mn-ea"/>
            </a:endParaRPr>
          </a:p>
        </p:txBody>
      </p:sp>
      <p:sp>
        <p:nvSpPr>
          <p:cNvPr id="10" name="Rectangle 6"/>
          <p:cNvSpPr/>
          <p:nvPr/>
        </p:nvSpPr>
        <p:spPr>
          <a:xfrm>
            <a:off x="4474955" y="2083626"/>
            <a:ext cx="701526" cy="338554"/>
          </a:xfrm>
          <a:prstGeom prst="rect">
            <a:avLst/>
          </a:prstGeom>
          <a:noFill/>
          <a:ln w="9525">
            <a:noFill/>
          </a:ln>
        </p:spPr>
        <p:txBody>
          <a:bodyPr wrap="square" anchor="t">
            <a:spAutoFit/>
          </a:bodyPr>
          <a:lstStyle/>
          <a:p>
            <a:pPr>
              <a:buNone/>
            </a:pPr>
            <a:r>
              <a:rPr lang="zh-CN" altLang="en-US" sz="1600" b="0" dirty="0">
                <a:solidFill>
                  <a:schemeClr val="tx1">
                    <a:lumMod val="75000"/>
                    <a:lumOff val="25000"/>
                  </a:schemeClr>
                </a:solidFill>
                <a:latin typeface="+mn-ea"/>
                <a:ea typeface="+mn-ea"/>
              </a:rPr>
              <a:t>跑圈</a:t>
            </a:r>
            <a:endParaRPr lang="zh-CN" altLang="en-US" sz="1600" b="0" dirty="0">
              <a:solidFill>
                <a:schemeClr val="tx1">
                  <a:lumMod val="75000"/>
                  <a:lumOff val="25000"/>
                </a:schemeClr>
              </a:solidFill>
              <a:latin typeface="+mn-ea"/>
              <a:ea typeface="+mn-ea"/>
            </a:endParaRPr>
          </a:p>
        </p:txBody>
      </p:sp>
      <p:sp>
        <p:nvSpPr>
          <p:cNvPr id="11" name="Rectangle 6"/>
          <p:cNvSpPr/>
          <p:nvPr/>
        </p:nvSpPr>
        <p:spPr>
          <a:xfrm>
            <a:off x="6894298" y="2115707"/>
            <a:ext cx="636905" cy="338554"/>
          </a:xfrm>
          <a:prstGeom prst="rect">
            <a:avLst/>
          </a:prstGeom>
          <a:noFill/>
          <a:ln w="9525">
            <a:noFill/>
          </a:ln>
        </p:spPr>
        <p:txBody>
          <a:bodyPr wrap="square" anchor="t">
            <a:spAutoFit/>
          </a:bodyPr>
          <a:lstStyle/>
          <a:p>
            <a:pPr>
              <a:buNone/>
            </a:pPr>
            <a:r>
              <a:rPr lang="zh-CN" altLang="en-US" sz="1600" b="0" dirty="0">
                <a:solidFill>
                  <a:schemeClr val="tx1">
                    <a:lumMod val="75000"/>
                    <a:lumOff val="25000"/>
                  </a:schemeClr>
                </a:solidFill>
                <a:latin typeface="+mn-ea"/>
                <a:ea typeface="+mn-ea"/>
              </a:rPr>
              <a:t>车轮</a:t>
            </a:r>
            <a:endParaRPr lang="zh-CN" altLang="en-US" sz="1600" b="0" dirty="0">
              <a:solidFill>
                <a:schemeClr val="tx1">
                  <a:lumMod val="75000"/>
                  <a:lumOff val="25000"/>
                </a:schemeClr>
              </a:solidFill>
              <a:latin typeface="+mn-ea"/>
              <a:ea typeface="+mn-ea"/>
            </a:endParaRPr>
          </a:p>
        </p:txBody>
      </p:sp>
      <p:sp>
        <p:nvSpPr>
          <p:cNvPr id="12" name="Rectangle 3"/>
          <p:cNvSpPr txBox="1"/>
          <p:nvPr/>
        </p:nvSpPr>
        <p:spPr>
          <a:xfrm>
            <a:off x="756169" y="2598946"/>
            <a:ext cx="7958455" cy="2277060"/>
          </a:xfrm>
          <a:prstGeom prst="rect">
            <a:avLst/>
          </a:prstGeom>
          <a:noFill/>
          <a:ln w="9525">
            <a:noFill/>
          </a:ln>
        </p:spPr>
        <p:txBody>
          <a:bodyPr anchor="t"/>
          <a:lstStyle/>
          <a:p>
            <a:pPr marL="478155" indent="-478155" algn="l"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sym typeface="+mn-ea"/>
              </a:rPr>
              <a:t>生活中的循环原意指的是沿着环形轨迹运行，引申为反复地连续做某事，也指事物周期性的变化</a:t>
            </a:r>
            <a:endParaRPr lang="zh-CN" altLang="en-US" sz="2000" dirty="0">
              <a:latin typeface="Times New Roman" panose="02020603050405020304" pitchFamily="18" charset="0"/>
              <a:ea typeface="宋体" panose="02010600030101010101" pitchFamily="2" charset="-122"/>
            </a:endParaRPr>
          </a:p>
          <a:p>
            <a:pPr marL="478155" indent="-478155" algn="l" eaLnBrk="0" hangingPunct="0">
              <a:buClr>
                <a:srgbClr val="000000"/>
              </a:buClr>
              <a:buFont typeface="Wingdings" panose="05000000000000000000" charset="0"/>
              <a:buChar char=""/>
            </a:pPr>
            <a:endParaRPr lang="zh-CN" altLang="en-US" sz="2000" dirty="0">
              <a:latin typeface="Times New Roman" panose="02020603050405020304" pitchFamily="18" charset="0"/>
              <a:ea typeface="宋体" panose="02010600030101010101" pitchFamily="2" charset="-122"/>
            </a:endParaRPr>
          </a:p>
          <a:p>
            <a:pPr marL="478155" indent="-478155" algn="l" eaLnBrk="0" hangingPunct="0">
              <a:buClr>
                <a:srgbClr val="000000"/>
              </a:buClr>
              <a:buFont typeface="Wingdings" panose="05000000000000000000" charset="0"/>
              <a:buChar char=""/>
            </a:pPr>
            <a:endParaRPr lang="zh-CN" altLang="en-US" sz="2000" dirty="0">
              <a:latin typeface="Times New Roman" panose="02020603050405020304" pitchFamily="18" charset="0"/>
              <a:ea typeface="宋体" panose="02010600030101010101" pitchFamily="2" charset="-122"/>
            </a:endParaRPr>
          </a:p>
          <a:p>
            <a:pPr marL="478155" indent="-478155" algn="l" eaLnBrk="0" hangingPunct="0">
              <a:buClr>
                <a:srgbClr val="000000"/>
              </a:buClr>
              <a:buFont typeface="Wingdings" panose="05000000000000000000" charset="0"/>
              <a:buChar char=""/>
            </a:pPr>
            <a:endParaRPr lang="zh-CN" altLang="en-US" sz="2000" dirty="0">
              <a:latin typeface="Times New Roman" panose="02020603050405020304" pitchFamily="18" charset="0"/>
              <a:ea typeface="宋体" panose="02010600030101010101" pitchFamily="2" charset="-122"/>
            </a:endParaRPr>
          </a:p>
          <a:p>
            <a:pPr marL="478155" indent="-478155" algn="l" eaLnBrk="0" hangingPunct="0">
              <a:buClr>
                <a:srgbClr val="000000"/>
              </a:buClr>
              <a:buFont typeface="Wingdings" panose="05000000000000000000" charset="0"/>
              <a:buChar char=""/>
            </a:pPr>
            <a:endParaRPr lang="en-US" altLang="zh-CN" sz="2000" dirty="0">
              <a:latin typeface="Times New Roman" panose="02020603050405020304" pitchFamily="18" charset="0"/>
              <a:ea typeface="宋体" panose="02010600030101010101" pitchFamily="2" charset="-122"/>
            </a:endParaRPr>
          </a:p>
          <a:p>
            <a:pPr marL="478155" indent="-478155" algn="l" eaLnBrk="0" hangingPunct="0">
              <a:buClr>
                <a:srgbClr val="000000"/>
              </a:buClr>
              <a:buFont typeface="Wingdings" panose="05000000000000000000" charset="0"/>
              <a:buChar char=""/>
            </a:pPr>
            <a:endParaRPr lang="en-US" altLang="zh-CN" sz="2000" dirty="0">
              <a:latin typeface="Times New Roman" panose="02020603050405020304" pitchFamily="18" charset="0"/>
              <a:ea typeface="宋体" panose="02010600030101010101" pitchFamily="2" charset="-122"/>
            </a:endParaRPr>
          </a:p>
          <a:p>
            <a:pPr algn="l" eaLnBrk="0" hangingPunct="0">
              <a:buClr>
                <a:srgbClr val="000000"/>
              </a:buClr>
            </a:pPr>
            <a:endParaRPr lang="zh-CN" altLang="en-US" sz="2000" dirty="0">
              <a:latin typeface="Times New Roman" panose="02020603050405020304" pitchFamily="18" charset="0"/>
              <a:ea typeface="宋体" panose="02010600030101010101" pitchFamily="2" charset="-122"/>
            </a:endParaRPr>
          </a:p>
        </p:txBody>
      </p:sp>
      <p:grpSp>
        <p:nvGrpSpPr>
          <p:cNvPr id="14" name="Group 4"/>
          <p:cNvGrpSpPr/>
          <p:nvPr/>
        </p:nvGrpSpPr>
        <p:grpSpPr>
          <a:xfrm>
            <a:off x="1676102" y="3385963"/>
            <a:ext cx="1455738" cy="1418035"/>
            <a:chOff x="0" y="0"/>
            <a:chExt cx="917" cy="1191"/>
          </a:xfrm>
        </p:grpSpPr>
        <p:pic>
          <p:nvPicPr>
            <p:cNvPr id="15" name="Picture 5" descr="MMj02889110000[1]"/>
            <p:cNvPicPr>
              <a:picLocks noChangeAspect="1"/>
            </p:cNvPicPr>
            <p:nvPr/>
          </p:nvPicPr>
          <p:blipFill>
            <a:blip r:embed="rId4"/>
            <a:stretch>
              <a:fillRect/>
            </a:stretch>
          </p:blipFill>
          <p:spPr>
            <a:xfrm>
              <a:off x="53" y="0"/>
              <a:ext cx="864" cy="864"/>
            </a:xfrm>
            <a:prstGeom prst="rect">
              <a:avLst/>
            </a:prstGeom>
            <a:noFill/>
            <a:ln w="9525">
              <a:noFill/>
            </a:ln>
          </p:spPr>
        </p:pic>
        <p:sp>
          <p:nvSpPr>
            <p:cNvPr id="16" name="Rectangle 6"/>
            <p:cNvSpPr/>
            <p:nvPr/>
          </p:nvSpPr>
          <p:spPr>
            <a:xfrm>
              <a:off x="0" y="907"/>
              <a:ext cx="914" cy="284"/>
            </a:xfrm>
            <a:prstGeom prst="rect">
              <a:avLst/>
            </a:prstGeom>
            <a:noFill/>
            <a:ln w="9525">
              <a:noFill/>
            </a:ln>
          </p:spPr>
          <p:txBody>
            <a:bodyPr wrap="none" anchor="t">
              <a:spAutoFit/>
            </a:bodyPr>
            <a:lstStyle/>
            <a:p>
              <a:pPr>
                <a:buNone/>
              </a:pPr>
              <a:r>
                <a:rPr lang="zh-CN" altLang="en-US" sz="1600" b="0" dirty="0">
                  <a:solidFill>
                    <a:schemeClr val="tx1">
                      <a:lumMod val="75000"/>
                      <a:lumOff val="25000"/>
                    </a:schemeClr>
                  </a:solidFill>
                  <a:latin typeface="+mn-ea"/>
                  <a:ea typeface="+mn-ea"/>
                </a:rPr>
                <a:t>打印50份试卷</a:t>
              </a:r>
              <a:endParaRPr lang="zh-CN" altLang="en-US" sz="1600" b="0" dirty="0">
                <a:solidFill>
                  <a:schemeClr val="tx1">
                    <a:lumMod val="75000"/>
                    <a:lumOff val="25000"/>
                  </a:schemeClr>
                </a:solidFill>
                <a:latin typeface="+mn-ea"/>
                <a:ea typeface="+mn-ea"/>
              </a:endParaRPr>
            </a:p>
          </p:txBody>
        </p:sp>
      </p:grpSp>
      <p:grpSp>
        <p:nvGrpSpPr>
          <p:cNvPr id="17" name="Group 7"/>
          <p:cNvGrpSpPr/>
          <p:nvPr/>
        </p:nvGrpSpPr>
        <p:grpSpPr>
          <a:xfrm>
            <a:off x="3995936" y="3434779"/>
            <a:ext cx="1655763" cy="1364456"/>
            <a:chOff x="0" y="0"/>
            <a:chExt cx="1043" cy="1146"/>
          </a:xfrm>
        </p:grpSpPr>
        <p:pic>
          <p:nvPicPr>
            <p:cNvPr id="18" name="Picture 8" descr="pg03"/>
            <p:cNvPicPr>
              <a:picLocks noChangeAspect="1"/>
            </p:cNvPicPr>
            <p:nvPr/>
          </p:nvPicPr>
          <p:blipFill>
            <a:blip r:embed="rId5" cstate="print"/>
            <a:stretch>
              <a:fillRect/>
            </a:stretch>
          </p:blipFill>
          <p:spPr>
            <a:xfrm>
              <a:off x="0" y="0"/>
              <a:ext cx="1043" cy="782"/>
            </a:xfrm>
            <a:prstGeom prst="rect">
              <a:avLst/>
            </a:prstGeom>
            <a:noFill/>
            <a:ln w="76200" cap="flat" cmpd="sng">
              <a:solidFill>
                <a:schemeClr val="tx1"/>
              </a:solidFill>
              <a:prstDash val="solid"/>
              <a:miter/>
              <a:headEnd type="none" w="med" len="med"/>
              <a:tailEnd type="none" w="med" len="med"/>
            </a:ln>
          </p:spPr>
        </p:pic>
        <p:sp>
          <p:nvSpPr>
            <p:cNvPr id="19" name="Rectangle 9"/>
            <p:cNvSpPr/>
            <p:nvPr/>
          </p:nvSpPr>
          <p:spPr>
            <a:xfrm>
              <a:off x="44" y="862"/>
              <a:ext cx="883" cy="284"/>
            </a:xfrm>
            <a:prstGeom prst="rect">
              <a:avLst/>
            </a:prstGeom>
            <a:noFill/>
            <a:ln w="9525">
              <a:noFill/>
            </a:ln>
          </p:spPr>
          <p:txBody>
            <a:bodyPr wrap="none" anchor="t">
              <a:spAutoFit/>
            </a:bodyPr>
            <a:lstStyle/>
            <a:p>
              <a:pPr>
                <a:buNone/>
              </a:pPr>
              <a:r>
                <a:rPr lang="zh-CN" altLang="en-US" sz="1600" b="0" dirty="0">
                  <a:solidFill>
                    <a:schemeClr val="tx1">
                      <a:lumMod val="75000"/>
                      <a:lumOff val="25000"/>
                    </a:schemeClr>
                  </a:solidFill>
                  <a:latin typeface="+mn-ea"/>
                  <a:ea typeface="+mn-ea"/>
                </a:rPr>
                <a:t>10000米赛跑</a:t>
              </a:r>
              <a:endParaRPr lang="zh-CN" altLang="en-US" sz="1600" b="0" dirty="0">
                <a:solidFill>
                  <a:schemeClr val="tx1">
                    <a:lumMod val="75000"/>
                    <a:lumOff val="25000"/>
                  </a:schemeClr>
                </a:solidFill>
                <a:latin typeface="+mn-ea"/>
                <a:ea typeface="+mn-ea"/>
              </a:endParaRPr>
            </a:p>
          </p:txBody>
        </p:sp>
      </p:grpSp>
      <p:grpSp>
        <p:nvGrpSpPr>
          <p:cNvPr id="20" name="Group 19"/>
          <p:cNvGrpSpPr/>
          <p:nvPr/>
        </p:nvGrpSpPr>
        <p:grpSpPr>
          <a:xfrm>
            <a:off x="6156176" y="3375248"/>
            <a:ext cx="1873250" cy="1418035"/>
            <a:chOff x="0" y="0"/>
            <a:chExt cx="1180" cy="1191"/>
          </a:xfrm>
        </p:grpSpPr>
        <p:sp>
          <p:nvSpPr>
            <p:cNvPr id="21" name="Rectangle 20"/>
            <p:cNvSpPr/>
            <p:nvPr/>
          </p:nvSpPr>
          <p:spPr>
            <a:xfrm>
              <a:off x="44" y="907"/>
              <a:ext cx="990" cy="284"/>
            </a:xfrm>
            <a:prstGeom prst="rect">
              <a:avLst/>
            </a:prstGeom>
            <a:noFill/>
            <a:ln w="9525">
              <a:noFill/>
            </a:ln>
          </p:spPr>
          <p:txBody>
            <a:bodyPr wrap="none" anchor="t">
              <a:spAutoFit/>
            </a:bodyPr>
            <a:lstStyle/>
            <a:p>
              <a:pPr>
                <a:buNone/>
              </a:pPr>
              <a:r>
                <a:rPr lang="zh-CN" altLang="en-US" sz="1600" b="0" dirty="0">
                  <a:solidFill>
                    <a:schemeClr val="tx1">
                      <a:lumMod val="75000"/>
                      <a:lumOff val="25000"/>
                    </a:schemeClr>
                  </a:solidFill>
                  <a:latin typeface="+mn-ea"/>
                  <a:ea typeface="+mn-ea"/>
                </a:rPr>
                <a:t>做100道编程题</a:t>
              </a:r>
              <a:endParaRPr lang="zh-CN" altLang="en-US" sz="1600" b="0" dirty="0">
                <a:solidFill>
                  <a:schemeClr val="tx1">
                    <a:lumMod val="75000"/>
                    <a:lumOff val="25000"/>
                  </a:schemeClr>
                </a:solidFill>
                <a:latin typeface="+mn-ea"/>
                <a:ea typeface="+mn-ea"/>
              </a:endParaRPr>
            </a:p>
          </p:txBody>
        </p:sp>
        <p:pic>
          <p:nvPicPr>
            <p:cNvPr id="22" name="Picture 21" descr="StudyingComputer"/>
            <p:cNvPicPr>
              <a:picLocks noChangeAspect="1"/>
            </p:cNvPicPr>
            <p:nvPr/>
          </p:nvPicPr>
          <p:blipFill>
            <a:blip r:embed="rId6" cstate="print"/>
            <a:stretch>
              <a:fillRect/>
            </a:stretch>
          </p:blipFill>
          <p:spPr>
            <a:xfrm>
              <a:off x="0" y="0"/>
              <a:ext cx="1180" cy="846"/>
            </a:xfrm>
            <a:prstGeom prst="rect">
              <a:avLst/>
            </a:prstGeom>
            <a:noFill/>
            <a:ln w="57150" cap="flat" cmpd="sng">
              <a:solidFill>
                <a:schemeClr val="tx1"/>
              </a:solidFill>
              <a:prstDash val="solid"/>
              <a:miter/>
              <a:headEnd type="none" w="med" len="med"/>
              <a:tailEnd type="none" w="med" len="med"/>
            </a:ln>
          </p:spPr>
        </p:pic>
      </p:grpSp>
      <p:sp>
        <p:nvSpPr>
          <p:cNvPr id="24" name="副标题 22"/>
          <p:cNvSpPr>
            <a:spLocks noGrp="1"/>
          </p:cNvSpPr>
          <p:nvPr/>
        </p:nvSpPr>
        <p:spPr>
          <a:xfrm>
            <a:off x="284940" y="2229712"/>
            <a:ext cx="2116256"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l">
              <a:spcBef>
                <a:spcPct val="267000"/>
              </a:spcBef>
            </a:pPr>
            <a:r>
              <a:rPr lang="zh-CN" altLang="en-US" dirty="0">
                <a:latin typeface="+mn-ea"/>
              </a:rPr>
              <a:t>现象分析</a:t>
            </a:r>
            <a:endParaRPr lang="zh-CN" altLang="en-US" dirty="0">
              <a:latin typeface="+mn-ea"/>
            </a:endParaRPr>
          </a:p>
        </p:txBody>
      </p:sp>
      <p:sp>
        <p:nvSpPr>
          <p:cNvPr id="25" name="Freeform 59"/>
          <p:cNvSpPr>
            <a:spLocks noEditPoints="1"/>
          </p:cNvSpPr>
          <p:nvPr/>
        </p:nvSpPr>
        <p:spPr bwMode="auto">
          <a:xfrm>
            <a:off x="83010" y="2283718"/>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buNone/>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8140"/>
                                        </p:tgtEl>
                                        <p:attrNameLst>
                                          <p:attrName>style.visibility</p:attrName>
                                        </p:attrNameLst>
                                      </p:cBhvr>
                                      <p:to>
                                        <p:strVal val="visible"/>
                                      </p:to>
                                    </p:set>
                                    <p:animEffect transition="in" filter="wipe(left)">
                                      <p:cBhvr>
                                        <p:cTn id="7" dur="500"/>
                                        <p:tgtEl>
                                          <p:spTgt spid="48140"/>
                                        </p:tgtEl>
                                      </p:cBhvr>
                                    </p:animEffect>
                                  </p:childTnLst>
                                </p:cTn>
                              </p:par>
                              <p:par>
                                <p:cTn id="8" presetID="22" presetClass="entr" presetSubtype="8" fill="hold" nodeType="withEffect">
                                  <p:stCondLst>
                                    <p:cond delay="0"/>
                                  </p:stCondLst>
                                  <p:childTnLst>
                                    <p:set>
                                      <p:cBhvr>
                                        <p:cTn id="9" dur="1" fill="hold">
                                          <p:stCondLst>
                                            <p:cond delay="0"/>
                                          </p:stCondLst>
                                        </p:cTn>
                                        <p:tgtEl>
                                          <p:spTgt spid="48141"/>
                                        </p:tgtEl>
                                        <p:attrNameLst>
                                          <p:attrName>style.visibility</p:attrName>
                                        </p:attrNameLst>
                                      </p:cBhvr>
                                      <p:to>
                                        <p:strVal val="visible"/>
                                      </p:to>
                                    </p:set>
                                    <p:animEffect transition="in" filter="wipe(left)">
                                      <p:cBhvr>
                                        <p:cTn id="10" dur="500"/>
                                        <p:tgtEl>
                                          <p:spTgt spid="4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4"/>
          <p:cNvSpPr txBox="1"/>
          <p:nvPr/>
        </p:nvSpPr>
        <p:spPr>
          <a:xfrm>
            <a:off x="1179543" y="138351"/>
            <a:ext cx="7821613" cy="433135"/>
          </a:xfrm>
          <a:prstGeom prst="rect">
            <a:avLst/>
          </a:prstGeom>
          <a:noFill/>
          <a:ln w="9525">
            <a:noFill/>
          </a:ln>
        </p:spPr>
        <p:txBody>
          <a:bodyPr anchor="t"/>
          <a:lstStyle/>
          <a:p>
            <a:pPr algn="r" eaLnBrk="0" hangingPunct="0"/>
            <a:r>
              <a:rPr lang="zh-CN" altLang="en-US" sz="2000" dirty="0">
                <a:solidFill>
                  <a:srgbClr val="0070C0"/>
                </a:solidFill>
                <a:latin typeface="+mj-lt"/>
                <a:ea typeface="+mj-ea"/>
                <a:cs typeface="+mj-cs"/>
              </a:rPr>
              <a:t>课堂导入</a:t>
            </a:r>
            <a:endParaRPr lang="zh-CN" altLang="en-US" sz="2000" b="0" dirty="0">
              <a:solidFill>
                <a:srgbClr val="0070C0"/>
              </a:solidFill>
              <a:latin typeface="+mj-lt"/>
              <a:ea typeface="+mj-ea"/>
              <a:cs typeface="+mj-cs"/>
            </a:endParaRPr>
          </a:p>
        </p:txBody>
      </p:sp>
      <p:sp>
        <p:nvSpPr>
          <p:cNvPr id="10243" name="Rectangle 17"/>
          <p:cNvSpPr/>
          <p:nvPr/>
        </p:nvSpPr>
        <p:spPr>
          <a:xfrm>
            <a:off x="784225" y="964407"/>
            <a:ext cx="7416800" cy="1079897"/>
          </a:xfrm>
          <a:prstGeom prst="rect">
            <a:avLst/>
          </a:prstGeom>
          <a:noFill/>
          <a:ln w="9525">
            <a:noFill/>
          </a:ln>
        </p:spPr>
        <p:txBody>
          <a:bodyPr anchor="t"/>
          <a:lstStyle/>
          <a:p>
            <a:pPr marL="457200" indent="-457200" algn="l" defTabSz="914400">
              <a:buClr>
                <a:srgbClr val="000000"/>
              </a:buClr>
              <a:buSzPct val="80000"/>
              <a:buFont typeface="Wingdings" panose="05000000000000000000" charset="0"/>
              <a:buChar char=""/>
            </a:pPr>
            <a:r>
              <a:rPr lang="zh-CN" altLang="en-US" sz="2000" b="0" dirty="0">
                <a:solidFill>
                  <a:schemeClr val="tx1">
                    <a:lumMod val="75000"/>
                    <a:lumOff val="25000"/>
                  </a:schemeClr>
                </a:solidFill>
                <a:latin typeface="+mn-ea"/>
                <a:ea typeface="+mn-ea"/>
                <a:sym typeface="+mn-ea"/>
              </a:rPr>
              <a:t>小明月考没考好，为了达到高薪就业的目标，希望下一个月好好学习，他决定写10000遍“知识很简单、学习很快乐、潜力无极限”</a:t>
            </a:r>
            <a:endParaRPr lang="en-US" altLang="zh-CN" sz="2000" b="0" dirty="0">
              <a:solidFill>
                <a:schemeClr val="tx1">
                  <a:lumMod val="75000"/>
                  <a:lumOff val="25000"/>
                </a:schemeClr>
              </a:solidFill>
              <a:latin typeface="+mn-ea"/>
              <a:ea typeface="+mn-ea"/>
              <a:sym typeface="+mn-ea"/>
            </a:endParaRPr>
          </a:p>
          <a:p>
            <a:pPr marL="457200" indent="-457200" algn="l" defTabSz="914400">
              <a:buClr>
                <a:srgbClr val="000000"/>
              </a:buClr>
              <a:buSzPct val="80000"/>
            </a:pPr>
            <a:endParaRPr lang="zh-CN" altLang="en-US" sz="2000" b="0" dirty="0">
              <a:solidFill>
                <a:schemeClr val="tx1">
                  <a:lumMod val="75000"/>
                  <a:lumOff val="25000"/>
                </a:schemeClr>
              </a:solidFill>
              <a:latin typeface="+mn-ea"/>
              <a:ea typeface="+mn-ea"/>
            </a:endParaRPr>
          </a:p>
          <a:p>
            <a:pPr marL="457200" indent="-457200" algn="l" defTabSz="914400">
              <a:buClr>
                <a:srgbClr val="000000"/>
              </a:buClr>
              <a:buSzPct val="80000"/>
              <a:buFont typeface="Wingdings" panose="05000000000000000000" charset="0"/>
              <a:buChar char=""/>
            </a:pPr>
            <a:endParaRPr lang="zh-CN" altLang="en-US" sz="2000" b="0" dirty="0">
              <a:solidFill>
                <a:schemeClr val="tx1">
                  <a:lumMod val="75000"/>
                  <a:lumOff val="25000"/>
                </a:schemeClr>
              </a:solidFill>
              <a:latin typeface="+mn-ea"/>
              <a:ea typeface="+mn-ea"/>
            </a:endParaRPr>
          </a:p>
          <a:p>
            <a:pPr marL="342900" indent="-342900" algn="l" defTabSz="914400">
              <a:buSzPct val="80000"/>
              <a:buBlip>
                <a:blip r:embed="rId1"/>
              </a:buBlip>
            </a:pPr>
            <a:endParaRPr lang="zh-CN" altLang="en-US" sz="2000" b="0" dirty="0">
              <a:solidFill>
                <a:schemeClr val="tx1">
                  <a:lumMod val="75000"/>
                  <a:lumOff val="25000"/>
                </a:schemeClr>
              </a:solidFill>
              <a:latin typeface="+mn-ea"/>
              <a:ea typeface="+mn-ea"/>
            </a:endParaRPr>
          </a:p>
        </p:txBody>
      </p:sp>
      <p:sp>
        <p:nvSpPr>
          <p:cNvPr id="10247" name="AutoShape 16"/>
          <p:cNvSpPr/>
          <p:nvPr/>
        </p:nvSpPr>
        <p:spPr>
          <a:xfrm>
            <a:off x="1333501" y="2419350"/>
            <a:ext cx="6477635" cy="304800"/>
          </a:xfrm>
          <a:prstGeom prst="roundRect">
            <a:avLst>
              <a:gd name="adj" fmla="val 16667"/>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defTabSz="914400" eaLnBrk="0" hangingPunct="0">
              <a:buClr>
                <a:srgbClr val="233DA9"/>
              </a:buClr>
              <a:buSzPct val="80000"/>
              <a:buNone/>
            </a:pPr>
            <a:r>
              <a:rPr lang="zh-CN" altLang="en-US" sz="1600" b="0" dirty="0">
                <a:solidFill>
                  <a:schemeClr val="tx1">
                    <a:lumMod val="75000"/>
                    <a:lumOff val="25000"/>
                  </a:schemeClr>
                </a:solidFill>
                <a:latin typeface="+mn-ea"/>
                <a:ea typeface="+mn-ea"/>
              </a:rPr>
              <a:t>决定写一万遍“</a:t>
            </a:r>
            <a:r>
              <a:rPr lang="zh-CN" altLang="en-US" sz="1600" b="0" dirty="0">
                <a:solidFill>
                  <a:schemeClr val="tx1">
                    <a:lumMod val="75000"/>
                    <a:lumOff val="25000"/>
                  </a:schemeClr>
                </a:solidFill>
                <a:latin typeface="+mn-ea"/>
                <a:ea typeface="+mn-ea"/>
                <a:sym typeface="+mn-ea"/>
              </a:rPr>
              <a:t>知识很简单、学习很快乐、潜力无极限</a:t>
            </a:r>
            <a:r>
              <a:rPr lang="zh-CN" altLang="en-US" sz="1600" b="0" dirty="0">
                <a:solidFill>
                  <a:schemeClr val="tx1">
                    <a:lumMod val="75000"/>
                    <a:lumOff val="25000"/>
                  </a:schemeClr>
                </a:solidFill>
                <a:latin typeface="+mn-ea"/>
                <a:ea typeface="+mn-ea"/>
              </a:rPr>
              <a:t>” ，怎么办？</a:t>
            </a:r>
            <a:endParaRPr lang="zh-CN" altLang="en-US" sz="1600" b="0" dirty="0">
              <a:solidFill>
                <a:schemeClr val="tx1">
                  <a:lumMod val="75000"/>
                  <a:lumOff val="25000"/>
                </a:schemeClr>
              </a:solidFill>
              <a:latin typeface="+mn-ea"/>
              <a:ea typeface="+mn-ea"/>
            </a:endParaRPr>
          </a:p>
        </p:txBody>
      </p:sp>
      <p:sp>
        <p:nvSpPr>
          <p:cNvPr id="23" name="副标题 22"/>
          <p:cNvSpPr>
            <a:spLocks noGrp="1"/>
          </p:cNvSpPr>
          <p:nvPr/>
        </p:nvSpPr>
        <p:spPr>
          <a:xfrm>
            <a:off x="312604" y="656291"/>
            <a:ext cx="7488832"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l">
              <a:spcBef>
                <a:spcPct val="267000"/>
              </a:spcBef>
            </a:pPr>
            <a:r>
              <a:rPr lang="zh-CN" altLang="en-US" dirty="0">
                <a:latin typeface="+mn-ea"/>
              </a:rPr>
              <a:t>实际问题</a:t>
            </a:r>
            <a:endParaRPr lang="zh-CN" altLang="en-US" dirty="0">
              <a:latin typeface="+mn-ea"/>
            </a:endParaRPr>
          </a:p>
        </p:txBody>
      </p:sp>
      <p:sp>
        <p:nvSpPr>
          <p:cNvPr id="13" name="Freeform 59"/>
          <p:cNvSpPr>
            <a:spLocks noEditPoints="1"/>
          </p:cNvSpPr>
          <p:nvPr/>
        </p:nvSpPr>
        <p:spPr bwMode="auto">
          <a:xfrm>
            <a:off x="83790" y="705555"/>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pic>
        <p:nvPicPr>
          <p:cNvPr id="14" name="Picture 2" descr="C:\Users\dreamingcheng\Desktop\Snap1.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0020" y="2879408"/>
            <a:ext cx="3743960" cy="1882616"/>
          </a:xfrm>
          <a:prstGeom prst="rect">
            <a:avLst/>
          </a:prstGeom>
          <a:noFill/>
          <a:ln>
            <a:solidFill>
              <a:srgbClr val="000000"/>
            </a:solidFill>
          </a:ln>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7"/>
                                        </p:tgtEl>
                                        <p:attrNameLst>
                                          <p:attrName>style.visibility</p:attrName>
                                        </p:attrNameLst>
                                      </p:cBhvr>
                                      <p:to>
                                        <p:strVal val="visible"/>
                                      </p:to>
                                    </p:set>
                                    <p:animEffect transition="in" filter="wipe(left)">
                                      <p:cBhvr>
                                        <p:cTn id="7" dur="500"/>
                                        <p:tgtEl>
                                          <p:spTgt spid="1024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3"/>
          <p:cNvSpPr txBox="1"/>
          <p:nvPr/>
        </p:nvSpPr>
        <p:spPr>
          <a:xfrm>
            <a:off x="1285875" y="26855"/>
            <a:ext cx="7678738" cy="675084"/>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lt"/>
                <a:ea typeface="+mj-ea"/>
                <a:cs typeface="+mj-cs"/>
              </a:rPr>
              <a:t>为什么使用循环结构</a:t>
            </a:r>
            <a:endParaRPr lang="zh-CN" altLang="en-US" sz="2000" b="0" dirty="0">
              <a:solidFill>
                <a:srgbClr val="0070C0"/>
              </a:solidFill>
              <a:latin typeface="+mj-lt"/>
              <a:ea typeface="+mj-ea"/>
              <a:cs typeface="+mj-cs"/>
            </a:endParaRPr>
          </a:p>
        </p:txBody>
      </p:sp>
      <p:sp>
        <p:nvSpPr>
          <p:cNvPr id="11267" name="AutoShape 3"/>
          <p:cNvSpPr/>
          <p:nvPr/>
        </p:nvSpPr>
        <p:spPr>
          <a:xfrm>
            <a:off x="214282" y="1423838"/>
            <a:ext cx="4337050" cy="3010687"/>
          </a:xfrm>
          <a:prstGeom prst="roundRect">
            <a:avLst>
              <a:gd name="adj" fmla="val 2241"/>
            </a:avLst>
          </a:prstGeom>
          <a:solidFill>
            <a:srgbClr val="EDF5FD"/>
          </a:solidFill>
          <a:ln w="50800" cap="flat" cmpd="sng">
            <a:solidFill>
              <a:srgbClr val="00B0F0"/>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algn="l" defTabSz="381000">
              <a:lnSpc>
                <a:spcPct val="130000"/>
              </a:lnSpc>
              <a:buClr>
                <a:schemeClr val="folHlink"/>
              </a:buClr>
              <a:buSzPct val="60000"/>
              <a:buNone/>
            </a:pPr>
            <a:r>
              <a:rPr lang="en-US" altLang="x-none" sz="1600" dirty="0">
                <a:solidFill>
                  <a:srgbClr val="09131F"/>
                </a:solidFill>
                <a:latin typeface="+mn-ea"/>
                <a:ea typeface="+mn-ea"/>
              </a:rPr>
              <a:t>print("</a:t>
            </a:r>
            <a:r>
              <a:rPr lang="zh-CN" altLang="en-US" sz="1600" dirty="0">
                <a:solidFill>
                  <a:srgbClr val="09131F"/>
                </a:solidFill>
                <a:latin typeface="+mn-ea"/>
                <a:ea typeface="+mn-ea"/>
              </a:rPr>
              <a:t>第</a:t>
            </a:r>
            <a:r>
              <a:rPr lang="en-US" altLang="x-none" sz="1600" dirty="0">
                <a:solidFill>
                  <a:srgbClr val="09131F"/>
                </a:solidFill>
                <a:latin typeface="+mn-ea"/>
                <a:ea typeface="+mn-ea"/>
              </a:rPr>
              <a:t>1</a:t>
            </a:r>
            <a:r>
              <a:rPr lang="zh-CN" altLang="en-US" sz="1600" dirty="0">
                <a:solidFill>
                  <a:srgbClr val="09131F"/>
                </a:solidFill>
                <a:latin typeface="+mn-ea"/>
                <a:ea typeface="+mn-ea"/>
              </a:rPr>
              <a:t>遍写：</a:t>
            </a:r>
            <a:r>
              <a:rPr lang="zh-CN" altLang="en-US" sz="1600" dirty="0">
                <a:solidFill>
                  <a:srgbClr val="09131F"/>
                </a:solidFill>
                <a:latin typeface="+mn-ea"/>
                <a:ea typeface="+mn-ea"/>
                <a:sym typeface="+mn-ea"/>
              </a:rPr>
              <a:t>知识很简单、学习很快乐、潜力无极限</a:t>
            </a:r>
            <a:r>
              <a:rPr lang="zh-CN" altLang="en-US" sz="1600" dirty="0">
                <a:solidFill>
                  <a:srgbClr val="09131F"/>
                </a:solidFill>
                <a:latin typeface="+mn-ea"/>
                <a:ea typeface="+mn-ea"/>
              </a:rPr>
              <a:t>！");</a:t>
            </a:r>
            <a:endParaRPr lang="zh-CN" altLang="en-US" sz="1600" dirty="0">
              <a:solidFill>
                <a:srgbClr val="09131F"/>
              </a:solidFill>
              <a:latin typeface="+mn-ea"/>
              <a:ea typeface="+mn-ea"/>
            </a:endParaRPr>
          </a:p>
          <a:p>
            <a:pPr algn="l" defTabSz="381000">
              <a:lnSpc>
                <a:spcPct val="130000"/>
              </a:lnSpc>
              <a:buClr>
                <a:schemeClr val="folHlink"/>
              </a:buClr>
              <a:buSzPct val="60000"/>
              <a:buNone/>
            </a:pPr>
            <a:r>
              <a:rPr lang="en-US" altLang="zh-CN" sz="1600" dirty="0">
                <a:solidFill>
                  <a:srgbClr val="09131F"/>
                </a:solidFill>
                <a:latin typeface="+mn-ea"/>
                <a:ea typeface="+mn-ea"/>
              </a:rPr>
              <a:t>print</a:t>
            </a:r>
            <a:r>
              <a:rPr lang="zh-CN" altLang="en-US" sz="1600" dirty="0">
                <a:solidFill>
                  <a:srgbClr val="09131F"/>
                </a:solidFill>
                <a:latin typeface="+mn-ea"/>
                <a:ea typeface="+mn-ea"/>
              </a:rPr>
              <a:t>(“第2遍写：</a:t>
            </a:r>
            <a:r>
              <a:rPr lang="zh-CN" altLang="en-US" sz="1600" dirty="0">
                <a:solidFill>
                  <a:srgbClr val="09131F"/>
                </a:solidFill>
                <a:latin typeface="+mn-ea"/>
                <a:ea typeface="+mn-ea"/>
                <a:sym typeface="+mn-ea"/>
              </a:rPr>
              <a:t>知识很简单、学习很快乐、潜力无极限</a:t>
            </a:r>
            <a:r>
              <a:rPr lang="zh-CN" altLang="en-US" sz="1600" dirty="0">
                <a:solidFill>
                  <a:srgbClr val="09131F"/>
                </a:solidFill>
                <a:latin typeface="+mn-ea"/>
                <a:ea typeface="+mn-ea"/>
              </a:rPr>
              <a:t>！");</a:t>
            </a:r>
            <a:endParaRPr lang="zh-CN" altLang="en-US" sz="1600" dirty="0">
              <a:solidFill>
                <a:srgbClr val="09131F"/>
              </a:solidFill>
              <a:latin typeface="+mn-ea"/>
              <a:ea typeface="+mn-ea"/>
            </a:endParaRPr>
          </a:p>
          <a:p>
            <a:pPr algn="l" defTabSz="381000">
              <a:lnSpc>
                <a:spcPct val="130000"/>
              </a:lnSpc>
              <a:buClr>
                <a:schemeClr val="folHlink"/>
              </a:buClr>
              <a:buSzPct val="60000"/>
              <a:buNone/>
            </a:pPr>
            <a:r>
              <a:rPr lang="en-US" altLang="zh-CN" sz="1600" dirty="0">
                <a:solidFill>
                  <a:srgbClr val="09131F"/>
                </a:solidFill>
                <a:latin typeface="+mn-ea"/>
                <a:ea typeface="+mn-ea"/>
              </a:rPr>
              <a:t>print</a:t>
            </a:r>
            <a:r>
              <a:rPr lang="zh-CN" altLang="en-US" sz="1600" dirty="0">
                <a:solidFill>
                  <a:srgbClr val="09131F"/>
                </a:solidFill>
                <a:latin typeface="+mn-ea"/>
                <a:ea typeface="+mn-ea"/>
              </a:rPr>
              <a:t>(“第3遍写：</a:t>
            </a:r>
            <a:r>
              <a:rPr lang="zh-CN" altLang="en-US" sz="1600" dirty="0">
                <a:solidFill>
                  <a:srgbClr val="09131F"/>
                </a:solidFill>
                <a:latin typeface="+mn-ea"/>
                <a:ea typeface="+mn-ea"/>
                <a:sym typeface="+mn-ea"/>
              </a:rPr>
              <a:t>知识很简单、学习很快乐、潜力无极限</a:t>
            </a:r>
            <a:r>
              <a:rPr lang="zh-CN" altLang="en-US" sz="1600" dirty="0">
                <a:solidFill>
                  <a:srgbClr val="09131F"/>
                </a:solidFill>
                <a:latin typeface="+mn-ea"/>
                <a:ea typeface="+mn-ea"/>
              </a:rPr>
              <a:t>！”);</a:t>
            </a:r>
            <a:endParaRPr lang="zh-CN" altLang="en-US" sz="1600" dirty="0">
              <a:solidFill>
                <a:srgbClr val="09131F"/>
              </a:solidFill>
              <a:latin typeface="+mn-ea"/>
              <a:ea typeface="+mn-ea"/>
            </a:endParaRPr>
          </a:p>
          <a:p>
            <a:pPr algn="l" defTabSz="381000">
              <a:lnSpc>
                <a:spcPct val="130000"/>
              </a:lnSpc>
              <a:buClr>
                <a:schemeClr val="folHlink"/>
              </a:buClr>
              <a:buSzPct val="60000"/>
              <a:buNone/>
            </a:pPr>
            <a:r>
              <a:rPr lang="zh-CN" altLang="en-US" sz="1600" dirty="0">
                <a:solidFill>
                  <a:srgbClr val="09131F"/>
                </a:solidFill>
                <a:latin typeface="+mn-ea"/>
                <a:ea typeface="+mn-ea"/>
              </a:rPr>
              <a:t>……</a:t>
            </a:r>
            <a:endParaRPr lang="zh-CN" altLang="en-US" sz="1600" dirty="0">
              <a:solidFill>
                <a:srgbClr val="09131F"/>
              </a:solidFill>
              <a:latin typeface="+mn-ea"/>
              <a:ea typeface="+mn-ea"/>
            </a:endParaRPr>
          </a:p>
          <a:p>
            <a:pPr algn="l" defTabSz="381000">
              <a:lnSpc>
                <a:spcPct val="130000"/>
              </a:lnSpc>
              <a:buClr>
                <a:schemeClr val="folHlink"/>
              </a:buClr>
              <a:buSzPct val="60000"/>
              <a:buNone/>
            </a:pPr>
            <a:r>
              <a:rPr lang="en-US" altLang="zh-CN" sz="1600" dirty="0">
                <a:solidFill>
                  <a:srgbClr val="09131F"/>
                </a:solidFill>
                <a:latin typeface="+mn-ea"/>
                <a:ea typeface="+mn-ea"/>
              </a:rPr>
              <a:t>print</a:t>
            </a:r>
            <a:r>
              <a:rPr lang="zh-CN" altLang="en-US" sz="1600" dirty="0">
                <a:solidFill>
                  <a:srgbClr val="09131F"/>
                </a:solidFill>
                <a:latin typeface="+mn-ea"/>
                <a:ea typeface="+mn-ea"/>
              </a:rPr>
              <a:t>(“第10000遍写：</a:t>
            </a:r>
            <a:r>
              <a:rPr lang="zh-CN" altLang="en-US" sz="1600" dirty="0">
                <a:solidFill>
                  <a:srgbClr val="09131F"/>
                </a:solidFill>
                <a:latin typeface="+mn-ea"/>
                <a:ea typeface="+mn-ea"/>
                <a:sym typeface="+mn-ea"/>
              </a:rPr>
              <a:t>知识很简单、学习很快乐、潜力无极限</a:t>
            </a:r>
            <a:r>
              <a:rPr lang="zh-CN" altLang="en-US" sz="1600" dirty="0">
                <a:solidFill>
                  <a:srgbClr val="09131F"/>
                </a:solidFill>
                <a:latin typeface="+mn-ea"/>
                <a:ea typeface="+mn-ea"/>
              </a:rPr>
              <a:t>！");</a:t>
            </a:r>
            <a:endParaRPr lang="zh-CN" altLang="en-US" sz="1600" dirty="0">
              <a:solidFill>
                <a:srgbClr val="09131F"/>
              </a:solidFill>
              <a:latin typeface="+mn-ea"/>
              <a:ea typeface="+mn-ea"/>
            </a:endParaRPr>
          </a:p>
        </p:txBody>
      </p:sp>
      <p:sp>
        <p:nvSpPr>
          <p:cNvPr id="11268" name="AutoShape 4"/>
          <p:cNvSpPr/>
          <p:nvPr/>
        </p:nvSpPr>
        <p:spPr>
          <a:xfrm>
            <a:off x="4643438" y="1437085"/>
            <a:ext cx="4475162" cy="1691004"/>
          </a:xfrm>
          <a:prstGeom prst="roundRect">
            <a:avLst>
              <a:gd name="adj" fmla="val 0"/>
            </a:avLst>
          </a:prstGeom>
          <a:solidFill>
            <a:srgbClr val="EDF5FD"/>
          </a:solidFill>
          <a:ln w="50800" cap="flat" cmpd="sng">
            <a:solidFill>
              <a:srgbClr val="00B0F0"/>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381000">
              <a:lnSpc>
                <a:spcPct val="130000"/>
              </a:lnSpc>
              <a:buClr>
                <a:schemeClr val="folHlink"/>
              </a:buClr>
              <a:buSzPct val="60000"/>
              <a:buNone/>
            </a:pPr>
            <a:r>
              <a:rPr lang="en-US" altLang="x-none" sz="1600" dirty="0">
                <a:solidFill>
                  <a:srgbClr val="FF0000"/>
                </a:solidFill>
                <a:latin typeface="+mn-ea"/>
                <a:ea typeface="+mn-ea"/>
              </a:rPr>
              <a:t>i = 1</a:t>
            </a:r>
            <a:r>
              <a:rPr lang="en-US" altLang="x-none" sz="1600" dirty="0">
                <a:latin typeface="+mn-ea"/>
                <a:ea typeface="+mn-ea"/>
              </a:rPr>
              <a:t>;</a:t>
            </a:r>
            <a:endParaRPr lang="en-US" altLang="x-none" sz="1600" dirty="0">
              <a:latin typeface="+mn-ea"/>
              <a:ea typeface="+mn-ea"/>
            </a:endParaRPr>
          </a:p>
          <a:p>
            <a:pPr algn="l" defTabSz="381000">
              <a:lnSpc>
                <a:spcPct val="130000"/>
              </a:lnSpc>
              <a:buClr>
                <a:schemeClr val="folHlink"/>
              </a:buClr>
              <a:buSzPct val="60000"/>
              <a:buNone/>
            </a:pPr>
            <a:r>
              <a:rPr lang="en-US" altLang="x-none" sz="1600" dirty="0">
                <a:solidFill>
                  <a:srgbClr val="0000FF"/>
                </a:solidFill>
                <a:latin typeface="+mn-ea"/>
                <a:ea typeface="+mn-ea"/>
              </a:rPr>
              <a:t>while</a:t>
            </a:r>
            <a:r>
              <a:rPr lang="en-US" altLang="x-none" sz="1600" dirty="0">
                <a:latin typeface="+mn-ea"/>
                <a:ea typeface="+mn-ea"/>
              </a:rPr>
              <a:t>  </a:t>
            </a:r>
            <a:r>
              <a:rPr lang="en-US" altLang="x-none" sz="1600" dirty="0">
                <a:solidFill>
                  <a:srgbClr val="FF0000"/>
                </a:solidFill>
                <a:latin typeface="+mn-ea"/>
                <a:ea typeface="+mn-ea"/>
              </a:rPr>
              <a:t>i  &lt;= 10000</a:t>
            </a:r>
            <a:r>
              <a:rPr lang="zh-CN" altLang="en-US" sz="1600" dirty="0">
                <a:latin typeface="+mn-ea"/>
                <a:ea typeface="+mn-ea"/>
              </a:rPr>
              <a:t>：</a:t>
            </a:r>
            <a:endParaRPr lang="en-US" altLang="x-none" sz="1600" dirty="0">
              <a:latin typeface="+mn-ea"/>
              <a:ea typeface="+mn-ea"/>
            </a:endParaRPr>
          </a:p>
          <a:p>
            <a:pPr algn="l" defTabSz="381000">
              <a:lnSpc>
                <a:spcPct val="130000"/>
              </a:lnSpc>
              <a:buClr>
                <a:schemeClr val="folHlink"/>
              </a:buClr>
              <a:buSzPct val="60000"/>
              <a:buNone/>
            </a:pPr>
            <a:r>
              <a:rPr lang="en-US" altLang="x-none" sz="1600" dirty="0">
                <a:latin typeface="+mn-ea"/>
                <a:ea typeface="+mn-ea"/>
              </a:rPr>
              <a:t>       print("</a:t>
            </a:r>
            <a:r>
              <a:rPr lang="zh-CN" altLang="en-US" sz="1600" dirty="0">
                <a:latin typeface="+mn-ea"/>
                <a:ea typeface="+mn-ea"/>
              </a:rPr>
              <a:t>第</a:t>
            </a:r>
            <a:r>
              <a:rPr lang="en-US" altLang="x-none" sz="1600" dirty="0">
                <a:latin typeface="+mn-ea"/>
                <a:ea typeface="+mn-ea"/>
              </a:rPr>
              <a:t>" +i+ "</a:t>
            </a:r>
            <a:r>
              <a:rPr lang="zh-CN" altLang="en-US" sz="1600" dirty="0">
                <a:latin typeface="+mn-ea"/>
                <a:ea typeface="+mn-ea"/>
              </a:rPr>
              <a:t>遍写：</a:t>
            </a:r>
            <a:r>
              <a:rPr lang="zh-CN" altLang="en-US" sz="1600" dirty="0">
                <a:latin typeface="+mn-ea"/>
                <a:ea typeface="+mn-ea"/>
                <a:sym typeface="+mn-ea"/>
              </a:rPr>
              <a:t>知识很简单、学习很快乐、潜力无极限</a:t>
            </a:r>
            <a:r>
              <a:rPr lang="en-US" altLang="x-none" sz="1600" dirty="0">
                <a:latin typeface="+mn-ea"/>
                <a:ea typeface="+mn-ea"/>
              </a:rPr>
              <a:t>");</a:t>
            </a:r>
            <a:endParaRPr lang="en-US" altLang="x-none" sz="1600" dirty="0">
              <a:latin typeface="+mn-ea"/>
              <a:ea typeface="+mn-ea"/>
            </a:endParaRPr>
          </a:p>
          <a:p>
            <a:pPr algn="l" defTabSz="381000">
              <a:lnSpc>
                <a:spcPct val="130000"/>
              </a:lnSpc>
              <a:buClr>
                <a:schemeClr val="folHlink"/>
              </a:buClr>
              <a:buSzPct val="60000"/>
              <a:buNone/>
            </a:pPr>
            <a:r>
              <a:rPr lang="en-US" altLang="x-none" sz="1600" dirty="0">
                <a:latin typeface="+mn-ea"/>
                <a:ea typeface="+mn-ea"/>
              </a:rPr>
              <a:t>	 i+=1</a:t>
            </a:r>
            <a:endParaRPr lang="en-US" altLang="x-none" sz="1600" dirty="0">
              <a:latin typeface="+mn-ea"/>
              <a:ea typeface="+mn-ea"/>
            </a:endParaRPr>
          </a:p>
        </p:txBody>
      </p:sp>
      <p:sp>
        <p:nvSpPr>
          <p:cNvPr id="11269" name="Rectangle 18"/>
          <p:cNvSpPr/>
          <p:nvPr/>
        </p:nvSpPr>
        <p:spPr>
          <a:xfrm>
            <a:off x="500034" y="951310"/>
            <a:ext cx="4032250" cy="594122"/>
          </a:xfrm>
          <a:prstGeom prst="rect">
            <a:avLst/>
          </a:prstGeom>
          <a:noFill/>
          <a:ln w="9525">
            <a:noFill/>
          </a:ln>
        </p:spPr>
        <p:txBody>
          <a:bodyPr anchor="t"/>
          <a:lstStyle/>
          <a:p>
            <a:pPr defTabSz="914400">
              <a:buClr>
                <a:srgbClr val="000000"/>
              </a:buClr>
              <a:buSzPct val="80000"/>
              <a:buFont typeface="Wingdings" panose="05000000000000000000" charset="0"/>
              <a:buNone/>
            </a:pPr>
            <a:r>
              <a:rPr lang="zh-CN" altLang="en-US" sz="1600" b="0" dirty="0">
                <a:solidFill>
                  <a:schemeClr val="tx1">
                    <a:lumMod val="75000"/>
                    <a:lumOff val="25000"/>
                  </a:schemeClr>
                </a:solidFill>
                <a:latin typeface="+mn-ea"/>
                <a:ea typeface="+mn-ea"/>
              </a:rPr>
              <a:t>没有使用循环结构</a:t>
            </a:r>
            <a:endParaRPr lang="zh-CN" altLang="en-US" sz="1600" b="0" dirty="0">
              <a:solidFill>
                <a:schemeClr val="tx1">
                  <a:lumMod val="75000"/>
                  <a:lumOff val="25000"/>
                </a:schemeClr>
              </a:solidFill>
              <a:latin typeface="+mn-ea"/>
              <a:ea typeface="+mn-ea"/>
            </a:endParaRPr>
          </a:p>
        </p:txBody>
      </p:sp>
      <p:sp>
        <p:nvSpPr>
          <p:cNvPr id="11270" name="Rectangle 19"/>
          <p:cNvSpPr/>
          <p:nvPr/>
        </p:nvSpPr>
        <p:spPr>
          <a:xfrm>
            <a:off x="4826030" y="959644"/>
            <a:ext cx="4032250" cy="594122"/>
          </a:xfrm>
          <a:prstGeom prst="rect">
            <a:avLst/>
          </a:prstGeom>
          <a:noFill/>
          <a:ln w="9525">
            <a:noFill/>
          </a:ln>
        </p:spPr>
        <p:txBody>
          <a:bodyPr anchor="t"/>
          <a:lstStyle/>
          <a:p>
            <a:pPr defTabSz="914400">
              <a:buClr>
                <a:srgbClr val="000000"/>
              </a:buClr>
              <a:buSzPct val="80000"/>
              <a:buFont typeface="Wingdings" panose="05000000000000000000" charset="0"/>
              <a:buNone/>
            </a:pPr>
            <a:r>
              <a:rPr lang="zh-CN" altLang="en-US" sz="1600" b="0" dirty="0">
                <a:solidFill>
                  <a:schemeClr val="tx1">
                    <a:lumMod val="75000"/>
                    <a:lumOff val="25000"/>
                  </a:schemeClr>
                </a:solidFill>
                <a:latin typeface="+mn-ea"/>
                <a:ea typeface="+mn-ea"/>
              </a:rPr>
              <a:t>使用while循环</a:t>
            </a:r>
            <a:endParaRPr lang="zh-CN" altLang="en-US" sz="1600" b="0" dirty="0">
              <a:solidFill>
                <a:schemeClr val="tx1">
                  <a:lumMod val="75000"/>
                  <a:lumOff val="25000"/>
                </a:schemeClr>
              </a:solidFill>
              <a:latin typeface="+mn-ea"/>
              <a:ea typeface="+mn-ea"/>
            </a:endParaRPr>
          </a:p>
        </p:txBody>
      </p:sp>
      <p:sp>
        <p:nvSpPr>
          <p:cNvPr id="23" name="副标题 22"/>
          <p:cNvSpPr>
            <a:spLocks noGrp="1"/>
          </p:cNvSpPr>
          <p:nvPr/>
        </p:nvSpPr>
        <p:spPr>
          <a:xfrm>
            <a:off x="312604" y="656291"/>
            <a:ext cx="7488832"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l">
              <a:spcBef>
                <a:spcPct val="267000"/>
              </a:spcBef>
            </a:pPr>
            <a:r>
              <a:rPr lang="zh-CN" altLang="en-US" dirty="0">
                <a:latin typeface="+mn-ea"/>
              </a:rPr>
              <a:t>代码对比</a:t>
            </a:r>
            <a:endParaRPr lang="zh-CN" altLang="en-US" dirty="0">
              <a:latin typeface="+mn-ea"/>
            </a:endParaRPr>
          </a:p>
        </p:txBody>
      </p:sp>
      <p:sp>
        <p:nvSpPr>
          <p:cNvPr id="13" name="Freeform 59"/>
          <p:cNvSpPr>
            <a:spLocks noEditPoints="1"/>
          </p:cNvSpPr>
          <p:nvPr/>
        </p:nvSpPr>
        <p:spPr bwMode="auto">
          <a:xfrm>
            <a:off x="83790" y="706031"/>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AutoShape 5"/>
          <p:cNvSpPr>
            <a:spLocks noChangeArrowheads="1"/>
          </p:cNvSpPr>
          <p:nvPr/>
        </p:nvSpPr>
        <p:spPr bwMode="auto">
          <a:xfrm>
            <a:off x="4643755" y="3792750"/>
            <a:ext cx="1764030"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dirty="0">
                <a:solidFill>
                  <a:schemeClr val="accent3"/>
                </a:solidFill>
              </a:rPr>
              <a:t>减少重复工作量</a:t>
            </a:r>
            <a:endParaRPr lang="zh-CN" altLang="en-US" sz="1600" kern="0" dirty="0">
              <a:solidFill>
                <a:schemeClr val="accent3"/>
              </a:solidFill>
              <a:latin typeface="+mn-ea"/>
              <a:ea typeface="+mn-ea"/>
            </a:endParaRPr>
          </a:p>
        </p:txBody>
      </p:sp>
      <p:sp>
        <p:nvSpPr>
          <p:cNvPr id="2" name="AutoShape 5"/>
          <p:cNvSpPr>
            <a:spLocks noChangeArrowheads="1"/>
          </p:cNvSpPr>
          <p:nvPr/>
        </p:nvSpPr>
        <p:spPr bwMode="auto">
          <a:xfrm>
            <a:off x="5893435" y="4184228"/>
            <a:ext cx="1532890"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dirty="0">
                <a:solidFill>
                  <a:schemeClr val="accent3"/>
                </a:solidFill>
              </a:rPr>
              <a:t>减少源代码量</a:t>
            </a:r>
            <a:endParaRPr lang="zh-CN" altLang="en-US" sz="1600" kern="0" dirty="0">
              <a:solidFill>
                <a:schemeClr val="accent3"/>
              </a:solidFill>
              <a:latin typeface="+mn-ea"/>
              <a:ea typeface="+mn-ea"/>
            </a:endParaRPr>
          </a:p>
        </p:txBody>
      </p:sp>
      <p:sp>
        <p:nvSpPr>
          <p:cNvPr id="3" name="AutoShape 5"/>
          <p:cNvSpPr>
            <a:spLocks noChangeArrowheads="1"/>
          </p:cNvSpPr>
          <p:nvPr/>
        </p:nvSpPr>
        <p:spPr bwMode="auto">
          <a:xfrm>
            <a:off x="6407785" y="4605219"/>
            <a:ext cx="2171700"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dirty="0">
                <a:solidFill>
                  <a:schemeClr val="accent3"/>
                </a:solidFill>
              </a:rPr>
              <a:t>减少错误，提高质量</a:t>
            </a:r>
            <a:endParaRPr lang="zh-CN" altLang="en-US" sz="1600" kern="0" dirty="0">
              <a:solidFill>
                <a:schemeClr val="accent3"/>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70"/>
                                        </p:tgtEl>
                                        <p:attrNameLst>
                                          <p:attrName>style.visibility</p:attrName>
                                        </p:attrNameLst>
                                      </p:cBhvr>
                                      <p:to>
                                        <p:strVal val="visible"/>
                                      </p:to>
                                    </p:set>
                                    <p:animEffect transition="in" filter="wipe(left)">
                                      <p:cBhvr>
                                        <p:cTn id="7" dur="500"/>
                                        <p:tgtEl>
                                          <p:spTgt spid="1127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268"/>
                                        </p:tgtEl>
                                        <p:attrNameLst>
                                          <p:attrName>style.visibility</p:attrName>
                                        </p:attrNameLst>
                                      </p:cBhvr>
                                      <p:to>
                                        <p:strVal val="visible"/>
                                      </p:to>
                                    </p:set>
                                    <p:animEffect transition="in" filter="wipe(left)">
                                      <p:cBhvr>
                                        <p:cTn id="11" dur="500"/>
                                        <p:tgtEl>
                                          <p:spTgt spid="1126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ldLvl="0" animBg="1"/>
      <p:bldP spid="11270" grpId="0"/>
      <p:bldP spid="11" grpId="0" bldLvl="0" animBg="1"/>
      <p:bldP spid="2" grpId="0" bldLvl="0" animBg="1"/>
      <p:bldP spid="3"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r>
              <a:rPr lang="zh-CN" altLang="en-US" dirty="0">
                <a:sym typeface="+mn-ea"/>
              </a:rPr>
              <a:t>什么是循环结构</a:t>
            </a:r>
            <a:endParaRPr lang="en-US" altLang="zh-CN" kern="1200" dirty="0">
              <a:solidFill>
                <a:srgbClr val="0070C0"/>
              </a:solidFill>
              <a:latin typeface="+mj-lt"/>
              <a:ea typeface="+mj-ea"/>
              <a:cs typeface="+mj-cs"/>
              <a:sym typeface="Browallia New" panose="020B0604020202020204" charset="0"/>
            </a:endParaRPr>
          </a:p>
        </p:txBody>
      </p:sp>
      <p:sp>
        <p:nvSpPr>
          <p:cNvPr id="2" name="椭圆 1"/>
          <p:cNvSpPr/>
          <p:nvPr/>
        </p:nvSpPr>
        <p:spPr>
          <a:xfrm>
            <a:off x="114300" y="1906588"/>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en-US" altLang="zh-CN" sz="2000" b="1" strike="noStrike" noProof="1">
              <a:solidFill>
                <a:schemeClr val="accent1"/>
              </a:solidFill>
            </a:endParaRPr>
          </a:p>
          <a:p>
            <a:r>
              <a:rPr lang="zh-CN" altLang="en-US" sz="2000" b="1" noProof="1">
                <a:solidFill>
                  <a:schemeClr val="accent1"/>
                </a:solidFill>
              </a:rPr>
              <a:t>循环结构</a:t>
            </a:r>
            <a:endParaRPr lang="en-US" altLang="zh-CN" sz="2000" b="1" strike="noStrike" noProof="1">
              <a:solidFill>
                <a:schemeClr val="accent1"/>
              </a:solidFill>
            </a:endParaRPr>
          </a:p>
          <a:p>
            <a:pPr algn="ctr" fontAlgn="base"/>
            <a:endParaRPr lang="en-US" altLang="zh-CN" sz="2000" b="1" strike="noStrike" noProof="1">
              <a:solidFill>
                <a:schemeClr val="accent1"/>
              </a:solidFill>
            </a:endParaRPr>
          </a:p>
        </p:txBody>
      </p:sp>
      <p:sp>
        <p:nvSpPr>
          <p:cNvPr id="16" name="Text Box 14"/>
          <p:cNvSpPr txBox="1"/>
          <p:nvPr/>
        </p:nvSpPr>
        <p:spPr>
          <a:xfrm>
            <a:off x="187325" y="1492250"/>
            <a:ext cx="135445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129222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1706563" y="1860550"/>
            <a:ext cx="998538"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noProof="1">
                <a:solidFill>
                  <a:schemeClr val="accent1"/>
                </a:solidFill>
              </a:rPr>
              <a:t>程序控制结构</a:t>
            </a:r>
            <a:endParaRPr lang="zh-CN" altLang="en-US" sz="2000" b="1" strike="noStrike" noProof="1">
              <a:solidFill>
                <a:schemeClr val="accent1"/>
              </a:solidFill>
            </a:endParaRPr>
          </a:p>
        </p:txBody>
      </p:sp>
      <p:sp>
        <p:nvSpPr>
          <p:cNvPr id="14" name="Text Box 12"/>
          <p:cNvSpPr txBox="1"/>
          <p:nvPr/>
        </p:nvSpPr>
        <p:spPr>
          <a:xfrm>
            <a:off x="534670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4937125" y="1983740"/>
            <a:ext cx="4253865" cy="97790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7" name="TextBox 22"/>
          <p:cNvSpPr txBox="1"/>
          <p:nvPr/>
        </p:nvSpPr>
        <p:spPr>
          <a:xfrm>
            <a:off x="5582220" y="2183636"/>
            <a:ext cx="2885505" cy="532130"/>
          </a:xfrm>
          <a:prstGeom prst="rect">
            <a:avLst/>
          </a:prstGeom>
          <a:noFill/>
          <a:ln w="9525">
            <a:noFill/>
          </a:ln>
        </p:spPr>
        <p:txBody>
          <a:bodyPr wrap="square" lIns="91405" tIns="45702" rIns="91405" bIns="45702" anchor="t">
            <a:spAutoFit/>
          </a:bodyPr>
          <a:lstStyle/>
          <a:p>
            <a:pPr algn="l">
              <a:lnSpc>
                <a:spcPct val="120000"/>
              </a:lnSpc>
            </a:pPr>
            <a:r>
              <a:rPr lang="en-US" altLang="zh-CN" sz="1200" dirty="0">
                <a:solidFill>
                  <a:srgbClr val="262626"/>
                </a:solidFill>
                <a:latin typeface="Times New Roman" panose="02020603050405020304"/>
                <a:ea typeface="微软雅黑" panose="020B0503020204020204" pitchFamily="34" charset="-122"/>
                <a:sym typeface="Calibri" panose="020F0502020204030204" pitchFamily="34" charset="0"/>
              </a:rPr>
              <a:t>1</a:t>
            </a:r>
            <a:r>
              <a:rPr lang="zh-CN" altLang="en-US" sz="1200" dirty="0">
                <a:solidFill>
                  <a:srgbClr val="262626"/>
                </a:solidFill>
                <a:latin typeface="Times New Roman" panose="02020603050405020304"/>
                <a:ea typeface="微软雅黑" panose="020B0503020204020204" pitchFamily="34" charset="-122"/>
                <a:sym typeface="Calibri" panose="020F0502020204030204" pitchFamily="34" charset="0"/>
              </a:rPr>
              <a:t>、含有循环变量、循环条件和循环体</a:t>
            </a:r>
            <a:endParaRPr lang="zh-CN" altLang="en-US" sz="1200" dirty="0">
              <a:solidFill>
                <a:srgbClr val="262626"/>
              </a:solidFill>
              <a:latin typeface="Times New Roman" panose="02020603050405020304"/>
              <a:ea typeface="微软雅黑" panose="020B0503020204020204" pitchFamily="34" charset="-122"/>
              <a:sym typeface="Calibri" panose="020F0502020204030204" pitchFamily="34" charset="0"/>
            </a:endParaRPr>
          </a:p>
          <a:p>
            <a:pPr algn="l">
              <a:lnSpc>
                <a:spcPct val="120000"/>
              </a:lnSpc>
            </a:pPr>
            <a:r>
              <a:rPr lang="en-US" altLang="zh-CN" sz="1200" dirty="0">
                <a:solidFill>
                  <a:srgbClr val="262626"/>
                </a:solidFill>
                <a:latin typeface="Times New Roman" panose="02020603050405020304"/>
                <a:ea typeface="微软雅黑" panose="020B0503020204020204" pitchFamily="34" charset="-122"/>
                <a:sym typeface="Calibri" panose="020F0502020204030204" pitchFamily="34" charset="0"/>
              </a:rPr>
              <a:t>2</a:t>
            </a:r>
            <a:r>
              <a:rPr lang="zh-CN" altLang="en-US" sz="1200" dirty="0">
                <a:solidFill>
                  <a:srgbClr val="262626"/>
                </a:solidFill>
                <a:latin typeface="Times New Roman" panose="02020603050405020304"/>
                <a:ea typeface="微软雅黑" panose="020B0503020204020204" pitchFamily="34" charset="-122"/>
                <a:sym typeface="Calibri" panose="020F0502020204030204" pitchFamily="34" charset="0"/>
              </a:rPr>
              <a:t>、是一种基本程序控制结构</a:t>
            </a:r>
            <a:endParaRPr lang="zh-CN" altLang="en-US" sz="1200" dirty="0">
              <a:solidFill>
                <a:srgbClr val="262626"/>
              </a:solidFill>
              <a:latin typeface="Times New Roman" panose="02020603050405020304"/>
              <a:ea typeface="微软雅黑" panose="020B0503020204020204" pitchFamily="34" charset="-122"/>
              <a:sym typeface="Calibri" panose="020F0502020204030204" pitchFamily="34" charset="0"/>
            </a:endParaRPr>
          </a:p>
        </p:txBody>
      </p:sp>
      <p:sp>
        <p:nvSpPr>
          <p:cNvPr id="10" name="文本框 9"/>
          <p:cNvSpPr txBox="1"/>
          <p:nvPr/>
        </p:nvSpPr>
        <p:spPr>
          <a:xfrm>
            <a:off x="1261239" y="3211520"/>
            <a:ext cx="7991281" cy="369332"/>
          </a:xfrm>
          <a:prstGeom prst="rect">
            <a:avLst/>
          </a:prstGeom>
          <a:noFill/>
        </p:spPr>
        <p:txBody>
          <a:bodyPr wrap="square" rtlCol="0">
            <a:spAutoFit/>
          </a:bodyPr>
          <a:lstStyle/>
          <a:p>
            <a:pPr algn="l"/>
            <a:r>
              <a:rPr lang="zh-CN" altLang="en-US" b="1" noProof="1">
                <a:latin typeface="Arial" panose="020B0604020202020204" pitchFamily="34" charset="0"/>
                <a:ea typeface="黑体" panose="02010609060101010101" pitchFamily="2" charset="-122"/>
                <a:cs typeface="+mn-cs"/>
              </a:rPr>
              <a:t>定义</a:t>
            </a:r>
            <a:r>
              <a:rPr lang="en-US" altLang="zh-CN" b="1" noProof="1">
                <a:latin typeface="Arial" panose="020B0604020202020204" pitchFamily="34" charset="0"/>
                <a:ea typeface="黑体" panose="02010609060101010101" pitchFamily="2" charset="-122"/>
                <a:cs typeface="+mn-cs"/>
              </a:rPr>
              <a:t>:</a:t>
            </a:r>
            <a:r>
              <a:rPr lang="zh-CN" altLang="en-US" b="1" noProof="1"/>
              <a:t>循环结构是反复执行一系列指令直到某些特定条件满足的程序控制结构</a:t>
            </a:r>
            <a:endParaRPr lang="en-US" altLang="zh-CN" b="1" noProof="1"/>
          </a:p>
        </p:txBody>
      </p:sp>
      <p:sp>
        <p:nvSpPr>
          <p:cNvPr id="12" name="Text Box 8"/>
          <p:cNvSpPr txBox="1"/>
          <p:nvPr/>
        </p:nvSpPr>
        <p:spPr>
          <a:xfrm>
            <a:off x="294957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同属的其它种</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2968085" y="1860550"/>
            <a:ext cx="1773777" cy="105568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noProof="1">
                <a:solidFill>
                  <a:schemeClr val="accent1"/>
                </a:solidFill>
              </a:rPr>
              <a:t>选择结构</a:t>
            </a:r>
            <a:endParaRPr lang="en-US" altLang="zh-CN" sz="2000" b="1" noProof="1">
              <a:solidFill>
                <a:schemeClr val="accent1"/>
              </a:solidFill>
            </a:endParaRPr>
          </a:p>
          <a:p>
            <a:r>
              <a:rPr lang="zh-CN" altLang="en-US" sz="2000" b="1" strike="noStrike" noProof="1">
                <a:solidFill>
                  <a:schemeClr val="accent1"/>
                </a:solidFill>
              </a:rPr>
              <a:t>顺序结构</a:t>
            </a:r>
            <a:endParaRPr lang="zh-CN" altLang="en-US" sz="2000" b="1" strike="noStrike" noProof="1">
              <a:solidFill>
                <a:schemeClr val="accent1"/>
              </a:solidFill>
            </a:endParaRPr>
          </a:p>
        </p:txBody>
      </p:sp>
      <p:sp>
        <p:nvSpPr>
          <p:cNvPr id="18" name="AutoShape 7"/>
          <p:cNvSpPr/>
          <p:nvPr/>
        </p:nvSpPr>
        <p:spPr>
          <a:xfrm flipH="1">
            <a:off x="506413" y="3082925"/>
            <a:ext cx="215900" cy="576263"/>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Arial" panose="020B0604020202020204" pitchFamily="34" charset="0"/>
              <a:ea typeface="黑体" panose="02010609060101010101" pitchFamily="2" charset="-122"/>
            </a:endParaRPr>
          </a:p>
        </p:txBody>
      </p:sp>
      <p:sp>
        <p:nvSpPr>
          <p:cNvPr id="19" name="Text Box 8"/>
          <p:cNvSpPr txBox="1"/>
          <p:nvPr/>
        </p:nvSpPr>
        <p:spPr>
          <a:xfrm>
            <a:off x="114300" y="3724981"/>
            <a:ext cx="1010992"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外延</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2968085" y="4155860"/>
            <a:ext cx="2480356" cy="485918"/>
            <a:chOff x="2782599" y="1459401"/>
            <a:chExt cx="1870251" cy="276935"/>
          </a:xfrm>
          <a:solidFill>
            <a:schemeClr val="accent1"/>
          </a:solidFill>
        </p:grpSpPr>
        <p:sp>
          <p:nvSpPr>
            <p:cNvPr id="34" name="AutoShape 5"/>
            <p:cNvSpPr>
              <a:spLocks noChangeArrowheads="1"/>
            </p:cNvSpPr>
            <p:nvPr/>
          </p:nvSpPr>
          <p:spPr bwMode="auto">
            <a:xfrm>
              <a:off x="2782599" y="145940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5" name="Text Box 6"/>
            <p:cNvSpPr txBox="1">
              <a:spLocks noChangeArrowheads="1"/>
            </p:cNvSpPr>
            <p:nvPr/>
          </p:nvSpPr>
          <p:spPr bwMode="auto">
            <a:xfrm>
              <a:off x="2997593" y="1507370"/>
              <a:ext cx="1491634" cy="184179"/>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en-US" altLang="zh-CN" sz="2100" dirty="0">
                  <a:solidFill>
                    <a:srgbClr val="404040"/>
                  </a:solidFill>
                  <a:latin typeface="微软雅黑" panose="020B0503020204020204" pitchFamily="34" charset="-122"/>
                  <a:sym typeface="+mn-ea"/>
                </a:rPr>
                <a:t>for</a:t>
              </a:r>
              <a:r>
                <a:rPr lang="zh-CN" altLang="en-US" sz="2100" dirty="0">
                  <a:solidFill>
                    <a:srgbClr val="404040"/>
                  </a:solidFill>
                  <a:latin typeface="微软雅黑" panose="020B0503020204020204" pitchFamily="34" charset="-122"/>
                  <a:sym typeface="+mn-ea"/>
                </a:rPr>
                <a:t>循环</a:t>
              </a:r>
              <a:endParaRPr lang="zh-CN" altLang="en-US" sz="2100" dirty="0">
                <a:solidFill>
                  <a:srgbClr val="404040"/>
                </a:solidFill>
                <a:latin typeface="微软雅黑" panose="020B0503020204020204" pitchFamily="34" charset="-122"/>
                <a:sym typeface="+mn-ea"/>
              </a:endParaRPr>
            </a:p>
          </p:txBody>
        </p:sp>
      </p:grpSp>
      <p:grpSp>
        <p:nvGrpSpPr>
          <p:cNvPr id="36" name="组合 35"/>
          <p:cNvGrpSpPr/>
          <p:nvPr/>
        </p:nvGrpSpPr>
        <p:grpSpPr>
          <a:xfrm>
            <a:off x="467544" y="4155863"/>
            <a:ext cx="2477832" cy="485919"/>
            <a:chOff x="897128" y="1459399"/>
            <a:chExt cx="1868348" cy="276935"/>
          </a:xfrm>
          <a:solidFill>
            <a:schemeClr val="accent1"/>
          </a:solidFill>
        </p:grpSpPr>
        <p:sp>
          <p:nvSpPr>
            <p:cNvPr id="37"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endParaRPr>
            </a:p>
          </p:txBody>
        </p:sp>
        <p:sp>
          <p:nvSpPr>
            <p:cNvPr id="38" name="Text Box 8"/>
            <p:cNvSpPr txBox="1">
              <a:spLocks noChangeArrowheads="1"/>
            </p:cNvSpPr>
            <p:nvPr/>
          </p:nvSpPr>
          <p:spPr bwMode="auto">
            <a:xfrm>
              <a:off x="978940" y="1507535"/>
              <a:ext cx="1649550" cy="183845"/>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r>
                <a:rPr lang="en-US" altLang="zh-CN" sz="2100" dirty="0">
                  <a:solidFill>
                    <a:srgbClr val="404040"/>
                  </a:solidFill>
                  <a:latin typeface="微软雅黑" panose="020B0503020204020204" pitchFamily="34" charset="-122"/>
                  <a:sym typeface="+mn-ea"/>
                </a:rPr>
                <a:t>while</a:t>
              </a:r>
              <a:r>
                <a:rPr lang="zh-CN" altLang="en-US" sz="2100" dirty="0">
                  <a:solidFill>
                    <a:srgbClr val="404040"/>
                  </a:solidFill>
                  <a:latin typeface="微软雅黑" panose="020B0503020204020204" pitchFamily="34" charset="-122"/>
                  <a:sym typeface="+mn-ea"/>
                </a:rPr>
                <a:t>循环</a:t>
              </a:r>
              <a:endParaRPr lang="zh-CN" altLang="en-US" sz="2100" dirty="0">
                <a:solidFill>
                  <a:srgbClr val="404040"/>
                </a:solidFill>
                <a:latin typeface="微软雅黑" panose="020B0503020204020204" pitchFamily="34" charset="-122"/>
                <a:sym typeface="+mn-ea"/>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randombar(horizontal)">
                                      <p:cBhvr>
                                        <p:cTn id="40" dur="75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left)">
                                      <p:cBhvr>
                                        <p:cTn id="6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7" grpId="0"/>
      <p:bldP spid="10" grpId="0"/>
      <p:bldP spid="12" grpId="0"/>
      <p:bldP spid="15" grpId="0" bldLvl="0" animBg="1"/>
      <p:bldP spid="18" grpId="0" bldLvl="0" animBg="1"/>
      <p:bldP spid="1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34"/>
          <p:cNvSpPr txBox="1"/>
          <p:nvPr/>
        </p:nvSpPr>
        <p:spPr>
          <a:xfrm>
            <a:off x="1714480" y="60722"/>
            <a:ext cx="7215238" cy="439326"/>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lt"/>
                <a:ea typeface="+mj-ea"/>
                <a:cs typeface="+mj-cs"/>
              </a:rPr>
              <a:t>如何使用while循环</a:t>
            </a:r>
            <a:endParaRPr lang="zh-CN" altLang="en-US" sz="2000" dirty="0">
              <a:solidFill>
                <a:schemeClr val="bg1"/>
              </a:solidFill>
              <a:latin typeface="Arial" panose="020B0604020202020204"/>
              <a:ea typeface="宋体" panose="02010600030101010101" pitchFamily="2" charset="-122"/>
            </a:endParaRPr>
          </a:p>
        </p:txBody>
      </p:sp>
      <p:sp>
        <p:nvSpPr>
          <p:cNvPr id="13316" name="AutoShape 4"/>
          <p:cNvSpPr/>
          <p:nvPr/>
        </p:nvSpPr>
        <p:spPr>
          <a:xfrm>
            <a:off x="940435" y="2118360"/>
            <a:ext cx="3417888" cy="1691004"/>
          </a:xfrm>
          <a:prstGeom prst="roundRect">
            <a:avLst>
              <a:gd name="adj" fmla="val 0"/>
            </a:avLst>
          </a:prstGeom>
          <a:solidFill>
            <a:schemeClr val="accent1">
              <a:lumMod val="20000"/>
              <a:lumOff val="80000"/>
            </a:schemeClr>
          </a:solidFill>
          <a:ln w="28575" cap="flat" cmpd="sng">
            <a:solidFill>
              <a:srgbClr val="00B0F0"/>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381000">
              <a:lnSpc>
                <a:spcPct val="130000"/>
              </a:lnSpc>
              <a:buClr>
                <a:schemeClr val="folHlink"/>
              </a:buClr>
              <a:buSzPct val="60000"/>
              <a:buNone/>
            </a:pPr>
            <a:r>
              <a:rPr lang="en-US" altLang="x-none" sz="1600" dirty="0">
                <a:solidFill>
                  <a:srgbClr val="0000FF"/>
                </a:solidFill>
                <a:latin typeface="+mn-ea"/>
                <a:ea typeface="+mn-ea"/>
              </a:rPr>
              <a:t>while</a:t>
            </a:r>
            <a:r>
              <a:rPr lang="en-US" altLang="x-none" sz="1600" dirty="0">
                <a:latin typeface="+mn-ea"/>
                <a:ea typeface="+mn-ea"/>
              </a:rPr>
              <a:t>  </a:t>
            </a:r>
            <a:r>
              <a:rPr lang="zh-CN" altLang="en-US" sz="1600" dirty="0">
                <a:solidFill>
                  <a:srgbClr val="FF0000"/>
                </a:solidFill>
                <a:latin typeface="+mn-ea"/>
                <a:ea typeface="+mn-ea"/>
              </a:rPr>
              <a:t>循环条件 </a:t>
            </a:r>
            <a:r>
              <a:rPr lang="en-US" altLang="zh-CN" sz="1600" dirty="0">
                <a:solidFill>
                  <a:srgbClr val="FF0000"/>
                </a:solidFill>
                <a:latin typeface="+mn-ea"/>
                <a:ea typeface="+mn-ea"/>
              </a:rPr>
              <a:t>:</a:t>
            </a:r>
            <a:endParaRPr lang="en-US" altLang="x-none" sz="1600" dirty="0">
              <a:latin typeface="+mn-ea"/>
              <a:ea typeface="+mn-ea"/>
            </a:endParaRPr>
          </a:p>
          <a:p>
            <a:pPr algn="l" defTabSz="381000">
              <a:lnSpc>
                <a:spcPct val="130000"/>
              </a:lnSpc>
              <a:buClr>
                <a:schemeClr val="folHlink"/>
              </a:buClr>
              <a:buSzPct val="60000"/>
              <a:buNone/>
            </a:pPr>
            <a:r>
              <a:rPr lang="en-US" altLang="x-none" sz="1600" dirty="0">
                <a:latin typeface="+mn-ea"/>
                <a:ea typeface="+mn-ea"/>
              </a:rPr>
              <a:t>	    </a:t>
            </a:r>
            <a:endParaRPr lang="en-US" altLang="x-none" sz="1600" dirty="0">
              <a:latin typeface="+mn-ea"/>
              <a:ea typeface="+mn-ea"/>
            </a:endParaRPr>
          </a:p>
          <a:p>
            <a:pPr algn="l" defTabSz="381000">
              <a:lnSpc>
                <a:spcPct val="130000"/>
              </a:lnSpc>
              <a:buClr>
                <a:schemeClr val="folHlink"/>
              </a:buClr>
              <a:buSzPct val="60000"/>
              <a:buNone/>
            </a:pPr>
            <a:r>
              <a:rPr lang="en-US" altLang="x-none" sz="1600" dirty="0">
                <a:latin typeface="+mn-ea"/>
                <a:ea typeface="+mn-ea"/>
              </a:rPr>
              <a:t>       </a:t>
            </a:r>
            <a:r>
              <a:rPr lang="zh-CN" altLang="en-US" sz="1600" dirty="0">
                <a:solidFill>
                  <a:srgbClr val="FF0000"/>
                </a:solidFill>
                <a:latin typeface="+mn-ea"/>
                <a:ea typeface="+mn-ea"/>
              </a:rPr>
              <a:t>循环体</a:t>
            </a:r>
            <a:endParaRPr lang="zh-CN" altLang="en-US" sz="1600" dirty="0">
              <a:solidFill>
                <a:srgbClr val="FF0000"/>
              </a:solidFill>
              <a:latin typeface="+mn-ea"/>
              <a:ea typeface="+mn-ea"/>
            </a:endParaRPr>
          </a:p>
          <a:p>
            <a:pPr algn="l" defTabSz="381000">
              <a:lnSpc>
                <a:spcPct val="130000"/>
              </a:lnSpc>
              <a:buClr>
                <a:schemeClr val="folHlink"/>
              </a:buClr>
              <a:buSzPct val="60000"/>
              <a:buNone/>
            </a:pPr>
            <a:endParaRPr lang="zh-CN" altLang="en-US" sz="1600" dirty="0">
              <a:latin typeface="+mn-ea"/>
              <a:ea typeface="+mn-ea"/>
            </a:endParaRPr>
          </a:p>
          <a:p>
            <a:pPr algn="l" defTabSz="381000">
              <a:lnSpc>
                <a:spcPct val="130000"/>
              </a:lnSpc>
              <a:buClr>
                <a:schemeClr val="folHlink"/>
              </a:buClr>
              <a:buSzPct val="60000"/>
              <a:buNone/>
            </a:pPr>
            <a:endParaRPr lang="zh-CN" altLang="en-US" sz="1600" dirty="0">
              <a:latin typeface="+mn-ea"/>
              <a:ea typeface="+mn-ea"/>
            </a:endParaRPr>
          </a:p>
        </p:txBody>
      </p:sp>
      <p:sp>
        <p:nvSpPr>
          <p:cNvPr id="13317" name="AutoShape 5"/>
          <p:cNvSpPr/>
          <p:nvPr/>
        </p:nvSpPr>
        <p:spPr>
          <a:xfrm>
            <a:off x="3203475" y="1768551"/>
            <a:ext cx="4083169" cy="374571"/>
          </a:xfrm>
          <a:prstGeom prst="wedgeRoundRectCallout">
            <a:avLst>
              <a:gd name="adj1" fmla="val -19977"/>
              <a:gd name="adj2" fmla="val 51278"/>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ctr">
            <a:spAutoFit/>
          </a:bodyPr>
          <a:lstStyle/>
          <a:p>
            <a:pPr marL="0" lvl="1" algn="l" defTabSz="914400" eaLnBrk="0" fontAlgn="base" latinLnBrk="0" hangingPunct="0">
              <a:spcBef>
                <a:spcPct val="20000"/>
              </a:spcBef>
              <a:buClr>
                <a:srgbClr val="233DA9"/>
              </a:buClr>
              <a:buSzPct val="80000"/>
              <a:buNone/>
            </a:pPr>
            <a:r>
              <a:rPr lang="zh-CN" altLang="en-US" sz="1600" u="none" baseline="0" dirty="0">
                <a:solidFill>
                  <a:schemeClr val="bg1"/>
                </a:solidFill>
                <a:latin typeface="+mn-ea"/>
                <a:ea typeface="+mn-ea"/>
              </a:rPr>
              <a:t>符合条件，循环继续执行；否则，循环退出</a:t>
            </a:r>
            <a:endParaRPr lang="zh-CN" altLang="en-US" sz="1600" u="none" baseline="0" dirty="0">
              <a:solidFill>
                <a:schemeClr val="bg1"/>
              </a:solidFill>
              <a:latin typeface="+mn-ea"/>
              <a:ea typeface="+mn-ea"/>
            </a:endParaRPr>
          </a:p>
        </p:txBody>
      </p:sp>
      <p:sp>
        <p:nvSpPr>
          <p:cNvPr id="13318" name="AutoShape 6"/>
          <p:cNvSpPr/>
          <p:nvPr/>
        </p:nvSpPr>
        <p:spPr>
          <a:xfrm>
            <a:off x="2417434" y="3416305"/>
            <a:ext cx="2465308" cy="374571"/>
          </a:xfrm>
          <a:prstGeom prst="wedgeRoundRectCallout">
            <a:avLst>
              <a:gd name="adj1" fmla="val -21065"/>
              <a:gd name="adj2" fmla="val -50495"/>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ctr">
            <a:spAutoFit/>
          </a:bodyPr>
          <a:lstStyle/>
          <a:p>
            <a:pPr marL="0" lvl="1" algn="l" defTabSz="914400" eaLnBrk="0" fontAlgn="base" latinLnBrk="0" hangingPunct="0">
              <a:spcBef>
                <a:spcPct val="20000"/>
              </a:spcBef>
              <a:buClr>
                <a:srgbClr val="233DA9"/>
              </a:buClr>
              <a:buSzPct val="80000"/>
              <a:buNone/>
            </a:pPr>
            <a:r>
              <a:rPr lang="zh-CN" altLang="en-US" sz="1600" u="none" baseline="0" dirty="0">
                <a:solidFill>
                  <a:schemeClr val="bg1"/>
                </a:solidFill>
                <a:latin typeface="+mn-ea"/>
                <a:ea typeface="+mn-ea"/>
              </a:rPr>
              <a:t>程序中要重复执行的语句</a:t>
            </a:r>
            <a:endParaRPr lang="zh-CN" altLang="en-US" sz="1600" u="none" baseline="0" dirty="0">
              <a:solidFill>
                <a:schemeClr val="bg1"/>
              </a:solidFill>
              <a:latin typeface="+mn-ea"/>
              <a:ea typeface="+mn-ea"/>
            </a:endParaRPr>
          </a:p>
        </p:txBody>
      </p:sp>
      <p:sp>
        <p:nvSpPr>
          <p:cNvPr id="13322" name="AutoShape 10"/>
          <p:cNvSpPr/>
          <p:nvPr/>
        </p:nvSpPr>
        <p:spPr>
          <a:xfrm>
            <a:off x="2214546" y="4803998"/>
            <a:ext cx="4359275" cy="304800"/>
          </a:xfrm>
          <a:prstGeom prst="roundRect">
            <a:avLst>
              <a:gd name="adj" fmla="val 16667"/>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defTabSz="914400">
              <a:buNone/>
            </a:pPr>
            <a:r>
              <a:rPr lang="zh-CN" altLang="en-US" sz="1600" b="0" dirty="0">
                <a:solidFill>
                  <a:schemeClr val="tx1">
                    <a:lumMod val="75000"/>
                    <a:lumOff val="25000"/>
                  </a:schemeClr>
                </a:solidFill>
                <a:latin typeface="+mn-ea"/>
                <a:ea typeface="+mn-ea"/>
              </a:rPr>
              <a:t>编码规范：</a:t>
            </a:r>
            <a:r>
              <a:rPr lang="zh-CN" altLang="en-US" sz="1600" dirty="0">
                <a:solidFill>
                  <a:srgbClr val="1801F9"/>
                </a:solidFill>
                <a:latin typeface="+mn-ea"/>
                <a:ea typeface="+mn-ea"/>
              </a:rPr>
              <a:t>缩进、换行</a:t>
            </a:r>
            <a:endParaRPr lang="zh-CN" altLang="en-US" sz="1600" dirty="0">
              <a:solidFill>
                <a:srgbClr val="1801F9"/>
              </a:solidFill>
              <a:latin typeface="+mn-ea"/>
              <a:ea typeface="+mn-ea"/>
            </a:endParaRPr>
          </a:p>
        </p:txBody>
      </p:sp>
      <p:grpSp>
        <p:nvGrpSpPr>
          <p:cNvPr id="3" name="Group 11"/>
          <p:cNvGrpSpPr/>
          <p:nvPr/>
        </p:nvGrpSpPr>
        <p:grpSpPr>
          <a:xfrm>
            <a:off x="5557520" y="2289583"/>
            <a:ext cx="2505075" cy="1782365"/>
            <a:chOff x="0" y="0"/>
            <a:chExt cx="1578" cy="1497"/>
          </a:xfrm>
        </p:grpSpPr>
        <p:sp>
          <p:nvSpPr>
            <p:cNvPr id="13324" name="AutoShape 12"/>
            <p:cNvSpPr/>
            <p:nvPr/>
          </p:nvSpPr>
          <p:spPr>
            <a:xfrm>
              <a:off x="136" y="907"/>
              <a:ext cx="1225" cy="236"/>
            </a:xfrm>
            <a:prstGeom prst="flowChartProcess">
              <a:avLst/>
            </a:prstGeom>
            <a:noFill/>
            <a:ln w="25400" cap="flat" cmpd="sng">
              <a:solidFill>
                <a:schemeClr val="tx1"/>
              </a:solidFill>
              <a:prstDash val="solid"/>
              <a:miter/>
              <a:headEnd type="none" w="med" len="med"/>
              <a:tailEnd type="none" w="med" len="med"/>
            </a:ln>
          </p:spPr>
          <p:txBody>
            <a:bodyPr wrap="none" anchor="ctr"/>
            <a:lstStyle/>
            <a:p>
              <a:pPr algn="ctr">
                <a:buNone/>
              </a:pPr>
              <a:r>
                <a:rPr lang="zh-CN" altLang="en-US" sz="1600" b="0" dirty="0">
                  <a:solidFill>
                    <a:schemeClr val="tx1">
                      <a:lumMod val="75000"/>
                      <a:lumOff val="25000"/>
                    </a:schemeClr>
                  </a:solidFill>
                  <a:latin typeface="+mn-ea"/>
                  <a:ea typeface="+mn-ea"/>
                </a:rPr>
                <a:t>循环体</a:t>
              </a:r>
              <a:r>
                <a:rPr lang="zh-CN" altLang="en-US" sz="1600" dirty="0">
                  <a:latin typeface="黑体" panose="02010609060101010101" pitchFamily="2" charset="-122"/>
                  <a:ea typeface="黑体" panose="02010609060101010101" pitchFamily="2" charset="-122"/>
                </a:rPr>
                <a:t> </a:t>
              </a:r>
              <a:endParaRPr lang="zh-CN" altLang="en-US" sz="1600" dirty="0">
                <a:latin typeface="黑体" panose="02010609060101010101" pitchFamily="2" charset="-122"/>
                <a:ea typeface="黑体" panose="02010609060101010101" pitchFamily="2" charset="-122"/>
              </a:endParaRPr>
            </a:p>
          </p:txBody>
        </p:sp>
        <p:sp>
          <p:nvSpPr>
            <p:cNvPr id="13325" name="AutoShape 13"/>
            <p:cNvSpPr/>
            <p:nvPr/>
          </p:nvSpPr>
          <p:spPr>
            <a:xfrm>
              <a:off x="91" y="289"/>
              <a:ext cx="1270" cy="394"/>
            </a:xfrm>
            <a:prstGeom prst="flowChartDecision">
              <a:avLst/>
            </a:prstGeom>
            <a:noFill/>
            <a:ln w="25400" cap="flat" cmpd="sng">
              <a:solidFill>
                <a:schemeClr val="tx1"/>
              </a:solidFill>
              <a:prstDash val="solid"/>
              <a:miter/>
              <a:headEnd type="none" w="med" len="med"/>
              <a:tailEnd type="none" w="med" len="med"/>
            </a:ln>
          </p:spPr>
          <p:txBody>
            <a:bodyPr wrap="none" anchor="ctr"/>
            <a:lstStyle/>
            <a:p>
              <a:pPr>
                <a:buNone/>
              </a:pPr>
              <a:r>
                <a:rPr lang="zh-CN" altLang="en-US" sz="1600" b="0" dirty="0">
                  <a:solidFill>
                    <a:schemeClr val="tx1">
                      <a:lumMod val="75000"/>
                      <a:lumOff val="25000"/>
                    </a:schemeClr>
                  </a:solidFill>
                  <a:latin typeface="+mn-ea"/>
                  <a:ea typeface="+mn-ea"/>
                </a:rPr>
                <a:t>循环条件</a:t>
              </a:r>
              <a:r>
                <a:rPr lang="zh-CN" altLang="en-US" sz="1600" dirty="0">
                  <a:latin typeface="黑体" panose="02010609060101010101" pitchFamily="2" charset="-122"/>
                  <a:ea typeface="黑体" panose="02010609060101010101" pitchFamily="2" charset="-122"/>
                </a:rPr>
                <a:t> </a:t>
              </a:r>
              <a:endParaRPr lang="zh-CN" altLang="en-US" sz="1600" dirty="0">
                <a:latin typeface="黑体" panose="02010609060101010101" pitchFamily="2" charset="-122"/>
                <a:ea typeface="黑体" panose="02010609060101010101" pitchFamily="2" charset="-122"/>
              </a:endParaRPr>
            </a:p>
          </p:txBody>
        </p:sp>
        <p:sp>
          <p:nvSpPr>
            <p:cNvPr id="13326" name="Line 14"/>
            <p:cNvSpPr/>
            <p:nvPr/>
          </p:nvSpPr>
          <p:spPr>
            <a:xfrm flipH="1">
              <a:off x="736" y="683"/>
              <a:ext cx="0" cy="237"/>
            </a:xfrm>
            <a:prstGeom prst="line">
              <a:avLst/>
            </a:prstGeom>
            <a:ln w="25400" cap="flat" cmpd="sng">
              <a:solidFill>
                <a:schemeClr val="tx1"/>
              </a:solidFill>
              <a:prstDash val="solid"/>
              <a:miter/>
              <a:headEnd type="none" w="med" len="med"/>
              <a:tailEnd type="triangl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27" name="Line 15"/>
            <p:cNvSpPr/>
            <p:nvPr/>
          </p:nvSpPr>
          <p:spPr>
            <a:xfrm flipH="1">
              <a:off x="0" y="1261"/>
              <a:ext cx="736" cy="9"/>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28" name="Line 16"/>
            <p:cNvSpPr/>
            <p:nvPr/>
          </p:nvSpPr>
          <p:spPr>
            <a:xfrm flipV="1">
              <a:off x="0" y="227"/>
              <a:ext cx="0" cy="1051"/>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29" name="Line 17"/>
            <p:cNvSpPr/>
            <p:nvPr/>
          </p:nvSpPr>
          <p:spPr>
            <a:xfrm flipV="1">
              <a:off x="0" y="210"/>
              <a:ext cx="736" cy="17"/>
            </a:xfrm>
            <a:prstGeom prst="line">
              <a:avLst/>
            </a:prstGeom>
            <a:ln w="25400" cap="flat" cmpd="sng">
              <a:solidFill>
                <a:schemeClr val="tx1"/>
              </a:solidFill>
              <a:prstDash val="solid"/>
              <a:miter/>
              <a:headEnd type="none" w="med" len="med"/>
              <a:tailEnd type="triangl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0" name="Line 18"/>
            <p:cNvSpPr/>
            <p:nvPr/>
          </p:nvSpPr>
          <p:spPr>
            <a:xfrm>
              <a:off x="736" y="0"/>
              <a:ext cx="0" cy="289"/>
            </a:xfrm>
            <a:prstGeom prst="line">
              <a:avLst/>
            </a:prstGeom>
            <a:ln w="25400" cap="flat" cmpd="sng">
              <a:solidFill>
                <a:schemeClr val="tx1"/>
              </a:solidFill>
              <a:prstDash val="solid"/>
              <a:miter/>
              <a:headEnd type="none" w="med" len="med"/>
              <a:tailEnd type="triangl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1" name="Line 19"/>
            <p:cNvSpPr/>
            <p:nvPr/>
          </p:nvSpPr>
          <p:spPr>
            <a:xfrm>
              <a:off x="736" y="1156"/>
              <a:ext cx="0" cy="105"/>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2" name="Line 20"/>
            <p:cNvSpPr/>
            <p:nvPr/>
          </p:nvSpPr>
          <p:spPr>
            <a:xfrm flipH="1" flipV="1">
              <a:off x="1361" y="499"/>
              <a:ext cx="181" cy="0"/>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3" name="Line 21"/>
            <p:cNvSpPr/>
            <p:nvPr/>
          </p:nvSpPr>
          <p:spPr>
            <a:xfrm>
              <a:off x="1542" y="499"/>
              <a:ext cx="0" cy="893"/>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4" name="Line 22"/>
            <p:cNvSpPr/>
            <p:nvPr/>
          </p:nvSpPr>
          <p:spPr>
            <a:xfrm flipH="1">
              <a:off x="736" y="1392"/>
              <a:ext cx="806" cy="0"/>
            </a:xfrm>
            <a:prstGeom prst="line">
              <a:avLst/>
            </a:prstGeom>
            <a:ln w="25400" cap="flat" cmpd="sng">
              <a:solidFill>
                <a:schemeClr val="tx1"/>
              </a:solidFill>
              <a:prstDash val="solid"/>
              <a:miter/>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5" name="Line 23"/>
            <p:cNvSpPr/>
            <p:nvPr/>
          </p:nvSpPr>
          <p:spPr>
            <a:xfrm>
              <a:off x="736" y="1392"/>
              <a:ext cx="0" cy="105"/>
            </a:xfrm>
            <a:prstGeom prst="line">
              <a:avLst/>
            </a:prstGeom>
            <a:ln w="25400" cap="flat" cmpd="sng">
              <a:solidFill>
                <a:schemeClr val="tx1"/>
              </a:solidFill>
              <a:prstDash val="solid"/>
              <a:miter/>
              <a:headEnd type="none" w="med" len="med"/>
              <a:tailEnd type="triangl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13336" name="Rectangle 24"/>
            <p:cNvSpPr/>
            <p:nvPr/>
          </p:nvSpPr>
          <p:spPr>
            <a:xfrm>
              <a:off x="750" y="623"/>
              <a:ext cx="246" cy="284"/>
            </a:xfrm>
            <a:prstGeom prst="rect">
              <a:avLst/>
            </a:prstGeom>
            <a:noFill/>
            <a:ln w="9525">
              <a:noFill/>
            </a:ln>
          </p:spPr>
          <p:txBody>
            <a:bodyPr wrap="none" anchor="t">
              <a:spAutoFit/>
            </a:bodyPr>
            <a:lstStyle/>
            <a:p>
              <a:pPr>
                <a:buNone/>
              </a:pPr>
              <a:r>
                <a:rPr lang="zh-CN" altLang="en-US" sz="1600" b="0" dirty="0">
                  <a:solidFill>
                    <a:schemeClr val="tx1">
                      <a:lumMod val="75000"/>
                      <a:lumOff val="25000"/>
                    </a:schemeClr>
                  </a:solidFill>
                  <a:latin typeface="+mn-ea"/>
                  <a:ea typeface="+mn-ea"/>
                </a:rPr>
                <a:t>真</a:t>
              </a:r>
              <a:endParaRPr lang="zh-CN" altLang="en-US" sz="1600" b="0" dirty="0">
                <a:solidFill>
                  <a:schemeClr val="tx1">
                    <a:lumMod val="75000"/>
                    <a:lumOff val="25000"/>
                  </a:schemeClr>
                </a:solidFill>
                <a:latin typeface="+mn-ea"/>
                <a:ea typeface="+mn-ea"/>
              </a:endParaRPr>
            </a:p>
          </p:txBody>
        </p:sp>
        <p:sp>
          <p:nvSpPr>
            <p:cNvPr id="13337" name="Rectangle 25"/>
            <p:cNvSpPr/>
            <p:nvPr/>
          </p:nvSpPr>
          <p:spPr>
            <a:xfrm>
              <a:off x="1332" y="260"/>
              <a:ext cx="246" cy="284"/>
            </a:xfrm>
            <a:prstGeom prst="rect">
              <a:avLst/>
            </a:prstGeom>
            <a:noFill/>
            <a:ln w="9525">
              <a:noFill/>
            </a:ln>
          </p:spPr>
          <p:txBody>
            <a:bodyPr wrap="none" anchor="t">
              <a:spAutoFit/>
            </a:bodyPr>
            <a:lstStyle/>
            <a:p>
              <a:pPr>
                <a:buNone/>
              </a:pPr>
              <a:r>
                <a:rPr lang="zh-CN" altLang="en-US" sz="1600" b="0" dirty="0">
                  <a:solidFill>
                    <a:schemeClr val="tx1">
                      <a:lumMod val="75000"/>
                      <a:lumOff val="25000"/>
                    </a:schemeClr>
                  </a:solidFill>
                  <a:latin typeface="+mn-ea"/>
                  <a:ea typeface="+mn-ea"/>
                </a:rPr>
                <a:t>假</a:t>
              </a:r>
              <a:endParaRPr lang="zh-CN" altLang="en-US" sz="1600" b="0" dirty="0">
                <a:solidFill>
                  <a:schemeClr val="tx1">
                    <a:lumMod val="75000"/>
                    <a:lumOff val="25000"/>
                  </a:schemeClr>
                </a:solidFill>
                <a:latin typeface="+mn-ea"/>
                <a:ea typeface="+mn-ea"/>
              </a:endParaRPr>
            </a:p>
          </p:txBody>
        </p:sp>
      </p:grpSp>
      <p:pic>
        <p:nvPicPr>
          <p:cNvPr id="13341" name="Line 15"/>
          <p:cNvPicPr>
            <a:picLocks noGrp="1" noChangeAspect="1"/>
          </p:cNvPicPr>
          <p:nvPr/>
        </p:nvPicPr>
        <p:blipFill>
          <a:blip r:embed="rId1" cstate="print"/>
          <a:stretch>
            <a:fillRect/>
          </a:stretch>
        </p:blipFill>
        <p:spPr>
          <a:xfrm>
            <a:off x="2113915" y="2870200"/>
            <a:ext cx="703580" cy="527685"/>
          </a:xfrm>
          <a:prstGeom prst="rect">
            <a:avLst/>
          </a:prstGeom>
          <a:noFill/>
          <a:ln w="9525">
            <a:noFill/>
          </a:ln>
        </p:spPr>
      </p:pic>
      <p:pic>
        <p:nvPicPr>
          <p:cNvPr id="13342" name="Line 15"/>
          <p:cNvPicPr>
            <a:picLocks noGrp="1" noChangeAspect="1"/>
          </p:cNvPicPr>
          <p:nvPr/>
        </p:nvPicPr>
        <p:blipFill>
          <a:blip r:embed="rId2" cstate="print"/>
          <a:stretch>
            <a:fillRect/>
          </a:stretch>
        </p:blipFill>
        <p:spPr>
          <a:xfrm>
            <a:off x="2571736" y="1914430"/>
            <a:ext cx="642942" cy="370531"/>
          </a:xfrm>
          <a:prstGeom prst="rect">
            <a:avLst/>
          </a:prstGeom>
          <a:noFill/>
          <a:ln w="9525">
            <a:noFill/>
          </a:ln>
        </p:spPr>
      </p:pic>
      <p:sp>
        <p:nvSpPr>
          <p:cNvPr id="13343" name="矩形 30"/>
          <p:cNvSpPr/>
          <p:nvPr/>
        </p:nvSpPr>
        <p:spPr>
          <a:xfrm>
            <a:off x="939165" y="3810715"/>
            <a:ext cx="2749471" cy="400110"/>
          </a:xfrm>
          <a:prstGeom prst="rect">
            <a:avLst/>
          </a:prstGeom>
          <a:noFill/>
          <a:ln w="9525">
            <a:noFill/>
          </a:ln>
        </p:spPr>
        <p:txBody>
          <a:bodyPr wrap="none" anchor="t">
            <a:spAutoFit/>
          </a:bodyPr>
          <a:lstStyle/>
          <a:p>
            <a:pPr>
              <a:buClr>
                <a:srgbClr val="000000"/>
              </a:buClr>
              <a:buNone/>
            </a:pPr>
            <a:r>
              <a:rPr lang="zh-CN" altLang="en-US" sz="2000" b="0" dirty="0">
                <a:solidFill>
                  <a:schemeClr val="tx1">
                    <a:lumMod val="75000"/>
                    <a:lumOff val="25000"/>
                  </a:schemeClr>
                </a:solidFill>
                <a:latin typeface="+mn-ea"/>
                <a:ea typeface="+mn-ea"/>
              </a:rPr>
              <a:t>特点：先判断，再执行</a:t>
            </a:r>
            <a:endParaRPr lang="zh-CN" altLang="en-US" sz="2000" b="0" dirty="0">
              <a:solidFill>
                <a:schemeClr val="tx1">
                  <a:lumMod val="75000"/>
                  <a:lumOff val="25000"/>
                </a:schemeClr>
              </a:solidFill>
              <a:latin typeface="+mn-ea"/>
              <a:ea typeface="+mn-ea"/>
            </a:endParaRPr>
          </a:p>
        </p:txBody>
      </p:sp>
      <p:sp>
        <p:nvSpPr>
          <p:cNvPr id="23" name="副标题 22"/>
          <p:cNvSpPr>
            <a:spLocks noGrp="1"/>
          </p:cNvSpPr>
          <p:nvPr/>
        </p:nvSpPr>
        <p:spPr>
          <a:xfrm>
            <a:off x="346894" y="617239"/>
            <a:ext cx="7488832"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lang="zh-CN" altLang="en-US" dirty="0">
                <a:latin typeface="+mn-ea"/>
              </a:rPr>
              <a:t>语法讲解</a:t>
            </a:r>
            <a:endParaRPr lang="zh-CN" altLang="en-US" dirty="0"/>
          </a:p>
        </p:txBody>
      </p:sp>
      <p:sp>
        <p:nvSpPr>
          <p:cNvPr id="13" name="Freeform 59"/>
          <p:cNvSpPr>
            <a:spLocks noEditPoints="1"/>
          </p:cNvSpPr>
          <p:nvPr/>
        </p:nvSpPr>
        <p:spPr bwMode="auto">
          <a:xfrm>
            <a:off x="142844" y="685788"/>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buNone/>
            </a:pPr>
            <a:endParaRPr lang="zh-CN" altLang="en-US"/>
          </a:p>
        </p:txBody>
      </p:sp>
      <p:sp>
        <p:nvSpPr>
          <p:cNvPr id="12300" name="AutoShape 16"/>
          <p:cNvSpPr/>
          <p:nvPr/>
        </p:nvSpPr>
        <p:spPr>
          <a:xfrm>
            <a:off x="940436" y="887253"/>
            <a:ext cx="7065645" cy="816293"/>
          </a:xfrm>
          <a:prstGeom prst="roundRect">
            <a:avLst>
              <a:gd name="adj" fmla="val 0"/>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t"/>
          <a:lstStyle/>
          <a:p>
            <a:pPr algn="l">
              <a:lnSpc>
                <a:spcPts val="2500"/>
              </a:lnSpc>
              <a:buClr>
                <a:schemeClr val="tx1"/>
              </a:buClr>
              <a:buSzPct val="100000"/>
              <a:buFont typeface="Wingdings" panose="05000000000000000000" charset="0"/>
              <a:buNone/>
            </a:pPr>
            <a:r>
              <a:rPr lang="zh-CN" altLang="en-US" sz="1600" b="0" dirty="0">
                <a:solidFill>
                  <a:schemeClr val="tx1">
                    <a:lumMod val="75000"/>
                    <a:lumOff val="25000"/>
                  </a:schemeClr>
                </a:solidFill>
                <a:latin typeface="+mn-ea"/>
                <a:ea typeface="+mn-ea"/>
                <a:sym typeface="+mn-ea"/>
              </a:rPr>
              <a:t>while  英 [waɪl]   美 [hwaɪl, waɪl]   英文解释——牛津词典   </a:t>
            </a:r>
            <a:endParaRPr lang="zh-CN" altLang="en-US" sz="1600" b="0" dirty="0">
              <a:solidFill>
                <a:schemeClr val="tx1">
                  <a:lumMod val="75000"/>
                  <a:lumOff val="25000"/>
                </a:schemeClr>
              </a:solidFill>
              <a:latin typeface="+mn-ea"/>
              <a:ea typeface="+mn-ea"/>
              <a:sym typeface="+mn-ea"/>
            </a:endParaRPr>
          </a:p>
          <a:p>
            <a:pPr algn="l">
              <a:lnSpc>
                <a:spcPts val="2500"/>
              </a:lnSpc>
              <a:buClr>
                <a:schemeClr val="tx1"/>
              </a:buClr>
              <a:buSzPct val="100000"/>
              <a:buFont typeface="Wingdings" panose="05000000000000000000" charset="0"/>
              <a:buNone/>
            </a:pPr>
            <a:r>
              <a:rPr lang="zh-CN" altLang="en-US" sz="1600" b="0" dirty="0">
                <a:solidFill>
                  <a:schemeClr val="tx1">
                    <a:lumMod val="75000"/>
                    <a:lumOff val="25000"/>
                  </a:schemeClr>
                </a:solidFill>
                <a:latin typeface="+mn-ea"/>
                <a:ea typeface="+mn-ea"/>
                <a:sym typeface="+mn-ea"/>
              </a:rPr>
              <a:t>during the time that sth is happening 当...的时候</a:t>
            </a:r>
            <a:endParaRPr lang="zh-CN" altLang="en-US" sz="1600" b="0" dirty="0">
              <a:solidFill>
                <a:schemeClr val="tx1">
                  <a:lumMod val="75000"/>
                  <a:lumOff val="25000"/>
                </a:schemeClr>
              </a:solidFill>
              <a:latin typeface="+mn-ea"/>
              <a:ea typeface="+mn-ea"/>
              <a:sym typeface="+mn-ea"/>
            </a:endParaRPr>
          </a:p>
        </p:txBody>
      </p:sp>
      <p:sp>
        <p:nvSpPr>
          <p:cNvPr id="2" name="AutoShape 16"/>
          <p:cNvSpPr/>
          <p:nvPr/>
        </p:nvSpPr>
        <p:spPr>
          <a:xfrm>
            <a:off x="939456" y="4210379"/>
            <a:ext cx="7065010" cy="541489"/>
          </a:xfrm>
          <a:prstGeom prst="roundRect">
            <a:avLst>
              <a:gd name="adj" fmla="val 0"/>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t"/>
          <a:lstStyle/>
          <a:p>
            <a:pPr algn="ctr" defTabSz="914400" eaLnBrk="0" hangingPunct="0">
              <a:lnSpc>
                <a:spcPct val="150000"/>
              </a:lnSpc>
              <a:buClr>
                <a:srgbClr val="233DA9"/>
              </a:buClr>
              <a:buSzPct val="80000"/>
              <a:buNone/>
            </a:pPr>
            <a:r>
              <a:rPr lang="zh-CN" altLang="en-US" sz="1600" b="0" dirty="0">
                <a:solidFill>
                  <a:schemeClr val="tx1">
                    <a:lumMod val="75000"/>
                    <a:lumOff val="25000"/>
                  </a:schemeClr>
                </a:solidFill>
                <a:latin typeface="+mn-ea"/>
                <a:ea typeface="+mn-ea"/>
              </a:rPr>
              <a:t>while循环是一种先判断后执行，当循环条件满足才执行循环体的循环结构 </a:t>
            </a:r>
            <a:endParaRPr lang="zh-CN" altLang="en-US" sz="1600" dirty="0">
              <a:latin typeface="Times New Roman" panose="02020603050405020304" pitchFamily="18" charset="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left)">
                                      <p:cBhvr>
                                        <p:cTn id="7" dur="500"/>
                                        <p:tgtEl>
                                          <p:spTgt spid="1331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342"/>
                                        </p:tgtEl>
                                        <p:attrNameLst>
                                          <p:attrName>style.visibility</p:attrName>
                                        </p:attrNameLst>
                                      </p:cBhvr>
                                      <p:to>
                                        <p:strVal val="visible"/>
                                      </p:to>
                                    </p:set>
                                    <p:animEffect transition="in" filter="wipe(left)">
                                      <p:cBhvr>
                                        <p:cTn id="11" dur="500"/>
                                        <p:tgtEl>
                                          <p:spTgt spid="1334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3317"/>
                                        </p:tgtEl>
                                        <p:attrNameLst>
                                          <p:attrName>style.visibility</p:attrName>
                                        </p:attrNameLst>
                                      </p:cBhvr>
                                      <p:to>
                                        <p:strVal val="visible"/>
                                      </p:to>
                                    </p:set>
                                    <p:animEffect transition="in" filter="wipe(left)">
                                      <p:cBhvr>
                                        <p:cTn id="15" dur="500"/>
                                        <p:tgtEl>
                                          <p:spTgt spid="1331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341"/>
                                        </p:tgtEl>
                                        <p:attrNameLst>
                                          <p:attrName>style.visibility</p:attrName>
                                        </p:attrNameLst>
                                      </p:cBhvr>
                                      <p:to>
                                        <p:strVal val="visible"/>
                                      </p:to>
                                    </p:set>
                                    <p:animEffect transition="in" filter="wipe(left)">
                                      <p:cBhvr>
                                        <p:cTn id="19" dur="500"/>
                                        <p:tgtEl>
                                          <p:spTgt spid="1334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318"/>
                                        </p:tgtEl>
                                        <p:attrNameLst>
                                          <p:attrName>style.visibility</p:attrName>
                                        </p:attrNameLst>
                                      </p:cBhvr>
                                      <p:to>
                                        <p:strVal val="visible"/>
                                      </p:to>
                                    </p:set>
                                    <p:animEffect transition="in" filter="wipe(left)">
                                      <p:cBhvr>
                                        <p:cTn id="23" dur="500"/>
                                        <p:tgtEl>
                                          <p:spTgt spid="1331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ppt_x"/>
                                          </p:val>
                                        </p:tav>
                                        <p:tav tm="100000">
                                          <p:val>
                                            <p:strVal val="#ppt_x"/>
                                          </p:val>
                                        </p:tav>
                                      </p:tavLst>
                                    </p:anim>
                                    <p:anim calcmode="lin" valueType="num">
                                      <p:cBhvr additive="base">
                                        <p:cTn id="2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3343"/>
                                        </p:tgtEl>
                                        <p:attrNameLst>
                                          <p:attrName>style.visibility</p:attrName>
                                        </p:attrNameLst>
                                      </p:cBhvr>
                                      <p:to>
                                        <p:strVal val="visible"/>
                                      </p:to>
                                    </p:set>
                                    <p:anim calcmode="lin" valueType="num">
                                      <p:cBhvr additive="base">
                                        <p:cTn id="34" dur="500" fill="hold"/>
                                        <p:tgtEl>
                                          <p:spTgt spid="13343"/>
                                        </p:tgtEl>
                                        <p:attrNameLst>
                                          <p:attrName>ppt_x</p:attrName>
                                        </p:attrNameLst>
                                      </p:cBhvr>
                                      <p:tavLst>
                                        <p:tav tm="0">
                                          <p:val>
                                            <p:strVal val="#ppt_x"/>
                                          </p:val>
                                        </p:tav>
                                        <p:tav tm="100000">
                                          <p:val>
                                            <p:strVal val="#ppt_x"/>
                                          </p:val>
                                        </p:tav>
                                      </p:tavLst>
                                    </p:anim>
                                    <p:anim calcmode="lin" valueType="num">
                                      <p:cBhvr additive="base">
                                        <p:cTn id="35" dur="500" fill="hold"/>
                                        <p:tgtEl>
                                          <p:spTgt spid="1334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additive="base">
                                        <p:cTn id="40" dur="500" fill="hold"/>
                                        <p:tgtEl>
                                          <p:spTgt spid="2"/>
                                        </p:tgtEl>
                                        <p:attrNameLst>
                                          <p:attrName>ppt_x</p:attrName>
                                        </p:attrNameLst>
                                      </p:cBhvr>
                                      <p:tavLst>
                                        <p:tav tm="0">
                                          <p:val>
                                            <p:strVal val="#ppt_x"/>
                                          </p:val>
                                        </p:tav>
                                        <p:tav tm="100000">
                                          <p:val>
                                            <p:strVal val="#ppt_x"/>
                                          </p:val>
                                        </p:tav>
                                      </p:tavLst>
                                    </p:anim>
                                    <p:anim calcmode="lin" valueType="num">
                                      <p:cBhvr additive="base">
                                        <p:cTn id="4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3322"/>
                                        </p:tgtEl>
                                        <p:attrNameLst>
                                          <p:attrName>style.visibility</p:attrName>
                                        </p:attrNameLst>
                                      </p:cBhvr>
                                      <p:to>
                                        <p:strVal val="visible"/>
                                      </p:to>
                                    </p:set>
                                    <p:animEffect transition="in" filter="wipe(left)">
                                      <p:cBhvr>
                                        <p:cTn id="46"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bldLvl="0" animBg="1"/>
      <p:bldP spid="13317" grpId="0" bldLvl="0" animBg="1"/>
      <p:bldP spid="13318" grpId="0" bldLvl="0" animBg="1"/>
      <p:bldP spid="13322" grpId="0" bldLvl="0" animBg="1"/>
      <p:bldP spid="13343" grpId="0"/>
      <p:bldP spid="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9332"/>
          </a:xfrm>
        </p:spPr>
        <p:txBody>
          <a:bodyPr/>
          <a:lstStyle/>
          <a:p>
            <a:r>
              <a:rPr lang="zh-CN" altLang="zh-CN" dirty="0"/>
              <a:t>while循环</a:t>
            </a:r>
            <a:r>
              <a:rPr lang="zh-CN" altLang="en-US" dirty="0"/>
              <a:t>应用</a:t>
            </a:r>
            <a:endParaRPr lang="zh-CN" altLang="en-US" dirty="0"/>
          </a:p>
        </p:txBody>
      </p:sp>
      <p:sp>
        <p:nvSpPr>
          <p:cNvPr id="3" name="内容占位符 2"/>
          <p:cNvSpPr>
            <a:spLocks noGrp="1"/>
          </p:cNvSpPr>
          <p:nvPr>
            <p:ph idx="1"/>
          </p:nvPr>
        </p:nvSpPr>
        <p:spPr>
          <a:xfrm>
            <a:off x="488375" y="1870760"/>
            <a:ext cx="8352928" cy="2893239"/>
          </a:xfrm>
        </p:spPr>
        <p:txBody>
          <a:bodyPr/>
          <a:lstStyle/>
          <a:p>
            <a:pPr marL="0" indent="0">
              <a:buNone/>
            </a:pPr>
            <a:endParaRPr lang="en-US" altLang="zh-CN" dirty="0"/>
          </a:p>
          <a:p>
            <a:pPr marL="0" indent="0" latinLnBrk="0">
              <a:spcBef>
                <a:spcPts val="1000"/>
              </a:spcBef>
              <a:buNone/>
            </a:pPr>
            <a:endParaRPr lang="en-US" altLang="zh-CN" dirty="0"/>
          </a:p>
          <a:p>
            <a:pPr marL="0" indent="0" latinLnBrk="0">
              <a:spcBef>
                <a:spcPts val="1000"/>
              </a:spcBef>
              <a:buNone/>
            </a:pPr>
            <a:endParaRPr lang="en-US" altLang="zh-CN" dirty="0"/>
          </a:p>
          <a:p>
            <a:pPr latinLnBrk="0">
              <a:spcBef>
                <a:spcPts val="1000"/>
              </a:spcBef>
              <a:buFont typeface="Wingdings" panose="05000000000000000000" charset="0"/>
              <a:buChar char="n"/>
            </a:pPr>
            <a:r>
              <a:rPr lang="zh-CN" altLang="en-US" dirty="0"/>
              <a:t>执行顺序</a:t>
            </a:r>
            <a:endParaRPr lang="zh-CN" altLang="en-US" b="0" dirty="0">
              <a:latin typeface="+mn-ea"/>
              <a:ea typeface="+mn-ea"/>
            </a:endParaRPr>
          </a:p>
          <a:p>
            <a:pPr marL="342900" lvl="1" indent="-342900" latinLnBrk="0">
              <a:spcBef>
                <a:spcPts val="1000"/>
              </a:spcBef>
              <a:buFont typeface="Wingdings" panose="05000000000000000000" charset="0"/>
              <a:buChar char="u"/>
            </a:pPr>
            <a:r>
              <a:rPr lang="zh-CN" altLang="en-US" dirty="0"/>
              <a:t>声明并初始化循环变量；</a:t>
            </a:r>
            <a:endParaRPr lang="zh-CN" altLang="en-US" dirty="0"/>
          </a:p>
          <a:p>
            <a:pPr marL="342900" lvl="1" indent="-342900" latinLnBrk="0">
              <a:spcBef>
                <a:spcPts val="1000"/>
              </a:spcBef>
              <a:buFont typeface="Wingdings" panose="05000000000000000000" charset="0"/>
              <a:buChar char="u"/>
            </a:pPr>
            <a:r>
              <a:rPr lang="zh-CN" altLang="en-US" dirty="0"/>
              <a:t>判断循环条件是否满足；</a:t>
            </a:r>
            <a:endParaRPr lang="zh-CN" altLang="en-US" dirty="0"/>
          </a:p>
          <a:p>
            <a:pPr marL="342900" lvl="1" indent="-342900" latinLnBrk="0">
              <a:spcBef>
                <a:spcPts val="1000"/>
              </a:spcBef>
              <a:buFont typeface="Wingdings" panose="05000000000000000000" charset="0"/>
              <a:buChar char="u"/>
            </a:pPr>
            <a:r>
              <a:rPr lang="zh-CN" altLang="en-US" dirty="0"/>
              <a:t>判断</a:t>
            </a:r>
            <a:r>
              <a:rPr lang="zh-CN" altLang="en-US" dirty="0">
                <a:sym typeface="+mn-ea"/>
              </a:rPr>
              <a:t>下一次</a:t>
            </a:r>
            <a:r>
              <a:rPr lang="zh-CN" altLang="en-US" dirty="0"/>
              <a:t>循环条件，决定继续执行循环体或退出循环</a:t>
            </a:r>
            <a:endParaRPr lang="zh-CN" altLang="en-US" dirty="0"/>
          </a:p>
        </p:txBody>
      </p:sp>
      <p:sp>
        <p:nvSpPr>
          <p:cNvPr id="5" name="副标题 4"/>
          <p:cNvSpPr>
            <a:spLocks noGrp="1"/>
          </p:cNvSpPr>
          <p:nvPr>
            <p:ph type="subTitle" idx="10"/>
          </p:nvPr>
        </p:nvSpPr>
        <p:spPr>
          <a:xfrm>
            <a:off x="506279" y="728211"/>
            <a:ext cx="1136763" cy="360040"/>
          </a:xfrm>
        </p:spPr>
        <p:txBody>
          <a:bodyPr/>
          <a:lstStyle/>
          <a:p>
            <a:pPr algn="l">
              <a:spcBef>
                <a:spcPct val="267000"/>
              </a:spcBef>
            </a:pPr>
            <a:r>
              <a:rPr lang="zh-CN" altLang="en-US" dirty="0">
                <a:latin typeface="+mn-ea"/>
              </a:rPr>
              <a:t>实现代码</a:t>
            </a:r>
            <a:endParaRPr lang="zh-CN" altLang="en-US" dirty="0">
              <a:latin typeface="+mn-ea"/>
            </a:endParaRPr>
          </a:p>
        </p:txBody>
      </p:sp>
      <p:sp>
        <p:nvSpPr>
          <p:cNvPr id="28" name="AutoShape 7"/>
          <p:cNvSpPr>
            <a:spLocks noChangeArrowheads="1"/>
          </p:cNvSpPr>
          <p:nvPr/>
        </p:nvSpPr>
        <p:spPr bwMode="auto">
          <a:xfrm>
            <a:off x="375301" y="1162050"/>
            <a:ext cx="6339839" cy="1383664"/>
          </a:xfrm>
          <a:prstGeom prst="roundRect">
            <a:avLst>
              <a:gd name="adj" fmla="val 0"/>
            </a:avLst>
          </a:prstGeom>
          <a:solidFill>
            <a:srgbClr val="E7F4FF"/>
          </a:solidFill>
          <a:ln w="28575" cap="flat" cmpd="sng" algn="ctr">
            <a:solidFill>
              <a:srgbClr val="00B0F0"/>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defTabSz="381000">
              <a:lnSpc>
                <a:spcPct val="150000"/>
              </a:lnSpc>
              <a:buClr>
                <a:schemeClr val="folHlink"/>
              </a:buClr>
              <a:buSzPct val="60000"/>
              <a:buNone/>
            </a:pPr>
            <a:r>
              <a:rPr lang="en-US" altLang="zh-CN" sz="1400" dirty="0">
                <a:solidFill>
                  <a:srgbClr val="FF0000"/>
                </a:solidFill>
                <a:latin typeface="+mn-ea"/>
                <a:ea typeface="+mn-ea"/>
              </a:rPr>
              <a:t>i</a:t>
            </a:r>
            <a:r>
              <a:rPr lang="en-US" altLang="zh-CN" sz="1400" dirty="0">
                <a:solidFill>
                  <a:schemeClr val="tx1">
                    <a:lumMod val="75000"/>
                    <a:lumOff val="25000"/>
                  </a:schemeClr>
                </a:solidFill>
                <a:latin typeface="+mn-ea"/>
                <a:ea typeface="+mn-ea"/>
              </a:rPr>
              <a:t>=1;</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x-none" sz="1400" dirty="0">
                <a:solidFill>
                  <a:srgbClr val="0000FF"/>
                </a:solidFill>
                <a:latin typeface="+mn-ea"/>
                <a:ea typeface="+mn-ea"/>
                <a:sym typeface="+mn-ea"/>
              </a:rPr>
              <a:t>while  </a:t>
            </a:r>
            <a:r>
              <a:rPr lang="en-US" altLang="zh-CN" sz="1400" dirty="0">
                <a:solidFill>
                  <a:schemeClr val="tx1">
                    <a:lumMod val="75000"/>
                    <a:lumOff val="25000"/>
                  </a:schemeClr>
                </a:solidFill>
                <a:latin typeface="+mn-ea"/>
                <a:ea typeface="+mn-ea"/>
              </a:rPr>
              <a:t> </a:t>
            </a:r>
            <a:r>
              <a:rPr lang="en-US" altLang="zh-CN" sz="1400" dirty="0">
                <a:solidFill>
                  <a:srgbClr val="FF0000"/>
                </a:solidFill>
                <a:latin typeface="+mn-ea"/>
                <a:ea typeface="+mn-ea"/>
              </a:rPr>
              <a:t>i</a:t>
            </a:r>
            <a:r>
              <a:rPr lang="en-US" altLang="zh-CN" sz="1400" dirty="0">
                <a:solidFill>
                  <a:schemeClr val="tx1">
                    <a:lumMod val="75000"/>
                    <a:lumOff val="25000"/>
                  </a:schemeClr>
                </a:solidFill>
                <a:latin typeface="+mn-ea"/>
                <a:ea typeface="+mn-ea"/>
              </a:rPr>
              <a:t>&lt;=10000  :</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     </a:t>
            </a:r>
            <a:r>
              <a:rPr lang="en-US" altLang="zh-CN" sz="1400" dirty="0" err="1">
                <a:solidFill>
                  <a:schemeClr val="tx1">
                    <a:lumMod val="75000"/>
                    <a:lumOff val="25000"/>
                  </a:schemeClr>
                </a:solidFill>
                <a:latin typeface="+mn-ea"/>
                <a:ea typeface="+mn-ea"/>
              </a:rPr>
              <a:t>print</a:t>
            </a:r>
            <a:r>
              <a:rPr lang="en-US" altLang="zh-CN" sz="1400" dirty="0">
                <a:solidFill>
                  <a:schemeClr val="tx1">
                    <a:lumMod val="75000"/>
                    <a:lumOff val="25000"/>
                  </a:schemeClr>
                </a:solidFill>
                <a:latin typeface="+mn-ea"/>
                <a:ea typeface="+mn-ea"/>
              </a:rPr>
              <a:t>("</a:t>
            </a:r>
            <a:r>
              <a:rPr lang="zh-CN" altLang="en-US" sz="1400" dirty="0">
                <a:solidFill>
                  <a:schemeClr val="tx1">
                    <a:lumMod val="75000"/>
                    <a:lumOff val="25000"/>
                  </a:schemeClr>
                </a:solidFill>
                <a:latin typeface="+mn-ea"/>
                <a:ea typeface="+mn-ea"/>
              </a:rPr>
              <a:t>第</a:t>
            </a:r>
            <a:r>
              <a:rPr lang="en-US" altLang="zh-CN" sz="1400" dirty="0">
                <a:solidFill>
                  <a:schemeClr val="tx1">
                    <a:lumMod val="75000"/>
                    <a:lumOff val="25000"/>
                  </a:schemeClr>
                </a:solidFill>
                <a:latin typeface="+mn-ea"/>
                <a:ea typeface="+mn-ea"/>
              </a:rPr>
              <a:t>"+</a:t>
            </a:r>
            <a:r>
              <a:rPr lang="en-US" altLang="zh-CN" sz="1400" dirty="0">
                <a:solidFill>
                  <a:srgbClr val="FF0000"/>
                </a:solidFill>
                <a:latin typeface="+mn-ea"/>
                <a:ea typeface="+mn-ea"/>
              </a:rPr>
              <a:t>i</a:t>
            </a:r>
            <a:r>
              <a:rPr lang="en-US" altLang="zh-CN" sz="1400" dirty="0">
                <a:solidFill>
                  <a:schemeClr val="tx1">
                    <a:lumMod val="75000"/>
                    <a:lumOff val="25000"/>
                  </a:schemeClr>
                </a:solidFill>
                <a:latin typeface="+mn-ea"/>
                <a:ea typeface="+mn-ea"/>
              </a:rPr>
              <a:t>+"</a:t>
            </a:r>
            <a:r>
              <a:rPr lang="zh-CN" altLang="en-US" sz="1400" dirty="0">
                <a:solidFill>
                  <a:schemeClr val="tx1">
                    <a:lumMod val="75000"/>
                    <a:lumOff val="25000"/>
                  </a:schemeClr>
                </a:solidFill>
                <a:latin typeface="+mn-ea"/>
                <a:ea typeface="+mn-ea"/>
              </a:rPr>
              <a:t>遍：知识很简单、学习很快乐、潜力无极限</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     i+=1</a:t>
            </a:r>
            <a:endParaRPr lang="en-US" altLang="zh-CN" sz="1400" dirty="0">
              <a:solidFill>
                <a:schemeClr val="tx1">
                  <a:lumMod val="75000"/>
                  <a:lumOff val="25000"/>
                </a:schemeClr>
              </a:solidFill>
              <a:latin typeface="+mn-ea"/>
              <a:ea typeface="+mn-ea"/>
            </a:endParaRPr>
          </a:p>
        </p:txBody>
      </p:sp>
      <p:sp>
        <p:nvSpPr>
          <p:cNvPr id="29" name="Rectangle 8"/>
          <p:cNvSpPr>
            <a:spLocks noChangeArrowheads="1"/>
          </p:cNvSpPr>
          <p:nvPr/>
        </p:nvSpPr>
        <p:spPr bwMode="auto">
          <a:xfrm>
            <a:off x="1016635" y="1571625"/>
            <a:ext cx="927735" cy="248285"/>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a typeface="宋体" panose="02010600030101010101" pitchFamily="2" charset="-122"/>
            </a:endParaRPr>
          </a:p>
        </p:txBody>
      </p:sp>
      <p:sp>
        <p:nvSpPr>
          <p:cNvPr id="30" name="Rectangle 9"/>
          <p:cNvSpPr>
            <a:spLocks noChangeArrowheads="1"/>
          </p:cNvSpPr>
          <p:nvPr/>
        </p:nvSpPr>
        <p:spPr bwMode="auto">
          <a:xfrm>
            <a:off x="529578" y="1819905"/>
            <a:ext cx="6060149" cy="339566"/>
          </a:xfrm>
          <a:prstGeom prst="rect">
            <a:avLst/>
          </a:prstGeom>
          <a:solidFill>
            <a:srgbClr val="FFDDDD">
              <a:alpha val="10196"/>
            </a:srgbClr>
          </a:solidFill>
          <a:ln w="28575" algn="ctr">
            <a:solidFill>
              <a:srgbClr val="C00000"/>
            </a:solidFill>
            <a:miter lim="800000"/>
          </a:ln>
        </p:spPr>
        <p:txBody>
          <a:bodyPr wrap="none" anchor="ctr"/>
          <a:lstStyle/>
          <a:p>
            <a:endParaRPr lang="en-US" altLang="zh-CN">
              <a:solidFill>
                <a:srgbClr val="FF0000"/>
              </a:solidFill>
              <a:ea typeface="宋体" panose="02010600030101010101" pitchFamily="2" charset="-122"/>
            </a:endParaRPr>
          </a:p>
        </p:txBody>
      </p:sp>
      <p:grpSp>
        <p:nvGrpSpPr>
          <p:cNvPr id="4" name="组合 30"/>
          <p:cNvGrpSpPr/>
          <p:nvPr/>
        </p:nvGrpSpPr>
        <p:grpSpPr>
          <a:xfrm>
            <a:off x="344170" y="782955"/>
            <a:ext cx="185420" cy="139065"/>
            <a:chOff x="2527300" y="2946400"/>
            <a:chExt cx="236538" cy="236538"/>
          </a:xfrm>
        </p:grpSpPr>
        <p:sp>
          <p:nvSpPr>
            <p:cNvPr id="32" name="Freeform 52"/>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close/>
                  <a:moveTo>
                    <a:pt x="59" y="26"/>
                  </a:moveTo>
                  <a:lnTo>
                    <a:pt x="40" y="7"/>
                  </a:lnTo>
                  <a:lnTo>
                    <a:pt x="45" y="0"/>
                  </a:lnTo>
                  <a:lnTo>
                    <a:pt x="66" y="19"/>
                  </a:lnTo>
                  <a:lnTo>
                    <a:pt x="59" y="26"/>
                  </a:lnTo>
                  <a:close/>
                  <a:moveTo>
                    <a:pt x="59" y="26"/>
                  </a:moveTo>
                  <a:lnTo>
                    <a:pt x="59" y="26"/>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53"/>
            <p:cNvSpPr>
              <a:spLocks noEditPoints="1"/>
            </p:cNvSpPr>
            <p:nvPr/>
          </p:nvSpPr>
          <p:spPr bwMode="auto">
            <a:xfrm>
              <a:off x="2659063" y="3055938"/>
              <a:ext cx="104775" cy="104775"/>
            </a:xfrm>
            <a:custGeom>
              <a:avLst/>
              <a:gdLst>
                <a:gd name="T0" fmla="*/ 38 w 66"/>
                <a:gd name="T1" fmla="*/ 9 h 66"/>
                <a:gd name="T2" fmla="*/ 56 w 66"/>
                <a:gd name="T3" fmla="*/ 28 h 66"/>
                <a:gd name="T4" fmla="*/ 23 w 66"/>
                <a:gd name="T5" fmla="*/ 61 h 66"/>
                <a:gd name="T6" fmla="*/ 0 w 66"/>
                <a:gd name="T7" fmla="*/ 66 h 66"/>
                <a:gd name="T8" fmla="*/ 4 w 66"/>
                <a:gd name="T9" fmla="*/ 42 h 66"/>
                <a:gd name="T10" fmla="*/ 38 w 66"/>
                <a:gd name="T11" fmla="*/ 9 h 66"/>
                <a:gd name="T12" fmla="*/ 59 w 66"/>
                <a:gd name="T13" fmla="*/ 26 h 66"/>
                <a:gd name="T14" fmla="*/ 40 w 66"/>
                <a:gd name="T15" fmla="*/ 7 h 66"/>
                <a:gd name="T16" fmla="*/ 45 w 66"/>
                <a:gd name="T17" fmla="*/ 0 h 66"/>
                <a:gd name="T18" fmla="*/ 66 w 66"/>
                <a:gd name="T19" fmla="*/ 19 h 66"/>
                <a:gd name="T20" fmla="*/ 59 w 66"/>
                <a:gd name="T21" fmla="*/ 26 h 66"/>
                <a:gd name="T22" fmla="*/ 59 w 66"/>
                <a:gd name="T23" fmla="*/ 26 h 66"/>
                <a:gd name="T24" fmla="*/ 59 w 66"/>
                <a:gd name="T25" fmla="*/ 2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66">
                  <a:moveTo>
                    <a:pt x="38" y="9"/>
                  </a:moveTo>
                  <a:lnTo>
                    <a:pt x="56" y="28"/>
                  </a:lnTo>
                  <a:lnTo>
                    <a:pt x="23" y="61"/>
                  </a:lnTo>
                  <a:lnTo>
                    <a:pt x="0" y="66"/>
                  </a:lnTo>
                  <a:lnTo>
                    <a:pt x="4" y="42"/>
                  </a:lnTo>
                  <a:lnTo>
                    <a:pt x="38" y="9"/>
                  </a:lnTo>
                  <a:moveTo>
                    <a:pt x="59" y="26"/>
                  </a:moveTo>
                  <a:lnTo>
                    <a:pt x="40" y="7"/>
                  </a:lnTo>
                  <a:lnTo>
                    <a:pt x="45" y="0"/>
                  </a:lnTo>
                  <a:lnTo>
                    <a:pt x="66" y="19"/>
                  </a:lnTo>
                  <a:lnTo>
                    <a:pt x="59" y="26"/>
                  </a:lnTo>
                  <a:moveTo>
                    <a:pt x="59" y="26"/>
                  </a:moveTo>
                  <a:lnTo>
                    <a:pt x="59"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54"/>
            <p:cNvSpPr>
              <a:spLocks noEditPoints="1"/>
            </p:cNvSpPr>
            <p:nvPr/>
          </p:nvSpPr>
          <p:spPr bwMode="auto">
            <a:xfrm>
              <a:off x="2527300" y="2946400"/>
              <a:ext cx="184150" cy="236538"/>
            </a:xfrm>
            <a:custGeom>
              <a:avLst/>
              <a:gdLst>
                <a:gd name="T0" fmla="*/ 28 w 49"/>
                <a:gd name="T1" fmla="*/ 0 h 63"/>
                <a:gd name="T2" fmla="*/ 33 w 49"/>
                <a:gd name="T3" fmla="*/ 3 h 63"/>
                <a:gd name="T4" fmla="*/ 38 w 49"/>
                <a:gd name="T5" fmla="*/ 9 h 63"/>
                <a:gd name="T6" fmla="*/ 39 w 49"/>
                <a:gd name="T7" fmla="*/ 19 h 63"/>
                <a:gd name="T8" fmla="*/ 40 w 49"/>
                <a:gd name="T9" fmla="*/ 21 h 63"/>
                <a:gd name="T10" fmla="*/ 39 w 49"/>
                <a:gd name="T11" fmla="*/ 25 h 63"/>
                <a:gd name="T12" fmla="*/ 38 w 49"/>
                <a:gd name="T13" fmla="*/ 27 h 63"/>
                <a:gd name="T14" fmla="*/ 36 w 49"/>
                <a:gd name="T15" fmla="*/ 30 h 63"/>
                <a:gd name="T16" fmla="*/ 33 w 49"/>
                <a:gd name="T17" fmla="*/ 33 h 63"/>
                <a:gd name="T18" fmla="*/ 33 w 49"/>
                <a:gd name="T19" fmla="*/ 37 h 63"/>
                <a:gd name="T20" fmla="*/ 34 w 49"/>
                <a:gd name="T21" fmla="*/ 41 h 63"/>
                <a:gd name="T22" fmla="*/ 33 w 49"/>
                <a:gd name="T23" fmla="*/ 46 h 63"/>
                <a:gd name="T24" fmla="*/ 47 w 49"/>
                <a:gd name="T25" fmla="*/ 59 h 63"/>
                <a:gd name="T26" fmla="*/ 49 w 49"/>
                <a:gd name="T27" fmla="*/ 58 h 63"/>
                <a:gd name="T28" fmla="*/ 46 w 49"/>
                <a:gd name="T29" fmla="*/ 61 h 63"/>
                <a:gd name="T30" fmla="*/ 38 w 49"/>
                <a:gd name="T31" fmla="*/ 62 h 63"/>
                <a:gd name="T32" fmla="*/ 28 w 49"/>
                <a:gd name="T33" fmla="*/ 63 h 63"/>
                <a:gd name="T34" fmla="*/ 20 w 49"/>
                <a:gd name="T35" fmla="*/ 63 h 63"/>
                <a:gd name="T36" fmla="*/ 11 w 49"/>
                <a:gd name="T37" fmla="*/ 62 h 63"/>
                <a:gd name="T38" fmla="*/ 3 w 49"/>
                <a:gd name="T39" fmla="*/ 61 h 63"/>
                <a:gd name="T40" fmla="*/ 0 w 49"/>
                <a:gd name="T41" fmla="*/ 57 h 63"/>
                <a:gd name="T42" fmla="*/ 3 w 49"/>
                <a:gd name="T43" fmla="*/ 47 h 63"/>
                <a:gd name="T44" fmla="*/ 10 w 49"/>
                <a:gd name="T45" fmla="*/ 44 h 63"/>
                <a:gd name="T46" fmla="*/ 16 w 49"/>
                <a:gd name="T47" fmla="*/ 41 h 63"/>
                <a:gd name="T48" fmla="*/ 17 w 49"/>
                <a:gd name="T49" fmla="*/ 38 h 63"/>
                <a:gd name="T50" fmla="*/ 16 w 49"/>
                <a:gd name="T51" fmla="*/ 33 h 63"/>
                <a:gd name="T52" fmla="*/ 13 w 49"/>
                <a:gd name="T53" fmla="*/ 30 h 63"/>
                <a:gd name="T54" fmla="*/ 12 w 49"/>
                <a:gd name="T55" fmla="*/ 27 h 63"/>
                <a:gd name="T56" fmla="*/ 10 w 49"/>
                <a:gd name="T57" fmla="*/ 26 h 63"/>
                <a:gd name="T58" fmla="*/ 9 w 49"/>
                <a:gd name="T59" fmla="*/ 22 h 63"/>
                <a:gd name="T60" fmla="*/ 10 w 49"/>
                <a:gd name="T61" fmla="*/ 19 h 63"/>
                <a:gd name="T62" fmla="*/ 11 w 49"/>
                <a:gd name="T63" fmla="*/ 10 h 63"/>
                <a:gd name="T64" fmla="*/ 16 w 49"/>
                <a:gd name="T65" fmla="*/ 3 h 63"/>
                <a:gd name="T66" fmla="*/ 21 w 49"/>
                <a:gd name="T67" fmla="*/ 0 h 63"/>
                <a:gd name="T68" fmla="*/ 24 w 49"/>
                <a:gd name="T6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63">
                  <a:moveTo>
                    <a:pt x="24" y="0"/>
                  </a:moveTo>
                  <a:cubicBezTo>
                    <a:pt x="26" y="0"/>
                    <a:pt x="27" y="0"/>
                    <a:pt x="28" y="0"/>
                  </a:cubicBezTo>
                  <a:cubicBezTo>
                    <a:pt x="29" y="0"/>
                    <a:pt x="30" y="1"/>
                    <a:pt x="31" y="1"/>
                  </a:cubicBezTo>
                  <a:cubicBezTo>
                    <a:pt x="32" y="2"/>
                    <a:pt x="33" y="2"/>
                    <a:pt x="33" y="3"/>
                  </a:cubicBezTo>
                  <a:cubicBezTo>
                    <a:pt x="34" y="4"/>
                    <a:pt x="35" y="4"/>
                    <a:pt x="35" y="5"/>
                  </a:cubicBezTo>
                  <a:cubicBezTo>
                    <a:pt x="36" y="6"/>
                    <a:pt x="37" y="8"/>
                    <a:pt x="38" y="9"/>
                  </a:cubicBezTo>
                  <a:cubicBezTo>
                    <a:pt x="38" y="11"/>
                    <a:pt x="38" y="12"/>
                    <a:pt x="39" y="14"/>
                  </a:cubicBezTo>
                  <a:cubicBezTo>
                    <a:pt x="39" y="16"/>
                    <a:pt x="39" y="17"/>
                    <a:pt x="39" y="19"/>
                  </a:cubicBezTo>
                  <a:cubicBezTo>
                    <a:pt x="39" y="19"/>
                    <a:pt x="39" y="20"/>
                    <a:pt x="40" y="20"/>
                  </a:cubicBezTo>
                  <a:cubicBezTo>
                    <a:pt x="40" y="20"/>
                    <a:pt x="40" y="21"/>
                    <a:pt x="40" y="21"/>
                  </a:cubicBezTo>
                  <a:cubicBezTo>
                    <a:pt x="40" y="22"/>
                    <a:pt x="40" y="22"/>
                    <a:pt x="40" y="23"/>
                  </a:cubicBezTo>
                  <a:cubicBezTo>
                    <a:pt x="40" y="23"/>
                    <a:pt x="40" y="24"/>
                    <a:pt x="39" y="25"/>
                  </a:cubicBezTo>
                  <a:cubicBezTo>
                    <a:pt x="39" y="25"/>
                    <a:pt x="39" y="26"/>
                    <a:pt x="39" y="26"/>
                  </a:cubicBezTo>
                  <a:cubicBezTo>
                    <a:pt x="38" y="26"/>
                    <a:pt x="38" y="27"/>
                    <a:pt x="38" y="27"/>
                  </a:cubicBezTo>
                  <a:cubicBezTo>
                    <a:pt x="37" y="28"/>
                    <a:pt x="37" y="28"/>
                    <a:pt x="37" y="29"/>
                  </a:cubicBezTo>
                  <a:cubicBezTo>
                    <a:pt x="37" y="29"/>
                    <a:pt x="37" y="30"/>
                    <a:pt x="36" y="30"/>
                  </a:cubicBezTo>
                  <a:cubicBezTo>
                    <a:pt x="36" y="31"/>
                    <a:pt x="36" y="31"/>
                    <a:pt x="35" y="32"/>
                  </a:cubicBezTo>
                  <a:cubicBezTo>
                    <a:pt x="35" y="32"/>
                    <a:pt x="34" y="33"/>
                    <a:pt x="33" y="33"/>
                  </a:cubicBezTo>
                  <a:cubicBezTo>
                    <a:pt x="33" y="34"/>
                    <a:pt x="33" y="35"/>
                    <a:pt x="33" y="35"/>
                  </a:cubicBezTo>
                  <a:cubicBezTo>
                    <a:pt x="33" y="36"/>
                    <a:pt x="33" y="37"/>
                    <a:pt x="33" y="37"/>
                  </a:cubicBezTo>
                  <a:cubicBezTo>
                    <a:pt x="33" y="38"/>
                    <a:pt x="33" y="39"/>
                    <a:pt x="33" y="39"/>
                  </a:cubicBezTo>
                  <a:cubicBezTo>
                    <a:pt x="33" y="40"/>
                    <a:pt x="34" y="41"/>
                    <a:pt x="34" y="41"/>
                  </a:cubicBezTo>
                  <a:cubicBezTo>
                    <a:pt x="35" y="42"/>
                    <a:pt x="36" y="42"/>
                    <a:pt x="36" y="43"/>
                  </a:cubicBezTo>
                  <a:cubicBezTo>
                    <a:pt x="33" y="46"/>
                    <a:pt x="33" y="46"/>
                    <a:pt x="33" y="46"/>
                  </a:cubicBezTo>
                  <a:cubicBezTo>
                    <a:pt x="32" y="61"/>
                    <a:pt x="32" y="61"/>
                    <a:pt x="32" y="61"/>
                  </a:cubicBezTo>
                  <a:cubicBezTo>
                    <a:pt x="32" y="61"/>
                    <a:pt x="44" y="59"/>
                    <a:pt x="47" y="59"/>
                  </a:cubicBezTo>
                  <a:cubicBezTo>
                    <a:pt x="49" y="57"/>
                    <a:pt x="49" y="57"/>
                    <a:pt x="49" y="57"/>
                  </a:cubicBezTo>
                  <a:cubicBezTo>
                    <a:pt x="49" y="57"/>
                    <a:pt x="49" y="57"/>
                    <a:pt x="49" y="58"/>
                  </a:cubicBezTo>
                  <a:cubicBezTo>
                    <a:pt x="49" y="59"/>
                    <a:pt x="48" y="59"/>
                    <a:pt x="48" y="60"/>
                  </a:cubicBezTo>
                  <a:cubicBezTo>
                    <a:pt x="48" y="60"/>
                    <a:pt x="47" y="61"/>
                    <a:pt x="46" y="61"/>
                  </a:cubicBezTo>
                  <a:cubicBezTo>
                    <a:pt x="45" y="61"/>
                    <a:pt x="44" y="62"/>
                    <a:pt x="43" y="62"/>
                  </a:cubicBezTo>
                  <a:cubicBezTo>
                    <a:pt x="42" y="62"/>
                    <a:pt x="40" y="62"/>
                    <a:pt x="38" y="62"/>
                  </a:cubicBezTo>
                  <a:cubicBezTo>
                    <a:pt x="37" y="63"/>
                    <a:pt x="35" y="63"/>
                    <a:pt x="33" y="63"/>
                  </a:cubicBezTo>
                  <a:cubicBezTo>
                    <a:pt x="32" y="63"/>
                    <a:pt x="30" y="63"/>
                    <a:pt x="28" y="63"/>
                  </a:cubicBezTo>
                  <a:cubicBezTo>
                    <a:pt x="27" y="63"/>
                    <a:pt x="26" y="63"/>
                    <a:pt x="24" y="63"/>
                  </a:cubicBezTo>
                  <a:cubicBezTo>
                    <a:pt x="23" y="63"/>
                    <a:pt x="22" y="63"/>
                    <a:pt x="20" y="63"/>
                  </a:cubicBezTo>
                  <a:cubicBezTo>
                    <a:pt x="19" y="63"/>
                    <a:pt x="17" y="63"/>
                    <a:pt x="16" y="63"/>
                  </a:cubicBezTo>
                  <a:cubicBezTo>
                    <a:pt x="14" y="63"/>
                    <a:pt x="12" y="63"/>
                    <a:pt x="11" y="62"/>
                  </a:cubicBezTo>
                  <a:cubicBezTo>
                    <a:pt x="9" y="62"/>
                    <a:pt x="8" y="62"/>
                    <a:pt x="6" y="62"/>
                  </a:cubicBezTo>
                  <a:cubicBezTo>
                    <a:pt x="5" y="62"/>
                    <a:pt x="4" y="62"/>
                    <a:pt x="3" y="61"/>
                  </a:cubicBezTo>
                  <a:cubicBezTo>
                    <a:pt x="3" y="61"/>
                    <a:pt x="2" y="61"/>
                    <a:pt x="1" y="61"/>
                  </a:cubicBezTo>
                  <a:cubicBezTo>
                    <a:pt x="1" y="60"/>
                    <a:pt x="0" y="59"/>
                    <a:pt x="0" y="57"/>
                  </a:cubicBezTo>
                  <a:cubicBezTo>
                    <a:pt x="0" y="55"/>
                    <a:pt x="0" y="53"/>
                    <a:pt x="1" y="51"/>
                  </a:cubicBezTo>
                  <a:cubicBezTo>
                    <a:pt x="1" y="49"/>
                    <a:pt x="2" y="48"/>
                    <a:pt x="3" y="47"/>
                  </a:cubicBezTo>
                  <a:cubicBezTo>
                    <a:pt x="4" y="46"/>
                    <a:pt x="5" y="46"/>
                    <a:pt x="6" y="45"/>
                  </a:cubicBezTo>
                  <a:cubicBezTo>
                    <a:pt x="7" y="45"/>
                    <a:pt x="9" y="44"/>
                    <a:pt x="10" y="44"/>
                  </a:cubicBezTo>
                  <a:cubicBezTo>
                    <a:pt x="11" y="44"/>
                    <a:pt x="12" y="43"/>
                    <a:pt x="14" y="42"/>
                  </a:cubicBezTo>
                  <a:cubicBezTo>
                    <a:pt x="14" y="42"/>
                    <a:pt x="15" y="41"/>
                    <a:pt x="16" y="41"/>
                  </a:cubicBezTo>
                  <a:cubicBezTo>
                    <a:pt x="16" y="40"/>
                    <a:pt x="16" y="40"/>
                    <a:pt x="16" y="39"/>
                  </a:cubicBezTo>
                  <a:cubicBezTo>
                    <a:pt x="17" y="39"/>
                    <a:pt x="17" y="38"/>
                    <a:pt x="17" y="38"/>
                  </a:cubicBezTo>
                  <a:cubicBezTo>
                    <a:pt x="17" y="37"/>
                    <a:pt x="17" y="36"/>
                    <a:pt x="17" y="36"/>
                  </a:cubicBezTo>
                  <a:cubicBezTo>
                    <a:pt x="17" y="35"/>
                    <a:pt x="16" y="34"/>
                    <a:pt x="16" y="33"/>
                  </a:cubicBezTo>
                  <a:cubicBezTo>
                    <a:pt x="15" y="33"/>
                    <a:pt x="15" y="32"/>
                    <a:pt x="14" y="32"/>
                  </a:cubicBezTo>
                  <a:cubicBezTo>
                    <a:pt x="14" y="31"/>
                    <a:pt x="13" y="31"/>
                    <a:pt x="13" y="30"/>
                  </a:cubicBezTo>
                  <a:cubicBezTo>
                    <a:pt x="13" y="30"/>
                    <a:pt x="13" y="29"/>
                    <a:pt x="12" y="29"/>
                  </a:cubicBezTo>
                  <a:cubicBezTo>
                    <a:pt x="12" y="28"/>
                    <a:pt x="12" y="28"/>
                    <a:pt x="12" y="27"/>
                  </a:cubicBezTo>
                  <a:cubicBezTo>
                    <a:pt x="11" y="27"/>
                    <a:pt x="11" y="27"/>
                    <a:pt x="11" y="26"/>
                  </a:cubicBezTo>
                  <a:cubicBezTo>
                    <a:pt x="11" y="26"/>
                    <a:pt x="10" y="26"/>
                    <a:pt x="10" y="26"/>
                  </a:cubicBezTo>
                  <a:cubicBezTo>
                    <a:pt x="10" y="25"/>
                    <a:pt x="10" y="24"/>
                    <a:pt x="10" y="24"/>
                  </a:cubicBezTo>
                  <a:cubicBezTo>
                    <a:pt x="9" y="23"/>
                    <a:pt x="9" y="22"/>
                    <a:pt x="9" y="22"/>
                  </a:cubicBezTo>
                  <a:cubicBezTo>
                    <a:pt x="9" y="21"/>
                    <a:pt x="9" y="21"/>
                    <a:pt x="10" y="20"/>
                  </a:cubicBezTo>
                  <a:cubicBezTo>
                    <a:pt x="10" y="20"/>
                    <a:pt x="10" y="19"/>
                    <a:pt x="10" y="19"/>
                  </a:cubicBezTo>
                  <a:cubicBezTo>
                    <a:pt x="10" y="17"/>
                    <a:pt x="10" y="16"/>
                    <a:pt x="10" y="14"/>
                  </a:cubicBezTo>
                  <a:cubicBezTo>
                    <a:pt x="11" y="13"/>
                    <a:pt x="11" y="11"/>
                    <a:pt x="11" y="10"/>
                  </a:cubicBezTo>
                  <a:cubicBezTo>
                    <a:pt x="12" y="8"/>
                    <a:pt x="12" y="7"/>
                    <a:pt x="13" y="6"/>
                  </a:cubicBezTo>
                  <a:cubicBezTo>
                    <a:pt x="14" y="5"/>
                    <a:pt x="15" y="4"/>
                    <a:pt x="16" y="3"/>
                  </a:cubicBezTo>
                  <a:cubicBezTo>
                    <a:pt x="17" y="2"/>
                    <a:pt x="18" y="1"/>
                    <a:pt x="19" y="1"/>
                  </a:cubicBezTo>
                  <a:cubicBezTo>
                    <a:pt x="20" y="0"/>
                    <a:pt x="21" y="0"/>
                    <a:pt x="21" y="0"/>
                  </a:cubicBezTo>
                  <a:cubicBezTo>
                    <a:pt x="22" y="0"/>
                    <a:pt x="23" y="0"/>
                    <a:pt x="24" y="0"/>
                  </a:cubicBezTo>
                  <a:close/>
                  <a:moveTo>
                    <a:pt x="24" y="0"/>
                  </a:moveTo>
                  <a:cubicBezTo>
                    <a:pt x="24" y="0"/>
                    <a:pt x="24" y="0"/>
                    <a:pt x="24"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36" name="AutoShape 5"/>
          <p:cNvSpPr>
            <a:spLocks noChangeArrowheads="1"/>
          </p:cNvSpPr>
          <p:nvPr/>
        </p:nvSpPr>
        <p:spPr bwMode="auto">
          <a:xfrm>
            <a:off x="2090455" y="922119"/>
            <a:ext cx="1152128"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kern="0" dirty="0">
                <a:solidFill>
                  <a:schemeClr val="bg1"/>
                </a:solidFill>
                <a:latin typeface="+mn-ea"/>
                <a:ea typeface="+mn-ea"/>
              </a:rPr>
              <a:t>循环</a:t>
            </a:r>
            <a:r>
              <a:rPr lang="zh-CN" altLang="zh-CN" sz="1600" kern="0" dirty="0">
                <a:solidFill>
                  <a:schemeClr val="bg1"/>
                </a:solidFill>
                <a:latin typeface="+mn-ea"/>
                <a:ea typeface="+mn-ea"/>
              </a:rPr>
              <a:t>条件</a:t>
            </a:r>
            <a:endParaRPr lang="zh-CN" altLang="en-US" sz="1600" kern="0" dirty="0">
              <a:solidFill>
                <a:schemeClr val="bg1"/>
              </a:solidFill>
              <a:latin typeface="+mn-ea"/>
              <a:ea typeface="+mn-ea"/>
            </a:endParaRPr>
          </a:p>
        </p:txBody>
      </p:sp>
      <p:sp>
        <p:nvSpPr>
          <p:cNvPr id="37" name="Line 15"/>
          <p:cNvSpPr>
            <a:spLocks noChangeShapeType="1"/>
          </p:cNvSpPr>
          <p:nvPr/>
        </p:nvSpPr>
        <p:spPr bwMode="auto">
          <a:xfrm flipV="1">
            <a:off x="1583686" y="1357304"/>
            <a:ext cx="428628" cy="198592"/>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38" name="AutoShape 5"/>
          <p:cNvSpPr>
            <a:spLocks noChangeArrowheads="1"/>
          </p:cNvSpPr>
          <p:nvPr/>
        </p:nvSpPr>
        <p:spPr bwMode="auto">
          <a:xfrm>
            <a:off x="2237096" y="2546023"/>
            <a:ext cx="1005205"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kern="0" dirty="0">
                <a:solidFill>
                  <a:schemeClr val="bg1"/>
                </a:solidFill>
                <a:latin typeface="+mn-ea"/>
                <a:ea typeface="+mn-ea"/>
              </a:rPr>
              <a:t>循环体</a:t>
            </a:r>
            <a:endParaRPr lang="zh-CN" altLang="en-US" sz="1600" kern="0" dirty="0">
              <a:solidFill>
                <a:schemeClr val="bg1"/>
              </a:solidFill>
              <a:latin typeface="+mn-ea"/>
              <a:ea typeface="+mn-ea"/>
            </a:endParaRPr>
          </a:p>
        </p:txBody>
      </p:sp>
      <p:sp>
        <p:nvSpPr>
          <p:cNvPr id="39" name="Line 15"/>
          <p:cNvSpPr>
            <a:spLocks noChangeShapeType="1"/>
          </p:cNvSpPr>
          <p:nvPr/>
        </p:nvSpPr>
        <p:spPr bwMode="auto">
          <a:xfrm flipV="1">
            <a:off x="2695896" y="2275833"/>
            <a:ext cx="416547" cy="270030"/>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left)">
                                      <p:cBhvr>
                                        <p:cTn id="10" dur="500"/>
                                        <p:tgtEl>
                                          <p:spTgt spid="3">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left)">
                                      <p:cBhvr>
                                        <p:cTn id="13" dur="500"/>
                                        <p:tgtEl>
                                          <p:spTgt spid="3">
                                            <p:txEl>
                                              <p:pRg st="5" end="5"/>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left)">
                                      <p:cBhvr>
                                        <p:cTn id="16" dur="500"/>
                                        <p:tgtEl>
                                          <p:spTgt spid="3">
                                            <p:txEl>
                                              <p:pRg st="6" end="6"/>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left)">
                                      <p:cBhvr>
                                        <p:cTn id="27" dur="500"/>
                                        <p:tgtEl>
                                          <p:spTgt spid="30"/>
                                        </p:tgtEl>
                                      </p:cBhvr>
                                    </p:animEffect>
                                  </p:childTnLst>
                                </p:cTn>
                              </p:par>
                            </p:childTnLst>
                          </p:cTn>
                        </p:par>
                        <p:par>
                          <p:cTn id="28" fill="hold">
                            <p:stCondLst>
                              <p:cond delay="1500"/>
                            </p:stCondLst>
                            <p:childTnLst>
                              <p:par>
                                <p:cTn id="29" presetID="22" presetClass="entr" presetSubtype="8"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wipe(left)">
                                      <p:cBhvr>
                                        <p:cTn id="35" dur="500"/>
                                        <p:tgtEl>
                                          <p:spTgt spid="36"/>
                                        </p:tgtEl>
                                      </p:cBhvr>
                                    </p:animEffect>
                                  </p:childTnLst>
                                </p:cTn>
                              </p:par>
                            </p:childTnLst>
                          </p:cTn>
                        </p:par>
                        <p:par>
                          <p:cTn id="36" fill="hold">
                            <p:stCondLst>
                              <p:cond delay="2500"/>
                            </p:stCondLst>
                            <p:childTnLst>
                              <p:par>
                                <p:cTn id="37" presetID="22" presetClass="entr" presetSubtype="8" fill="hold"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3000"/>
                            </p:stCondLst>
                            <p:childTnLst>
                              <p:par>
                                <p:cTn id="41" presetID="22" presetClass="entr" presetSubtype="8" fill="hold" grpId="0"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bldLvl="0" animBg="1"/>
      <p:bldP spid="36" grpId="0" bldLvl="0" animBg="1"/>
      <p:bldP spid="3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9332"/>
          </a:xfrm>
          <a:prstGeom prst="rect">
            <a:avLst/>
          </a:prstGeom>
          <a:noFill/>
        </p:spPr>
        <p:txBody>
          <a:bodyPr wrap="square">
            <a:spAutoFit/>
          </a:bodyPr>
          <a:lstStyle/>
          <a:p>
            <a:pPr algn="r"/>
            <a:r>
              <a:rPr lang="en-US" altLang="zh-CN" b="0" dirty="0" err="1">
                <a:solidFill>
                  <a:srgbClr val="0070C0"/>
                </a:solidFill>
                <a:latin typeface="+mj-ea"/>
              </a:rPr>
              <a:t>while循环</a:t>
            </a:r>
            <a:r>
              <a:rPr lang="zh-CN" altLang="en-US" b="0" dirty="0">
                <a:solidFill>
                  <a:srgbClr val="0070C0"/>
                </a:solidFill>
                <a:latin typeface="+mj-ea"/>
              </a:rPr>
              <a:t>案例</a:t>
            </a:r>
            <a:r>
              <a:rPr lang="zh-CN" altLang="zh-CN" b="0" dirty="0">
                <a:solidFill>
                  <a:srgbClr val="0070C0"/>
                </a:solidFill>
                <a:latin typeface="+mj-ea"/>
              </a:rPr>
              <a:t> </a:t>
            </a:r>
            <a:endParaRPr lang="zh-CN" altLang="en-US" b="0" dirty="0">
              <a:solidFill>
                <a:srgbClr val="0070C0"/>
              </a:solidFill>
              <a:latin typeface="+mj-ea"/>
            </a:endParaRPr>
          </a:p>
        </p:txBody>
      </p:sp>
      <p:sp>
        <p:nvSpPr>
          <p:cNvPr id="3" name="内容占位符 2"/>
          <p:cNvSpPr>
            <a:spLocks noGrp="1"/>
          </p:cNvSpPr>
          <p:nvPr>
            <p:ph idx="1"/>
          </p:nvPr>
        </p:nvSpPr>
        <p:spPr>
          <a:prstGeom prst="rect">
            <a:avLst/>
          </a:prstGeom>
        </p:spPr>
        <p:txBody>
          <a:bodyPr/>
          <a:lstStyle/>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a:t>
            </a:r>
            <a:r>
              <a:rPr lang="zh-CN" altLang="en-US" sz="2000" dirty="0">
                <a:solidFill>
                  <a:schemeClr val="tx1">
                    <a:lumMod val="75000"/>
                    <a:lumOff val="25000"/>
                  </a:schemeClr>
                </a:solidFill>
                <a:latin typeface="+mn-ea"/>
              </a:rPr>
              <a:t>到</a:t>
            </a:r>
            <a:r>
              <a:rPr lang="en-US" altLang="zh-CN" sz="2000" dirty="0">
                <a:solidFill>
                  <a:schemeClr val="tx1">
                    <a:lumMod val="75000"/>
                    <a:lumOff val="25000"/>
                  </a:schemeClr>
                </a:solidFill>
                <a:latin typeface="+mn-ea"/>
              </a:rPr>
              <a:t>100</a:t>
            </a:r>
            <a:r>
              <a:rPr lang="zh-CN" altLang="en-US" sz="2000" dirty="0">
                <a:solidFill>
                  <a:schemeClr val="tx1">
                    <a:lumMod val="75000"/>
                    <a:lumOff val="25000"/>
                  </a:schemeClr>
                </a:solidFill>
                <a:latin typeface="+mn-ea"/>
              </a:rPr>
              <a:t>的总和</a:t>
            </a:r>
            <a:endParaRPr lang="zh-CN" altLang="en-US" sz="2000" dirty="0">
              <a:solidFill>
                <a:schemeClr val="tx1">
                  <a:lumMod val="75000"/>
                  <a:lumOff val="25000"/>
                </a:schemeClr>
              </a:solidFill>
              <a:latin typeface="+mn-ea"/>
            </a:endParaRPr>
          </a:p>
        </p:txBody>
      </p:sp>
      <p:sp>
        <p:nvSpPr>
          <p:cNvPr id="5" name="副标题 4"/>
          <p:cNvSpPr>
            <a:spLocks noGrp="1"/>
          </p:cNvSpPr>
          <p:nvPr>
            <p:ph type="subTitle" idx="10"/>
          </p:nvPr>
        </p:nvSpPr>
        <p:spPr/>
        <p:txBody>
          <a:bodyPr/>
          <a:lstStyle/>
          <a:p>
            <a:r>
              <a:rPr lang="zh-CN" altLang="en-US" dirty="0"/>
              <a:t>案例</a:t>
            </a:r>
            <a:endParaRPr lang="zh-CN" altLang="en-US" dirty="0"/>
          </a:p>
        </p:txBody>
      </p:sp>
      <p:sp>
        <p:nvSpPr>
          <p:cNvPr id="10" name="TextBox 9"/>
          <p:cNvSpPr txBox="1"/>
          <p:nvPr/>
        </p:nvSpPr>
        <p:spPr>
          <a:xfrm>
            <a:off x="467544" y="1857370"/>
            <a:ext cx="1005403"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rtlCol="0">
            <a:spAutoFit/>
          </a:bodyPr>
          <a:lstStyle>
            <a:defPPr>
              <a:defRPr lang="en-US"/>
            </a:defPPr>
            <a:lvl1pPr>
              <a:defRPr sz="1600" b="1">
                <a:solidFill>
                  <a:srgbClr val="0070C0"/>
                </a:solidFill>
                <a:latin typeface="+mn-ea"/>
                <a:ea typeface="+mn-ea"/>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pPr>
              <a:buNone/>
            </a:pPr>
            <a:r>
              <a:rPr lang="zh-CN" altLang="en-US" dirty="0"/>
              <a:t>思路分析</a:t>
            </a:r>
            <a:endParaRPr lang="zh-CN" altLang="en-US" dirty="0"/>
          </a:p>
        </p:txBody>
      </p:sp>
      <p:sp>
        <p:nvSpPr>
          <p:cNvPr id="8" name="Rectangle 6"/>
          <p:cNvSpPr>
            <a:spLocks noChangeArrowheads="1"/>
          </p:cNvSpPr>
          <p:nvPr/>
        </p:nvSpPr>
        <p:spPr bwMode="auto">
          <a:xfrm>
            <a:off x="0" y="44719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内容占位符 2"/>
          <p:cNvSpPr txBox="1"/>
          <p:nvPr/>
        </p:nvSpPr>
        <p:spPr>
          <a:xfrm>
            <a:off x="310180" y="2171878"/>
            <a:ext cx="8119472" cy="1642010"/>
          </a:xfrm>
          <a:prstGeom prst="rect">
            <a:avLst/>
          </a:prstGeom>
        </p:spPr>
        <p:txBody>
          <a:bodyPr/>
          <a:lstStyle>
            <a:lvl1pPr marL="342265" indent="-342265" algn="l" rtl="0" eaLnBrk="0" fontAlgn="base" hangingPunct="0">
              <a:lnSpc>
                <a:spcPct val="90000"/>
              </a:lnSpc>
              <a:spcBef>
                <a:spcPts val="1000"/>
              </a:spcBef>
              <a:spcAft>
                <a:spcPct val="0"/>
              </a:spcAft>
              <a:buClr>
                <a:srgbClr val="0070C0"/>
              </a:buClr>
              <a:buSzPct val="100000"/>
              <a:buFont typeface="Wingdings" panose="05000000000000000000" pitchFamily="2" charset="2"/>
              <a:buChar char="n"/>
              <a:defRPr sz="2600" b="1" kern="1200">
                <a:solidFill>
                  <a:schemeClr val="tx1"/>
                </a:solidFill>
                <a:latin typeface="+mn-lt"/>
                <a:ea typeface="+mn-ea"/>
                <a:cs typeface="+mn-cs"/>
                <a:sym typeface="Calibri" panose="020F0502020204030204" pitchFamily="34" charset="0"/>
              </a:defRPr>
            </a:lvl1pPr>
            <a:lvl2pPr marL="684530" indent="-342265" algn="l" rtl="0" eaLnBrk="0" fontAlgn="base" hangingPunct="0">
              <a:lnSpc>
                <a:spcPct val="90000"/>
              </a:lnSpc>
              <a:spcBef>
                <a:spcPts val="500"/>
              </a:spcBef>
              <a:spcAft>
                <a:spcPct val="0"/>
              </a:spcAft>
              <a:buClr>
                <a:srgbClr val="0070C0"/>
              </a:buClr>
              <a:buSzPct val="100000"/>
              <a:buFont typeface="Wingdings" panose="05000000000000000000" pitchFamily="2" charset="2"/>
              <a:buChar char="u"/>
              <a:defRPr sz="2400" b="1"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Clr>
                <a:srgbClr val="0E9CDE"/>
              </a:buClr>
              <a:buSzPct val="85000"/>
              <a:buFont typeface="Wingdings" panose="05000000000000000000" pitchFamily="2" charset="2"/>
              <a:buChar char="Ø"/>
              <a:defRPr sz="2000" b="1"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sz="1800" b="1"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sz="1600" b="1"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330" indent="-227330">
              <a:lnSpc>
                <a:spcPts val="2500"/>
              </a:lnSpc>
              <a:buClr>
                <a:schemeClr val="tx1"/>
              </a:buClr>
            </a:pPr>
            <a:r>
              <a:rPr lang="zh-CN" altLang="en-US" sz="2000" b="0" dirty="0">
                <a:solidFill>
                  <a:schemeClr val="tx1">
                    <a:lumMod val="75000"/>
                    <a:lumOff val="25000"/>
                  </a:schemeClr>
                </a:solidFill>
                <a:latin typeface="+mn-ea"/>
              </a:rPr>
              <a:t>确定是否属于反复执行的问题</a:t>
            </a:r>
            <a:endParaRPr lang="zh-CN" altLang="en-US" sz="2000" b="0" dirty="0">
              <a:solidFill>
                <a:schemeClr val="tx1">
                  <a:lumMod val="75000"/>
                  <a:lumOff val="25000"/>
                </a:schemeClr>
              </a:solidFill>
              <a:latin typeface="+mn-ea"/>
            </a:endParaRPr>
          </a:p>
          <a:p>
            <a:pPr marL="227330" indent="-227330">
              <a:lnSpc>
                <a:spcPts val="2500"/>
              </a:lnSpc>
              <a:buClr>
                <a:schemeClr val="tx1"/>
              </a:buClr>
            </a:pPr>
            <a:r>
              <a:rPr lang="zh-CN" altLang="en-US" sz="2000" b="0" dirty="0">
                <a:solidFill>
                  <a:schemeClr val="tx1">
                    <a:lumMod val="75000"/>
                    <a:lumOff val="25000"/>
                  </a:schemeClr>
                </a:solidFill>
                <a:latin typeface="+mn-ea"/>
              </a:rPr>
              <a:t>确定循环变量、循环条件和循环体</a:t>
            </a:r>
            <a:endParaRPr lang="zh-CN" altLang="en-US" sz="2000" b="0" dirty="0">
              <a:solidFill>
                <a:schemeClr val="tx1">
                  <a:lumMod val="75000"/>
                  <a:lumOff val="25000"/>
                </a:schemeClr>
              </a:solidFill>
              <a:latin typeface="+mn-ea"/>
            </a:endParaRPr>
          </a:p>
          <a:p>
            <a:pPr marL="227330" indent="-227330">
              <a:lnSpc>
                <a:spcPts val="2500"/>
              </a:lnSpc>
              <a:buClr>
                <a:schemeClr val="tx1"/>
              </a:buClr>
            </a:pPr>
            <a:r>
              <a:rPr lang="zh-CN" altLang="en-US" sz="2000" b="0" dirty="0">
                <a:solidFill>
                  <a:schemeClr val="tx1">
                    <a:lumMod val="75000"/>
                    <a:lumOff val="25000"/>
                  </a:schemeClr>
                </a:solidFill>
                <a:latin typeface="+mn-ea"/>
              </a:rPr>
              <a:t>画出流程图</a:t>
            </a:r>
            <a:endParaRPr lang="zh-CN" altLang="en-US" sz="2000" b="0" dirty="0">
              <a:solidFill>
                <a:schemeClr val="tx1">
                  <a:lumMod val="75000"/>
                  <a:lumOff val="25000"/>
                </a:schemeClr>
              </a:solidFill>
              <a:latin typeface="+mn-ea"/>
            </a:endParaRPr>
          </a:p>
          <a:p>
            <a:pPr marL="227330" indent="-227330">
              <a:lnSpc>
                <a:spcPts val="2500"/>
              </a:lnSpc>
              <a:buClr>
                <a:schemeClr val="tx1"/>
              </a:buClr>
            </a:pPr>
            <a:r>
              <a:rPr lang="zh-CN" altLang="en-US" sz="2000" b="0" dirty="0">
                <a:solidFill>
                  <a:schemeClr val="tx1">
                    <a:lumMod val="75000"/>
                    <a:lumOff val="25000"/>
                  </a:schemeClr>
                </a:solidFill>
                <a:latin typeface="+mn-ea"/>
              </a:rPr>
              <a:t>套用</a:t>
            </a:r>
            <a:r>
              <a:rPr lang="en-US" altLang="zh-CN" sz="2000" b="0" dirty="0">
                <a:solidFill>
                  <a:schemeClr val="tx1">
                    <a:lumMod val="75000"/>
                    <a:lumOff val="25000"/>
                  </a:schemeClr>
                </a:solidFill>
                <a:latin typeface="+mn-ea"/>
              </a:rPr>
              <a:t>while</a:t>
            </a:r>
            <a:r>
              <a:rPr lang="zh-CN" altLang="en-US" sz="2000" b="0" dirty="0">
                <a:solidFill>
                  <a:schemeClr val="tx1">
                    <a:lumMod val="75000"/>
                    <a:lumOff val="25000"/>
                  </a:schemeClr>
                </a:solidFill>
                <a:latin typeface="+mn-ea"/>
              </a:rPr>
              <a:t>语法写出代码</a:t>
            </a:r>
            <a:endParaRPr lang="zh-CN" altLang="en-US" sz="2000" b="0" dirty="0">
              <a:solidFill>
                <a:schemeClr val="tx1">
                  <a:lumMod val="75000"/>
                  <a:lumOff val="25000"/>
                </a:schemeClr>
              </a:solidFill>
              <a:latin typeface="+mn-ea"/>
            </a:endParaRPr>
          </a:p>
        </p:txBody>
      </p:sp>
      <p:grpSp>
        <p:nvGrpSpPr>
          <p:cNvPr id="4" name="Group 31"/>
          <p:cNvGrpSpPr>
            <a:grpSpLocks noChangeAspect="1"/>
          </p:cNvGrpSpPr>
          <p:nvPr/>
        </p:nvGrpSpPr>
        <p:grpSpPr bwMode="auto">
          <a:xfrm>
            <a:off x="220716" y="838676"/>
            <a:ext cx="216610" cy="162678"/>
            <a:chOff x="2511" y="1251"/>
            <a:chExt cx="739" cy="740"/>
          </a:xfrm>
        </p:grpSpPr>
        <p:sp>
          <p:nvSpPr>
            <p:cNvPr id="14" name="AutoShape 30"/>
            <p:cNvSpPr>
              <a:spLocks noChangeAspect="1" noChangeArrowheads="1" noTextEdit="1"/>
            </p:cNvSpPr>
            <p:nvPr/>
          </p:nvSpPr>
          <p:spPr bwMode="auto">
            <a:xfrm>
              <a:off x="2511" y="1251"/>
              <a:ext cx="737" cy="737"/>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15" name="Freeform 32"/>
            <p:cNvSpPr>
              <a:spLocks noEditPoints="1"/>
            </p:cNvSpPr>
            <p:nvPr/>
          </p:nvSpPr>
          <p:spPr bwMode="auto">
            <a:xfrm>
              <a:off x="2513" y="1254"/>
              <a:ext cx="737" cy="737"/>
            </a:xfrm>
            <a:custGeom>
              <a:avLst/>
              <a:gdLst/>
              <a:ahLst/>
              <a:cxnLst>
                <a:cxn ang="0">
                  <a:pos x="156" y="0"/>
                </a:cxn>
                <a:cxn ang="0">
                  <a:pos x="0" y="156"/>
                </a:cxn>
                <a:cxn ang="0">
                  <a:pos x="156" y="312"/>
                </a:cxn>
                <a:cxn ang="0">
                  <a:pos x="312" y="156"/>
                </a:cxn>
                <a:cxn ang="0">
                  <a:pos x="156" y="0"/>
                </a:cxn>
                <a:cxn ang="0">
                  <a:pos x="172" y="223"/>
                </a:cxn>
                <a:cxn ang="0">
                  <a:pos x="172" y="252"/>
                </a:cxn>
                <a:cxn ang="0">
                  <a:pos x="137" y="252"/>
                </a:cxn>
                <a:cxn ang="0">
                  <a:pos x="137" y="217"/>
                </a:cxn>
                <a:cxn ang="0">
                  <a:pos x="172" y="217"/>
                </a:cxn>
                <a:cxn ang="0">
                  <a:pos x="172" y="223"/>
                </a:cxn>
                <a:cxn ang="0">
                  <a:pos x="214" y="128"/>
                </a:cxn>
                <a:cxn ang="0">
                  <a:pos x="192" y="153"/>
                </a:cxn>
                <a:cxn ang="0">
                  <a:pos x="173" y="175"/>
                </a:cxn>
                <a:cxn ang="0">
                  <a:pos x="170" y="197"/>
                </a:cxn>
                <a:cxn ang="0">
                  <a:pos x="170" y="204"/>
                </a:cxn>
                <a:cxn ang="0">
                  <a:pos x="137" y="204"/>
                </a:cxn>
                <a:cxn ang="0">
                  <a:pos x="138" y="197"/>
                </a:cxn>
                <a:cxn ang="0">
                  <a:pos x="143" y="168"/>
                </a:cxn>
                <a:cxn ang="0">
                  <a:pos x="165" y="138"/>
                </a:cxn>
                <a:cxn ang="0">
                  <a:pos x="184" y="116"/>
                </a:cxn>
                <a:cxn ang="0">
                  <a:pos x="187" y="103"/>
                </a:cxn>
                <a:cxn ang="0">
                  <a:pos x="179" y="83"/>
                </a:cxn>
                <a:cxn ang="0">
                  <a:pos x="156" y="75"/>
                </a:cxn>
                <a:cxn ang="0">
                  <a:pos x="123" y="113"/>
                </a:cxn>
                <a:cxn ang="0">
                  <a:pos x="122" y="119"/>
                </a:cxn>
                <a:cxn ang="0">
                  <a:pos x="92" y="119"/>
                </a:cxn>
                <a:cxn ang="0">
                  <a:pos x="92" y="112"/>
                </a:cxn>
                <a:cxn ang="0">
                  <a:pos x="97" y="83"/>
                </a:cxn>
                <a:cxn ang="0">
                  <a:pos x="111" y="64"/>
                </a:cxn>
                <a:cxn ang="0">
                  <a:pos x="133" y="51"/>
                </a:cxn>
                <a:cxn ang="0">
                  <a:pos x="157" y="47"/>
                </a:cxn>
                <a:cxn ang="0">
                  <a:pos x="202" y="62"/>
                </a:cxn>
                <a:cxn ang="0">
                  <a:pos x="219" y="104"/>
                </a:cxn>
                <a:cxn ang="0">
                  <a:pos x="214" y="128"/>
                </a:cxn>
                <a:cxn ang="0">
                  <a:pos x="214" y="128"/>
                </a:cxn>
                <a:cxn ang="0">
                  <a:pos x="214" y="128"/>
                </a:cxn>
              </a:cxnLst>
              <a:rect l="0" t="0" r="r" b="b"/>
              <a:pathLst>
                <a:path w="312" h="312">
                  <a:moveTo>
                    <a:pt x="156" y="0"/>
                  </a:moveTo>
                  <a:cubicBezTo>
                    <a:pt x="70" y="0"/>
                    <a:pt x="0" y="70"/>
                    <a:pt x="0" y="156"/>
                  </a:cubicBezTo>
                  <a:cubicBezTo>
                    <a:pt x="0" y="242"/>
                    <a:pt x="70" y="312"/>
                    <a:pt x="156" y="312"/>
                  </a:cubicBezTo>
                  <a:cubicBezTo>
                    <a:pt x="242" y="312"/>
                    <a:pt x="312" y="242"/>
                    <a:pt x="312" y="156"/>
                  </a:cubicBezTo>
                  <a:cubicBezTo>
                    <a:pt x="312" y="70"/>
                    <a:pt x="242" y="0"/>
                    <a:pt x="156" y="0"/>
                  </a:cubicBezTo>
                  <a:close/>
                  <a:moveTo>
                    <a:pt x="172" y="223"/>
                  </a:moveTo>
                  <a:cubicBezTo>
                    <a:pt x="172" y="252"/>
                    <a:pt x="172" y="252"/>
                    <a:pt x="172" y="252"/>
                  </a:cubicBezTo>
                  <a:cubicBezTo>
                    <a:pt x="137" y="252"/>
                    <a:pt x="137" y="252"/>
                    <a:pt x="137" y="252"/>
                  </a:cubicBezTo>
                  <a:cubicBezTo>
                    <a:pt x="137" y="217"/>
                    <a:pt x="137" y="217"/>
                    <a:pt x="137" y="217"/>
                  </a:cubicBezTo>
                  <a:cubicBezTo>
                    <a:pt x="172" y="217"/>
                    <a:pt x="172" y="217"/>
                    <a:pt x="172" y="217"/>
                  </a:cubicBezTo>
                  <a:lnTo>
                    <a:pt x="172" y="223"/>
                  </a:lnTo>
                  <a:close/>
                  <a:moveTo>
                    <a:pt x="214" y="128"/>
                  </a:moveTo>
                  <a:cubicBezTo>
                    <a:pt x="210" y="134"/>
                    <a:pt x="203" y="143"/>
                    <a:pt x="192" y="153"/>
                  </a:cubicBezTo>
                  <a:cubicBezTo>
                    <a:pt x="181" y="163"/>
                    <a:pt x="175" y="171"/>
                    <a:pt x="173" y="175"/>
                  </a:cubicBezTo>
                  <a:cubicBezTo>
                    <a:pt x="171" y="179"/>
                    <a:pt x="170" y="186"/>
                    <a:pt x="170" y="197"/>
                  </a:cubicBezTo>
                  <a:cubicBezTo>
                    <a:pt x="170" y="204"/>
                    <a:pt x="170" y="204"/>
                    <a:pt x="170" y="204"/>
                  </a:cubicBezTo>
                  <a:cubicBezTo>
                    <a:pt x="137" y="204"/>
                    <a:pt x="137" y="204"/>
                    <a:pt x="137" y="204"/>
                  </a:cubicBezTo>
                  <a:cubicBezTo>
                    <a:pt x="138" y="197"/>
                    <a:pt x="138" y="197"/>
                    <a:pt x="138" y="197"/>
                  </a:cubicBezTo>
                  <a:cubicBezTo>
                    <a:pt x="138" y="186"/>
                    <a:pt x="140" y="176"/>
                    <a:pt x="143" y="168"/>
                  </a:cubicBezTo>
                  <a:cubicBezTo>
                    <a:pt x="147" y="159"/>
                    <a:pt x="154" y="150"/>
                    <a:pt x="165" y="138"/>
                  </a:cubicBezTo>
                  <a:cubicBezTo>
                    <a:pt x="175" y="128"/>
                    <a:pt x="182" y="120"/>
                    <a:pt x="184" y="116"/>
                  </a:cubicBezTo>
                  <a:cubicBezTo>
                    <a:pt x="186" y="113"/>
                    <a:pt x="187" y="108"/>
                    <a:pt x="187" y="103"/>
                  </a:cubicBezTo>
                  <a:cubicBezTo>
                    <a:pt x="187" y="94"/>
                    <a:pt x="185" y="88"/>
                    <a:pt x="179" y="83"/>
                  </a:cubicBezTo>
                  <a:cubicBezTo>
                    <a:pt x="174" y="78"/>
                    <a:pt x="166" y="75"/>
                    <a:pt x="156" y="75"/>
                  </a:cubicBezTo>
                  <a:cubicBezTo>
                    <a:pt x="136" y="75"/>
                    <a:pt x="125" y="87"/>
                    <a:pt x="123" y="113"/>
                  </a:cubicBezTo>
                  <a:cubicBezTo>
                    <a:pt x="122" y="119"/>
                    <a:pt x="122" y="119"/>
                    <a:pt x="122" y="119"/>
                  </a:cubicBezTo>
                  <a:cubicBezTo>
                    <a:pt x="92" y="119"/>
                    <a:pt x="92" y="119"/>
                    <a:pt x="92" y="119"/>
                  </a:cubicBezTo>
                  <a:cubicBezTo>
                    <a:pt x="92" y="112"/>
                    <a:pt x="92" y="112"/>
                    <a:pt x="92" y="112"/>
                  </a:cubicBezTo>
                  <a:cubicBezTo>
                    <a:pt x="92" y="100"/>
                    <a:pt x="94" y="91"/>
                    <a:pt x="97" y="83"/>
                  </a:cubicBezTo>
                  <a:cubicBezTo>
                    <a:pt x="99" y="76"/>
                    <a:pt x="104" y="70"/>
                    <a:pt x="111" y="64"/>
                  </a:cubicBezTo>
                  <a:cubicBezTo>
                    <a:pt x="117" y="58"/>
                    <a:pt x="125" y="54"/>
                    <a:pt x="133" y="51"/>
                  </a:cubicBezTo>
                  <a:cubicBezTo>
                    <a:pt x="141" y="48"/>
                    <a:pt x="149" y="47"/>
                    <a:pt x="157" y="47"/>
                  </a:cubicBezTo>
                  <a:cubicBezTo>
                    <a:pt x="175" y="47"/>
                    <a:pt x="190" y="52"/>
                    <a:pt x="202" y="62"/>
                  </a:cubicBezTo>
                  <a:cubicBezTo>
                    <a:pt x="213" y="73"/>
                    <a:pt x="219" y="87"/>
                    <a:pt x="219" y="104"/>
                  </a:cubicBezTo>
                  <a:cubicBezTo>
                    <a:pt x="219" y="113"/>
                    <a:pt x="218" y="121"/>
                    <a:pt x="214" y="128"/>
                  </a:cubicBezTo>
                  <a:close/>
                  <a:moveTo>
                    <a:pt x="214" y="128"/>
                  </a:moveTo>
                  <a:cubicBezTo>
                    <a:pt x="214" y="128"/>
                    <a:pt x="214" y="128"/>
                    <a:pt x="214" y="128"/>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grpSp>
        <p:nvGrpSpPr>
          <p:cNvPr id="6" name="组合 15"/>
          <p:cNvGrpSpPr/>
          <p:nvPr/>
        </p:nvGrpSpPr>
        <p:grpSpPr>
          <a:xfrm>
            <a:off x="275951" y="1927620"/>
            <a:ext cx="266286" cy="196385"/>
            <a:chOff x="6958806" y="1361331"/>
            <a:chExt cx="285751" cy="280987"/>
          </a:xfrm>
        </p:grpSpPr>
        <p:sp>
          <p:nvSpPr>
            <p:cNvPr id="17" name="Oval 30"/>
            <p:cNvSpPr>
              <a:spLocks noChangeArrowheads="1"/>
            </p:cNvSpPr>
            <p:nvPr/>
          </p:nvSpPr>
          <p:spPr bwMode="auto">
            <a:xfrm>
              <a:off x="7015956" y="1421656"/>
              <a:ext cx="168275" cy="168275"/>
            </a:xfrm>
            <a:prstGeom prst="ellipse">
              <a:avLst/>
            </a:prstGeom>
            <a:solidFill>
              <a:srgbClr val="0070C0"/>
            </a:solidFill>
            <a:ln w="9525">
              <a:noFill/>
              <a:round/>
            </a:ln>
          </p:spPr>
          <p:txBody>
            <a:bodyPr vert="horz" wrap="square" lIns="91440" tIns="45720" rIns="91440" bIns="45720" numCol="1" anchor="t" anchorCtr="0" compatLnSpc="1"/>
            <a:lstStyle/>
            <a:p>
              <a:endParaRPr lang="zh-CN" altLang="en-US"/>
            </a:p>
          </p:txBody>
        </p:sp>
        <p:sp>
          <p:nvSpPr>
            <p:cNvPr id="18" name="Rectangle 31"/>
            <p:cNvSpPr>
              <a:spLocks noChangeArrowheads="1"/>
            </p:cNvSpPr>
            <p:nvPr/>
          </p:nvSpPr>
          <p:spPr bwMode="auto">
            <a:xfrm>
              <a:off x="7074694" y="1597868"/>
              <a:ext cx="57150" cy="19050"/>
            </a:xfrm>
            <a:prstGeom prst="rect">
              <a:avLst/>
            </a:prstGeom>
            <a:solidFill>
              <a:srgbClr val="0070C0"/>
            </a:solidFill>
            <a:ln w="9525">
              <a:noFill/>
              <a:miter lim="800000"/>
            </a:ln>
          </p:spPr>
          <p:txBody>
            <a:bodyPr vert="horz" wrap="square" lIns="91440" tIns="45720" rIns="91440" bIns="45720" numCol="1" anchor="t" anchorCtr="0" compatLnSpc="1"/>
            <a:lstStyle/>
            <a:p>
              <a:endParaRPr lang="zh-CN" altLang="en-US"/>
            </a:p>
          </p:txBody>
        </p:sp>
        <p:sp>
          <p:nvSpPr>
            <p:cNvPr id="19" name="Rectangle 32"/>
            <p:cNvSpPr>
              <a:spLocks noChangeArrowheads="1"/>
            </p:cNvSpPr>
            <p:nvPr/>
          </p:nvSpPr>
          <p:spPr bwMode="auto">
            <a:xfrm>
              <a:off x="7085806" y="1620093"/>
              <a:ext cx="34925" cy="22225"/>
            </a:xfrm>
            <a:prstGeom prst="rect">
              <a:avLst/>
            </a:prstGeom>
            <a:solidFill>
              <a:srgbClr val="0070C0"/>
            </a:solidFill>
            <a:ln w="9525">
              <a:noFill/>
              <a:miter lim="800000"/>
            </a:ln>
          </p:spPr>
          <p:txBody>
            <a:bodyPr vert="horz" wrap="square" lIns="91440" tIns="45720" rIns="91440" bIns="45720" numCol="1" anchor="t" anchorCtr="0" compatLnSpc="1"/>
            <a:lstStyle/>
            <a:p>
              <a:endParaRPr lang="zh-CN" altLang="en-US"/>
            </a:p>
          </p:txBody>
        </p:sp>
        <p:sp>
          <p:nvSpPr>
            <p:cNvPr id="20" name="Rectangle 33"/>
            <p:cNvSpPr>
              <a:spLocks noChangeArrowheads="1"/>
            </p:cNvSpPr>
            <p:nvPr/>
          </p:nvSpPr>
          <p:spPr bwMode="auto">
            <a:xfrm>
              <a:off x="7090569" y="1361331"/>
              <a:ext cx="22225" cy="44450"/>
            </a:xfrm>
            <a:prstGeom prst="rect">
              <a:avLst/>
            </a:prstGeom>
            <a:solidFill>
              <a:srgbClr val="0070C0"/>
            </a:solidFill>
            <a:ln w="9525">
              <a:noFill/>
              <a:miter lim="800000"/>
            </a:ln>
          </p:spPr>
          <p:txBody>
            <a:bodyPr vert="horz" wrap="square" lIns="91440" tIns="45720" rIns="91440" bIns="45720" numCol="1" anchor="t" anchorCtr="0" compatLnSpc="1"/>
            <a:lstStyle/>
            <a:p>
              <a:endParaRPr lang="zh-CN" altLang="en-US"/>
            </a:p>
          </p:txBody>
        </p:sp>
        <p:sp>
          <p:nvSpPr>
            <p:cNvPr id="21" name="Rectangle 34"/>
            <p:cNvSpPr>
              <a:spLocks noChangeArrowheads="1"/>
            </p:cNvSpPr>
            <p:nvPr/>
          </p:nvSpPr>
          <p:spPr bwMode="auto">
            <a:xfrm>
              <a:off x="7198519" y="1470868"/>
              <a:ext cx="46038" cy="22225"/>
            </a:xfrm>
            <a:prstGeom prst="rect">
              <a:avLst/>
            </a:prstGeom>
            <a:solidFill>
              <a:srgbClr val="0070C0"/>
            </a:solidFill>
            <a:ln w="9525">
              <a:noFill/>
              <a:miter lim="800000"/>
            </a:ln>
          </p:spPr>
          <p:txBody>
            <a:bodyPr vert="horz" wrap="square" lIns="91440" tIns="45720" rIns="91440" bIns="45720" numCol="1" anchor="t" anchorCtr="0" compatLnSpc="1"/>
            <a:lstStyle/>
            <a:p>
              <a:endParaRPr lang="zh-CN" altLang="en-US"/>
            </a:p>
          </p:txBody>
        </p:sp>
        <p:sp>
          <p:nvSpPr>
            <p:cNvPr id="22" name="Rectangle 35"/>
            <p:cNvSpPr>
              <a:spLocks noChangeArrowheads="1"/>
            </p:cNvSpPr>
            <p:nvPr/>
          </p:nvSpPr>
          <p:spPr bwMode="auto">
            <a:xfrm>
              <a:off x="6958806" y="1470868"/>
              <a:ext cx="41275" cy="22225"/>
            </a:xfrm>
            <a:prstGeom prst="rect">
              <a:avLst/>
            </a:prstGeom>
            <a:solidFill>
              <a:srgbClr val="0070C0"/>
            </a:solidFill>
            <a:ln w="9525">
              <a:noFill/>
              <a:miter lim="800000"/>
            </a:ln>
          </p:spPr>
          <p:txBody>
            <a:bodyPr vert="horz" wrap="square" lIns="91440" tIns="45720" rIns="91440" bIns="45720" numCol="1" anchor="t" anchorCtr="0" compatLnSpc="1"/>
            <a:lstStyle/>
            <a:p>
              <a:endParaRPr lang="zh-CN" altLang="en-US"/>
            </a:p>
          </p:txBody>
        </p:sp>
        <p:sp>
          <p:nvSpPr>
            <p:cNvPr id="23" name="Freeform 36"/>
            <p:cNvSpPr/>
            <p:nvPr/>
          </p:nvSpPr>
          <p:spPr bwMode="auto">
            <a:xfrm>
              <a:off x="7008019" y="1402606"/>
              <a:ext cx="36513" cy="38100"/>
            </a:xfrm>
            <a:custGeom>
              <a:avLst/>
              <a:gdLst/>
              <a:ahLst/>
              <a:cxnLst>
                <a:cxn ang="0">
                  <a:pos x="0" y="12"/>
                </a:cxn>
                <a:cxn ang="0">
                  <a:pos x="12" y="0"/>
                </a:cxn>
                <a:cxn ang="0">
                  <a:pos x="23" y="12"/>
                </a:cxn>
                <a:cxn ang="0">
                  <a:pos x="12" y="24"/>
                </a:cxn>
                <a:cxn ang="0">
                  <a:pos x="0" y="12"/>
                </a:cxn>
              </a:cxnLst>
              <a:rect l="0" t="0" r="r" b="b"/>
              <a:pathLst>
                <a:path w="23" h="24">
                  <a:moveTo>
                    <a:pt x="0" y="12"/>
                  </a:moveTo>
                  <a:lnTo>
                    <a:pt x="12" y="0"/>
                  </a:lnTo>
                  <a:lnTo>
                    <a:pt x="23" y="12"/>
                  </a:lnTo>
                  <a:lnTo>
                    <a:pt x="12" y="24"/>
                  </a:lnTo>
                  <a:lnTo>
                    <a:pt x="0" y="12"/>
                  </a:lnTo>
                  <a:close/>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sp>
          <p:nvSpPr>
            <p:cNvPr id="24" name="Freeform 37"/>
            <p:cNvSpPr/>
            <p:nvPr/>
          </p:nvSpPr>
          <p:spPr bwMode="auto">
            <a:xfrm>
              <a:off x="7157244" y="1405781"/>
              <a:ext cx="38100" cy="34925"/>
            </a:xfrm>
            <a:custGeom>
              <a:avLst/>
              <a:gdLst/>
              <a:ahLst/>
              <a:cxnLst>
                <a:cxn ang="0">
                  <a:pos x="12" y="0"/>
                </a:cxn>
                <a:cxn ang="0">
                  <a:pos x="24" y="10"/>
                </a:cxn>
                <a:cxn ang="0">
                  <a:pos x="12" y="22"/>
                </a:cxn>
                <a:cxn ang="0">
                  <a:pos x="0" y="12"/>
                </a:cxn>
                <a:cxn ang="0">
                  <a:pos x="12" y="0"/>
                </a:cxn>
              </a:cxnLst>
              <a:rect l="0" t="0" r="r" b="b"/>
              <a:pathLst>
                <a:path w="24" h="22">
                  <a:moveTo>
                    <a:pt x="12" y="0"/>
                  </a:moveTo>
                  <a:lnTo>
                    <a:pt x="24" y="10"/>
                  </a:lnTo>
                  <a:lnTo>
                    <a:pt x="12" y="22"/>
                  </a:lnTo>
                  <a:lnTo>
                    <a:pt x="0" y="12"/>
                  </a:lnTo>
                  <a:lnTo>
                    <a:pt x="12" y="0"/>
                  </a:lnTo>
                  <a:close/>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3">
                                            <p:txEl>
                                              <p:pRg st="0" end="0"/>
                                            </p:txEl>
                                          </p:spTgt>
                                        </p:tgtEl>
                                        <p:attrNameLst>
                                          <p:attrName>style.visibility</p:attrName>
                                        </p:attrNameLst>
                                      </p:cBhvr>
                                      <p:to>
                                        <p:strVal val="visible"/>
                                      </p:to>
                                    </p:set>
                                    <p:animEffect transition="in" filter="wipe(left)">
                                      <p:cBhvr>
                                        <p:cTn id="19" dur="500"/>
                                        <p:tgtEl>
                                          <p:spTgt spid="13">
                                            <p:txEl>
                                              <p:pRg st="0" end="0"/>
                                            </p:txEl>
                                          </p:spTgt>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Effect transition="in" filter="wipe(left)">
                                      <p:cBhvr>
                                        <p:cTn id="23" dur="500"/>
                                        <p:tgtEl>
                                          <p:spTgt spid="13">
                                            <p:txEl>
                                              <p:pRg st="1" end="1"/>
                                            </p:txEl>
                                          </p:spTgt>
                                        </p:tgtEl>
                                      </p:cBhvr>
                                    </p:animEffect>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13">
                                            <p:txEl>
                                              <p:pRg st="2" end="2"/>
                                            </p:txEl>
                                          </p:spTgt>
                                        </p:tgtEl>
                                        <p:attrNameLst>
                                          <p:attrName>style.visibility</p:attrName>
                                        </p:attrNameLst>
                                      </p:cBhvr>
                                      <p:to>
                                        <p:strVal val="visible"/>
                                      </p:to>
                                    </p:set>
                                    <p:animEffect transition="in" filter="wipe(left)">
                                      <p:cBhvr>
                                        <p:cTn id="27" dur="500"/>
                                        <p:tgtEl>
                                          <p:spTgt spid="13">
                                            <p:txEl>
                                              <p:pRg st="2" end="2"/>
                                            </p:txEl>
                                          </p:spTgt>
                                        </p:tgtEl>
                                      </p:cBhvr>
                                    </p:animEffect>
                                  </p:childTnLst>
                                </p:cTn>
                              </p:par>
                            </p:childTnLst>
                          </p:cTn>
                        </p:par>
                        <p:par>
                          <p:cTn id="28" fill="hold">
                            <p:stCondLst>
                              <p:cond delay="2000"/>
                            </p:stCondLst>
                            <p:childTnLst>
                              <p:par>
                                <p:cTn id="29" presetID="22" presetClass="entr" presetSubtype="8" fill="hold" nodeType="after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Effect transition="in" filter="wipe(left)">
                                      <p:cBhvr>
                                        <p:cTn id="31"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5229209" y="845808"/>
          <a:ext cx="4923039" cy="3451106"/>
        </p:xfrm>
        <a:graphic>
          <a:graphicData uri="http://schemas.openxmlformats.org/presentationml/2006/ole">
            <mc:AlternateContent xmlns:mc="http://schemas.openxmlformats.org/markup-compatibility/2006">
              <mc:Choice xmlns:v="urn:schemas-microsoft-com:vml" Requires="v">
                <p:oleObj spid="_x0000_s2222" name="Picture" r:id="rId1" imgW="23393400" imgH="21945600" progId="Word.Picture.8">
                  <p:embed/>
                </p:oleObj>
              </mc:Choice>
              <mc:Fallback>
                <p:oleObj name="Picture" r:id="rId1" imgW="23393400" imgH="21945600" progId="Word.Picture.8">
                  <p:embed/>
                  <p:pic>
                    <p:nvPicPr>
                      <p:cNvPr id="0" name="图片 1024" descr="image20"/>
                      <p:cNvPicPr>
                        <a:picLocks noChangeAspect="1"/>
                      </p:cNvPicPr>
                      <p:nvPr/>
                    </p:nvPicPr>
                    <p:blipFill>
                      <a:blip r:embed="rId2"/>
                      <a:stretch>
                        <a:fillRect/>
                      </a:stretch>
                    </p:blipFill>
                    <p:spPr>
                      <a:xfrm>
                        <a:off x="5229209" y="845808"/>
                        <a:ext cx="4923039" cy="3451106"/>
                      </a:xfrm>
                      <a:prstGeom prst="rect">
                        <a:avLst/>
                      </a:prstGeom>
                      <a:noFill/>
                      <a:ln w="9525">
                        <a:noFill/>
                      </a:ln>
                    </p:spPr>
                  </p:pic>
                </p:oleObj>
              </mc:Fallback>
            </mc:AlternateContent>
          </a:graphicData>
        </a:graphic>
      </p:graphicFrame>
      <p:sp>
        <p:nvSpPr>
          <p:cNvPr id="2" name="标题 1"/>
          <p:cNvSpPr>
            <a:spLocks noGrp="1"/>
          </p:cNvSpPr>
          <p:nvPr>
            <p:ph type="title"/>
          </p:nvPr>
        </p:nvSpPr>
        <p:spPr>
          <a:xfrm>
            <a:off x="2195740" y="141483"/>
            <a:ext cx="6768877" cy="369332"/>
          </a:xfrm>
          <a:noFill/>
        </p:spPr>
        <p:txBody>
          <a:bodyPr wrap="square">
            <a:spAutoFit/>
          </a:bodyPr>
          <a:lstStyle/>
          <a:p>
            <a:pPr marL="0" indent="0">
              <a:buNone/>
            </a:pPr>
            <a:r>
              <a:rPr lang="en-US" altLang="zh-CN" b="0" dirty="0">
                <a:solidFill>
                  <a:srgbClr val="0070C0"/>
                </a:solidFill>
                <a:latin typeface="+mj-ea"/>
              </a:rPr>
              <a:t>while循环应用</a:t>
            </a:r>
            <a:r>
              <a:rPr lang="zh-CN" altLang="zh-CN" b="0" dirty="0">
                <a:solidFill>
                  <a:srgbClr val="0070C0"/>
                </a:solidFill>
                <a:latin typeface="+mj-ea"/>
              </a:rPr>
              <a:t> </a:t>
            </a:r>
            <a:endParaRPr lang="zh-CN" altLang="en-US" b="0" dirty="0">
              <a:solidFill>
                <a:srgbClr val="0070C0"/>
              </a:solidFill>
              <a:latin typeface="+mj-ea"/>
            </a:endParaRPr>
          </a:p>
        </p:txBody>
      </p:sp>
      <p:sp>
        <p:nvSpPr>
          <p:cNvPr id="3" name="内容占位符 2"/>
          <p:cNvSpPr>
            <a:spLocks noGrp="1"/>
          </p:cNvSpPr>
          <p:nvPr>
            <p:ph idx="1"/>
          </p:nvPr>
        </p:nvSpPr>
        <p:spPr/>
        <p:txBody>
          <a:bodyPr/>
          <a:lstStyle/>
          <a:p>
            <a:pPr>
              <a:lnSpc>
                <a:spcPts val="2500"/>
              </a:lnSpc>
              <a:buClr>
                <a:schemeClr val="tx1"/>
              </a:buClr>
              <a:buSzPct val="100000"/>
              <a:buFont typeface="Wingdings" panose="05000000000000000000" charset="0"/>
              <a:buChar char=""/>
            </a:pPr>
            <a:r>
              <a:rPr lang="zh-CN" altLang="en-US" dirty="0"/>
              <a:t>流程图</a:t>
            </a:r>
            <a:endParaRPr lang="en-US" altLang="zh-CN" dirty="0"/>
          </a:p>
          <a:p>
            <a:pPr>
              <a:lnSpc>
                <a:spcPts val="2500"/>
              </a:lnSpc>
              <a:buClr>
                <a:schemeClr val="tx1"/>
              </a:buClr>
              <a:buSzPct val="100000"/>
              <a:buFont typeface="Wingdings" panose="05000000000000000000" charset="0"/>
              <a:buChar char=""/>
            </a:pPr>
            <a:r>
              <a:rPr lang="zh-CN" altLang="en-US" dirty="0"/>
              <a:t>实现代码</a:t>
            </a:r>
            <a:endParaRPr lang="en-US" altLang="zh-CN" dirty="0"/>
          </a:p>
        </p:txBody>
      </p:sp>
      <p:sp>
        <p:nvSpPr>
          <p:cNvPr id="8" name="副标题 7"/>
          <p:cNvSpPr>
            <a:spLocks noGrp="1"/>
          </p:cNvSpPr>
          <p:nvPr>
            <p:ph type="subTitle" idx="10"/>
          </p:nvPr>
        </p:nvSpPr>
        <p:spPr/>
        <p:txBody>
          <a:bodyPr/>
          <a:lstStyle/>
          <a:p>
            <a:r>
              <a:rPr lang="zh-CN" altLang="en-US" dirty="0"/>
              <a:t>解决方案</a:t>
            </a:r>
            <a:endParaRPr lang="zh-CN" altLang="en-US" dirty="0"/>
          </a:p>
        </p:txBody>
      </p:sp>
      <p:sp>
        <p:nvSpPr>
          <p:cNvPr id="5" name="AutoShape 7"/>
          <p:cNvSpPr>
            <a:spLocks noChangeArrowheads="1"/>
          </p:cNvSpPr>
          <p:nvPr/>
        </p:nvSpPr>
        <p:spPr bwMode="auto">
          <a:xfrm>
            <a:off x="467486" y="2055843"/>
            <a:ext cx="5030870" cy="2030094"/>
          </a:xfrm>
          <a:prstGeom prst="roundRect">
            <a:avLst>
              <a:gd name="adj" fmla="val 0"/>
            </a:avLst>
          </a:prstGeom>
          <a:solidFill>
            <a:srgbClr val="E7F4FF"/>
          </a:solidFill>
          <a:ln w="28575" cap="flat" cmpd="sng" algn="ctr">
            <a:solidFill>
              <a:srgbClr val="11A8FF"/>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sum = 0 </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count = 1 </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while count&lt;= 50: </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	sum = sum + count</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       count += 1 </a:t>
            </a:r>
            <a:endParaRPr lang="en-US" altLang="zh-CN" sz="1400" dirty="0">
              <a:solidFill>
                <a:schemeClr val="tx1">
                  <a:lumMod val="75000"/>
                  <a:lumOff val="25000"/>
                </a:schemeClr>
              </a:solidFill>
              <a:latin typeface="+mn-ea"/>
              <a:ea typeface="+mn-ea"/>
            </a:endParaRPr>
          </a:p>
          <a:p>
            <a:pPr algn="l" defTabSz="381000">
              <a:lnSpc>
                <a:spcPct val="150000"/>
              </a:lnSpc>
              <a:buClr>
                <a:schemeClr val="folHlink"/>
              </a:buClr>
              <a:buSzPct val="60000"/>
              <a:buNone/>
            </a:pPr>
            <a:r>
              <a:rPr lang="en-US" altLang="zh-CN" sz="1400" dirty="0">
                <a:solidFill>
                  <a:schemeClr val="tx1">
                    <a:lumMod val="75000"/>
                    <a:lumOff val="25000"/>
                  </a:schemeClr>
                </a:solidFill>
                <a:latin typeface="+mn-ea"/>
                <a:ea typeface="+mn-ea"/>
              </a:rPr>
              <a:t>print("1 到 %d </a:t>
            </a:r>
            <a:r>
              <a:rPr lang="en-US" altLang="zh-CN" sz="1400" dirty="0" err="1">
                <a:solidFill>
                  <a:schemeClr val="tx1">
                    <a:lumMod val="75000"/>
                    <a:lumOff val="25000"/>
                  </a:schemeClr>
                </a:solidFill>
                <a:latin typeface="+mn-ea"/>
                <a:ea typeface="+mn-ea"/>
              </a:rPr>
              <a:t>之和为</a:t>
            </a:r>
            <a:r>
              <a:rPr lang="en-US" altLang="zh-CN" sz="1400" dirty="0">
                <a:solidFill>
                  <a:schemeClr val="tx1">
                    <a:lumMod val="75000"/>
                    <a:lumOff val="25000"/>
                  </a:schemeClr>
                </a:solidFill>
                <a:latin typeface="+mn-ea"/>
                <a:ea typeface="+mn-ea"/>
              </a:rPr>
              <a:t>: %d" % (</a:t>
            </a:r>
            <a:r>
              <a:rPr lang="en-US" altLang="zh-CN" sz="1400" dirty="0" err="1">
                <a:solidFill>
                  <a:schemeClr val="tx1">
                    <a:lumMod val="75000"/>
                    <a:lumOff val="25000"/>
                  </a:schemeClr>
                </a:solidFill>
                <a:latin typeface="+mn-ea"/>
                <a:ea typeface="+mn-ea"/>
              </a:rPr>
              <a:t>count,sum</a:t>
            </a:r>
            <a:r>
              <a:rPr lang="en-US" altLang="zh-CN" sz="1400" dirty="0">
                <a:solidFill>
                  <a:schemeClr val="tx1">
                    <a:lumMod val="75000"/>
                    <a:lumOff val="25000"/>
                  </a:schemeClr>
                </a:solidFill>
                <a:latin typeface="+mn-ea"/>
                <a:ea typeface="+mn-ea"/>
              </a:rPr>
              <a:t>))</a:t>
            </a:r>
            <a:endParaRPr lang="en-US" altLang="zh-CN" sz="1400" dirty="0">
              <a:solidFill>
                <a:schemeClr val="tx1">
                  <a:lumMod val="75000"/>
                  <a:lumOff val="25000"/>
                </a:schemeClr>
              </a:solidFill>
              <a:latin typeface="+mn-ea"/>
              <a:ea typeface="+mn-ea"/>
            </a:endParaRPr>
          </a:p>
        </p:txBody>
      </p:sp>
      <p:sp>
        <p:nvSpPr>
          <p:cNvPr id="10" name="TextBox 38"/>
          <p:cNvSpPr txBox="1">
            <a:spLocks noChangeArrowheads="1"/>
          </p:cNvSpPr>
          <p:nvPr/>
        </p:nvSpPr>
        <p:spPr bwMode="auto">
          <a:xfrm>
            <a:off x="3763444" y="4143386"/>
            <a:ext cx="1724660" cy="337185"/>
          </a:xfrm>
          <a:prstGeom prst="rect">
            <a:avLst/>
          </a:prstGeom>
          <a:noFill/>
          <a:ln w="9525">
            <a:noFill/>
            <a:miter lim="800000"/>
          </a:ln>
        </p:spPr>
        <p:txBody>
          <a:bodyPr wrap="none">
            <a:spAutoFit/>
          </a:bodyPr>
          <a:lstStyle>
            <a:defPPr>
              <a:defRPr lang="en-US"/>
            </a:defPPr>
            <a:lvl1pPr>
              <a:defRPr sz="1600">
                <a:solidFill>
                  <a:schemeClr val="bg1"/>
                </a:solidFill>
                <a:latin typeface="+mn-ea"/>
                <a:ea typeface="+mn-ea"/>
              </a:defRPr>
            </a:lvl1pPr>
          </a:lstStyle>
          <a:p>
            <a:pPr>
              <a:buNone/>
            </a:pPr>
            <a:r>
              <a:rPr lang="zh-CN" altLang="en-US" dirty="0"/>
              <a:t>现场演示：示例</a:t>
            </a:r>
            <a:r>
              <a:rPr lang="en-US" altLang="zh-CN" dirty="0"/>
              <a:t>1</a:t>
            </a:r>
            <a:endParaRPr lang="en-US" altLang="zh-CN" dirty="0"/>
          </a:p>
        </p:txBody>
      </p:sp>
      <p:sp>
        <p:nvSpPr>
          <p:cNvPr id="11" name="Freeform 116"/>
          <p:cNvSpPr>
            <a:spLocks noEditPoints="1"/>
          </p:cNvSpPr>
          <p:nvPr/>
        </p:nvSpPr>
        <p:spPr bwMode="auto">
          <a:xfrm>
            <a:off x="270756" y="876593"/>
            <a:ext cx="196730" cy="148951"/>
          </a:xfrm>
          <a:custGeom>
            <a:avLst/>
            <a:gdLst/>
            <a:ahLst/>
            <a:cxnLst>
              <a:cxn ang="0">
                <a:pos x="106" y="6"/>
              </a:cxn>
              <a:cxn ang="0">
                <a:pos x="0" y="126"/>
              </a:cxn>
              <a:cxn ang="0">
                <a:pos x="0" y="128"/>
              </a:cxn>
              <a:cxn ang="0">
                <a:pos x="110" y="238"/>
              </a:cxn>
              <a:cxn ang="0">
                <a:pos x="213" y="238"/>
              </a:cxn>
              <a:cxn ang="0">
                <a:pos x="226" y="232"/>
              </a:cxn>
              <a:cxn ang="0">
                <a:pos x="232" y="219"/>
              </a:cxn>
              <a:cxn ang="0">
                <a:pos x="232" y="122"/>
              </a:cxn>
              <a:cxn ang="0">
                <a:pos x="106" y="6"/>
              </a:cxn>
              <a:cxn ang="0">
                <a:pos x="386" y="6"/>
              </a:cxn>
              <a:cxn ang="0">
                <a:pos x="270" y="122"/>
              </a:cxn>
              <a:cxn ang="0">
                <a:pos x="270" y="219"/>
              </a:cxn>
              <a:cxn ang="0">
                <a:pos x="275" y="232"/>
              </a:cxn>
              <a:cxn ang="0">
                <a:pos x="288" y="238"/>
              </a:cxn>
              <a:cxn ang="0">
                <a:pos x="386" y="238"/>
              </a:cxn>
              <a:cxn ang="0">
                <a:pos x="502" y="122"/>
              </a:cxn>
              <a:cxn ang="0">
                <a:pos x="386" y="6"/>
              </a:cxn>
              <a:cxn ang="0">
                <a:pos x="0" y="392"/>
              </a:cxn>
              <a:cxn ang="0">
                <a:pos x="116" y="508"/>
              </a:cxn>
              <a:cxn ang="0">
                <a:pos x="232" y="389"/>
              </a:cxn>
              <a:cxn ang="0">
                <a:pos x="232" y="305"/>
              </a:cxn>
              <a:cxn ang="0">
                <a:pos x="213" y="276"/>
              </a:cxn>
              <a:cxn ang="0">
                <a:pos x="119" y="276"/>
              </a:cxn>
              <a:cxn ang="0">
                <a:pos x="0" y="392"/>
              </a:cxn>
              <a:cxn ang="0">
                <a:pos x="382" y="276"/>
              </a:cxn>
              <a:cxn ang="0">
                <a:pos x="288" y="276"/>
              </a:cxn>
              <a:cxn ang="0">
                <a:pos x="275" y="282"/>
              </a:cxn>
              <a:cxn ang="0">
                <a:pos x="270" y="295"/>
              </a:cxn>
              <a:cxn ang="0">
                <a:pos x="270" y="392"/>
              </a:cxn>
              <a:cxn ang="0">
                <a:pos x="386" y="508"/>
              </a:cxn>
              <a:cxn ang="0">
                <a:pos x="502" y="390"/>
              </a:cxn>
              <a:cxn ang="0">
                <a:pos x="382" y="276"/>
              </a:cxn>
              <a:cxn ang="0">
                <a:pos x="382" y="276"/>
              </a:cxn>
              <a:cxn ang="0">
                <a:pos x="382" y="276"/>
              </a:cxn>
            </a:cxnLst>
            <a:rect l="0" t="0" r="r" b="b"/>
            <a:pathLst>
              <a:path w="503" h="508">
                <a:moveTo>
                  <a:pt x="106" y="6"/>
                </a:moveTo>
                <a:cubicBezTo>
                  <a:pt x="45" y="12"/>
                  <a:pt x="0" y="65"/>
                  <a:pt x="0" y="126"/>
                </a:cubicBezTo>
                <a:cubicBezTo>
                  <a:pt x="0" y="128"/>
                  <a:pt x="0" y="128"/>
                  <a:pt x="0" y="128"/>
                </a:cubicBezTo>
                <a:cubicBezTo>
                  <a:pt x="0" y="189"/>
                  <a:pt x="49" y="238"/>
                  <a:pt x="110" y="238"/>
                </a:cubicBezTo>
                <a:cubicBezTo>
                  <a:pt x="213" y="238"/>
                  <a:pt x="213" y="238"/>
                  <a:pt x="213" y="238"/>
                </a:cubicBezTo>
                <a:cubicBezTo>
                  <a:pt x="218" y="238"/>
                  <a:pt x="223" y="236"/>
                  <a:pt x="226" y="232"/>
                </a:cubicBezTo>
                <a:cubicBezTo>
                  <a:pt x="230" y="229"/>
                  <a:pt x="232" y="224"/>
                  <a:pt x="232" y="219"/>
                </a:cubicBezTo>
                <a:cubicBezTo>
                  <a:pt x="232" y="122"/>
                  <a:pt x="232" y="122"/>
                  <a:pt x="232" y="122"/>
                </a:cubicBezTo>
                <a:cubicBezTo>
                  <a:pt x="232" y="54"/>
                  <a:pt x="174" y="0"/>
                  <a:pt x="106" y="6"/>
                </a:cubicBezTo>
                <a:close/>
                <a:moveTo>
                  <a:pt x="386" y="6"/>
                </a:moveTo>
                <a:cubicBezTo>
                  <a:pt x="322" y="6"/>
                  <a:pt x="270" y="58"/>
                  <a:pt x="270" y="122"/>
                </a:cubicBezTo>
                <a:cubicBezTo>
                  <a:pt x="270" y="219"/>
                  <a:pt x="270" y="219"/>
                  <a:pt x="270" y="219"/>
                </a:cubicBezTo>
                <a:cubicBezTo>
                  <a:pt x="270" y="224"/>
                  <a:pt x="272" y="229"/>
                  <a:pt x="275" y="232"/>
                </a:cubicBezTo>
                <a:cubicBezTo>
                  <a:pt x="279" y="236"/>
                  <a:pt x="283" y="238"/>
                  <a:pt x="288" y="238"/>
                </a:cubicBezTo>
                <a:cubicBezTo>
                  <a:pt x="386" y="238"/>
                  <a:pt x="386" y="238"/>
                  <a:pt x="386" y="238"/>
                </a:cubicBezTo>
                <a:cubicBezTo>
                  <a:pt x="450" y="238"/>
                  <a:pt x="502" y="186"/>
                  <a:pt x="502" y="122"/>
                </a:cubicBezTo>
                <a:cubicBezTo>
                  <a:pt x="502" y="58"/>
                  <a:pt x="450" y="6"/>
                  <a:pt x="386" y="6"/>
                </a:cubicBezTo>
                <a:close/>
                <a:moveTo>
                  <a:pt x="0" y="392"/>
                </a:moveTo>
                <a:cubicBezTo>
                  <a:pt x="0" y="456"/>
                  <a:pt x="52" y="508"/>
                  <a:pt x="116" y="508"/>
                </a:cubicBezTo>
                <a:cubicBezTo>
                  <a:pt x="181" y="508"/>
                  <a:pt x="232" y="454"/>
                  <a:pt x="232" y="389"/>
                </a:cubicBezTo>
                <a:cubicBezTo>
                  <a:pt x="232" y="305"/>
                  <a:pt x="232" y="305"/>
                  <a:pt x="232" y="305"/>
                </a:cubicBezTo>
                <a:cubicBezTo>
                  <a:pt x="232" y="285"/>
                  <a:pt x="224" y="276"/>
                  <a:pt x="213" y="276"/>
                </a:cubicBezTo>
                <a:cubicBezTo>
                  <a:pt x="119" y="276"/>
                  <a:pt x="119" y="276"/>
                  <a:pt x="119" y="276"/>
                </a:cubicBezTo>
                <a:cubicBezTo>
                  <a:pt x="55" y="276"/>
                  <a:pt x="0" y="328"/>
                  <a:pt x="0" y="392"/>
                </a:cubicBezTo>
                <a:close/>
                <a:moveTo>
                  <a:pt x="382" y="276"/>
                </a:moveTo>
                <a:cubicBezTo>
                  <a:pt x="288" y="276"/>
                  <a:pt x="288" y="276"/>
                  <a:pt x="288" y="276"/>
                </a:cubicBezTo>
                <a:cubicBezTo>
                  <a:pt x="283" y="276"/>
                  <a:pt x="279" y="278"/>
                  <a:pt x="275" y="282"/>
                </a:cubicBezTo>
                <a:cubicBezTo>
                  <a:pt x="272" y="285"/>
                  <a:pt x="270" y="290"/>
                  <a:pt x="270" y="295"/>
                </a:cubicBezTo>
                <a:cubicBezTo>
                  <a:pt x="270" y="392"/>
                  <a:pt x="270" y="392"/>
                  <a:pt x="270" y="392"/>
                </a:cubicBezTo>
                <a:cubicBezTo>
                  <a:pt x="270" y="456"/>
                  <a:pt x="322" y="508"/>
                  <a:pt x="386" y="508"/>
                </a:cubicBezTo>
                <a:cubicBezTo>
                  <a:pt x="451" y="508"/>
                  <a:pt x="503" y="455"/>
                  <a:pt x="502" y="390"/>
                </a:cubicBezTo>
                <a:cubicBezTo>
                  <a:pt x="501" y="326"/>
                  <a:pt x="446" y="276"/>
                  <a:pt x="382" y="276"/>
                </a:cubicBezTo>
                <a:close/>
                <a:moveTo>
                  <a:pt x="382" y="276"/>
                </a:moveTo>
                <a:cubicBezTo>
                  <a:pt x="382" y="276"/>
                  <a:pt x="382" y="276"/>
                  <a:pt x="382" y="276"/>
                </a:cubicBezTo>
              </a:path>
            </a:pathLst>
          </a:custGeom>
          <a:solidFill>
            <a:srgbClr val="0070C0"/>
          </a:solidFill>
          <a:ln w="9525">
            <a:noFill/>
            <a:round/>
          </a:ln>
        </p:spPr>
        <p:txBody>
          <a:bodyPr vert="horz" wrap="square" lIns="91440" tIns="45720" rIns="91440" bIns="45720" numCol="1" anchor="t" anchorCtr="0" compatLnSpc="1"/>
          <a:lstStyle/>
          <a:p>
            <a:pPr>
              <a:buNone/>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left)">
                                      <p:cBhvr>
                                        <p:cTn id="16" dur="500"/>
                                        <p:tgtEl>
                                          <p:spTgt spid="3">
                                            <p:txEl>
                                              <p:pRg st="1" end="1"/>
                                            </p:txEl>
                                          </p:spTgt>
                                        </p:tgtEl>
                                      </p:cBhvr>
                                    </p:animEffect>
                                  </p:childTnLst>
                                </p:cTn>
                              </p:par>
                            </p:childTnLst>
                          </p:cTn>
                        </p:par>
                        <p:par>
                          <p:cTn id="17" fill="hold">
                            <p:stCondLst>
                              <p:cond delay="500"/>
                            </p:stCondLst>
                            <p:childTnLst>
                              <p:par>
                                <p:cTn id="18" presetID="63" presetClass="path" presetSubtype="0" accel="50000" decel="50000" fill="hold" nodeType="afterEffect">
                                  <p:stCondLst>
                                    <p:cond delay="0"/>
                                  </p:stCondLst>
                                  <p:childTnLst>
                                    <p:animMotion origin="layout" path="M 2.77778E-6 4.47052E-6 L 0.31944 0.20778 " pathEditMode="relative" rAng="0" ptsTypes="AA">
                                      <p:cBhvr>
                                        <p:cTn id="19" dur="500" fill="hold"/>
                                        <p:tgtEl>
                                          <p:spTgt spid="4"/>
                                        </p:tgtEl>
                                        <p:attrNameLst>
                                          <p:attrName>ppt_x</p:attrName>
                                          <p:attrName>ppt_y</p:attrName>
                                        </p:attrNameLst>
                                      </p:cBhvr>
                                      <p:rCtr x="16000" y="10400"/>
                                    </p:animMotion>
                                  </p:childTnLst>
                                </p:cTn>
                              </p:par>
                              <p:par>
                                <p:cTn id="20" presetID="22" presetClass="entr" presetSubtype="8" fill="hold" grpId="0" nodeType="withEffect">
                                  <p:stCondLst>
                                    <p:cond delay="0"/>
                                  </p:stCondLst>
                                  <p:childTnLst>
                                    <p:set>
                                      <p:cBhvr>
                                        <p:cTn id="21" dur="1" fill="hold">
                                          <p:stCondLst>
                                            <p:cond delay="0"/>
                                          </p:stCondLst>
                                        </p:cTn>
                                        <p:tgtEl>
                                          <p:spTgt spid="5">
                                            <p:bg/>
                                          </p:spTgt>
                                        </p:tgtEl>
                                        <p:attrNameLst>
                                          <p:attrName>style.visibility</p:attrName>
                                        </p:attrNameLst>
                                      </p:cBhvr>
                                      <p:to>
                                        <p:strVal val="visible"/>
                                      </p:to>
                                    </p:set>
                                    <p:animEffect transition="in" filter="wipe(left)">
                                      <p:cBhvr>
                                        <p:cTn id="22" dur="500"/>
                                        <p:tgtEl>
                                          <p:spTgt spid="5">
                                            <p:bg/>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left)">
                                      <p:cBhvr>
                                        <p:cTn id="25" dur="500"/>
                                        <p:tgtEl>
                                          <p:spTgt spid="5">
                                            <p:txEl>
                                              <p:pRg st="0" end="0"/>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
                                            <p:txEl>
                                              <p:pRg st="1" end="1"/>
                                            </p:txEl>
                                          </p:spTgt>
                                        </p:tgtEl>
                                        <p:attrNameLst>
                                          <p:attrName>style.visibility</p:attrName>
                                        </p:attrNameLst>
                                      </p:cBhvr>
                                      <p:to>
                                        <p:strVal val="visible"/>
                                      </p:to>
                                    </p:set>
                                    <p:animEffect transition="in" filter="wipe(left)">
                                      <p:cBhvr>
                                        <p:cTn id="28" dur="500"/>
                                        <p:tgtEl>
                                          <p:spTgt spid="5">
                                            <p:txEl>
                                              <p:pRg st="1" end="1"/>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Effect transition="in" filter="wipe(left)">
                                      <p:cBhvr>
                                        <p:cTn id="31" dur="500"/>
                                        <p:tgtEl>
                                          <p:spTgt spid="5">
                                            <p:txEl>
                                              <p:pRg st="2" end="2"/>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wipe(left)">
                                      <p:cBhvr>
                                        <p:cTn id="34" dur="500"/>
                                        <p:tgtEl>
                                          <p:spTgt spid="5">
                                            <p:txEl>
                                              <p:pRg st="3" end="3"/>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left)">
                                      <p:cBhvr>
                                        <p:cTn id="37" dur="500"/>
                                        <p:tgtEl>
                                          <p:spTgt spid="5">
                                            <p:txEl>
                                              <p:pRg st="4" end="4"/>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wipe(left)">
                                      <p:cBhvr>
                                        <p:cTn id="40" dur="500"/>
                                        <p:tgtEl>
                                          <p:spTgt spid="5">
                                            <p:txEl>
                                              <p:pRg st="5" end="5"/>
                                            </p:txEl>
                                          </p:spTgt>
                                        </p:tgtEl>
                                      </p:cBhvr>
                                    </p:animEffect>
                                  </p:childTnLst>
                                </p:cTn>
                              </p:par>
                              <p:par>
                                <p:cTn id="41" presetID="1" presetClass="exit" presetSubtype="0" fill="hold" grpId="1" nodeType="withEffect">
                                  <p:stCondLst>
                                    <p:cond delay="0"/>
                                  </p:stCondLst>
                                  <p:childTnLst>
                                    <p:set>
                                      <p:cBhvr>
                                        <p:cTn id="42" dur="1" fill="hold">
                                          <p:stCondLst>
                                            <p:cond delay="0"/>
                                          </p:stCondLst>
                                        </p:cTn>
                                        <p:tgtEl>
                                          <p:spTgt spid="5">
                                            <p:bg/>
                                          </p:spTgt>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5">
                                            <p:bg/>
                                          </p:spTgt>
                                        </p:tgtEl>
                                        <p:attrNameLst>
                                          <p:attrName>style.visibility</p:attrName>
                                        </p:attrNameLst>
                                      </p:cBhvr>
                                      <p:to>
                                        <p:strVal val="hidden"/>
                                      </p:to>
                                    </p:set>
                                  </p:childTnLst>
                                </p:cTn>
                              </p:par>
                            </p:childTnLst>
                          </p:cTn>
                        </p:par>
                        <p:par>
                          <p:cTn id="45" fill="hold">
                            <p:stCondLst>
                              <p:cond delay="1000"/>
                            </p:stCondLst>
                            <p:childTnLst>
                              <p:par>
                                <p:cTn id="46" presetID="1" presetClass="exit" presetSubtype="0" fill="hold" nodeType="afterEffect">
                                  <p:stCondLst>
                                    <p:cond delay="0"/>
                                  </p:stCondLst>
                                  <p:childTnLst>
                                    <p:set>
                                      <p:cBhvr>
                                        <p:cTn id="47" dur="1" fill="hold">
                                          <p:stCondLst>
                                            <p:cond delay="0"/>
                                          </p:stCondLst>
                                        </p:cTn>
                                        <p:tgtEl>
                                          <p:spTgt spid="4"/>
                                        </p:tgtEl>
                                        <p:attrNameLst>
                                          <p:attrName>style.visibility</p:attrName>
                                        </p:attrNameLst>
                                      </p:cBhvr>
                                      <p:to>
                                        <p:strVal val="hidden"/>
                                      </p:to>
                                    </p:se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build="allAtOnce"/>
      <p:bldP spid="5" grpId="1" animBg="1" build="allAtOnce"/>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9332"/>
          </a:xfrm>
          <a:prstGeom prst="rect">
            <a:avLst/>
          </a:prstGeom>
          <a:noFill/>
        </p:spPr>
        <p:txBody>
          <a:bodyPr wrap="square">
            <a:spAutoFit/>
          </a:bodyPr>
          <a:lstStyle/>
          <a:p>
            <a:pPr algn="r"/>
            <a:r>
              <a:rPr lang="en-US" altLang="zh-CN" b="0" dirty="0" err="1">
                <a:solidFill>
                  <a:srgbClr val="0070C0"/>
                </a:solidFill>
                <a:latin typeface="+mj-ea"/>
              </a:rPr>
              <a:t>while循环</a:t>
            </a:r>
            <a:r>
              <a:rPr lang="zh-CN" altLang="en-US" b="0" dirty="0">
                <a:solidFill>
                  <a:srgbClr val="0070C0"/>
                </a:solidFill>
                <a:latin typeface="+mj-ea"/>
              </a:rPr>
              <a:t>案例</a:t>
            </a:r>
            <a:r>
              <a:rPr lang="zh-CN" altLang="zh-CN" b="0" dirty="0">
                <a:solidFill>
                  <a:srgbClr val="0070C0"/>
                </a:solidFill>
                <a:latin typeface="+mj-ea"/>
              </a:rPr>
              <a:t> </a:t>
            </a:r>
            <a:endParaRPr lang="zh-CN" altLang="en-US" b="0" dirty="0">
              <a:solidFill>
                <a:srgbClr val="0070C0"/>
              </a:solidFill>
              <a:latin typeface="+mj-ea"/>
            </a:endParaRPr>
          </a:p>
        </p:txBody>
      </p:sp>
      <p:sp>
        <p:nvSpPr>
          <p:cNvPr id="3" name="内容占位符 2"/>
          <p:cNvSpPr>
            <a:spLocks noGrp="1"/>
          </p:cNvSpPr>
          <p:nvPr>
            <p:ph idx="1"/>
          </p:nvPr>
        </p:nvSpPr>
        <p:spPr>
          <a:prstGeom prst="rect">
            <a:avLst/>
          </a:prstGeom>
        </p:spPr>
        <p:txBody>
          <a:bodyPr/>
          <a:lstStyle/>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5</a:t>
            </a:r>
            <a:r>
              <a:rPr lang="zh-CN" altLang="en-US" sz="2000" dirty="0">
                <a:solidFill>
                  <a:schemeClr val="tx1">
                    <a:lumMod val="75000"/>
                    <a:lumOff val="25000"/>
                  </a:schemeClr>
                </a:solidFill>
                <a:latin typeface="+mn-ea"/>
              </a:rPr>
              <a:t>的阶乘</a:t>
            </a:r>
            <a:endParaRPr lang="zh-CN" altLang="en-US" sz="20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1-100</a:t>
            </a:r>
            <a:r>
              <a:rPr lang="zh-CN" altLang="en-US" sz="2000" dirty="0">
                <a:solidFill>
                  <a:schemeClr val="tx1">
                    <a:lumMod val="75000"/>
                    <a:lumOff val="25000"/>
                  </a:schemeClr>
                </a:solidFill>
                <a:latin typeface="+mn-ea"/>
              </a:rPr>
              <a:t>的偶数和</a:t>
            </a:r>
            <a:endParaRPr lang="zh-CN" altLang="en-US" sz="20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1-100</a:t>
            </a:r>
            <a:r>
              <a:rPr lang="zh-CN" altLang="en-US" sz="2000" dirty="0">
                <a:solidFill>
                  <a:schemeClr val="tx1">
                    <a:lumMod val="75000"/>
                    <a:lumOff val="25000"/>
                  </a:schemeClr>
                </a:solidFill>
                <a:latin typeface="+mn-ea"/>
              </a:rPr>
              <a:t>的奇数和</a:t>
            </a:r>
            <a:endParaRPr lang="zh-CN" altLang="en-US" sz="2000" dirty="0">
              <a:solidFill>
                <a:schemeClr val="tx1">
                  <a:lumMod val="75000"/>
                  <a:lumOff val="25000"/>
                </a:schemeClr>
              </a:solidFill>
              <a:latin typeface="+mn-ea"/>
            </a:endParaRPr>
          </a:p>
        </p:txBody>
      </p:sp>
      <p:sp>
        <p:nvSpPr>
          <p:cNvPr id="5" name="副标题 4"/>
          <p:cNvSpPr>
            <a:spLocks noGrp="1"/>
          </p:cNvSpPr>
          <p:nvPr>
            <p:ph type="subTitle" idx="10"/>
          </p:nvPr>
        </p:nvSpPr>
        <p:spPr/>
        <p:txBody>
          <a:bodyPr/>
          <a:lstStyle/>
          <a:p>
            <a:r>
              <a:rPr lang="zh-CN" altLang="en-US" dirty="0"/>
              <a:t>案例</a:t>
            </a:r>
            <a:endParaRPr lang="zh-CN" altLang="en-US" dirty="0"/>
          </a:p>
        </p:txBody>
      </p:sp>
      <p:sp>
        <p:nvSpPr>
          <p:cNvPr id="8" name="Rectangle 6"/>
          <p:cNvSpPr>
            <a:spLocks noChangeArrowheads="1"/>
          </p:cNvSpPr>
          <p:nvPr/>
        </p:nvSpPr>
        <p:spPr bwMode="auto">
          <a:xfrm>
            <a:off x="0" y="44719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Group 31"/>
          <p:cNvGrpSpPr>
            <a:grpSpLocks noChangeAspect="1"/>
          </p:cNvGrpSpPr>
          <p:nvPr/>
        </p:nvGrpSpPr>
        <p:grpSpPr bwMode="auto">
          <a:xfrm>
            <a:off x="220716" y="838676"/>
            <a:ext cx="216610" cy="162678"/>
            <a:chOff x="2511" y="1251"/>
            <a:chExt cx="739" cy="740"/>
          </a:xfrm>
        </p:grpSpPr>
        <p:sp>
          <p:nvSpPr>
            <p:cNvPr id="14" name="AutoShape 30"/>
            <p:cNvSpPr>
              <a:spLocks noChangeAspect="1" noChangeArrowheads="1" noTextEdit="1"/>
            </p:cNvSpPr>
            <p:nvPr/>
          </p:nvSpPr>
          <p:spPr bwMode="auto">
            <a:xfrm>
              <a:off x="2511" y="1251"/>
              <a:ext cx="737" cy="737"/>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15" name="Freeform 32"/>
            <p:cNvSpPr>
              <a:spLocks noEditPoints="1"/>
            </p:cNvSpPr>
            <p:nvPr/>
          </p:nvSpPr>
          <p:spPr bwMode="auto">
            <a:xfrm>
              <a:off x="2513" y="1254"/>
              <a:ext cx="737" cy="737"/>
            </a:xfrm>
            <a:custGeom>
              <a:avLst/>
              <a:gdLst/>
              <a:ahLst/>
              <a:cxnLst>
                <a:cxn ang="0">
                  <a:pos x="156" y="0"/>
                </a:cxn>
                <a:cxn ang="0">
                  <a:pos x="0" y="156"/>
                </a:cxn>
                <a:cxn ang="0">
                  <a:pos x="156" y="312"/>
                </a:cxn>
                <a:cxn ang="0">
                  <a:pos x="312" y="156"/>
                </a:cxn>
                <a:cxn ang="0">
                  <a:pos x="156" y="0"/>
                </a:cxn>
                <a:cxn ang="0">
                  <a:pos x="172" y="223"/>
                </a:cxn>
                <a:cxn ang="0">
                  <a:pos x="172" y="252"/>
                </a:cxn>
                <a:cxn ang="0">
                  <a:pos x="137" y="252"/>
                </a:cxn>
                <a:cxn ang="0">
                  <a:pos x="137" y="217"/>
                </a:cxn>
                <a:cxn ang="0">
                  <a:pos x="172" y="217"/>
                </a:cxn>
                <a:cxn ang="0">
                  <a:pos x="172" y="223"/>
                </a:cxn>
                <a:cxn ang="0">
                  <a:pos x="214" y="128"/>
                </a:cxn>
                <a:cxn ang="0">
                  <a:pos x="192" y="153"/>
                </a:cxn>
                <a:cxn ang="0">
                  <a:pos x="173" y="175"/>
                </a:cxn>
                <a:cxn ang="0">
                  <a:pos x="170" y="197"/>
                </a:cxn>
                <a:cxn ang="0">
                  <a:pos x="170" y="204"/>
                </a:cxn>
                <a:cxn ang="0">
                  <a:pos x="137" y="204"/>
                </a:cxn>
                <a:cxn ang="0">
                  <a:pos x="138" y="197"/>
                </a:cxn>
                <a:cxn ang="0">
                  <a:pos x="143" y="168"/>
                </a:cxn>
                <a:cxn ang="0">
                  <a:pos x="165" y="138"/>
                </a:cxn>
                <a:cxn ang="0">
                  <a:pos x="184" y="116"/>
                </a:cxn>
                <a:cxn ang="0">
                  <a:pos x="187" y="103"/>
                </a:cxn>
                <a:cxn ang="0">
                  <a:pos x="179" y="83"/>
                </a:cxn>
                <a:cxn ang="0">
                  <a:pos x="156" y="75"/>
                </a:cxn>
                <a:cxn ang="0">
                  <a:pos x="123" y="113"/>
                </a:cxn>
                <a:cxn ang="0">
                  <a:pos x="122" y="119"/>
                </a:cxn>
                <a:cxn ang="0">
                  <a:pos x="92" y="119"/>
                </a:cxn>
                <a:cxn ang="0">
                  <a:pos x="92" y="112"/>
                </a:cxn>
                <a:cxn ang="0">
                  <a:pos x="97" y="83"/>
                </a:cxn>
                <a:cxn ang="0">
                  <a:pos x="111" y="64"/>
                </a:cxn>
                <a:cxn ang="0">
                  <a:pos x="133" y="51"/>
                </a:cxn>
                <a:cxn ang="0">
                  <a:pos x="157" y="47"/>
                </a:cxn>
                <a:cxn ang="0">
                  <a:pos x="202" y="62"/>
                </a:cxn>
                <a:cxn ang="0">
                  <a:pos x="219" y="104"/>
                </a:cxn>
                <a:cxn ang="0">
                  <a:pos x="214" y="128"/>
                </a:cxn>
                <a:cxn ang="0">
                  <a:pos x="214" y="128"/>
                </a:cxn>
                <a:cxn ang="0">
                  <a:pos x="214" y="128"/>
                </a:cxn>
              </a:cxnLst>
              <a:rect l="0" t="0" r="r" b="b"/>
              <a:pathLst>
                <a:path w="312" h="312">
                  <a:moveTo>
                    <a:pt x="156" y="0"/>
                  </a:moveTo>
                  <a:cubicBezTo>
                    <a:pt x="70" y="0"/>
                    <a:pt x="0" y="70"/>
                    <a:pt x="0" y="156"/>
                  </a:cubicBezTo>
                  <a:cubicBezTo>
                    <a:pt x="0" y="242"/>
                    <a:pt x="70" y="312"/>
                    <a:pt x="156" y="312"/>
                  </a:cubicBezTo>
                  <a:cubicBezTo>
                    <a:pt x="242" y="312"/>
                    <a:pt x="312" y="242"/>
                    <a:pt x="312" y="156"/>
                  </a:cubicBezTo>
                  <a:cubicBezTo>
                    <a:pt x="312" y="70"/>
                    <a:pt x="242" y="0"/>
                    <a:pt x="156" y="0"/>
                  </a:cubicBezTo>
                  <a:close/>
                  <a:moveTo>
                    <a:pt x="172" y="223"/>
                  </a:moveTo>
                  <a:cubicBezTo>
                    <a:pt x="172" y="252"/>
                    <a:pt x="172" y="252"/>
                    <a:pt x="172" y="252"/>
                  </a:cubicBezTo>
                  <a:cubicBezTo>
                    <a:pt x="137" y="252"/>
                    <a:pt x="137" y="252"/>
                    <a:pt x="137" y="252"/>
                  </a:cubicBezTo>
                  <a:cubicBezTo>
                    <a:pt x="137" y="217"/>
                    <a:pt x="137" y="217"/>
                    <a:pt x="137" y="217"/>
                  </a:cubicBezTo>
                  <a:cubicBezTo>
                    <a:pt x="172" y="217"/>
                    <a:pt x="172" y="217"/>
                    <a:pt x="172" y="217"/>
                  </a:cubicBezTo>
                  <a:lnTo>
                    <a:pt x="172" y="223"/>
                  </a:lnTo>
                  <a:close/>
                  <a:moveTo>
                    <a:pt x="214" y="128"/>
                  </a:moveTo>
                  <a:cubicBezTo>
                    <a:pt x="210" y="134"/>
                    <a:pt x="203" y="143"/>
                    <a:pt x="192" y="153"/>
                  </a:cubicBezTo>
                  <a:cubicBezTo>
                    <a:pt x="181" y="163"/>
                    <a:pt x="175" y="171"/>
                    <a:pt x="173" y="175"/>
                  </a:cubicBezTo>
                  <a:cubicBezTo>
                    <a:pt x="171" y="179"/>
                    <a:pt x="170" y="186"/>
                    <a:pt x="170" y="197"/>
                  </a:cubicBezTo>
                  <a:cubicBezTo>
                    <a:pt x="170" y="204"/>
                    <a:pt x="170" y="204"/>
                    <a:pt x="170" y="204"/>
                  </a:cubicBezTo>
                  <a:cubicBezTo>
                    <a:pt x="137" y="204"/>
                    <a:pt x="137" y="204"/>
                    <a:pt x="137" y="204"/>
                  </a:cubicBezTo>
                  <a:cubicBezTo>
                    <a:pt x="138" y="197"/>
                    <a:pt x="138" y="197"/>
                    <a:pt x="138" y="197"/>
                  </a:cubicBezTo>
                  <a:cubicBezTo>
                    <a:pt x="138" y="186"/>
                    <a:pt x="140" y="176"/>
                    <a:pt x="143" y="168"/>
                  </a:cubicBezTo>
                  <a:cubicBezTo>
                    <a:pt x="147" y="159"/>
                    <a:pt x="154" y="150"/>
                    <a:pt x="165" y="138"/>
                  </a:cubicBezTo>
                  <a:cubicBezTo>
                    <a:pt x="175" y="128"/>
                    <a:pt x="182" y="120"/>
                    <a:pt x="184" y="116"/>
                  </a:cubicBezTo>
                  <a:cubicBezTo>
                    <a:pt x="186" y="113"/>
                    <a:pt x="187" y="108"/>
                    <a:pt x="187" y="103"/>
                  </a:cubicBezTo>
                  <a:cubicBezTo>
                    <a:pt x="187" y="94"/>
                    <a:pt x="185" y="88"/>
                    <a:pt x="179" y="83"/>
                  </a:cubicBezTo>
                  <a:cubicBezTo>
                    <a:pt x="174" y="78"/>
                    <a:pt x="166" y="75"/>
                    <a:pt x="156" y="75"/>
                  </a:cubicBezTo>
                  <a:cubicBezTo>
                    <a:pt x="136" y="75"/>
                    <a:pt x="125" y="87"/>
                    <a:pt x="123" y="113"/>
                  </a:cubicBezTo>
                  <a:cubicBezTo>
                    <a:pt x="122" y="119"/>
                    <a:pt x="122" y="119"/>
                    <a:pt x="122" y="119"/>
                  </a:cubicBezTo>
                  <a:cubicBezTo>
                    <a:pt x="92" y="119"/>
                    <a:pt x="92" y="119"/>
                    <a:pt x="92" y="119"/>
                  </a:cubicBezTo>
                  <a:cubicBezTo>
                    <a:pt x="92" y="112"/>
                    <a:pt x="92" y="112"/>
                    <a:pt x="92" y="112"/>
                  </a:cubicBezTo>
                  <a:cubicBezTo>
                    <a:pt x="92" y="100"/>
                    <a:pt x="94" y="91"/>
                    <a:pt x="97" y="83"/>
                  </a:cubicBezTo>
                  <a:cubicBezTo>
                    <a:pt x="99" y="76"/>
                    <a:pt x="104" y="70"/>
                    <a:pt x="111" y="64"/>
                  </a:cubicBezTo>
                  <a:cubicBezTo>
                    <a:pt x="117" y="58"/>
                    <a:pt x="125" y="54"/>
                    <a:pt x="133" y="51"/>
                  </a:cubicBezTo>
                  <a:cubicBezTo>
                    <a:pt x="141" y="48"/>
                    <a:pt x="149" y="47"/>
                    <a:pt x="157" y="47"/>
                  </a:cubicBezTo>
                  <a:cubicBezTo>
                    <a:pt x="175" y="47"/>
                    <a:pt x="190" y="52"/>
                    <a:pt x="202" y="62"/>
                  </a:cubicBezTo>
                  <a:cubicBezTo>
                    <a:pt x="213" y="73"/>
                    <a:pt x="219" y="87"/>
                    <a:pt x="219" y="104"/>
                  </a:cubicBezTo>
                  <a:cubicBezTo>
                    <a:pt x="219" y="113"/>
                    <a:pt x="218" y="121"/>
                    <a:pt x="214" y="128"/>
                  </a:cubicBezTo>
                  <a:close/>
                  <a:moveTo>
                    <a:pt x="214" y="128"/>
                  </a:moveTo>
                  <a:cubicBezTo>
                    <a:pt x="214" y="128"/>
                    <a:pt x="214" y="128"/>
                    <a:pt x="214" y="128"/>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第二</a:t>
            </a:r>
            <a:r>
              <a:rPr lang="zh-CN" altLang="en-US" sz="4000" dirty="0">
                <a:solidFill>
                  <a:schemeClr val="accent5">
                    <a:lumMod val="50000"/>
                  </a:schemeClr>
                </a:solidFill>
              </a:rPr>
              <a:t>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en-US" altLang="zh-CN" dirty="0">
                <a:sym typeface="+mn-ea"/>
              </a:rPr>
              <a:t>for</a:t>
            </a:r>
            <a:r>
              <a:rPr lang="zh-CN" altLang="en-US" dirty="0">
                <a:sym typeface="+mn-ea"/>
              </a:rPr>
              <a:t>循环结构</a:t>
            </a:r>
            <a:endParaRPr lang="zh-CN" altLang="en-US" dirty="0">
              <a:solidFill>
                <a:schemeClr val="tx1">
                  <a:lumMod val="65000"/>
                  <a:lumOff val="35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30"/>
          <p:cNvSpPr txBox="1"/>
          <p:nvPr/>
        </p:nvSpPr>
        <p:spPr>
          <a:xfrm>
            <a:off x="6588225" y="60722"/>
            <a:ext cx="2376388" cy="439326"/>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ea"/>
                <a:ea typeface="+mj-ea"/>
                <a:cs typeface="+mj-cs"/>
                <a:sym typeface="+mn-ea"/>
              </a:rPr>
              <a:t>如何使用</a:t>
            </a:r>
            <a:r>
              <a:rPr lang="en-US" altLang="zh-CN" sz="2000" b="0" dirty="0" err="1">
                <a:solidFill>
                  <a:srgbClr val="0070C0"/>
                </a:solidFill>
                <a:latin typeface="+mj-ea"/>
                <a:ea typeface="+mj-ea"/>
                <a:cs typeface="+mj-cs"/>
                <a:sym typeface="+mn-ea"/>
              </a:rPr>
              <a:t>for</a:t>
            </a:r>
            <a:r>
              <a:rPr lang="en-US" altLang="zh-CN" sz="2000" b="0" dirty="0" err="1">
                <a:solidFill>
                  <a:srgbClr val="0070C0"/>
                </a:solidFill>
                <a:latin typeface="+mj-ea"/>
                <a:ea typeface="+mj-ea"/>
                <a:cs typeface="+mj-cs"/>
              </a:rPr>
              <a:t>循环</a:t>
            </a:r>
            <a:endParaRPr lang="en-US" altLang="zh-CN" sz="2000" b="0" dirty="0">
              <a:solidFill>
                <a:srgbClr val="0070C0"/>
              </a:solidFill>
              <a:latin typeface="+mj-ea"/>
              <a:ea typeface="+mj-ea"/>
              <a:cs typeface="+mj-cs"/>
            </a:endParaRPr>
          </a:p>
        </p:txBody>
      </p:sp>
      <p:sp>
        <p:nvSpPr>
          <p:cNvPr id="37891" name="内容占位符 31"/>
          <p:cNvSpPr txBox="1"/>
          <p:nvPr/>
        </p:nvSpPr>
        <p:spPr>
          <a:xfrm>
            <a:off x="952500" y="1351597"/>
            <a:ext cx="7645400" cy="530543"/>
          </a:xfrm>
          <a:prstGeom prst="rect">
            <a:avLst/>
          </a:prstGeom>
          <a:noFill/>
          <a:ln w="9525">
            <a:noFill/>
          </a:ln>
        </p:spPr>
        <p:txBody>
          <a:bodyPr anchor="t"/>
          <a:lstStyle/>
          <a:p>
            <a:pPr algn="l" eaLnBrk="0" hangingPunct="0">
              <a:lnSpc>
                <a:spcPct val="130000"/>
              </a:lnSpc>
              <a:buClr>
                <a:srgbClr val="000000"/>
              </a:buClr>
              <a:buNone/>
            </a:pPr>
            <a:r>
              <a:rPr lang="zh-CN" altLang="en-US" sz="2000" b="0" dirty="0">
                <a:solidFill>
                  <a:schemeClr val="tx1">
                    <a:lumMod val="75000"/>
                    <a:lumOff val="25000"/>
                  </a:schemeClr>
                </a:solidFill>
                <a:latin typeface="+mn-ea"/>
                <a:ea typeface="+mn-ea"/>
              </a:rPr>
              <a:t>for循环的语法和用法</a:t>
            </a:r>
            <a:endParaRPr lang="en-US" altLang="x-none" sz="2000" dirty="0">
              <a:solidFill>
                <a:schemeClr val="tx1">
                  <a:lumMod val="65000"/>
                  <a:lumOff val="35000"/>
                </a:schemeClr>
              </a:solidFill>
              <a:latin typeface="+mn-ea"/>
              <a:ea typeface="+mn-ea"/>
            </a:endParaRPr>
          </a:p>
          <a:p>
            <a:pPr algn="l" eaLnBrk="0" hangingPunct="0">
              <a:lnSpc>
                <a:spcPct val="130000"/>
              </a:lnSpc>
              <a:buClr>
                <a:srgbClr val="000000"/>
              </a:buClr>
              <a:buNone/>
            </a:pPr>
            <a:endParaRPr lang="en-US" altLang="x-none" sz="2000" dirty="0">
              <a:solidFill>
                <a:schemeClr val="tx1">
                  <a:lumMod val="65000"/>
                  <a:lumOff val="35000"/>
                </a:schemeClr>
              </a:solidFill>
              <a:latin typeface="+mn-ea"/>
              <a:ea typeface="+mn-ea"/>
            </a:endParaRPr>
          </a:p>
        </p:txBody>
      </p:sp>
      <p:sp>
        <p:nvSpPr>
          <p:cNvPr id="37892" name="Line 4"/>
          <p:cNvSpPr/>
          <p:nvPr/>
        </p:nvSpPr>
        <p:spPr>
          <a:xfrm>
            <a:off x="1373506" y="2152095"/>
            <a:ext cx="3025775" cy="0"/>
          </a:xfrm>
          <a:prstGeom prst="line">
            <a:avLst/>
          </a:prstGeom>
          <a:ln w="9525">
            <a:noFill/>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37893" name="AutoShape 5"/>
          <p:cNvSpPr/>
          <p:nvPr/>
        </p:nvSpPr>
        <p:spPr>
          <a:xfrm>
            <a:off x="5134611" y="1562735"/>
            <a:ext cx="1871663" cy="457200"/>
          </a:xfrm>
          <a:prstGeom prst="wedgeRectCallout">
            <a:avLst>
              <a:gd name="adj1" fmla="val -50764"/>
              <a:gd name="adj2" fmla="val 116667"/>
            </a:avLst>
          </a:prstGeom>
          <a:noFill/>
          <a:ln w="9525">
            <a:noFill/>
          </a:ln>
        </p:spPr>
        <p:txBody>
          <a:bodyPr anchor="t"/>
          <a:lstStyle/>
          <a:p>
            <a:pPr>
              <a:buNone/>
            </a:pPr>
            <a:endParaRPr lang="zh-CN" altLang="en-US" sz="1600" dirty="0">
              <a:solidFill>
                <a:srgbClr val="FF0000"/>
              </a:solidFill>
              <a:latin typeface="Times New Roman" panose="02020603050405020304" pitchFamily="18" charset="0"/>
              <a:ea typeface="黑体" panose="02010609060101010101" pitchFamily="2" charset="-122"/>
            </a:endParaRPr>
          </a:p>
        </p:txBody>
      </p:sp>
      <p:sp>
        <p:nvSpPr>
          <p:cNvPr id="37896" name="AutoShape 9"/>
          <p:cNvSpPr/>
          <p:nvPr/>
        </p:nvSpPr>
        <p:spPr>
          <a:xfrm>
            <a:off x="1056640" y="2082721"/>
            <a:ext cx="7031038" cy="1373861"/>
          </a:xfrm>
          <a:prstGeom prst="roundRect">
            <a:avLst>
              <a:gd name="adj" fmla="val 292"/>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None/>
            </a:pPr>
            <a:r>
              <a:rPr lang="en-US" altLang="x-none" sz="1600" dirty="0">
                <a:solidFill>
                  <a:srgbClr val="0000FF"/>
                </a:solidFill>
                <a:latin typeface="Times New Roman" panose="02020603050405020304" pitchFamily="18" charset="0"/>
                <a:ea typeface="宋体" panose="02010600030101010101" pitchFamily="2" charset="-122"/>
              </a:rPr>
              <a:t>for  i  in  </a:t>
            </a:r>
            <a:r>
              <a:rPr lang="zh-CN" altLang="en-US" sz="1600" dirty="0">
                <a:solidFill>
                  <a:srgbClr val="0000FF"/>
                </a:solidFill>
                <a:latin typeface="Times New Roman" panose="02020603050405020304" pitchFamily="18" charset="0"/>
                <a:ea typeface="宋体" panose="02010600030101010101" pitchFamily="2" charset="-122"/>
              </a:rPr>
              <a:t>序列：</a:t>
            </a:r>
            <a:endParaRPr lang="zh-CN" altLang="en-US" sz="16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pass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r>
              <a:rPr lang="zh-CN" altLang="en-US" sz="1600" dirty="0">
                <a:solidFill>
                  <a:srgbClr val="09131F"/>
                </a:solidFill>
                <a:latin typeface="Times New Roman" panose="02020603050405020304" pitchFamily="18" charset="0"/>
                <a:ea typeface="宋体" panose="02010600030101010101" pitchFamily="2" charset="-122"/>
              </a:rPr>
              <a:t>在这里</a:t>
            </a:r>
            <a:r>
              <a:rPr lang="en-US" altLang="zh-CN" sz="1600" dirty="0">
                <a:solidFill>
                  <a:srgbClr val="09131F"/>
                </a:solidFill>
                <a:latin typeface="Times New Roman" panose="02020603050405020304" pitchFamily="18" charset="0"/>
                <a:ea typeface="宋体" panose="02010600030101010101" pitchFamily="2" charset="-122"/>
              </a:rPr>
              <a:t>i</a:t>
            </a:r>
            <a:r>
              <a:rPr lang="zh-CN" altLang="en-US" sz="1600" dirty="0">
                <a:solidFill>
                  <a:srgbClr val="09131F"/>
                </a:solidFill>
                <a:latin typeface="Times New Roman" panose="02020603050405020304" pitchFamily="18" charset="0"/>
                <a:ea typeface="宋体" panose="02010600030101010101" pitchFamily="2" charset="-122"/>
              </a:rPr>
              <a:t>表示的是临时变量，在这里</a:t>
            </a:r>
            <a:r>
              <a:rPr lang="en-US" altLang="zh-CN" sz="1600" dirty="0">
                <a:solidFill>
                  <a:srgbClr val="09131F"/>
                </a:solidFill>
                <a:latin typeface="Times New Roman" panose="02020603050405020304" pitchFamily="18" charset="0"/>
                <a:ea typeface="宋体" panose="02010600030101010101" pitchFamily="2" charset="-122"/>
              </a:rPr>
              <a:t>for</a:t>
            </a:r>
            <a:r>
              <a:rPr lang="zh-CN" altLang="en-US" sz="1600" dirty="0">
                <a:solidFill>
                  <a:srgbClr val="09131F"/>
                </a:solidFill>
                <a:latin typeface="Times New Roman" panose="02020603050405020304" pitchFamily="18" charset="0"/>
                <a:ea typeface="宋体" panose="02010600030101010101" pitchFamily="2" charset="-122"/>
              </a:rPr>
              <a:t>循环是没有条件的，直到循环完整个序列</a:t>
            </a:r>
            <a:endParaRPr lang="zh-CN" altLang="en-US" sz="1600" dirty="0">
              <a:solidFill>
                <a:srgbClr val="09131F"/>
              </a:solidFill>
              <a:latin typeface="Times New Roman" panose="02020603050405020304" pitchFamily="18" charset="0"/>
              <a:ea typeface="宋体" panose="02010600030101010101" pitchFamily="2" charset="-122"/>
            </a:endParaRPr>
          </a:p>
        </p:txBody>
      </p:sp>
      <p:sp>
        <p:nvSpPr>
          <p:cNvPr id="37897" name="AutoShape 10"/>
          <p:cNvSpPr/>
          <p:nvPr/>
        </p:nvSpPr>
        <p:spPr>
          <a:xfrm>
            <a:off x="1206818" y="4362926"/>
            <a:ext cx="6654800" cy="304800"/>
          </a:xfrm>
          <a:prstGeom prst="roundRect">
            <a:avLst>
              <a:gd name="adj" fmla="val 8435"/>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defTabSz="914400">
              <a:buNone/>
            </a:pPr>
            <a:r>
              <a:rPr lang="zh-CN" altLang="en-US" sz="1600" dirty="0">
                <a:latin typeface="Times New Roman" panose="02020603050405020304" pitchFamily="18" charset="0"/>
                <a:ea typeface="宋体" panose="02010600030101010101" pitchFamily="2" charset="-122"/>
              </a:rPr>
              <a:t> </a:t>
            </a:r>
            <a:r>
              <a:rPr lang="en-US" altLang="x-none" sz="1600" dirty="0" err="1">
                <a:solidFill>
                  <a:schemeClr val="tx1">
                    <a:lumMod val="65000"/>
                    <a:lumOff val="35000"/>
                  </a:schemeClr>
                </a:solidFill>
                <a:latin typeface="+mn-ea"/>
                <a:ea typeface="+mn-ea"/>
              </a:rPr>
              <a:t>代码规范</a:t>
            </a:r>
            <a:r>
              <a:rPr lang="zh-CN" altLang="en-US" sz="1600" dirty="0">
                <a:latin typeface="Times New Roman" panose="02020603050405020304" pitchFamily="18" charset="0"/>
                <a:ea typeface="宋体" panose="02010600030101010101" pitchFamily="2" charset="-122"/>
              </a:rPr>
              <a:t>：</a:t>
            </a:r>
            <a:r>
              <a:rPr lang="zh-CN" altLang="en-US" sz="1600" dirty="0">
                <a:solidFill>
                  <a:srgbClr val="0000FF"/>
                </a:solidFill>
                <a:latin typeface="Times New Roman" panose="02020603050405020304" pitchFamily="18" charset="0"/>
                <a:ea typeface="宋体" panose="02010600030101010101" pitchFamily="2" charset="-122"/>
              </a:rPr>
              <a:t>格式对齐、代码的缩进</a:t>
            </a:r>
            <a:endParaRPr lang="zh-CN" altLang="en-US" sz="1600" dirty="0">
              <a:solidFill>
                <a:srgbClr val="0000FF"/>
              </a:solidFill>
              <a:latin typeface="Times New Roman" panose="02020603050405020304" pitchFamily="18" charset="0"/>
              <a:ea typeface="宋体" panose="02010600030101010101" pitchFamily="2" charset="-122"/>
            </a:endParaRPr>
          </a:p>
        </p:txBody>
      </p:sp>
      <p:sp>
        <p:nvSpPr>
          <p:cNvPr id="2" name="AutoShape 16"/>
          <p:cNvSpPr/>
          <p:nvPr/>
        </p:nvSpPr>
        <p:spPr>
          <a:xfrm>
            <a:off x="1002030" y="3547587"/>
            <a:ext cx="7065010" cy="551021"/>
          </a:xfrm>
          <a:prstGeom prst="roundRect">
            <a:avLst>
              <a:gd name="adj" fmla="val 0"/>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t"/>
          <a:lstStyle/>
          <a:p>
            <a:pPr algn="ctr" defTabSz="914400" eaLnBrk="0" hangingPunct="0">
              <a:lnSpc>
                <a:spcPct val="150000"/>
              </a:lnSpc>
              <a:buClr>
                <a:srgbClr val="233DA9"/>
              </a:buClr>
              <a:buSzPct val="80000"/>
              <a:buNone/>
            </a:pPr>
            <a:r>
              <a:rPr lang="zh-CN" altLang="en-US" sz="1600" b="0" dirty="0">
                <a:solidFill>
                  <a:schemeClr val="tx1">
                    <a:lumMod val="75000"/>
                    <a:lumOff val="25000"/>
                  </a:schemeClr>
                </a:solidFill>
                <a:latin typeface="+mn-ea"/>
                <a:ea typeface="+mn-ea"/>
              </a:rPr>
              <a:t>for循环可以遍历任何序列的项目，如一个列表或者一个字符串等</a:t>
            </a:r>
            <a:endParaRPr lang="zh-CN" altLang="en-US" sz="1600" b="0" dirty="0">
              <a:solidFill>
                <a:schemeClr val="tx1">
                  <a:lumMod val="75000"/>
                  <a:lumOff val="25000"/>
                </a:schemeClr>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wipe(left)">
                                      <p:cBhvr>
                                        <p:cTn id="7" dur="500"/>
                                        <p:tgtEl>
                                          <p:spTgt spid="378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7897"/>
                                        </p:tgtEl>
                                        <p:attrNameLst>
                                          <p:attrName>style.visibility</p:attrName>
                                        </p:attrNameLst>
                                      </p:cBhvr>
                                      <p:to>
                                        <p:strVal val="visible"/>
                                      </p:to>
                                    </p:set>
                                    <p:animEffect transition="in" filter="wipe(left)">
                                      <p:cBhvr>
                                        <p:cTn id="12" dur="500"/>
                                        <p:tgtEl>
                                          <p:spTgt spid="37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6"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8300"/>
          </a:xfrm>
          <a:prstGeom prst="rect">
            <a:avLst/>
          </a:prstGeom>
          <a:noFill/>
        </p:spPr>
        <p:txBody>
          <a:bodyPr wrap="square">
            <a:spAutoFit/>
          </a:bodyPr>
          <a:lstStyle/>
          <a:p>
            <a:pPr algn="r"/>
            <a:r>
              <a:rPr lang="en-US" altLang="zh-CN" b="0" dirty="0" err="1">
                <a:solidFill>
                  <a:srgbClr val="0070C0"/>
                </a:solidFill>
                <a:latin typeface="+mj-ea"/>
              </a:rPr>
              <a:t>for</a:t>
            </a:r>
            <a:r>
              <a:rPr lang="en-US" altLang="zh-CN" b="0" dirty="0" err="1">
                <a:solidFill>
                  <a:srgbClr val="0070C0"/>
                </a:solidFill>
                <a:latin typeface="+mj-ea"/>
              </a:rPr>
              <a:t>循环</a:t>
            </a:r>
            <a:r>
              <a:rPr lang="zh-CN" altLang="en-US" b="0" dirty="0">
                <a:solidFill>
                  <a:srgbClr val="0070C0"/>
                </a:solidFill>
                <a:latin typeface="+mj-ea"/>
              </a:rPr>
              <a:t>案例</a:t>
            </a:r>
            <a:r>
              <a:rPr lang="zh-CN" altLang="zh-CN" b="0" dirty="0">
                <a:solidFill>
                  <a:srgbClr val="0070C0"/>
                </a:solidFill>
                <a:latin typeface="+mj-ea"/>
              </a:rPr>
              <a:t> </a:t>
            </a:r>
            <a:endParaRPr lang="zh-CN" altLang="en-US" b="0" dirty="0">
              <a:solidFill>
                <a:srgbClr val="0070C0"/>
              </a:solidFill>
              <a:latin typeface="+mj-ea"/>
            </a:endParaRPr>
          </a:p>
        </p:txBody>
      </p:sp>
      <p:sp>
        <p:nvSpPr>
          <p:cNvPr id="3" name="内容占位符 2"/>
          <p:cNvSpPr>
            <a:spLocks noGrp="1"/>
          </p:cNvSpPr>
          <p:nvPr>
            <p:ph idx="1"/>
          </p:nvPr>
        </p:nvSpPr>
        <p:spPr>
          <a:prstGeom prst="rect">
            <a:avLst/>
          </a:prstGeom>
        </p:spPr>
        <p:txBody>
          <a:bodyPr/>
          <a:lstStyle/>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5</a:t>
            </a:r>
            <a:r>
              <a:rPr lang="zh-CN" altLang="en-US" sz="2000" dirty="0">
                <a:solidFill>
                  <a:schemeClr val="tx1">
                    <a:lumMod val="75000"/>
                    <a:lumOff val="25000"/>
                  </a:schemeClr>
                </a:solidFill>
                <a:latin typeface="+mn-ea"/>
              </a:rPr>
              <a:t>的阶乘</a:t>
            </a:r>
            <a:endParaRPr lang="zh-CN" altLang="en-US" sz="20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1-100</a:t>
            </a:r>
            <a:r>
              <a:rPr lang="zh-CN" altLang="en-US" sz="2000" dirty="0">
                <a:solidFill>
                  <a:schemeClr val="tx1">
                    <a:lumMod val="75000"/>
                    <a:lumOff val="25000"/>
                  </a:schemeClr>
                </a:solidFill>
                <a:latin typeface="+mn-ea"/>
              </a:rPr>
              <a:t>的累加和</a:t>
            </a:r>
            <a:endParaRPr lang="zh-CN" altLang="en-US" sz="20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1-100</a:t>
            </a:r>
            <a:r>
              <a:rPr lang="zh-CN" altLang="en-US" sz="2000" dirty="0">
                <a:solidFill>
                  <a:schemeClr val="tx1">
                    <a:lumMod val="75000"/>
                    <a:lumOff val="25000"/>
                  </a:schemeClr>
                </a:solidFill>
                <a:latin typeface="+mn-ea"/>
              </a:rPr>
              <a:t>的偶数和</a:t>
            </a:r>
            <a:endParaRPr lang="zh-CN" altLang="en-US" sz="20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计算</a:t>
            </a:r>
            <a:r>
              <a:rPr lang="en-US" altLang="zh-CN" sz="2000" dirty="0">
                <a:solidFill>
                  <a:schemeClr val="tx1">
                    <a:lumMod val="75000"/>
                    <a:lumOff val="25000"/>
                  </a:schemeClr>
                </a:solidFill>
                <a:latin typeface="+mn-ea"/>
              </a:rPr>
              <a:t>1-100</a:t>
            </a:r>
            <a:r>
              <a:rPr lang="zh-CN" altLang="en-US" sz="2000" dirty="0">
                <a:solidFill>
                  <a:schemeClr val="tx1">
                    <a:lumMod val="75000"/>
                    <a:lumOff val="25000"/>
                  </a:schemeClr>
                </a:solidFill>
                <a:latin typeface="+mn-ea"/>
              </a:rPr>
              <a:t>的奇数和</a:t>
            </a:r>
            <a:endParaRPr lang="zh-CN" altLang="en-US" sz="20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endParaRPr lang="zh-CN" altLang="en-US" sz="2000" u="heavy" dirty="0">
              <a:solidFill>
                <a:schemeClr val="tx1">
                  <a:lumMod val="75000"/>
                  <a:lumOff val="25000"/>
                </a:schemeClr>
              </a:solidFill>
              <a:latin typeface="+mn-ea"/>
            </a:endParaRPr>
          </a:p>
        </p:txBody>
      </p:sp>
      <p:sp>
        <p:nvSpPr>
          <p:cNvPr id="5" name="副标题 4"/>
          <p:cNvSpPr>
            <a:spLocks noGrp="1"/>
          </p:cNvSpPr>
          <p:nvPr>
            <p:ph type="subTitle" idx="10"/>
          </p:nvPr>
        </p:nvSpPr>
        <p:spPr/>
        <p:txBody>
          <a:bodyPr/>
          <a:lstStyle/>
          <a:p>
            <a:r>
              <a:rPr lang="zh-CN" altLang="en-US" dirty="0"/>
              <a:t>使用</a:t>
            </a:r>
            <a:r>
              <a:rPr lang="en-US" altLang="zh-CN" dirty="0"/>
              <a:t>for</a:t>
            </a:r>
            <a:r>
              <a:rPr lang="zh-CN" altLang="en-US" dirty="0"/>
              <a:t>循环实现以下</a:t>
            </a:r>
            <a:r>
              <a:rPr lang="zh-CN" altLang="en-US" dirty="0"/>
              <a:t>案例</a:t>
            </a:r>
            <a:endParaRPr lang="zh-CN" altLang="en-US" dirty="0"/>
          </a:p>
        </p:txBody>
      </p:sp>
      <p:sp>
        <p:nvSpPr>
          <p:cNvPr id="8" name="Rectangle 6"/>
          <p:cNvSpPr>
            <a:spLocks noChangeArrowheads="1"/>
          </p:cNvSpPr>
          <p:nvPr/>
        </p:nvSpPr>
        <p:spPr bwMode="auto">
          <a:xfrm>
            <a:off x="0" y="44719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4" name="Group 31"/>
          <p:cNvGrpSpPr>
            <a:grpSpLocks noChangeAspect="1"/>
          </p:cNvGrpSpPr>
          <p:nvPr/>
        </p:nvGrpSpPr>
        <p:grpSpPr bwMode="auto">
          <a:xfrm>
            <a:off x="220716" y="838676"/>
            <a:ext cx="216610" cy="162678"/>
            <a:chOff x="2511" y="1251"/>
            <a:chExt cx="739" cy="740"/>
          </a:xfrm>
        </p:grpSpPr>
        <p:sp>
          <p:nvSpPr>
            <p:cNvPr id="14" name="AutoShape 30"/>
            <p:cNvSpPr>
              <a:spLocks noChangeAspect="1" noChangeArrowheads="1" noTextEdit="1"/>
            </p:cNvSpPr>
            <p:nvPr/>
          </p:nvSpPr>
          <p:spPr bwMode="auto">
            <a:xfrm>
              <a:off x="2511" y="1251"/>
              <a:ext cx="737" cy="737"/>
            </a:xfrm>
            <a:prstGeom prst="rect">
              <a:avLst/>
            </a:prstGeom>
            <a:noFill/>
            <a:ln w="9525">
              <a:noFill/>
              <a:miter lim="800000"/>
            </a:ln>
          </p:spPr>
          <p:txBody>
            <a:bodyPr vert="horz" wrap="square" lIns="91440" tIns="45720" rIns="91440" bIns="45720" numCol="1" anchor="t" anchorCtr="0" compatLnSpc="1"/>
            <a:lstStyle/>
            <a:p>
              <a:endParaRPr lang="zh-CN" altLang="en-US"/>
            </a:p>
          </p:txBody>
        </p:sp>
        <p:sp>
          <p:nvSpPr>
            <p:cNvPr id="15" name="Freeform 32"/>
            <p:cNvSpPr>
              <a:spLocks noEditPoints="1"/>
            </p:cNvSpPr>
            <p:nvPr/>
          </p:nvSpPr>
          <p:spPr bwMode="auto">
            <a:xfrm>
              <a:off x="2513" y="1254"/>
              <a:ext cx="737" cy="737"/>
            </a:xfrm>
            <a:custGeom>
              <a:avLst/>
              <a:gdLst/>
              <a:ahLst/>
              <a:cxnLst>
                <a:cxn ang="0">
                  <a:pos x="156" y="0"/>
                </a:cxn>
                <a:cxn ang="0">
                  <a:pos x="0" y="156"/>
                </a:cxn>
                <a:cxn ang="0">
                  <a:pos x="156" y="312"/>
                </a:cxn>
                <a:cxn ang="0">
                  <a:pos x="312" y="156"/>
                </a:cxn>
                <a:cxn ang="0">
                  <a:pos x="156" y="0"/>
                </a:cxn>
                <a:cxn ang="0">
                  <a:pos x="172" y="223"/>
                </a:cxn>
                <a:cxn ang="0">
                  <a:pos x="172" y="252"/>
                </a:cxn>
                <a:cxn ang="0">
                  <a:pos x="137" y="252"/>
                </a:cxn>
                <a:cxn ang="0">
                  <a:pos x="137" y="217"/>
                </a:cxn>
                <a:cxn ang="0">
                  <a:pos x="172" y="217"/>
                </a:cxn>
                <a:cxn ang="0">
                  <a:pos x="172" y="223"/>
                </a:cxn>
                <a:cxn ang="0">
                  <a:pos x="214" y="128"/>
                </a:cxn>
                <a:cxn ang="0">
                  <a:pos x="192" y="153"/>
                </a:cxn>
                <a:cxn ang="0">
                  <a:pos x="173" y="175"/>
                </a:cxn>
                <a:cxn ang="0">
                  <a:pos x="170" y="197"/>
                </a:cxn>
                <a:cxn ang="0">
                  <a:pos x="170" y="204"/>
                </a:cxn>
                <a:cxn ang="0">
                  <a:pos x="137" y="204"/>
                </a:cxn>
                <a:cxn ang="0">
                  <a:pos x="138" y="197"/>
                </a:cxn>
                <a:cxn ang="0">
                  <a:pos x="143" y="168"/>
                </a:cxn>
                <a:cxn ang="0">
                  <a:pos x="165" y="138"/>
                </a:cxn>
                <a:cxn ang="0">
                  <a:pos x="184" y="116"/>
                </a:cxn>
                <a:cxn ang="0">
                  <a:pos x="187" y="103"/>
                </a:cxn>
                <a:cxn ang="0">
                  <a:pos x="179" y="83"/>
                </a:cxn>
                <a:cxn ang="0">
                  <a:pos x="156" y="75"/>
                </a:cxn>
                <a:cxn ang="0">
                  <a:pos x="123" y="113"/>
                </a:cxn>
                <a:cxn ang="0">
                  <a:pos x="122" y="119"/>
                </a:cxn>
                <a:cxn ang="0">
                  <a:pos x="92" y="119"/>
                </a:cxn>
                <a:cxn ang="0">
                  <a:pos x="92" y="112"/>
                </a:cxn>
                <a:cxn ang="0">
                  <a:pos x="97" y="83"/>
                </a:cxn>
                <a:cxn ang="0">
                  <a:pos x="111" y="64"/>
                </a:cxn>
                <a:cxn ang="0">
                  <a:pos x="133" y="51"/>
                </a:cxn>
                <a:cxn ang="0">
                  <a:pos x="157" y="47"/>
                </a:cxn>
                <a:cxn ang="0">
                  <a:pos x="202" y="62"/>
                </a:cxn>
                <a:cxn ang="0">
                  <a:pos x="219" y="104"/>
                </a:cxn>
                <a:cxn ang="0">
                  <a:pos x="214" y="128"/>
                </a:cxn>
                <a:cxn ang="0">
                  <a:pos x="214" y="128"/>
                </a:cxn>
                <a:cxn ang="0">
                  <a:pos x="214" y="128"/>
                </a:cxn>
              </a:cxnLst>
              <a:rect l="0" t="0" r="r" b="b"/>
              <a:pathLst>
                <a:path w="312" h="312">
                  <a:moveTo>
                    <a:pt x="156" y="0"/>
                  </a:moveTo>
                  <a:cubicBezTo>
                    <a:pt x="70" y="0"/>
                    <a:pt x="0" y="70"/>
                    <a:pt x="0" y="156"/>
                  </a:cubicBezTo>
                  <a:cubicBezTo>
                    <a:pt x="0" y="242"/>
                    <a:pt x="70" y="312"/>
                    <a:pt x="156" y="312"/>
                  </a:cubicBezTo>
                  <a:cubicBezTo>
                    <a:pt x="242" y="312"/>
                    <a:pt x="312" y="242"/>
                    <a:pt x="312" y="156"/>
                  </a:cubicBezTo>
                  <a:cubicBezTo>
                    <a:pt x="312" y="70"/>
                    <a:pt x="242" y="0"/>
                    <a:pt x="156" y="0"/>
                  </a:cubicBezTo>
                  <a:close/>
                  <a:moveTo>
                    <a:pt x="172" y="223"/>
                  </a:moveTo>
                  <a:cubicBezTo>
                    <a:pt x="172" y="252"/>
                    <a:pt x="172" y="252"/>
                    <a:pt x="172" y="252"/>
                  </a:cubicBezTo>
                  <a:cubicBezTo>
                    <a:pt x="137" y="252"/>
                    <a:pt x="137" y="252"/>
                    <a:pt x="137" y="252"/>
                  </a:cubicBezTo>
                  <a:cubicBezTo>
                    <a:pt x="137" y="217"/>
                    <a:pt x="137" y="217"/>
                    <a:pt x="137" y="217"/>
                  </a:cubicBezTo>
                  <a:cubicBezTo>
                    <a:pt x="172" y="217"/>
                    <a:pt x="172" y="217"/>
                    <a:pt x="172" y="217"/>
                  </a:cubicBezTo>
                  <a:lnTo>
                    <a:pt x="172" y="223"/>
                  </a:lnTo>
                  <a:close/>
                  <a:moveTo>
                    <a:pt x="214" y="128"/>
                  </a:moveTo>
                  <a:cubicBezTo>
                    <a:pt x="210" y="134"/>
                    <a:pt x="203" y="143"/>
                    <a:pt x="192" y="153"/>
                  </a:cubicBezTo>
                  <a:cubicBezTo>
                    <a:pt x="181" y="163"/>
                    <a:pt x="175" y="171"/>
                    <a:pt x="173" y="175"/>
                  </a:cubicBezTo>
                  <a:cubicBezTo>
                    <a:pt x="171" y="179"/>
                    <a:pt x="170" y="186"/>
                    <a:pt x="170" y="197"/>
                  </a:cubicBezTo>
                  <a:cubicBezTo>
                    <a:pt x="170" y="204"/>
                    <a:pt x="170" y="204"/>
                    <a:pt x="170" y="204"/>
                  </a:cubicBezTo>
                  <a:cubicBezTo>
                    <a:pt x="137" y="204"/>
                    <a:pt x="137" y="204"/>
                    <a:pt x="137" y="204"/>
                  </a:cubicBezTo>
                  <a:cubicBezTo>
                    <a:pt x="138" y="197"/>
                    <a:pt x="138" y="197"/>
                    <a:pt x="138" y="197"/>
                  </a:cubicBezTo>
                  <a:cubicBezTo>
                    <a:pt x="138" y="186"/>
                    <a:pt x="140" y="176"/>
                    <a:pt x="143" y="168"/>
                  </a:cubicBezTo>
                  <a:cubicBezTo>
                    <a:pt x="147" y="159"/>
                    <a:pt x="154" y="150"/>
                    <a:pt x="165" y="138"/>
                  </a:cubicBezTo>
                  <a:cubicBezTo>
                    <a:pt x="175" y="128"/>
                    <a:pt x="182" y="120"/>
                    <a:pt x="184" y="116"/>
                  </a:cubicBezTo>
                  <a:cubicBezTo>
                    <a:pt x="186" y="113"/>
                    <a:pt x="187" y="108"/>
                    <a:pt x="187" y="103"/>
                  </a:cubicBezTo>
                  <a:cubicBezTo>
                    <a:pt x="187" y="94"/>
                    <a:pt x="185" y="88"/>
                    <a:pt x="179" y="83"/>
                  </a:cubicBezTo>
                  <a:cubicBezTo>
                    <a:pt x="174" y="78"/>
                    <a:pt x="166" y="75"/>
                    <a:pt x="156" y="75"/>
                  </a:cubicBezTo>
                  <a:cubicBezTo>
                    <a:pt x="136" y="75"/>
                    <a:pt x="125" y="87"/>
                    <a:pt x="123" y="113"/>
                  </a:cubicBezTo>
                  <a:cubicBezTo>
                    <a:pt x="122" y="119"/>
                    <a:pt x="122" y="119"/>
                    <a:pt x="122" y="119"/>
                  </a:cubicBezTo>
                  <a:cubicBezTo>
                    <a:pt x="92" y="119"/>
                    <a:pt x="92" y="119"/>
                    <a:pt x="92" y="119"/>
                  </a:cubicBezTo>
                  <a:cubicBezTo>
                    <a:pt x="92" y="112"/>
                    <a:pt x="92" y="112"/>
                    <a:pt x="92" y="112"/>
                  </a:cubicBezTo>
                  <a:cubicBezTo>
                    <a:pt x="92" y="100"/>
                    <a:pt x="94" y="91"/>
                    <a:pt x="97" y="83"/>
                  </a:cubicBezTo>
                  <a:cubicBezTo>
                    <a:pt x="99" y="76"/>
                    <a:pt x="104" y="70"/>
                    <a:pt x="111" y="64"/>
                  </a:cubicBezTo>
                  <a:cubicBezTo>
                    <a:pt x="117" y="58"/>
                    <a:pt x="125" y="54"/>
                    <a:pt x="133" y="51"/>
                  </a:cubicBezTo>
                  <a:cubicBezTo>
                    <a:pt x="141" y="48"/>
                    <a:pt x="149" y="47"/>
                    <a:pt x="157" y="47"/>
                  </a:cubicBezTo>
                  <a:cubicBezTo>
                    <a:pt x="175" y="47"/>
                    <a:pt x="190" y="52"/>
                    <a:pt x="202" y="62"/>
                  </a:cubicBezTo>
                  <a:cubicBezTo>
                    <a:pt x="213" y="73"/>
                    <a:pt x="219" y="87"/>
                    <a:pt x="219" y="104"/>
                  </a:cubicBezTo>
                  <a:cubicBezTo>
                    <a:pt x="219" y="113"/>
                    <a:pt x="218" y="121"/>
                    <a:pt x="214" y="128"/>
                  </a:cubicBezTo>
                  <a:close/>
                  <a:moveTo>
                    <a:pt x="214" y="128"/>
                  </a:moveTo>
                  <a:cubicBezTo>
                    <a:pt x="214" y="128"/>
                    <a:pt x="214" y="128"/>
                    <a:pt x="214" y="128"/>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8300"/>
          </a:xfrm>
          <a:prstGeom prst="rect">
            <a:avLst/>
          </a:prstGeom>
          <a:noFill/>
        </p:spPr>
        <p:txBody>
          <a:bodyPr wrap="square">
            <a:spAutoFit/>
          </a:bodyPr>
          <a:lstStyle/>
          <a:p>
            <a:pPr algn="r"/>
            <a:r>
              <a:rPr lang="zh-CN" altLang="zh-CN" b="0" dirty="0">
                <a:solidFill>
                  <a:srgbClr val="0070C0"/>
                </a:solidFill>
                <a:latin typeface="+mj-ea"/>
              </a:rPr>
              <a:t>补充知识</a:t>
            </a:r>
            <a:r>
              <a:rPr lang="zh-CN" altLang="zh-CN" b="0" dirty="0">
                <a:solidFill>
                  <a:srgbClr val="0070C0"/>
                </a:solidFill>
                <a:latin typeface="+mj-ea"/>
              </a:rPr>
              <a:t> </a:t>
            </a:r>
            <a:endParaRPr lang="zh-CN" altLang="en-US" b="0" dirty="0">
              <a:solidFill>
                <a:srgbClr val="0070C0"/>
              </a:solidFill>
              <a:latin typeface="+mj-ea"/>
            </a:endParaRPr>
          </a:p>
        </p:txBody>
      </p:sp>
      <p:sp>
        <p:nvSpPr>
          <p:cNvPr id="3" name="内容占位符 2"/>
          <p:cNvSpPr>
            <a:spLocks noGrp="1"/>
          </p:cNvSpPr>
          <p:nvPr>
            <p:ph idx="1"/>
          </p:nvPr>
        </p:nvSpPr>
        <p:spPr>
          <a:xfrm>
            <a:off x="395605" y="660400"/>
            <a:ext cx="8352790" cy="4383405"/>
          </a:xfrm>
          <a:prstGeom prst="rect">
            <a:avLst/>
          </a:prstGeom>
        </p:spPr>
        <p:txBody>
          <a:bodyPr/>
          <a:lstStyle/>
          <a:p>
            <a:pPr>
              <a:lnSpc>
                <a:spcPts val="2500"/>
              </a:lnSpc>
              <a:buClr>
                <a:schemeClr val="tx1"/>
              </a:buClr>
              <a:buSzPct val="100000"/>
              <a:buFont typeface="Wingdings" panose="05000000000000000000" pitchFamily="2" charset="2"/>
              <a:buChar char="n"/>
            </a:pPr>
            <a:r>
              <a:rPr lang="zh-CN" altLang="en-US" sz="2000" dirty="0">
                <a:solidFill>
                  <a:schemeClr val="tx1">
                    <a:lumMod val="75000"/>
                    <a:lumOff val="25000"/>
                  </a:schemeClr>
                </a:solidFill>
                <a:latin typeface="+mn-ea"/>
              </a:rPr>
              <a:t>序列</a:t>
            </a:r>
            <a:r>
              <a:rPr lang="en-US" altLang="zh-CN" sz="2000" dirty="0">
                <a:solidFill>
                  <a:schemeClr val="tx1">
                    <a:lumMod val="75000"/>
                    <a:lumOff val="25000"/>
                  </a:schemeClr>
                </a:solidFill>
                <a:latin typeface="+mn-ea"/>
              </a:rPr>
              <a:t>:  </a:t>
            </a:r>
            <a:r>
              <a:rPr lang="zh-CN" altLang="en-US" sz="2000" dirty="0">
                <a:solidFill>
                  <a:schemeClr val="tx1">
                    <a:lumMod val="75000"/>
                    <a:lumOff val="25000"/>
                  </a:schemeClr>
                </a:solidFill>
                <a:latin typeface="+mn-ea"/>
              </a:rPr>
              <a:t>指的是一块可存放多个值的连续内存空间</a:t>
            </a:r>
            <a:endParaRPr lang="zh-CN" altLang="en-US" sz="2000"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zh-CN" altLang="en-US" sz="1800" dirty="0">
                <a:solidFill>
                  <a:schemeClr val="tx1">
                    <a:lumMod val="75000"/>
                    <a:lumOff val="25000"/>
                  </a:schemeClr>
                </a:solidFill>
                <a:latin typeface="+mn-ea"/>
              </a:rPr>
              <a:t>在 Python 中，序列类型包括字符串、列表、元组、集合和字典</a:t>
            </a:r>
            <a:endParaRPr lang="zh-CN" altLang="en-US" sz="1800" dirty="0">
              <a:solidFill>
                <a:schemeClr val="tx1">
                  <a:lumMod val="75000"/>
                  <a:lumOff val="25000"/>
                </a:schemeClr>
              </a:solidFill>
              <a:latin typeface="+mn-ea"/>
            </a:endParaRPr>
          </a:p>
          <a:p>
            <a:pPr>
              <a:lnSpc>
                <a:spcPts val="2500"/>
              </a:lnSpc>
              <a:buClr>
                <a:schemeClr val="tx1"/>
              </a:buClr>
              <a:buSzPct val="100000"/>
              <a:buFont typeface="Wingdings" panose="05000000000000000000" pitchFamily="2" charset="2"/>
              <a:buChar char="n"/>
            </a:pPr>
            <a:r>
              <a:rPr lang="en-US" altLang="zh-CN" sz="2000" u="heavy" dirty="0">
                <a:solidFill>
                  <a:schemeClr val="tx1">
                    <a:lumMod val="75000"/>
                    <a:lumOff val="25000"/>
                  </a:schemeClr>
                </a:solidFill>
                <a:latin typeface="+mn-ea"/>
              </a:rPr>
              <a:t>range( ) </a:t>
            </a:r>
            <a:r>
              <a:rPr lang="zh-CN" altLang="en-US" sz="2000" u="heavy" dirty="0">
                <a:solidFill>
                  <a:schemeClr val="tx1">
                    <a:lumMod val="75000"/>
                    <a:lumOff val="25000"/>
                  </a:schemeClr>
                </a:solidFill>
                <a:latin typeface="+mn-ea"/>
              </a:rPr>
              <a:t>函数</a:t>
            </a:r>
            <a:endParaRPr lang="en-US" altLang="zh-CN" sz="20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语法：range(start, stop [,step]) ；</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start 指的是计数起始值，默认是 0；</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stop 指的是计数结束值，但不包括 stop ；</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step 是步长，默认为 1，不可以为 0 。</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range() 方法生成一段左闭右开的整数范围。</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（1）它表示的是左闭右开区间；</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r>
              <a:rPr lang="en-US" altLang="zh-CN" sz="1800" u="heavy" dirty="0">
                <a:solidFill>
                  <a:schemeClr val="tx1">
                    <a:lumMod val="75000"/>
                    <a:lumOff val="25000"/>
                  </a:schemeClr>
                </a:solidFill>
                <a:latin typeface="+mn-ea"/>
              </a:rPr>
              <a:t>（2）它接收的参数必须是整数，可以是负数，但不能是浮点数等其它类型</a:t>
            </a:r>
            <a:endParaRPr lang="en-US" altLang="zh-CN" sz="1800" u="heavy" dirty="0">
              <a:solidFill>
                <a:schemeClr val="tx1">
                  <a:lumMod val="75000"/>
                  <a:lumOff val="25000"/>
                </a:schemeClr>
              </a:solidFill>
              <a:latin typeface="+mn-ea"/>
            </a:endParaRPr>
          </a:p>
          <a:p>
            <a:pPr marL="0" indent="0">
              <a:lnSpc>
                <a:spcPts val="2500"/>
              </a:lnSpc>
              <a:buClr>
                <a:schemeClr val="tx1"/>
              </a:buClr>
              <a:buSzPct val="100000"/>
              <a:buFont typeface="Wingdings" panose="05000000000000000000" pitchFamily="2" charset="2"/>
              <a:buNone/>
            </a:pPr>
            <a:endParaRPr lang="en-US" altLang="zh-CN" sz="1800" u="heavy" dirty="0">
              <a:solidFill>
                <a:schemeClr val="tx1">
                  <a:lumMod val="75000"/>
                  <a:lumOff val="25000"/>
                </a:schemeClr>
              </a:solidFill>
              <a:latin typeface="+mn-ea"/>
            </a:endParaRPr>
          </a:p>
        </p:txBody>
      </p:sp>
      <p:sp>
        <p:nvSpPr>
          <p:cNvPr id="8" name="Rectangle 6"/>
          <p:cNvSpPr>
            <a:spLocks noChangeArrowheads="1"/>
          </p:cNvSpPr>
          <p:nvPr/>
        </p:nvSpPr>
        <p:spPr bwMode="auto">
          <a:xfrm>
            <a:off x="0" y="44719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left)">
                                      <p:cBhvr>
                                        <p:cTn id="31" dur="500"/>
                                        <p:tgtEl>
                                          <p:spTgt spid="3">
                                            <p:txEl>
                                              <p:pRg st="6" end="6"/>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wipe(left)">
                                      <p:cBhvr>
                                        <p:cTn id="35" dur="500"/>
                                        <p:tgtEl>
                                          <p:spTgt spid="3">
                                            <p:txEl>
                                              <p:pRg st="7" end="7"/>
                                            </p:txEl>
                                          </p:spTgt>
                                        </p:tgtEl>
                                      </p:cBhvr>
                                    </p:animEffect>
                                  </p:childTnLst>
                                </p:cTn>
                              </p:par>
                            </p:childTnLst>
                          </p:cTn>
                        </p:par>
                        <p:par>
                          <p:cTn id="36" fill="hold">
                            <p:stCondLst>
                              <p:cond delay="4000"/>
                            </p:stCondLst>
                            <p:childTnLst>
                              <p:par>
                                <p:cTn id="37" presetID="22" presetClass="entr" presetSubtype="8"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wipe(left)">
                                      <p:cBhvr>
                                        <p:cTn id="39" dur="500"/>
                                        <p:tgtEl>
                                          <p:spTgt spid="3">
                                            <p:txEl>
                                              <p:pRg st="8" end="8"/>
                                            </p:txEl>
                                          </p:spTgt>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left)">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
          <p:cNvSpPr txBox="1"/>
          <p:nvPr/>
        </p:nvSpPr>
        <p:spPr>
          <a:xfrm>
            <a:off x="6012160" y="123190"/>
            <a:ext cx="3090565" cy="399415"/>
          </a:xfrm>
          <a:prstGeom prst="rect">
            <a:avLst/>
          </a:prstGeom>
          <a:noFill/>
          <a:ln w="9525">
            <a:noFill/>
          </a:ln>
        </p:spPr>
        <p:txBody>
          <a:bodyPr anchor="t"/>
          <a:lstStyle/>
          <a:p>
            <a:pPr algn="r" eaLnBrk="0" hangingPunct="0"/>
            <a:r>
              <a:rPr lang="zh-CN" altLang="en-US" sz="2000" b="0" dirty="0">
                <a:solidFill>
                  <a:srgbClr val="0070C0"/>
                </a:solidFill>
                <a:latin typeface="+mj-ea"/>
                <a:ea typeface="+mj-ea"/>
                <a:cs typeface="+mj-cs"/>
              </a:rPr>
              <a:t>代码实现</a:t>
            </a:r>
            <a:endParaRPr lang="zh-CN" altLang="en-US" sz="2000" b="0" dirty="0">
              <a:solidFill>
                <a:srgbClr val="0070C0"/>
              </a:solidFill>
              <a:latin typeface="+mj-ea"/>
              <a:ea typeface="+mj-ea"/>
              <a:cs typeface="+mj-cs"/>
            </a:endParaRPr>
          </a:p>
        </p:txBody>
      </p:sp>
      <p:sp>
        <p:nvSpPr>
          <p:cNvPr id="39939" name="AutoShape 3"/>
          <p:cNvSpPr/>
          <p:nvPr/>
        </p:nvSpPr>
        <p:spPr>
          <a:xfrm>
            <a:off x="871538" y="1238330"/>
            <a:ext cx="7702550" cy="3233710"/>
          </a:xfrm>
          <a:prstGeom prst="roundRect">
            <a:avLst>
              <a:gd name="adj" fmla="val 1051"/>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algn="l" defTabSz="914400">
              <a:lnSpc>
                <a:spcPct val="130000"/>
              </a:lnSpc>
              <a:buClr>
                <a:schemeClr val="folHlink"/>
              </a:buClr>
              <a:buSzPct val="60000"/>
              <a:buNone/>
            </a:pPr>
            <a:r>
              <a:rPr lang="zh-CN" altLang="en-US" sz="2000" dirty="0">
                <a:solidFill>
                  <a:srgbClr val="09131F"/>
                </a:solidFill>
                <a:latin typeface="+mj-ea"/>
                <a:ea typeface="+mj-ea"/>
                <a:cs typeface="+mj-ea"/>
              </a:rPr>
              <a:t>求</a:t>
            </a:r>
            <a:r>
              <a:rPr lang="en-US" altLang="zh-CN" sz="2000" dirty="0">
                <a:solidFill>
                  <a:srgbClr val="09131F"/>
                </a:solidFill>
                <a:latin typeface="+mj-ea"/>
                <a:ea typeface="+mj-ea"/>
                <a:cs typeface="+mj-ea"/>
              </a:rPr>
              <a:t>5</a:t>
            </a:r>
            <a:r>
              <a:rPr lang="zh-CN" altLang="en-US" sz="2000" dirty="0">
                <a:solidFill>
                  <a:srgbClr val="09131F"/>
                </a:solidFill>
                <a:latin typeface="+mj-ea"/>
                <a:ea typeface="+mj-ea"/>
                <a:cs typeface="+mj-ea"/>
              </a:rPr>
              <a:t>的阶乘      </a:t>
            </a:r>
            <a:r>
              <a:rPr lang="zh-CN" altLang="en-US" sz="1600" dirty="0">
                <a:solidFill>
                  <a:srgbClr val="09131F"/>
                </a:solidFill>
                <a:latin typeface="Times New Roman" panose="02020603050405020304" pitchFamily="18" charset="0"/>
                <a:ea typeface="宋体" panose="02010600030101010101" pitchFamily="2" charset="-122"/>
              </a:rPr>
              <a:t>            </a:t>
            </a:r>
            <a:endParaRPr lang="zh-CN" altLang="en-US"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000FF"/>
                </a:solidFill>
                <a:latin typeface="Times New Roman" panose="02020603050405020304" pitchFamily="18" charset="0"/>
                <a:ea typeface="宋体" panose="02010600030101010101" pitchFamily="2" charset="-122"/>
              </a:rPr>
              <a:t>p = 1</a:t>
            </a:r>
            <a:endParaRPr lang="en-US" altLang="x-none"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000FF"/>
                </a:solidFill>
                <a:latin typeface="Times New Roman" panose="02020603050405020304" pitchFamily="18" charset="0"/>
                <a:ea typeface="宋体" panose="02010600030101010101" pitchFamily="2" charset="-122"/>
              </a:rPr>
              <a:t>for i in range(1,6):</a:t>
            </a:r>
            <a:endParaRPr lang="en-US" altLang="x-none"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000FF"/>
                </a:solidFill>
                <a:latin typeface="Times New Roman" panose="02020603050405020304" pitchFamily="18" charset="0"/>
                <a:ea typeface="宋体" panose="02010600030101010101" pitchFamily="2" charset="-122"/>
              </a:rPr>
              <a:t>      p = p * i</a:t>
            </a:r>
            <a:endParaRPr lang="en-US" altLang="x-none"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000FF"/>
                </a:solidFill>
                <a:latin typeface="Times New Roman" panose="02020603050405020304" pitchFamily="18" charset="0"/>
                <a:ea typeface="宋体" panose="02010600030101010101" pitchFamily="2" charset="-122"/>
              </a:rPr>
              <a:t>      </a:t>
            </a:r>
            <a:r>
              <a:rPr lang="zh-CN" altLang="en-US" sz="2000" dirty="0">
                <a:solidFill>
                  <a:srgbClr val="0000FF"/>
                </a:solidFill>
                <a:latin typeface="Times New Roman" panose="02020603050405020304" pitchFamily="18" charset="0"/>
                <a:ea typeface="宋体" panose="02010600030101010101" pitchFamily="2" charset="-122"/>
              </a:rPr>
              <a:t>循环语句</a:t>
            </a:r>
            <a:r>
              <a:rPr lang="zh-CN" altLang="en-US" sz="2000" dirty="0">
                <a:solidFill>
                  <a:srgbClr val="0000FF"/>
                </a:solidFill>
                <a:latin typeface="Times New Roman" panose="02020603050405020304" pitchFamily="18" charset="0"/>
                <a:ea typeface="宋体" panose="02010600030101010101" pitchFamily="2" charset="-122"/>
              </a:rPr>
              <a:t>也可以写成：</a:t>
            </a:r>
            <a:endParaRPr lang="zh-CN" altLang="en-US"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zh-CN" altLang="en-US" sz="2000" dirty="0">
                <a:solidFill>
                  <a:srgbClr val="0000FF"/>
                </a:solidFill>
                <a:latin typeface="Times New Roman" panose="02020603050405020304" pitchFamily="18" charset="0"/>
                <a:ea typeface="宋体" panose="02010600030101010101" pitchFamily="2" charset="-122"/>
              </a:rPr>
              <a:t>      </a:t>
            </a:r>
            <a:r>
              <a:rPr lang="en-US" altLang="zh-CN" sz="2000" dirty="0">
                <a:solidFill>
                  <a:srgbClr val="0000FF"/>
                </a:solidFill>
                <a:latin typeface="Times New Roman" panose="02020603050405020304" pitchFamily="18" charset="0"/>
                <a:ea typeface="宋体" panose="02010600030101010101" pitchFamily="2" charset="-122"/>
              </a:rPr>
              <a:t>p *=  i</a:t>
            </a:r>
            <a:endParaRPr lang="en-US" altLang="zh-CN"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zh-CN" sz="2000" dirty="0">
                <a:solidFill>
                  <a:srgbClr val="0000FF"/>
                </a:solidFill>
                <a:latin typeface="Times New Roman" panose="02020603050405020304" pitchFamily="18" charset="0"/>
                <a:ea typeface="宋体" panose="02010600030101010101" pitchFamily="2" charset="-122"/>
              </a:rPr>
              <a:t>print('5</a:t>
            </a:r>
            <a:r>
              <a:rPr lang="zh-CN" altLang="en-US" sz="2000" dirty="0">
                <a:solidFill>
                  <a:srgbClr val="0000FF"/>
                </a:solidFill>
                <a:latin typeface="Times New Roman" panose="02020603050405020304" pitchFamily="18" charset="0"/>
                <a:ea typeface="宋体" panose="02010600030101010101" pitchFamily="2" charset="-122"/>
              </a:rPr>
              <a:t>的阶乘为：</a:t>
            </a:r>
            <a:r>
              <a:rPr lang="en-US" altLang="zh-CN" sz="2000" dirty="0">
                <a:solidFill>
                  <a:srgbClr val="0000FF"/>
                </a:solidFill>
                <a:latin typeface="Times New Roman" panose="02020603050405020304" pitchFamily="18" charset="0"/>
                <a:ea typeface="宋体" panose="02010600030101010101" pitchFamily="2" charset="-122"/>
              </a:rPr>
              <a:t>', p)</a:t>
            </a:r>
            <a:endParaRPr lang="en-US" altLang="x-none"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endParaRPr lang="en-US" altLang="x-none" sz="1600" dirty="0">
              <a:solidFill>
                <a:srgbClr val="09131F"/>
              </a:solidFill>
              <a:latin typeface="Times New Roman" panose="02020603050405020304" pitchFamily="18" charset="0"/>
              <a:ea typeface="宋体" panose="02010600030101010101" pitchFamily="2" charset="-122"/>
            </a:endParaRPr>
          </a:p>
        </p:txBody>
      </p:sp>
      <p:sp>
        <p:nvSpPr>
          <p:cNvPr id="39941" name="AutoShape 5"/>
          <p:cNvSpPr/>
          <p:nvPr/>
        </p:nvSpPr>
        <p:spPr>
          <a:xfrm flipH="1">
            <a:off x="4336307" y="2001378"/>
            <a:ext cx="2165985" cy="646699"/>
          </a:xfrm>
          <a:prstGeom prst="wedgeRoundRectCallout">
            <a:avLst>
              <a:gd name="adj1" fmla="val -50565"/>
              <a:gd name="adj2" fmla="val 23509"/>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square" anchor="b">
            <a:spAutoFit/>
          </a:bodyPr>
          <a:lstStyle/>
          <a:p>
            <a:pPr defTabSz="914400" eaLnBrk="0" hangingPunct="0">
              <a:buClr>
                <a:srgbClr val="233DA9"/>
              </a:buClr>
              <a:buSzPct val="80000"/>
              <a:buNone/>
            </a:pPr>
            <a:r>
              <a:rPr lang="en-US" altLang="zh-CN" sz="1600" dirty="0">
                <a:solidFill>
                  <a:schemeClr val="bg1"/>
                </a:solidFill>
                <a:latin typeface="+mn-ea"/>
                <a:ea typeface="+mn-ea"/>
              </a:rPr>
              <a:t>range </a:t>
            </a:r>
            <a:r>
              <a:rPr lang="zh-CN" altLang="en-US" sz="1600" dirty="0">
                <a:solidFill>
                  <a:schemeClr val="bg1"/>
                </a:solidFill>
                <a:latin typeface="+mn-ea"/>
                <a:ea typeface="+mn-ea"/>
              </a:rPr>
              <a:t>是范围的意思区间在</a:t>
            </a:r>
            <a:r>
              <a:rPr lang="en-US" altLang="zh-CN" sz="1600" dirty="0">
                <a:solidFill>
                  <a:schemeClr val="bg1"/>
                </a:solidFill>
                <a:latin typeface="+mn-ea"/>
                <a:ea typeface="+mn-ea"/>
              </a:rPr>
              <a:t>1-5</a:t>
            </a:r>
            <a:endParaRPr lang="en-US" altLang="zh-CN" sz="1600" dirty="0">
              <a:solidFill>
                <a:schemeClr val="bg1"/>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941"/>
                                        </p:tgtEl>
                                        <p:attrNameLst>
                                          <p:attrName>style.visibility</p:attrName>
                                        </p:attrNameLst>
                                      </p:cBhvr>
                                      <p:to>
                                        <p:strVal val="visible"/>
                                      </p:to>
                                    </p:set>
                                    <p:animEffect transition="in" filter="wipe(left)">
                                      <p:cBhvr>
                                        <p:cTn id="11" dur="500"/>
                                        <p:tgtEl>
                                          <p:spTgt spid="39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ldLvl="0" animBg="1"/>
      <p:bldP spid="3994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txBox="1"/>
          <p:nvPr/>
        </p:nvSpPr>
        <p:spPr>
          <a:xfrm>
            <a:off x="1785918" y="109300"/>
            <a:ext cx="7143800" cy="462186"/>
          </a:xfrm>
          <a:prstGeom prst="rect">
            <a:avLst/>
          </a:prstGeom>
          <a:noFill/>
          <a:ln w="9525">
            <a:noFill/>
          </a:ln>
        </p:spPr>
        <p:txBody>
          <a:bodyPr anchor="t"/>
          <a:lstStyle/>
          <a:p>
            <a:pPr algn="r" eaLnBrk="0" hangingPunct="0">
              <a:spcBef>
                <a:spcPct val="0"/>
              </a:spcBef>
              <a:buNone/>
            </a:pPr>
            <a:r>
              <a:rPr lang="en-US" altLang="zh-CN" sz="2000" b="0" dirty="0" err="1">
                <a:solidFill>
                  <a:srgbClr val="0070C0"/>
                </a:solidFill>
                <a:latin typeface="+mj-ea"/>
                <a:ea typeface="+mj-ea"/>
                <a:cs typeface="+mj-cs"/>
                <a:sym typeface="+mn-ea"/>
              </a:rPr>
              <a:t>for</a:t>
            </a:r>
            <a:r>
              <a:rPr lang="en-US" altLang="zh-CN" sz="2000" b="0" dirty="0" err="1">
                <a:solidFill>
                  <a:srgbClr val="0070C0"/>
                </a:solidFill>
                <a:latin typeface="+mj-ea"/>
                <a:ea typeface="+mj-ea"/>
                <a:cs typeface="+mj-cs"/>
              </a:rPr>
              <a:t>循环</a:t>
            </a:r>
            <a:r>
              <a:rPr lang="zh-CN" altLang="en-US" sz="2000" b="0" dirty="0">
                <a:solidFill>
                  <a:srgbClr val="0070C0"/>
                </a:solidFill>
                <a:latin typeface="+mj-ea"/>
                <a:ea typeface="+mj-ea"/>
                <a:cs typeface="+mj-cs"/>
              </a:rPr>
              <a:t>遍历</a:t>
            </a:r>
            <a:r>
              <a:rPr lang="en-US" altLang="zh-CN" sz="2000" b="0" dirty="0" err="1">
                <a:solidFill>
                  <a:srgbClr val="0070C0"/>
                </a:solidFill>
                <a:latin typeface="+mj-ea"/>
                <a:ea typeface="+mj-ea"/>
                <a:cs typeface="+mj-cs"/>
              </a:rPr>
              <a:t>应用</a:t>
            </a:r>
            <a:endParaRPr lang="zh-CN" altLang="en-US" sz="2000" b="0" dirty="0">
              <a:solidFill>
                <a:srgbClr val="0070C0"/>
              </a:solidFill>
              <a:latin typeface="+mj-ea"/>
              <a:ea typeface="+mj-ea"/>
              <a:cs typeface="+mj-cs"/>
            </a:endParaRPr>
          </a:p>
        </p:txBody>
      </p:sp>
      <p:sp>
        <p:nvSpPr>
          <p:cNvPr id="38915" name="Rectangle 5"/>
          <p:cNvSpPr/>
          <p:nvPr/>
        </p:nvSpPr>
        <p:spPr>
          <a:xfrm>
            <a:off x="1011556" y="2080419"/>
            <a:ext cx="6810375" cy="1893109"/>
          </a:xfrm>
          <a:prstGeom prst="rect">
            <a:avLst/>
          </a:prstGeom>
          <a:noFill/>
          <a:ln w="9525">
            <a:noFill/>
          </a:ln>
        </p:spPr>
        <p:txBody>
          <a:bodyPr anchor="t"/>
          <a:lstStyle/>
          <a:p>
            <a:pPr marL="342900" indent="-342900" algn="l" defTabSz="914400">
              <a:buClr>
                <a:srgbClr val="000000"/>
              </a:buClr>
              <a:buSzPct val="80000"/>
              <a:buFont typeface="Wingdings" panose="05000000000000000000" charset="0"/>
              <a:buChar char=""/>
            </a:pPr>
            <a:r>
              <a:rPr lang="zh-CN" altLang="en-US" sz="1600" u="none" baseline="0" dirty="0">
                <a:solidFill>
                  <a:schemeClr val="tx1">
                    <a:lumMod val="65000"/>
                    <a:lumOff val="35000"/>
                  </a:schemeClr>
                </a:solidFill>
                <a:latin typeface="+mn-ea"/>
                <a:ea typeface="+mn-ea"/>
              </a:rPr>
              <a:t>代码实现</a:t>
            </a:r>
            <a:endParaRPr lang="zh-CN" altLang="en-US" sz="1600" u="none" baseline="0" dirty="0">
              <a:solidFill>
                <a:schemeClr val="tx1">
                  <a:lumMod val="65000"/>
                  <a:lumOff val="35000"/>
                </a:schemeClr>
              </a:solidFill>
              <a:latin typeface="+mn-ea"/>
              <a:ea typeface="+mn-ea"/>
            </a:endParaRPr>
          </a:p>
          <a:p>
            <a:pPr marL="342900" indent="-342900" algn="l" defTabSz="914400">
              <a:buClr>
                <a:srgbClr val="000000"/>
              </a:buClr>
              <a:buSzPct val="80000"/>
              <a:buFont typeface="Wingdings" panose="05000000000000000000" charset="0"/>
              <a:buChar char=""/>
            </a:pPr>
            <a:endParaRPr lang="zh-CN" altLang="en-US" sz="1600" u="none" baseline="0" dirty="0">
              <a:solidFill>
                <a:schemeClr val="tx1">
                  <a:lumMod val="65000"/>
                  <a:lumOff val="35000"/>
                </a:schemeClr>
              </a:solidFill>
              <a:latin typeface="+mn-ea"/>
              <a:ea typeface="+mn-ea"/>
            </a:endParaRPr>
          </a:p>
          <a:p>
            <a:pPr marL="0" indent="0" algn="l" defTabSz="914400">
              <a:buClr>
                <a:srgbClr val="000000"/>
              </a:buClr>
              <a:buSzPct val="80000"/>
              <a:buFont typeface="Wingdings" panose="05000000000000000000" charset="0"/>
              <a:buNone/>
            </a:pPr>
            <a:r>
              <a:rPr lang="zh-CN" altLang="en-US" sz="1600" u="none" baseline="0" dirty="0">
                <a:solidFill>
                  <a:schemeClr val="tx1">
                    <a:lumMod val="65000"/>
                    <a:lumOff val="35000"/>
                  </a:schemeClr>
                </a:solidFill>
                <a:latin typeface="+mn-ea"/>
                <a:ea typeface="+mn-ea"/>
              </a:rPr>
              <a:t>ls = ["郭靖", "张无忌", "金毛谢逊", "乔峰", "段誉"]</a:t>
            </a:r>
            <a:endParaRPr lang="zh-CN" altLang="en-US" sz="1600" u="none" baseline="0" dirty="0">
              <a:solidFill>
                <a:schemeClr val="tx1">
                  <a:lumMod val="65000"/>
                  <a:lumOff val="35000"/>
                </a:schemeClr>
              </a:solidFill>
              <a:latin typeface="+mn-ea"/>
              <a:ea typeface="+mn-ea"/>
            </a:endParaRPr>
          </a:p>
          <a:p>
            <a:pPr marL="0" indent="0" algn="l" defTabSz="914400">
              <a:buClr>
                <a:srgbClr val="000000"/>
              </a:buClr>
              <a:buSzPct val="80000"/>
              <a:buFont typeface="Wingdings" panose="05000000000000000000" charset="0"/>
              <a:buNone/>
            </a:pPr>
            <a:r>
              <a:rPr lang="zh-CN" altLang="en-US" sz="1600" u="none" baseline="0" dirty="0">
                <a:solidFill>
                  <a:schemeClr val="tx1">
                    <a:lumMod val="65000"/>
                    <a:lumOff val="35000"/>
                  </a:schemeClr>
                </a:solidFill>
                <a:latin typeface="+mn-ea"/>
                <a:ea typeface="+mn-ea"/>
              </a:rPr>
              <a:t>for i in ls:</a:t>
            </a:r>
            <a:endParaRPr lang="zh-CN" altLang="en-US" sz="1600" u="none" baseline="0" dirty="0">
              <a:solidFill>
                <a:schemeClr val="tx1">
                  <a:lumMod val="65000"/>
                  <a:lumOff val="35000"/>
                </a:schemeClr>
              </a:solidFill>
              <a:latin typeface="+mn-ea"/>
              <a:ea typeface="+mn-ea"/>
            </a:endParaRPr>
          </a:p>
          <a:p>
            <a:pPr marL="0" indent="0" algn="l" defTabSz="914400">
              <a:buClr>
                <a:srgbClr val="000000"/>
              </a:buClr>
              <a:buSzPct val="80000"/>
              <a:buFont typeface="Wingdings" panose="05000000000000000000" charset="0"/>
              <a:buNone/>
            </a:pPr>
            <a:r>
              <a:rPr lang="zh-CN" altLang="en-US" sz="1600" u="none" baseline="0" dirty="0">
                <a:solidFill>
                  <a:schemeClr val="tx1">
                    <a:lumMod val="65000"/>
                    <a:lumOff val="35000"/>
                  </a:schemeClr>
                </a:solidFill>
                <a:latin typeface="+mn-ea"/>
                <a:ea typeface="+mn-ea"/>
              </a:rPr>
              <a:t>    print(i)</a:t>
            </a:r>
            <a:endParaRPr lang="zh-CN" altLang="en-US" sz="1600" u="none" baseline="0" dirty="0">
              <a:solidFill>
                <a:schemeClr val="tx1">
                  <a:lumMod val="65000"/>
                  <a:lumOff val="35000"/>
                </a:schemeClr>
              </a:solidFill>
              <a:latin typeface="+mn-ea"/>
              <a:ea typeface="+mn-ea"/>
            </a:endParaRPr>
          </a:p>
        </p:txBody>
      </p:sp>
      <p:sp>
        <p:nvSpPr>
          <p:cNvPr id="38916" name="AutoShape 6"/>
          <p:cNvSpPr/>
          <p:nvPr/>
        </p:nvSpPr>
        <p:spPr>
          <a:xfrm>
            <a:off x="2596199" y="3576718"/>
            <a:ext cx="1920875" cy="310753"/>
          </a:xfrm>
          <a:prstGeom prst="rightArrow">
            <a:avLst>
              <a:gd name="adj1" fmla="val 71583"/>
              <a:gd name="adj2" fmla="val 81237"/>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defTabSz="914400" eaLnBrk="0" hangingPunct="0">
              <a:buClr>
                <a:srgbClr val="233DA9"/>
              </a:buClr>
              <a:buSzPct val="80000"/>
              <a:buNone/>
            </a:pPr>
            <a:endParaRPr lang="en-US" altLang="x-none" sz="1800" dirty="0">
              <a:latin typeface="Times New Roman" panose="02020603050405020304" pitchFamily="18" charset="0"/>
              <a:ea typeface="宋体" panose="02010600030101010101" pitchFamily="2" charset="-122"/>
            </a:endParaRPr>
          </a:p>
        </p:txBody>
      </p:sp>
      <p:sp>
        <p:nvSpPr>
          <p:cNvPr id="38917" name="内容占位符 16"/>
          <p:cNvSpPr txBox="1"/>
          <p:nvPr/>
        </p:nvSpPr>
        <p:spPr>
          <a:xfrm>
            <a:off x="784225" y="835819"/>
            <a:ext cx="7645400" cy="810816"/>
          </a:xfrm>
          <a:prstGeom prst="rect">
            <a:avLst/>
          </a:prstGeom>
          <a:noFill/>
          <a:ln w="9525">
            <a:noFill/>
          </a:ln>
        </p:spPr>
        <p:txBody>
          <a:bodyPr anchor="t"/>
          <a:lstStyle/>
          <a:p>
            <a:pPr algn="l"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现在有一个列表，存储着</a:t>
            </a:r>
            <a:r>
              <a:rPr lang="en-US" altLang="zh-CN" sz="2000" b="0" dirty="0">
                <a:solidFill>
                  <a:schemeClr val="tx1">
                    <a:lumMod val="75000"/>
                    <a:lumOff val="25000"/>
                  </a:schemeClr>
                </a:solidFill>
                <a:latin typeface="+mn-ea"/>
                <a:ea typeface="+mn-ea"/>
              </a:rPr>
              <a:t>5</a:t>
            </a:r>
            <a:r>
              <a:rPr lang="zh-CN" altLang="en-US" sz="2000" b="0" dirty="0">
                <a:solidFill>
                  <a:schemeClr val="tx1">
                    <a:lumMod val="75000"/>
                    <a:lumOff val="25000"/>
                  </a:schemeClr>
                </a:solidFill>
                <a:latin typeface="+mn-ea"/>
                <a:ea typeface="+mn-ea"/>
              </a:rPr>
              <a:t>个英雄姓名，现在要循环输出这几个英雄姓名。</a:t>
            </a:r>
            <a:endParaRPr lang="zh-CN" altLang="en-US" sz="2000" b="0" dirty="0">
              <a:solidFill>
                <a:schemeClr val="tx1">
                  <a:lumMod val="75000"/>
                  <a:lumOff val="25000"/>
                </a:schemeClr>
              </a:solidFill>
              <a:latin typeface="+mn-ea"/>
              <a:ea typeface="+mn-ea"/>
            </a:endParaRPr>
          </a:p>
        </p:txBody>
      </p:sp>
      <p:sp>
        <p:nvSpPr>
          <p:cNvPr id="38919" name="AutoShape 4"/>
          <p:cNvSpPr/>
          <p:nvPr/>
        </p:nvSpPr>
        <p:spPr>
          <a:xfrm>
            <a:off x="4517391" y="3544420"/>
            <a:ext cx="3969385" cy="375073"/>
          </a:xfrm>
          <a:prstGeom prst="roundRect">
            <a:avLst>
              <a:gd name="adj"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square" lIns="0" tIns="46800" rIns="0" bIns="46800" anchor="ctr">
            <a:spAutoFit/>
          </a:bodyPr>
          <a:lstStyle/>
          <a:p>
            <a:pPr algn="l" defTabSz="914400" eaLnBrk="0" hangingPunct="0">
              <a:buClr>
                <a:srgbClr val="233DA9"/>
              </a:buClr>
              <a:buSzPct val="80000"/>
              <a:buNone/>
            </a:pPr>
            <a:r>
              <a:rPr lang="zh-CN" altLang="en-US" sz="1600" dirty="0">
                <a:solidFill>
                  <a:schemeClr val="bg1"/>
                </a:solidFill>
                <a:latin typeface="+mn-ea"/>
                <a:ea typeface="+mn-ea"/>
              </a:rPr>
              <a:t>这里的功能是循环列表，又叫做遍历列表</a:t>
            </a:r>
            <a:endParaRPr lang="zh-CN" altLang="en-US" sz="1600" dirty="0">
              <a:solidFill>
                <a:schemeClr val="bg1"/>
              </a:solidFill>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wipe(left)">
                                      <p:cBhvr>
                                        <p:cTn id="7" dur="500"/>
                                        <p:tgtEl>
                                          <p:spTgt spid="389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8915">
                                            <p:txEl>
                                              <p:pRg st="2" end="2"/>
                                            </p:txEl>
                                          </p:spTgt>
                                        </p:tgtEl>
                                        <p:attrNameLst>
                                          <p:attrName>style.visibility</p:attrName>
                                        </p:attrNameLst>
                                      </p:cBhvr>
                                      <p:to>
                                        <p:strVal val="visible"/>
                                      </p:to>
                                    </p:set>
                                    <p:animEffect transition="in" filter="wipe(left)">
                                      <p:cBhvr>
                                        <p:cTn id="12" dur="500"/>
                                        <p:tgtEl>
                                          <p:spTgt spid="389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8915">
                                            <p:txEl>
                                              <p:pRg st="3" end="3"/>
                                            </p:txEl>
                                          </p:spTgt>
                                        </p:tgtEl>
                                        <p:attrNameLst>
                                          <p:attrName>style.visibility</p:attrName>
                                        </p:attrNameLst>
                                      </p:cBhvr>
                                      <p:to>
                                        <p:strVal val="visible"/>
                                      </p:to>
                                    </p:set>
                                    <p:animEffect transition="in" filter="wipe(left)">
                                      <p:cBhvr>
                                        <p:cTn id="17" dur="500"/>
                                        <p:tgtEl>
                                          <p:spTgt spid="389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915">
                                            <p:txEl>
                                              <p:pRg st="4" end="4"/>
                                            </p:txEl>
                                          </p:spTgt>
                                        </p:tgtEl>
                                        <p:attrNameLst>
                                          <p:attrName>style.visibility</p:attrName>
                                        </p:attrNameLst>
                                      </p:cBhvr>
                                      <p:to>
                                        <p:strVal val="visible"/>
                                      </p:to>
                                    </p:set>
                                    <p:animEffect transition="in" filter="wipe(left)">
                                      <p:cBhvr>
                                        <p:cTn id="22" dur="500"/>
                                        <p:tgtEl>
                                          <p:spTgt spid="389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6"/>
                                        </p:tgtEl>
                                        <p:attrNameLst>
                                          <p:attrName>style.visibility</p:attrName>
                                        </p:attrNameLst>
                                      </p:cBhvr>
                                      <p:to>
                                        <p:strVal val="visible"/>
                                      </p:to>
                                    </p:set>
                                    <p:animEffect transition="in" filter="wipe(left)">
                                      <p:cBhvr>
                                        <p:cTn id="27" dur="500"/>
                                        <p:tgtEl>
                                          <p:spTgt spid="38916"/>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38919"/>
                                        </p:tgtEl>
                                        <p:attrNameLst>
                                          <p:attrName>style.visibility</p:attrName>
                                        </p:attrNameLst>
                                      </p:cBhvr>
                                      <p:to>
                                        <p:strVal val="visible"/>
                                      </p:to>
                                    </p:set>
                                    <p:animEffect transition="in" filter="wipe(left)">
                                      <p:cBhvr>
                                        <p:cTn id="31"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ldLvl="0" animBg="1"/>
      <p:bldP spid="38919"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txBox="1"/>
          <p:nvPr/>
        </p:nvSpPr>
        <p:spPr>
          <a:xfrm>
            <a:off x="4932041" y="120650"/>
            <a:ext cx="4051940" cy="430530"/>
          </a:xfrm>
          <a:prstGeom prst="rect">
            <a:avLst/>
          </a:prstGeom>
          <a:noFill/>
          <a:ln w="9525">
            <a:noFill/>
          </a:ln>
        </p:spPr>
        <p:txBody>
          <a:bodyPr anchor="t"/>
          <a:lstStyle/>
          <a:p>
            <a:pPr algn="r" eaLnBrk="0" hangingPunct="0">
              <a:spcBef>
                <a:spcPct val="0"/>
              </a:spcBef>
              <a:buNone/>
            </a:pPr>
            <a:r>
              <a:rPr lang="en-US" altLang="zh-CN" sz="2000" dirty="0" err="1">
                <a:solidFill>
                  <a:srgbClr val="0070C0"/>
                </a:solidFill>
                <a:latin typeface="+mn-ea"/>
                <a:ea typeface="+mn-ea"/>
                <a:cs typeface="+mj-cs"/>
                <a:sym typeface="+mn-ea"/>
              </a:rPr>
              <a:t>for循环应用</a:t>
            </a:r>
            <a:r>
              <a:rPr lang="zh-CN" altLang="en-US" sz="2000" dirty="0">
                <a:solidFill>
                  <a:srgbClr val="0070C0"/>
                </a:solidFill>
                <a:latin typeface="+mn-ea"/>
                <a:ea typeface="+mn-ea"/>
                <a:cs typeface="+mj-cs"/>
                <a:sym typeface="+mn-ea"/>
              </a:rPr>
              <a:t>案例</a:t>
            </a:r>
            <a:r>
              <a:rPr lang="en-US" altLang="zh-CN" sz="2000" dirty="0">
                <a:solidFill>
                  <a:srgbClr val="0070C0"/>
                </a:solidFill>
                <a:latin typeface="+mn-ea"/>
                <a:ea typeface="+mn-ea"/>
                <a:cs typeface="+mj-cs"/>
                <a:sym typeface="+mn-ea"/>
              </a:rPr>
              <a:t>—</a:t>
            </a:r>
            <a:r>
              <a:rPr lang="zh-CN" altLang="en-US" sz="2000" dirty="0">
                <a:solidFill>
                  <a:srgbClr val="0070C0"/>
                </a:solidFill>
                <a:latin typeface="+mn-ea"/>
                <a:ea typeface="+mn-ea"/>
                <a:cs typeface="+mj-cs"/>
                <a:sym typeface="+mn-ea"/>
              </a:rPr>
              <a:t>百钱百鸡</a:t>
            </a:r>
            <a:endParaRPr lang="en-US" altLang="zh-CN" sz="2000" b="0" dirty="0">
              <a:solidFill>
                <a:srgbClr val="0070C0"/>
              </a:solidFill>
              <a:latin typeface="+mn-ea"/>
              <a:ea typeface="+mn-ea"/>
              <a:cs typeface="+mj-cs"/>
            </a:endParaRPr>
          </a:p>
        </p:txBody>
      </p:sp>
      <p:sp>
        <p:nvSpPr>
          <p:cNvPr id="40964" name="AutoShape 11"/>
          <p:cNvSpPr/>
          <p:nvPr/>
        </p:nvSpPr>
        <p:spPr>
          <a:xfrm>
            <a:off x="1546225" y="2658110"/>
            <a:ext cx="5149850" cy="1385959"/>
          </a:xfrm>
          <a:prstGeom prst="roundRect">
            <a:avLst>
              <a:gd name="adj" fmla="val 2477"/>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algn="l" defTabSz="914400">
              <a:lnSpc>
                <a:spcPct val="130000"/>
              </a:lnSpc>
              <a:buClr>
                <a:schemeClr val="folHlink"/>
              </a:buClr>
              <a:buSzPct val="60000"/>
              <a:buNone/>
            </a:pPr>
            <a:r>
              <a:rPr lang="en-US" altLang="zh-CN" sz="1600" dirty="0">
                <a:solidFill>
                  <a:srgbClr val="0000FF"/>
                </a:solidFill>
                <a:latin typeface="+mn-ea"/>
                <a:ea typeface="+mn-ea"/>
              </a:rPr>
              <a:t>                     </a:t>
            </a:r>
            <a:r>
              <a:rPr lang="zh-CN" altLang="en-US" sz="1600" dirty="0">
                <a:solidFill>
                  <a:srgbClr val="0000FF"/>
                </a:solidFill>
                <a:latin typeface="+mn-ea"/>
                <a:ea typeface="+mn-ea"/>
              </a:rPr>
              <a:t>思路分析：数学中列出方程式</a:t>
            </a:r>
            <a:endParaRPr lang="en-US" altLang="x-none" sz="1600" dirty="0">
              <a:latin typeface="+mn-ea"/>
              <a:ea typeface="+mn-ea"/>
            </a:endParaRPr>
          </a:p>
          <a:p>
            <a:pPr algn="l" defTabSz="914400">
              <a:lnSpc>
                <a:spcPct val="130000"/>
              </a:lnSpc>
              <a:buClr>
                <a:schemeClr val="folHlink"/>
              </a:buClr>
              <a:buSzPct val="60000"/>
              <a:buNone/>
            </a:pPr>
            <a:r>
              <a:rPr lang="en-US" altLang="x-none" sz="1600" dirty="0">
                <a:latin typeface="+mn-ea"/>
                <a:ea typeface="+mn-ea"/>
              </a:rPr>
              <a:t>             		x + y + z = 100</a:t>
            </a:r>
            <a:endParaRPr lang="en-US" altLang="x-none" sz="1600" dirty="0">
              <a:latin typeface="+mn-ea"/>
              <a:ea typeface="+mn-ea"/>
            </a:endParaRPr>
          </a:p>
          <a:p>
            <a:pPr algn="l" defTabSz="914400">
              <a:lnSpc>
                <a:spcPct val="130000"/>
              </a:lnSpc>
              <a:buClr>
                <a:schemeClr val="folHlink"/>
              </a:buClr>
              <a:buSzPct val="60000"/>
              <a:buNone/>
            </a:pPr>
            <a:r>
              <a:rPr lang="en-US" altLang="x-none" sz="1600" dirty="0">
                <a:latin typeface="+mn-ea"/>
                <a:ea typeface="+mn-ea"/>
              </a:rPr>
              <a:t>             	 	5x + 3y + z/3 =100</a:t>
            </a:r>
            <a:endParaRPr lang="en-US" altLang="x-none" sz="1600" dirty="0">
              <a:latin typeface="+mn-ea"/>
              <a:ea typeface="+mn-ea"/>
            </a:endParaRPr>
          </a:p>
          <a:p>
            <a:pPr defTabSz="914400">
              <a:lnSpc>
                <a:spcPct val="130000"/>
              </a:lnSpc>
              <a:buClr>
                <a:schemeClr val="folHlink"/>
              </a:buClr>
              <a:buSzPct val="60000"/>
              <a:buNone/>
            </a:pPr>
            <a:r>
              <a:rPr lang="zh-CN" altLang="en-US" sz="1600" dirty="0">
                <a:latin typeface="+mn-ea"/>
                <a:ea typeface="+mn-ea"/>
              </a:rPr>
              <a:t>其中</a:t>
            </a:r>
            <a:r>
              <a:rPr lang="en-US" altLang="zh-CN" sz="1600" dirty="0">
                <a:latin typeface="+mn-ea"/>
                <a:ea typeface="+mn-ea"/>
              </a:rPr>
              <a:t>x</a:t>
            </a:r>
            <a:r>
              <a:rPr lang="zh-CN" altLang="en-US" sz="1600" dirty="0">
                <a:latin typeface="+mn-ea"/>
                <a:ea typeface="+mn-ea"/>
              </a:rPr>
              <a:t>，</a:t>
            </a:r>
            <a:r>
              <a:rPr lang="en-US" altLang="zh-CN" sz="1600" dirty="0">
                <a:latin typeface="+mn-ea"/>
                <a:ea typeface="+mn-ea"/>
              </a:rPr>
              <a:t>y</a:t>
            </a:r>
            <a:r>
              <a:rPr lang="zh-CN" altLang="en-US" sz="1600" dirty="0">
                <a:latin typeface="+mn-ea"/>
                <a:ea typeface="+mn-ea"/>
              </a:rPr>
              <a:t>，</a:t>
            </a:r>
            <a:r>
              <a:rPr lang="en-US" altLang="zh-CN" sz="1600" dirty="0">
                <a:latin typeface="+mn-ea"/>
                <a:ea typeface="+mn-ea"/>
              </a:rPr>
              <a:t>z</a:t>
            </a:r>
            <a:r>
              <a:rPr lang="zh-CN" altLang="en-US" sz="1600" dirty="0">
                <a:latin typeface="+mn-ea"/>
                <a:ea typeface="+mn-ea"/>
              </a:rPr>
              <a:t>分别是公鸡，母鸡和小鸡的数目</a:t>
            </a:r>
            <a:endParaRPr lang="en-US" altLang="x-none" sz="1600" dirty="0">
              <a:latin typeface="+mn-ea"/>
              <a:ea typeface="+mn-ea"/>
            </a:endParaRPr>
          </a:p>
        </p:txBody>
      </p:sp>
      <p:sp>
        <p:nvSpPr>
          <p:cNvPr id="40965" name="AutoShape 12"/>
          <p:cNvSpPr/>
          <p:nvPr/>
        </p:nvSpPr>
        <p:spPr>
          <a:xfrm>
            <a:off x="1668145" y="748665"/>
            <a:ext cx="4906010" cy="1358900"/>
          </a:xfrm>
          <a:prstGeom prst="roundRect">
            <a:avLst>
              <a:gd name="adj" fmla="val 0"/>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algn="l" defTabSz="914400">
              <a:buNone/>
            </a:pPr>
            <a:r>
              <a:rPr lang="zh-CN" altLang="en-US" sz="1600" dirty="0">
                <a:solidFill>
                  <a:schemeClr val="tx1">
                    <a:lumMod val="75000"/>
                    <a:lumOff val="25000"/>
                  </a:schemeClr>
                </a:solidFill>
                <a:latin typeface="+mn-ea"/>
                <a:ea typeface="+mn-ea"/>
                <a:sym typeface="+mn-ea"/>
              </a:rPr>
              <a:t>需求分析：公鸡5文钱一只，母鸡3文钱一只，小鸡3只一文钱，用100文钱买100只鸡，如何买？</a:t>
            </a:r>
            <a:endParaRPr lang="en-US" altLang="x-none" sz="1600" dirty="0">
              <a:solidFill>
                <a:schemeClr val="tx1">
                  <a:lumMod val="65000"/>
                  <a:lumOff val="35000"/>
                </a:schemeClr>
              </a:solidFill>
              <a:latin typeface="+mn-ea"/>
              <a:ea typeface="+mn-ea"/>
            </a:endParaRPr>
          </a:p>
        </p:txBody>
      </p:sp>
      <p:pic>
        <p:nvPicPr>
          <p:cNvPr id="40972" name="Freeform 12"/>
          <p:cNvPicPr>
            <a:picLocks noGrp="1" noChangeAspect="1"/>
          </p:cNvPicPr>
          <p:nvPr/>
        </p:nvPicPr>
        <p:blipFill>
          <a:blip r:embed="rId1" cstate="print"/>
          <a:stretch>
            <a:fillRect/>
          </a:stretch>
        </p:blipFill>
        <p:spPr>
          <a:xfrm>
            <a:off x="1668119" y="2023744"/>
            <a:ext cx="673100" cy="802481"/>
          </a:xfrm>
          <a:prstGeom prst="rect">
            <a:avLst/>
          </a:prstGeom>
          <a:noFill/>
          <a:ln w="9525">
            <a:noFill/>
          </a:ln>
        </p:spPr>
      </p:pic>
      <p:sp>
        <p:nvSpPr>
          <p:cNvPr id="6" name="AutoShape 3"/>
          <p:cNvSpPr/>
          <p:nvPr/>
        </p:nvSpPr>
        <p:spPr bwMode="auto">
          <a:xfrm>
            <a:off x="3203848" y="3170913"/>
            <a:ext cx="201360" cy="360351"/>
          </a:xfrm>
          <a:prstGeom prst="leftBrace">
            <a:avLst>
              <a:gd name="adj1" fmla="val 62112"/>
              <a:gd name="adj2" fmla="val 50000"/>
            </a:avLst>
          </a:prstGeom>
          <a:noFill/>
          <a:ln w="28575">
            <a:solidFill>
              <a:srgbClr val="7030A0"/>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sz="1600" dirty="0">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wipe(left)">
                                      <p:cBhvr>
                                        <p:cTn id="7" dur="500"/>
                                        <p:tgtEl>
                                          <p:spTgt spid="409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972"/>
                                        </p:tgtEl>
                                        <p:attrNameLst>
                                          <p:attrName>style.visibility</p:attrName>
                                        </p:attrNameLst>
                                      </p:cBhvr>
                                      <p:to>
                                        <p:strVal val="visible"/>
                                      </p:to>
                                    </p:set>
                                    <p:animEffect transition="in" filter="wipe(up)">
                                      <p:cBhvr>
                                        <p:cTn id="12" dur="500"/>
                                        <p:tgtEl>
                                          <p:spTgt spid="4097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0964"/>
                                        </p:tgtEl>
                                        <p:attrNameLst>
                                          <p:attrName>style.visibility</p:attrName>
                                        </p:attrNameLst>
                                      </p:cBhvr>
                                      <p:to>
                                        <p:strVal val="visible"/>
                                      </p:to>
                                    </p:set>
                                    <p:animEffect transition="in" filter="fade">
                                      <p:cBhvr>
                                        <p:cTn id="17" dur="1000"/>
                                        <p:tgtEl>
                                          <p:spTgt spid="40964"/>
                                        </p:tgtEl>
                                      </p:cBhvr>
                                    </p:animEffect>
                                    <p:anim calcmode="lin" valueType="num">
                                      <p:cBhvr>
                                        <p:cTn id="18" dur="1000" fill="hold"/>
                                        <p:tgtEl>
                                          <p:spTgt spid="40964"/>
                                        </p:tgtEl>
                                        <p:attrNameLst>
                                          <p:attrName>ppt_x</p:attrName>
                                        </p:attrNameLst>
                                      </p:cBhvr>
                                      <p:tavLst>
                                        <p:tav tm="0">
                                          <p:val>
                                            <p:strVal val="#ppt_x"/>
                                          </p:val>
                                        </p:tav>
                                        <p:tav tm="100000">
                                          <p:val>
                                            <p:strVal val="#ppt_x"/>
                                          </p:val>
                                        </p:tav>
                                      </p:tavLst>
                                    </p:anim>
                                    <p:anim calcmode="lin" valueType="num">
                                      <p:cBhvr>
                                        <p:cTn id="19" dur="1000" fill="hold"/>
                                        <p:tgtEl>
                                          <p:spTgt spid="4096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ldLvl="0" animBg="1"/>
      <p:bldP spid="40965" grpId="0" bldLvl="0" animBg="1"/>
      <p:bldP spid="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
          <p:cNvSpPr txBox="1"/>
          <p:nvPr/>
        </p:nvSpPr>
        <p:spPr>
          <a:xfrm>
            <a:off x="4932041" y="152162"/>
            <a:ext cx="4007172" cy="347886"/>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n-ea"/>
                <a:ea typeface="+mn-ea"/>
                <a:cs typeface="+mj-cs"/>
              </a:rPr>
              <a:t>百钱百鸡思路分析</a:t>
            </a:r>
            <a:endParaRPr lang="zh-CN" altLang="en-US" sz="2000" b="0" dirty="0">
              <a:solidFill>
                <a:srgbClr val="0070C0"/>
              </a:solidFill>
              <a:latin typeface="+mn-ea"/>
              <a:ea typeface="+mn-ea"/>
              <a:cs typeface="+mj-cs"/>
            </a:endParaRPr>
          </a:p>
        </p:txBody>
      </p:sp>
      <p:sp>
        <p:nvSpPr>
          <p:cNvPr id="41987" name="AutoShape 3"/>
          <p:cNvSpPr/>
          <p:nvPr/>
        </p:nvSpPr>
        <p:spPr>
          <a:xfrm>
            <a:off x="1109664" y="1220391"/>
            <a:ext cx="7329487" cy="381258"/>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Clr>
                <a:schemeClr val="folHlink"/>
              </a:buClr>
              <a:buSzPct val="60000"/>
              <a:buNone/>
            </a:pPr>
            <a:r>
              <a:rPr lang="zh-CN" altLang="en-US" sz="1600" dirty="0">
                <a:solidFill>
                  <a:srgbClr val="09131F"/>
                </a:solidFill>
                <a:latin typeface="+mn-ea"/>
                <a:ea typeface="+mn-ea"/>
              </a:rPr>
              <a:t>如何转换成程序？ </a:t>
            </a:r>
            <a:r>
              <a:rPr lang="en-US" altLang="zh-CN" sz="1600" dirty="0">
                <a:solidFill>
                  <a:srgbClr val="09131F"/>
                </a:solidFill>
                <a:latin typeface="+mn-ea"/>
                <a:ea typeface="+mn-ea"/>
              </a:rPr>
              <a:t>——</a:t>
            </a:r>
            <a:r>
              <a:rPr lang="zh-CN" altLang="en-US" sz="1600" dirty="0">
                <a:solidFill>
                  <a:srgbClr val="09131F"/>
                </a:solidFill>
                <a:latin typeface="+mn-ea"/>
                <a:ea typeface="+mn-ea"/>
              </a:rPr>
              <a:t>枚举法</a:t>
            </a:r>
            <a:endParaRPr lang="zh-CN" altLang="en-US" sz="1600" dirty="0">
              <a:solidFill>
                <a:srgbClr val="09131F"/>
              </a:solidFill>
              <a:latin typeface="+mn-ea"/>
              <a:ea typeface="+mn-ea"/>
            </a:endParaRPr>
          </a:p>
        </p:txBody>
      </p:sp>
      <p:sp>
        <p:nvSpPr>
          <p:cNvPr id="41990" name="AutoShape 6"/>
          <p:cNvSpPr/>
          <p:nvPr/>
        </p:nvSpPr>
        <p:spPr>
          <a:xfrm>
            <a:off x="1043305" y="2030095"/>
            <a:ext cx="7275195" cy="2331084"/>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marL="285750" indent="-285750" algn="l" defTabSz="914400">
              <a:lnSpc>
                <a:spcPct val="130000"/>
              </a:lnSpc>
              <a:buClr>
                <a:schemeClr val="folHlink"/>
              </a:buClr>
              <a:buSzPct val="60000"/>
              <a:buFont typeface="Wingdings" panose="05000000000000000000" pitchFamily="2" charset="2"/>
              <a:buChar char="n"/>
            </a:pPr>
            <a:r>
              <a:rPr sz="1600" dirty="0">
                <a:latin typeface="+mn-ea"/>
                <a:ea typeface="+mn-ea"/>
              </a:rPr>
              <a:t>先从买1只公鸡开始，然后买1只母鸡，剩下钱全部买小鸡，看满不满足100只鸡，不满足的话，那就执行下一步</a:t>
            </a:r>
            <a:endParaRPr sz="1600" dirty="0">
              <a:latin typeface="+mn-ea"/>
              <a:ea typeface="+mn-ea"/>
            </a:endParaRPr>
          </a:p>
          <a:p>
            <a:pPr marL="285750" indent="-285750" algn="l" defTabSz="914400">
              <a:lnSpc>
                <a:spcPct val="130000"/>
              </a:lnSpc>
              <a:buClr>
                <a:schemeClr val="folHlink"/>
              </a:buClr>
              <a:buSzPct val="60000"/>
              <a:buFont typeface="Wingdings" panose="05000000000000000000" pitchFamily="2" charset="2"/>
              <a:buChar char="n"/>
            </a:pPr>
            <a:endParaRPr sz="1600" dirty="0">
              <a:latin typeface="+mn-ea"/>
              <a:ea typeface="+mn-ea"/>
            </a:endParaRPr>
          </a:p>
          <a:p>
            <a:pPr marL="285750" indent="-285750" algn="l" defTabSz="914400">
              <a:lnSpc>
                <a:spcPct val="130000"/>
              </a:lnSpc>
              <a:buClr>
                <a:schemeClr val="folHlink"/>
              </a:buClr>
              <a:buSzPct val="60000"/>
              <a:buFont typeface="Wingdings" panose="05000000000000000000" pitchFamily="2" charset="2"/>
              <a:buChar char="n"/>
            </a:pPr>
            <a:r>
              <a:rPr sz="1600" dirty="0">
                <a:latin typeface="+mn-ea"/>
                <a:ea typeface="+mn-ea"/>
              </a:rPr>
              <a:t>先从买1只公鸡开始，然后买2只母鸡，剩下钱全部买小鸡，看满不满足100只鸡</a:t>
            </a:r>
            <a:r>
              <a:rPr lang="zh-CN" sz="1600" dirty="0">
                <a:latin typeface="+mn-ea"/>
                <a:ea typeface="+mn-ea"/>
              </a:rPr>
              <a:t>，</a:t>
            </a:r>
            <a:r>
              <a:rPr sz="1600" dirty="0">
                <a:latin typeface="+mn-ea"/>
                <a:ea typeface="+mn-ea"/>
              </a:rPr>
              <a:t>不满足的话，母鸡数在加1，直到3</a:t>
            </a:r>
            <a:r>
              <a:rPr lang="en-US" sz="1600" dirty="0">
                <a:latin typeface="+mn-ea"/>
                <a:ea typeface="+mn-ea"/>
              </a:rPr>
              <a:t>3</a:t>
            </a:r>
            <a:endParaRPr sz="1600" dirty="0">
              <a:latin typeface="+mn-ea"/>
              <a:ea typeface="+mn-ea"/>
            </a:endParaRPr>
          </a:p>
          <a:p>
            <a:pPr marL="285750" indent="-285750" algn="l" defTabSz="914400">
              <a:lnSpc>
                <a:spcPct val="130000"/>
              </a:lnSpc>
              <a:buClr>
                <a:schemeClr val="folHlink"/>
              </a:buClr>
              <a:buSzPct val="60000"/>
              <a:buFont typeface="Wingdings" panose="05000000000000000000" pitchFamily="2" charset="2"/>
              <a:buChar char="n"/>
            </a:pPr>
            <a:endParaRPr sz="1600" dirty="0">
              <a:latin typeface="+mn-ea"/>
              <a:ea typeface="+mn-ea"/>
            </a:endParaRPr>
          </a:p>
          <a:p>
            <a:pPr marL="285750" indent="-285750" algn="l" defTabSz="914400">
              <a:lnSpc>
                <a:spcPct val="130000"/>
              </a:lnSpc>
              <a:buClr>
                <a:schemeClr val="folHlink"/>
              </a:buClr>
              <a:buSzPct val="60000"/>
              <a:buFont typeface="Wingdings" panose="05000000000000000000" pitchFamily="2" charset="2"/>
              <a:buChar char="n"/>
            </a:pPr>
            <a:r>
              <a:rPr sz="1600" dirty="0">
                <a:latin typeface="+mn-ea"/>
                <a:ea typeface="+mn-ea"/>
              </a:rPr>
              <a:t>然后公鸡数目加1，再从1只母鸡买起，剩下钱买小鸡，依次循环下去</a:t>
            </a:r>
            <a:endParaRPr sz="1600" dirty="0">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1990"/>
                                        </p:tgtEl>
                                        <p:attrNameLst>
                                          <p:attrName>style.visibility</p:attrName>
                                        </p:attrNameLst>
                                      </p:cBhvr>
                                      <p:to>
                                        <p:strVal val="visible"/>
                                      </p:to>
                                    </p:set>
                                    <p:animEffect transition="in" filter="wipe(left)">
                                      <p:cBhvr>
                                        <p:cTn id="7" dur="500"/>
                                        <p:tgtEl>
                                          <p:spTgt spid="419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p:cNvSpPr txBox="1"/>
          <p:nvPr/>
        </p:nvSpPr>
        <p:spPr>
          <a:xfrm>
            <a:off x="4355977" y="160735"/>
            <a:ext cx="4608636" cy="410751"/>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n-ea"/>
                <a:ea typeface="+mn-ea"/>
                <a:cs typeface="+mj-cs"/>
              </a:rPr>
              <a:t>百钱百鸡代码</a:t>
            </a:r>
            <a:endParaRPr lang="zh-CN" altLang="en-US" sz="2000" b="0" dirty="0">
              <a:solidFill>
                <a:srgbClr val="0070C0"/>
              </a:solidFill>
              <a:latin typeface="+mn-ea"/>
              <a:ea typeface="+mn-ea"/>
              <a:cs typeface="+mj-cs"/>
            </a:endParaRPr>
          </a:p>
        </p:txBody>
      </p:sp>
      <p:sp>
        <p:nvSpPr>
          <p:cNvPr id="43011" name="AutoShape 3"/>
          <p:cNvSpPr/>
          <p:nvPr/>
        </p:nvSpPr>
        <p:spPr>
          <a:xfrm>
            <a:off x="914401" y="1600201"/>
            <a:ext cx="7300913" cy="1691004"/>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Clr>
                <a:schemeClr val="folHlink"/>
              </a:buClr>
              <a:buSzPct val="60000"/>
              <a:buNone/>
            </a:pPr>
            <a:r>
              <a:rPr lang="en-US" altLang="x-none" sz="1600" dirty="0">
                <a:solidFill>
                  <a:srgbClr val="09131F"/>
                </a:solidFill>
                <a:latin typeface="+mn-ea"/>
                <a:ea typeface="+mn-ea"/>
              </a:rPr>
              <a:t>for x in range(1, 100):                      # 从１开始买公鸡</a:t>
            </a:r>
            <a:endParaRPr lang="en-US" altLang="x-none" sz="1600" dirty="0">
              <a:solidFill>
                <a:srgbClr val="09131F"/>
              </a:solidFill>
              <a:latin typeface="+mn-ea"/>
              <a:ea typeface="+mn-ea"/>
            </a:endParaRPr>
          </a:p>
          <a:p>
            <a:pPr algn="l" defTabSz="914400">
              <a:lnSpc>
                <a:spcPct val="130000"/>
              </a:lnSpc>
              <a:buClr>
                <a:schemeClr val="folHlink"/>
              </a:buClr>
              <a:buSzPct val="60000"/>
              <a:buNone/>
            </a:pPr>
            <a:r>
              <a:rPr lang="en-US" altLang="x-none" sz="1600" dirty="0">
                <a:solidFill>
                  <a:srgbClr val="09131F"/>
                </a:solidFill>
                <a:latin typeface="+mn-ea"/>
                <a:ea typeface="+mn-ea"/>
              </a:rPr>
              <a:t>    for y in range(1, 100):                  # 从1开始买母鸡</a:t>
            </a:r>
            <a:endParaRPr lang="en-US" altLang="x-none" sz="1600" dirty="0">
              <a:solidFill>
                <a:srgbClr val="09131F"/>
              </a:solidFill>
              <a:latin typeface="+mn-ea"/>
              <a:ea typeface="+mn-ea"/>
            </a:endParaRPr>
          </a:p>
          <a:p>
            <a:pPr algn="l" defTabSz="914400">
              <a:lnSpc>
                <a:spcPct val="130000"/>
              </a:lnSpc>
              <a:buClr>
                <a:schemeClr val="folHlink"/>
              </a:buClr>
              <a:buSzPct val="60000"/>
              <a:buNone/>
            </a:pPr>
            <a:r>
              <a:rPr lang="en-US" altLang="x-none" sz="1600" dirty="0">
                <a:solidFill>
                  <a:srgbClr val="09131F"/>
                </a:solidFill>
                <a:latin typeface="+mn-ea"/>
                <a:ea typeface="+mn-ea"/>
              </a:rPr>
              <a:t>        z = 100 - x - y                     	   # 计算剩余要买多少个小鸡</a:t>
            </a:r>
            <a:endParaRPr lang="en-US" altLang="x-none" sz="1600" dirty="0">
              <a:solidFill>
                <a:srgbClr val="09131F"/>
              </a:solidFill>
              <a:latin typeface="+mn-ea"/>
              <a:ea typeface="+mn-ea"/>
            </a:endParaRPr>
          </a:p>
          <a:p>
            <a:pPr algn="l" defTabSz="914400">
              <a:lnSpc>
                <a:spcPct val="130000"/>
              </a:lnSpc>
              <a:buClr>
                <a:schemeClr val="folHlink"/>
              </a:buClr>
              <a:buSzPct val="60000"/>
              <a:buNone/>
            </a:pPr>
            <a:r>
              <a:rPr lang="en-US" altLang="x-none" sz="1600" dirty="0">
                <a:solidFill>
                  <a:srgbClr val="09131F"/>
                </a:solidFill>
                <a:latin typeface="+mn-ea"/>
                <a:ea typeface="+mn-ea"/>
              </a:rPr>
              <a:t>        if (5*x + 3*y + z/3 == 100):     # 判断买的计划是否符合条件        </a:t>
            </a:r>
            <a:endParaRPr lang="en-US" altLang="x-none" sz="1600" dirty="0">
              <a:solidFill>
                <a:srgbClr val="09131F"/>
              </a:solidFill>
              <a:latin typeface="+mn-ea"/>
              <a:ea typeface="+mn-ea"/>
            </a:endParaRPr>
          </a:p>
          <a:p>
            <a:pPr algn="l" defTabSz="914400">
              <a:lnSpc>
                <a:spcPct val="130000"/>
              </a:lnSpc>
              <a:buClr>
                <a:schemeClr val="folHlink"/>
              </a:buClr>
              <a:buSzPct val="60000"/>
              <a:buNone/>
            </a:pPr>
            <a:r>
              <a:rPr lang="en-US" altLang="x-none" sz="1600" dirty="0">
                <a:solidFill>
                  <a:srgbClr val="09131F"/>
                </a:solidFill>
                <a:latin typeface="+mn-ea"/>
                <a:ea typeface="+mn-ea"/>
              </a:rPr>
              <a:t>            print('公鸡：%s 母鸡：%s 小鸡：%s'%(x, y, z))</a:t>
            </a:r>
            <a:endParaRPr lang="en-US" altLang="x-none" sz="1600" dirty="0">
              <a:solidFill>
                <a:srgbClr val="09131F"/>
              </a:solidFill>
              <a:latin typeface="+mn-ea"/>
              <a:ea typeface="+mn-ea"/>
            </a:endParaRPr>
          </a:p>
        </p:txBody>
      </p:sp>
      <p:sp>
        <p:nvSpPr>
          <p:cNvPr id="43012" name="AutoShape 5"/>
          <p:cNvSpPr/>
          <p:nvPr/>
        </p:nvSpPr>
        <p:spPr>
          <a:xfrm>
            <a:off x="2357120" y="1043259"/>
            <a:ext cx="2258139" cy="374571"/>
          </a:xfrm>
          <a:prstGeom prst="wedgeRoundRectCallout">
            <a:avLst>
              <a:gd name="adj1" fmla="val -21403"/>
              <a:gd name="adj2" fmla="val 51352"/>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b">
            <a:spAutoFit/>
          </a:bodyPr>
          <a:lstStyle/>
          <a:p>
            <a:pPr algn="l" defTabSz="914400" eaLnBrk="0" hangingPunct="0">
              <a:buClr>
                <a:srgbClr val="233DA9"/>
              </a:buClr>
              <a:buSzPct val="80000"/>
              <a:buNone/>
            </a:pPr>
            <a:r>
              <a:rPr lang="zh-CN" altLang="en-US" sz="1600" dirty="0">
                <a:solidFill>
                  <a:schemeClr val="bg1"/>
                </a:solidFill>
                <a:latin typeface="+mn-ea"/>
                <a:ea typeface="+mn-ea"/>
              </a:rPr>
              <a:t>这里涉及到了嵌套循环</a:t>
            </a:r>
            <a:endParaRPr lang="zh-CN" altLang="en-US" sz="1600" dirty="0">
              <a:solidFill>
                <a:schemeClr val="bg1"/>
              </a:solidFill>
              <a:latin typeface="+mn-ea"/>
              <a:ea typeface="+mn-ea"/>
            </a:endParaRPr>
          </a:p>
        </p:txBody>
      </p:sp>
      <p:pic>
        <p:nvPicPr>
          <p:cNvPr id="43014" name="直接箭头连接符 5"/>
          <p:cNvPicPr>
            <a:picLocks noGrp="1" noChangeAspect="1"/>
          </p:cNvPicPr>
          <p:nvPr/>
        </p:nvPicPr>
        <p:blipFill>
          <a:blip r:embed="rId1" cstate="print"/>
          <a:stretch>
            <a:fillRect/>
          </a:stretch>
        </p:blipFill>
        <p:spPr>
          <a:xfrm>
            <a:off x="1685927" y="1218486"/>
            <a:ext cx="671496" cy="424570"/>
          </a:xfrm>
          <a:prstGeom prst="rect">
            <a:avLst/>
          </a:prstGeom>
          <a:noFill/>
          <a:ln w="9525">
            <a:noFill/>
          </a:ln>
        </p:spPr>
      </p:pic>
      <p:sp>
        <p:nvSpPr>
          <p:cNvPr id="2" name="文本框 1"/>
          <p:cNvSpPr txBox="1"/>
          <p:nvPr/>
        </p:nvSpPr>
        <p:spPr>
          <a:xfrm>
            <a:off x="996950" y="1049655"/>
            <a:ext cx="1160780" cy="368300"/>
          </a:xfrm>
          <a:prstGeom prst="rect">
            <a:avLst/>
          </a:prstGeom>
          <a:noFill/>
        </p:spPr>
        <p:txBody>
          <a:bodyPr wrap="none" rtlCol="0">
            <a:spAutoFit/>
          </a:bodyPr>
          <a:lstStyle/>
          <a:p>
            <a:r>
              <a:rPr lang="zh-CN" altLang="en-US">
                <a:latin typeface="+mn-ea"/>
                <a:ea typeface="+mn-ea"/>
              </a:rPr>
              <a:t>代码实现</a:t>
            </a:r>
            <a:r>
              <a:rPr lang="en-US" altLang="zh-CN">
                <a:latin typeface="+mn-ea"/>
                <a:ea typeface="+mn-ea"/>
              </a:rPr>
              <a:t>:</a:t>
            </a:r>
            <a:endParaRPr lang="en-US" altLang="zh-CN">
              <a:latin typeface="+mn-ea"/>
              <a:ea typeface="+mn-ea"/>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wipe(left)">
                                      <p:cBhvr>
                                        <p:cTn id="7" dur="500"/>
                                        <p:tgtEl>
                                          <p:spTgt spid="43012"/>
                                        </p:tgtEl>
                                      </p:cBhvr>
                                    </p:animEffect>
                                  </p:childTnLst>
                                </p:cTn>
                              </p:par>
                              <p:par>
                                <p:cTn id="8" presetID="22" presetClass="entr" presetSubtype="4" fill="hold" nodeType="withEffect">
                                  <p:stCondLst>
                                    <p:cond delay="0"/>
                                  </p:stCondLst>
                                  <p:childTnLst>
                                    <p:set>
                                      <p:cBhvr>
                                        <p:cTn id="9" dur="1" fill="hold">
                                          <p:stCondLst>
                                            <p:cond delay="0"/>
                                          </p:stCondLst>
                                        </p:cTn>
                                        <p:tgtEl>
                                          <p:spTgt spid="43014"/>
                                        </p:tgtEl>
                                        <p:attrNameLst>
                                          <p:attrName>style.visibility</p:attrName>
                                        </p:attrNameLst>
                                      </p:cBhvr>
                                      <p:to>
                                        <p:strVal val="visible"/>
                                      </p:to>
                                    </p:set>
                                    <p:animEffect transition="in" filter="wipe(down)">
                                      <p:cBhvr>
                                        <p:cTn id="10"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1"/>
          <p:cNvSpPr txBox="1"/>
          <p:nvPr/>
        </p:nvSpPr>
        <p:spPr>
          <a:xfrm>
            <a:off x="7572396" y="117872"/>
            <a:ext cx="1412854" cy="382176"/>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lt"/>
                <a:ea typeface="+mj-ea"/>
                <a:cs typeface="+mj-cs"/>
              </a:rPr>
              <a:t>内容小结</a:t>
            </a:r>
            <a:endParaRPr lang="zh-CN" altLang="en-US" sz="2000" b="0" dirty="0">
              <a:solidFill>
                <a:srgbClr val="0070C0"/>
              </a:solidFill>
              <a:latin typeface="+mj-lt"/>
              <a:ea typeface="+mj-ea"/>
              <a:cs typeface="+mj-cs"/>
            </a:endParaRPr>
          </a:p>
        </p:txBody>
      </p:sp>
      <p:sp>
        <p:nvSpPr>
          <p:cNvPr id="54275" name="内容占位符 7"/>
          <p:cNvSpPr txBox="1"/>
          <p:nvPr/>
        </p:nvSpPr>
        <p:spPr>
          <a:xfrm>
            <a:off x="784225" y="956945"/>
            <a:ext cx="7645400" cy="1167765"/>
          </a:xfrm>
          <a:prstGeom prst="rect">
            <a:avLst/>
          </a:prstGeom>
          <a:noFill/>
          <a:ln w="9525">
            <a:noFill/>
          </a:ln>
        </p:spPr>
        <p:txBody>
          <a:bodyPr anchor="t"/>
          <a:lstStyle/>
          <a:p>
            <a:pPr algn="l" eaLnBrk="0" hangingPunct="0">
              <a:buClr>
                <a:srgbClr val="000000"/>
              </a:buClr>
              <a:buFont typeface="Wingdings" panose="05000000000000000000" charset="0"/>
              <a:buChar char=""/>
            </a:pPr>
            <a:r>
              <a:rPr lang="zh-CN" altLang="en-US" sz="2000" dirty="0">
                <a:solidFill>
                  <a:schemeClr val="tx1">
                    <a:lumMod val="75000"/>
                    <a:lumOff val="25000"/>
                  </a:schemeClr>
                </a:solidFill>
                <a:latin typeface="+mn-ea"/>
              </a:rPr>
              <a:t>for循环语法</a:t>
            </a:r>
            <a:endParaRPr lang="zh-CN" altLang="en-US" sz="2000" dirty="0">
              <a:solidFill>
                <a:schemeClr val="tx1">
                  <a:lumMod val="75000"/>
                  <a:lumOff val="25000"/>
                </a:schemeClr>
              </a:solidFill>
              <a:latin typeface="+mn-ea"/>
            </a:endParaRPr>
          </a:p>
          <a:p>
            <a:pPr indent="0" algn="l" eaLnBrk="0" hangingPunct="0">
              <a:buClr>
                <a:srgbClr val="000000"/>
              </a:buClr>
              <a:buFont typeface="Wingdings" panose="05000000000000000000" charset="0"/>
              <a:buNone/>
            </a:pPr>
            <a:endParaRPr lang="zh-CN" altLang="en-US" sz="2000" dirty="0">
              <a:solidFill>
                <a:schemeClr val="tx1">
                  <a:lumMod val="75000"/>
                  <a:lumOff val="25000"/>
                </a:schemeClr>
              </a:solidFill>
              <a:latin typeface="+mn-ea"/>
            </a:endParaRPr>
          </a:p>
          <a:p>
            <a:pPr algn="l"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循环嵌套</a:t>
            </a:r>
            <a:endParaRPr lang="zh-CN" altLang="en-US" sz="2000" b="0" dirty="0">
              <a:solidFill>
                <a:schemeClr val="tx1">
                  <a:lumMod val="75000"/>
                  <a:lumOff val="25000"/>
                </a:schemeClr>
              </a:solidFill>
              <a:latin typeface="+mn-ea"/>
              <a:ea typeface="+mn-ea"/>
            </a:endParaRPr>
          </a:p>
          <a:p>
            <a:pPr indent="0" algn="l" eaLnBrk="0" hangingPunct="0">
              <a:buClr>
                <a:srgbClr val="000000"/>
              </a:buClr>
              <a:buFont typeface="Wingdings" panose="05000000000000000000" charset="0"/>
              <a:buNone/>
            </a:pPr>
            <a:endParaRPr lang="zh-CN" altLang="en-US" sz="2000" b="0" dirty="0">
              <a:solidFill>
                <a:schemeClr val="tx1">
                  <a:lumMod val="75000"/>
                  <a:lumOff val="25000"/>
                </a:schemeClr>
              </a:solidFill>
              <a:latin typeface="+mn-ea"/>
              <a:ea typeface="+mn-ea"/>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第三</a:t>
            </a:r>
            <a:r>
              <a:rPr lang="zh-CN" altLang="en-US" sz="4000" dirty="0">
                <a:solidFill>
                  <a:schemeClr val="accent5">
                    <a:lumMod val="50000"/>
                  </a:schemeClr>
                </a:solidFill>
              </a:rPr>
              <a:t>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zh-CN" altLang="en-US" dirty="0"/>
              <a:t>循环嵌套</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195740" y="141483"/>
            <a:ext cx="6768877" cy="368300"/>
          </a:xfrm>
        </p:spPr>
        <p:txBody>
          <a:bodyPr/>
          <a:lstStyle/>
          <a:p>
            <a:r>
              <a:rPr lang="zh-CN" altLang="en-US" dirty="0"/>
              <a:t>知识回顾</a:t>
            </a:r>
            <a:endParaRPr lang="zh-CN" altLang="en-US" dirty="0"/>
          </a:p>
        </p:txBody>
      </p:sp>
      <p:sp>
        <p:nvSpPr>
          <p:cNvPr id="2" name="内容占位符 1"/>
          <p:cNvSpPr>
            <a:spLocks noGrp="1"/>
          </p:cNvSpPr>
          <p:nvPr>
            <p:ph idx="1"/>
          </p:nvPr>
        </p:nvSpPr>
        <p:spPr>
          <a:xfrm>
            <a:off x="575946" y="1085850"/>
            <a:ext cx="7992745" cy="1557908"/>
          </a:xfrm>
        </p:spPr>
        <p:txBody>
          <a:bodyPr/>
          <a:lstStyle/>
          <a:p>
            <a:pPr>
              <a:buClr>
                <a:srgbClr val="000000"/>
              </a:buClr>
              <a:buFont typeface="Wingdings" panose="05000000000000000000" charset="0"/>
              <a:buChar char=""/>
            </a:pPr>
            <a:r>
              <a:rPr lang="zh-CN" altLang="en-US" dirty="0"/>
              <a:t>程序结构有哪些？</a:t>
            </a:r>
            <a:endParaRPr lang="zh-CN" altLang="en-US" dirty="0"/>
          </a:p>
          <a:p>
            <a:pPr>
              <a:buClr>
                <a:srgbClr val="000000"/>
              </a:buClr>
              <a:buFont typeface="Wingdings" panose="05000000000000000000" charset="0"/>
              <a:buChar char=""/>
            </a:pPr>
            <a:r>
              <a:rPr lang="en-US" altLang="zh-CN" dirty="0">
                <a:solidFill>
                  <a:srgbClr val="404040"/>
                </a:solidFill>
              </a:rPr>
              <a:t>if</a:t>
            </a:r>
            <a:r>
              <a:rPr lang="zh-CN" altLang="en-US" dirty="0">
                <a:solidFill>
                  <a:srgbClr val="404040"/>
                </a:solidFill>
              </a:rPr>
              <a:t>选择结构</a:t>
            </a:r>
            <a:r>
              <a:rPr lang="zh-CN" altLang="en-US" dirty="0"/>
              <a:t>的定义</a:t>
            </a:r>
            <a:endParaRPr lang="zh-CN" altLang="en-US" dirty="0"/>
          </a:p>
          <a:p>
            <a:pPr>
              <a:buClr>
                <a:srgbClr val="000000"/>
              </a:buClr>
              <a:buFont typeface="Wingdings" panose="05000000000000000000" charset="0"/>
              <a:buChar char=""/>
            </a:pPr>
            <a:r>
              <a:rPr lang="zh-CN" altLang="en-US" dirty="0"/>
              <a:t>循环结构的定义</a:t>
            </a:r>
            <a:endParaRPr lang="zh-CN" altLang="en-US" dirty="0"/>
          </a:p>
          <a:p>
            <a:pPr latinLnBrk="0">
              <a:spcBef>
                <a:spcPts val="1000"/>
              </a:spcBef>
              <a:buClr>
                <a:srgbClr val="000000"/>
              </a:buClr>
              <a:buFont typeface="Wingdings" panose="05000000000000000000" charset="0"/>
              <a:buChar char=""/>
            </a:pPr>
            <a:endParaRPr lang="en-US" altLang="zh-CN" dirty="0"/>
          </a:p>
          <a:p>
            <a:pPr marL="0" indent="0" latinLnBrk="0">
              <a:spcBef>
                <a:spcPts val="1000"/>
              </a:spcBef>
              <a:buClr>
                <a:srgbClr val="000000"/>
              </a:buClr>
              <a:buFont typeface="Wingdings" panose="05000000000000000000" charset="0"/>
              <a:buNone/>
            </a:pPr>
            <a:endParaRPr lang="zh-CN" altLang="en-US" dirty="0"/>
          </a:p>
          <a:p>
            <a:pPr latinLnBrk="0">
              <a:spcBef>
                <a:spcPts val="1000"/>
              </a:spcBef>
              <a:buClr>
                <a:srgbClr val="000000"/>
              </a:buClr>
              <a:buFont typeface="Wingdings" panose="05000000000000000000" charset="0"/>
              <a:buChar char=""/>
            </a:pPr>
            <a:endParaRPr lang="zh-CN" altLang="en-US" dirty="0"/>
          </a:p>
        </p:txBody>
      </p:sp>
      <p:sp>
        <p:nvSpPr>
          <p:cNvPr id="3" name="副标题 22"/>
          <p:cNvSpPr>
            <a:spLocks noGrp="1"/>
          </p:cNvSpPr>
          <p:nvPr/>
        </p:nvSpPr>
        <p:spPr>
          <a:xfrm>
            <a:off x="369316" y="656291"/>
            <a:ext cx="1130850" cy="270030"/>
          </a:xfrm>
          <a:prstGeom prst="rect">
            <a:avLst/>
          </a:prstGeom>
        </p:spPr>
        <p:txBody>
          <a:bodyPr/>
          <a:lstStyle>
            <a:lvl1pPr marL="0" indent="0" algn="l" rtl="0" eaLnBrk="0" fontAlgn="base" hangingPunct="0">
              <a:lnSpc>
                <a:spcPct val="90000"/>
              </a:lnSpc>
              <a:spcBef>
                <a:spcPts val="1000"/>
              </a:spcBef>
              <a:spcAft>
                <a:spcPct val="0"/>
              </a:spcAft>
              <a:buFont typeface="Arial" panose="020B0604020202020204" pitchFamily="34" charset="0"/>
              <a:buNone/>
              <a:defRPr sz="1600" b="1" kern="1200">
                <a:solidFill>
                  <a:srgbClr val="0070C0"/>
                </a:solidFill>
                <a:latin typeface="微软雅黑" panose="020B0503020204020204" pitchFamily="34" charset="-122"/>
                <a:ea typeface="微软雅黑" panose="020B0503020204020204" pitchFamily="34" charset="-122"/>
                <a:cs typeface="+mn-cs"/>
                <a:sym typeface="Calibri" panose="020F0502020204030204" pitchFamily="34"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400" kern="1200">
                <a:solidFill>
                  <a:schemeClr val="tx1">
                    <a:tint val="75000"/>
                  </a:schemeClr>
                </a:solidFill>
                <a:latin typeface="+mn-lt"/>
                <a:ea typeface="+mn-ea"/>
                <a:cs typeface="+mn-cs"/>
                <a:sym typeface="Calibri" panose="020F0502020204030204" pitchFamily="34"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tint val="75000"/>
                  </a:schemeClr>
                </a:solidFill>
                <a:latin typeface="+mn-lt"/>
                <a:ea typeface="+mn-ea"/>
                <a:cs typeface="+mn-cs"/>
                <a:sym typeface="Calibri" panose="020F0502020204030204" pitchFamily="34"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kern="1200">
                <a:solidFill>
                  <a:schemeClr val="tx1">
                    <a:tint val="75000"/>
                  </a:schemeClr>
                </a:solidFill>
                <a:latin typeface="+mn-lt"/>
                <a:ea typeface="+mn-ea"/>
                <a:cs typeface="+mn-cs"/>
                <a:sym typeface="Calibri" panose="020F0502020204030204" pitchFamily="34" charset="0"/>
              </a:defRPr>
            </a:lvl5pPr>
            <a:lvl6pPr marL="22860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7432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32004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3657600" indent="0" algn="ctr" defTabSz="913765"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gn="l">
              <a:spcBef>
                <a:spcPct val="267000"/>
              </a:spcBef>
            </a:pPr>
            <a:r>
              <a:rPr lang="zh-CN" altLang="en-US" dirty="0">
                <a:latin typeface="+mn-ea"/>
              </a:rPr>
              <a:t>知识回顾</a:t>
            </a:r>
            <a:endParaRPr lang="zh-CN" altLang="en-US" dirty="0">
              <a:latin typeface="+mn-ea"/>
            </a:endParaRPr>
          </a:p>
        </p:txBody>
      </p:sp>
      <p:sp>
        <p:nvSpPr>
          <p:cNvPr id="5" name="Freeform 59"/>
          <p:cNvSpPr>
            <a:spLocks noEditPoints="1"/>
          </p:cNvSpPr>
          <p:nvPr/>
        </p:nvSpPr>
        <p:spPr bwMode="auto">
          <a:xfrm>
            <a:off x="199996" y="706031"/>
            <a:ext cx="228600" cy="17145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buNone/>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linds(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blinds(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blinds(horizontal)">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4"/>
          <p:cNvSpPr>
            <a:spLocks noChangeArrowheads="1"/>
          </p:cNvSpPr>
          <p:nvPr/>
        </p:nvSpPr>
        <p:spPr bwMode="auto">
          <a:xfrm>
            <a:off x="2410846" y="1131525"/>
            <a:ext cx="3600400" cy="1060449"/>
          </a:xfrm>
          <a:prstGeom prst="roundRect">
            <a:avLst>
              <a:gd name="adj" fmla="val 0"/>
            </a:avLst>
          </a:prstGeom>
          <a:solidFill>
            <a:srgbClr val="E7F4FF"/>
          </a:solidFill>
          <a:ln w="28575" cap="flat" cmpd="sng" algn="ctr">
            <a:solidFill>
              <a:srgbClr val="5AADD6"/>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marL="285750" indent="-285750" algn="l" defTabSz="381000">
              <a:lnSpc>
                <a:spcPct val="150000"/>
              </a:lnSpc>
              <a:buClr>
                <a:schemeClr val="folHlink"/>
              </a:buClr>
              <a:buSzPct val="60000"/>
              <a:buFont typeface="Wingdings" panose="05000000000000000000" pitchFamily="2" charset="2"/>
              <a:buChar char="n"/>
            </a:pPr>
            <a:r>
              <a:rPr lang="en-US" altLang="zh-CN" sz="1400" dirty="0" err="1">
                <a:solidFill>
                  <a:schemeClr val="tx1">
                    <a:lumMod val="75000"/>
                    <a:lumOff val="25000"/>
                  </a:schemeClr>
                </a:solidFill>
                <a:latin typeface="+mn-ea"/>
                <a:ea typeface="+mn-ea"/>
              </a:rPr>
              <a:t>在while中嵌套for</a:t>
            </a:r>
            <a:endParaRPr lang="en-US" altLang="zh-CN" sz="1400" dirty="0">
              <a:solidFill>
                <a:schemeClr val="tx1">
                  <a:lumMod val="75000"/>
                  <a:lumOff val="25000"/>
                </a:schemeClr>
              </a:solidFill>
              <a:latin typeface="+mn-ea"/>
              <a:ea typeface="+mn-ea"/>
            </a:endParaRPr>
          </a:p>
          <a:p>
            <a:pPr marL="285750" indent="-285750" algn="l" defTabSz="381000">
              <a:lnSpc>
                <a:spcPct val="150000"/>
              </a:lnSpc>
              <a:buClr>
                <a:schemeClr val="folHlink"/>
              </a:buClr>
              <a:buSzPct val="60000"/>
              <a:buFont typeface="Wingdings" panose="05000000000000000000" pitchFamily="2" charset="2"/>
              <a:buChar char="n"/>
            </a:pPr>
            <a:r>
              <a:rPr lang="en-US" altLang="zh-CN" sz="1400" dirty="0" err="1">
                <a:solidFill>
                  <a:schemeClr val="tx1">
                    <a:lumMod val="75000"/>
                    <a:lumOff val="25000"/>
                  </a:schemeClr>
                </a:solidFill>
                <a:latin typeface="+mn-ea"/>
                <a:ea typeface="+mn-ea"/>
              </a:rPr>
              <a:t>for中嵌套for</a:t>
            </a:r>
            <a:endParaRPr lang="en-US" altLang="zh-CN" sz="1400" dirty="0">
              <a:solidFill>
                <a:schemeClr val="tx1">
                  <a:lumMod val="75000"/>
                  <a:lumOff val="25000"/>
                </a:schemeClr>
              </a:solidFill>
              <a:latin typeface="+mn-ea"/>
              <a:ea typeface="+mn-ea"/>
            </a:endParaRPr>
          </a:p>
          <a:p>
            <a:pPr marL="285750" indent="-285750" algn="l" defTabSz="381000">
              <a:lnSpc>
                <a:spcPct val="150000"/>
              </a:lnSpc>
              <a:buClr>
                <a:schemeClr val="folHlink"/>
              </a:buClr>
              <a:buSzPct val="60000"/>
              <a:buFont typeface="Wingdings" panose="05000000000000000000" pitchFamily="2" charset="2"/>
              <a:buChar char="n"/>
            </a:pPr>
            <a:r>
              <a:rPr lang="en-US" altLang="zh-CN" sz="1400" dirty="0" err="1">
                <a:solidFill>
                  <a:schemeClr val="tx1">
                    <a:lumMod val="75000"/>
                    <a:lumOff val="25000"/>
                  </a:schemeClr>
                </a:solidFill>
                <a:latin typeface="+mn-ea"/>
                <a:ea typeface="+mn-ea"/>
              </a:rPr>
              <a:t>while中嵌套while</a:t>
            </a:r>
            <a:endParaRPr lang="en-US" altLang="zh-CN" sz="1400" dirty="0">
              <a:solidFill>
                <a:schemeClr val="tx1">
                  <a:lumMod val="75000"/>
                  <a:lumOff val="25000"/>
                </a:schemeClr>
              </a:solidFill>
              <a:latin typeface="+mn-ea"/>
              <a:ea typeface="+mn-ea"/>
            </a:endParaRPr>
          </a:p>
        </p:txBody>
      </p:sp>
      <p:sp>
        <p:nvSpPr>
          <p:cNvPr id="3" name="标题 2"/>
          <p:cNvSpPr>
            <a:spLocks noGrp="1"/>
          </p:cNvSpPr>
          <p:nvPr>
            <p:ph type="title"/>
          </p:nvPr>
        </p:nvSpPr>
        <p:spPr>
          <a:xfrm>
            <a:off x="2195739" y="141482"/>
            <a:ext cx="6768877" cy="368300"/>
          </a:xfrm>
        </p:spPr>
        <p:txBody>
          <a:bodyPr/>
          <a:lstStyle/>
          <a:p>
            <a:r>
              <a:rPr lang="zh-CN" altLang="en-US" dirty="0"/>
              <a:t>如何使用循环的嵌套</a:t>
            </a:r>
            <a:endParaRPr lang="zh-CN" altLang="en-US" dirty="0"/>
          </a:p>
        </p:txBody>
      </p:sp>
      <p:sp>
        <p:nvSpPr>
          <p:cNvPr id="5" name="副标题 4"/>
          <p:cNvSpPr>
            <a:spLocks noGrp="1"/>
          </p:cNvSpPr>
          <p:nvPr>
            <p:ph type="subTitle" idx="10"/>
          </p:nvPr>
        </p:nvSpPr>
        <p:spPr/>
        <p:txBody>
          <a:bodyPr/>
          <a:lstStyle/>
          <a:p>
            <a:r>
              <a:rPr lang="zh-CN" altLang="en-US" dirty="0"/>
              <a:t>常见嵌套</a:t>
            </a:r>
            <a:endParaRPr lang="zh-CN" altLang="en-US" dirty="0"/>
          </a:p>
        </p:txBody>
      </p:sp>
      <p:sp>
        <p:nvSpPr>
          <p:cNvPr id="23" name="Freeform 14"/>
          <p:cNvSpPr>
            <a:spLocks noEditPoints="1"/>
          </p:cNvSpPr>
          <p:nvPr/>
        </p:nvSpPr>
        <p:spPr bwMode="auto">
          <a:xfrm>
            <a:off x="333289" y="822346"/>
            <a:ext cx="206263" cy="206917"/>
          </a:xfrm>
          <a:custGeom>
            <a:avLst/>
            <a:gdLst/>
            <a:ahLst/>
            <a:cxnLst>
              <a:cxn ang="0">
                <a:pos x="355" y="0"/>
              </a:cxn>
              <a:cxn ang="0">
                <a:pos x="0" y="355"/>
              </a:cxn>
              <a:cxn ang="0">
                <a:pos x="355" y="709"/>
              </a:cxn>
              <a:cxn ang="0">
                <a:pos x="709" y="355"/>
              </a:cxn>
              <a:cxn ang="0">
                <a:pos x="355" y="0"/>
              </a:cxn>
              <a:cxn ang="0">
                <a:pos x="481" y="537"/>
              </a:cxn>
              <a:cxn ang="0">
                <a:pos x="352" y="415"/>
              </a:cxn>
              <a:cxn ang="0">
                <a:pos x="232" y="544"/>
              </a:cxn>
              <a:cxn ang="0">
                <a:pos x="168" y="483"/>
              </a:cxn>
              <a:cxn ang="0">
                <a:pos x="289" y="355"/>
              </a:cxn>
              <a:cxn ang="0">
                <a:pos x="175" y="247"/>
              </a:cxn>
              <a:cxn ang="0">
                <a:pos x="235" y="183"/>
              </a:cxn>
              <a:cxn ang="0">
                <a:pos x="349" y="291"/>
              </a:cxn>
              <a:cxn ang="0">
                <a:pos x="456" y="177"/>
              </a:cxn>
              <a:cxn ang="0">
                <a:pos x="520" y="238"/>
              </a:cxn>
              <a:cxn ang="0">
                <a:pos x="414" y="351"/>
              </a:cxn>
              <a:cxn ang="0">
                <a:pos x="541" y="473"/>
              </a:cxn>
              <a:cxn ang="0">
                <a:pos x="481" y="537"/>
              </a:cxn>
              <a:cxn ang="0">
                <a:pos x="481" y="537"/>
              </a:cxn>
              <a:cxn ang="0">
                <a:pos x="481" y="537"/>
              </a:cxn>
            </a:cxnLst>
            <a:rect l="0" t="0" r="r" b="b"/>
            <a:pathLst>
              <a:path w="709" h="709">
                <a:moveTo>
                  <a:pt x="355" y="0"/>
                </a:moveTo>
                <a:cubicBezTo>
                  <a:pt x="159" y="0"/>
                  <a:pt x="0" y="158"/>
                  <a:pt x="0" y="355"/>
                </a:cubicBezTo>
                <a:cubicBezTo>
                  <a:pt x="0" y="551"/>
                  <a:pt x="159" y="709"/>
                  <a:pt x="355" y="709"/>
                </a:cubicBezTo>
                <a:cubicBezTo>
                  <a:pt x="551" y="709"/>
                  <a:pt x="709" y="551"/>
                  <a:pt x="709" y="355"/>
                </a:cubicBezTo>
                <a:cubicBezTo>
                  <a:pt x="709" y="158"/>
                  <a:pt x="551" y="0"/>
                  <a:pt x="355" y="0"/>
                </a:cubicBezTo>
                <a:close/>
                <a:moveTo>
                  <a:pt x="481" y="537"/>
                </a:moveTo>
                <a:cubicBezTo>
                  <a:pt x="352" y="415"/>
                  <a:pt x="352" y="415"/>
                  <a:pt x="352" y="415"/>
                </a:cubicBezTo>
                <a:cubicBezTo>
                  <a:pt x="232" y="544"/>
                  <a:pt x="232" y="544"/>
                  <a:pt x="232" y="544"/>
                </a:cubicBezTo>
                <a:cubicBezTo>
                  <a:pt x="168" y="483"/>
                  <a:pt x="168" y="483"/>
                  <a:pt x="168" y="483"/>
                </a:cubicBezTo>
                <a:cubicBezTo>
                  <a:pt x="289" y="355"/>
                  <a:pt x="289" y="355"/>
                  <a:pt x="289" y="355"/>
                </a:cubicBezTo>
                <a:cubicBezTo>
                  <a:pt x="175" y="247"/>
                  <a:pt x="175" y="247"/>
                  <a:pt x="175" y="247"/>
                </a:cubicBezTo>
                <a:cubicBezTo>
                  <a:pt x="235" y="183"/>
                  <a:pt x="235" y="183"/>
                  <a:pt x="235" y="183"/>
                </a:cubicBezTo>
                <a:cubicBezTo>
                  <a:pt x="349" y="291"/>
                  <a:pt x="349" y="291"/>
                  <a:pt x="349" y="291"/>
                </a:cubicBezTo>
                <a:cubicBezTo>
                  <a:pt x="456" y="177"/>
                  <a:pt x="456" y="177"/>
                  <a:pt x="456" y="177"/>
                </a:cubicBezTo>
                <a:cubicBezTo>
                  <a:pt x="520" y="238"/>
                  <a:pt x="520" y="238"/>
                  <a:pt x="520" y="238"/>
                </a:cubicBezTo>
                <a:cubicBezTo>
                  <a:pt x="414" y="351"/>
                  <a:pt x="414" y="351"/>
                  <a:pt x="414" y="351"/>
                </a:cubicBezTo>
                <a:cubicBezTo>
                  <a:pt x="541" y="473"/>
                  <a:pt x="541" y="473"/>
                  <a:pt x="541" y="473"/>
                </a:cubicBezTo>
                <a:lnTo>
                  <a:pt x="481" y="537"/>
                </a:lnTo>
                <a:close/>
                <a:moveTo>
                  <a:pt x="481" y="537"/>
                </a:moveTo>
                <a:cubicBezTo>
                  <a:pt x="481" y="537"/>
                  <a:pt x="481" y="537"/>
                  <a:pt x="481" y="537"/>
                </a:cubicBezTo>
              </a:path>
            </a:pathLst>
          </a:custGeom>
          <a:solidFill>
            <a:srgbClr val="0070C0"/>
          </a:solidFill>
          <a:ln w="9525">
            <a:noFill/>
            <a:round/>
          </a:ln>
        </p:spPr>
        <p:txBody>
          <a:bodyPr vert="horz" wrap="square" lIns="91440" tIns="45720" rIns="91440" bIns="45720" numCol="1" anchor="t" anchorCtr="0" compatLnSpc="1"/>
          <a:lstStyle/>
          <a:p>
            <a:endParaRPr lang="zh-CN" altLang="en-US"/>
          </a:p>
        </p:txBody>
      </p:sp>
      <p:sp>
        <p:nvSpPr>
          <p:cNvPr id="10" name="文本框 9"/>
          <p:cNvSpPr txBox="1"/>
          <p:nvPr/>
        </p:nvSpPr>
        <p:spPr>
          <a:xfrm>
            <a:off x="5868144" y="3329940"/>
            <a:ext cx="2430780" cy="1198880"/>
          </a:xfrm>
          <a:prstGeom prst="rect">
            <a:avLst/>
          </a:prstGeom>
          <a:noFill/>
        </p:spPr>
        <p:txBody>
          <a:bodyPr wrap="none" rtlCol="0">
            <a:spAutoFit/>
          </a:bodyPr>
          <a:lstStyle/>
          <a:p>
            <a:r>
              <a:rPr lang="en-US" altLang="zh-CN" dirty="0">
                <a:solidFill>
                  <a:srgbClr val="0070C0"/>
                </a:solidFill>
              </a:rPr>
              <a:t>while</a:t>
            </a:r>
            <a:r>
              <a:rPr lang="en-US" altLang="zh-CN" dirty="0"/>
              <a:t>  </a:t>
            </a:r>
            <a:r>
              <a:rPr lang="zh-CN" altLang="en-US" dirty="0"/>
              <a:t>条件：</a:t>
            </a:r>
            <a:endParaRPr lang="zh-CN" altLang="en-US" dirty="0"/>
          </a:p>
          <a:p>
            <a:r>
              <a:rPr lang="zh-CN" altLang="en-US" dirty="0"/>
              <a:t>代码</a:t>
            </a:r>
            <a:endParaRPr lang="zh-CN" altLang="en-US" dirty="0"/>
          </a:p>
          <a:p>
            <a:r>
              <a:rPr lang="en-US" altLang="zh-CN" dirty="0"/>
              <a:t>              </a:t>
            </a:r>
            <a:r>
              <a:rPr lang="en-US" altLang="zh-CN" dirty="0">
                <a:solidFill>
                  <a:srgbClr val="FF0000"/>
                </a:solidFill>
              </a:rPr>
              <a:t>for</a:t>
            </a:r>
            <a:r>
              <a:rPr lang="en-US" altLang="zh-CN" dirty="0"/>
              <a:t> </a:t>
            </a:r>
            <a:r>
              <a:rPr lang="en-US" altLang="zh-CN" dirty="0" err="1"/>
              <a:t>i</a:t>
            </a:r>
            <a:r>
              <a:rPr lang="en-US" altLang="zh-CN" dirty="0"/>
              <a:t> in rang():</a:t>
            </a:r>
            <a:endParaRPr lang="en-US" altLang="zh-CN" dirty="0"/>
          </a:p>
          <a:p>
            <a:r>
              <a:rPr lang="en-US" altLang="zh-CN" dirty="0"/>
              <a:t>	pass</a:t>
            </a:r>
            <a:endParaRPr lang="en-US" altLang="zh-CN" dirty="0"/>
          </a:p>
        </p:txBody>
      </p:sp>
      <p:sp>
        <p:nvSpPr>
          <p:cNvPr id="12" name="文本框 11"/>
          <p:cNvSpPr txBox="1"/>
          <p:nvPr/>
        </p:nvSpPr>
        <p:spPr>
          <a:xfrm>
            <a:off x="2850708" y="3329940"/>
            <a:ext cx="2583180" cy="922020"/>
          </a:xfrm>
          <a:prstGeom prst="rect">
            <a:avLst/>
          </a:prstGeom>
          <a:noFill/>
        </p:spPr>
        <p:txBody>
          <a:bodyPr wrap="none" rtlCol="0">
            <a:spAutoFit/>
          </a:bodyPr>
          <a:lstStyle/>
          <a:p>
            <a:r>
              <a:rPr lang="en-US" altLang="zh-CN" dirty="0">
                <a:solidFill>
                  <a:srgbClr val="0070C0"/>
                </a:solidFill>
              </a:rPr>
              <a:t>for</a:t>
            </a:r>
            <a:r>
              <a:rPr lang="en-US" altLang="zh-CN" dirty="0"/>
              <a:t>  </a:t>
            </a:r>
            <a:r>
              <a:rPr lang="en-US" altLang="zh-CN" dirty="0" err="1"/>
              <a:t>i</a:t>
            </a:r>
            <a:r>
              <a:rPr lang="en-US" altLang="zh-CN" dirty="0"/>
              <a:t>  in range():</a:t>
            </a:r>
            <a:endParaRPr lang="en-US" altLang="zh-CN" dirty="0"/>
          </a:p>
          <a:p>
            <a:r>
              <a:rPr lang="en-US" altLang="zh-CN" dirty="0"/>
              <a:t>	</a:t>
            </a:r>
            <a:r>
              <a:rPr lang="en-US" altLang="zh-CN" dirty="0">
                <a:solidFill>
                  <a:srgbClr val="FF0000"/>
                </a:solidFill>
              </a:rPr>
              <a:t>	for </a:t>
            </a:r>
            <a:r>
              <a:rPr lang="en-US" altLang="zh-CN" dirty="0"/>
              <a:t>j in range():</a:t>
            </a:r>
            <a:endParaRPr lang="en-US" altLang="zh-CN" dirty="0"/>
          </a:p>
          <a:p>
            <a:r>
              <a:rPr lang="en-US" altLang="zh-CN" dirty="0"/>
              <a:t>	pass</a:t>
            </a:r>
            <a:endParaRPr lang="en-US" altLang="zh-CN" dirty="0"/>
          </a:p>
        </p:txBody>
      </p:sp>
      <p:sp>
        <p:nvSpPr>
          <p:cNvPr id="16" name="文本框 15"/>
          <p:cNvSpPr txBox="1"/>
          <p:nvPr/>
        </p:nvSpPr>
        <p:spPr>
          <a:xfrm>
            <a:off x="179512" y="3329940"/>
            <a:ext cx="2367280" cy="1198880"/>
          </a:xfrm>
          <a:prstGeom prst="rect">
            <a:avLst/>
          </a:prstGeom>
          <a:noFill/>
        </p:spPr>
        <p:txBody>
          <a:bodyPr wrap="none" rtlCol="0">
            <a:spAutoFit/>
          </a:bodyPr>
          <a:lstStyle/>
          <a:p>
            <a:r>
              <a:rPr lang="en-US" altLang="zh-CN" dirty="0">
                <a:solidFill>
                  <a:srgbClr val="0070C0"/>
                </a:solidFill>
              </a:rPr>
              <a:t>while</a:t>
            </a:r>
            <a:r>
              <a:rPr lang="en-US" altLang="zh-CN" dirty="0"/>
              <a:t>  </a:t>
            </a:r>
            <a:r>
              <a:rPr lang="zh-CN" altLang="en-US" dirty="0"/>
              <a:t>条件：</a:t>
            </a:r>
            <a:endParaRPr lang="zh-CN" altLang="en-US" dirty="0"/>
          </a:p>
          <a:p>
            <a:r>
              <a:rPr lang="zh-CN" altLang="en-US" dirty="0"/>
              <a:t>代码</a:t>
            </a:r>
            <a:endParaRPr lang="zh-CN" altLang="en-US" dirty="0"/>
          </a:p>
          <a:p>
            <a:r>
              <a:rPr lang="en-US" altLang="zh-CN" dirty="0"/>
              <a:t>	</a:t>
            </a:r>
            <a:r>
              <a:rPr lang="en-US" altLang="zh-CN" dirty="0">
                <a:solidFill>
                  <a:srgbClr val="C00000"/>
                </a:solidFill>
              </a:rPr>
              <a:t>while</a:t>
            </a:r>
            <a:r>
              <a:rPr lang="en-US" altLang="zh-CN" dirty="0"/>
              <a:t> </a:t>
            </a:r>
            <a:r>
              <a:rPr lang="zh-CN" altLang="en-US" dirty="0"/>
              <a:t>条件：</a:t>
            </a:r>
            <a:endParaRPr lang="zh-CN" altLang="en-US" dirty="0"/>
          </a:p>
          <a:p>
            <a:r>
              <a:rPr lang="en-US" altLang="zh-CN" dirty="0"/>
              <a:t>	pass</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6" grpId="1"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txBox="1"/>
          <p:nvPr/>
        </p:nvSpPr>
        <p:spPr>
          <a:xfrm>
            <a:off x="783908" y="59373"/>
            <a:ext cx="8229600" cy="430515"/>
          </a:xfrm>
          <a:prstGeom prst="rect">
            <a:avLst/>
          </a:prstGeom>
          <a:noFill/>
          <a:ln w="9525">
            <a:noFill/>
          </a:ln>
        </p:spPr>
        <p:txBody>
          <a:bodyPr anchor="t"/>
          <a:lstStyle/>
          <a:p>
            <a:pPr algn="r" eaLnBrk="0" hangingPunct="0"/>
            <a:r>
              <a:rPr lang="zh-CN" altLang="en-US" sz="2000" dirty="0">
                <a:solidFill>
                  <a:srgbClr val="0070C0"/>
                </a:solidFill>
                <a:latin typeface="+mn-ea"/>
              </a:rPr>
              <a:t>循环嵌套打印图形</a:t>
            </a:r>
            <a:r>
              <a:rPr lang="zh-CN" altLang="en-US" sz="2000" dirty="0">
                <a:solidFill>
                  <a:srgbClr val="0070C0"/>
                </a:solidFill>
                <a:latin typeface="+mn-ea"/>
              </a:rPr>
              <a:t>案例</a:t>
            </a:r>
            <a:endParaRPr lang="zh-CN" altLang="en-US" sz="2000" b="0" dirty="0">
              <a:solidFill>
                <a:srgbClr val="0070C0"/>
              </a:solidFill>
              <a:latin typeface="+mj-ea"/>
              <a:ea typeface="+mj-ea"/>
              <a:cs typeface="+mj-cs"/>
            </a:endParaRPr>
          </a:p>
        </p:txBody>
      </p:sp>
      <p:sp>
        <p:nvSpPr>
          <p:cNvPr id="72707" name="内容占位符 2"/>
          <p:cNvSpPr txBox="1"/>
          <p:nvPr/>
        </p:nvSpPr>
        <p:spPr>
          <a:xfrm>
            <a:off x="490220" y="2000250"/>
            <a:ext cx="7645400" cy="2417445"/>
          </a:xfrm>
          <a:prstGeom prst="rect">
            <a:avLst/>
          </a:prstGeom>
          <a:noFill/>
          <a:ln w="9525">
            <a:noFill/>
          </a:ln>
        </p:spPr>
        <p:txBody>
          <a:bodyPr anchor="t"/>
          <a:lstStyle/>
          <a:p>
            <a:pPr marL="478155" indent="-478155" algn="l" defTabSz="914400"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实现思路：</a:t>
            </a:r>
            <a:r>
              <a:rPr lang="zh-CN" altLang="en-US" sz="2000" dirty="0">
                <a:solidFill>
                  <a:srgbClr val="0070C0"/>
                </a:solidFill>
                <a:latin typeface="+mj-ea"/>
                <a:sym typeface="+mn-ea"/>
              </a:rPr>
              <a:t>循环嵌套应用</a:t>
            </a:r>
            <a:endParaRPr lang="zh-CN" altLang="en-US" sz="2000" b="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外层循环控制行数</a:t>
            </a:r>
            <a:endParaRPr lang="zh-CN" altLang="en-US" sz="1600" b="0" u="none" baseline="0" dirty="0">
              <a:solidFill>
                <a:schemeClr val="tx1">
                  <a:lumMod val="75000"/>
                  <a:lumOff val="25000"/>
                </a:schemeClr>
              </a:solidFill>
              <a:latin typeface="+mn-ea"/>
              <a:ea typeface="+mn-ea"/>
            </a:endParaRPr>
          </a:p>
          <a:p>
            <a:pPr marL="914400" lvl="1" indent="-457200" algn="l" eaLnBrk="0" hangingPunct="0">
              <a:spcBef>
                <a:spcPct val="20000"/>
              </a:spcBef>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内</a:t>
            </a:r>
            <a:r>
              <a:rPr lang="zh-CN" altLang="en-US" sz="1600" dirty="0">
                <a:solidFill>
                  <a:schemeClr val="tx1">
                    <a:lumMod val="75000"/>
                    <a:lumOff val="25000"/>
                  </a:schemeClr>
                </a:solidFill>
                <a:latin typeface="+mn-ea"/>
              </a:rPr>
              <a:t>层</a:t>
            </a:r>
            <a:r>
              <a:rPr lang="zh-CN" altLang="en-US" sz="1600" b="0" u="none" baseline="0" dirty="0">
                <a:solidFill>
                  <a:schemeClr val="tx1">
                    <a:lumMod val="75000"/>
                    <a:lumOff val="25000"/>
                  </a:schemeClr>
                </a:solidFill>
                <a:latin typeface="+mn-ea"/>
                <a:ea typeface="+mn-ea"/>
              </a:rPr>
              <a:t>循环控制每行打印的内容</a:t>
            </a:r>
            <a:endParaRPr lang="zh-CN" altLang="en-US" sz="1600" b="0" u="none" baseline="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每一行打印字符格式，结束后要换行</a:t>
            </a:r>
            <a:endParaRPr lang="en-US" altLang="zh-CN" sz="1600" b="0" u="none" baseline="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endParaRPr lang="zh-CN" altLang="en-US" sz="1600" b="0" u="none" baseline="0" dirty="0">
              <a:solidFill>
                <a:schemeClr val="tx1">
                  <a:lumMod val="75000"/>
                  <a:lumOff val="25000"/>
                </a:schemeClr>
              </a:solidFill>
              <a:latin typeface="+mn-ea"/>
              <a:ea typeface="+mn-ea"/>
            </a:endParaRPr>
          </a:p>
          <a:p>
            <a:pPr marL="478155" indent="-478155" algn="l" defTabSz="914400"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难点指导</a:t>
            </a:r>
            <a:endParaRPr lang="zh-CN" altLang="en-US" sz="2000" b="0" dirty="0">
              <a:solidFill>
                <a:schemeClr val="tx1">
                  <a:lumMod val="75000"/>
                  <a:lumOff val="25000"/>
                </a:schemeClr>
              </a:solidFill>
              <a:latin typeface="+mn-ea"/>
              <a:ea typeface="+mn-ea"/>
            </a:endParaRPr>
          </a:p>
          <a:p>
            <a:pPr marL="914400" lvl="1" indent="-457200" algn="l" eaLnBrk="0" hangingPunct="0">
              <a:spcBef>
                <a:spcPct val="20000"/>
              </a:spcBef>
              <a:buClr>
                <a:srgbClr val="000000"/>
              </a:buClr>
              <a:buFont typeface="Wingdings" panose="05000000000000000000" charset="0"/>
              <a:buChar char=""/>
            </a:pPr>
            <a:r>
              <a:rPr lang="zh-CN" altLang="en-US" sz="1600" dirty="0">
                <a:solidFill>
                  <a:schemeClr val="tx1">
                    <a:lumMod val="75000"/>
                    <a:lumOff val="25000"/>
                  </a:schemeClr>
                </a:solidFill>
                <a:latin typeface="+mn-ea"/>
                <a:ea typeface="+mn-ea"/>
              </a:rPr>
              <a:t>内层循环的条件</a:t>
            </a:r>
            <a:endParaRPr lang="zh-CN" altLang="en-US" sz="2000" dirty="0">
              <a:latin typeface="+mn-ea"/>
              <a:ea typeface="+mn-ea"/>
            </a:endParaRPr>
          </a:p>
        </p:txBody>
      </p:sp>
      <p:sp>
        <p:nvSpPr>
          <p:cNvPr id="2" name="文本框 1"/>
          <p:cNvSpPr txBox="1"/>
          <p:nvPr/>
        </p:nvSpPr>
        <p:spPr>
          <a:xfrm>
            <a:off x="2324100" y="801370"/>
            <a:ext cx="821055" cy="1198880"/>
          </a:xfrm>
          <a:prstGeom prst="rect">
            <a:avLst/>
          </a:prstGeom>
          <a:noFill/>
        </p:spPr>
        <p:txBody>
          <a:bodyPr wrap="square" rtlCol="0">
            <a:spAutoFit/>
          </a:bodyPr>
          <a:p>
            <a:pPr algn="l"/>
            <a:r>
              <a:rPr lang="en-US" altLang="zh-CN"/>
              <a:t>*****</a:t>
            </a:r>
            <a:endParaRPr lang="en-US" altLang="zh-CN"/>
          </a:p>
          <a:p>
            <a:pPr algn="l"/>
            <a:r>
              <a:rPr lang="en-US" altLang="zh-CN"/>
              <a:t>*****</a:t>
            </a:r>
            <a:endParaRPr lang="en-US" altLang="zh-CN"/>
          </a:p>
          <a:p>
            <a:pPr algn="l"/>
            <a:r>
              <a:rPr lang="en-US" altLang="zh-CN"/>
              <a:t>*****</a:t>
            </a:r>
            <a:endParaRPr lang="en-US" altLang="zh-CN"/>
          </a:p>
          <a:p>
            <a:pPr algn="l"/>
            <a:r>
              <a:rPr lang="en-US" altLang="zh-CN"/>
              <a:t>*****</a:t>
            </a:r>
            <a:endParaRPr lang="en-US" altLang="zh-CN"/>
          </a:p>
        </p:txBody>
      </p:sp>
      <p:sp>
        <p:nvSpPr>
          <p:cNvPr id="3" name="文本框 2"/>
          <p:cNvSpPr txBox="1"/>
          <p:nvPr/>
        </p:nvSpPr>
        <p:spPr>
          <a:xfrm>
            <a:off x="5425440" y="758825"/>
            <a:ext cx="1309370" cy="1198880"/>
          </a:xfrm>
          <a:prstGeom prst="rect">
            <a:avLst/>
          </a:prstGeom>
          <a:noFill/>
        </p:spPr>
        <p:txBody>
          <a:bodyPr wrap="square" rtlCol="0">
            <a:spAutoFit/>
          </a:bodyPr>
          <a:p>
            <a:pPr algn="l"/>
            <a:r>
              <a:rPr lang="en-US" altLang="zh-CN"/>
              <a:t>*</a:t>
            </a:r>
            <a:endParaRPr lang="en-US" altLang="zh-CN"/>
          </a:p>
          <a:p>
            <a:pPr algn="l"/>
            <a:r>
              <a:rPr lang="en-US" altLang="zh-CN"/>
              <a:t>**</a:t>
            </a:r>
            <a:endParaRPr lang="en-US" altLang="zh-CN"/>
          </a:p>
          <a:p>
            <a:pPr algn="l"/>
            <a:r>
              <a:rPr lang="en-US" altLang="zh-CN"/>
              <a:t>***</a:t>
            </a:r>
            <a:endParaRPr lang="en-US" altLang="zh-CN"/>
          </a:p>
          <a:p>
            <a:pPr algn="l"/>
            <a:r>
              <a:rPr lang="en-US" altLang="zh-CN"/>
              <a:t>****</a:t>
            </a:r>
            <a:endParaRPr lang="en-US" altLang="zh-CN"/>
          </a:p>
        </p:txBody>
      </p:sp>
      <p:sp>
        <p:nvSpPr>
          <p:cNvPr id="4" name="文本框 3"/>
          <p:cNvSpPr txBox="1"/>
          <p:nvPr/>
        </p:nvSpPr>
        <p:spPr>
          <a:xfrm>
            <a:off x="784225" y="801370"/>
            <a:ext cx="998855" cy="368300"/>
          </a:xfrm>
          <a:prstGeom prst="rect">
            <a:avLst/>
          </a:prstGeom>
          <a:noFill/>
        </p:spPr>
        <p:txBody>
          <a:bodyPr wrap="square" rtlCol="0">
            <a:spAutoFit/>
          </a:bodyPr>
          <a:p>
            <a:r>
              <a:rPr lang="zh-CN" altLang="en-US"/>
              <a:t>图形</a:t>
            </a:r>
            <a:r>
              <a:rPr lang="en-US" altLang="zh-CN"/>
              <a:t>1</a:t>
            </a:r>
            <a:endParaRPr lang="en-US" altLang="zh-CN"/>
          </a:p>
        </p:txBody>
      </p:sp>
      <p:sp>
        <p:nvSpPr>
          <p:cNvPr id="5" name="文本框 4"/>
          <p:cNvSpPr txBox="1"/>
          <p:nvPr/>
        </p:nvSpPr>
        <p:spPr>
          <a:xfrm>
            <a:off x="3948430" y="801370"/>
            <a:ext cx="998855" cy="368300"/>
          </a:xfrm>
          <a:prstGeom prst="rect">
            <a:avLst/>
          </a:prstGeom>
          <a:noFill/>
        </p:spPr>
        <p:txBody>
          <a:bodyPr wrap="square" rtlCol="0">
            <a:spAutoFit/>
          </a:bodyPr>
          <a:p>
            <a:r>
              <a:rPr lang="zh-CN" altLang="en-US"/>
              <a:t>图形</a:t>
            </a:r>
            <a:r>
              <a:rPr lang="en-US" altLang="zh-CN"/>
              <a:t>2</a:t>
            </a:r>
            <a:endParaRPr lang="en-US" altLang="zh-CN"/>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txBox="1"/>
          <p:nvPr/>
        </p:nvSpPr>
        <p:spPr>
          <a:xfrm>
            <a:off x="783908" y="59373"/>
            <a:ext cx="8229600" cy="430515"/>
          </a:xfrm>
          <a:prstGeom prst="rect">
            <a:avLst/>
          </a:prstGeom>
          <a:noFill/>
          <a:ln w="9525">
            <a:noFill/>
          </a:ln>
        </p:spPr>
        <p:txBody>
          <a:bodyPr anchor="t"/>
          <a:lstStyle/>
          <a:p>
            <a:pPr algn="r" eaLnBrk="0" hangingPunct="0"/>
            <a:r>
              <a:rPr lang="zh-CN" altLang="en-US" sz="2000" dirty="0">
                <a:solidFill>
                  <a:srgbClr val="0070C0"/>
                </a:solidFill>
                <a:latin typeface="+mn-ea"/>
              </a:rPr>
              <a:t>九九乘法表案例</a:t>
            </a:r>
            <a:endParaRPr lang="zh-CN" altLang="en-US" sz="2000" b="0" dirty="0">
              <a:solidFill>
                <a:srgbClr val="0070C0"/>
              </a:solidFill>
              <a:latin typeface="+mj-ea"/>
              <a:ea typeface="+mj-ea"/>
              <a:cs typeface="+mj-cs"/>
            </a:endParaRPr>
          </a:p>
        </p:txBody>
      </p:sp>
      <p:sp>
        <p:nvSpPr>
          <p:cNvPr id="72707" name="内容占位符 2"/>
          <p:cNvSpPr txBox="1"/>
          <p:nvPr/>
        </p:nvSpPr>
        <p:spPr>
          <a:xfrm>
            <a:off x="784225" y="1563638"/>
            <a:ext cx="7645400" cy="3151237"/>
          </a:xfrm>
          <a:prstGeom prst="rect">
            <a:avLst/>
          </a:prstGeom>
          <a:noFill/>
          <a:ln w="9525">
            <a:noFill/>
          </a:ln>
        </p:spPr>
        <p:txBody>
          <a:bodyPr anchor="t"/>
          <a:lstStyle/>
          <a:p>
            <a:pPr marL="478155" indent="-478155" algn="l" defTabSz="914400"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实现思路：</a:t>
            </a:r>
            <a:r>
              <a:rPr lang="zh-CN" altLang="en-US" sz="2000" dirty="0">
                <a:solidFill>
                  <a:srgbClr val="0070C0"/>
                </a:solidFill>
                <a:latin typeface="+mj-ea"/>
                <a:sym typeface="+mn-ea"/>
              </a:rPr>
              <a:t>循环嵌套应用</a:t>
            </a:r>
            <a:endParaRPr lang="zh-CN" altLang="en-US" sz="2000" b="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外层循环控制行数</a:t>
            </a:r>
            <a:endParaRPr lang="zh-CN" altLang="en-US" sz="1600" b="0" u="none" baseline="0" dirty="0">
              <a:solidFill>
                <a:schemeClr val="tx1">
                  <a:lumMod val="75000"/>
                  <a:lumOff val="25000"/>
                </a:schemeClr>
              </a:solidFill>
              <a:latin typeface="+mn-ea"/>
              <a:ea typeface="+mn-ea"/>
            </a:endParaRPr>
          </a:p>
          <a:p>
            <a:pPr marL="914400" lvl="1" indent="-457200" algn="l" eaLnBrk="0" hangingPunct="0">
              <a:spcBef>
                <a:spcPct val="20000"/>
              </a:spcBef>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内</a:t>
            </a:r>
            <a:r>
              <a:rPr lang="zh-CN" altLang="en-US" sz="1600" dirty="0">
                <a:solidFill>
                  <a:schemeClr val="tx1">
                    <a:lumMod val="75000"/>
                    <a:lumOff val="25000"/>
                  </a:schemeClr>
                </a:solidFill>
                <a:latin typeface="+mn-ea"/>
              </a:rPr>
              <a:t>层</a:t>
            </a:r>
            <a:r>
              <a:rPr lang="zh-CN" altLang="en-US" sz="1600" b="0" u="none" baseline="0" dirty="0">
                <a:solidFill>
                  <a:schemeClr val="tx1">
                    <a:lumMod val="75000"/>
                    <a:lumOff val="25000"/>
                  </a:schemeClr>
                </a:solidFill>
                <a:latin typeface="+mn-ea"/>
                <a:ea typeface="+mn-ea"/>
              </a:rPr>
              <a:t>循环控制每行打印的内容</a:t>
            </a:r>
            <a:endParaRPr lang="zh-CN" altLang="en-US" sz="1600" b="0" u="none" baseline="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r>
              <a:rPr lang="zh-CN" altLang="en-US" sz="1600" b="0" u="none" baseline="0" dirty="0">
                <a:solidFill>
                  <a:schemeClr val="tx1">
                    <a:lumMod val="75000"/>
                    <a:lumOff val="25000"/>
                  </a:schemeClr>
                </a:solidFill>
                <a:latin typeface="+mn-ea"/>
                <a:ea typeface="+mn-ea"/>
              </a:rPr>
              <a:t>每一行打印字符格式，结束后要换行</a:t>
            </a:r>
            <a:endParaRPr lang="en-US" altLang="zh-CN" sz="1600" b="0" u="none" baseline="0" dirty="0">
              <a:solidFill>
                <a:schemeClr val="tx1">
                  <a:lumMod val="75000"/>
                  <a:lumOff val="25000"/>
                </a:schemeClr>
              </a:solidFill>
              <a:latin typeface="+mn-ea"/>
              <a:ea typeface="+mn-ea"/>
            </a:endParaRPr>
          </a:p>
          <a:p>
            <a:pPr marL="914400" lvl="1" indent="-457200" algn="l" defTabSz="914400" eaLnBrk="0" fontAlgn="base" latinLnBrk="0" hangingPunct="0">
              <a:spcBef>
                <a:spcPct val="20000"/>
              </a:spcBef>
              <a:spcAft>
                <a:spcPct val="0"/>
              </a:spcAft>
              <a:buClr>
                <a:srgbClr val="000000"/>
              </a:buClr>
              <a:buFont typeface="Wingdings" panose="05000000000000000000" charset="0"/>
              <a:buChar char=""/>
            </a:pPr>
            <a:endParaRPr lang="zh-CN" altLang="en-US" sz="1600" b="0" u="none" baseline="0" dirty="0">
              <a:solidFill>
                <a:schemeClr val="tx1">
                  <a:lumMod val="75000"/>
                  <a:lumOff val="25000"/>
                </a:schemeClr>
              </a:solidFill>
              <a:latin typeface="+mn-ea"/>
              <a:ea typeface="+mn-ea"/>
            </a:endParaRPr>
          </a:p>
          <a:p>
            <a:pPr marL="478155" indent="-478155" algn="l" defTabSz="914400"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难点指导</a:t>
            </a:r>
            <a:endParaRPr lang="zh-CN" altLang="en-US" sz="2000" b="0" dirty="0">
              <a:solidFill>
                <a:schemeClr val="tx1">
                  <a:lumMod val="75000"/>
                  <a:lumOff val="25000"/>
                </a:schemeClr>
              </a:solidFill>
              <a:latin typeface="+mn-ea"/>
              <a:ea typeface="+mn-ea"/>
            </a:endParaRPr>
          </a:p>
          <a:p>
            <a:pPr marL="914400" lvl="1" indent="-457200" algn="l" eaLnBrk="0" hangingPunct="0">
              <a:spcBef>
                <a:spcPct val="20000"/>
              </a:spcBef>
              <a:buClr>
                <a:srgbClr val="000000"/>
              </a:buClr>
              <a:buFont typeface="Wingdings" panose="05000000000000000000" charset="0"/>
              <a:buChar char=""/>
            </a:pPr>
            <a:r>
              <a:rPr lang="zh-CN" altLang="en-US" sz="1600" dirty="0">
                <a:solidFill>
                  <a:schemeClr val="tx1">
                    <a:lumMod val="75000"/>
                    <a:lumOff val="25000"/>
                  </a:schemeClr>
                </a:solidFill>
                <a:latin typeface="+mn-ea"/>
                <a:ea typeface="+mn-ea"/>
              </a:rPr>
              <a:t>内层循环的条件</a:t>
            </a:r>
            <a:endParaRPr lang="zh-CN" altLang="en-US" sz="1600" dirty="0">
              <a:solidFill>
                <a:schemeClr val="tx1">
                  <a:lumMod val="75000"/>
                  <a:lumOff val="25000"/>
                </a:schemeClr>
              </a:solidFill>
              <a:latin typeface="+mn-ea"/>
              <a:ea typeface="+mn-ea"/>
            </a:endParaRPr>
          </a:p>
          <a:p>
            <a:pPr lvl="1" indent="0" algn="l" eaLnBrk="0" hangingPunct="0">
              <a:spcBef>
                <a:spcPct val="20000"/>
              </a:spcBef>
              <a:buClr>
                <a:srgbClr val="000000"/>
              </a:buClr>
              <a:buFont typeface="Wingdings" panose="05000000000000000000" charset="0"/>
              <a:buNone/>
            </a:pPr>
            <a:endParaRPr lang="zh-CN" altLang="en-US" sz="1600" dirty="0">
              <a:solidFill>
                <a:schemeClr val="tx1">
                  <a:lumMod val="75000"/>
                  <a:lumOff val="25000"/>
                </a:schemeClr>
              </a:solidFill>
              <a:latin typeface="+mn-ea"/>
              <a:ea typeface="+mn-ea"/>
            </a:endParaRPr>
          </a:p>
          <a:p>
            <a:pPr marL="478155" indent="-478155" algn="l" defTabSz="914400" eaLnBrk="0" hangingPunct="0"/>
            <a:endParaRPr lang="zh-CN" altLang="en-US" sz="2000" dirty="0">
              <a:latin typeface="+mn-ea"/>
              <a:ea typeface="+mn-ea"/>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txBox="1"/>
          <p:nvPr/>
        </p:nvSpPr>
        <p:spPr>
          <a:xfrm>
            <a:off x="2000231" y="128589"/>
            <a:ext cx="6964381" cy="442898"/>
          </a:xfrm>
          <a:prstGeom prst="rect">
            <a:avLst/>
          </a:prstGeom>
          <a:noFill/>
          <a:ln w="9525">
            <a:noFill/>
          </a:ln>
        </p:spPr>
        <p:txBody>
          <a:bodyPr anchor="t"/>
          <a:lstStyle/>
          <a:p>
            <a:pPr algn="r" eaLnBrk="0" hangingPunct="0"/>
            <a:r>
              <a:rPr lang="zh-CN" altLang="en-US" sz="2000" dirty="0">
                <a:solidFill>
                  <a:srgbClr val="0070C0"/>
                </a:solidFill>
                <a:latin typeface="+mj-ea"/>
                <a:sym typeface="+mn-ea"/>
              </a:rPr>
              <a:t>九九乘法表代码</a:t>
            </a:r>
            <a:endParaRPr lang="zh-CN" altLang="en-US" sz="2000" b="0" dirty="0">
              <a:solidFill>
                <a:srgbClr val="0070C0"/>
              </a:solidFill>
              <a:latin typeface="+mj-ea"/>
              <a:ea typeface="+mj-ea"/>
              <a:cs typeface="+mj-cs"/>
            </a:endParaRPr>
          </a:p>
        </p:txBody>
      </p:sp>
      <p:sp>
        <p:nvSpPr>
          <p:cNvPr id="68611" name="AutoShape 2"/>
          <p:cNvSpPr/>
          <p:nvPr/>
        </p:nvSpPr>
        <p:spPr>
          <a:xfrm>
            <a:off x="521335" y="1691640"/>
            <a:ext cx="3585210" cy="2327909"/>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i = 1</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while i&lt;=9:</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j=1</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while j&lt;=i:</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print("%d*%d=%d " % (j,i,i*j), end='')</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j+=1</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print('\n')</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i+=1</a:t>
            </a:r>
            <a:endParaRPr lang="en-US" altLang="x-none" sz="1400" dirty="0">
              <a:latin typeface="Times New Roman" panose="02020603050405020304" pitchFamily="18" charset="0"/>
              <a:ea typeface="宋体" panose="02010600030101010101" pitchFamily="2" charset="-122"/>
            </a:endParaRPr>
          </a:p>
        </p:txBody>
      </p:sp>
      <p:sp>
        <p:nvSpPr>
          <p:cNvPr id="3" name="文本框 2"/>
          <p:cNvSpPr txBox="1"/>
          <p:nvPr/>
        </p:nvSpPr>
        <p:spPr>
          <a:xfrm>
            <a:off x="521335" y="1137512"/>
            <a:ext cx="1846580" cy="368300"/>
          </a:xfrm>
          <a:prstGeom prst="rect">
            <a:avLst/>
          </a:prstGeom>
          <a:noFill/>
        </p:spPr>
        <p:txBody>
          <a:bodyPr wrap="none" rtlCol="0">
            <a:spAutoFit/>
          </a:bodyPr>
          <a:lstStyle/>
          <a:p>
            <a:r>
              <a:rPr lang="en-US" altLang="zh-CN" dirty="0"/>
              <a:t>while</a:t>
            </a:r>
            <a:r>
              <a:rPr lang="zh-CN" altLang="en-US" dirty="0"/>
              <a:t>代码实现：</a:t>
            </a:r>
            <a:endParaRPr lang="zh-CN" altLang="en-US" dirty="0"/>
          </a:p>
        </p:txBody>
      </p:sp>
      <p:sp>
        <p:nvSpPr>
          <p:cNvPr id="2" name="AutoShape 2"/>
          <p:cNvSpPr/>
          <p:nvPr/>
        </p:nvSpPr>
        <p:spPr>
          <a:xfrm>
            <a:off x="5004435" y="1691640"/>
            <a:ext cx="3639185" cy="1209674"/>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for i in rang(1,10):</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for i in range(1,i+1) :</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print("%d*%d=%d " % (j,i,i*j), end='')</a:t>
            </a:r>
            <a:endParaRPr lang="en-US" altLang="x-none" sz="1400" dirty="0">
              <a:latin typeface="Times New Roman" panose="02020603050405020304" pitchFamily="18" charset="0"/>
              <a:ea typeface="宋体" panose="02010600030101010101" pitchFamily="2" charset="-122"/>
            </a:endParaRPr>
          </a:p>
          <a:p>
            <a:pPr algn="l" defTabSz="444500">
              <a:lnSpc>
                <a:spcPct val="130000"/>
              </a:lnSpc>
              <a:spcBef>
                <a:spcPct val="0"/>
              </a:spcBef>
              <a:buNone/>
            </a:pPr>
            <a:r>
              <a:rPr lang="en-US" altLang="x-none" sz="1400" dirty="0">
                <a:latin typeface="Times New Roman" panose="02020603050405020304" pitchFamily="18" charset="0"/>
                <a:ea typeface="宋体" panose="02010600030101010101" pitchFamily="2" charset="-122"/>
              </a:rPr>
              <a:t>        print()</a:t>
            </a:r>
            <a:endParaRPr lang="en-US" altLang="x-none" sz="1400" dirty="0">
              <a:latin typeface="Times New Roman" panose="02020603050405020304" pitchFamily="18" charset="0"/>
              <a:ea typeface="宋体" panose="02010600030101010101" pitchFamily="2" charset="-122"/>
            </a:endParaRPr>
          </a:p>
        </p:txBody>
      </p:sp>
      <p:sp>
        <p:nvSpPr>
          <p:cNvPr id="4" name="文本框 3"/>
          <p:cNvSpPr txBox="1"/>
          <p:nvPr/>
        </p:nvSpPr>
        <p:spPr>
          <a:xfrm>
            <a:off x="5063490" y="1137512"/>
            <a:ext cx="1592580" cy="368300"/>
          </a:xfrm>
          <a:prstGeom prst="rect">
            <a:avLst/>
          </a:prstGeom>
          <a:noFill/>
        </p:spPr>
        <p:txBody>
          <a:bodyPr wrap="none" rtlCol="0">
            <a:spAutoFit/>
          </a:bodyPr>
          <a:p>
            <a:r>
              <a:rPr lang="en-US" altLang="zh-CN" dirty="0"/>
              <a:t>for</a:t>
            </a:r>
            <a:r>
              <a:rPr lang="zh-CN" altLang="en-US" dirty="0"/>
              <a:t>代码实现：</a:t>
            </a:r>
            <a:endParaRPr lang="zh-CN" altLang="en-US"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afterEffect">
                                  <p:stCondLst>
                                    <p:cond delay="0"/>
                                  </p:stCondLst>
                                  <p:childTnLst>
                                    <p:animEffect transition="out" filter="fade">
                                      <p:cBhvr>
                                        <p:cTn id="6" dur="500" tmFilter="0, 0; .2, .5; .8, .5; 1, 0"/>
                                        <p:tgtEl>
                                          <p:spTgt spid="68611">
                                            <p:txEl>
                                              <p:pRg st="0" end="0"/>
                                            </p:txEl>
                                          </p:spTgt>
                                        </p:tgtEl>
                                      </p:cBhvr>
                                    </p:animEffect>
                                    <p:animScale>
                                      <p:cBhvr>
                                        <p:cTn id="7" dur="250" autoRev="1" fill="hold"/>
                                        <p:tgtEl>
                                          <p:spTgt spid="68611">
                                            <p:txEl>
                                              <p:pRg st="0" end="0"/>
                                            </p:txEl>
                                          </p:spTgt>
                                        </p:tgtEl>
                                      </p:cBhvr>
                                      <p:by x="105000" y="105000"/>
                                    </p:animScale>
                                  </p:childTnLst>
                                </p:cTn>
                              </p:par>
                            </p:childTnLst>
                          </p:cTn>
                        </p:par>
                        <p:par>
                          <p:cTn id="8" fill="hold">
                            <p:stCondLst>
                              <p:cond delay="500"/>
                            </p:stCondLst>
                            <p:childTnLst>
                              <p:par>
                                <p:cTn id="9" presetID="26" presetClass="emph" presetSubtype="0" fill="hold" nodeType="afterEffect">
                                  <p:stCondLst>
                                    <p:cond delay="0"/>
                                  </p:stCondLst>
                                  <p:childTnLst>
                                    <p:animEffect transition="out" filter="fade">
                                      <p:cBhvr>
                                        <p:cTn id="10" dur="500" tmFilter="0, 0; .2, .5; .8, .5; 1, 0"/>
                                        <p:tgtEl>
                                          <p:spTgt spid="68611">
                                            <p:txEl>
                                              <p:pRg st="1" end="1"/>
                                            </p:txEl>
                                          </p:spTgt>
                                        </p:tgtEl>
                                      </p:cBhvr>
                                    </p:animEffect>
                                    <p:animScale>
                                      <p:cBhvr>
                                        <p:cTn id="11" dur="250" autoRev="1" fill="hold"/>
                                        <p:tgtEl>
                                          <p:spTgt spid="68611">
                                            <p:txEl>
                                              <p:pRg st="1" end="1"/>
                                            </p:txEl>
                                          </p:spTgt>
                                        </p:tgtEl>
                                      </p:cBhvr>
                                      <p:by x="105000" y="105000"/>
                                    </p:animScale>
                                  </p:childTnLst>
                                </p:cTn>
                              </p:par>
                            </p:childTnLst>
                          </p:cTn>
                        </p:par>
                        <p:par>
                          <p:cTn id="12" fill="hold">
                            <p:stCondLst>
                              <p:cond delay="1000"/>
                            </p:stCondLst>
                            <p:childTnLst>
                              <p:par>
                                <p:cTn id="13" presetID="26" presetClass="emph" presetSubtype="0" fill="hold" nodeType="afterEffect">
                                  <p:stCondLst>
                                    <p:cond delay="0"/>
                                  </p:stCondLst>
                                  <p:childTnLst>
                                    <p:animEffect transition="out" filter="fade">
                                      <p:cBhvr>
                                        <p:cTn id="14" dur="500" tmFilter="0, 0; .2, .5; .8, .5; 1, 0"/>
                                        <p:tgtEl>
                                          <p:spTgt spid="68611">
                                            <p:txEl>
                                              <p:pRg st="2" end="2"/>
                                            </p:txEl>
                                          </p:spTgt>
                                        </p:tgtEl>
                                      </p:cBhvr>
                                    </p:animEffect>
                                    <p:animScale>
                                      <p:cBhvr>
                                        <p:cTn id="15" dur="250" autoRev="1" fill="hold"/>
                                        <p:tgtEl>
                                          <p:spTgt spid="68611">
                                            <p:txEl>
                                              <p:pRg st="2" end="2"/>
                                            </p:txEl>
                                          </p:spTgt>
                                        </p:tgtEl>
                                      </p:cBhvr>
                                      <p:by x="105000" y="105000"/>
                                    </p:animScale>
                                  </p:childTnLst>
                                </p:cTn>
                              </p:par>
                            </p:childTnLst>
                          </p:cTn>
                        </p:par>
                        <p:par>
                          <p:cTn id="16" fill="hold">
                            <p:stCondLst>
                              <p:cond delay="1500"/>
                            </p:stCondLst>
                            <p:childTnLst>
                              <p:par>
                                <p:cTn id="17" presetID="26" presetClass="emph" presetSubtype="0" fill="hold" nodeType="afterEffect">
                                  <p:stCondLst>
                                    <p:cond delay="0"/>
                                  </p:stCondLst>
                                  <p:childTnLst>
                                    <p:animEffect transition="out" filter="fade">
                                      <p:cBhvr>
                                        <p:cTn id="18" dur="500" tmFilter="0, 0; .2, .5; .8, .5; 1, 0"/>
                                        <p:tgtEl>
                                          <p:spTgt spid="68611">
                                            <p:txEl>
                                              <p:pRg st="3" end="3"/>
                                            </p:txEl>
                                          </p:spTgt>
                                        </p:tgtEl>
                                      </p:cBhvr>
                                    </p:animEffect>
                                    <p:animScale>
                                      <p:cBhvr>
                                        <p:cTn id="19" dur="250" autoRev="1" fill="hold"/>
                                        <p:tgtEl>
                                          <p:spTgt spid="68611">
                                            <p:txEl>
                                              <p:pRg st="3" end="3"/>
                                            </p:txEl>
                                          </p:spTgt>
                                        </p:tgtEl>
                                      </p:cBhvr>
                                      <p:by x="105000" y="105000"/>
                                    </p:animScale>
                                  </p:childTnLst>
                                </p:cTn>
                              </p:par>
                            </p:childTnLst>
                          </p:cTn>
                        </p:par>
                        <p:par>
                          <p:cTn id="20" fill="hold">
                            <p:stCondLst>
                              <p:cond delay="2000"/>
                            </p:stCondLst>
                            <p:childTnLst>
                              <p:par>
                                <p:cTn id="21" presetID="26" presetClass="emph" presetSubtype="0" fill="hold" nodeType="afterEffect">
                                  <p:stCondLst>
                                    <p:cond delay="0"/>
                                  </p:stCondLst>
                                  <p:childTnLst>
                                    <p:animEffect transition="out" filter="fade">
                                      <p:cBhvr>
                                        <p:cTn id="22" dur="500" tmFilter="0, 0; .2, .5; .8, .5; 1, 0"/>
                                        <p:tgtEl>
                                          <p:spTgt spid="68611">
                                            <p:txEl>
                                              <p:pRg st="4" end="4"/>
                                            </p:txEl>
                                          </p:spTgt>
                                        </p:tgtEl>
                                      </p:cBhvr>
                                    </p:animEffect>
                                    <p:animScale>
                                      <p:cBhvr>
                                        <p:cTn id="23" dur="250" autoRev="1" fill="hold"/>
                                        <p:tgtEl>
                                          <p:spTgt spid="68611">
                                            <p:txEl>
                                              <p:pRg st="4" end="4"/>
                                            </p:txEl>
                                          </p:spTgt>
                                        </p:tgtEl>
                                      </p:cBhvr>
                                      <p:by x="105000" y="105000"/>
                                    </p:animScale>
                                  </p:childTnLst>
                                </p:cTn>
                              </p:par>
                            </p:childTnLst>
                          </p:cTn>
                        </p:par>
                        <p:par>
                          <p:cTn id="24" fill="hold">
                            <p:stCondLst>
                              <p:cond delay="2500"/>
                            </p:stCondLst>
                            <p:childTnLst>
                              <p:par>
                                <p:cTn id="25" presetID="26" presetClass="emph" presetSubtype="0" fill="hold" nodeType="afterEffect">
                                  <p:stCondLst>
                                    <p:cond delay="0"/>
                                  </p:stCondLst>
                                  <p:childTnLst>
                                    <p:animEffect transition="out" filter="fade">
                                      <p:cBhvr>
                                        <p:cTn id="26" dur="500" tmFilter="0, 0; .2, .5; .8, .5; 1, 0"/>
                                        <p:tgtEl>
                                          <p:spTgt spid="68611">
                                            <p:txEl>
                                              <p:pRg st="5" end="5"/>
                                            </p:txEl>
                                          </p:spTgt>
                                        </p:tgtEl>
                                      </p:cBhvr>
                                    </p:animEffect>
                                    <p:animScale>
                                      <p:cBhvr>
                                        <p:cTn id="27" dur="250" autoRev="1" fill="hold"/>
                                        <p:tgtEl>
                                          <p:spTgt spid="68611">
                                            <p:txEl>
                                              <p:pRg st="5" end="5"/>
                                            </p:txEl>
                                          </p:spTgt>
                                        </p:tgtEl>
                                      </p:cBhvr>
                                      <p:by x="105000" y="105000"/>
                                    </p:animScale>
                                  </p:childTnLst>
                                </p:cTn>
                              </p:par>
                            </p:childTnLst>
                          </p:cTn>
                        </p:par>
                        <p:par>
                          <p:cTn id="28" fill="hold">
                            <p:stCondLst>
                              <p:cond delay="3000"/>
                            </p:stCondLst>
                            <p:childTnLst>
                              <p:par>
                                <p:cTn id="29" presetID="26" presetClass="emph" presetSubtype="0" fill="hold" nodeType="afterEffect">
                                  <p:stCondLst>
                                    <p:cond delay="0"/>
                                  </p:stCondLst>
                                  <p:childTnLst>
                                    <p:animEffect transition="out" filter="fade">
                                      <p:cBhvr>
                                        <p:cTn id="30" dur="500" tmFilter="0, 0; .2, .5; .8, .5; 1, 0"/>
                                        <p:tgtEl>
                                          <p:spTgt spid="68611">
                                            <p:txEl>
                                              <p:pRg st="6" end="6"/>
                                            </p:txEl>
                                          </p:spTgt>
                                        </p:tgtEl>
                                      </p:cBhvr>
                                    </p:animEffect>
                                    <p:animScale>
                                      <p:cBhvr>
                                        <p:cTn id="31" dur="250" autoRev="1" fill="hold"/>
                                        <p:tgtEl>
                                          <p:spTgt spid="68611">
                                            <p:txEl>
                                              <p:pRg st="6" end="6"/>
                                            </p:txEl>
                                          </p:spTgt>
                                        </p:tgtEl>
                                      </p:cBhvr>
                                      <p:by x="105000" y="105000"/>
                                    </p:animScale>
                                  </p:childTnLst>
                                </p:cTn>
                              </p:par>
                            </p:childTnLst>
                          </p:cTn>
                        </p:par>
                        <p:par>
                          <p:cTn id="32" fill="hold">
                            <p:stCondLst>
                              <p:cond delay="3500"/>
                            </p:stCondLst>
                            <p:childTnLst>
                              <p:par>
                                <p:cTn id="33" presetID="26" presetClass="emph" presetSubtype="0" fill="hold" nodeType="afterEffect">
                                  <p:stCondLst>
                                    <p:cond delay="0"/>
                                  </p:stCondLst>
                                  <p:childTnLst>
                                    <p:animEffect transition="out" filter="fade">
                                      <p:cBhvr>
                                        <p:cTn id="34" dur="500" tmFilter="0, 0; .2, .5; .8, .5; 1, 0"/>
                                        <p:tgtEl>
                                          <p:spTgt spid="68611">
                                            <p:txEl>
                                              <p:pRg st="7" end="7"/>
                                            </p:txEl>
                                          </p:spTgt>
                                        </p:tgtEl>
                                      </p:cBhvr>
                                    </p:animEffect>
                                    <p:animScale>
                                      <p:cBhvr>
                                        <p:cTn id="35" dur="250" autoRev="1" fill="hold"/>
                                        <p:tgtEl>
                                          <p:spTgt spid="68611">
                                            <p:txEl>
                                              <p:pRg st="7" end="7"/>
                                            </p:txEl>
                                          </p:spTgt>
                                        </p:tgtEl>
                                      </p:cBhvr>
                                      <p:by x="105000" y="105000"/>
                                    </p:animScale>
                                  </p:childTnLst>
                                </p:cTn>
                              </p:par>
                            </p:childTnLst>
                          </p:cTn>
                        </p:par>
                        <p:par>
                          <p:cTn id="36" fill="hold">
                            <p:stCondLst>
                              <p:cond delay="4000"/>
                            </p:stCondLst>
                            <p:childTnLst>
                              <p:par>
                                <p:cTn id="37" presetID="26" presetClass="emph" presetSubtype="0" fill="hold" nodeType="afterEffect">
                                  <p:stCondLst>
                                    <p:cond delay="0"/>
                                  </p:stCondLst>
                                  <p:childTnLst>
                                    <p:animEffect transition="out" filter="fade">
                                      <p:cBhvr>
                                        <p:cTn id="38" dur="500" tmFilter="0, 0; .2, .5; .8, .5; 1, 0"/>
                                        <p:tgtEl>
                                          <p:spTgt spid="2">
                                            <p:txEl>
                                              <p:pRg st="0" end="0"/>
                                            </p:txEl>
                                          </p:spTgt>
                                        </p:tgtEl>
                                      </p:cBhvr>
                                    </p:animEffect>
                                    <p:animScale>
                                      <p:cBhvr>
                                        <p:cTn id="39" dur="250" autoRev="1" fill="hold"/>
                                        <p:tgtEl>
                                          <p:spTgt spid="2">
                                            <p:txEl>
                                              <p:pRg st="0" end="0"/>
                                            </p:txEl>
                                          </p:spTgt>
                                        </p:tgtEl>
                                      </p:cBhvr>
                                      <p:by x="105000" y="105000"/>
                                    </p:animScale>
                                  </p:childTnLst>
                                </p:cTn>
                              </p:par>
                            </p:childTnLst>
                          </p:cTn>
                        </p:par>
                        <p:par>
                          <p:cTn id="40" fill="hold">
                            <p:stCondLst>
                              <p:cond delay="4500"/>
                            </p:stCondLst>
                            <p:childTnLst>
                              <p:par>
                                <p:cTn id="41" presetID="26" presetClass="emph" presetSubtype="0" fill="hold" nodeType="afterEffect">
                                  <p:stCondLst>
                                    <p:cond delay="0"/>
                                  </p:stCondLst>
                                  <p:childTnLst>
                                    <p:animEffect transition="out" filter="fade">
                                      <p:cBhvr>
                                        <p:cTn id="42" dur="500" tmFilter="0, 0; .2, .5; .8, .5; 1, 0"/>
                                        <p:tgtEl>
                                          <p:spTgt spid="2">
                                            <p:txEl>
                                              <p:pRg st="1" end="1"/>
                                            </p:txEl>
                                          </p:spTgt>
                                        </p:tgtEl>
                                      </p:cBhvr>
                                    </p:animEffect>
                                    <p:animScale>
                                      <p:cBhvr>
                                        <p:cTn id="43" dur="250" autoRev="1" fill="hold"/>
                                        <p:tgtEl>
                                          <p:spTgt spid="2">
                                            <p:txEl>
                                              <p:pRg st="1" end="1"/>
                                            </p:txEl>
                                          </p:spTgt>
                                        </p:tgtEl>
                                      </p:cBhvr>
                                      <p:by x="105000" y="105000"/>
                                    </p:animScale>
                                  </p:childTnLst>
                                </p:cTn>
                              </p:par>
                            </p:childTnLst>
                          </p:cTn>
                        </p:par>
                        <p:par>
                          <p:cTn id="44" fill="hold">
                            <p:stCondLst>
                              <p:cond delay="5000"/>
                            </p:stCondLst>
                            <p:childTnLst>
                              <p:par>
                                <p:cTn id="45" presetID="26" presetClass="emph" presetSubtype="0" fill="hold" nodeType="afterEffect">
                                  <p:stCondLst>
                                    <p:cond delay="0"/>
                                  </p:stCondLst>
                                  <p:childTnLst>
                                    <p:animEffect transition="out" filter="fade">
                                      <p:cBhvr>
                                        <p:cTn id="46" dur="500" tmFilter="0, 0; .2, .5; .8, .5; 1, 0"/>
                                        <p:tgtEl>
                                          <p:spTgt spid="2">
                                            <p:txEl>
                                              <p:pRg st="2" end="2"/>
                                            </p:txEl>
                                          </p:spTgt>
                                        </p:tgtEl>
                                      </p:cBhvr>
                                    </p:animEffect>
                                    <p:animScale>
                                      <p:cBhvr>
                                        <p:cTn id="47" dur="250" autoRev="1" fill="hold"/>
                                        <p:tgtEl>
                                          <p:spTgt spid="2">
                                            <p:txEl>
                                              <p:pRg st="2" end="2"/>
                                            </p:txEl>
                                          </p:spTgt>
                                        </p:tgtEl>
                                      </p:cBhvr>
                                      <p:by x="105000" y="105000"/>
                                    </p:animScale>
                                  </p:childTnLst>
                                </p:cTn>
                              </p:par>
                            </p:childTnLst>
                          </p:cTn>
                        </p:par>
                        <p:par>
                          <p:cTn id="48" fill="hold">
                            <p:stCondLst>
                              <p:cond delay="5500"/>
                            </p:stCondLst>
                            <p:childTnLst>
                              <p:par>
                                <p:cTn id="49" presetID="26" presetClass="emph" presetSubtype="0" fill="hold" nodeType="afterEffect">
                                  <p:stCondLst>
                                    <p:cond delay="0"/>
                                  </p:stCondLst>
                                  <p:childTnLst>
                                    <p:animEffect transition="out" filter="fade">
                                      <p:cBhvr>
                                        <p:cTn id="50" dur="500" tmFilter="0, 0; .2, .5; .8, .5; 1, 0"/>
                                        <p:tgtEl>
                                          <p:spTgt spid="2">
                                            <p:txEl>
                                              <p:pRg st="3" end="3"/>
                                            </p:txEl>
                                          </p:spTgt>
                                        </p:tgtEl>
                                      </p:cBhvr>
                                    </p:animEffect>
                                    <p:animScale>
                                      <p:cBhvr>
                                        <p:cTn id="51" dur="250" autoRev="1" fill="hold"/>
                                        <p:tgtEl>
                                          <p:spTgt spid="2">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txBox="1"/>
          <p:nvPr/>
        </p:nvSpPr>
        <p:spPr>
          <a:xfrm>
            <a:off x="895033" y="130652"/>
            <a:ext cx="8229600" cy="675085"/>
          </a:xfrm>
          <a:prstGeom prst="rect">
            <a:avLst/>
          </a:prstGeom>
          <a:noFill/>
          <a:ln w="9525">
            <a:noFill/>
          </a:ln>
        </p:spPr>
        <p:txBody>
          <a:bodyPr anchor="t"/>
          <a:lstStyle/>
          <a:p>
            <a:pPr algn="r" eaLnBrk="0" hangingPunct="0"/>
            <a:r>
              <a:rPr lang="zh-CN" altLang="en-US" sz="2000" dirty="0">
                <a:solidFill>
                  <a:srgbClr val="0070C0"/>
                </a:solidFill>
                <a:latin typeface="+mj-ea"/>
                <a:ea typeface="+mj-ea"/>
                <a:cs typeface="+mj-cs"/>
                <a:sym typeface="+mn-ea"/>
              </a:rPr>
              <a:t>九九乘法表打印结果</a:t>
            </a:r>
            <a:endParaRPr lang="zh-CN" altLang="en-US" sz="2000" dirty="0">
              <a:solidFill>
                <a:srgbClr val="0070C0"/>
              </a:solidFill>
              <a:latin typeface="+mj-ea"/>
              <a:ea typeface="+mj-ea"/>
              <a:cs typeface="+mj-cs"/>
              <a:sym typeface="+mn-ea"/>
            </a:endParaRPr>
          </a:p>
          <a:p>
            <a:pPr algn="r" eaLnBrk="0" hangingPunct="0">
              <a:spcBef>
                <a:spcPct val="0"/>
              </a:spcBef>
              <a:buNone/>
            </a:pPr>
            <a:endParaRPr lang="zh-CN" altLang="en-US" sz="2000" b="0" dirty="0">
              <a:solidFill>
                <a:srgbClr val="0070C0"/>
              </a:solidFill>
              <a:latin typeface="+mj-ea"/>
              <a:ea typeface="+mj-ea"/>
              <a:cs typeface="+mj-cs"/>
            </a:endParaRPr>
          </a:p>
        </p:txBody>
      </p:sp>
      <p:sp>
        <p:nvSpPr>
          <p:cNvPr id="73731" name="Rectangle 3"/>
          <p:cNvSpPr txBox="1"/>
          <p:nvPr/>
        </p:nvSpPr>
        <p:spPr>
          <a:xfrm>
            <a:off x="749300" y="957262"/>
            <a:ext cx="7645400" cy="3757613"/>
          </a:xfrm>
          <a:prstGeom prst="rect">
            <a:avLst/>
          </a:prstGeom>
          <a:noFill/>
          <a:ln w="9525">
            <a:noFill/>
          </a:ln>
        </p:spPr>
        <p:txBody>
          <a:bodyPr anchor="t"/>
          <a:lstStyle/>
          <a:p>
            <a:pPr marL="0" indent="0" algn="l" eaLnBrk="0" hangingPunct="0">
              <a:buClr>
                <a:srgbClr val="000000"/>
              </a:buClr>
              <a:buFont typeface="Wingdings" panose="05000000000000000000" charset="0"/>
              <a:buNone/>
            </a:pPr>
            <a:endParaRPr lang="zh-CN" altLang="en-US" sz="2000" b="0" dirty="0">
              <a:solidFill>
                <a:schemeClr val="tx1">
                  <a:lumMod val="75000"/>
                  <a:lumOff val="25000"/>
                </a:schemeClr>
              </a:solidFill>
              <a:latin typeface="+mn-ea"/>
              <a:ea typeface="+mn-ea"/>
            </a:endParaRPr>
          </a:p>
          <a:p>
            <a:pPr marL="887730" lvl="1" indent="-342900" algn="l" eaLnBrk="0" hangingPunct="0">
              <a:buClr>
                <a:srgbClr val="000000"/>
              </a:buClr>
              <a:buFont typeface="Wingdings" panose="05000000000000000000" pitchFamily="2" charset="2"/>
              <a:buChar char="n"/>
            </a:pPr>
            <a:r>
              <a:rPr lang="zh-CN" altLang="en-US" sz="1600" b="0" dirty="0">
                <a:solidFill>
                  <a:schemeClr val="tx1">
                    <a:lumMod val="75000"/>
                    <a:lumOff val="25000"/>
                  </a:schemeClr>
                </a:solidFill>
                <a:latin typeface="+mn-ea"/>
                <a:ea typeface="+mn-ea"/>
              </a:rPr>
              <a:t>设置变量 </a:t>
            </a:r>
            <a:r>
              <a:rPr lang="en-US" altLang="zh-CN" sz="1600" b="0" dirty="0">
                <a:solidFill>
                  <a:schemeClr val="tx1">
                    <a:lumMod val="75000"/>
                    <a:lumOff val="25000"/>
                  </a:schemeClr>
                </a:solidFill>
                <a:latin typeface="+mn-ea"/>
                <a:ea typeface="+mn-ea"/>
              </a:rPr>
              <a:t>i </a:t>
            </a:r>
            <a:r>
              <a:rPr lang="zh-CN" altLang="en-US" sz="1600" b="0" dirty="0">
                <a:solidFill>
                  <a:schemeClr val="tx1">
                    <a:lumMod val="75000"/>
                    <a:lumOff val="25000"/>
                  </a:schemeClr>
                </a:solidFill>
                <a:latin typeface="+mn-ea"/>
                <a:ea typeface="+mn-ea"/>
              </a:rPr>
              <a:t>来控制打印几行，初始值为 </a:t>
            </a:r>
            <a:r>
              <a:rPr lang="en-US" altLang="zh-CN" sz="1600" b="0" dirty="0">
                <a:solidFill>
                  <a:schemeClr val="tx1">
                    <a:lumMod val="75000"/>
                    <a:lumOff val="25000"/>
                  </a:schemeClr>
                </a:solidFill>
                <a:latin typeface="+mn-ea"/>
                <a:ea typeface="+mn-ea"/>
              </a:rPr>
              <a:t>1</a:t>
            </a:r>
            <a:endParaRPr lang="en-US" altLang="zh-CN" sz="1600" b="0" dirty="0">
              <a:solidFill>
                <a:schemeClr val="tx1">
                  <a:lumMod val="75000"/>
                  <a:lumOff val="25000"/>
                </a:schemeClr>
              </a:solidFill>
              <a:latin typeface="+mn-ea"/>
              <a:ea typeface="+mn-ea"/>
            </a:endParaRPr>
          </a:p>
          <a:p>
            <a:pPr marL="887730" lvl="1" indent="-342900" algn="l" eaLnBrk="0" hangingPunct="0">
              <a:buClr>
                <a:srgbClr val="000000"/>
              </a:buClr>
              <a:buFont typeface="Wingdings" panose="05000000000000000000" pitchFamily="2" charset="2"/>
              <a:buChar char="n"/>
            </a:pPr>
            <a:r>
              <a:rPr lang="zh-CN" altLang="en-US" sz="1600" b="0" dirty="0">
                <a:solidFill>
                  <a:schemeClr val="tx1">
                    <a:lumMod val="75000"/>
                    <a:lumOff val="25000"/>
                  </a:schemeClr>
                </a:solidFill>
                <a:latin typeface="+mn-ea"/>
                <a:ea typeface="+mn-ea"/>
              </a:rPr>
              <a:t>使用嵌套循环，设置变量</a:t>
            </a:r>
            <a:r>
              <a:rPr lang="en-US" altLang="zh-CN" sz="1600" b="0" dirty="0">
                <a:solidFill>
                  <a:schemeClr val="tx1">
                    <a:lumMod val="75000"/>
                    <a:lumOff val="25000"/>
                  </a:schemeClr>
                </a:solidFill>
                <a:latin typeface="+mn-ea"/>
                <a:ea typeface="+mn-ea"/>
              </a:rPr>
              <a:t>j &lt;= i</a:t>
            </a:r>
            <a:r>
              <a:rPr lang="zh-CN" altLang="en-US" sz="1600" b="0" dirty="0">
                <a:solidFill>
                  <a:schemeClr val="tx1">
                    <a:lumMod val="75000"/>
                    <a:lumOff val="25000"/>
                  </a:schemeClr>
                </a:solidFill>
                <a:latin typeface="+mn-ea"/>
                <a:ea typeface="+mn-ea"/>
              </a:rPr>
              <a:t> </a:t>
            </a:r>
            <a:endParaRPr lang="zh-CN" altLang="en-US" sz="1600" b="0" dirty="0">
              <a:solidFill>
                <a:schemeClr val="tx1">
                  <a:lumMod val="75000"/>
                  <a:lumOff val="25000"/>
                </a:schemeClr>
              </a:solidFill>
              <a:latin typeface="+mn-ea"/>
              <a:ea typeface="+mn-ea"/>
            </a:endParaRPr>
          </a:p>
          <a:p>
            <a:pPr marL="887730" lvl="1" indent="-342900" algn="l" eaLnBrk="0" hangingPunct="0">
              <a:buClr>
                <a:srgbClr val="000000"/>
              </a:buClr>
              <a:buFont typeface="Wingdings" panose="05000000000000000000" charset="0"/>
              <a:buChar char=""/>
            </a:pPr>
            <a:endParaRPr lang="zh-CN" altLang="en-US" sz="1600" b="0" dirty="0">
              <a:solidFill>
                <a:schemeClr val="tx1">
                  <a:lumMod val="75000"/>
                  <a:lumOff val="25000"/>
                </a:schemeClr>
              </a:solidFill>
              <a:latin typeface="+mn-ea"/>
              <a:ea typeface="+mn-ea"/>
            </a:endParaRPr>
          </a:p>
        </p:txBody>
      </p:sp>
      <p:pic>
        <p:nvPicPr>
          <p:cNvPr id="2" name="图片 1"/>
          <p:cNvPicPr>
            <a:picLocks noChangeAspect="1"/>
          </p:cNvPicPr>
          <p:nvPr/>
        </p:nvPicPr>
        <p:blipFill>
          <a:blip r:embed="rId1"/>
          <a:stretch>
            <a:fillRect/>
          </a:stretch>
        </p:blipFill>
        <p:spPr>
          <a:xfrm>
            <a:off x="2092960" y="2140585"/>
            <a:ext cx="4757420" cy="2574290"/>
          </a:xfrm>
          <a:prstGeom prst="rect">
            <a:avLst/>
          </a:prstGeom>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noFill/>
        </p:spPr>
        <p:txBody>
          <a:bodyPr anchor="ctr">
            <a:normAutofit/>
          </a:bodyPr>
          <a:lstStyle/>
          <a:p>
            <a:pPr marL="913130" indent="-913130"/>
            <a:r>
              <a:rPr lang="zh-CN" altLang="en-US" sz="4000" dirty="0">
                <a:solidFill>
                  <a:schemeClr val="accent5">
                    <a:lumMod val="50000"/>
                  </a:schemeClr>
                </a:solidFill>
              </a:rPr>
              <a:t>第四课时</a:t>
            </a:r>
            <a:endParaRPr lang="zh-CN" altLang="en-US" sz="4000" dirty="0">
              <a:solidFill>
                <a:schemeClr val="accent5">
                  <a:lumMod val="50000"/>
                </a:schemeClr>
              </a:solidFill>
            </a:endParaRPr>
          </a:p>
        </p:txBody>
      </p:sp>
      <p:sp>
        <p:nvSpPr>
          <p:cNvPr id="3" name="副标题 2"/>
          <p:cNvSpPr>
            <a:spLocks noGrp="1"/>
          </p:cNvSpPr>
          <p:nvPr>
            <p:ph type="subTitle" idx="1"/>
          </p:nvPr>
        </p:nvSpPr>
        <p:spPr/>
        <p:txBody>
          <a:bodyPr/>
          <a:lstStyle/>
          <a:p>
            <a:r>
              <a:rPr lang="en-US" altLang="zh-CN" dirty="0"/>
              <a:t>python</a:t>
            </a:r>
            <a:r>
              <a:rPr lang="zh-CN" altLang="en-US" dirty="0"/>
              <a:t>的其他语句</a:t>
            </a:r>
            <a:endParaRPr lang="zh-CN" altLang="en-US" dirty="0"/>
          </a:p>
          <a:p>
            <a:endParaRPr lang="zh-CN" altLang="en-US" dirty="0">
              <a:solidFill>
                <a:schemeClr val="tx1">
                  <a:lumMod val="65000"/>
                  <a:lumOff val="35000"/>
                </a:schemeClr>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8300"/>
          </a:xfrm>
        </p:spPr>
        <p:txBody>
          <a:bodyPr/>
          <a:lstStyle/>
          <a:p>
            <a:r>
              <a:rPr lang="zh-CN" altLang="en-US" dirty="0">
                <a:sym typeface="+mn-ea"/>
              </a:rPr>
              <a:t>while循环和</a:t>
            </a:r>
            <a:r>
              <a:rPr lang="en-US" altLang="zh-CN" dirty="0">
                <a:sym typeface="+mn-ea"/>
              </a:rPr>
              <a:t>else</a:t>
            </a:r>
            <a:endParaRPr lang="en-US" altLang="zh-CN" dirty="0">
              <a:sym typeface="+mn-ea"/>
            </a:endParaRPr>
          </a:p>
        </p:txBody>
      </p:sp>
      <p:sp>
        <p:nvSpPr>
          <p:cNvPr id="3" name="内容占位符 2"/>
          <p:cNvSpPr>
            <a:spLocks noGrp="1"/>
          </p:cNvSpPr>
          <p:nvPr>
            <p:ph idx="1"/>
          </p:nvPr>
        </p:nvSpPr>
        <p:spPr>
          <a:xfrm>
            <a:off x="488375" y="1870760"/>
            <a:ext cx="8352928" cy="2893239"/>
          </a:xfrm>
        </p:spPr>
        <p:txBody>
          <a:bodyPr/>
          <a:lstStyle/>
          <a:p>
            <a:pPr marL="0" indent="0">
              <a:buNone/>
            </a:pPr>
            <a:endParaRPr lang="en-US" altLang="zh-CN" dirty="0"/>
          </a:p>
          <a:p>
            <a:pPr marL="0" indent="0" latinLnBrk="0">
              <a:spcBef>
                <a:spcPts val="1000"/>
              </a:spcBef>
              <a:buNone/>
            </a:pPr>
            <a:endParaRPr lang="en-US" altLang="zh-CN" dirty="0"/>
          </a:p>
          <a:p>
            <a:pPr marL="0" indent="0" latinLnBrk="0">
              <a:spcBef>
                <a:spcPts val="1000"/>
              </a:spcBef>
              <a:buNone/>
            </a:pPr>
            <a:endParaRPr lang="en-US" altLang="zh-CN" dirty="0"/>
          </a:p>
          <a:p>
            <a:pPr marL="0" indent="0" latinLnBrk="0">
              <a:spcBef>
                <a:spcPts val="1000"/>
              </a:spcBef>
              <a:buFont typeface="Wingdings" panose="05000000000000000000" charset="0"/>
              <a:buNone/>
            </a:pPr>
            <a:endParaRPr lang="zh-CN" altLang="en-US" dirty="0"/>
          </a:p>
          <a:p>
            <a:pPr marL="0" indent="0" latinLnBrk="0">
              <a:spcBef>
                <a:spcPts val="1000"/>
              </a:spcBef>
              <a:buFont typeface="Wingdings" panose="05000000000000000000" charset="0"/>
              <a:buNone/>
            </a:pPr>
            <a:r>
              <a:rPr lang="en-US" altLang="zh-CN" dirty="0"/>
              <a:t>else </a:t>
            </a:r>
            <a:r>
              <a:rPr lang="zh-CN" altLang="en-US" dirty="0"/>
              <a:t>是循环正常结束后所需执行语句</a:t>
            </a:r>
            <a:endParaRPr lang="zh-CN" altLang="en-US" dirty="0"/>
          </a:p>
        </p:txBody>
      </p:sp>
      <p:sp>
        <p:nvSpPr>
          <p:cNvPr id="28" name="AutoShape 7"/>
          <p:cNvSpPr>
            <a:spLocks noChangeArrowheads="1"/>
          </p:cNvSpPr>
          <p:nvPr/>
        </p:nvSpPr>
        <p:spPr bwMode="auto">
          <a:xfrm>
            <a:off x="394986" y="1161415"/>
            <a:ext cx="6339839" cy="2030094"/>
          </a:xfrm>
          <a:prstGeom prst="roundRect">
            <a:avLst>
              <a:gd name="adj" fmla="val 0"/>
            </a:avLst>
          </a:prstGeom>
          <a:solidFill>
            <a:srgbClr val="E7F4FF"/>
          </a:solidFill>
          <a:ln w="28575" cap="flat" cmpd="sng" algn="ctr">
            <a:solidFill>
              <a:srgbClr val="00B0F0"/>
            </a:solidFill>
            <a:prstDash val="solid"/>
            <a:round/>
            <a:headEnd type="none" w="med" len="med"/>
            <a:tailEnd type="none" w="med" len="med"/>
          </a:ln>
          <a:effectLst>
            <a:outerShdw blurRad="38100" sx="101000" sy="101000" algn="ctr" rotWithShape="0">
              <a:prstClr val="black">
                <a:alpha val="10000"/>
              </a:prstClr>
            </a:outerShdw>
          </a:effectLst>
        </p:spPr>
        <p:txBody>
          <a:bodyPr wrap="square">
            <a:spAutoFit/>
          </a:bodyPr>
          <a:lstStyle/>
          <a:p>
            <a:pPr algn="l" defTabSz="381000">
              <a:lnSpc>
                <a:spcPct val="150000"/>
              </a:lnSpc>
              <a:buClr>
                <a:schemeClr val="folHlink"/>
              </a:buClr>
              <a:buSzPct val="60000"/>
              <a:buNone/>
            </a:pPr>
            <a:r>
              <a:rPr lang="en-US" altLang="zh-CN" sz="1400" dirty="0">
                <a:latin typeface="+mn-ea"/>
                <a:ea typeface="+mn-ea"/>
              </a:rPr>
              <a:t>n = 1</a:t>
            </a:r>
            <a:endParaRPr lang="en-US" altLang="zh-CN" sz="1400" dirty="0">
              <a:latin typeface="+mn-ea"/>
              <a:ea typeface="+mn-ea"/>
            </a:endParaRPr>
          </a:p>
          <a:p>
            <a:pPr algn="l" defTabSz="381000">
              <a:lnSpc>
                <a:spcPct val="150000"/>
              </a:lnSpc>
              <a:buClr>
                <a:schemeClr val="folHlink"/>
              </a:buClr>
              <a:buSzPct val="60000"/>
              <a:buNone/>
            </a:pPr>
            <a:r>
              <a:rPr lang="en-US" altLang="zh-CN" sz="1400" dirty="0">
                <a:latin typeface="+mn-ea"/>
                <a:ea typeface="+mn-ea"/>
              </a:rPr>
              <a:t>while n &lt; 5:</a:t>
            </a:r>
            <a:endParaRPr lang="en-US" altLang="zh-CN" sz="1400" dirty="0">
              <a:latin typeface="+mn-ea"/>
              <a:ea typeface="+mn-ea"/>
            </a:endParaRPr>
          </a:p>
          <a:p>
            <a:pPr algn="l" defTabSz="381000">
              <a:lnSpc>
                <a:spcPct val="150000"/>
              </a:lnSpc>
              <a:buClr>
                <a:schemeClr val="folHlink"/>
              </a:buClr>
              <a:buSzPct val="60000"/>
              <a:buNone/>
            </a:pPr>
            <a:r>
              <a:rPr lang="en-US" altLang="zh-CN" sz="1400" dirty="0">
                <a:latin typeface="+mn-ea"/>
                <a:ea typeface="+mn-ea"/>
              </a:rPr>
              <a:t>    print("*")</a:t>
            </a:r>
            <a:endParaRPr lang="en-US" altLang="zh-CN" sz="1400" dirty="0">
              <a:latin typeface="+mn-ea"/>
              <a:ea typeface="+mn-ea"/>
            </a:endParaRPr>
          </a:p>
          <a:p>
            <a:pPr algn="l" defTabSz="381000">
              <a:lnSpc>
                <a:spcPct val="150000"/>
              </a:lnSpc>
              <a:buClr>
                <a:schemeClr val="folHlink"/>
              </a:buClr>
              <a:buSzPct val="60000"/>
              <a:buNone/>
            </a:pPr>
            <a:r>
              <a:rPr lang="en-US" altLang="zh-CN" sz="1400" dirty="0">
                <a:latin typeface="+mn-ea"/>
                <a:ea typeface="+mn-ea"/>
              </a:rPr>
              <a:t>    n += 1</a:t>
            </a:r>
            <a:endParaRPr lang="en-US" altLang="zh-CN" sz="1400" dirty="0">
              <a:latin typeface="+mn-ea"/>
              <a:ea typeface="+mn-ea"/>
            </a:endParaRPr>
          </a:p>
          <a:p>
            <a:pPr algn="l" defTabSz="381000">
              <a:lnSpc>
                <a:spcPct val="150000"/>
              </a:lnSpc>
              <a:buClr>
                <a:schemeClr val="folHlink"/>
              </a:buClr>
              <a:buSzPct val="60000"/>
              <a:buNone/>
            </a:pPr>
            <a:r>
              <a:rPr lang="en-US" altLang="zh-CN" sz="1400" dirty="0">
                <a:latin typeface="+mn-ea"/>
                <a:ea typeface="+mn-ea"/>
              </a:rPr>
              <a:t>else:</a:t>
            </a:r>
            <a:endParaRPr lang="en-US" altLang="zh-CN" sz="1400" dirty="0">
              <a:latin typeface="+mn-ea"/>
              <a:ea typeface="+mn-ea"/>
            </a:endParaRPr>
          </a:p>
          <a:p>
            <a:pPr algn="l" defTabSz="381000">
              <a:lnSpc>
                <a:spcPct val="150000"/>
              </a:lnSpc>
              <a:buClr>
                <a:schemeClr val="folHlink"/>
              </a:buClr>
              <a:buSzPct val="60000"/>
              <a:buNone/>
            </a:pPr>
            <a:r>
              <a:rPr lang="en-US" altLang="zh-CN" sz="1400" dirty="0">
                <a:latin typeface="+mn-ea"/>
                <a:ea typeface="+mn-ea"/>
              </a:rPr>
              <a:t>    print("hello")</a:t>
            </a:r>
            <a:endParaRPr lang="en-US" altLang="zh-CN" sz="1400" dirty="0">
              <a:latin typeface="+mn-ea"/>
              <a:ea typeface="+mn-ea"/>
            </a:endParaRPr>
          </a:p>
        </p:txBody>
      </p:sp>
      <p:sp>
        <p:nvSpPr>
          <p:cNvPr id="29" name="Rectangle 8"/>
          <p:cNvSpPr>
            <a:spLocks noChangeArrowheads="1"/>
          </p:cNvSpPr>
          <p:nvPr/>
        </p:nvSpPr>
        <p:spPr bwMode="auto">
          <a:xfrm>
            <a:off x="924560" y="1555750"/>
            <a:ext cx="582295" cy="315595"/>
          </a:xfrm>
          <a:prstGeom prst="rect">
            <a:avLst/>
          </a:prstGeom>
          <a:solidFill>
            <a:srgbClr val="FFDDDD">
              <a:alpha val="10196"/>
            </a:srgbClr>
          </a:solidFill>
          <a:ln w="28575" algn="ctr">
            <a:solidFill>
              <a:srgbClr val="C00000"/>
            </a:solidFill>
            <a:miter lim="800000"/>
          </a:ln>
        </p:spPr>
        <p:txBody>
          <a:bodyPr wrap="none" anchor="ctr"/>
          <a:lstStyle/>
          <a:p>
            <a:endParaRPr lang="zh-CN" altLang="en-US">
              <a:solidFill>
                <a:srgbClr val="FF0000"/>
              </a:solidFill>
              <a:ea typeface="宋体" panose="02010600030101010101" pitchFamily="2" charset="-122"/>
            </a:endParaRPr>
          </a:p>
        </p:txBody>
      </p:sp>
      <p:sp>
        <p:nvSpPr>
          <p:cNvPr id="30" name="Rectangle 9"/>
          <p:cNvSpPr>
            <a:spLocks noChangeArrowheads="1"/>
          </p:cNvSpPr>
          <p:nvPr/>
        </p:nvSpPr>
        <p:spPr bwMode="auto">
          <a:xfrm>
            <a:off x="529590" y="1908175"/>
            <a:ext cx="6071235" cy="537845"/>
          </a:xfrm>
          <a:prstGeom prst="rect">
            <a:avLst/>
          </a:prstGeom>
          <a:solidFill>
            <a:srgbClr val="FFDDDD">
              <a:alpha val="10196"/>
            </a:srgbClr>
          </a:solidFill>
          <a:ln w="28575" algn="ctr">
            <a:solidFill>
              <a:srgbClr val="C00000"/>
            </a:solidFill>
            <a:miter lim="800000"/>
          </a:ln>
        </p:spPr>
        <p:txBody>
          <a:bodyPr wrap="none" anchor="ctr"/>
          <a:lstStyle/>
          <a:p>
            <a:endParaRPr lang="en-US" altLang="zh-CN">
              <a:solidFill>
                <a:srgbClr val="FF0000"/>
              </a:solidFill>
              <a:ea typeface="宋体" panose="02010600030101010101" pitchFamily="2" charset="-122"/>
            </a:endParaRPr>
          </a:p>
        </p:txBody>
      </p:sp>
      <p:sp>
        <p:nvSpPr>
          <p:cNvPr id="36" name="AutoShape 5"/>
          <p:cNvSpPr>
            <a:spLocks noChangeArrowheads="1"/>
          </p:cNvSpPr>
          <p:nvPr/>
        </p:nvSpPr>
        <p:spPr bwMode="auto">
          <a:xfrm>
            <a:off x="2090455" y="922119"/>
            <a:ext cx="1152128"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kern="0" dirty="0">
                <a:solidFill>
                  <a:schemeClr val="bg1"/>
                </a:solidFill>
                <a:latin typeface="+mn-ea"/>
                <a:ea typeface="+mn-ea"/>
              </a:rPr>
              <a:t>循环</a:t>
            </a:r>
            <a:r>
              <a:rPr lang="zh-CN" altLang="zh-CN" sz="1600" kern="0" dirty="0">
                <a:solidFill>
                  <a:schemeClr val="bg1"/>
                </a:solidFill>
                <a:latin typeface="+mn-ea"/>
                <a:ea typeface="+mn-ea"/>
              </a:rPr>
              <a:t>条件</a:t>
            </a:r>
            <a:endParaRPr lang="zh-CN" altLang="en-US" sz="1600" kern="0" dirty="0">
              <a:solidFill>
                <a:schemeClr val="bg1"/>
              </a:solidFill>
              <a:latin typeface="+mn-ea"/>
              <a:ea typeface="+mn-ea"/>
            </a:endParaRPr>
          </a:p>
        </p:txBody>
      </p:sp>
      <p:sp>
        <p:nvSpPr>
          <p:cNvPr id="37" name="Line 15"/>
          <p:cNvSpPr>
            <a:spLocks noChangeShapeType="1"/>
          </p:cNvSpPr>
          <p:nvPr/>
        </p:nvSpPr>
        <p:spPr bwMode="auto">
          <a:xfrm flipV="1">
            <a:off x="1583686" y="1357304"/>
            <a:ext cx="428628" cy="198592"/>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38" name="AutoShape 5"/>
          <p:cNvSpPr>
            <a:spLocks noChangeArrowheads="1"/>
          </p:cNvSpPr>
          <p:nvPr/>
        </p:nvSpPr>
        <p:spPr bwMode="auto">
          <a:xfrm>
            <a:off x="2944486" y="1989763"/>
            <a:ext cx="1005205" cy="374571"/>
          </a:xfrm>
          <a:prstGeom prst="wedgeRoundRectCallout">
            <a:avLst>
              <a:gd name="adj1" fmla="val -19979"/>
              <a:gd name="adj2" fmla="val 51279"/>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algn="l" eaLnBrk="0" hangingPunct="0">
              <a:spcBef>
                <a:spcPct val="20000"/>
              </a:spcBef>
              <a:buClr>
                <a:srgbClr val="233DA9"/>
              </a:buClr>
              <a:buSzPct val="80000"/>
              <a:buNone/>
            </a:pPr>
            <a:r>
              <a:rPr lang="zh-CN" altLang="en-US" sz="1600" kern="0" dirty="0">
                <a:solidFill>
                  <a:schemeClr val="bg1"/>
                </a:solidFill>
                <a:latin typeface="+mn-ea"/>
                <a:ea typeface="+mn-ea"/>
              </a:rPr>
              <a:t>循环体</a:t>
            </a:r>
            <a:endParaRPr lang="zh-CN" altLang="en-US" sz="1600" kern="0" dirty="0">
              <a:solidFill>
                <a:schemeClr val="bg1"/>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500"/>
                                        <p:tgtEl>
                                          <p:spTgt spid="2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left)">
                                      <p:cBhvr>
                                        <p:cTn id="23" dur="500"/>
                                        <p:tgtEl>
                                          <p:spTgt spid="36"/>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29" grpId="0" bldLvl="0" animBg="1"/>
      <p:bldP spid="30" grpId="0" bldLvl="0" animBg="1"/>
      <p:bldP spid="36" grpId="0" bldLvl="0" animBg="1"/>
      <p:bldP spid="38"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
          <p:cNvSpPr txBox="1"/>
          <p:nvPr/>
        </p:nvSpPr>
        <p:spPr>
          <a:xfrm>
            <a:off x="6012160" y="123190"/>
            <a:ext cx="3090565" cy="399415"/>
          </a:xfrm>
          <a:prstGeom prst="rect">
            <a:avLst/>
          </a:prstGeom>
          <a:noFill/>
          <a:ln w="9525">
            <a:noFill/>
          </a:ln>
        </p:spPr>
        <p:txBody>
          <a:bodyPr anchor="t"/>
          <a:lstStyle/>
          <a:p>
            <a:pPr algn="r" eaLnBrk="0" hangingPunct="0"/>
            <a:r>
              <a:rPr lang="zh-CN" altLang="en-US" sz="2000" dirty="0">
                <a:solidFill>
                  <a:srgbClr val="0070C0"/>
                </a:solidFill>
                <a:latin typeface="+mj-ea"/>
                <a:sym typeface="+mn-ea"/>
              </a:rPr>
              <a:t>如何使用</a:t>
            </a:r>
            <a:r>
              <a:rPr lang="en-US" altLang="zh-CN" sz="2000" b="0" dirty="0">
                <a:solidFill>
                  <a:srgbClr val="0070C0"/>
                </a:solidFill>
                <a:latin typeface="+mj-ea"/>
                <a:ea typeface="+mj-ea"/>
                <a:cs typeface="+mj-cs"/>
              </a:rPr>
              <a:t>for</a:t>
            </a:r>
            <a:r>
              <a:rPr lang="zh-CN" altLang="en-US" sz="2000" b="0" dirty="0">
                <a:solidFill>
                  <a:srgbClr val="0070C0"/>
                </a:solidFill>
                <a:latin typeface="+mj-ea"/>
                <a:ea typeface="+mj-ea"/>
                <a:cs typeface="+mj-cs"/>
              </a:rPr>
              <a:t>循环加</a:t>
            </a:r>
            <a:r>
              <a:rPr lang="en-US" altLang="zh-CN" sz="2000" b="0" dirty="0">
                <a:solidFill>
                  <a:srgbClr val="0070C0"/>
                </a:solidFill>
                <a:latin typeface="+mj-ea"/>
                <a:ea typeface="+mj-ea"/>
                <a:cs typeface="+mj-cs"/>
              </a:rPr>
              <a:t>else</a:t>
            </a:r>
            <a:endParaRPr lang="en-US" altLang="zh-CN" sz="2000" b="0" dirty="0">
              <a:solidFill>
                <a:srgbClr val="0070C0"/>
              </a:solidFill>
              <a:latin typeface="+mj-ea"/>
              <a:ea typeface="+mj-ea"/>
              <a:cs typeface="+mj-cs"/>
            </a:endParaRPr>
          </a:p>
        </p:txBody>
      </p:sp>
      <p:sp>
        <p:nvSpPr>
          <p:cNvPr id="39939" name="AutoShape 3"/>
          <p:cNvSpPr/>
          <p:nvPr/>
        </p:nvSpPr>
        <p:spPr>
          <a:xfrm>
            <a:off x="871538" y="1238330"/>
            <a:ext cx="7702550" cy="2668186"/>
          </a:xfrm>
          <a:prstGeom prst="roundRect">
            <a:avLst>
              <a:gd name="adj" fmla="val 1051"/>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Clr>
                <a:schemeClr val="folHlink"/>
              </a:buClr>
              <a:buSzPct val="60000"/>
              <a:buNone/>
            </a:pPr>
            <a:r>
              <a:rPr lang="zh-CN" altLang="en-US" sz="1600" dirty="0">
                <a:solidFill>
                  <a:srgbClr val="09131F"/>
                </a:solidFill>
                <a:latin typeface="Times New Roman" panose="02020603050405020304" pitchFamily="18" charset="0"/>
                <a:ea typeface="宋体" panose="02010600030101010101" pitchFamily="2" charset="-122"/>
              </a:rPr>
              <a:t>在这里</a:t>
            </a:r>
            <a:r>
              <a:rPr lang="en-US" altLang="zh-CN" sz="1600" dirty="0">
                <a:solidFill>
                  <a:srgbClr val="09131F"/>
                </a:solidFill>
                <a:latin typeface="Times New Roman" panose="02020603050405020304" pitchFamily="18" charset="0"/>
                <a:ea typeface="宋体" panose="02010600030101010101" pitchFamily="2" charset="-122"/>
              </a:rPr>
              <a:t>for</a:t>
            </a:r>
            <a:r>
              <a:rPr lang="zh-CN" altLang="en-US" sz="1600" dirty="0">
                <a:solidFill>
                  <a:srgbClr val="09131F"/>
                </a:solidFill>
                <a:latin typeface="Times New Roman" panose="02020603050405020304" pitchFamily="18" charset="0"/>
                <a:ea typeface="宋体" panose="02010600030101010101" pitchFamily="2" charset="-122"/>
              </a:rPr>
              <a:t>循环和</a:t>
            </a:r>
            <a:r>
              <a:rPr lang="en-US" altLang="zh-CN" sz="1600" dirty="0">
                <a:solidFill>
                  <a:srgbClr val="09131F"/>
                </a:solidFill>
                <a:latin typeface="Times New Roman" panose="02020603050405020304" pitchFamily="18" charset="0"/>
                <a:ea typeface="宋体" panose="02010600030101010101" pitchFamily="2" charset="-122"/>
              </a:rPr>
              <a:t>else </a:t>
            </a:r>
            <a:r>
              <a:rPr lang="zh-CN" altLang="en-US" sz="1600" dirty="0">
                <a:solidFill>
                  <a:srgbClr val="09131F"/>
                </a:solidFill>
                <a:latin typeface="Times New Roman" panose="02020603050405020304" pitchFamily="18" charset="0"/>
                <a:ea typeface="宋体" panose="02010600030101010101" pitchFamily="2" charset="-122"/>
              </a:rPr>
              <a:t>是配合使用</a:t>
            </a:r>
            <a:endParaRPr lang="zh-CN" altLang="en-US"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zh-CN" altLang="en-US" sz="1600" dirty="0">
                <a:solidFill>
                  <a:srgbClr val="09131F"/>
                </a:solidFill>
                <a:latin typeface="Times New Roman" panose="02020603050405020304" pitchFamily="18" charset="0"/>
                <a:ea typeface="宋体" panose="02010600030101010101" pitchFamily="2" charset="-122"/>
              </a:rPr>
              <a:t>                  </a:t>
            </a:r>
            <a:endParaRPr lang="zh-CN" altLang="en-US"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000FF"/>
                </a:solidFill>
                <a:latin typeface="Times New Roman" panose="02020603050405020304" pitchFamily="18" charset="0"/>
                <a:ea typeface="宋体" panose="02010600030101010101" pitchFamily="2" charset="-122"/>
              </a:rPr>
              <a:t>for i in range(100):</a:t>
            </a:r>
            <a:endParaRPr lang="en-US" altLang="x-none" sz="2000" dirty="0">
              <a:solidFill>
                <a:srgbClr val="0000F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9131F"/>
                </a:solidFill>
                <a:latin typeface="Times New Roman" panose="02020603050405020304" pitchFamily="18" charset="0"/>
                <a:ea typeface="宋体" panose="02010600030101010101" pitchFamily="2" charset="-122"/>
              </a:rPr>
              <a:t>      </a:t>
            </a:r>
            <a:r>
              <a:rPr lang="zh-CN" altLang="en-US" sz="2000" dirty="0">
                <a:solidFill>
                  <a:srgbClr val="09131F"/>
                </a:solidFill>
                <a:latin typeface="Times New Roman" panose="02020603050405020304" pitchFamily="18" charset="0"/>
                <a:ea typeface="宋体" panose="02010600030101010101" pitchFamily="2" charset="-122"/>
              </a:rPr>
              <a:t>代码</a:t>
            </a:r>
            <a:r>
              <a:rPr lang="en-US" altLang="zh-CN" sz="2000" dirty="0">
                <a:solidFill>
                  <a:srgbClr val="09131F"/>
                </a:solidFill>
                <a:latin typeface="Times New Roman" panose="02020603050405020304" pitchFamily="18" charset="0"/>
                <a:ea typeface="宋体" panose="02010600030101010101" pitchFamily="2" charset="-122"/>
              </a:rPr>
              <a:t>1</a:t>
            </a:r>
            <a:endParaRPr lang="en-US" altLang="x-none" sz="20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9131F"/>
                </a:solidFill>
                <a:latin typeface="Times New Roman" panose="02020603050405020304" pitchFamily="18" charset="0"/>
                <a:ea typeface="宋体" panose="02010600030101010101" pitchFamily="2" charset="-122"/>
              </a:rPr>
              <a:t>else:</a:t>
            </a:r>
            <a:endParaRPr lang="en-US" altLang="x-none" sz="20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Clr>
                <a:schemeClr val="folHlink"/>
              </a:buClr>
              <a:buSzPct val="60000"/>
              <a:buNone/>
            </a:pPr>
            <a:r>
              <a:rPr lang="en-US" altLang="x-none" sz="2000" dirty="0">
                <a:solidFill>
                  <a:srgbClr val="09131F"/>
                </a:solidFill>
                <a:latin typeface="Times New Roman" panose="02020603050405020304" pitchFamily="18" charset="0"/>
                <a:ea typeface="宋体" panose="02010600030101010101" pitchFamily="2" charset="-122"/>
              </a:rPr>
              <a:t>      </a:t>
            </a:r>
            <a:r>
              <a:rPr lang="zh-CN" altLang="en-US" sz="2000" dirty="0">
                <a:solidFill>
                  <a:srgbClr val="09131F"/>
                </a:solidFill>
                <a:latin typeface="Times New Roman" panose="02020603050405020304" pitchFamily="18" charset="0"/>
                <a:ea typeface="宋体" panose="02010600030101010101" pitchFamily="2" charset="-122"/>
              </a:rPr>
              <a:t>代码</a:t>
            </a:r>
            <a:r>
              <a:rPr lang="en-US" altLang="zh-CN" sz="2000" dirty="0">
                <a:solidFill>
                  <a:srgbClr val="09131F"/>
                </a:solidFill>
                <a:latin typeface="Times New Roman" panose="02020603050405020304" pitchFamily="18" charset="0"/>
                <a:ea typeface="宋体" panose="02010600030101010101" pitchFamily="2" charset="-122"/>
              </a:rPr>
              <a:t>2</a:t>
            </a:r>
            <a:r>
              <a:rPr lang="en-US" altLang="x-none" sz="2000" dirty="0">
                <a:solidFill>
                  <a:srgbClr val="09131F"/>
                </a:solidFill>
                <a:latin typeface="Times New Roman" panose="02020603050405020304" pitchFamily="18" charset="0"/>
                <a:ea typeface="宋体" panose="02010600030101010101" pitchFamily="2" charset="-122"/>
              </a:rPr>
              <a:t>	</a:t>
            </a:r>
            <a:endParaRPr lang="en-US" altLang="x-none" sz="1600" dirty="0">
              <a:solidFill>
                <a:schemeClr val="tx1">
                  <a:lumMod val="65000"/>
                  <a:lumOff val="35000"/>
                </a:schemeClr>
              </a:solidFill>
              <a:latin typeface="+mn-ea"/>
              <a:ea typeface="+mn-ea"/>
            </a:endParaRPr>
          </a:p>
          <a:p>
            <a:pPr algn="l" defTabSz="914400">
              <a:lnSpc>
                <a:spcPct val="130000"/>
              </a:lnSpc>
              <a:buClr>
                <a:schemeClr val="folHlink"/>
              </a:buClr>
              <a:buSzPct val="60000"/>
              <a:buNone/>
            </a:pPr>
            <a:endParaRPr lang="en-US" altLang="x-none" sz="1600" dirty="0">
              <a:solidFill>
                <a:srgbClr val="09131F"/>
              </a:solidFill>
              <a:latin typeface="Times New Roman" panose="02020603050405020304" pitchFamily="18" charset="0"/>
              <a:ea typeface="宋体" panose="02010600030101010101" pitchFamily="2" charset="-122"/>
            </a:endParaRPr>
          </a:p>
        </p:txBody>
      </p:sp>
      <p:sp>
        <p:nvSpPr>
          <p:cNvPr id="39941" name="AutoShape 5"/>
          <p:cNvSpPr/>
          <p:nvPr/>
        </p:nvSpPr>
        <p:spPr>
          <a:xfrm flipH="1">
            <a:off x="3580657" y="1623553"/>
            <a:ext cx="2165985" cy="646699"/>
          </a:xfrm>
          <a:prstGeom prst="wedgeRoundRectCallout">
            <a:avLst>
              <a:gd name="adj1" fmla="val -50565"/>
              <a:gd name="adj2" fmla="val 23509"/>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square" anchor="b">
            <a:spAutoFit/>
          </a:bodyPr>
          <a:lstStyle/>
          <a:p>
            <a:pPr defTabSz="914400" eaLnBrk="0" hangingPunct="0">
              <a:buClr>
                <a:srgbClr val="233DA9"/>
              </a:buClr>
              <a:buSzPct val="80000"/>
              <a:buNone/>
            </a:pPr>
            <a:r>
              <a:rPr lang="en-US" altLang="zh-CN" sz="1600" dirty="0">
                <a:solidFill>
                  <a:schemeClr val="bg1"/>
                </a:solidFill>
                <a:latin typeface="+mn-ea"/>
                <a:ea typeface="+mn-ea"/>
              </a:rPr>
              <a:t>range </a:t>
            </a:r>
            <a:r>
              <a:rPr lang="zh-CN" altLang="en-US" sz="1600" dirty="0">
                <a:solidFill>
                  <a:schemeClr val="bg1"/>
                </a:solidFill>
                <a:latin typeface="+mn-ea"/>
                <a:ea typeface="+mn-ea"/>
              </a:rPr>
              <a:t>是范围的意思区间在</a:t>
            </a:r>
            <a:r>
              <a:rPr lang="en-US" altLang="zh-CN" sz="1600" dirty="0">
                <a:solidFill>
                  <a:schemeClr val="bg1"/>
                </a:solidFill>
                <a:latin typeface="+mn-ea"/>
                <a:ea typeface="+mn-ea"/>
              </a:rPr>
              <a:t>0-99</a:t>
            </a:r>
            <a:endParaRPr lang="zh-CN" altLang="en-US" sz="1600" dirty="0">
              <a:solidFill>
                <a:schemeClr val="bg1"/>
              </a:solidFill>
              <a:latin typeface="+mn-ea"/>
              <a:ea typeface="+mn-ea"/>
            </a:endParaRPr>
          </a:p>
        </p:txBody>
      </p:sp>
      <p:sp>
        <p:nvSpPr>
          <p:cNvPr id="39942" name="AutoShape 6"/>
          <p:cNvSpPr/>
          <p:nvPr/>
        </p:nvSpPr>
        <p:spPr>
          <a:xfrm>
            <a:off x="2610485" y="3719684"/>
            <a:ext cx="2980338" cy="373663"/>
          </a:xfrm>
          <a:prstGeom prst="wedgeRoundRectCallout">
            <a:avLst>
              <a:gd name="adj1" fmla="val -22148"/>
              <a:gd name="adj2" fmla="val -52477"/>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b">
            <a:spAutoFit/>
          </a:bodyPr>
          <a:lstStyle/>
          <a:p>
            <a:pPr defTabSz="914400" eaLnBrk="0" hangingPunct="0">
              <a:buClr>
                <a:srgbClr val="233DA9"/>
              </a:buClr>
              <a:buSzPct val="80000"/>
              <a:buNone/>
            </a:pPr>
            <a:r>
              <a:rPr lang="zh-CN" altLang="en-US" sz="1600" dirty="0">
                <a:solidFill>
                  <a:schemeClr val="bg1"/>
                </a:solidFill>
                <a:latin typeface="+mn-ea"/>
                <a:ea typeface="+mn-ea"/>
              </a:rPr>
              <a:t>循环正常结束后执行语句代码</a:t>
            </a:r>
            <a:r>
              <a:rPr lang="en-US" altLang="zh-CN" sz="1600" dirty="0">
                <a:solidFill>
                  <a:schemeClr val="bg1"/>
                </a:solidFill>
                <a:latin typeface="+mn-ea"/>
                <a:ea typeface="+mn-ea"/>
              </a:rPr>
              <a:t>2</a:t>
            </a:r>
            <a:endParaRPr lang="en-US" altLang="zh-CN" sz="1600" dirty="0">
              <a:solidFill>
                <a:schemeClr val="bg1"/>
              </a:solidFill>
              <a:latin typeface="+mn-ea"/>
              <a:ea typeface="+mn-ea"/>
            </a:endParaRPr>
          </a:p>
        </p:txBody>
      </p:sp>
      <p:pic>
        <p:nvPicPr>
          <p:cNvPr id="39943" name="直接箭头连接符 6"/>
          <p:cNvPicPr>
            <a:picLocks noGrp="1" noChangeAspect="1"/>
          </p:cNvPicPr>
          <p:nvPr/>
        </p:nvPicPr>
        <p:blipFill>
          <a:blip r:embed="rId1" cstate="print"/>
          <a:stretch>
            <a:fillRect/>
          </a:stretch>
        </p:blipFill>
        <p:spPr>
          <a:xfrm>
            <a:off x="2900047" y="1846261"/>
            <a:ext cx="663842" cy="403861"/>
          </a:xfrm>
          <a:prstGeom prst="rect">
            <a:avLst/>
          </a:prstGeom>
          <a:noFill/>
          <a:ln w="9525">
            <a:noFill/>
          </a:ln>
        </p:spPr>
      </p:pic>
      <p:pic>
        <p:nvPicPr>
          <p:cNvPr id="39944" name="直接箭头连接符 7"/>
          <p:cNvPicPr>
            <a:picLocks noGrp="1" noChangeAspect="1"/>
          </p:cNvPicPr>
          <p:nvPr/>
        </p:nvPicPr>
        <p:blipFill>
          <a:blip r:embed="rId2" cstate="print"/>
          <a:stretch>
            <a:fillRect/>
          </a:stretch>
        </p:blipFill>
        <p:spPr>
          <a:xfrm>
            <a:off x="1951355" y="3261360"/>
            <a:ext cx="659130" cy="645160"/>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wipe(left)">
                                      <p:cBhvr>
                                        <p:cTn id="7" dur="500"/>
                                        <p:tgtEl>
                                          <p:spTgt spid="39939"/>
                                        </p:tgtEl>
                                      </p:cBhvr>
                                    </p:animEffect>
                                  </p:childTnLst>
                                </p:cTn>
                              </p:par>
                              <p:par>
                                <p:cTn id="8" presetID="22" presetClass="entr" presetSubtype="4" fill="hold" nodeType="withEffect">
                                  <p:stCondLst>
                                    <p:cond delay="0"/>
                                  </p:stCondLst>
                                  <p:childTnLst>
                                    <p:set>
                                      <p:cBhvr>
                                        <p:cTn id="9" dur="1" fill="hold">
                                          <p:stCondLst>
                                            <p:cond delay="0"/>
                                          </p:stCondLst>
                                        </p:cTn>
                                        <p:tgtEl>
                                          <p:spTgt spid="39943"/>
                                        </p:tgtEl>
                                        <p:attrNameLst>
                                          <p:attrName>style.visibility</p:attrName>
                                        </p:attrNameLst>
                                      </p:cBhvr>
                                      <p:to>
                                        <p:strVal val="visible"/>
                                      </p:to>
                                    </p:set>
                                    <p:animEffect transition="in" filter="wipe(down)">
                                      <p:cBhvr>
                                        <p:cTn id="10" dur="500"/>
                                        <p:tgtEl>
                                          <p:spTgt spid="3994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39941"/>
                                        </p:tgtEl>
                                        <p:attrNameLst>
                                          <p:attrName>style.visibility</p:attrName>
                                        </p:attrNameLst>
                                      </p:cBhvr>
                                      <p:to>
                                        <p:strVal val="visible"/>
                                      </p:to>
                                    </p:set>
                                    <p:animEffect transition="in" filter="wipe(left)">
                                      <p:cBhvr>
                                        <p:cTn id="14" dur="500"/>
                                        <p:tgtEl>
                                          <p:spTgt spid="39941"/>
                                        </p:tgtEl>
                                      </p:cBhvr>
                                    </p:animEffect>
                                  </p:childTnLst>
                                </p:cTn>
                              </p:par>
                              <p:par>
                                <p:cTn id="15" presetID="22" presetClass="entr" presetSubtype="1" fill="hold" nodeType="withEffect">
                                  <p:stCondLst>
                                    <p:cond delay="0"/>
                                  </p:stCondLst>
                                  <p:childTnLst>
                                    <p:set>
                                      <p:cBhvr>
                                        <p:cTn id="16" dur="1" fill="hold">
                                          <p:stCondLst>
                                            <p:cond delay="0"/>
                                          </p:stCondLst>
                                        </p:cTn>
                                        <p:tgtEl>
                                          <p:spTgt spid="39944"/>
                                        </p:tgtEl>
                                        <p:attrNameLst>
                                          <p:attrName>style.visibility</p:attrName>
                                        </p:attrNameLst>
                                      </p:cBhvr>
                                      <p:to>
                                        <p:strVal val="visible"/>
                                      </p:to>
                                    </p:set>
                                    <p:animEffect transition="in" filter="wipe(up)">
                                      <p:cBhvr>
                                        <p:cTn id="17" dur="500"/>
                                        <p:tgtEl>
                                          <p:spTgt spid="39944"/>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39942"/>
                                        </p:tgtEl>
                                        <p:attrNameLst>
                                          <p:attrName>style.visibility</p:attrName>
                                        </p:attrNameLst>
                                      </p:cBhvr>
                                      <p:to>
                                        <p:strVal val="visible"/>
                                      </p:to>
                                    </p:set>
                                    <p:animEffect transition="in" filter="wipe(left)">
                                      <p:cBhvr>
                                        <p:cTn id="21"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ldLvl="0" animBg="1"/>
      <p:bldP spid="39941" grpId="0" bldLvl="0" animBg="1"/>
      <p:bldP spid="39942"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txBox="1"/>
          <p:nvPr/>
        </p:nvSpPr>
        <p:spPr>
          <a:xfrm>
            <a:off x="735330" y="923925"/>
            <a:ext cx="7966104" cy="567705"/>
          </a:xfrm>
          <a:prstGeom prst="rect">
            <a:avLst/>
          </a:prstGeom>
          <a:noFill/>
          <a:ln w="9525">
            <a:noFill/>
          </a:ln>
        </p:spPr>
        <p:txBody>
          <a:bodyPr anchor="t"/>
          <a:lstStyle/>
          <a:p>
            <a:pPr algn="l"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break：用于while中，可跳出循环而执行循环后面的语句</a:t>
            </a:r>
            <a:endParaRPr lang="zh-CN" altLang="en-US" sz="2000" b="0" dirty="0">
              <a:solidFill>
                <a:schemeClr val="tx1">
                  <a:lumMod val="75000"/>
                  <a:lumOff val="25000"/>
                </a:schemeClr>
              </a:solidFill>
              <a:latin typeface="+mn-ea"/>
              <a:ea typeface="+mn-ea"/>
            </a:endParaRPr>
          </a:p>
        </p:txBody>
      </p:sp>
      <p:sp>
        <p:nvSpPr>
          <p:cNvPr id="51204" name="AutoShape 4"/>
          <p:cNvSpPr/>
          <p:nvPr/>
        </p:nvSpPr>
        <p:spPr>
          <a:xfrm>
            <a:off x="1136650" y="1779662"/>
            <a:ext cx="6675438" cy="2977051"/>
          </a:xfrm>
          <a:prstGeom prst="roundRect">
            <a:avLst>
              <a:gd name="adj" fmla="val 338"/>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None/>
            </a:pPr>
            <a:r>
              <a:rPr lang="en-US" altLang="x-none" sz="1600" dirty="0">
                <a:solidFill>
                  <a:srgbClr val="0000FF"/>
                </a:solidFill>
                <a:latin typeface="Times New Roman" panose="02020603050405020304" pitchFamily="18" charset="0"/>
                <a:ea typeface="宋体" panose="02010600030101010101" pitchFamily="2" charset="-122"/>
              </a:rPr>
              <a:t>while </a:t>
            </a:r>
            <a:r>
              <a:rPr lang="en-US" altLang="x-none" sz="1600" dirty="0">
                <a:solidFill>
                  <a:srgbClr val="09131F"/>
                </a:solidFill>
                <a:latin typeface="Times New Roman" panose="02020603050405020304" pitchFamily="18" charset="0"/>
                <a:ea typeface="宋体" panose="02010600030101010101" pitchFamily="2" charset="-122"/>
              </a:rPr>
              <a:t>… </a:t>
            </a:r>
            <a:r>
              <a:rPr lang="zh-CN" altLang="en-US" sz="1600" dirty="0">
                <a:solidFill>
                  <a:srgbClr val="09131F"/>
                </a:solidFill>
                <a:latin typeface="Times New Roman" panose="02020603050405020304" pitchFamily="18" charset="0"/>
                <a:ea typeface="宋体" panose="02010600030101010101" pitchFamily="2" charset="-122"/>
              </a:rPr>
              <a:t>：</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r>
              <a:rPr lang="en-US" altLang="x-none" sz="1600" dirty="0">
                <a:solidFill>
                  <a:srgbClr val="0000FF"/>
                </a:solidFill>
                <a:latin typeface="Times New Roman" panose="02020603050405020304" pitchFamily="18" charset="0"/>
                <a:ea typeface="宋体" panose="02010600030101010101" pitchFamily="2" charset="-122"/>
              </a:rPr>
              <a:t>break</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600" dirty="0">
                <a:solidFill>
                  <a:srgbClr val="09131F"/>
                </a:solidFill>
                <a:latin typeface="Times New Roman" panose="02020603050405020304" pitchFamily="18" charset="0"/>
                <a:ea typeface="宋体" panose="02010600030101010101" pitchFamily="2" charset="-122"/>
              </a:rPr>
              <a:t>     ……</a:t>
            </a:r>
            <a:endParaRPr lang="en-US" altLang="x-none" sz="16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endParaRPr lang="en-US" altLang="x-none" sz="1600" dirty="0">
              <a:solidFill>
                <a:srgbClr val="09131F"/>
              </a:solidFill>
              <a:latin typeface="Times New Roman" panose="02020603050405020304" pitchFamily="18" charset="0"/>
              <a:ea typeface="宋体" panose="02010600030101010101" pitchFamily="2" charset="-122"/>
            </a:endParaRPr>
          </a:p>
        </p:txBody>
      </p:sp>
      <p:grpSp>
        <p:nvGrpSpPr>
          <p:cNvPr id="2" name="Group 5"/>
          <p:cNvGrpSpPr/>
          <p:nvPr/>
        </p:nvGrpSpPr>
        <p:grpSpPr>
          <a:xfrm>
            <a:off x="1170716" y="3241432"/>
            <a:ext cx="2138014" cy="1672064"/>
            <a:chOff x="-3" y="0"/>
            <a:chExt cx="1725" cy="1782"/>
          </a:xfrm>
        </p:grpSpPr>
        <p:grpSp>
          <p:nvGrpSpPr>
            <p:cNvPr id="3" name="Group 6"/>
            <p:cNvGrpSpPr/>
            <p:nvPr/>
          </p:nvGrpSpPr>
          <p:grpSpPr>
            <a:xfrm>
              <a:off x="853" y="0"/>
              <a:ext cx="869" cy="1511"/>
              <a:chOff x="-185" y="0"/>
              <a:chExt cx="869" cy="1511"/>
            </a:xfrm>
          </p:grpSpPr>
          <p:sp>
            <p:nvSpPr>
              <p:cNvPr id="51207" name="Line 7"/>
              <p:cNvSpPr/>
              <p:nvPr/>
            </p:nvSpPr>
            <p:spPr>
              <a:xfrm flipV="1">
                <a:off x="-185" y="0"/>
                <a:ext cx="866" cy="1"/>
              </a:xfrm>
              <a:prstGeom prst="line">
                <a:avLst/>
              </a:prstGeom>
              <a:ln w="28575" cap="flat" cmpd="sng">
                <a:solidFill>
                  <a:srgbClr val="C00000"/>
                </a:solidFill>
                <a:prstDash val="solid"/>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51208" name="Line 8"/>
              <p:cNvSpPr/>
              <p:nvPr/>
            </p:nvSpPr>
            <p:spPr>
              <a:xfrm>
                <a:off x="683" y="0"/>
                <a:ext cx="1" cy="1511"/>
              </a:xfrm>
              <a:prstGeom prst="line">
                <a:avLst/>
              </a:prstGeom>
              <a:ln w="28575" cap="flat" cmpd="sng">
                <a:solidFill>
                  <a:srgbClr val="C00000"/>
                </a:solidFill>
                <a:prstDash val="solid"/>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sp>
          <p:nvSpPr>
            <p:cNvPr id="51209" name="Line 9"/>
            <p:cNvSpPr/>
            <p:nvPr/>
          </p:nvSpPr>
          <p:spPr>
            <a:xfrm flipH="1">
              <a:off x="-3" y="1510"/>
              <a:ext cx="1724" cy="0"/>
            </a:xfrm>
            <a:prstGeom prst="line">
              <a:avLst/>
            </a:prstGeom>
            <a:ln w="28575" cap="flat" cmpd="sng">
              <a:solidFill>
                <a:srgbClr val="C00000"/>
              </a:solidFill>
              <a:prstDash val="solid"/>
              <a:headEnd type="none" w="med" len="med"/>
              <a:tailEnd type="non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sp>
          <p:nvSpPr>
            <p:cNvPr id="51210" name="Line 10"/>
            <p:cNvSpPr/>
            <p:nvPr/>
          </p:nvSpPr>
          <p:spPr>
            <a:xfrm>
              <a:off x="-3" y="1510"/>
              <a:ext cx="0" cy="272"/>
            </a:xfrm>
            <a:prstGeom prst="line">
              <a:avLst/>
            </a:prstGeom>
            <a:ln w="28575" cap="flat" cmpd="sng">
              <a:solidFill>
                <a:srgbClr val="C00000"/>
              </a:solidFill>
              <a:prstDash val="solid"/>
              <a:headEnd type="none" w="med" len="med"/>
              <a:tailEnd type="triangle" w="med" len="med"/>
            </a:ln>
          </p:spPr>
          <p:txBody>
            <a:bodyPr anchor="t"/>
            <a:lstStyle/>
            <a:p>
              <a:endParaRPr lang="zh-CN" altLang="en-US" dirty="0">
                <a:latin typeface="Times New Roman" panose="02020603050405020304" pitchFamily="18" charset="0"/>
                <a:ea typeface="宋体" panose="02010600030101010101" pitchFamily="2" charset="-122"/>
              </a:endParaRPr>
            </a:p>
          </p:txBody>
        </p:sp>
      </p:grpSp>
      <p:sp>
        <p:nvSpPr>
          <p:cNvPr id="51211" name="Text Box 11"/>
          <p:cNvSpPr txBox="1"/>
          <p:nvPr/>
        </p:nvSpPr>
        <p:spPr>
          <a:xfrm>
            <a:off x="3641687" y="3241194"/>
            <a:ext cx="430887" cy="1350169"/>
          </a:xfrm>
          <a:prstGeom prst="rect">
            <a:avLst/>
          </a:prstGeom>
          <a:noFill/>
          <a:ln w="9525">
            <a:noFill/>
          </a:ln>
        </p:spPr>
        <p:txBody>
          <a:bodyPr vert="eaVert" anchor="t">
            <a:spAutoFit/>
          </a:bodyPr>
          <a:lstStyle/>
          <a:p>
            <a:pPr>
              <a:spcBef>
                <a:spcPct val="50000"/>
              </a:spcBef>
              <a:buNone/>
            </a:pPr>
            <a:r>
              <a:rPr lang="zh-CN" altLang="en-US" sz="1600" dirty="0">
                <a:latin typeface="Times New Roman" panose="02020603050405020304" pitchFamily="18" charset="0"/>
                <a:ea typeface="黑体" panose="02010609060101010101" pitchFamily="2" charset="-122"/>
              </a:rPr>
              <a:t>跳出整个循环</a:t>
            </a:r>
            <a:endParaRPr lang="zh-CN" altLang="en-US" sz="1600" dirty="0">
              <a:latin typeface="Times New Roman" panose="02020603050405020304" pitchFamily="18" charset="0"/>
              <a:ea typeface="黑体" panose="02010609060101010101" pitchFamily="2" charset="-122"/>
            </a:endParaRPr>
          </a:p>
        </p:txBody>
      </p:sp>
      <p:sp>
        <p:nvSpPr>
          <p:cNvPr id="51212" name="AutoShape 12"/>
          <p:cNvSpPr/>
          <p:nvPr/>
        </p:nvSpPr>
        <p:spPr>
          <a:xfrm>
            <a:off x="4571545" y="1864699"/>
            <a:ext cx="2090261" cy="646986"/>
          </a:xfrm>
          <a:prstGeom prst="wedgeRoundRectCallout">
            <a:avLst>
              <a:gd name="adj1" fmla="val -23046"/>
              <a:gd name="adj2" fmla="val 50171"/>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b">
            <a:spAutoFit/>
          </a:bodyPr>
          <a:lstStyle/>
          <a:p>
            <a:pPr defTabSz="914400" eaLnBrk="0" hangingPunct="0">
              <a:buClr>
                <a:srgbClr val="233DA9"/>
              </a:buClr>
              <a:buSzPct val="80000"/>
              <a:buNone/>
            </a:pPr>
            <a:r>
              <a:rPr lang="zh-CN" altLang="en-US" sz="1600" dirty="0">
                <a:solidFill>
                  <a:schemeClr val="bg1"/>
                </a:solidFill>
                <a:latin typeface="+mn-ea"/>
                <a:ea typeface="+mn-ea"/>
              </a:rPr>
              <a:t>break通常在循环中</a:t>
            </a:r>
            <a:endParaRPr lang="zh-CN" altLang="en-US" sz="1600" dirty="0">
              <a:solidFill>
                <a:schemeClr val="bg1"/>
              </a:solidFill>
              <a:latin typeface="+mn-ea"/>
              <a:ea typeface="+mn-ea"/>
            </a:endParaRPr>
          </a:p>
          <a:p>
            <a:pPr defTabSz="914400" eaLnBrk="0" hangingPunct="0">
              <a:buClr>
                <a:srgbClr val="233DA9"/>
              </a:buClr>
              <a:buSzPct val="80000"/>
              <a:buNone/>
            </a:pPr>
            <a:r>
              <a:rPr lang="zh-CN" altLang="en-US" sz="1600" dirty="0">
                <a:solidFill>
                  <a:schemeClr val="bg1"/>
                </a:solidFill>
                <a:latin typeface="+mn-ea"/>
                <a:ea typeface="+mn-ea"/>
              </a:rPr>
              <a:t>与条件语句一起使用</a:t>
            </a:r>
            <a:endParaRPr lang="zh-CN" altLang="en-US" sz="1600" dirty="0">
              <a:solidFill>
                <a:schemeClr val="bg1"/>
              </a:solidFill>
              <a:latin typeface="+mn-ea"/>
              <a:ea typeface="+mn-ea"/>
            </a:endParaRPr>
          </a:p>
        </p:txBody>
      </p:sp>
      <p:pic>
        <p:nvPicPr>
          <p:cNvPr id="51213" name="直接箭头连接符 12"/>
          <p:cNvPicPr>
            <a:picLocks noGrp="1" noChangeAspect="1"/>
          </p:cNvPicPr>
          <p:nvPr/>
        </p:nvPicPr>
        <p:blipFill>
          <a:blip r:embed="rId1" cstate="print"/>
          <a:stretch>
            <a:fillRect/>
          </a:stretch>
        </p:blipFill>
        <p:spPr>
          <a:xfrm>
            <a:off x="4072891" y="2586667"/>
            <a:ext cx="1027113" cy="495300"/>
          </a:xfrm>
          <a:prstGeom prst="rect">
            <a:avLst/>
          </a:prstGeom>
          <a:noFill/>
          <a:ln w="9525">
            <a:noFill/>
          </a:ln>
        </p:spPr>
      </p:pic>
      <p:sp>
        <p:nvSpPr>
          <p:cNvPr id="4" name="Rectangle 12"/>
          <p:cNvSpPr txBox="1"/>
          <p:nvPr/>
        </p:nvSpPr>
        <p:spPr>
          <a:xfrm>
            <a:off x="4138295" y="130810"/>
            <a:ext cx="4826635" cy="401320"/>
          </a:xfrm>
          <a:prstGeom prst="rect">
            <a:avLst/>
          </a:prstGeom>
          <a:noFill/>
          <a:ln w="9525">
            <a:noFill/>
          </a:ln>
        </p:spPr>
        <p:txBody>
          <a:bodyPr anchor="t"/>
          <a:lstStyle/>
          <a:p>
            <a:pPr algn="r" eaLnBrk="0" hangingPunct="0"/>
            <a:r>
              <a:rPr lang="zh-CN" altLang="en-US" sz="2000" dirty="0">
                <a:solidFill>
                  <a:srgbClr val="0070C0"/>
                </a:solidFill>
                <a:latin typeface="+mj-ea"/>
                <a:ea typeface="+mj-ea"/>
                <a:cs typeface="+mj-cs"/>
              </a:rPr>
              <a:t>如何使用</a:t>
            </a:r>
            <a:r>
              <a:rPr lang="en-US" altLang="zh-CN" sz="2000" dirty="0" err="1">
                <a:solidFill>
                  <a:srgbClr val="0070C0"/>
                </a:solidFill>
                <a:latin typeface="+mj-ea"/>
                <a:ea typeface="+mj-ea"/>
                <a:cs typeface="+mj-cs"/>
              </a:rPr>
              <a:t>while</a:t>
            </a:r>
            <a:r>
              <a:rPr lang="en-US" altLang="zh-CN" sz="2000" b="0" dirty="0" err="1">
                <a:solidFill>
                  <a:srgbClr val="0070C0"/>
                </a:solidFill>
                <a:latin typeface="+mj-ea"/>
                <a:ea typeface="+mj-ea"/>
                <a:cs typeface="+mj-cs"/>
              </a:rPr>
              <a:t>循环中的break</a:t>
            </a:r>
            <a:endParaRPr lang="en-US" altLang="zh-CN" sz="2000" b="0" dirty="0">
              <a:solidFill>
                <a:srgbClr val="0070C0"/>
              </a:solidFill>
              <a:latin typeface="+mj-ea"/>
              <a:ea typeface="+mj-ea"/>
              <a:cs typeface="+mj-cs"/>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wipe(left)">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4"/>
                                        </p:tgtEl>
                                        <p:attrNameLst>
                                          <p:attrName>style.visibility</p:attrName>
                                        </p:attrNameLst>
                                      </p:cBhvr>
                                      <p:to>
                                        <p:strVal val="visible"/>
                                      </p:to>
                                    </p:set>
                                    <p:animEffect transition="in" filter="wipe(left)">
                                      <p:cBhvr>
                                        <p:cTn id="12" dur="500"/>
                                        <p:tgtEl>
                                          <p:spTgt spid="51204"/>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1211"/>
                                        </p:tgtEl>
                                        <p:attrNameLst>
                                          <p:attrName>style.visibility</p:attrName>
                                        </p:attrNameLst>
                                      </p:cBhvr>
                                      <p:to>
                                        <p:strVal val="visible"/>
                                      </p:to>
                                    </p:set>
                                    <p:animEffect transition="in" filter="wipe(left)">
                                      <p:cBhvr>
                                        <p:cTn id="19" dur="500"/>
                                        <p:tgtEl>
                                          <p:spTgt spid="51211"/>
                                        </p:tgtEl>
                                      </p:cBhvr>
                                    </p:animEffect>
                                  </p:childTnLst>
                                </p:cTn>
                              </p:par>
                            </p:childTnLst>
                          </p:cTn>
                        </p:par>
                        <p:par>
                          <p:cTn id="20" fill="hold">
                            <p:stCondLst>
                              <p:cond delay="1000"/>
                            </p:stCondLst>
                            <p:childTnLst>
                              <p:par>
                                <p:cTn id="21" presetID="22" presetClass="entr" presetSubtype="8" fill="hold" grpId="0" nodeType="afterEffect">
                                  <p:stCondLst>
                                    <p:cond delay="0"/>
                                  </p:stCondLst>
                                  <p:childTnLst>
                                    <p:set>
                                      <p:cBhvr>
                                        <p:cTn id="22" dur="1" fill="hold">
                                          <p:stCondLst>
                                            <p:cond delay="0"/>
                                          </p:stCondLst>
                                        </p:cTn>
                                        <p:tgtEl>
                                          <p:spTgt spid="51212"/>
                                        </p:tgtEl>
                                        <p:attrNameLst>
                                          <p:attrName>style.visibility</p:attrName>
                                        </p:attrNameLst>
                                      </p:cBhvr>
                                      <p:to>
                                        <p:strVal val="visible"/>
                                      </p:to>
                                    </p:set>
                                    <p:animEffect transition="in" filter="wipe(left)">
                                      <p:cBhvr>
                                        <p:cTn id="23" dur="500"/>
                                        <p:tgtEl>
                                          <p:spTgt spid="51212"/>
                                        </p:tgtEl>
                                      </p:cBhvr>
                                    </p:animEffect>
                                  </p:childTnLst>
                                </p:cTn>
                              </p:par>
                              <p:par>
                                <p:cTn id="24" presetID="22" presetClass="entr" presetSubtype="1" fill="hold" nodeType="withEffect">
                                  <p:stCondLst>
                                    <p:cond delay="0"/>
                                  </p:stCondLst>
                                  <p:childTnLst>
                                    <p:set>
                                      <p:cBhvr>
                                        <p:cTn id="25" dur="1" fill="hold">
                                          <p:stCondLst>
                                            <p:cond delay="0"/>
                                          </p:stCondLst>
                                        </p:cTn>
                                        <p:tgtEl>
                                          <p:spTgt spid="51213"/>
                                        </p:tgtEl>
                                        <p:attrNameLst>
                                          <p:attrName>style.visibility</p:attrName>
                                        </p:attrNameLst>
                                      </p:cBhvr>
                                      <p:to>
                                        <p:strVal val="visible"/>
                                      </p:to>
                                    </p:set>
                                    <p:animEffect transition="in" filter="wipe(up)">
                                      <p:cBhvr>
                                        <p:cTn id="26" dur="500"/>
                                        <p:tgtEl>
                                          <p:spTgt spid="51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bldLvl="0" animBg="1"/>
      <p:bldP spid="51211" grpId="0"/>
      <p:bldP spid="5121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2"/>
          <p:cNvSpPr txBox="1"/>
          <p:nvPr/>
        </p:nvSpPr>
        <p:spPr>
          <a:xfrm>
            <a:off x="4138295" y="130810"/>
            <a:ext cx="4826635" cy="401320"/>
          </a:xfrm>
          <a:prstGeom prst="rect">
            <a:avLst/>
          </a:prstGeom>
          <a:noFill/>
          <a:ln w="9525">
            <a:noFill/>
          </a:ln>
        </p:spPr>
        <p:txBody>
          <a:bodyPr anchor="t"/>
          <a:lstStyle/>
          <a:p>
            <a:pPr algn="r" eaLnBrk="0" hangingPunct="0"/>
            <a:r>
              <a:rPr lang="zh-CN" altLang="en-US" sz="2000" dirty="0">
                <a:solidFill>
                  <a:srgbClr val="0070C0"/>
                </a:solidFill>
                <a:latin typeface="+mj-ea"/>
                <a:ea typeface="+mj-ea"/>
                <a:cs typeface="+mj-cs"/>
              </a:rPr>
              <a:t>如何使用</a:t>
            </a:r>
            <a:r>
              <a:rPr lang="en-US" altLang="zh-CN" sz="2000" dirty="0" err="1">
                <a:solidFill>
                  <a:srgbClr val="0070C0"/>
                </a:solidFill>
                <a:latin typeface="+mj-ea"/>
                <a:ea typeface="+mj-ea"/>
                <a:cs typeface="+mj-cs"/>
              </a:rPr>
              <a:t>for</a:t>
            </a:r>
            <a:r>
              <a:rPr lang="en-US" altLang="zh-CN" sz="2000" b="0" dirty="0" err="1">
                <a:solidFill>
                  <a:srgbClr val="0070C0"/>
                </a:solidFill>
                <a:latin typeface="+mj-ea"/>
                <a:ea typeface="+mj-ea"/>
                <a:cs typeface="+mj-cs"/>
              </a:rPr>
              <a:t>循环中的break</a:t>
            </a:r>
            <a:endParaRPr lang="en-US" altLang="zh-CN" sz="2000" b="0" dirty="0">
              <a:solidFill>
                <a:srgbClr val="0070C0"/>
              </a:solidFill>
              <a:latin typeface="+mj-ea"/>
              <a:ea typeface="+mj-ea"/>
              <a:cs typeface="+mj-cs"/>
            </a:endParaRPr>
          </a:p>
        </p:txBody>
      </p:sp>
      <p:sp>
        <p:nvSpPr>
          <p:cNvPr id="50180" name="AutoShape 4"/>
          <p:cNvSpPr/>
          <p:nvPr/>
        </p:nvSpPr>
        <p:spPr>
          <a:xfrm>
            <a:off x="1403985" y="4650502"/>
            <a:ext cx="3702050" cy="304800"/>
          </a:xfrm>
          <a:prstGeom prst="roundRect">
            <a:avLst>
              <a:gd name="adj" fmla="val 16667"/>
            </a:avLst>
          </a:prstGeom>
          <a:solidFill>
            <a:srgbClr val="E4FCE4"/>
          </a:solidFill>
          <a:ln w="19050" cap="flat" cmpd="sng">
            <a:solidFill>
              <a:srgbClr val="00B0F0"/>
            </a:solidFill>
            <a:prstDash val="solid"/>
            <a:miter/>
            <a:headEnd type="none" w="med" len="med"/>
            <a:tailEnd type="none" w="med" len="med"/>
          </a:ln>
          <a:effectLst>
            <a:outerShdw dist="12700" dir="5400000" algn="ctr" rotWithShape="0">
              <a:srgbClr val="000000">
                <a:alpha val="37999"/>
              </a:srgbClr>
            </a:outerShdw>
          </a:effectLst>
        </p:spPr>
        <p:txBody>
          <a:bodyPr anchor="ctr" anchorCtr="1"/>
          <a:lstStyle/>
          <a:p>
            <a:pPr defTabSz="914400">
              <a:buNone/>
            </a:pPr>
            <a:r>
              <a:rPr lang="zh-CN" altLang="en-US" sz="1800" dirty="0">
                <a:latin typeface="Times New Roman" panose="02020603050405020304" pitchFamily="18" charset="0"/>
                <a:ea typeface="宋体" panose="02010600030101010101" pitchFamily="2" charset="-122"/>
              </a:rPr>
              <a:t>遇到</a:t>
            </a:r>
            <a:r>
              <a:rPr lang="en-US" altLang="x-none" sz="1800" dirty="0">
                <a:latin typeface="Times New Roman" panose="02020603050405020304" pitchFamily="18" charset="0"/>
                <a:ea typeface="宋体" panose="02010600030101010101" pitchFamily="2" charset="-122"/>
              </a:rPr>
              <a:t>break</a:t>
            </a:r>
            <a:r>
              <a:rPr lang="zh-CN" altLang="en-US" sz="1800" dirty="0">
                <a:latin typeface="Times New Roman" panose="02020603050405020304" pitchFamily="18" charset="0"/>
                <a:ea typeface="宋体" panose="02010600030101010101" pitchFamily="2" charset="-122"/>
              </a:rPr>
              <a:t>，立即跳出</a:t>
            </a:r>
            <a:r>
              <a:rPr lang="en-US" altLang="zh-CN" sz="1800" dirty="0">
                <a:latin typeface="Times New Roman" panose="02020603050405020304" pitchFamily="18" charset="0"/>
                <a:ea typeface="宋体" panose="02010600030101010101" pitchFamily="2" charset="-122"/>
              </a:rPr>
              <a:t>for</a:t>
            </a:r>
            <a:r>
              <a:rPr lang="zh-CN" altLang="en-US" sz="1800" dirty="0">
                <a:latin typeface="Times New Roman" panose="02020603050405020304" pitchFamily="18" charset="0"/>
                <a:ea typeface="宋体" panose="02010600030101010101" pitchFamily="2" charset="-122"/>
              </a:rPr>
              <a:t>循环语句</a:t>
            </a:r>
            <a:endParaRPr lang="zh-CN" altLang="en-US" sz="1800" dirty="0">
              <a:latin typeface="Times New Roman" panose="02020603050405020304" pitchFamily="18" charset="0"/>
              <a:ea typeface="宋体" panose="02010600030101010101" pitchFamily="2" charset="-122"/>
            </a:endParaRPr>
          </a:p>
        </p:txBody>
      </p:sp>
      <p:sp>
        <p:nvSpPr>
          <p:cNvPr id="50181" name="Rectangle 6"/>
          <p:cNvSpPr/>
          <p:nvPr/>
        </p:nvSpPr>
        <p:spPr>
          <a:xfrm>
            <a:off x="735013" y="951310"/>
            <a:ext cx="3122607" cy="477432"/>
          </a:xfrm>
          <a:prstGeom prst="rect">
            <a:avLst/>
          </a:prstGeom>
          <a:noFill/>
          <a:ln w="9525">
            <a:noFill/>
          </a:ln>
        </p:spPr>
        <p:txBody>
          <a:bodyPr anchor="t"/>
          <a:lstStyle/>
          <a:p>
            <a:pPr algn="l" defTabSz="914400" eaLnBrk="0" hangingPunct="0">
              <a:buClr>
                <a:srgbClr val="000000"/>
              </a:buClr>
              <a:buFont typeface="Wingdings" panose="05000000000000000000" charset="0"/>
              <a:buChar char=""/>
            </a:pPr>
            <a:r>
              <a:rPr lang="zh-CN" altLang="en-US" sz="2000" b="0" dirty="0">
                <a:solidFill>
                  <a:schemeClr val="tx1">
                    <a:lumMod val="75000"/>
                    <a:lumOff val="25000"/>
                  </a:schemeClr>
                </a:solidFill>
                <a:latin typeface="+mn-ea"/>
                <a:ea typeface="+mn-ea"/>
              </a:rPr>
              <a:t>描述4000米长跑比赛</a:t>
            </a:r>
            <a:endParaRPr lang="zh-CN" altLang="en-US" sz="2000" b="0" dirty="0">
              <a:solidFill>
                <a:schemeClr val="tx1">
                  <a:lumMod val="75000"/>
                  <a:lumOff val="25000"/>
                </a:schemeClr>
              </a:solidFill>
              <a:latin typeface="+mn-ea"/>
              <a:ea typeface="+mn-ea"/>
            </a:endParaRPr>
          </a:p>
        </p:txBody>
      </p:sp>
      <p:sp>
        <p:nvSpPr>
          <p:cNvPr id="50182" name="AutoShape 7"/>
          <p:cNvSpPr/>
          <p:nvPr/>
        </p:nvSpPr>
        <p:spPr>
          <a:xfrm>
            <a:off x="1285217" y="1627181"/>
            <a:ext cx="4065587" cy="1889760"/>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914400">
              <a:lnSpc>
                <a:spcPct val="130000"/>
              </a:lnSpc>
              <a:buNone/>
            </a:pPr>
            <a:r>
              <a:rPr lang="en-US" altLang="x-none" sz="1800" dirty="0">
                <a:solidFill>
                  <a:srgbClr val="09131F"/>
                </a:solidFill>
                <a:latin typeface="Times New Roman" panose="02020603050405020304" pitchFamily="18" charset="0"/>
                <a:ea typeface="宋体" panose="02010600030101010101" pitchFamily="2" charset="-122"/>
              </a:rPr>
              <a:t>for i in range(10):</a:t>
            </a:r>
            <a:endParaRPr lang="en-US" altLang="x-none" sz="18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800" dirty="0">
                <a:solidFill>
                  <a:srgbClr val="09131F"/>
                </a:solidFill>
                <a:latin typeface="Times New Roman" panose="02020603050405020304" pitchFamily="18" charset="0"/>
                <a:ea typeface="宋体" panose="02010600030101010101" pitchFamily="2" charset="-122"/>
              </a:rPr>
              <a:t>     if  i == 7:</a:t>
            </a:r>
            <a:endParaRPr lang="en-US" altLang="x-none" sz="18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800" dirty="0">
                <a:solidFill>
                  <a:srgbClr val="09131F"/>
                </a:solidFill>
                <a:latin typeface="Times New Roman" panose="02020603050405020304" pitchFamily="18" charset="0"/>
                <a:ea typeface="宋体" panose="02010600030101010101" pitchFamily="2" charset="-122"/>
              </a:rPr>
              <a:t>          break</a:t>
            </a:r>
            <a:endParaRPr lang="en-US" altLang="x-none" sz="18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800" dirty="0">
                <a:solidFill>
                  <a:srgbClr val="09131F"/>
                </a:solidFill>
                <a:latin typeface="Times New Roman" panose="02020603050405020304" pitchFamily="18" charset="0"/>
                <a:ea typeface="宋体" panose="02010600030101010101" pitchFamily="2" charset="-122"/>
              </a:rPr>
              <a:t>     print(“</a:t>
            </a:r>
            <a:r>
              <a:rPr lang="zh-CN" altLang="en-US" sz="1800" dirty="0">
                <a:solidFill>
                  <a:srgbClr val="09131F"/>
                </a:solidFill>
                <a:latin typeface="Times New Roman" panose="02020603050405020304" pitchFamily="18" charset="0"/>
                <a:ea typeface="宋体" panose="02010600030101010101" pitchFamily="2" charset="-122"/>
              </a:rPr>
              <a:t>第</a:t>
            </a:r>
            <a:r>
              <a:rPr lang="en-US" altLang="zh-CN" sz="1800" dirty="0">
                <a:solidFill>
                  <a:srgbClr val="09131F"/>
                </a:solidFill>
                <a:latin typeface="Times New Roman" panose="02020603050405020304" pitchFamily="18" charset="0"/>
                <a:ea typeface="宋体" panose="02010600030101010101" pitchFamily="2" charset="-122"/>
              </a:rPr>
              <a:t>”+str(i+1)+”</a:t>
            </a:r>
            <a:r>
              <a:rPr lang="zh-CN" altLang="en-US" sz="1800" dirty="0">
                <a:solidFill>
                  <a:srgbClr val="09131F"/>
                </a:solidFill>
                <a:latin typeface="Times New Roman" panose="02020603050405020304" pitchFamily="18" charset="0"/>
                <a:ea typeface="宋体" panose="02010600030101010101" pitchFamily="2" charset="-122"/>
              </a:rPr>
              <a:t>圈</a:t>
            </a:r>
            <a:r>
              <a:rPr lang="en-US" altLang="x-none" sz="1800" dirty="0">
                <a:solidFill>
                  <a:srgbClr val="09131F"/>
                </a:solidFill>
                <a:latin typeface="Times New Roman" panose="02020603050405020304" pitchFamily="18" charset="0"/>
                <a:ea typeface="宋体" panose="02010600030101010101" pitchFamily="2" charset="-122"/>
              </a:rPr>
              <a:t>“)</a:t>
            </a:r>
            <a:endParaRPr lang="zh-CN" altLang="en-US" sz="1800" dirty="0">
              <a:solidFill>
                <a:srgbClr val="09131F"/>
              </a:solidFill>
              <a:latin typeface="Times New Roman" panose="02020603050405020304" pitchFamily="18" charset="0"/>
              <a:ea typeface="宋体" panose="02010600030101010101" pitchFamily="2" charset="-122"/>
            </a:endParaRPr>
          </a:p>
          <a:p>
            <a:pPr algn="l" defTabSz="914400">
              <a:lnSpc>
                <a:spcPct val="130000"/>
              </a:lnSpc>
              <a:buNone/>
            </a:pPr>
            <a:r>
              <a:rPr lang="en-US" altLang="x-none" sz="1800" dirty="0">
                <a:solidFill>
                  <a:srgbClr val="09131F"/>
                </a:solidFill>
                <a:latin typeface="Times New Roman" panose="02020603050405020304" pitchFamily="18" charset="0"/>
                <a:ea typeface="宋体" panose="02010600030101010101" pitchFamily="2" charset="-122"/>
              </a:rPr>
              <a:t>     </a:t>
            </a:r>
            <a:endParaRPr lang="en-US" altLang="x-none" sz="1800" dirty="0">
              <a:solidFill>
                <a:srgbClr val="09131F"/>
              </a:solidFill>
              <a:latin typeface="Times New Roman" panose="02020603050405020304" pitchFamily="18" charset="0"/>
              <a:ea typeface="宋体" panose="02010600030101010101" pitchFamily="2" charset="-122"/>
            </a:endParaRPr>
          </a:p>
        </p:txBody>
      </p:sp>
      <p:pic>
        <p:nvPicPr>
          <p:cNvPr id="50183" name="Picture 10" descr="running"/>
          <p:cNvPicPr>
            <a:picLocks noChangeAspect="1"/>
          </p:cNvPicPr>
          <p:nvPr/>
        </p:nvPicPr>
        <p:blipFill>
          <a:blip r:embed="rId1" cstate="print"/>
          <a:stretch>
            <a:fillRect/>
          </a:stretch>
        </p:blipFill>
        <p:spPr>
          <a:xfrm>
            <a:off x="6516688" y="1707356"/>
            <a:ext cx="1822450" cy="2052638"/>
          </a:xfrm>
          <a:prstGeom prst="rect">
            <a:avLst/>
          </a:prstGeom>
          <a:noFill/>
          <a:ln w="9525">
            <a:noFill/>
          </a:ln>
        </p:spPr>
      </p:pic>
      <p:sp>
        <p:nvSpPr>
          <p:cNvPr id="50184" name="AutoShape 11"/>
          <p:cNvSpPr/>
          <p:nvPr/>
        </p:nvSpPr>
        <p:spPr>
          <a:xfrm>
            <a:off x="6011863" y="815117"/>
            <a:ext cx="1251466" cy="919401"/>
          </a:xfrm>
          <a:prstGeom prst="wedgeRoundRectCallout">
            <a:avLst>
              <a:gd name="adj1" fmla="val 18935"/>
              <a:gd name="adj2" fmla="val 50773"/>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b">
            <a:spAutoFit/>
          </a:bodyPr>
          <a:lstStyle/>
          <a:p>
            <a:pPr defTabSz="914400" eaLnBrk="0" hangingPunct="0">
              <a:buClr>
                <a:srgbClr val="233DA9"/>
              </a:buClr>
              <a:buSzPct val="80000"/>
              <a:buNone/>
            </a:pPr>
            <a:r>
              <a:rPr lang="zh-CN" altLang="en-US" sz="1600" dirty="0">
                <a:solidFill>
                  <a:schemeClr val="bg1"/>
                </a:solidFill>
                <a:latin typeface="+mn-ea"/>
                <a:ea typeface="+mn-ea"/>
              </a:rPr>
              <a:t>第8圈，</a:t>
            </a:r>
            <a:endParaRPr lang="zh-CN" altLang="en-US" sz="1600" dirty="0">
              <a:solidFill>
                <a:schemeClr val="bg1"/>
              </a:solidFill>
              <a:latin typeface="+mn-ea"/>
              <a:ea typeface="+mn-ea"/>
            </a:endParaRPr>
          </a:p>
          <a:p>
            <a:pPr defTabSz="914400" eaLnBrk="0" hangingPunct="0">
              <a:buClr>
                <a:srgbClr val="233DA9"/>
              </a:buClr>
              <a:buSzPct val="80000"/>
              <a:buNone/>
            </a:pPr>
            <a:r>
              <a:rPr lang="zh-CN" altLang="en-US" sz="1600" dirty="0">
                <a:solidFill>
                  <a:schemeClr val="bg1"/>
                </a:solidFill>
                <a:latin typeface="+mn-ea"/>
                <a:ea typeface="+mn-ea"/>
              </a:rPr>
              <a:t>快累死了…</a:t>
            </a:r>
            <a:endParaRPr lang="zh-CN" altLang="en-US" sz="1600" dirty="0">
              <a:solidFill>
                <a:schemeClr val="bg1"/>
              </a:solidFill>
              <a:latin typeface="+mn-ea"/>
              <a:ea typeface="+mn-ea"/>
            </a:endParaRPr>
          </a:p>
          <a:p>
            <a:pPr defTabSz="914400" eaLnBrk="0" hangingPunct="0">
              <a:buClr>
                <a:srgbClr val="233DA9"/>
              </a:buClr>
              <a:buSzPct val="80000"/>
              <a:buNone/>
            </a:pPr>
            <a:r>
              <a:rPr lang="zh-CN" altLang="en-US" sz="1600" dirty="0">
                <a:solidFill>
                  <a:schemeClr val="bg1"/>
                </a:solidFill>
                <a:latin typeface="+mn-ea"/>
                <a:ea typeface="+mn-ea"/>
              </a:rPr>
              <a:t>我要退出…</a:t>
            </a:r>
            <a:endParaRPr lang="zh-CN" altLang="en-US" sz="1600" dirty="0">
              <a:solidFill>
                <a:schemeClr val="bg1"/>
              </a:solidFill>
              <a:latin typeface="+mn-ea"/>
              <a:ea typeface="+mn-ea"/>
            </a:endParaRPr>
          </a:p>
        </p:txBody>
      </p:sp>
      <p:pic>
        <p:nvPicPr>
          <p:cNvPr id="50185" name="Freeform 12"/>
          <p:cNvPicPr>
            <a:picLocks noGrp="1" noChangeAspect="1"/>
          </p:cNvPicPr>
          <p:nvPr/>
        </p:nvPicPr>
        <p:blipFill>
          <a:blip r:embed="rId2" cstate="print"/>
          <a:stretch>
            <a:fillRect/>
          </a:stretch>
        </p:blipFill>
        <p:spPr>
          <a:xfrm>
            <a:off x="2295509" y="3516637"/>
            <a:ext cx="879475" cy="1214438"/>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0185"/>
                                        </p:tgtEl>
                                        <p:attrNameLst>
                                          <p:attrName>style.visibility</p:attrName>
                                        </p:attrNameLst>
                                      </p:cBhvr>
                                      <p:to>
                                        <p:strVal val="visible"/>
                                      </p:to>
                                    </p:set>
                                    <p:animEffect transition="in" filter="wipe(up)">
                                      <p:cBhvr>
                                        <p:cTn id="7" dur="500"/>
                                        <p:tgtEl>
                                          <p:spTgt spid="5018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0180"/>
                                        </p:tgtEl>
                                        <p:attrNameLst>
                                          <p:attrName>style.visibility</p:attrName>
                                        </p:attrNameLst>
                                      </p:cBhvr>
                                      <p:to>
                                        <p:strVal val="visible"/>
                                      </p:to>
                                    </p:set>
                                    <p:animEffect transition="in" filter="wipe(left)">
                                      <p:cBhvr>
                                        <p:cTn id="11" dur="500"/>
                                        <p:tgtEl>
                                          <p:spTgt spid="50180"/>
                                        </p:tgtEl>
                                      </p:cBhvr>
                                    </p:animEffect>
                                  </p:childTnLst>
                                </p:cTn>
                              </p:par>
                              <p:par>
                                <p:cTn id="12" presetID="1" presetClass="exit" presetSubtype="0" fill="hold" nodeType="withEffect">
                                  <p:stCondLst>
                                    <p:cond delay="0"/>
                                  </p:stCondLst>
                                  <p:childTnLst>
                                    <p:set>
                                      <p:cBhvr>
                                        <p:cTn id="13" dur="1" fill="hold">
                                          <p:stCondLst>
                                            <p:cond delay="0"/>
                                          </p:stCondLst>
                                        </p:cTn>
                                        <p:tgtEl>
                                          <p:spTgt spid="50185"/>
                                        </p:tgtEl>
                                        <p:attrNameLst>
                                          <p:attrName>style.visibility</p:attrName>
                                        </p:attrNameLst>
                                      </p:cBhvr>
                                      <p:to>
                                        <p:strVal val="hidden"/>
                                      </p:to>
                                    </p:set>
                                  </p:childTnLst>
                                </p:cTn>
                              </p:par>
                              <p:par>
                                <p:cTn id="14" presetID="1" presetClass="exit" presetSubtype="0" fill="hold" grpId="1" nodeType="withEffect">
                                  <p:stCondLst>
                                    <p:cond delay="0"/>
                                  </p:stCondLst>
                                  <p:childTnLst>
                                    <p:set>
                                      <p:cBhvr>
                                        <p:cTn id="15" dur="1" fill="hold">
                                          <p:stCondLst>
                                            <p:cond delay="0"/>
                                          </p:stCondLst>
                                        </p:cTn>
                                        <p:tgtEl>
                                          <p:spTgt spid="50180"/>
                                        </p:tgtEl>
                                        <p:attrNameLst>
                                          <p:attrName>style.visibility</p:attrName>
                                        </p:attrNameLst>
                                      </p:cBhvr>
                                      <p:to>
                                        <p:strVal val="hidden"/>
                                      </p:to>
                                    </p:set>
                                  </p:childTnLst>
                                </p:cTn>
                              </p:par>
                            </p:childTnLst>
                          </p:cTn>
                        </p:par>
                        <p:par>
                          <p:cTn id="16" fill="hold">
                            <p:stCondLst>
                              <p:cond delay="1000"/>
                            </p:stCondLst>
                            <p:childTnLst>
                              <p:par>
                                <p:cTn id="17" presetID="22" presetClass="entr" presetSubtype="8" fill="hold" nodeType="afterEffect">
                                  <p:stCondLst>
                                    <p:cond delay="0"/>
                                  </p:stCondLst>
                                  <p:childTnLst>
                                    <p:set>
                                      <p:cBhvr>
                                        <p:cTn id="18" dur="1" fill="hold">
                                          <p:stCondLst>
                                            <p:cond delay="0"/>
                                          </p:stCondLst>
                                        </p:cTn>
                                        <p:tgtEl>
                                          <p:spTgt spid="50181">
                                            <p:txEl>
                                              <p:pRg st="0" end="0"/>
                                            </p:txEl>
                                          </p:spTgt>
                                        </p:tgtEl>
                                        <p:attrNameLst>
                                          <p:attrName>style.visibility</p:attrName>
                                        </p:attrNameLst>
                                      </p:cBhvr>
                                      <p:to>
                                        <p:strVal val="visible"/>
                                      </p:to>
                                    </p:set>
                                    <p:animEffect transition="in" filter="wipe(left)">
                                      <p:cBhvr>
                                        <p:cTn id="19" dur="500"/>
                                        <p:tgtEl>
                                          <p:spTgt spid="50181">
                                            <p:txEl>
                                              <p:pRg st="0" end="0"/>
                                            </p:txEl>
                                          </p:spTgt>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50183"/>
                                        </p:tgtEl>
                                        <p:attrNameLst>
                                          <p:attrName>style.visibility</p:attrName>
                                        </p:attrNameLst>
                                      </p:cBhvr>
                                      <p:to>
                                        <p:strVal val="visible"/>
                                      </p:to>
                                    </p:set>
                                    <p:animEffect transition="in" filter="wipe(left)">
                                      <p:cBhvr>
                                        <p:cTn id="23" dur="500"/>
                                        <p:tgtEl>
                                          <p:spTgt spid="50183"/>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50182"/>
                                        </p:tgtEl>
                                        <p:attrNameLst>
                                          <p:attrName>style.visibility</p:attrName>
                                        </p:attrNameLst>
                                      </p:cBhvr>
                                      <p:to>
                                        <p:strVal val="visible"/>
                                      </p:to>
                                    </p:set>
                                    <p:animEffect transition="in" filter="wipe(left)">
                                      <p:cBhvr>
                                        <p:cTn id="27" dur="500"/>
                                        <p:tgtEl>
                                          <p:spTgt spid="501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184"/>
                                        </p:tgtEl>
                                        <p:attrNameLst>
                                          <p:attrName>style.visibility</p:attrName>
                                        </p:attrNameLst>
                                      </p:cBhvr>
                                      <p:to>
                                        <p:strVal val="visible"/>
                                      </p:to>
                                    </p:set>
                                    <p:animEffect transition="in" filter="wipe(left)">
                                      <p:cBhvr>
                                        <p:cTn id="32"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ldLvl="0" animBg="1"/>
      <p:bldP spid="50180" grpId="1" bldLvl="0" animBg="1"/>
      <p:bldP spid="50182" grpId="0" bldLvl="0" animBg="1"/>
      <p:bldP spid="5018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AutoShape 2"/>
          <p:cNvSpPr/>
          <p:nvPr/>
        </p:nvSpPr>
        <p:spPr>
          <a:xfrm>
            <a:off x="749301" y="996554"/>
            <a:ext cx="8048625" cy="2615311"/>
          </a:xfrm>
          <a:prstGeom prst="roundRect">
            <a:avLst>
              <a:gd name="adj" fmla="val 398"/>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anchor="t">
            <a:spAutoFit/>
          </a:bodyPr>
          <a:lstStyle/>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name = </a:t>
            </a:r>
            <a:r>
              <a:rPr lang="en-US" sz="1800" dirty="0">
                <a:solidFill>
                  <a:srgbClr val="09131F"/>
                </a:solidFill>
                <a:latin typeface="Times New Roman" panose="02020603050405020304" pitchFamily="18" charset="0"/>
                <a:ea typeface="宋体" panose="02010600030101010101" pitchFamily="2" charset="-122"/>
              </a:rPr>
              <a:t>“bawei”</a:t>
            </a: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  for x in name:</a:t>
            </a: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      print('</a:t>
            </a:r>
            <a:r>
              <a:rPr lang="en-US" sz="1800" dirty="0">
                <a:solidFill>
                  <a:srgbClr val="09131F"/>
                </a:solidFill>
                <a:latin typeface="Times New Roman" panose="02020603050405020304" pitchFamily="18" charset="0"/>
                <a:ea typeface="宋体" panose="02010600030101010101" pitchFamily="2" charset="-122"/>
              </a:rPr>
              <a:t>--------</a:t>
            </a:r>
            <a:r>
              <a:rPr sz="1800" dirty="0">
                <a:solidFill>
                  <a:srgbClr val="09131F"/>
                </a:solidFill>
                <a:latin typeface="Times New Roman" panose="02020603050405020304" pitchFamily="18" charset="0"/>
                <a:ea typeface="宋体" panose="02010600030101010101" pitchFamily="2" charset="-122"/>
              </a:rPr>
              <a:t>')</a:t>
            </a: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      if x == '</a:t>
            </a:r>
            <a:r>
              <a:rPr lang="en-US" sz="1800" dirty="0">
                <a:solidFill>
                  <a:srgbClr val="09131F"/>
                </a:solidFill>
                <a:latin typeface="Times New Roman" panose="02020603050405020304" pitchFamily="18" charset="0"/>
                <a:ea typeface="宋体" panose="02010600030101010101" pitchFamily="2" charset="-122"/>
              </a:rPr>
              <a:t>w</a:t>
            </a:r>
            <a:r>
              <a:rPr sz="1800" dirty="0">
                <a:solidFill>
                  <a:srgbClr val="09131F"/>
                </a:solidFill>
                <a:latin typeface="Times New Roman" panose="02020603050405020304" pitchFamily="18" charset="0"/>
                <a:ea typeface="宋体" panose="02010600030101010101" pitchFamily="2" charset="-122"/>
              </a:rPr>
              <a:t>': </a:t>
            </a: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          continue</a:t>
            </a:r>
            <a:endParaRPr sz="1800" dirty="0">
              <a:solidFill>
                <a:srgbClr val="09131F"/>
              </a:solidFill>
              <a:latin typeface="Times New Roman" panose="02020603050405020304" pitchFamily="18" charset="0"/>
              <a:ea typeface="宋体" panose="02010600030101010101" pitchFamily="2" charset="-122"/>
            </a:endParaRPr>
          </a:p>
          <a:p>
            <a:pPr algn="l" defTabSz="533400">
              <a:lnSpc>
                <a:spcPct val="130000"/>
              </a:lnSpc>
              <a:buNone/>
            </a:pPr>
            <a:r>
              <a:rPr sz="1800" dirty="0">
                <a:solidFill>
                  <a:srgbClr val="09131F"/>
                </a:solidFill>
                <a:latin typeface="Times New Roman" panose="02020603050405020304" pitchFamily="18" charset="0"/>
                <a:ea typeface="宋体" panose="02010600030101010101" pitchFamily="2" charset="-122"/>
              </a:rPr>
              <a:t>      print(x)</a:t>
            </a:r>
            <a:endParaRPr sz="1800" dirty="0">
              <a:solidFill>
                <a:srgbClr val="09131F"/>
              </a:solidFill>
              <a:latin typeface="Times New Roman" panose="02020603050405020304" pitchFamily="18" charset="0"/>
              <a:ea typeface="宋体" panose="02010600030101010101" pitchFamily="2" charset="-122"/>
            </a:endParaRPr>
          </a:p>
        </p:txBody>
      </p:sp>
      <p:sp>
        <p:nvSpPr>
          <p:cNvPr id="57348" name="Rectangle 3"/>
          <p:cNvSpPr/>
          <p:nvPr/>
        </p:nvSpPr>
        <p:spPr>
          <a:xfrm>
            <a:off x="1068682" y="2162020"/>
            <a:ext cx="3500462" cy="1059657"/>
          </a:xfrm>
          <a:prstGeom prst="rect">
            <a:avLst/>
          </a:prstGeom>
          <a:noFill/>
          <a:ln w="28575" cap="flat" cmpd="sng">
            <a:solidFill>
              <a:srgbClr val="C00000"/>
            </a:solidFill>
            <a:prstDash val="solid"/>
            <a:miter/>
            <a:headEnd type="none" w="med" len="med"/>
            <a:tailEnd type="none" w="med" len="med"/>
          </a:ln>
        </p:spPr>
        <p:txBody>
          <a:bodyPr wrap="none" anchor="ctr"/>
          <a:lstStyle/>
          <a:p>
            <a:pPr>
              <a:buNone/>
            </a:pPr>
            <a:endParaRPr lang="zh-CN" altLang="en-US" sz="1600" dirty="0">
              <a:solidFill>
                <a:srgbClr val="FF0000"/>
              </a:solidFill>
              <a:latin typeface="Times New Roman" panose="02020603050405020304" pitchFamily="18" charset="0"/>
              <a:ea typeface="宋体" panose="02010600030101010101" pitchFamily="2" charset="-122"/>
            </a:endParaRPr>
          </a:p>
        </p:txBody>
      </p:sp>
      <p:sp>
        <p:nvSpPr>
          <p:cNvPr id="57349" name="AutoShape 5"/>
          <p:cNvSpPr/>
          <p:nvPr/>
        </p:nvSpPr>
        <p:spPr>
          <a:xfrm>
            <a:off x="4722345" y="2575007"/>
            <a:ext cx="3657869" cy="646699"/>
          </a:xfrm>
          <a:prstGeom prst="wedgeRoundRectCallout">
            <a:avLst>
              <a:gd name="adj1" fmla="val -50236"/>
              <a:gd name="adj2" fmla="val -26116"/>
              <a:gd name="adj3" fmla="val 16667"/>
            </a:avLst>
          </a:prstGeom>
          <a:solidFill>
            <a:srgbClr val="0070C0"/>
          </a:solidFill>
          <a:ln w="9525" cap="flat" cmpd="sng">
            <a:solidFill>
              <a:srgbClr val="F2F2F2"/>
            </a:solidFill>
            <a:prstDash val="solid"/>
            <a:miter/>
            <a:headEnd type="none" w="med" len="med"/>
            <a:tailEnd type="none" w="med" len="med"/>
          </a:ln>
          <a:effectLst>
            <a:outerShdw dist="38100" dir="5400000" algn="ctr" rotWithShape="0">
              <a:srgbClr val="000000">
                <a:alpha val="37999"/>
              </a:srgbClr>
            </a:outerShdw>
          </a:effectLst>
        </p:spPr>
        <p:txBody>
          <a:bodyPr wrap="none" anchor="b">
            <a:spAutoFit/>
          </a:bodyPr>
          <a:lstStyle/>
          <a:p>
            <a:pPr defTabSz="914400" eaLnBrk="0" hangingPunct="0">
              <a:buClr>
                <a:srgbClr val="233DA9"/>
              </a:buClr>
              <a:buSzPct val="80000"/>
              <a:buNone/>
            </a:pPr>
            <a:r>
              <a:rPr lang="zh-CN" altLang="en-US" sz="1600" dirty="0">
                <a:solidFill>
                  <a:schemeClr val="bg1"/>
                </a:solidFill>
                <a:latin typeface="+mn-ea"/>
                <a:ea typeface="+mn-ea"/>
              </a:rPr>
              <a:t>对字符串进行循环打印，当遇到</a:t>
            </a:r>
            <a:r>
              <a:rPr lang="en-US" altLang="zh-CN" sz="1600" dirty="0">
                <a:solidFill>
                  <a:schemeClr val="bg1"/>
                </a:solidFill>
                <a:latin typeface="+mn-ea"/>
                <a:ea typeface="+mn-ea"/>
              </a:rPr>
              <a:t>w</a:t>
            </a:r>
            <a:r>
              <a:rPr lang="zh-CN" altLang="en-US" sz="1600" dirty="0">
                <a:solidFill>
                  <a:schemeClr val="bg1"/>
                </a:solidFill>
                <a:latin typeface="+mn-ea"/>
                <a:ea typeface="+mn-ea"/>
              </a:rPr>
              <a:t>时，</a:t>
            </a:r>
            <a:endParaRPr lang="zh-CN" altLang="en-US" sz="1600" dirty="0">
              <a:solidFill>
                <a:schemeClr val="bg1"/>
              </a:solidFill>
              <a:latin typeface="+mn-ea"/>
              <a:ea typeface="+mn-ea"/>
            </a:endParaRPr>
          </a:p>
          <a:p>
            <a:pPr defTabSz="914400" eaLnBrk="0" hangingPunct="0">
              <a:buClr>
                <a:srgbClr val="233DA9"/>
              </a:buClr>
              <a:buSzPct val="80000"/>
              <a:buNone/>
            </a:pPr>
            <a:r>
              <a:rPr lang="zh-CN" altLang="en-US" sz="1600" dirty="0">
                <a:solidFill>
                  <a:schemeClr val="bg1"/>
                </a:solidFill>
                <a:latin typeface="+mn-ea"/>
                <a:ea typeface="+mn-ea"/>
              </a:rPr>
              <a:t>跳出本次循环，执行下一次循环</a:t>
            </a:r>
            <a:endParaRPr lang="zh-CN" altLang="en-US" sz="1600" dirty="0">
              <a:solidFill>
                <a:schemeClr val="bg1"/>
              </a:solidFill>
              <a:latin typeface="+mn-ea"/>
              <a:ea typeface="+mn-ea"/>
            </a:endParaRPr>
          </a:p>
        </p:txBody>
      </p:sp>
      <p:pic>
        <p:nvPicPr>
          <p:cNvPr id="57350" name="Freeform 12"/>
          <p:cNvPicPr>
            <a:picLocks noGrp="1" noChangeAspect="1"/>
          </p:cNvPicPr>
          <p:nvPr/>
        </p:nvPicPr>
        <p:blipFill>
          <a:blip r:embed="rId1" cstate="print"/>
          <a:stretch>
            <a:fillRect/>
          </a:stretch>
        </p:blipFill>
        <p:spPr>
          <a:xfrm>
            <a:off x="2067560" y="1482725"/>
            <a:ext cx="1016635" cy="1235075"/>
          </a:xfrm>
          <a:prstGeom prst="rect">
            <a:avLst/>
          </a:prstGeom>
          <a:noFill/>
          <a:ln w="9525">
            <a:noFill/>
          </a:ln>
        </p:spPr>
      </p:pic>
      <p:pic>
        <p:nvPicPr>
          <p:cNvPr id="57351" name="直接箭头连接符 6"/>
          <p:cNvPicPr>
            <a:picLocks noGrp="1" noChangeAspect="1"/>
          </p:cNvPicPr>
          <p:nvPr/>
        </p:nvPicPr>
        <p:blipFill>
          <a:blip r:embed="rId2" cstate="print"/>
          <a:stretch>
            <a:fillRect/>
          </a:stretch>
        </p:blipFill>
        <p:spPr>
          <a:xfrm>
            <a:off x="4569144" y="2223768"/>
            <a:ext cx="950913" cy="351235"/>
          </a:xfrm>
          <a:prstGeom prst="rect">
            <a:avLst/>
          </a:prstGeom>
          <a:noFill/>
          <a:ln w="9525">
            <a:noFill/>
          </a:ln>
        </p:spPr>
      </p:pic>
      <p:sp>
        <p:nvSpPr>
          <p:cNvPr id="50178" name="Rectangle 12"/>
          <p:cNvSpPr txBox="1"/>
          <p:nvPr/>
        </p:nvSpPr>
        <p:spPr>
          <a:xfrm>
            <a:off x="4138295" y="130810"/>
            <a:ext cx="4826635" cy="401320"/>
          </a:xfrm>
          <a:prstGeom prst="rect">
            <a:avLst/>
          </a:prstGeom>
          <a:noFill/>
          <a:ln w="9525">
            <a:noFill/>
          </a:ln>
        </p:spPr>
        <p:txBody>
          <a:bodyPr anchor="t"/>
          <a:lstStyle/>
          <a:p>
            <a:pPr algn="r" eaLnBrk="0" hangingPunct="0"/>
            <a:r>
              <a:rPr lang="zh-CN" altLang="en-US" sz="2000" dirty="0">
                <a:solidFill>
                  <a:srgbClr val="0070C0"/>
                </a:solidFill>
                <a:latin typeface="+mj-ea"/>
                <a:ea typeface="+mj-ea"/>
                <a:cs typeface="+mj-cs"/>
              </a:rPr>
              <a:t>如何使用</a:t>
            </a:r>
            <a:r>
              <a:rPr lang="en-US" altLang="zh-CN" sz="2000" b="0" dirty="0" err="1">
                <a:solidFill>
                  <a:srgbClr val="0070C0"/>
                </a:solidFill>
                <a:latin typeface="+mj-ea"/>
                <a:ea typeface="+mj-ea"/>
                <a:cs typeface="+mj-cs"/>
              </a:rPr>
              <a:t>循环中的continue</a:t>
            </a:r>
            <a:endParaRPr lang="en-US" altLang="zh-CN" sz="2000" b="0" dirty="0">
              <a:solidFill>
                <a:srgbClr val="0070C0"/>
              </a:solidFill>
              <a:latin typeface="+mj-ea"/>
              <a:ea typeface="+mj-ea"/>
              <a:cs typeface="+mj-cs"/>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347"/>
                                        </p:tgtEl>
                                        <p:attrNameLst>
                                          <p:attrName>style.visibility</p:attrName>
                                        </p:attrNameLst>
                                      </p:cBhvr>
                                      <p:to>
                                        <p:strVal val="visible"/>
                                      </p:to>
                                    </p:set>
                                    <p:animEffect transition="in" filter="wipe(left)">
                                      <p:cBhvr>
                                        <p:cTn id="7" dur="500"/>
                                        <p:tgtEl>
                                          <p:spTgt spid="573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8"/>
                                        </p:tgtEl>
                                        <p:attrNameLst>
                                          <p:attrName>style.visibility</p:attrName>
                                        </p:attrNameLst>
                                      </p:cBhvr>
                                      <p:to>
                                        <p:strVal val="visible"/>
                                      </p:to>
                                    </p:set>
                                    <p:animEffect transition="in" filter="wipe(left)">
                                      <p:cBhvr>
                                        <p:cTn id="12" dur="500"/>
                                        <p:tgtEl>
                                          <p:spTgt spid="57348"/>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57350"/>
                                        </p:tgtEl>
                                        <p:attrNameLst>
                                          <p:attrName>style.visibility</p:attrName>
                                        </p:attrNameLst>
                                      </p:cBhvr>
                                      <p:to>
                                        <p:strVal val="visible"/>
                                      </p:to>
                                    </p:set>
                                    <p:animEffect transition="in" filter="wipe(down)">
                                      <p:cBhvr>
                                        <p:cTn id="16" dur="500"/>
                                        <p:tgtEl>
                                          <p:spTgt spid="57350"/>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57349"/>
                                        </p:tgtEl>
                                        <p:attrNameLst>
                                          <p:attrName>style.visibility</p:attrName>
                                        </p:attrNameLst>
                                      </p:cBhvr>
                                      <p:to>
                                        <p:strVal val="visible"/>
                                      </p:to>
                                    </p:set>
                                    <p:animEffect transition="in" filter="wipe(left)">
                                      <p:cBhvr>
                                        <p:cTn id="20" dur="500"/>
                                        <p:tgtEl>
                                          <p:spTgt spid="57349"/>
                                        </p:tgtEl>
                                      </p:cBhvr>
                                    </p:animEffect>
                                  </p:childTnLst>
                                </p:cTn>
                              </p:par>
                              <p:par>
                                <p:cTn id="21" presetID="22" presetClass="entr" presetSubtype="8" fill="hold" nodeType="withEffect">
                                  <p:stCondLst>
                                    <p:cond delay="0"/>
                                  </p:stCondLst>
                                  <p:childTnLst>
                                    <p:set>
                                      <p:cBhvr>
                                        <p:cTn id="22" dur="1" fill="hold">
                                          <p:stCondLst>
                                            <p:cond delay="0"/>
                                          </p:stCondLst>
                                        </p:cTn>
                                        <p:tgtEl>
                                          <p:spTgt spid="57351"/>
                                        </p:tgtEl>
                                        <p:attrNameLst>
                                          <p:attrName>style.visibility</p:attrName>
                                        </p:attrNameLst>
                                      </p:cBhvr>
                                      <p:to>
                                        <p:strVal val="visible"/>
                                      </p:to>
                                    </p:set>
                                    <p:animEffect transition="in" filter="wipe(left)">
                                      <p:cBhvr>
                                        <p:cTn id="23"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ldLvl="0" animBg="1"/>
      <p:bldP spid="57348" grpId="0" bldLvl="0" animBg="1"/>
      <p:bldP spid="57349"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txBox="1"/>
          <p:nvPr/>
        </p:nvSpPr>
        <p:spPr>
          <a:xfrm>
            <a:off x="6072197" y="160735"/>
            <a:ext cx="2892415" cy="410751"/>
          </a:xfrm>
          <a:prstGeom prst="rect">
            <a:avLst/>
          </a:prstGeom>
          <a:noFill/>
          <a:ln w="9525">
            <a:noFill/>
          </a:ln>
        </p:spPr>
        <p:txBody>
          <a:bodyPr anchor="t"/>
          <a:lstStyle/>
          <a:p>
            <a:pPr algn="r" eaLnBrk="0" hangingPunct="0">
              <a:spcBef>
                <a:spcPct val="0"/>
              </a:spcBef>
              <a:buNone/>
            </a:pPr>
            <a:r>
              <a:rPr lang="en-US" altLang="zh-CN" sz="2000" b="0" dirty="0">
                <a:solidFill>
                  <a:srgbClr val="0070C0"/>
                </a:solidFill>
                <a:latin typeface="+mj-ea"/>
                <a:ea typeface="+mj-ea"/>
                <a:cs typeface="+mj-cs"/>
              </a:rPr>
              <a:t>对比break和continue</a:t>
            </a:r>
            <a:endParaRPr lang="en-US" altLang="zh-CN" sz="2000" b="0" dirty="0">
              <a:solidFill>
                <a:srgbClr val="0070C0"/>
              </a:solidFill>
              <a:latin typeface="+mj-ea"/>
              <a:ea typeface="+mj-ea"/>
              <a:cs typeface="+mj-cs"/>
            </a:endParaRPr>
          </a:p>
        </p:txBody>
      </p:sp>
      <p:sp>
        <p:nvSpPr>
          <p:cNvPr id="58371" name="Rectangle 3"/>
          <p:cNvSpPr txBox="1"/>
          <p:nvPr/>
        </p:nvSpPr>
        <p:spPr>
          <a:xfrm>
            <a:off x="784225" y="957262"/>
            <a:ext cx="7645400" cy="3757613"/>
          </a:xfrm>
          <a:prstGeom prst="rect">
            <a:avLst/>
          </a:prstGeom>
          <a:noFill/>
          <a:ln w="9525">
            <a:noFill/>
          </a:ln>
        </p:spPr>
        <p:txBody>
          <a:bodyPr anchor="t"/>
          <a:lstStyle/>
          <a:p>
            <a:pPr marL="342900" indent="-342900" algn="l" eaLnBrk="0" hangingPunct="0">
              <a:buClr>
                <a:srgbClr val="000000"/>
              </a:buClr>
              <a:buFont typeface="Wingdings" panose="05000000000000000000" pitchFamily="2" charset="2"/>
              <a:buChar char="n"/>
            </a:pPr>
            <a:r>
              <a:rPr lang="zh-CN" altLang="en-US" sz="2000" b="0" dirty="0">
                <a:solidFill>
                  <a:schemeClr val="tx1">
                    <a:lumMod val="75000"/>
                    <a:lumOff val="25000"/>
                  </a:schemeClr>
                </a:solidFill>
                <a:latin typeface="+mn-ea"/>
                <a:ea typeface="+mn-ea"/>
              </a:rPr>
              <a:t>使用场合</a:t>
            </a:r>
            <a:endParaRPr lang="zh-CN" altLang="en-US" sz="2000" dirty="0">
              <a:latin typeface="+mn-ea"/>
              <a:ea typeface="+mn-ea"/>
            </a:endParaRPr>
          </a:p>
          <a:p>
            <a:pPr marL="887730" lvl="1" indent="-342900" algn="l" eaLnBrk="0" hangingPunct="0">
              <a:buClr>
                <a:srgbClr val="000000"/>
              </a:buClr>
              <a:buFont typeface="Wingdings" panose="05000000000000000000" charset="0"/>
              <a:buChar char=""/>
            </a:pPr>
            <a:r>
              <a:rPr lang="zh-CN" altLang="en-US" sz="1600" b="0" dirty="0">
                <a:solidFill>
                  <a:schemeClr val="tx1">
                    <a:lumMod val="75000"/>
                    <a:lumOff val="25000"/>
                  </a:schemeClr>
                </a:solidFill>
                <a:latin typeface="+mn-ea"/>
                <a:ea typeface="+mn-ea"/>
              </a:rPr>
              <a:t>break、</a:t>
            </a:r>
            <a:r>
              <a:rPr lang="zh-CN" altLang="en-US" sz="1600" dirty="0">
                <a:solidFill>
                  <a:schemeClr val="tx1">
                    <a:lumMod val="75000"/>
                    <a:lumOff val="25000"/>
                  </a:schemeClr>
                </a:solidFill>
                <a:latin typeface="+mn-ea"/>
                <a:ea typeface="+mn-ea"/>
                <a:sym typeface="+mn-ea"/>
              </a:rPr>
              <a:t>continue</a:t>
            </a:r>
            <a:r>
              <a:rPr lang="zh-CN" altLang="en-US" sz="1600" b="0" dirty="0">
                <a:solidFill>
                  <a:schemeClr val="tx1">
                    <a:lumMod val="75000"/>
                    <a:lumOff val="25000"/>
                  </a:schemeClr>
                </a:solidFill>
                <a:latin typeface="+mn-ea"/>
                <a:ea typeface="+mn-ea"/>
              </a:rPr>
              <a:t>常用于循环结构中</a:t>
            </a:r>
            <a:endParaRPr lang="zh-CN" altLang="en-US" sz="1600" dirty="0">
              <a:latin typeface="+mn-ea"/>
              <a:ea typeface="+mn-ea"/>
            </a:endParaRPr>
          </a:p>
          <a:p>
            <a:pPr algn="l" eaLnBrk="0" hangingPunct="0">
              <a:buClr>
                <a:srgbClr val="000000"/>
              </a:buClr>
              <a:buFont typeface="Wingdings" panose="05000000000000000000" charset="0"/>
              <a:buChar char=""/>
            </a:pPr>
            <a:endParaRPr lang="zh-CN" altLang="en-US" sz="2000" b="0" dirty="0">
              <a:solidFill>
                <a:schemeClr val="tx1">
                  <a:lumMod val="75000"/>
                  <a:lumOff val="25000"/>
                </a:schemeClr>
              </a:solidFill>
              <a:latin typeface="+mn-ea"/>
              <a:ea typeface="+mn-ea"/>
            </a:endParaRPr>
          </a:p>
          <a:p>
            <a:pPr marL="342900" indent="-342900" algn="l" eaLnBrk="0" hangingPunct="0">
              <a:buClr>
                <a:srgbClr val="000000"/>
              </a:buClr>
              <a:buFont typeface="Wingdings" panose="05000000000000000000" pitchFamily="2" charset="2"/>
              <a:buChar char="n"/>
            </a:pPr>
            <a:r>
              <a:rPr lang="zh-CN" altLang="en-US" sz="2000" dirty="0">
                <a:solidFill>
                  <a:schemeClr val="tx1">
                    <a:lumMod val="75000"/>
                    <a:lumOff val="25000"/>
                  </a:schemeClr>
                </a:solidFill>
                <a:latin typeface="+mn-ea"/>
                <a:ea typeface="+mn-ea"/>
              </a:rPr>
              <a:t>作用（循环结构中）</a:t>
            </a:r>
            <a:endParaRPr lang="zh-CN" altLang="en-US" sz="2000" dirty="0">
              <a:solidFill>
                <a:schemeClr val="tx1">
                  <a:lumMod val="75000"/>
                  <a:lumOff val="25000"/>
                </a:schemeClr>
              </a:solidFill>
              <a:latin typeface="+mn-ea"/>
              <a:ea typeface="+mn-ea"/>
            </a:endParaRPr>
          </a:p>
          <a:p>
            <a:pPr marL="887730" lvl="1" indent="-342900" algn="l" eaLnBrk="0" hangingPunct="0">
              <a:buClr>
                <a:srgbClr val="000000"/>
              </a:buClr>
              <a:buFont typeface="Wingdings" panose="05000000000000000000" charset="0"/>
              <a:buChar char=""/>
            </a:pPr>
            <a:r>
              <a:rPr lang="zh-CN" altLang="en-US" sz="1600" b="0" dirty="0">
                <a:solidFill>
                  <a:schemeClr val="tx1">
                    <a:lumMod val="75000"/>
                    <a:lumOff val="25000"/>
                  </a:schemeClr>
                </a:solidFill>
                <a:latin typeface="+mn-ea"/>
                <a:ea typeface="+mn-ea"/>
              </a:rPr>
              <a:t>break语句结束最近层整个循环</a:t>
            </a:r>
            <a:endParaRPr lang="zh-CN" altLang="en-US" sz="1600" b="0" dirty="0">
              <a:solidFill>
                <a:schemeClr val="tx1">
                  <a:lumMod val="75000"/>
                  <a:lumOff val="25000"/>
                </a:schemeClr>
              </a:solidFill>
              <a:latin typeface="+mn-ea"/>
              <a:ea typeface="+mn-ea"/>
            </a:endParaRPr>
          </a:p>
          <a:p>
            <a:pPr marL="887730" lvl="1" indent="-342900" algn="l" eaLnBrk="0" hangingPunct="0">
              <a:buClr>
                <a:srgbClr val="000000"/>
              </a:buClr>
              <a:buFont typeface="Wingdings" panose="05000000000000000000" charset="0"/>
              <a:buChar char=""/>
            </a:pPr>
            <a:r>
              <a:rPr lang="zh-CN" altLang="en-US" sz="1600" b="0" dirty="0">
                <a:solidFill>
                  <a:schemeClr val="tx1">
                    <a:lumMod val="75000"/>
                    <a:lumOff val="25000"/>
                  </a:schemeClr>
                </a:solidFill>
                <a:latin typeface="+mn-ea"/>
                <a:ea typeface="+mn-ea"/>
              </a:rPr>
              <a:t>continue跳出本次循环，进入下一次循环 </a:t>
            </a:r>
            <a:endParaRPr lang="zh-CN" altLang="en-US" sz="1600" b="0" dirty="0">
              <a:solidFill>
                <a:schemeClr val="tx1">
                  <a:lumMod val="75000"/>
                  <a:lumOff val="25000"/>
                </a:schemeClr>
              </a:solidFill>
              <a:latin typeface="+mn-ea"/>
              <a:ea typeface="+mn-ea"/>
            </a:endParaRP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40" y="141483"/>
            <a:ext cx="6768877" cy="368300"/>
          </a:xfrm>
        </p:spPr>
        <p:txBody>
          <a:bodyPr/>
          <a:lstStyle/>
          <a:p>
            <a:pPr marL="0" indent="0">
              <a:buNone/>
            </a:pPr>
            <a:r>
              <a:rPr lang="zh-CN" altLang="en-US" dirty="0"/>
              <a:t>如何使用</a:t>
            </a:r>
            <a:r>
              <a:rPr lang="en-US" altLang="zh-CN" dirty="0">
                <a:latin typeface="+mj-ea"/>
              </a:rPr>
              <a:t>while</a:t>
            </a:r>
            <a:r>
              <a:rPr lang="zh-CN" altLang="en-US" dirty="0">
                <a:latin typeface="+mj-ea"/>
              </a:rPr>
              <a:t>无限循环</a:t>
            </a:r>
            <a:endParaRPr lang="zh-CN" altLang="en-US" dirty="0">
              <a:latin typeface="+mj-ea"/>
            </a:endParaRPr>
          </a:p>
        </p:txBody>
      </p:sp>
      <p:sp>
        <p:nvSpPr>
          <p:cNvPr id="3" name="内容占位符 2"/>
          <p:cNvSpPr>
            <a:spLocks noGrp="1"/>
          </p:cNvSpPr>
          <p:nvPr>
            <p:ph idx="1"/>
          </p:nvPr>
        </p:nvSpPr>
        <p:spPr/>
        <p:txBody>
          <a:bodyPr/>
          <a:lstStyle/>
          <a:p>
            <a:pPr marL="0" indent="0">
              <a:buFont typeface="Wingdings" panose="05000000000000000000" charset="0"/>
              <a:buNone/>
            </a:pPr>
            <a:r>
              <a:rPr lang="en-US" altLang="zh-CN" dirty="0"/>
              <a:t>while  True</a:t>
            </a:r>
            <a:r>
              <a:rPr lang="zh-CN" altLang="en-US" dirty="0"/>
              <a:t>：</a:t>
            </a:r>
            <a:endParaRPr lang="zh-CN" altLang="en-US" dirty="0"/>
          </a:p>
          <a:p>
            <a:pPr marL="0" indent="0">
              <a:buFont typeface="Wingdings" panose="05000000000000000000" charset="0"/>
              <a:buNone/>
            </a:pPr>
            <a:r>
              <a:rPr lang="en-US" altLang="zh-CN" dirty="0"/>
              <a:t>         </a:t>
            </a:r>
            <a:r>
              <a:rPr lang="zh-CN" altLang="en-US" dirty="0"/>
              <a:t>代码块</a:t>
            </a:r>
            <a:endParaRPr lang="en-US" altLang="zh-CN" dirty="0"/>
          </a:p>
          <a:p>
            <a:pPr marL="457200" lvl="1" indent="0">
              <a:buNone/>
            </a:pPr>
            <a:endParaRPr lang="en-US" altLang="zh-CN" dirty="0"/>
          </a:p>
          <a:p>
            <a:pPr marL="0" indent="0">
              <a:buNone/>
            </a:pPr>
            <a:endParaRPr lang="en-US" altLang="zh-CN" dirty="0"/>
          </a:p>
          <a:p>
            <a:pPr marL="609600" lvl="1" indent="0">
              <a:buNone/>
            </a:pPr>
            <a:endParaRPr lang="en-US" altLang="zh-CN" dirty="0"/>
          </a:p>
          <a:p>
            <a:pPr marL="609600" lvl="1" indent="0">
              <a:buNone/>
            </a:pPr>
            <a:endParaRPr lang="zh-CN" altLang="en-US" dirty="0"/>
          </a:p>
        </p:txBody>
      </p:sp>
      <p:sp>
        <p:nvSpPr>
          <p:cNvPr id="4" name="副标题 3"/>
          <p:cNvSpPr>
            <a:spLocks noGrp="1"/>
          </p:cNvSpPr>
          <p:nvPr>
            <p:ph type="subTitle" idx="10"/>
          </p:nvPr>
        </p:nvSpPr>
        <p:spPr/>
        <p:txBody>
          <a:bodyPr/>
          <a:lstStyle/>
          <a:p>
            <a:r>
              <a:rPr lang="zh-CN" altLang="en-US" dirty="0"/>
              <a:t>无限循环   </a:t>
            </a:r>
            <a:r>
              <a:rPr lang="en-US" altLang="zh-CN" dirty="0"/>
              <a:t>——</a:t>
            </a:r>
            <a:r>
              <a:rPr lang="zh-CN" altLang="en-US" dirty="0"/>
              <a:t>比如我们的指针挂钟</a:t>
            </a:r>
            <a:endParaRPr lang="zh-CN" altLang="en-US" dirty="0"/>
          </a:p>
        </p:txBody>
      </p:sp>
      <p:grpSp>
        <p:nvGrpSpPr>
          <p:cNvPr id="7" name="组合 6"/>
          <p:cNvGrpSpPr/>
          <p:nvPr/>
        </p:nvGrpSpPr>
        <p:grpSpPr>
          <a:xfrm>
            <a:off x="276366" y="866569"/>
            <a:ext cx="191241" cy="170201"/>
            <a:chOff x="1692275" y="4522788"/>
            <a:chExt cx="1046163" cy="1241428"/>
          </a:xfrm>
        </p:grpSpPr>
        <p:grpSp>
          <p:nvGrpSpPr>
            <p:cNvPr id="8" name="组合 7"/>
            <p:cNvGrpSpPr/>
            <p:nvPr/>
          </p:nvGrpSpPr>
          <p:grpSpPr>
            <a:xfrm>
              <a:off x="1692275" y="4522788"/>
              <a:ext cx="1046163" cy="1241425"/>
              <a:chOff x="1692275" y="4522788"/>
              <a:chExt cx="1046163" cy="1241425"/>
            </a:xfrm>
          </p:grpSpPr>
          <p:sp>
            <p:nvSpPr>
              <p:cNvPr id="10" name="AutoShape 105"/>
              <p:cNvSpPr>
                <a:spLocks noChangeAspect="1" noChangeArrowheads="1" noTextEdit="1"/>
              </p:cNvSpPr>
              <p:nvPr/>
            </p:nvSpPr>
            <p:spPr bwMode="auto">
              <a:xfrm>
                <a:off x="1692275" y="4522788"/>
                <a:ext cx="1046163" cy="1241425"/>
              </a:xfrm>
              <a:prstGeom prst="rect">
                <a:avLst/>
              </a:prstGeom>
              <a:noFill/>
              <a:ln w="9525">
                <a:noFill/>
                <a:miter lim="800000"/>
              </a:ln>
            </p:spPr>
            <p:txBody>
              <a:bodyPr vert="horz" wrap="square" lIns="91440" tIns="45720" rIns="91440" bIns="45720" numCol="1" anchor="t" anchorCtr="0" compatLnSpc="1"/>
              <a:lstStyle/>
              <a:p>
                <a:pPr>
                  <a:buNone/>
                </a:pPr>
                <a:endParaRPr lang="zh-CN" altLang="en-US"/>
              </a:p>
            </p:txBody>
          </p:sp>
          <p:sp>
            <p:nvSpPr>
              <p:cNvPr id="11" name="Freeform 107"/>
              <p:cNvSpPr>
                <a:spLocks noEditPoints="1"/>
              </p:cNvSpPr>
              <p:nvPr/>
            </p:nvSpPr>
            <p:spPr bwMode="auto">
              <a:xfrm>
                <a:off x="1692275" y="4522791"/>
                <a:ext cx="857249" cy="1074737"/>
              </a:xfrm>
              <a:custGeom>
                <a:avLst/>
                <a:gdLst/>
                <a:ahLst/>
                <a:cxnLst>
                  <a:cxn ang="0">
                    <a:pos x="449" y="382"/>
                  </a:cxn>
                  <a:cxn ang="0">
                    <a:pos x="457" y="382"/>
                  </a:cxn>
                  <a:cxn ang="0">
                    <a:pos x="457" y="116"/>
                  </a:cxn>
                  <a:cxn ang="0">
                    <a:pos x="391" y="50"/>
                  </a:cxn>
                  <a:cxn ang="0">
                    <a:pos x="328" y="50"/>
                  </a:cxn>
                  <a:cxn ang="0">
                    <a:pos x="278" y="0"/>
                  </a:cxn>
                  <a:cxn ang="0">
                    <a:pos x="179" y="0"/>
                  </a:cxn>
                  <a:cxn ang="0">
                    <a:pos x="129" y="50"/>
                  </a:cxn>
                  <a:cxn ang="0">
                    <a:pos x="66" y="50"/>
                  </a:cxn>
                  <a:cxn ang="0">
                    <a:pos x="0" y="116"/>
                  </a:cxn>
                  <a:cxn ang="0">
                    <a:pos x="0" y="507"/>
                  </a:cxn>
                  <a:cxn ang="0">
                    <a:pos x="66" y="573"/>
                  </a:cxn>
                  <a:cxn ang="0">
                    <a:pos x="278" y="573"/>
                  </a:cxn>
                  <a:cxn ang="0">
                    <a:pos x="278" y="557"/>
                  </a:cxn>
                  <a:cxn ang="0">
                    <a:pos x="449" y="382"/>
                  </a:cxn>
                  <a:cxn ang="0">
                    <a:pos x="179" y="37"/>
                  </a:cxn>
                  <a:cxn ang="0">
                    <a:pos x="278" y="37"/>
                  </a:cxn>
                  <a:cxn ang="0">
                    <a:pos x="295" y="54"/>
                  </a:cxn>
                  <a:cxn ang="0">
                    <a:pos x="278" y="71"/>
                  </a:cxn>
                  <a:cxn ang="0">
                    <a:pos x="179" y="71"/>
                  </a:cxn>
                  <a:cxn ang="0">
                    <a:pos x="162" y="54"/>
                  </a:cxn>
                  <a:cxn ang="0">
                    <a:pos x="179" y="37"/>
                  </a:cxn>
                  <a:cxn ang="0">
                    <a:pos x="133" y="220"/>
                  </a:cxn>
                  <a:cxn ang="0">
                    <a:pos x="328" y="220"/>
                  </a:cxn>
                  <a:cxn ang="0">
                    <a:pos x="345" y="237"/>
                  </a:cxn>
                  <a:cxn ang="0">
                    <a:pos x="328" y="253"/>
                  </a:cxn>
                  <a:cxn ang="0">
                    <a:pos x="133" y="253"/>
                  </a:cxn>
                  <a:cxn ang="0">
                    <a:pos x="116" y="237"/>
                  </a:cxn>
                  <a:cxn ang="0">
                    <a:pos x="133" y="220"/>
                  </a:cxn>
                  <a:cxn ang="0">
                    <a:pos x="262" y="407"/>
                  </a:cxn>
                  <a:cxn ang="0">
                    <a:pos x="133" y="407"/>
                  </a:cxn>
                  <a:cxn ang="0">
                    <a:pos x="116" y="391"/>
                  </a:cxn>
                  <a:cxn ang="0">
                    <a:pos x="133" y="374"/>
                  </a:cxn>
                  <a:cxn ang="0">
                    <a:pos x="262" y="374"/>
                  </a:cxn>
                  <a:cxn ang="0">
                    <a:pos x="278" y="391"/>
                  </a:cxn>
                  <a:cxn ang="0">
                    <a:pos x="262" y="407"/>
                  </a:cxn>
                  <a:cxn ang="0">
                    <a:pos x="133" y="328"/>
                  </a:cxn>
                  <a:cxn ang="0">
                    <a:pos x="116" y="312"/>
                  </a:cxn>
                  <a:cxn ang="0">
                    <a:pos x="133" y="295"/>
                  </a:cxn>
                  <a:cxn ang="0">
                    <a:pos x="328" y="295"/>
                  </a:cxn>
                  <a:cxn ang="0">
                    <a:pos x="345" y="312"/>
                  </a:cxn>
                  <a:cxn ang="0">
                    <a:pos x="328" y="328"/>
                  </a:cxn>
                  <a:cxn ang="0">
                    <a:pos x="133" y="328"/>
                  </a:cxn>
                  <a:cxn ang="0">
                    <a:pos x="133" y="328"/>
                  </a:cxn>
                  <a:cxn ang="0">
                    <a:pos x="133" y="328"/>
                  </a:cxn>
                </a:cxnLst>
                <a:rect l="0" t="0" r="r" b="b"/>
                <a:pathLst>
                  <a:path w="457" h="573">
                    <a:moveTo>
                      <a:pt x="449" y="382"/>
                    </a:moveTo>
                    <a:cubicBezTo>
                      <a:pt x="457" y="382"/>
                      <a:pt x="457" y="382"/>
                      <a:pt x="457" y="382"/>
                    </a:cubicBezTo>
                    <a:cubicBezTo>
                      <a:pt x="457" y="116"/>
                      <a:pt x="457" y="116"/>
                      <a:pt x="457" y="116"/>
                    </a:cubicBezTo>
                    <a:cubicBezTo>
                      <a:pt x="457" y="79"/>
                      <a:pt x="428" y="50"/>
                      <a:pt x="391" y="50"/>
                    </a:cubicBezTo>
                    <a:cubicBezTo>
                      <a:pt x="328" y="50"/>
                      <a:pt x="328" y="50"/>
                      <a:pt x="328" y="50"/>
                    </a:cubicBezTo>
                    <a:cubicBezTo>
                      <a:pt x="328" y="25"/>
                      <a:pt x="307" y="0"/>
                      <a:pt x="278" y="0"/>
                    </a:cubicBezTo>
                    <a:cubicBezTo>
                      <a:pt x="179" y="0"/>
                      <a:pt x="179" y="0"/>
                      <a:pt x="179" y="0"/>
                    </a:cubicBezTo>
                    <a:cubicBezTo>
                      <a:pt x="154" y="0"/>
                      <a:pt x="129" y="21"/>
                      <a:pt x="129" y="50"/>
                    </a:cubicBezTo>
                    <a:cubicBezTo>
                      <a:pt x="66" y="50"/>
                      <a:pt x="66" y="50"/>
                      <a:pt x="66" y="50"/>
                    </a:cubicBezTo>
                    <a:cubicBezTo>
                      <a:pt x="29" y="54"/>
                      <a:pt x="0" y="83"/>
                      <a:pt x="0" y="116"/>
                    </a:cubicBezTo>
                    <a:cubicBezTo>
                      <a:pt x="0" y="507"/>
                      <a:pt x="0" y="507"/>
                      <a:pt x="0" y="507"/>
                    </a:cubicBezTo>
                    <a:cubicBezTo>
                      <a:pt x="0" y="544"/>
                      <a:pt x="29" y="573"/>
                      <a:pt x="66" y="573"/>
                    </a:cubicBezTo>
                    <a:cubicBezTo>
                      <a:pt x="278" y="573"/>
                      <a:pt x="278" y="573"/>
                      <a:pt x="278" y="573"/>
                    </a:cubicBezTo>
                    <a:cubicBezTo>
                      <a:pt x="278" y="557"/>
                      <a:pt x="278" y="557"/>
                      <a:pt x="278" y="557"/>
                    </a:cubicBezTo>
                    <a:cubicBezTo>
                      <a:pt x="278" y="461"/>
                      <a:pt x="353" y="382"/>
                      <a:pt x="449" y="382"/>
                    </a:cubicBezTo>
                    <a:close/>
                    <a:moveTo>
                      <a:pt x="179" y="37"/>
                    </a:moveTo>
                    <a:cubicBezTo>
                      <a:pt x="278" y="37"/>
                      <a:pt x="278" y="37"/>
                      <a:pt x="278" y="37"/>
                    </a:cubicBezTo>
                    <a:cubicBezTo>
                      <a:pt x="287" y="37"/>
                      <a:pt x="295" y="46"/>
                      <a:pt x="295" y="54"/>
                    </a:cubicBezTo>
                    <a:cubicBezTo>
                      <a:pt x="295" y="62"/>
                      <a:pt x="287" y="71"/>
                      <a:pt x="278" y="71"/>
                    </a:cubicBezTo>
                    <a:cubicBezTo>
                      <a:pt x="179" y="71"/>
                      <a:pt x="179" y="71"/>
                      <a:pt x="179" y="71"/>
                    </a:cubicBezTo>
                    <a:cubicBezTo>
                      <a:pt x="170" y="71"/>
                      <a:pt x="162" y="62"/>
                      <a:pt x="162" y="54"/>
                    </a:cubicBezTo>
                    <a:cubicBezTo>
                      <a:pt x="162" y="46"/>
                      <a:pt x="170" y="37"/>
                      <a:pt x="179" y="37"/>
                    </a:cubicBezTo>
                    <a:close/>
                    <a:moveTo>
                      <a:pt x="133" y="220"/>
                    </a:moveTo>
                    <a:cubicBezTo>
                      <a:pt x="328" y="220"/>
                      <a:pt x="328" y="220"/>
                      <a:pt x="328" y="220"/>
                    </a:cubicBezTo>
                    <a:cubicBezTo>
                      <a:pt x="336" y="220"/>
                      <a:pt x="345" y="229"/>
                      <a:pt x="345" y="237"/>
                    </a:cubicBezTo>
                    <a:cubicBezTo>
                      <a:pt x="345" y="245"/>
                      <a:pt x="336" y="253"/>
                      <a:pt x="328" y="253"/>
                    </a:cubicBezTo>
                    <a:cubicBezTo>
                      <a:pt x="133" y="253"/>
                      <a:pt x="133" y="253"/>
                      <a:pt x="133" y="253"/>
                    </a:cubicBezTo>
                    <a:cubicBezTo>
                      <a:pt x="125" y="253"/>
                      <a:pt x="116" y="245"/>
                      <a:pt x="116" y="237"/>
                    </a:cubicBezTo>
                    <a:cubicBezTo>
                      <a:pt x="116" y="224"/>
                      <a:pt x="120" y="220"/>
                      <a:pt x="133" y="220"/>
                    </a:cubicBezTo>
                    <a:close/>
                    <a:moveTo>
                      <a:pt x="262" y="407"/>
                    </a:moveTo>
                    <a:cubicBezTo>
                      <a:pt x="133" y="407"/>
                      <a:pt x="133" y="407"/>
                      <a:pt x="133" y="407"/>
                    </a:cubicBezTo>
                    <a:cubicBezTo>
                      <a:pt x="125" y="407"/>
                      <a:pt x="116" y="399"/>
                      <a:pt x="116" y="391"/>
                    </a:cubicBezTo>
                    <a:cubicBezTo>
                      <a:pt x="116" y="382"/>
                      <a:pt x="125" y="374"/>
                      <a:pt x="133" y="374"/>
                    </a:cubicBezTo>
                    <a:cubicBezTo>
                      <a:pt x="262" y="374"/>
                      <a:pt x="262" y="374"/>
                      <a:pt x="262" y="374"/>
                    </a:cubicBezTo>
                    <a:cubicBezTo>
                      <a:pt x="270" y="374"/>
                      <a:pt x="278" y="382"/>
                      <a:pt x="278" y="391"/>
                    </a:cubicBezTo>
                    <a:cubicBezTo>
                      <a:pt x="278" y="403"/>
                      <a:pt x="270" y="407"/>
                      <a:pt x="262" y="407"/>
                    </a:cubicBezTo>
                    <a:close/>
                    <a:moveTo>
                      <a:pt x="133" y="328"/>
                    </a:moveTo>
                    <a:cubicBezTo>
                      <a:pt x="125" y="328"/>
                      <a:pt x="116" y="320"/>
                      <a:pt x="116" y="312"/>
                    </a:cubicBezTo>
                    <a:cubicBezTo>
                      <a:pt x="116" y="303"/>
                      <a:pt x="125" y="295"/>
                      <a:pt x="133" y="295"/>
                    </a:cubicBezTo>
                    <a:cubicBezTo>
                      <a:pt x="328" y="295"/>
                      <a:pt x="328" y="295"/>
                      <a:pt x="328" y="295"/>
                    </a:cubicBezTo>
                    <a:cubicBezTo>
                      <a:pt x="336" y="295"/>
                      <a:pt x="345" y="303"/>
                      <a:pt x="345" y="312"/>
                    </a:cubicBezTo>
                    <a:cubicBezTo>
                      <a:pt x="345" y="320"/>
                      <a:pt x="336" y="328"/>
                      <a:pt x="328" y="328"/>
                    </a:cubicBezTo>
                    <a:lnTo>
                      <a:pt x="133" y="328"/>
                    </a:lnTo>
                    <a:close/>
                    <a:moveTo>
                      <a:pt x="133" y="328"/>
                    </a:moveTo>
                    <a:cubicBezTo>
                      <a:pt x="133" y="328"/>
                      <a:pt x="133" y="328"/>
                      <a:pt x="133" y="328"/>
                    </a:cubicBezTo>
                  </a:path>
                </a:pathLst>
              </a:custGeom>
              <a:solidFill>
                <a:srgbClr val="0070C0"/>
              </a:solidFill>
              <a:ln w="9525">
                <a:noFill/>
                <a:round/>
              </a:ln>
            </p:spPr>
            <p:txBody>
              <a:bodyPr vert="horz" wrap="square" lIns="91440" tIns="45720" rIns="91440" bIns="45720" numCol="1" anchor="t" anchorCtr="0" compatLnSpc="1"/>
              <a:lstStyle/>
              <a:p>
                <a:pPr>
                  <a:buNone/>
                </a:pPr>
                <a:endParaRPr lang="zh-CN" altLang="en-US"/>
              </a:p>
            </p:txBody>
          </p:sp>
          <p:sp>
            <p:nvSpPr>
              <p:cNvPr id="12" name="Freeform 108"/>
              <p:cNvSpPr>
                <a:spLocks noEditPoints="1"/>
              </p:cNvSpPr>
              <p:nvPr/>
            </p:nvSpPr>
            <p:spPr bwMode="auto">
              <a:xfrm>
                <a:off x="2408238" y="5333999"/>
                <a:ext cx="219074" cy="220805"/>
              </a:xfrm>
              <a:custGeom>
                <a:avLst/>
                <a:gdLst/>
                <a:ahLst/>
                <a:cxnLst>
                  <a:cxn ang="0">
                    <a:pos x="0" y="58"/>
                  </a:cxn>
                  <a:cxn ang="0">
                    <a:pos x="58" y="117"/>
                  </a:cxn>
                  <a:cxn ang="0">
                    <a:pos x="117" y="58"/>
                  </a:cxn>
                  <a:cxn ang="0">
                    <a:pos x="58" y="0"/>
                  </a:cxn>
                  <a:cxn ang="0">
                    <a:pos x="0" y="58"/>
                  </a:cxn>
                  <a:cxn ang="0">
                    <a:pos x="0" y="58"/>
                  </a:cxn>
                  <a:cxn ang="0">
                    <a:pos x="0" y="58"/>
                  </a:cxn>
                </a:cxnLst>
                <a:rect l="0" t="0" r="r" b="b"/>
                <a:pathLst>
                  <a:path w="117" h="117">
                    <a:moveTo>
                      <a:pt x="0" y="58"/>
                    </a:moveTo>
                    <a:cubicBezTo>
                      <a:pt x="0" y="90"/>
                      <a:pt x="26" y="117"/>
                      <a:pt x="58" y="117"/>
                    </a:cubicBezTo>
                    <a:cubicBezTo>
                      <a:pt x="91" y="117"/>
                      <a:pt x="117" y="90"/>
                      <a:pt x="117" y="58"/>
                    </a:cubicBezTo>
                    <a:cubicBezTo>
                      <a:pt x="117" y="26"/>
                      <a:pt x="91" y="0"/>
                      <a:pt x="58" y="0"/>
                    </a:cubicBezTo>
                    <a:cubicBezTo>
                      <a:pt x="26" y="0"/>
                      <a:pt x="0" y="26"/>
                      <a:pt x="0" y="58"/>
                    </a:cubicBezTo>
                    <a:close/>
                    <a:moveTo>
                      <a:pt x="0" y="58"/>
                    </a:moveTo>
                    <a:cubicBezTo>
                      <a:pt x="0" y="58"/>
                      <a:pt x="0" y="58"/>
                      <a:pt x="0" y="58"/>
                    </a:cubicBezTo>
                  </a:path>
                </a:pathLst>
              </a:custGeom>
              <a:solidFill>
                <a:srgbClr val="0070C0"/>
              </a:solidFill>
              <a:ln w="9525">
                <a:noFill/>
                <a:round/>
              </a:ln>
            </p:spPr>
            <p:txBody>
              <a:bodyPr vert="horz" wrap="square" lIns="91440" tIns="45720" rIns="91440" bIns="45720" numCol="1" anchor="t" anchorCtr="0" compatLnSpc="1"/>
              <a:lstStyle/>
              <a:p>
                <a:pPr>
                  <a:buNone/>
                </a:pPr>
                <a:endParaRPr lang="zh-CN" altLang="en-US"/>
              </a:p>
            </p:txBody>
          </p:sp>
        </p:grpSp>
        <p:sp>
          <p:nvSpPr>
            <p:cNvPr id="9" name="Freeform 109"/>
            <p:cNvSpPr>
              <a:spLocks noEditPoints="1"/>
            </p:cNvSpPr>
            <p:nvPr/>
          </p:nvSpPr>
          <p:spPr bwMode="auto">
            <a:xfrm>
              <a:off x="2314575" y="5561010"/>
              <a:ext cx="422277" cy="203206"/>
            </a:xfrm>
            <a:custGeom>
              <a:avLst/>
              <a:gdLst/>
              <a:ahLst/>
              <a:cxnLst>
                <a:cxn ang="0">
                  <a:pos x="113" y="0"/>
                </a:cxn>
                <a:cxn ang="0">
                  <a:pos x="0" y="108"/>
                </a:cxn>
                <a:cxn ang="0">
                  <a:pos x="225" y="108"/>
                </a:cxn>
                <a:cxn ang="0">
                  <a:pos x="113" y="0"/>
                </a:cxn>
                <a:cxn ang="0">
                  <a:pos x="113" y="0"/>
                </a:cxn>
                <a:cxn ang="0">
                  <a:pos x="113" y="0"/>
                </a:cxn>
              </a:cxnLst>
              <a:rect l="0" t="0" r="r" b="b"/>
              <a:pathLst>
                <a:path w="225" h="108">
                  <a:moveTo>
                    <a:pt x="113" y="0"/>
                  </a:moveTo>
                  <a:cubicBezTo>
                    <a:pt x="50" y="0"/>
                    <a:pt x="4" y="50"/>
                    <a:pt x="0" y="108"/>
                  </a:cubicBezTo>
                  <a:cubicBezTo>
                    <a:pt x="225" y="108"/>
                    <a:pt x="225" y="108"/>
                    <a:pt x="225" y="108"/>
                  </a:cubicBezTo>
                  <a:cubicBezTo>
                    <a:pt x="225" y="41"/>
                    <a:pt x="175" y="0"/>
                    <a:pt x="113" y="0"/>
                  </a:cubicBezTo>
                  <a:close/>
                  <a:moveTo>
                    <a:pt x="113" y="0"/>
                  </a:moveTo>
                  <a:cubicBezTo>
                    <a:pt x="113" y="0"/>
                    <a:pt x="113" y="0"/>
                    <a:pt x="113" y="0"/>
                  </a:cubicBezTo>
                </a:path>
              </a:pathLst>
            </a:custGeom>
            <a:solidFill>
              <a:srgbClr val="0070C0"/>
            </a:solidFill>
            <a:ln w="9525">
              <a:noFill/>
              <a:round/>
            </a:ln>
          </p:spPr>
          <p:txBody>
            <a:bodyPr vert="horz" wrap="square" lIns="91440" tIns="45720" rIns="91440" bIns="45720" numCol="1" anchor="t" anchorCtr="0" compatLnSpc="1"/>
            <a:lstStyle/>
            <a:p>
              <a:pPr>
                <a:buNone/>
              </a:pPr>
              <a:endParaRPr lang="zh-CN" altLang="en-US"/>
            </a:p>
          </p:txBody>
        </p:sp>
      </p:grpSp>
      <p:sp>
        <p:nvSpPr>
          <p:cNvPr id="83" name="AutoShape 8"/>
          <p:cNvSpPr>
            <a:spLocks noChangeArrowheads="1"/>
          </p:cNvSpPr>
          <p:nvPr/>
        </p:nvSpPr>
        <p:spPr bwMode="gray">
          <a:xfrm>
            <a:off x="406737" y="2679600"/>
            <a:ext cx="3500299" cy="374571"/>
          </a:xfrm>
          <a:prstGeom prst="wedgeRoundRectCallout">
            <a:avLst>
              <a:gd name="adj1" fmla="val -23296"/>
              <a:gd name="adj2" fmla="val 52232"/>
              <a:gd name="adj3" fmla="val 16667"/>
            </a:avLst>
          </a:prstGeom>
          <a:solidFill>
            <a:srgbClr val="0070C0"/>
          </a:solidFill>
          <a:ln w="9525" cap="flat" cmpd="sng" algn="ctr">
            <a:solidFill>
              <a:schemeClr val="accent3">
                <a:lumMod val="95000"/>
              </a:schemeClr>
            </a:solidFill>
            <a:prstDash val="solid"/>
            <a:round/>
            <a:headEnd type="none" w="med" len="med"/>
            <a:tailEnd type="none" w="med" len="med"/>
          </a:ln>
          <a:effectLst>
            <a:outerShdw blurRad="50800" dist="38100" dir="5400000" algn="t" rotWithShape="0">
              <a:prstClr val="black">
                <a:alpha val="40000"/>
              </a:prstClr>
            </a:outerShdw>
          </a:effectLst>
        </p:spPr>
        <p:txBody>
          <a:bodyPr wrap="square" anchor="ctr" anchorCtr="0">
            <a:spAutoFit/>
          </a:bodyPr>
          <a:lstStyle/>
          <a:p>
            <a:pPr marL="0" lvl="1" indent="-285750" algn="l" eaLnBrk="0" hangingPunct="0">
              <a:spcBef>
                <a:spcPct val="20000"/>
              </a:spcBef>
              <a:buClr>
                <a:srgbClr val="233DA9"/>
              </a:buClr>
              <a:buSzPct val="80000"/>
            </a:pPr>
            <a:r>
              <a:rPr lang="zh-CN" altLang="zh-CN" sz="1600" kern="0" dirty="0">
                <a:solidFill>
                  <a:schemeClr val="bg1"/>
                </a:solidFill>
                <a:latin typeface="+mn-ea"/>
                <a:ea typeface="+mn-ea"/>
              </a:rPr>
              <a:t>永远不会退出的循环称为</a:t>
            </a:r>
            <a:r>
              <a:rPr lang="en-US" altLang="zh-CN" sz="1600" kern="0" dirty="0">
                <a:solidFill>
                  <a:schemeClr val="bg1"/>
                </a:solidFill>
                <a:latin typeface="+mn-ea"/>
                <a:ea typeface="+mn-ea"/>
              </a:rPr>
              <a:t>“</a:t>
            </a:r>
            <a:r>
              <a:rPr lang="zh-CN" altLang="zh-CN" sz="1600" kern="0" dirty="0">
                <a:solidFill>
                  <a:schemeClr val="bg1"/>
                </a:solidFill>
                <a:latin typeface="+mn-ea"/>
                <a:ea typeface="+mn-ea"/>
              </a:rPr>
              <a:t>死循环</a:t>
            </a:r>
            <a:r>
              <a:rPr lang="en-US" altLang="zh-CN" sz="1600" kern="0" dirty="0">
                <a:solidFill>
                  <a:schemeClr val="bg1"/>
                </a:solidFill>
                <a:latin typeface="+mn-ea"/>
                <a:ea typeface="+mn-ea"/>
              </a:rPr>
              <a:t>”</a:t>
            </a:r>
            <a:endParaRPr lang="zh-CN" altLang="en-US" sz="1600" kern="0" dirty="0">
              <a:solidFill>
                <a:schemeClr val="bg1"/>
              </a:solidFill>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latin typeface="+mj-ea"/>
                <a:sym typeface="+mn-ea"/>
              </a:rPr>
              <a:t>登录验证案例</a:t>
            </a:r>
            <a:endParaRPr lang="zh-CN" altLang="en-US" dirty="0">
              <a:latin typeface="+mj-ea"/>
              <a:sym typeface="+mn-ea"/>
            </a:endParaRPr>
          </a:p>
        </p:txBody>
      </p:sp>
      <p:sp>
        <p:nvSpPr>
          <p:cNvPr id="3" name="内容占位符 2"/>
          <p:cNvSpPr>
            <a:spLocks noGrp="1"/>
          </p:cNvSpPr>
          <p:nvPr>
            <p:ph idx="1"/>
          </p:nvPr>
        </p:nvSpPr>
        <p:spPr>
          <a:xfrm>
            <a:off x="323528" y="1203598"/>
            <a:ext cx="8352928" cy="2496108"/>
          </a:xfrm>
        </p:spPr>
        <p:txBody>
          <a:bodyPr/>
          <a:lstStyle/>
          <a:p>
            <a:r>
              <a:rPr lang="zh-CN" altLang="en-US" dirty="0">
                <a:latin typeface="+mj-ea"/>
                <a:sym typeface="+mn-ea"/>
              </a:rPr>
              <a:t>登录验证</a:t>
            </a:r>
            <a:r>
              <a:rPr lang="zh-CN" altLang="en-US" dirty="0"/>
              <a:t>需求说明</a:t>
            </a:r>
            <a:endParaRPr lang="en-US" altLang="zh-CN" dirty="0"/>
          </a:p>
          <a:p>
            <a:pPr lvl="1"/>
            <a:r>
              <a:rPr lang="zh-CN" altLang="en-US" dirty="0"/>
              <a:t>循环输入用户名，输入密码，如果正确提示登录成功，否则输入三次</a:t>
            </a:r>
            <a:r>
              <a:rPr lang="zh-CN" altLang="zh-CN" dirty="0"/>
              <a:t>退</a:t>
            </a:r>
            <a:r>
              <a:rPr lang="zh-CN" altLang="en-US" dirty="0"/>
              <a:t>出循环</a:t>
            </a:r>
            <a:endParaRPr lang="zh-CN" altLang="en-US" dirty="0"/>
          </a:p>
          <a:p>
            <a:pPr marL="457200" lvl="1" indent="0">
              <a:buNone/>
            </a:pPr>
            <a:r>
              <a:rPr lang="zh-CN" altLang="en-US" sz="2000" b="1" dirty="0"/>
              <a:t>    </a:t>
            </a:r>
            <a:endParaRPr lang="en-US" altLang="zh-CN" sz="2000" dirty="0"/>
          </a:p>
          <a:p>
            <a:pPr lvl="1"/>
            <a:endParaRPr lang="zh-CN" altLang="en-US" sz="2000" dirty="0"/>
          </a:p>
        </p:txBody>
      </p:sp>
      <p:sp>
        <p:nvSpPr>
          <p:cNvPr id="15" name="副标题 14"/>
          <p:cNvSpPr>
            <a:spLocks noGrp="1"/>
          </p:cNvSpPr>
          <p:nvPr>
            <p:ph type="subTitle" idx="10"/>
          </p:nvPr>
        </p:nvSpPr>
        <p:spPr/>
        <p:txBody>
          <a:bodyPr/>
          <a:lstStyle/>
          <a:p>
            <a:r>
              <a:rPr lang="zh-CN" altLang="en-US" dirty="0"/>
              <a:t>思路分析</a:t>
            </a:r>
            <a:endParaRPr lang="zh-CN" altLang="en-US" dirty="0"/>
          </a:p>
        </p:txBody>
      </p:sp>
      <p:grpSp>
        <p:nvGrpSpPr>
          <p:cNvPr id="5" name="组合 4"/>
          <p:cNvGrpSpPr/>
          <p:nvPr/>
        </p:nvGrpSpPr>
        <p:grpSpPr>
          <a:xfrm>
            <a:off x="285720" y="816758"/>
            <a:ext cx="247650" cy="183356"/>
            <a:chOff x="6660232" y="1684535"/>
            <a:chExt cx="247650" cy="244475"/>
          </a:xfrm>
        </p:grpSpPr>
        <p:sp>
          <p:nvSpPr>
            <p:cNvPr id="6" name="Oval 70"/>
            <p:cNvSpPr>
              <a:spLocks noChangeArrowheads="1"/>
            </p:cNvSpPr>
            <p:nvPr/>
          </p:nvSpPr>
          <p:spPr bwMode="auto">
            <a:xfrm>
              <a:off x="6709445" y="1736923"/>
              <a:ext cx="146050" cy="146050"/>
            </a:xfrm>
            <a:prstGeom prst="ellipse">
              <a:avLst/>
            </a:pr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1"/>
            <p:cNvSpPr/>
            <p:nvPr/>
          </p:nvSpPr>
          <p:spPr bwMode="auto">
            <a:xfrm>
              <a:off x="6761832" y="1890910"/>
              <a:ext cx="47625" cy="15875"/>
            </a:xfrm>
            <a:custGeom>
              <a:avLst/>
              <a:gdLst>
                <a:gd name="T0" fmla="*/ 0 w 30"/>
                <a:gd name="T1" fmla="*/ 0 h 10"/>
                <a:gd name="T2" fmla="*/ 30 w 30"/>
                <a:gd name="T3" fmla="*/ 0 h 10"/>
                <a:gd name="T4" fmla="*/ 30 w 30"/>
                <a:gd name="T5" fmla="*/ 10 h 10"/>
                <a:gd name="T6" fmla="*/ 0 w 30"/>
                <a:gd name="T7" fmla="*/ 10 h 10"/>
                <a:gd name="T8" fmla="*/ 0 w 30"/>
                <a:gd name="T9" fmla="*/ 0 h 10"/>
                <a:gd name="T10" fmla="*/ 0 w 30"/>
                <a:gd name="T11" fmla="*/ 0 h 10"/>
              </a:gdLst>
              <a:ahLst/>
              <a:cxnLst>
                <a:cxn ang="0">
                  <a:pos x="T0" y="T1"/>
                </a:cxn>
                <a:cxn ang="0">
                  <a:pos x="T2" y="T3"/>
                </a:cxn>
                <a:cxn ang="0">
                  <a:pos x="T4" y="T5"/>
                </a:cxn>
                <a:cxn ang="0">
                  <a:pos x="T6" y="T7"/>
                </a:cxn>
                <a:cxn ang="0">
                  <a:pos x="T8" y="T9"/>
                </a:cxn>
                <a:cxn ang="0">
                  <a:pos x="T10" y="T11"/>
                </a:cxn>
              </a:cxnLst>
              <a:rect l="0" t="0" r="r" b="b"/>
              <a:pathLst>
                <a:path w="30" h="10">
                  <a:moveTo>
                    <a:pt x="0" y="0"/>
                  </a:moveTo>
                  <a:lnTo>
                    <a:pt x="30" y="0"/>
                  </a:lnTo>
                  <a:lnTo>
                    <a:pt x="30" y="10"/>
                  </a:lnTo>
                  <a:lnTo>
                    <a:pt x="0" y="10"/>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72"/>
            <p:cNvSpPr/>
            <p:nvPr/>
          </p:nvSpPr>
          <p:spPr bwMode="auto">
            <a:xfrm>
              <a:off x="6772945" y="1909960"/>
              <a:ext cx="30163" cy="19050"/>
            </a:xfrm>
            <a:custGeom>
              <a:avLst/>
              <a:gdLst>
                <a:gd name="T0" fmla="*/ 0 w 19"/>
                <a:gd name="T1" fmla="*/ 0 h 12"/>
                <a:gd name="T2" fmla="*/ 19 w 19"/>
                <a:gd name="T3" fmla="*/ 0 h 12"/>
                <a:gd name="T4" fmla="*/ 19 w 19"/>
                <a:gd name="T5" fmla="*/ 12 h 12"/>
                <a:gd name="T6" fmla="*/ 0 w 19"/>
                <a:gd name="T7" fmla="*/ 12 h 12"/>
                <a:gd name="T8" fmla="*/ 0 w 19"/>
                <a:gd name="T9" fmla="*/ 0 h 12"/>
                <a:gd name="T10" fmla="*/ 0 w 19"/>
                <a:gd name="T11" fmla="*/ 0 h 12"/>
              </a:gdLst>
              <a:ahLst/>
              <a:cxnLst>
                <a:cxn ang="0">
                  <a:pos x="T0" y="T1"/>
                </a:cxn>
                <a:cxn ang="0">
                  <a:pos x="T2" y="T3"/>
                </a:cxn>
                <a:cxn ang="0">
                  <a:pos x="T4" y="T5"/>
                </a:cxn>
                <a:cxn ang="0">
                  <a:pos x="T6" y="T7"/>
                </a:cxn>
                <a:cxn ang="0">
                  <a:pos x="T8" y="T9"/>
                </a:cxn>
                <a:cxn ang="0">
                  <a:pos x="T10" y="T11"/>
                </a:cxn>
              </a:cxnLst>
              <a:rect l="0" t="0" r="r" b="b"/>
              <a:pathLst>
                <a:path w="19" h="12">
                  <a:moveTo>
                    <a:pt x="0" y="0"/>
                  </a:moveTo>
                  <a:lnTo>
                    <a:pt x="19" y="0"/>
                  </a:lnTo>
                  <a:lnTo>
                    <a:pt x="19" y="12"/>
                  </a:lnTo>
                  <a:lnTo>
                    <a:pt x="0" y="12"/>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73"/>
            <p:cNvSpPr/>
            <p:nvPr/>
          </p:nvSpPr>
          <p:spPr bwMode="auto">
            <a:xfrm>
              <a:off x="6772945" y="1684535"/>
              <a:ext cx="22225" cy="38100"/>
            </a:xfrm>
            <a:custGeom>
              <a:avLst/>
              <a:gdLst>
                <a:gd name="T0" fmla="*/ 0 w 14"/>
                <a:gd name="T1" fmla="*/ 0 h 24"/>
                <a:gd name="T2" fmla="*/ 14 w 14"/>
                <a:gd name="T3" fmla="*/ 0 h 24"/>
                <a:gd name="T4" fmla="*/ 14 w 14"/>
                <a:gd name="T5" fmla="*/ 24 h 24"/>
                <a:gd name="T6" fmla="*/ 0 w 14"/>
                <a:gd name="T7" fmla="*/ 24 h 24"/>
                <a:gd name="T8" fmla="*/ 0 w 14"/>
                <a:gd name="T9" fmla="*/ 0 h 24"/>
                <a:gd name="T10" fmla="*/ 0 w 14"/>
                <a:gd name="T11" fmla="*/ 0 h 24"/>
              </a:gdLst>
              <a:ahLst/>
              <a:cxnLst>
                <a:cxn ang="0">
                  <a:pos x="T0" y="T1"/>
                </a:cxn>
                <a:cxn ang="0">
                  <a:pos x="T2" y="T3"/>
                </a:cxn>
                <a:cxn ang="0">
                  <a:pos x="T4" y="T5"/>
                </a:cxn>
                <a:cxn ang="0">
                  <a:pos x="T6" y="T7"/>
                </a:cxn>
                <a:cxn ang="0">
                  <a:pos x="T8" y="T9"/>
                </a:cxn>
                <a:cxn ang="0">
                  <a:pos x="T10" y="T11"/>
                </a:cxn>
              </a:cxnLst>
              <a:rect l="0" t="0" r="r" b="b"/>
              <a:pathLst>
                <a:path w="14" h="24">
                  <a:moveTo>
                    <a:pt x="0" y="0"/>
                  </a:moveTo>
                  <a:lnTo>
                    <a:pt x="14" y="0"/>
                  </a:lnTo>
                  <a:lnTo>
                    <a:pt x="14" y="24"/>
                  </a:lnTo>
                  <a:lnTo>
                    <a:pt x="0" y="2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4"/>
            <p:cNvSpPr/>
            <p:nvPr/>
          </p:nvSpPr>
          <p:spPr bwMode="auto">
            <a:xfrm>
              <a:off x="6866607" y="1778198"/>
              <a:ext cx="41275" cy="22225"/>
            </a:xfrm>
            <a:custGeom>
              <a:avLst/>
              <a:gdLst>
                <a:gd name="T0" fmla="*/ 0 w 26"/>
                <a:gd name="T1" fmla="*/ 0 h 14"/>
                <a:gd name="T2" fmla="*/ 26 w 26"/>
                <a:gd name="T3" fmla="*/ 0 h 14"/>
                <a:gd name="T4" fmla="*/ 26 w 26"/>
                <a:gd name="T5" fmla="*/ 14 h 14"/>
                <a:gd name="T6" fmla="*/ 0 w 26"/>
                <a:gd name="T7" fmla="*/ 14 h 14"/>
                <a:gd name="T8" fmla="*/ 0 w 26"/>
                <a:gd name="T9" fmla="*/ 0 h 14"/>
                <a:gd name="T10" fmla="*/ 0 w 26"/>
                <a:gd name="T11" fmla="*/ 0 h 14"/>
              </a:gdLst>
              <a:ahLst/>
              <a:cxnLst>
                <a:cxn ang="0">
                  <a:pos x="T0" y="T1"/>
                </a:cxn>
                <a:cxn ang="0">
                  <a:pos x="T2" y="T3"/>
                </a:cxn>
                <a:cxn ang="0">
                  <a:pos x="T4" y="T5"/>
                </a:cxn>
                <a:cxn ang="0">
                  <a:pos x="T6" y="T7"/>
                </a:cxn>
                <a:cxn ang="0">
                  <a:pos x="T8" y="T9"/>
                </a:cxn>
                <a:cxn ang="0">
                  <a:pos x="T10" y="T11"/>
                </a:cxn>
              </a:cxnLst>
              <a:rect l="0" t="0" r="r" b="b"/>
              <a:pathLst>
                <a:path w="26" h="14">
                  <a:moveTo>
                    <a:pt x="0" y="0"/>
                  </a:moveTo>
                  <a:lnTo>
                    <a:pt x="26" y="0"/>
                  </a:lnTo>
                  <a:lnTo>
                    <a:pt x="26" y="14"/>
                  </a:lnTo>
                  <a:lnTo>
                    <a:pt x="0" y="1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5"/>
            <p:cNvSpPr/>
            <p:nvPr/>
          </p:nvSpPr>
          <p:spPr bwMode="auto">
            <a:xfrm>
              <a:off x="6660232" y="1778198"/>
              <a:ext cx="38100" cy="22225"/>
            </a:xfrm>
            <a:custGeom>
              <a:avLst/>
              <a:gdLst>
                <a:gd name="T0" fmla="*/ 0 w 24"/>
                <a:gd name="T1" fmla="*/ 0 h 14"/>
                <a:gd name="T2" fmla="*/ 24 w 24"/>
                <a:gd name="T3" fmla="*/ 0 h 14"/>
                <a:gd name="T4" fmla="*/ 24 w 24"/>
                <a:gd name="T5" fmla="*/ 14 h 14"/>
                <a:gd name="T6" fmla="*/ 0 w 24"/>
                <a:gd name="T7" fmla="*/ 14 h 14"/>
                <a:gd name="T8" fmla="*/ 0 w 24"/>
                <a:gd name="T9" fmla="*/ 0 h 14"/>
                <a:gd name="T10" fmla="*/ 0 w 24"/>
                <a:gd name="T11" fmla="*/ 0 h 14"/>
              </a:gdLst>
              <a:ahLst/>
              <a:cxnLst>
                <a:cxn ang="0">
                  <a:pos x="T0" y="T1"/>
                </a:cxn>
                <a:cxn ang="0">
                  <a:pos x="T2" y="T3"/>
                </a:cxn>
                <a:cxn ang="0">
                  <a:pos x="T4" y="T5"/>
                </a:cxn>
                <a:cxn ang="0">
                  <a:pos x="T6" y="T7"/>
                </a:cxn>
                <a:cxn ang="0">
                  <a:pos x="T8" y="T9"/>
                </a:cxn>
                <a:cxn ang="0">
                  <a:pos x="T10" y="T11"/>
                </a:cxn>
              </a:cxnLst>
              <a:rect l="0" t="0" r="r" b="b"/>
              <a:pathLst>
                <a:path w="24" h="14">
                  <a:moveTo>
                    <a:pt x="0" y="0"/>
                  </a:moveTo>
                  <a:lnTo>
                    <a:pt x="24" y="0"/>
                  </a:lnTo>
                  <a:lnTo>
                    <a:pt x="24" y="14"/>
                  </a:lnTo>
                  <a:lnTo>
                    <a:pt x="0" y="1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6"/>
            <p:cNvSpPr/>
            <p:nvPr/>
          </p:nvSpPr>
          <p:spPr bwMode="auto">
            <a:xfrm>
              <a:off x="6701507" y="1717873"/>
              <a:ext cx="33338" cy="34925"/>
            </a:xfrm>
            <a:custGeom>
              <a:avLst/>
              <a:gdLst>
                <a:gd name="T0" fmla="*/ 0 w 21"/>
                <a:gd name="T1" fmla="*/ 12 h 22"/>
                <a:gd name="T2" fmla="*/ 12 w 21"/>
                <a:gd name="T3" fmla="*/ 0 h 22"/>
                <a:gd name="T4" fmla="*/ 21 w 21"/>
                <a:gd name="T5" fmla="*/ 12 h 22"/>
                <a:gd name="T6" fmla="*/ 12 w 21"/>
                <a:gd name="T7" fmla="*/ 22 h 22"/>
                <a:gd name="T8" fmla="*/ 0 w 21"/>
                <a:gd name="T9" fmla="*/ 12 h 22"/>
                <a:gd name="T10" fmla="*/ 0 w 21"/>
                <a:gd name="T11" fmla="*/ 12 h 22"/>
                <a:gd name="T12" fmla="*/ 0 w 21"/>
                <a:gd name="T13" fmla="*/ 12 h 22"/>
              </a:gdLst>
              <a:ahLst/>
              <a:cxnLst>
                <a:cxn ang="0">
                  <a:pos x="T0" y="T1"/>
                </a:cxn>
                <a:cxn ang="0">
                  <a:pos x="T2" y="T3"/>
                </a:cxn>
                <a:cxn ang="0">
                  <a:pos x="T4" y="T5"/>
                </a:cxn>
                <a:cxn ang="0">
                  <a:pos x="T6" y="T7"/>
                </a:cxn>
                <a:cxn ang="0">
                  <a:pos x="T8" y="T9"/>
                </a:cxn>
                <a:cxn ang="0">
                  <a:pos x="T10" y="T11"/>
                </a:cxn>
                <a:cxn ang="0">
                  <a:pos x="T12" y="T13"/>
                </a:cxn>
              </a:cxnLst>
              <a:rect l="0" t="0" r="r" b="b"/>
              <a:pathLst>
                <a:path w="21" h="22">
                  <a:moveTo>
                    <a:pt x="0" y="12"/>
                  </a:moveTo>
                  <a:lnTo>
                    <a:pt x="12" y="0"/>
                  </a:lnTo>
                  <a:lnTo>
                    <a:pt x="21" y="12"/>
                  </a:lnTo>
                  <a:lnTo>
                    <a:pt x="12" y="22"/>
                  </a:lnTo>
                  <a:lnTo>
                    <a:pt x="0" y="12"/>
                  </a:lnTo>
                  <a:lnTo>
                    <a:pt x="0" y="12"/>
                  </a:lnTo>
                  <a:lnTo>
                    <a:pt x="0" y="12"/>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77"/>
            <p:cNvSpPr/>
            <p:nvPr/>
          </p:nvSpPr>
          <p:spPr bwMode="auto">
            <a:xfrm>
              <a:off x="6833270" y="1722635"/>
              <a:ext cx="33338" cy="30163"/>
            </a:xfrm>
            <a:custGeom>
              <a:avLst/>
              <a:gdLst>
                <a:gd name="T0" fmla="*/ 11 w 21"/>
                <a:gd name="T1" fmla="*/ 0 h 19"/>
                <a:gd name="T2" fmla="*/ 21 w 21"/>
                <a:gd name="T3" fmla="*/ 9 h 19"/>
                <a:gd name="T4" fmla="*/ 11 w 21"/>
                <a:gd name="T5" fmla="*/ 19 h 19"/>
                <a:gd name="T6" fmla="*/ 0 w 21"/>
                <a:gd name="T7" fmla="*/ 9 h 19"/>
                <a:gd name="T8" fmla="*/ 11 w 21"/>
                <a:gd name="T9" fmla="*/ 0 h 19"/>
                <a:gd name="T10" fmla="*/ 11 w 21"/>
                <a:gd name="T11" fmla="*/ 0 h 19"/>
                <a:gd name="T12" fmla="*/ 11 w 2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21" h="19">
                  <a:moveTo>
                    <a:pt x="11" y="0"/>
                  </a:moveTo>
                  <a:lnTo>
                    <a:pt x="21" y="9"/>
                  </a:lnTo>
                  <a:lnTo>
                    <a:pt x="11" y="19"/>
                  </a:lnTo>
                  <a:lnTo>
                    <a:pt x="0" y="9"/>
                  </a:lnTo>
                  <a:lnTo>
                    <a:pt x="11" y="0"/>
                  </a:lnTo>
                  <a:lnTo>
                    <a:pt x="11" y="0"/>
                  </a:lnTo>
                  <a:lnTo>
                    <a:pt x="11"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aphicFrame>
        <p:nvGraphicFramePr>
          <p:cNvPr id="4" name="图示 3"/>
          <p:cNvGraphicFramePr/>
          <p:nvPr/>
        </p:nvGraphicFramePr>
        <p:xfrm>
          <a:off x="1403643" y="1923678"/>
          <a:ext cx="6192688" cy="163201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6" name="AutoShape 2"/>
          <p:cNvSpPr/>
          <p:nvPr/>
        </p:nvSpPr>
        <p:spPr>
          <a:xfrm>
            <a:off x="902796" y="3705702"/>
            <a:ext cx="7053580" cy="1170304"/>
          </a:xfrm>
          <a:prstGeom prst="roundRect">
            <a:avLst>
              <a:gd name="adj" fmla="val 0"/>
            </a:avLst>
          </a:prstGeom>
          <a:solidFill>
            <a:srgbClr val="EDF5FD"/>
          </a:solidFill>
          <a:ln w="28575" cap="flat" cmpd="sng">
            <a:solidFill>
              <a:srgbClr val="11A8FF"/>
            </a:solidFill>
            <a:prstDash val="solid"/>
            <a:miter/>
            <a:headEnd type="none" w="med" len="med"/>
            <a:tailEnd type="none" w="med" len="med"/>
          </a:ln>
          <a:effectLst>
            <a:outerShdw sx="100999" sy="100999" algn="ctr" rotWithShape="0">
              <a:srgbClr val="000000">
                <a:alpha val="7999"/>
              </a:srgbClr>
            </a:outerShdw>
          </a:effectLst>
        </p:spPr>
        <p:txBody>
          <a:bodyPr wrap="square" anchor="t">
            <a:spAutoFit/>
          </a:bodyPr>
          <a:lstStyle/>
          <a:p>
            <a:pPr algn="l" defTabSz="444500">
              <a:lnSpc>
                <a:spcPct val="130000"/>
              </a:lnSpc>
              <a:spcBef>
                <a:spcPct val="0"/>
              </a:spcBef>
              <a:buNone/>
            </a:pPr>
            <a:r>
              <a:rPr lang="en-US" altLang="x-none" sz="1800" dirty="0">
                <a:latin typeface="Times New Roman" panose="02020603050405020304" pitchFamily="18" charset="0"/>
                <a:ea typeface="宋体" panose="02010600030101010101" pitchFamily="2" charset="-122"/>
              </a:rPr>
              <a:t>    </a:t>
            </a:r>
            <a:r>
              <a:rPr lang="zh-CN" altLang="en-US" sz="1800" dirty="0">
                <a:latin typeface="Times New Roman" panose="02020603050405020304" pitchFamily="18" charset="0"/>
                <a:ea typeface="宋体" panose="02010600030101010101" pitchFamily="2" charset="-122"/>
              </a:rPr>
              <a:t>我们首先可以认为登录的人是小明，密码是</a:t>
            </a:r>
            <a:r>
              <a:rPr lang="en-US" altLang="zh-CN" sz="1800" dirty="0">
                <a:latin typeface="Times New Roman" panose="02020603050405020304" pitchFamily="18" charset="0"/>
                <a:ea typeface="宋体" panose="02010600030101010101" pitchFamily="2" charset="-122"/>
              </a:rPr>
              <a:t>123456</a:t>
            </a:r>
            <a:r>
              <a:rPr lang="zh-CN" altLang="en-US" sz="1800" dirty="0">
                <a:latin typeface="Times New Roman" panose="02020603050405020304" pitchFamily="18" charset="0"/>
                <a:ea typeface="宋体" panose="02010600030101010101" pitchFamily="2" charset="-122"/>
              </a:rPr>
              <a:t>，如果名字错误，那么就重新输入，三次输入不正确，退出，如果名字正确，则进入输入密码的环节，三次密码不正确退出。</a:t>
            </a:r>
            <a:endParaRPr lang="zh-CN" altLang="en-US" sz="1800" dirty="0">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16">
                                            <p:txEl>
                                              <p:pRg st="0" end="0"/>
                                            </p:txEl>
                                          </p:spTgt>
                                        </p:tgtEl>
                                      </p:cBhvr>
                                    </p:animEffect>
                                    <p:animScale>
                                      <p:cBhvr>
                                        <p:cTn id="10" dur="250" autoRev="1" fill="hold"/>
                                        <p:tgtEl>
                                          <p:spTgt spid="16">
                                            <p:txEl>
                                              <p:pRg st="0" end="0"/>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5"/>
          <p:cNvSpPr txBox="1"/>
          <p:nvPr/>
        </p:nvSpPr>
        <p:spPr>
          <a:xfrm>
            <a:off x="7072329" y="60722"/>
            <a:ext cx="1892283" cy="439326"/>
          </a:xfrm>
          <a:prstGeom prst="rect">
            <a:avLst/>
          </a:prstGeom>
          <a:noFill/>
          <a:ln w="9525">
            <a:noFill/>
          </a:ln>
        </p:spPr>
        <p:txBody>
          <a:bodyPr anchor="t"/>
          <a:lstStyle/>
          <a:p>
            <a:pPr algn="r" eaLnBrk="0" hangingPunct="0"/>
            <a:r>
              <a:rPr lang="zh-CN" altLang="en-US" sz="2000" dirty="0">
                <a:solidFill>
                  <a:srgbClr val="0070C0"/>
                </a:solidFill>
                <a:latin typeface="+mj-lt"/>
                <a:ea typeface="+mj-ea"/>
                <a:cs typeface="+mj-cs"/>
              </a:rPr>
              <a:t>登录验证代码</a:t>
            </a:r>
            <a:endParaRPr lang="zh-CN" altLang="en-US" sz="2000" b="0" dirty="0">
              <a:solidFill>
                <a:srgbClr val="0070C0"/>
              </a:solidFill>
              <a:latin typeface="+mj-lt"/>
              <a:ea typeface="+mj-ea"/>
              <a:cs typeface="+mj-cs"/>
            </a:endParaRPr>
          </a:p>
        </p:txBody>
      </p:sp>
      <p:sp>
        <p:nvSpPr>
          <p:cNvPr id="2" name="文本框 1"/>
          <p:cNvSpPr txBox="1"/>
          <p:nvPr/>
        </p:nvSpPr>
        <p:spPr>
          <a:xfrm>
            <a:off x="425450" y="970280"/>
            <a:ext cx="1325880" cy="645160"/>
          </a:xfrm>
          <a:prstGeom prst="rect">
            <a:avLst/>
          </a:prstGeom>
          <a:noFill/>
        </p:spPr>
        <p:txBody>
          <a:bodyPr wrap="none" rtlCol="0">
            <a:spAutoFit/>
          </a:bodyPr>
          <a:lstStyle/>
          <a:p>
            <a:r>
              <a:rPr lang="zh-CN" altLang="en-US"/>
              <a:t>代码实现：</a:t>
            </a:r>
            <a:endParaRPr lang="zh-CN" altLang="en-US"/>
          </a:p>
          <a:p>
            <a:endParaRPr lang="zh-CN" altLang="en-US"/>
          </a:p>
        </p:txBody>
      </p:sp>
      <p:pic>
        <p:nvPicPr>
          <p:cNvPr id="3" name="图片 2" descr="~YC@HO0`STWTASS$V5)HSU0"/>
          <p:cNvPicPr>
            <a:picLocks noChangeAspect="1"/>
          </p:cNvPicPr>
          <p:nvPr/>
        </p:nvPicPr>
        <p:blipFill>
          <a:blip r:embed="rId1"/>
          <a:stretch>
            <a:fillRect/>
          </a:stretch>
        </p:blipFill>
        <p:spPr>
          <a:xfrm>
            <a:off x="4176395" y="881380"/>
            <a:ext cx="3599180" cy="3639185"/>
          </a:xfrm>
          <a:prstGeom prst="rect">
            <a:avLst/>
          </a:prstGeom>
        </p:spPr>
      </p:pic>
      <p:sp>
        <p:nvSpPr>
          <p:cNvPr id="4" name="文本框 3"/>
          <p:cNvSpPr txBox="1"/>
          <p:nvPr/>
        </p:nvSpPr>
        <p:spPr>
          <a:xfrm>
            <a:off x="303530" y="4662170"/>
            <a:ext cx="4983480" cy="368300"/>
          </a:xfrm>
          <a:prstGeom prst="rect">
            <a:avLst/>
          </a:prstGeom>
          <a:noFill/>
        </p:spPr>
        <p:txBody>
          <a:bodyPr wrap="none" rtlCol="0">
            <a:spAutoFit/>
          </a:bodyPr>
          <a:lstStyle/>
          <a:p>
            <a:r>
              <a:rPr lang="zh-CN" altLang="en-US" dirty="0"/>
              <a:t>用到的知识点有</a:t>
            </a:r>
            <a:r>
              <a:rPr lang="en-US" altLang="zh-CN" dirty="0"/>
              <a:t>if</a:t>
            </a:r>
            <a:r>
              <a:rPr lang="zh-CN" altLang="en-US" dirty="0"/>
              <a:t>选择语句，有循环语句，</a:t>
            </a:r>
            <a:r>
              <a:rPr lang="en-US" altLang="zh-CN" dirty="0"/>
              <a:t>break</a:t>
            </a:r>
            <a:endParaRPr lang="en-US" altLang="zh-CN" dirty="0"/>
          </a:p>
        </p:txBody>
      </p:sp>
      <p:sp>
        <p:nvSpPr>
          <p:cNvPr id="68615" name="AutoShape 4"/>
          <p:cNvSpPr/>
          <p:nvPr/>
        </p:nvSpPr>
        <p:spPr>
          <a:xfrm>
            <a:off x="425136" y="1738977"/>
            <a:ext cx="2735262" cy="408144"/>
          </a:xfrm>
          <a:prstGeom prst="wedgeRoundRectCallout">
            <a:avLst>
              <a:gd name="adj1" fmla="val -19278"/>
              <a:gd name="adj2" fmla="val 48468"/>
              <a:gd name="adj3" fmla="val 16667"/>
            </a:avLst>
          </a:prstGeom>
          <a:solidFill>
            <a:srgbClr val="0070C0"/>
          </a:solidFill>
          <a:ln w="9525" cap="flat" cmpd="sng">
            <a:solidFill>
              <a:srgbClr val="66CCFF"/>
            </a:solidFill>
            <a:prstDash val="solid"/>
            <a:miter/>
            <a:headEnd type="none" w="med" len="med"/>
            <a:tailEnd type="none" w="med" len="med"/>
          </a:ln>
          <a:effectLst>
            <a:outerShdw dist="12700" dir="5400000" algn="ctr" rotWithShape="0">
              <a:srgbClr val="000000">
                <a:alpha val="37999"/>
              </a:srgbClr>
            </a:outerShdw>
          </a:effectLst>
        </p:spPr>
        <p:txBody>
          <a:bodyPr anchor="ctr" anchorCtr="1">
            <a:spAutoFit/>
          </a:bodyPr>
          <a:lstStyle/>
          <a:p>
            <a:pPr defTabSz="914400" eaLnBrk="0" hangingPunct="0">
              <a:buClr>
                <a:srgbClr val="233DA9"/>
              </a:buClr>
              <a:buSzPct val="80000"/>
              <a:buNone/>
            </a:pPr>
            <a:r>
              <a:rPr lang="zh-CN" altLang="en-US" sz="1800" dirty="0">
                <a:solidFill>
                  <a:schemeClr val="bg1"/>
                </a:solidFill>
                <a:latin typeface="Times New Roman" panose="02020603050405020304" pitchFamily="18" charset="0"/>
                <a:ea typeface="宋体" panose="02010600030101010101" pitchFamily="2" charset="-122"/>
              </a:rPr>
              <a:t>输入用户名不正确</a:t>
            </a:r>
            <a:endParaRPr lang="zh-CN" altLang="en-US" sz="1800" dirty="0">
              <a:solidFill>
                <a:schemeClr val="bg1"/>
              </a:solidFill>
              <a:latin typeface="Times New Roman" panose="02020603050405020304" pitchFamily="18" charset="0"/>
              <a:ea typeface="宋体" panose="02010600030101010101" pitchFamily="2" charset="-122"/>
            </a:endParaRPr>
          </a:p>
        </p:txBody>
      </p:sp>
      <p:sp>
        <p:nvSpPr>
          <p:cNvPr id="5" name="AutoShape 4"/>
          <p:cNvSpPr/>
          <p:nvPr/>
        </p:nvSpPr>
        <p:spPr>
          <a:xfrm>
            <a:off x="425136" y="3202915"/>
            <a:ext cx="2735262" cy="714958"/>
          </a:xfrm>
          <a:prstGeom prst="wedgeRoundRectCallout">
            <a:avLst>
              <a:gd name="adj1" fmla="val -19278"/>
              <a:gd name="adj2" fmla="val 48468"/>
              <a:gd name="adj3" fmla="val 16667"/>
            </a:avLst>
          </a:prstGeom>
          <a:solidFill>
            <a:srgbClr val="0070C0"/>
          </a:solidFill>
          <a:ln w="9525" cap="flat" cmpd="sng">
            <a:solidFill>
              <a:srgbClr val="66CCFF"/>
            </a:solidFill>
            <a:prstDash val="solid"/>
            <a:miter/>
            <a:headEnd type="none" w="med" len="med"/>
            <a:tailEnd type="none" w="med" len="med"/>
          </a:ln>
          <a:effectLst>
            <a:outerShdw dist="12700" dir="5400000" algn="ctr" rotWithShape="0">
              <a:srgbClr val="000000">
                <a:alpha val="37999"/>
              </a:srgbClr>
            </a:outerShdw>
          </a:effectLst>
        </p:spPr>
        <p:txBody>
          <a:bodyPr anchor="ctr" anchorCtr="1">
            <a:spAutoFit/>
          </a:bodyPr>
          <a:lstStyle/>
          <a:p>
            <a:pPr defTabSz="914400" eaLnBrk="0" hangingPunct="0">
              <a:buClr>
                <a:srgbClr val="233DA9"/>
              </a:buClr>
              <a:buSzPct val="80000"/>
              <a:buNone/>
            </a:pPr>
            <a:r>
              <a:rPr lang="zh-CN" altLang="en-US" sz="1800" dirty="0">
                <a:solidFill>
                  <a:schemeClr val="bg1"/>
                </a:solidFill>
                <a:latin typeface="Times New Roman" panose="02020603050405020304" pitchFamily="18" charset="0"/>
                <a:ea typeface="宋体" panose="02010600030101010101" pitchFamily="2" charset="-122"/>
              </a:rPr>
              <a:t>输入用户名正确，然后输入密码</a:t>
            </a:r>
            <a:endParaRPr lang="zh-CN" altLang="en-US" sz="1800" dirty="0">
              <a:solidFill>
                <a:schemeClr val="bg1"/>
              </a:solidFill>
              <a:latin typeface="Times New Roman" panose="02020603050405020304" pitchFamily="18" charset="0"/>
              <a:ea typeface="宋体" panose="02010600030101010101" pitchFamily="2" charset="-122"/>
            </a:endParaRPr>
          </a:p>
        </p:txBody>
      </p:sp>
      <p:pic>
        <p:nvPicPr>
          <p:cNvPr id="68616" name="Line 15"/>
          <p:cNvPicPr>
            <a:picLocks noGrp="1" noChangeAspect="1"/>
          </p:cNvPicPr>
          <p:nvPr/>
        </p:nvPicPr>
        <p:blipFill>
          <a:blip r:embed="rId2" cstate="print"/>
          <a:stretch>
            <a:fillRect/>
          </a:stretch>
        </p:blipFill>
        <p:spPr>
          <a:xfrm>
            <a:off x="3222939" y="1615748"/>
            <a:ext cx="1022350" cy="354806"/>
          </a:xfrm>
          <a:prstGeom prst="rect">
            <a:avLst/>
          </a:prstGeom>
          <a:noFill/>
          <a:ln w="9525">
            <a:noFill/>
          </a:ln>
        </p:spPr>
      </p:pic>
      <p:pic>
        <p:nvPicPr>
          <p:cNvPr id="6" name="Line 15"/>
          <p:cNvPicPr>
            <a:picLocks noGrp="1" noChangeAspect="1"/>
          </p:cNvPicPr>
          <p:nvPr/>
        </p:nvPicPr>
        <p:blipFill>
          <a:blip r:embed="rId2" cstate="print"/>
          <a:stretch>
            <a:fillRect/>
          </a:stretch>
        </p:blipFill>
        <p:spPr>
          <a:xfrm>
            <a:off x="3093399" y="2931790"/>
            <a:ext cx="1022350" cy="354806"/>
          </a:xfrm>
          <a:prstGeom prst="rect">
            <a:avLst/>
          </a:prstGeom>
          <a:noFill/>
          <a:ln w="9525">
            <a:noFill/>
          </a:ln>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8615"/>
                                        </p:tgtEl>
                                        <p:attrNameLst>
                                          <p:attrName>style.visibility</p:attrName>
                                        </p:attrNameLst>
                                      </p:cBhvr>
                                      <p:to>
                                        <p:strVal val="visible"/>
                                      </p:to>
                                    </p:set>
                                    <p:animEffect transition="in" filter="wipe(left)">
                                      <p:cBhvr>
                                        <p:cTn id="7" dur="500"/>
                                        <p:tgtEl>
                                          <p:spTgt spid="6861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68616"/>
                                        </p:tgtEl>
                                        <p:attrNameLst>
                                          <p:attrName>style.visibility</p:attrName>
                                        </p:attrNameLst>
                                      </p:cBhvr>
                                      <p:to>
                                        <p:strVal val="visible"/>
                                      </p:to>
                                    </p:set>
                                    <p:animEffect transition="in" filter="wipe(left)">
                                      <p:cBhvr>
                                        <p:cTn id="15" dur="500"/>
                                        <p:tgtEl>
                                          <p:spTgt spid="6861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bldLvl="0" animBg="1"/>
      <p:bldP spid="5"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p:cNvSpPr>
          <p:nvPr>
            <p:ph type="title"/>
          </p:nvPr>
        </p:nvSpPr>
        <p:spPr>
          <a:xfrm>
            <a:off x="2195513" y="141288"/>
            <a:ext cx="6769100" cy="368300"/>
          </a:xfrm>
          <a:ln>
            <a:noFill/>
          </a:ln>
        </p:spPr>
        <p:txBody>
          <a:bodyPr wrap="square" anchor="t">
            <a:spAutoFit/>
          </a:bodyPr>
          <a:lstStyle/>
          <a:p>
            <a:r>
              <a:rPr lang="zh-CN" altLang="en-US" dirty="0"/>
              <a:t>循环结构</a:t>
            </a:r>
            <a:r>
              <a:rPr lang="zh-CN" altLang="en-US" kern="1200" dirty="0">
                <a:solidFill>
                  <a:srgbClr val="0070C0"/>
                </a:solidFill>
                <a:latin typeface="+mj-lt"/>
                <a:ea typeface="+mj-ea"/>
                <a:cs typeface="+mj-cs"/>
                <a:sym typeface="微软雅黑" panose="020B0503020204020204" pitchFamily="34" charset="-122"/>
              </a:rPr>
              <a:t>的作用</a:t>
            </a:r>
            <a:endParaRPr lang="zh-CN" altLang="en-US" kern="1200" dirty="0">
              <a:solidFill>
                <a:srgbClr val="0070C0"/>
              </a:solidFill>
              <a:latin typeface="+mj-lt"/>
              <a:ea typeface="+mj-ea"/>
              <a:cs typeface="+mj-cs"/>
              <a:sym typeface="Browallia New" panose="020B0604020202020204" charset="0"/>
            </a:endParaRPr>
          </a:p>
        </p:txBody>
      </p:sp>
      <p:grpSp>
        <p:nvGrpSpPr>
          <p:cNvPr id="18" name="组合 17"/>
          <p:cNvGrpSpPr/>
          <p:nvPr/>
        </p:nvGrpSpPr>
        <p:grpSpPr>
          <a:xfrm>
            <a:off x="1940878" y="1397319"/>
            <a:ext cx="5367426" cy="1894512"/>
            <a:chOff x="4010116" y="3213755"/>
            <a:chExt cx="1799349" cy="2126410"/>
          </a:xfrm>
        </p:grpSpPr>
        <p:sp>
          <p:nvSpPr>
            <p:cNvPr id="19" name="矩形 18"/>
            <p:cNvSpPr/>
            <p:nvPr/>
          </p:nvSpPr>
          <p:spPr>
            <a:xfrm>
              <a:off x="4010116" y="3213755"/>
              <a:ext cx="1799349" cy="2126410"/>
            </a:xfrm>
            <a:prstGeom prst="rect">
              <a:avLst/>
            </a:prstGeom>
            <a:solidFill>
              <a:srgbClr val="55C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0" name="任意多边形 9"/>
            <p:cNvSpPr/>
            <p:nvPr/>
          </p:nvSpPr>
          <p:spPr>
            <a:xfrm>
              <a:off x="4757470" y="3349914"/>
              <a:ext cx="263768" cy="273140"/>
            </a:xfrm>
            <a:custGeom>
              <a:avLst/>
              <a:gdLst>
                <a:gd name="connsiteX0" fmla="*/ 28591 w 722317"/>
                <a:gd name="connsiteY0" fmla="*/ 458082 h 565741"/>
                <a:gd name="connsiteX1" fmla="*/ 704373 w 722317"/>
                <a:gd name="connsiteY1" fmla="*/ 458082 h 565741"/>
                <a:gd name="connsiteX2" fmla="*/ 722317 w 722317"/>
                <a:gd name="connsiteY2" fmla="*/ 476026 h 565741"/>
                <a:gd name="connsiteX3" fmla="*/ 722317 w 722317"/>
                <a:gd name="connsiteY3" fmla="*/ 547797 h 565741"/>
                <a:gd name="connsiteX4" fmla="*/ 704373 w 722317"/>
                <a:gd name="connsiteY4" fmla="*/ 565741 h 565741"/>
                <a:gd name="connsiteX5" fmla="*/ 28591 w 722317"/>
                <a:gd name="connsiteY5" fmla="*/ 565741 h 565741"/>
                <a:gd name="connsiteX6" fmla="*/ 10647 w 722317"/>
                <a:gd name="connsiteY6" fmla="*/ 547797 h 565741"/>
                <a:gd name="connsiteX7" fmla="*/ 10647 w 722317"/>
                <a:gd name="connsiteY7" fmla="*/ 476026 h 565741"/>
                <a:gd name="connsiteX8" fmla="*/ 28591 w 722317"/>
                <a:gd name="connsiteY8" fmla="*/ 458082 h 565741"/>
                <a:gd name="connsiteX9" fmla="*/ 29128 w 722317"/>
                <a:gd name="connsiteY9" fmla="*/ 312754 h 565741"/>
                <a:gd name="connsiteX10" fmla="*/ 465132 w 722317"/>
                <a:gd name="connsiteY10" fmla="*/ 312754 h 565741"/>
                <a:gd name="connsiteX11" fmla="*/ 483613 w 722317"/>
                <a:gd name="connsiteY11" fmla="*/ 331235 h 565741"/>
                <a:gd name="connsiteX12" fmla="*/ 483613 w 722317"/>
                <a:gd name="connsiteY12" fmla="*/ 405156 h 565741"/>
                <a:gd name="connsiteX13" fmla="*/ 465132 w 722317"/>
                <a:gd name="connsiteY13" fmla="*/ 423637 h 565741"/>
                <a:gd name="connsiteX14" fmla="*/ 29128 w 722317"/>
                <a:gd name="connsiteY14" fmla="*/ 423637 h 565741"/>
                <a:gd name="connsiteX15" fmla="*/ 10647 w 722317"/>
                <a:gd name="connsiteY15" fmla="*/ 405156 h 565741"/>
                <a:gd name="connsiteX16" fmla="*/ 10647 w 722317"/>
                <a:gd name="connsiteY16" fmla="*/ 331235 h 565741"/>
                <a:gd name="connsiteX17" fmla="*/ 29128 w 722317"/>
                <a:gd name="connsiteY17" fmla="*/ 312754 h 565741"/>
                <a:gd name="connsiteX18" fmla="*/ 28591 w 722317"/>
                <a:gd name="connsiteY18" fmla="*/ 157989 h 565741"/>
                <a:gd name="connsiteX19" fmla="*/ 704373 w 722317"/>
                <a:gd name="connsiteY19" fmla="*/ 157989 h 565741"/>
                <a:gd name="connsiteX20" fmla="*/ 722317 w 722317"/>
                <a:gd name="connsiteY20" fmla="*/ 175933 h 565741"/>
                <a:gd name="connsiteX21" fmla="*/ 722317 w 722317"/>
                <a:gd name="connsiteY21" fmla="*/ 247704 h 565741"/>
                <a:gd name="connsiteX22" fmla="*/ 704373 w 722317"/>
                <a:gd name="connsiteY22" fmla="*/ 265648 h 565741"/>
                <a:gd name="connsiteX23" fmla="*/ 28591 w 722317"/>
                <a:gd name="connsiteY23" fmla="*/ 265648 h 565741"/>
                <a:gd name="connsiteX24" fmla="*/ 10647 w 722317"/>
                <a:gd name="connsiteY24" fmla="*/ 247704 h 565741"/>
                <a:gd name="connsiteX25" fmla="*/ 10647 w 722317"/>
                <a:gd name="connsiteY25" fmla="*/ 175933 h 565741"/>
                <a:gd name="connsiteX26" fmla="*/ 28591 w 722317"/>
                <a:gd name="connsiteY26" fmla="*/ 157989 h 565741"/>
                <a:gd name="connsiteX27" fmla="*/ 18481 w 722317"/>
                <a:gd name="connsiteY27" fmla="*/ 0 h 565741"/>
                <a:gd name="connsiteX28" fmla="*/ 454485 w 722317"/>
                <a:gd name="connsiteY28" fmla="*/ 0 h 565741"/>
                <a:gd name="connsiteX29" fmla="*/ 472966 w 722317"/>
                <a:gd name="connsiteY29" fmla="*/ 18481 h 565741"/>
                <a:gd name="connsiteX30" fmla="*/ 472966 w 722317"/>
                <a:gd name="connsiteY30" fmla="*/ 92402 h 565741"/>
                <a:gd name="connsiteX31" fmla="*/ 454485 w 722317"/>
                <a:gd name="connsiteY31" fmla="*/ 110883 h 565741"/>
                <a:gd name="connsiteX32" fmla="*/ 18481 w 722317"/>
                <a:gd name="connsiteY32" fmla="*/ 110883 h 565741"/>
                <a:gd name="connsiteX33" fmla="*/ 0 w 722317"/>
                <a:gd name="connsiteY33" fmla="*/ 92402 h 565741"/>
                <a:gd name="connsiteX34" fmla="*/ 0 w 722317"/>
                <a:gd name="connsiteY34" fmla="*/ 18481 h 565741"/>
                <a:gd name="connsiteX35" fmla="*/ 18481 w 722317"/>
                <a:gd name="connsiteY35" fmla="*/ 0 h 565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22317" h="565741">
                  <a:moveTo>
                    <a:pt x="28591" y="458082"/>
                  </a:moveTo>
                  <a:lnTo>
                    <a:pt x="704373" y="458082"/>
                  </a:lnTo>
                  <a:cubicBezTo>
                    <a:pt x="714283" y="458082"/>
                    <a:pt x="722317" y="466116"/>
                    <a:pt x="722317" y="476026"/>
                  </a:cubicBezTo>
                  <a:lnTo>
                    <a:pt x="722317" y="547797"/>
                  </a:lnTo>
                  <a:cubicBezTo>
                    <a:pt x="722317" y="557707"/>
                    <a:pt x="714283" y="565741"/>
                    <a:pt x="704373" y="565741"/>
                  </a:cubicBezTo>
                  <a:lnTo>
                    <a:pt x="28591" y="565741"/>
                  </a:lnTo>
                  <a:cubicBezTo>
                    <a:pt x="18681" y="565741"/>
                    <a:pt x="10647" y="557707"/>
                    <a:pt x="10647" y="547797"/>
                  </a:cubicBezTo>
                  <a:lnTo>
                    <a:pt x="10647" y="476026"/>
                  </a:lnTo>
                  <a:cubicBezTo>
                    <a:pt x="10647" y="466116"/>
                    <a:pt x="18681" y="458082"/>
                    <a:pt x="28591" y="458082"/>
                  </a:cubicBezTo>
                  <a:close/>
                  <a:moveTo>
                    <a:pt x="29128" y="312754"/>
                  </a:moveTo>
                  <a:lnTo>
                    <a:pt x="465132" y="312754"/>
                  </a:lnTo>
                  <a:cubicBezTo>
                    <a:pt x="475339" y="312754"/>
                    <a:pt x="483613" y="321028"/>
                    <a:pt x="483613" y="331235"/>
                  </a:cubicBezTo>
                  <a:lnTo>
                    <a:pt x="483613" y="405156"/>
                  </a:lnTo>
                  <a:cubicBezTo>
                    <a:pt x="483613" y="415363"/>
                    <a:pt x="475339" y="423637"/>
                    <a:pt x="465132" y="423637"/>
                  </a:cubicBezTo>
                  <a:lnTo>
                    <a:pt x="29128" y="423637"/>
                  </a:lnTo>
                  <a:cubicBezTo>
                    <a:pt x="18921" y="423637"/>
                    <a:pt x="10647" y="415363"/>
                    <a:pt x="10647" y="405156"/>
                  </a:cubicBezTo>
                  <a:lnTo>
                    <a:pt x="10647" y="331235"/>
                  </a:lnTo>
                  <a:cubicBezTo>
                    <a:pt x="10647" y="321028"/>
                    <a:pt x="18921" y="312754"/>
                    <a:pt x="29128" y="312754"/>
                  </a:cubicBezTo>
                  <a:close/>
                  <a:moveTo>
                    <a:pt x="28591" y="157989"/>
                  </a:moveTo>
                  <a:lnTo>
                    <a:pt x="704373" y="157989"/>
                  </a:lnTo>
                  <a:cubicBezTo>
                    <a:pt x="714283" y="157989"/>
                    <a:pt x="722317" y="166023"/>
                    <a:pt x="722317" y="175933"/>
                  </a:cubicBezTo>
                  <a:lnTo>
                    <a:pt x="722317" y="247704"/>
                  </a:lnTo>
                  <a:cubicBezTo>
                    <a:pt x="722317" y="257614"/>
                    <a:pt x="714283" y="265648"/>
                    <a:pt x="704373" y="265648"/>
                  </a:cubicBezTo>
                  <a:lnTo>
                    <a:pt x="28591" y="265648"/>
                  </a:lnTo>
                  <a:cubicBezTo>
                    <a:pt x="18681" y="265648"/>
                    <a:pt x="10647" y="257614"/>
                    <a:pt x="10647" y="247704"/>
                  </a:cubicBezTo>
                  <a:lnTo>
                    <a:pt x="10647" y="175933"/>
                  </a:lnTo>
                  <a:cubicBezTo>
                    <a:pt x="10647" y="166023"/>
                    <a:pt x="18681" y="157989"/>
                    <a:pt x="28591" y="157989"/>
                  </a:cubicBezTo>
                  <a:close/>
                  <a:moveTo>
                    <a:pt x="18481" y="0"/>
                  </a:moveTo>
                  <a:lnTo>
                    <a:pt x="454485" y="0"/>
                  </a:lnTo>
                  <a:cubicBezTo>
                    <a:pt x="464692" y="0"/>
                    <a:pt x="472966" y="8274"/>
                    <a:pt x="472966" y="18481"/>
                  </a:cubicBezTo>
                  <a:lnTo>
                    <a:pt x="472966" y="92402"/>
                  </a:lnTo>
                  <a:cubicBezTo>
                    <a:pt x="472966" y="102609"/>
                    <a:pt x="464692" y="110883"/>
                    <a:pt x="454485" y="110883"/>
                  </a:cubicBezTo>
                  <a:lnTo>
                    <a:pt x="18481" y="110883"/>
                  </a:lnTo>
                  <a:cubicBezTo>
                    <a:pt x="8274" y="110883"/>
                    <a:pt x="0" y="102609"/>
                    <a:pt x="0" y="92402"/>
                  </a:cubicBezTo>
                  <a:lnTo>
                    <a:pt x="0" y="18481"/>
                  </a:lnTo>
                  <a:cubicBezTo>
                    <a:pt x="0" y="8274"/>
                    <a:pt x="8274" y="0"/>
                    <a:pt x="184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28010" name="文本框 20"/>
            <p:cNvSpPr txBox="1"/>
            <p:nvPr/>
          </p:nvSpPr>
          <p:spPr>
            <a:xfrm>
              <a:off x="4010116" y="3633568"/>
              <a:ext cx="1780996" cy="413443"/>
            </a:xfrm>
            <a:prstGeom prst="rect">
              <a:avLst/>
            </a:prstGeom>
            <a:noFill/>
            <a:ln w="9525">
              <a:noFill/>
            </a:ln>
          </p:spPr>
          <p:txBody>
            <a:bodyPr wrap="square" anchor="t">
              <a:spAutoFit/>
            </a:bodyPr>
            <a:lstStyle/>
            <a:p>
              <a:r>
                <a:rPr lang="zh-CN" altLang="en-US" b="1" dirty="0">
                  <a:solidFill>
                    <a:schemeClr val="bg1"/>
                  </a:solidFill>
                  <a:latin typeface="微软雅黑" panose="020B0503020204020204" pitchFamily="34" charset="-122"/>
                  <a:ea typeface="微软雅黑" panose="020B0503020204020204" pitchFamily="34" charset="-122"/>
                </a:rPr>
                <a:t>作用</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128011" name="文本框 21"/>
            <p:cNvSpPr txBox="1"/>
            <p:nvPr/>
          </p:nvSpPr>
          <p:spPr>
            <a:xfrm>
              <a:off x="4091200" y="4025550"/>
              <a:ext cx="1662565" cy="656354"/>
            </a:xfrm>
            <a:prstGeom prst="rect">
              <a:avLst/>
            </a:prstGeom>
            <a:noFill/>
            <a:ln w="9525">
              <a:noFill/>
            </a:ln>
          </p:spPr>
          <p:txBody>
            <a:bodyPr wrap="square" anchor="t">
              <a:spAutoFit/>
            </a:bodyPr>
            <a:lstStyle/>
            <a:p>
              <a:pPr algn="l"/>
              <a:r>
                <a:rPr lang="zh-CN" altLang="en-US" sz="1600" dirty="0">
                  <a:solidFill>
                    <a:schemeClr val="bg1"/>
                  </a:solidFill>
                  <a:latin typeface="Arial" panose="020B0604020202020204" pitchFamily="34" charset="0"/>
                  <a:sym typeface="微软雅黑" panose="020B0503020204020204" pitchFamily="34" charset="-122"/>
                </a:rPr>
                <a:t>1、控制程序循环执行的逻辑</a:t>
              </a:r>
              <a:endParaRPr lang="en-US" altLang="zh-CN" sz="1600" dirty="0">
                <a:solidFill>
                  <a:schemeClr val="bg1"/>
                </a:solidFill>
                <a:latin typeface="Arial" panose="020B0604020202020204" pitchFamily="34" charset="0"/>
                <a:sym typeface="微软雅黑" panose="020B0503020204020204" pitchFamily="34" charset="-122"/>
              </a:endParaRPr>
            </a:p>
            <a:p>
              <a:pPr algn="l"/>
              <a:r>
                <a:rPr lang="en-US" altLang="zh-CN" sz="1600" dirty="0">
                  <a:solidFill>
                    <a:schemeClr val="bg1"/>
                  </a:solidFill>
                  <a:sym typeface="微软雅黑" panose="020B0503020204020204" pitchFamily="34" charset="-122"/>
                </a:rPr>
                <a:t>2</a:t>
              </a:r>
              <a:r>
                <a:rPr lang="zh-CN" altLang="en-US" sz="1600" dirty="0">
                  <a:solidFill>
                    <a:schemeClr val="bg1"/>
                  </a:solidFill>
                  <a:sym typeface="微软雅黑" panose="020B0503020204020204" pitchFamily="34" charset="-122"/>
                </a:rPr>
                <a:t>、根据现实的循环逻辑情况，采用不同的循环结构</a:t>
              </a:r>
              <a:endParaRPr lang="zh-CN" altLang="en-US" sz="1600" dirty="0">
                <a:solidFill>
                  <a:schemeClr val="bg1"/>
                </a:solidFill>
                <a:latin typeface="Arial" panose="020B0604020202020204" pitchFamily="34" charset="0"/>
                <a:sym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500"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a:noFill/>
        </p:spPr>
        <p:txBody>
          <a:bodyPr vert="horz" rtlCol="0">
            <a:spAutoFit/>
          </a:bodyPr>
          <a:lstStyle/>
          <a:p>
            <a:pPr lvl="0"/>
            <a:r>
              <a:rPr lang="zh-CN" altLang="en-US" dirty="0">
                <a:sym typeface="+mn-ea"/>
              </a:rPr>
              <a:t>单元总结</a:t>
            </a:r>
            <a:endParaRPr lang="zh-CN" altLang="en-US" dirty="0">
              <a:sym typeface="+mn-ea"/>
            </a:endParaRPr>
          </a:p>
        </p:txBody>
      </p:sp>
      <p:sp>
        <p:nvSpPr>
          <p:cNvPr id="3" name="内容占位符 2"/>
          <p:cNvSpPr>
            <a:spLocks noGrp="1"/>
          </p:cNvSpPr>
          <p:nvPr>
            <p:ph idx="1"/>
          </p:nvPr>
        </p:nvSpPr>
        <p:spPr>
          <a:xfrm>
            <a:off x="1835696" y="1563638"/>
            <a:ext cx="5197564" cy="2160240"/>
          </a:xfrm>
        </p:spPr>
        <p:txBody>
          <a:bodyPr/>
          <a:lstStyle/>
          <a:p>
            <a:r>
              <a:rPr lang="zh-CN" altLang="zh-CN" dirty="0"/>
              <a:t>什么是</a:t>
            </a:r>
            <a:r>
              <a:rPr lang="zh-CN" altLang="en-US" dirty="0"/>
              <a:t>选择</a:t>
            </a:r>
            <a:r>
              <a:rPr lang="zh-CN" altLang="zh-CN" dirty="0"/>
              <a:t>结构</a:t>
            </a:r>
            <a:r>
              <a:rPr lang="zh-CN" altLang="en-US" dirty="0"/>
              <a:t>？</a:t>
            </a:r>
            <a:endParaRPr lang="en-US" altLang="zh-CN" dirty="0"/>
          </a:p>
          <a:p>
            <a:r>
              <a:rPr lang="zh-CN" altLang="zh-CN" dirty="0"/>
              <a:t>什么是循环结构？</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7"/>
          <p:cNvSpPr txBox="1"/>
          <p:nvPr/>
        </p:nvSpPr>
        <p:spPr>
          <a:xfrm>
            <a:off x="6215073" y="126868"/>
            <a:ext cx="2749539" cy="410751"/>
          </a:xfrm>
          <a:prstGeom prst="rect">
            <a:avLst/>
          </a:prstGeom>
          <a:noFill/>
          <a:ln w="9525">
            <a:noFill/>
          </a:ln>
        </p:spPr>
        <p:txBody>
          <a:bodyPr anchor="t"/>
          <a:lstStyle/>
          <a:p>
            <a:pPr algn="r" eaLnBrk="0" hangingPunct="0">
              <a:spcBef>
                <a:spcPct val="0"/>
              </a:spcBef>
              <a:buNone/>
            </a:pPr>
            <a:r>
              <a:rPr lang="zh-CN" altLang="en-US" sz="2000" b="0" dirty="0">
                <a:solidFill>
                  <a:srgbClr val="0070C0"/>
                </a:solidFill>
                <a:latin typeface="+mj-ea"/>
                <a:ea typeface="+mj-ea"/>
                <a:cs typeface="+mj-cs"/>
              </a:rPr>
              <a:t>概念图</a:t>
            </a:r>
            <a:endParaRPr lang="zh-CN" altLang="en-US" sz="2000" b="0" dirty="0">
              <a:solidFill>
                <a:srgbClr val="0070C0"/>
              </a:solidFill>
              <a:latin typeface="+mj-ea"/>
              <a:ea typeface="+mj-ea"/>
              <a:cs typeface="+mj-cs"/>
            </a:endParaRPr>
          </a:p>
        </p:txBody>
      </p:sp>
      <p:pic>
        <p:nvPicPr>
          <p:cNvPr id="2" name="图片 1"/>
          <p:cNvPicPr>
            <a:picLocks noChangeAspect="1"/>
          </p:cNvPicPr>
          <p:nvPr/>
        </p:nvPicPr>
        <p:blipFill>
          <a:blip r:embed="rId1"/>
          <a:stretch>
            <a:fillRect/>
          </a:stretch>
        </p:blipFill>
        <p:spPr>
          <a:xfrm>
            <a:off x="611560" y="843558"/>
            <a:ext cx="7951105" cy="3833553"/>
          </a:xfrm>
          <a:prstGeom prst="rect">
            <a:avLst/>
          </a:prstGeom>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t>作业</a:t>
            </a:r>
            <a:endParaRPr dirty="0"/>
          </a:p>
        </p:txBody>
      </p:sp>
      <p:sp>
        <p:nvSpPr>
          <p:cNvPr id="3" name="内容占位符 2"/>
          <p:cNvSpPr>
            <a:spLocks noGrp="1"/>
          </p:cNvSpPr>
          <p:nvPr>
            <p:ph idx="1"/>
          </p:nvPr>
        </p:nvSpPr>
        <p:spPr>
          <a:xfrm>
            <a:off x="179512" y="771549"/>
            <a:ext cx="8640960" cy="4044925"/>
          </a:xfrm>
        </p:spPr>
        <p:txBody>
          <a:bodyPr/>
          <a:lstStyle/>
          <a:p>
            <a:pPr>
              <a:defRPr/>
            </a:pPr>
            <a:r>
              <a:rPr lang="zh-CN" altLang="en-US" dirty="0"/>
              <a:t>复习指引</a:t>
            </a:r>
            <a:endParaRPr lang="zh-CN" altLang="en-US" dirty="0"/>
          </a:p>
          <a:p>
            <a:pPr lvl="1"/>
            <a:r>
              <a:rPr lang="en-US" altLang="zh-CN" dirty="0"/>
              <a:t>if</a:t>
            </a:r>
            <a:r>
              <a:rPr lang="zh-CN" altLang="en-US" dirty="0"/>
              <a:t>选择语句的几种情况？</a:t>
            </a:r>
            <a:endParaRPr lang="zh-CN" altLang="en-US" dirty="0"/>
          </a:p>
          <a:p>
            <a:pPr lvl="1"/>
            <a:r>
              <a:rPr lang="en-US" altLang="zh-CN" dirty="0"/>
              <a:t>Python</a:t>
            </a:r>
            <a:r>
              <a:rPr lang="zh-CN" altLang="en-US" dirty="0"/>
              <a:t>中有几种循环，如何使用？</a:t>
            </a:r>
            <a:endParaRPr lang="en-US" altLang="zh-CN" dirty="0"/>
          </a:p>
          <a:p>
            <a:pPr>
              <a:defRPr/>
            </a:pPr>
            <a:r>
              <a:rPr lang="zh-CN" altLang="en-US" dirty="0"/>
              <a:t>预习作业</a:t>
            </a:r>
            <a:endParaRPr lang="en-US" altLang="zh-CN" dirty="0"/>
          </a:p>
          <a:p>
            <a:pPr lvl="1"/>
            <a:r>
              <a:rPr lang="zh-CN" altLang="en-US" dirty="0"/>
              <a:t>什么是序列？</a:t>
            </a:r>
            <a:endParaRPr lang="zh-CN" altLang="en-US" dirty="0"/>
          </a:p>
          <a:p>
            <a:pPr lvl="1"/>
            <a:r>
              <a:rPr lang="zh-CN" altLang="en-US" dirty="0"/>
              <a:t>什么是字符串？</a:t>
            </a:r>
            <a:endParaRPr lang="zh-CN" altLang="en-US" dirty="0"/>
          </a:p>
          <a:p>
            <a:pPr lvl="1"/>
            <a:r>
              <a:rPr lang="zh-CN" altLang="en-US" dirty="0"/>
              <a:t>序列有那些操作？</a:t>
            </a:r>
            <a:endParaRPr lang="zh-CN" altLang="en-US" dirty="0"/>
          </a:p>
          <a:p>
            <a:pPr lvl="1"/>
            <a:r>
              <a:rPr lang="zh-CN" altLang="en-US" dirty="0"/>
              <a:t>字符串有哪些方法？</a:t>
            </a: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t>作业</a:t>
            </a:r>
            <a:endParaRPr dirty="0"/>
          </a:p>
        </p:txBody>
      </p:sp>
      <p:sp>
        <p:nvSpPr>
          <p:cNvPr id="3" name="内容占位符 2"/>
          <p:cNvSpPr>
            <a:spLocks noGrp="1"/>
          </p:cNvSpPr>
          <p:nvPr>
            <p:ph idx="1"/>
          </p:nvPr>
        </p:nvSpPr>
        <p:spPr>
          <a:xfrm>
            <a:off x="179512" y="771549"/>
            <a:ext cx="8640960" cy="4044925"/>
          </a:xfrm>
        </p:spPr>
        <p:txBody>
          <a:bodyPr/>
          <a:lstStyle/>
          <a:p>
            <a:pPr>
              <a:defRPr/>
            </a:pPr>
            <a:r>
              <a:rPr lang="zh-CN" altLang="en-US" dirty="0"/>
              <a:t>课后作业</a:t>
            </a:r>
            <a:endParaRPr lang="en-US" dirty="0"/>
          </a:p>
          <a:p>
            <a:pPr lvl="1">
              <a:defRPr/>
            </a:pPr>
            <a:r>
              <a:rPr lang="zh-CN" altLang="en-US" dirty="0"/>
              <a:t>求</a:t>
            </a:r>
            <a:r>
              <a:rPr lang="en-US" altLang="zh-CN" dirty="0"/>
              <a:t>1-10</a:t>
            </a:r>
            <a:r>
              <a:rPr lang="zh-CN" altLang="en-US" dirty="0"/>
              <a:t>的累加和</a:t>
            </a:r>
            <a:endParaRPr lang="zh-CN" altLang="en-US" dirty="0"/>
          </a:p>
          <a:p>
            <a:pPr lvl="1">
              <a:defRPr/>
            </a:pPr>
            <a:r>
              <a:rPr lang="zh-CN" altLang="en-US" dirty="0"/>
              <a:t>输入</a:t>
            </a:r>
            <a:r>
              <a:rPr lang="en-US" altLang="zh-CN" dirty="0"/>
              <a:t>n</a:t>
            </a:r>
            <a:r>
              <a:rPr lang="zh-CN" altLang="en-US" dirty="0"/>
              <a:t>和</a:t>
            </a:r>
            <a:r>
              <a:rPr lang="en-US" altLang="zh-CN" dirty="0"/>
              <a:t>m, </a:t>
            </a:r>
            <a:r>
              <a:rPr lang="zh-CN" altLang="en-US" dirty="0"/>
              <a:t>求</a:t>
            </a:r>
            <a:r>
              <a:rPr lang="en-US" altLang="zh-CN" dirty="0"/>
              <a:t>n-m</a:t>
            </a:r>
            <a:r>
              <a:rPr lang="zh-CN" altLang="en-US" dirty="0"/>
              <a:t>的累加和</a:t>
            </a:r>
            <a:endParaRPr lang="zh-CN" altLang="en-US" dirty="0"/>
          </a:p>
          <a:p>
            <a:pPr lvl="1">
              <a:defRPr/>
            </a:pPr>
            <a:r>
              <a:rPr lang="zh-CN" altLang="en-US" dirty="0"/>
              <a:t>求</a:t>
            </a:r>
            <a:r>
              <a:rPr lang="en-US" altLang="zh-CN" dirty="0"/>
              <a:t>10</a:t>
            </a:r>
            <a:r>
              <a:rPr lang="zh-CN" altLang="en-US" dirty="0"/>
              <a:t>的阶乘</a:t>
            </a:r>
            <a:endParaRPr lang="zh-CN" altLang="en-US" dirty="0"/>
          </a:p>
          <a:p>
            <a:pPr lvl="1">
              <a:defRPr/>
            </a:pPr>
            <a:r>
              <a:rPr lang="zh-CN" altLang="en-US" dirty="0"/>
              <a:t>输入</a:t>
            </a:r>
            <a:r>
              <a:rPr lang="en-US" altLang="zh-CN" dirty="0"/>
              <a:t>n, </a:t>
            </a:r>
            <a:r>
              <a:rPr lang="zh-CN" altLang="en-US" dirty="0"/>
              <a:t>求</a:t>
            </a:r>
            <a:r>
              <a:rPr lang="en-US" altLang="zh-CN" dirty="0"/>
              <a:t>n</a:t>
            </a:r>
            <a:r>
              <a:rPr lang="zh-CN" altLang="en-US" dirty="0"/>
              <a:t>的阶乘</a:t>
            </a:r>
            <a:endParaRPr lang="zh-CN" altLang="en-US" dirty="0"/>
          </a:p>
          <a:p>
            <a:pPr lvl="1">
              <a:defRPr/>
            </a:pPr>
            <a:r>
              <a:rPr lang="zh-CN" altLang="en-US" dirty="0"/>
              <a:t>打印九九乘法表</a:t>
            </a:r>
            <a:endParaRPr lang="zh-CN" altLang="en-US" dirty="0"/>
          </a:p>
          <a:p>
            <a:pPr lvl="1">
              <a:defRPr/>
            </a:pPr>
            <a:r>
              <a:rPr lang="zh-CN" altLang="en-US" dirty="0"/>
              <a:t>输入</a:t>
            </a:r>
            <a:r>
              <a:rPr lang="en-US" altLang="zh-CN" dirty="0"/>
              <a:t>n</a:t>
            </a:r>
            <a:r>
              <a:rPr lang="zh-CN" altLang="en-US" dirty="0"/>
              <a:t>和</a:t>
            </a:r>
            <a:r>
              <a:rPr lang="en-US" altLang="zh-CN" dirty="0"/>
              <a:t>m,</a:t>
            </a:r>
            <a:r>
              <a:rPr lang="zh-CN" altLang="en-US" dirty="0"/>
              <a:t>打印</a:t>
            </a:r>
            <a:r>
              <a:rPr lang="en-US" altLang="zh-CN" dirty="0"/>
              <a:t>n</a:t>
            </a:r>
            <a:r>
              <a:rPr lang="zh-CN" altLang="en-US" dirty="0"/>
              <a:t>行</a:t>
            </a:r>
            <a:r>
              <a:rPr lang="en-US" altLang="zh-CN" dirty="0"/>
              <a:t>m</a:t>
            </a:r>
            <a:r>
              <a:rPr lang="zh-CN" altLang="en-US" dirty="0"/>
              <a:t>列图形</a:t>
            </a:r>
            <a:endParaRPr lang="zh-CN" altLang="en-US" dirty="0"/>
          </a:p>
          <a:p>
            <a:pPr lvl="1">
              <a:defRPr/>
            </a:pPr>
            <a:r>
              <a:rPr lang="zh-CN" altLang="en-US" dirty="0"/>
              <a:t>求</a:t>
            </a:r>
            <a:r>
              <a:rPr lang="en-US" altLang="zh-CN" dirty="0"/>
              <a:t>100-999</a:t>
            </a:r>
            <a:r>
              <a:rPr lang="zh-CN" altLang="en-US" dirty="0"/>
              <a:t>之间所有的水仙花数</a:t>
            </a:r>
            <a:endParaRPr lang="zh-CN" altLang="en-US" dirty="0"/>
          </a:p>
          <a:p>
            <a:pPr marL="457200" lvl="1" indent="0">
              <a:buNone/>
              <a:defRPr/>
            </a:pPr>
            <a:r>
              <a:rPr lang="zh-CN" altLang="en-US" dirty="0"/>
              <a:t>补充知识：水仙花数是指一个 3 位数，它的每个位上的数字的 3次幂之和等于它本身</a:t>
            </a:r>
            <a:endParaRPr lang="zh-CN" altLang="en-US" dirty="0"/>
          </a:p>
          <a:p>
            <a:pPr marL="457200" lvl="1" indent="0">
              <a:buNone/>
              <a:defRPr/>
            </a:pPr>
            <a:r>
              <a:rPr lang="zh-CN" altLang="en-US" dirty="0"/>
              <a:t>例如：1的3次幂 + 5的3次幂+ 3的3次幂</a:t>
            </a:r>
            <a:r>
              <a:rPr lang="zh-CN" altLang="en-US" dirty="0"/>
              <a:t> = 153。</a:t>
            </a:r>
            <a:endParaRPr lang="zh-CN" altLang="en-US" dirty="0"/>
          </a:p>
          <a:p>
            <a:pPr marL="0" indent="0">
              <a:buNone/>
              <a:defRPr/>
            </a:pP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7" y="3102770"/>
            <a:ext cx="9144001"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bwMode="auto">
          <a:xfrm>
            <a:off x="0" y="-204696"/>
            <a:ext cx="9151144" cy="3852068"/>
            <a:chOff x="0" y="107177"/>
            <a:chExt cx="9151144" cy="3852791"/>
          </a:xfrm>
        </p:grpSpPr>
        <p:sp>
          <p:nvSpPr>
            <p:cNvPr id="5" name="矩形 254"/>
            <p:cNvSpPr>
              <a:spLocks noChangeArrowheads="1"/>
            </p:cNvSpPr>
            <p:nvPr/>
          </p:nvSpPr>
          <p:spPr bwMode="auto">
            <a:xfrm>
              <a:off x="0" y="113953"/>
              <a:ext cx="9144000" cy="3846015"/>
            </a:xfrm>
            <a:custGeom>
              <a:avLst/>
              <a:gdLst>
                <a:gd name="T0" fmla="*/ 0 w 9144000"/>
                <a:gd name="T1" fmla="*/ 0 h 3846015"/>
                <a:gd name="T2" fmla="*/ 9144000 w 9144000"/>
                <a:gd name="T3" fmla="*/ 3846015 h 3846015"/>
              </a:gdLst>
              <a:ahLst/>
              <a:cxnLst/>
              <a:rect l="T0" t="T1" r="T2" b="T3"/>
              <a:pathLst>
                <a:path w="9144000" h="3846015">
                  <a:moveTo>
                    <a:pt x="0" y="0"/>
                  </a:moveTo>
                  <a:lnTo>
                    <a:pt x="9144000" y="0"/>
                  </a:lnTo>
                  <a:lnTo>
                    <a:pt x="9144000" y="3651870"/>
                  </a:lnTo>
                  <a:lnTo>
                    <a:pt x="4766144" y="3651870"/>
                  </a:lnTo>
                  <a:lnTo>
                    <a:pt x="4571999" y="3846015"/>
                  </a:lnTo>
                  <a:lnTo>
                    <a:pt x="4377855" y="3651870"/>
                  </a:lnTo>
                  <a:lnTo>
                    <a:pt x="0" y="3651870"/>
                  </a:lnTo>
                  <a:close/>
                </a:path>
              </a:pathLst>
            </a:custGeom>
            <a:solidFill>
              <a:srgbClr val="292929">
                <a:alpha val="2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254"/>
            <p:cNvSpPr>
              <a:spLocks noChangeArrowheads="1"/>
            </p:cNvSpPr>
            <p:nvPr/>
          </p:nvSpPr>
          <p:spPr bwMode="auto">
            <a:xfrm>
              <a:off x="0" y="107177"/>
              <a:ext cx="9151144" cy="3738838"/>
            </a:xfrm>
            <a:custGeom>
              <a:avLst/>
              <a:gdLst>
                <a:gd name="T0" fmla="*/ 0 w 9144000"/>
                <a:gd name="T1" fmla="*/ 0 h 3846015"/>
                <a:gd name="T2" fmla="*/ 9144000 w 9144000"/>
                <a:gd name="T3" fmla="*/ 3846015 h 3846015"/>
                <a:gd name="connsiteX0" fmla="*/ 42863 w 9144000"/>
                <a:gd name="connsiteY0" fmla="*/ 643058 h 3846015"/>
                <a:gd name="connsiteX1" fmla="*/ 9144000 w 9144000"/>
                <a:gd name="connsiteY1" fmla="*/ 0 h 3846015"/>
                <a:gd name="connsiteX2" fmla="*/ 9144000 w 9144000"/>
                <a:gd name="connsiteY2" fmla="*/ 3651870 h 3846015"/>
                <a:gd name="connsiteX3" fmla="*/ 4766144 w 9144000"/>
                <a:gd name="connsiteY3" fmla="*/ 3651870 h 3846015"/>
                <a:gd name="connsiteX4" fmla="*/ 4571999 w 9144000"/>
                <a:gd name="connsiteY4" fmla="*/ 3846015 h 3846015"/>
                <a:gd name="connsiteX5" fmla="*/ 4377855 w 9144000"/>
                <a:gd name="connsiteY5" fmla="*/ 3651870 h 3846015"/>
                <a:gd name="connsiteX6" fmla="*/ 0 w 9144000"/>
                <a:gd name="connsiteY6" fmla="*/ 3651870 h 3846015"/>
                <a:gd name="connsiteX7" fmla="*/ 42863 w 9144000"/>
                <a:gd name="connsiteY7" fmla="*/ 643058 h 3846015"/>
                <a:gd name="connsiteX0-1" fmla="*/ 7145 w 9144000"/>
                <a:gd name="connsiteY0-2" fmla="*/ 121467 h 3846015"/>
                <a:gd name="connsiteX1-3" fmla="*/ 9144000 w 9144000"/>
                <a:gd name="connsiteY1-4" fmla="*/ 0 h 3846015"/>
                <a:gd name="connsiteX2-5" fmla="*/ 9144000 w 9144000"/>
                <a:gd name="connsiteY2-6" fmla="*/ 3651870 h 3846015"/>
                <a:gd name="connsiteX3-7" fmla="*/ 4766144 w 9144000"/>
                <a:gd name="connsiteY3-8" fmla="*/ 3651870 h 3846015"/>
                <a:gd name="connsiteX4-9" fmla="*/ 4571999 w 9144000"/>
                <a:gd name="connsiteY4-10" fmla="*/ 3846015 h 3846015"/>
                <a:gd name="connsiteX5-11" fmla="*/ 4377855 w 9144000"/>
                <a:gd name="connsiteY5-12" fmla="*/ 3651870 h 3846015"/>
                <a:gd name="connsiteX6-13" fmla="*/ 0 w 9144000"/>
                <a:gd name="connsiteY6-14" fmla="*/ 3651870 h 3846015"/>
                <a:gd name="connsiteX7-15" fmla="*/ 7145 w 9144000"/>
                <a:gd name="connsiteY7-16" fmla="*/ 121467 h 3846015"/>
                <a:gd name="connsiteX0-17" fmla="*/ 7145 w 9144000"/>
                <a:gd name="connsiteY0-18" fmla="*/ 0 h 3724548"/>
                <a:gd name="connsiteX1-19" fmla="*/ 8851106 w 9144000"/>
                <a:gd name="connsiteY1-20" fmla="*/ 392980 h 3724548"/>
                <a:gd name="connsiteX2-21" fmla="*/ 9144000 w 9144000"/>
                <a:gd name="connsiteY2-22" fmla="*/ 3530403 h 3724548"/>
                <a:gd name="connsiteX3-23" fmla="*/ 4766144 w 9144000"/>
                <a:gd name="connsiteY3-24" fmla="*/ 3530403 h 3724548"/>
                <a:gd name="connsiteX4-25" fmla="*/ 4571999 w 9144000"/>
                <a:gd name="connsiteY4-26" fmla="*/ 3724548 h 3724548"/>
                <a:gd name="connsiteX5-27" fmla="*/ 4377855 w 9144000"/>
                <a:gd name="connsiteY5-28" fmla="*/ 3530403 h 3724548"/>
                <a:gd name="connsiteX6-29" fmla="*/ 0 w 9144000"/>
                <a:gd name="connsiteY6-30" fmla="*/ 3530403 h 3724548"/>
                <a:gd name="connsiteX7-31" fmla="*/ 7145 w 9144000"/>
                <a:gd name="connsiteY7-32" fmla="*/ 0 h 3724548"/>
                <a:gd name="connsiteX0-33" fmla="*/ 7145 w 9151144"/>
                <a:gd name="connsiteY0-34" fmla="*/ 14290 h 3738838"/>
                <a:gd name="connsiteX1-35" fmla="*/ 9151144 w 9151144"/>
                <a:gd name="connsiteY1-36" fmla="*/ 0 h 3738838"/>
                <a:gd name="connsiteX2-37" fmla="*/ 9144000 w 9151144"/>
                <a:gd name="connsiteY2-38" fmla="*/ 3544693 h 3738838"/>
                <a:gd name="connsiteX3-39" fmla="*/ 4766144 w 9151144"/>
                <a:gd name="connsiteY3-40" fmla="*/ 3544693 h 3738838"/>
                <a:gd name="connsiteX4-41" fmla="*/ 4571999 w 9151144"/>
                <a:gd name="connsiteY4-42" fmla="*/ 3738838 h 3738838"/>
                <a:gd name="connsiteX5-43" fmla="*/ 4377855 w 9151144"/>
                <a:gd name="connsiteY5-44" fmla="*/ 3544693 h 3738838"/>
                <a:gd name="connsiteX6-45" fmla="*/ 0 w 9151144"/>
                <a:gd name="connsiteY6-46" fmla="*/ 3544693 h 3738838"/>
                <a:gd name="connsiteX7-47" fmla="*/ 7145 w 9151144"/>
                <a:gd name="connsiteY7-48" fmla="*/ 14290 h 3738838"/>
                <a:gd name="connsiteX0-49" fmla="*/ 7145 w 9151144"/>
                <a:gd name="connsiteY0-50" fmla="*/ 7145 h 3738838"/>
                <a:gd name="connsiteX1-51" fmla="*/ 9151144 w 9151144"/>
                <a:gd name="connsiteY1-52" fmla="*/ 0 h 3738838"/>
                <a:gd name="connsiteX2-53" fmla="*/ 9144000 w 9151144"/>
                <a:gd name="connsiteY2-54" fmla="*/ 3544693 h 3738838"/>
                <a:gd name="connsiteX3-55" fmla="*/ 4766144 w 9151144"/>
                <a:gd name="connsiteY3-56" fmla="*/ 3544693 h 3738838"/>
                <a:gd name="connsiteX4-57" fmla="*/ 4571999 w 9151144"/>
                <a:gd name="connsiteY4-58" fmla="*/ 3738838 h 3738838"/>
                <a:gd name="connsiteX5-59" fmla="*/ 4377855 w 9151144"/>
                <a:gd name="connsiteY5-60" fmla="*/ 3544693 h 3738838"/>
                <a:gd name="connsiteX6-61" fmla="*/ 0 w 9151144"/>
                <a:gd name="connsiteY6-62" fmla="*/ 3544693 h 3738838"/>
                <a:gd name="connsiteX7-63" fmla="*/ 7145 w 9151144"/>
                <a:gd name="connsiteY7-64" fmla="*/ 7145 h 3738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9151144" h="3738838">
                  <a:moveTo>
                    <a:pt x="7145" y="7145"/>
                  </a:moveTo>
                  <a:lnTo>
                    <a:pt x="9151144" y="0"/>
                  </a:lnTo>
                  <a:cubicBezTo>
                    <a:pt x="9148763" y="1181564"/>
                    <a:pt x="9146381" y="2363129"/>
                    <a:pt x="9144000" y="3544693"/>
                  </a:cubicBezTo>
                  <a:lnTo>
                    <a:pt x="4766144" y="3544693"/>
                  </a:lnTo>
                  <a:lnTo>
                    <a:pt x="4571999" y="3738838"/>
                  </a:lnTo>
                  <a:lnTo>
                    <a:pt x="4377855" y="3544693"/>
                  </a:lnTo>
                  <a:lnTo>
                    <a:pt x="0" y="3544693"/>
                  </a:lnTo>
                  <a:cubicBezTo>
                    <a:pt x="0" y="2327403"/>
                    <a:pt x="7145" y="1224435"/>
                    <a:pt x="7145" y="7145"/>
                  </a:cubicBez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矩形 259"/>
          <p:cNvSpPr>
            <a:spLocks noChangeArrowheads="1"/>
          </p:cNvSpPr>
          <p:nvPr/>
        </p:nvSpPr>
        <p:spPr bwMode="auto">
          <a:xfrm>
            <a:off x="16723" y="3983478"/>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lvl="2" algn="ctr"/>
            <a:r>
              <a:rPr lang="zh-CN" altLang="en-US" sz="4800" b="1" dirty="0">
                <a:solidFill>
                  <a:schemeClr val="bg1"/>
                </a:solidFill>
                <a:latin typeface="+mn-ea"/>
                <a:ea typeface="+mn-ea"/>
              </a:rPr>
              <a:t>创新教育</a:t>
            </a:r>
            <a:r>
              <a:rPr lang="en-US" altLang="zh-CN" sz="4800" b="1" dirty="0">
                <a:solidFill>
                  <a:schemeClr val="bg1"/>
                </a:solidFill>
                <a:latin typeface="+mn-ea"/>
                <a:ea typeface="+mn-ea"/>
              </a:rPr>
              <a:t>  </a:t>
            </a:r>
            <a:r>
              <a:rPr lang="zh-CN" altLang="en-US" sz="4800" b="1" dirty="0">
                <a:solidFill>
                  <a:schemeClr val="bg1"/>
                </a:solidFill>
                <a:latin typeface="+mn-ea"/>
                <a:ea typeface="+mn-ea"/>
              </a:rPr>
              <a:t>引领未来</a:t>
            </a:r>
            <a:endParaRPr lang="zh-CN" altLang="en-US" sz="4800" b="1" dirty="0">
              <a:solidFill>
                <a:schemeClr val="bg1"/>
              </a:solidFill>
              <a:latin typeface="+mn-ea"/>
              <a:ea typeface="+mn-ea"/>
              <a:sym typeface="Impact" panose="020B0806030902050204" pitchFamily="34" charset="0"/>
            </a:endParaRPr>
          </a:p>
        </p:txBody>
      </p:sp>
      <p:grpSp>
        <p:nvGrpSpPr>
          <p:cNvPr id="14" name="组合 46"/>
          <p:cNvGrpSpPr/>
          <p:nvPr/>
        </p:nvGrpSpPr>
        <p:grpSpPr bwMode="auto">
          <a:xfrm>
            <a:off x="3795175" y="970438"/>
            <a:ext cx="1587103" cy="1587103"/>
            <a:chOff x="0" y="0"/>
            <a:chExt cx="2116920" cy="2116920"/>
          </a:xfrm>
        </p:grpSpPr>
        <p:sp>
          <p:nvSpPr>
            <p:cNvPr id="15" name="椭圆 47"/>
            <p:cNvSpPr>
              <a:spLocks noChangeArrowheads="1"/>
            </p:cNvSpPr>
            <p:nvPr/>
          </p:nvSpPr>
          <p:spPr bwMode="auto">
            <a:xfrm>
              <a:off x="0" y="0"/>
              <a:ext cx="2116920" cy="2116920"/>
            </a:xfrm>
            <a:prstGeom prst="ellipse">
              <a:avLst/>
            </a:prstGeom>
            <a:solidFill>
              <a:srgbClr val="F2F2F2"/>
            </a:solidFill>
            <a:ln w="57150">
              <a:solidFill>
                <a:srgbClr val="1D8DE5"/>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endParaRPr>
            </a:p>
          </p:txBody>
        </p:sp>
        <p:grpSp>
          <p:nvGrpSpPr>
            <p:cNvPr id="16" name="组合 48"/>
            <p:cNvGrpSpPr/>
            <p:nvPr/>
          </p:nvGrpSpPr>
          <p:grpSpPr bwMode="auto">
            <a:xfrm>
              <a:off x="461855" y="280091"/>
              <a:ext cx="1193210" cy="1836829"/>
              <a:chOff x="0" y="0"/>
              <a:chExt cx="2598738" cy="4000499"/>
            </a:xfrm>
          </p:grpSpPr>
          <p:sp>
            <p:nvSpPr>
              <p:cNvPr id="17" name="Freeform 1281"/>
              <p:cNvSpPr>
                <a:spLocks noChangeArrowheads="1"/>
              </p:cNvSpPr>
              <p:nvPr/>
            </p:nvSpPr>
            <p:spPr bwMode="auto">
              <a:xfrm>
                <a:off x="1435100" y="3543299"/>
                <a:ext cx="327025" cy="457200"/>
              </a:xfrm>
              <a:custGeom>
                <a:avLst/>
                <a:gdLst>
                  <a:gd name="T0" fmla="*/ 519152188 w 206"/>
                  <a:gd name="T1" fmla="*/ 0 h 288"/>
                  <a:gd name="T2" fmla="*/ 367942813 w 206"/>
                  <a:gd name="T3" fmla="*/ 0 h 288"/>
                  <a:gd name="T4" fmla="*/ 153730325 w 206"/>
                  <a:gd name="T5" fmla="*/ 0 h 288"/>
                  <a:gd name="T6" fmla="*/ 0 w 206"/>
                  <a:gd name="T7" fmla="*/ 0 h 288"/>
                  <a:gd name="T8" fmla="*/ 0 w 206"/>
                  <a:gd name="T9" fmla="*/ 20161250 h 288"/>
                  <a:gd name="T10" fmla="*/ 153730325 w 206"/>
                  <a:gd name="T11" fmla="*/ 20161250 h 288"/>
                  <a:gd name="T12" fmla="*/ 153730325 w 206"/>
                  <a:gd name="T13" fmla="*/ 725805000 h 288"/>
                  <a:gd name="T14" fmla="*/ 153730325 w 206"/>
                  <a:gd name="T15" fmla="*/ 725805000 h 288"/>
                  <a:gd name="T16" fmla="*/ 367942813 w 206"/>
                  <a:gd name="T17" fmla="*/ 725805000 h 288"/>
                  <a:gd name="T18" fmla="*/ 367942813 w 206"/>
                  <a:gd name="T19" fmla="*/ 725805000 h 288"/>
                  <a:gd name="T20" fmla="*/ 367942813 w 206"/>
                  <a:gd name="T21" fmla="*/ 20161250 h 288"/>
                  <a:gd name="T22" fmla="*/ 519152188 w 206"/>
                  <a:gd name="T23" fmla="*/ 20161250 h 288"/>
                  <a:gd name="T24" fmla="*/ 519152188 w 206"/>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6"/>
                  <a:gd name="T40" fmla="*/ 0 h 288"/>
                  <a:gd name="T41" fmla="*/ 206 w 206"/>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6" h="288">
                    <a:moveTo>
                      <a:pt x="206" y="0"/>
                    </a:moveTo>
                    <a:lnTo>
                      <a:pt x="146" y="0"/>
                    </a:lnTo>
                    <a:lnTo>
                      <a:pt x="61" y="0"/>
                    </a:lnTo>
                    <a:lnTo>
                      <a:pt x="0" y="0"/>
                    </a:lnTo>
                    <a:lnTo>
                      <a:pt x="0" y="8"/>
                    </a:lnTo>
                    <a:lnTo>
                      <a:pt x="61" y="8"/>
                    </a:lnTo>
                    <a:lnTo>
                      <a:pt x="61" y="288"/>
                    </a:lnTo>
                    <a:lnTo>
                      <a:pt x="146" y="288"/>
                    </a:lnTo>
                    <a:lnTo>
                      <a:pt x="146" y="8"/>
                    </a:lnTo>
                    <a:lnTo>
                      <a:pt x="206" y="8"/>
                    </a:lnTo>
                    <a:lnTo>
                      <a:pt x="2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8" name="Freeform 1283"/>
              <p:cNvSpPr>
                <a:spLocks noChangeArrowheads="1"/>
              </p:cNvSpPr>
              <p:nvPr/>
            </p:nvSpPr>
            <p:spPr bwMode="auto">
              <a:xfrm>
                <a:off x="1820863" y="3541712"/>
                <a:ext cx="328613" cy="458787"/>
              </a:xfrm>
              <a:custGeom>
                <a:avLst/>
                <a:gdLst>
                  <a:gd name="T0" fmla="*/ 521673931 w 207"/>
                  <a:gd name="T1" fmla="*/ 0 h 289"/>
                  <a:gd name="T2" fmla="*/ 214214401 w 207"/>
                  <a:gd name="T3" fmla="*/ 0 h 289"/>
                  <a:gd name="T4" fmla="*/ 138609598 w 207"/>
                  <a:gd name="T5" fmla="*/ 0 h 289"/>
                  <a:gd name="T6" fmla="*/ 0 w 207"/>
                  <a:gd name="T7" fmla="*/ 0 h 289"/>
                  <a:gd name="T8" fmla="*/ 0 w 207"/>
                  <a:gd name="T9" fmla="*/ 728323569 h 289"/>
                  <a:gd name="T10" fmla="*/ 138609598 w 207"/>
                  <a:gd name="T11" fmla="*/ 728323569 h 289"/>
                  <a:gd name="T12" fmla="*/ 214214401 w 207"/>
                  <a:gd name="T13" fmla="*/ 728323569 h 289"/>
                  <a:gd name="T14" fmla="*/ 521673931 w 207"/>
                  <a:gd name="T15" fmla="*/ 728323569 h 289"/>
                  <a:gd name="T16" fmla="*/ 521673931 w 207"/>
                  <a:gd name="T17" fmla="*/ 708162341 h 289"/>
                  <a:gd name="T18" fmla="*/ 214214401 w 207"/>
                  <a:gd name="T19" fmla="*/ 708162341 h 289"/>
                  <a:gd name="T20" fmla="*/ 214214401 w 207"/>
                  <a:gd name="T21" fmla="*/ 161289824 h 289"/>
                  <a:gd name="T22" fmla="*/ 405746567 w 207"/>
                  <a:gd name="T23" fmla="*/ 161289824 h 289"/>
                  <a:gd name="T24" fmla="*/ 405746567 w 207"/>
                  <a:gd name="T25" fmla="*/ 141128596 h 289"/>
                  <a:gd name="T26" fmla="*/ 214214401 w 207"/>
                  <a:gd name="T27" fmla="*/ 141128596 h 289"/>
                  <a:gd name="T28" fmla="*/ 214214401 w 207"/>
                  <a:gd name="T29" fmla="*/ 20161228 h 289"/>
                  <a:gd name="T30" fmla="*/ 521673931 w 207"/>
                  <a:gd name="T31" fmla="*/ 20161228 h 289"/>
                  <a:gd name="T32" fmla="*/ 521673931 w 207"/>
                  <a:gd name="T33" fmla="*/ 0 h 289"/>
                  <a:gd name="T34" fmla="*/ 521673931 w 207"/>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289"/>
                  <a:gd name="T56" fmla="*/ 207 w 207"/>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289">
                    <a:moveTo>
                      <a:pt x="207" y="0"/>
                    </a:moveTo>
                    <a:lnTo>
                      <a:pt x="85" y="0"/>
                    </a:lnTo>
                    <a:lnTo>
                      <a:pt x="55" y="0"/>
                    </a:lnTo>
                    <a:lnTo>
                      <a:pt x="0" y="0"/>
                    </a:lnTo>
                    <a:lnTo>
                      <a:pt x="0" y="289"/>
                    </a:lnTo>
                    <a:lnTo>
                      <a:pt x="55" y="289"/>
                    </a:lnTo>
                    <a:lnTo>
                      <a:pt x="85" y="289"/>
                    </a:lnTo>
                    <a:lnTo>
                      <a:pt x="207" y="289"/>
                    </a:lnTo>
                    <a:lnTo>
                      <a:pt x="207" y="281"/>
                    </a:lnTo>
                    <a:lnTo>
                      <a:pt x="85" y="281"/>
                    </a:lnTo>
                    <a:lnTo>
                      <a:pt x="85" y="64"/>
                    </a:lnTo>
                    <a:lnTo>
                      <a:pt x="161" y="64"/>
                    </a:lnTo>
                    <a:lnTo>
                      <a:pt x="161" y="56"/>
                    </a:lnTo>
                    <a:lnTo>
                      <a:pt x="85" y="56"/>
                    </a:lnTo>
                    <a:lnTo>
                      <a:pt x="85" y="8"/>
                    </a:lnTo>
                    <a:lnTo>
                      <a:pt x="207" y="8"/>
                    </a:lnTo>
                    <a:lnTo>
                      <a:pt x="2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1284"/>
              <p:cNvSpPr>
                <a:spLocks noChangeArrowheads="1"/>
              </p:cNvSpPr>
              <p:nvPr/>
            </p:nvSpPr>
            <p:spPr bwMode="auto">
              <a:xfrm>
                <a:off x="2598738" y="3733799"/>
                <a:ext cx="1" cy="3175"/>
              </a:xfrm>
              <a:custGeom>
                <a:avLst/>
                <a:gdLst>
                  <a:gd name="T0" fmla="*/ 0 w 1"/>
                  <a:gd name="T1" fmla="*/ 0 h 2"/>
                  <a:gd name="T2" fmla="*/ 0 w 1"/>
                  <a:gd name="T3" fmla="*/ 2520950 h 2"/>
                  <a:gd name="T4" fmla="*/ 0 w 1"/>
                  <a:gd name="T5" fmla="*/ 5040313 h 2"/>
                  <a:gd name="T6" fmla="*/ 0 w 1"/>
                  <a:gd name="T7" fmla="*/ 0 h 2"/>
                  <a:gd name="T8" fmla="*/ 0 60000 65536"/>
                  <a:gd name="T9" fmla="*/ 0 60000 65536"/>
                  <a:gd name="T10" fmla="*/ 0 60000 65536"/>
                  <a:gd name="T11" fmla="*/ 0 60000 65536"/>
                  <a:gd name="T12" fmla="*/ 0 w 1"/>
                  <a:gd name="T13" fmla="*/ 0 h 2"/>
                  <a:gd name="T14" fmla="*/ 1 w 1"/>
                  <a:gd name="T15" fmla="*/ 2 h 2"/>
                </a:gdLst>
                <a:ahLst/>
                <a:cxnLst>
                  <a:cxn ang="T8">
                    <a:pos x="T0" y="T1"/>
                  </a:cxn>
                  <a:cxn ang="T9">
                    <a:pos x="T2" y="T3"/>
                  </a:cxn>
                  <a:cxn ang="T10">
                    <a:pos x="T4" y="T5"/>
                  </a:cxn>
                  <a:cxn ang="T11">
                    <a:pos x="T6" y="T7"/>
                  </a:cxn>
                </a:cxnLst>
                <a:rect l="T12" t="T13" r="T14" b="T15"/>
                <a:pathLst>
                  <a:path w="1" h="2">
                    <a:moveTo>
                      <a:pt x="0" y="0"/>
                    </a:moveTo>
                    <a:cubicBezTo>
                      <a:pt x="0" y="0"/>
                      <a:pt x="0" y="1"/>
                      <a:pt x="0" y="1"/>
                    </a:cubicBezTo>
                    <a:cubicBezTo>
                      <a:pt x="0" y="2"/>
                      <a:pt x="0" y="2"/>
                      <a:pt x="0" y="2"/>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0" name="Freeform 1289"/>
              <p:cNvSpPr>
                <a:spLocks noChangeArrowheads="1"/>
              </p:cNvSpPr>
              <p:nvPr/>
            </p:nvSpPr>
            <p:spPr bwMode="auto">
              <a:xfrm>
                <a:off x="1112838" y="3733799"/>
                <a:ext cx="1" cy="3175"/>
              </a:xfrm>
              <a:custGeom>
                <a:avLst/>
                <a:gdLst>
                  <a:gd name="T0" fmla="*/ 0 w 1"/>
                  <a:gd name="T1" fmla="*/ 0 h 3"/>
                  <a:gd name="T2" fmla="*/ 0 w 1"/>
                  <a:gd name="T3" fmla="*/ 2240492 h 3"/>
                  <a:gd name="T4" fmla="*/ 0 w 1"/>
                  <a:gd name="T5" fmla="*/ 3360208 h 3"/>
                  <a:gd name="T6" fmla="*/ 0 w 1"/>
                  <a:gd name="T7" fmla="*/ 0 h 3"/>
                  <a:gd name="T8" fmla="*/ 0 60000 65536"/>
                  <a:gd name="T9" fmla="*/ 0 60000 65536"/>
                  <a:gd name="T10" fmla="*/ 0 60000 65536"/>
                  <a:gd name="T11" fmla="*/ 0 60000 65536"/>
                  <a:gd name="T12" fmla="*/ 0 w 1"/>
                  <a:gd name="T13" fmla="*/ 0 h 3"/>
                  <a:gd name="T14" fmla="*/ 1 w 1"/>
                  <a:gd name="T15" fmla="*/ 3 h 3"/>
                </a:gdLst>
                <a:ahLst/>
                <a:cxnLst>
                  <a:cxn ang="T8">
                    <a:pos x="T0" y="T1"/>
                  </a:cxn>
                  <a:cxn ang="T9">
                    <a:pos x="T2" y="T3"/>
                  </a:cxn>
                  <a:cxn ang="T10">
                    <a:pos x="T4" y="T5"/>
                  </a:cxn>
                  <a:cxn ang="T11">
                    <a:pos x="T6" y="T7"/>
                  </a:cxn>
                </a:cxnLst>
                <a:rect l="T12" t="T13" r="T14" b="T15"/>
                <a:pathLst>
                  <a:path w="1" h="3">
                    <a:moveTo>
                      <a:pt x="0" y="0"/>
                    </a:moveTo>
                    <a:cubicBezTo>
                      <a:pt x="0" y="1"/>
                      <a:pt x="0" y="1"/>
                      <a:pt x="0" y="2"/>
                    </a:cubicBezTo>
                    <a:cubicBezTo>
                      <a:pt x="0" y="2"/>
                      <a:pt x="0" y="3"/>
                      <a:pt x="0" y="3"/>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1" name="Freeform 1292"/>
              <p:cNvSpPr>
                <a:spLocks noChangeArrowheads="1"/>
              </p:cNvSpPr>
              <p:nvPr/>
            </p:nvSpPr>
            <p:spPr bwMode="auto">
              <a:xfrm>
                <a:off x="0" y="3543299"/>
                <a:ext cx="395288" cy="457200"/>
              </a:xfrm>
              <a:custGeom>
                <a:avLst/>
                <a:gdLst>
                  <a:gd name="T0" fmla="*/ 627520494 w 249"/>
                  <a:gd name="T1" fmla="*/ 0 h 288"/>
                  <a:gd name="T2" fmla="*/ 521673797 w 249"/>
                  <a:gd name="T3" fmla="*/ 0 h 288"/>
                  <a:gd name="T4" fmla="*/ 413306148 w 249"/>
                  <a:gd name="T5" fmla="*/ 0 h 288"/>
                  <a:gd name="T6" fmla="*/ 413306148 w 249"/>
                  <a:gd name="T7" fmla="*/ 138609388 h 288"/>
                  <a:gd name="T8" fmla="*/ 214214346 w 249"/>
                  <a:gd name="T9" fmla="*/ 138609388 h 288"/>
                  <a:gd name="T10" fmla="*/ 214214346 w 249"/>
                  <a:gd name="T11" fmla="*/ 0 h 288"/>
                  <a:gd name="T12" fmla="*/ 0 w 249"/>
                  <a:gd name="T13" fmla="*/ 0 h 288"/>
                  <a:gd name="T14" fmla="*/ 0 w 249"/>
                  <a:gd name="T15" fmla="*/ 725805000 h 288"/>
                  <a:gd name="T16" fmla="*/ 214214346 w 249"/>
                  <a:gd name="T17" fmla="*/ 725805000 h 288"/>
                  <a:gd name="T18" fmla="*/ 214214346 w 249"/>
                  <a:gd name="T19" fmla="*/ 161290000 h 288"/>
                  <a:gd name="T20" fmla="*/ 413306148 w 249"/>
                  <a:gd name="T21" fmla="*/ 161290000 h 288"/>
                  <a:gd name="T22" fmla="*/ 413306148 w 249"/>
                  <a:gd name="T23" fmla="*/ 725805000 h 288"/>
                  <a:gd name="T24" fmla="*/ 521673797 w 249"/>
                  <a:gd name="T25" fmla="*/ 725805000 h 288"/>
                  <a:gd name="T26" fmla="*/ 627520494 w 249"/>
                  <a:gd name="T27" fmla="*/ 725805000 h 288"/>
                  <a:gd name="T28" fmla="*/ 627520494 w 249"/>
                  <a:gd name="T29" fmla="*/ 725805000 h 288"/>
                  <a:gd name="T30" fmla="*/ 627520494 w 249"/>
                  <a:gd name="T31" fmla="*/ 0 h 2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88"/>
                  <a:gd name="T50" fmla="*/ 249 w 249"/>
                  <a:gd name="T51" fmla="*/ 288 h 2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88">
                    <a:moveTo>
                      <a:pt x="249" y="0"/>
                    </a:moveTo>
                    <a:lnTo>
                      <a:pt x="207" y="0"/>
                    </a:lnTo>
                    <a:lnTo>
                      <a:pt x="164" y="0"/>
                    </a:lnTo>
                    <a:lnTo>
                      <a:pt x="164" y="55"/>
                    </a:lnTo>
                    <a:lnTo>
                      <a:pt x="85" y="55"/>
                    </a:lnTo>
                    <a:lnTo>
                      <a:pt x="85" y="0"/>
                    </a:lnTo>
                    <a:lnTo>
                      <a:pt x="0" y="0"/>
                    </a:lnTo>
                    <a:lnTo>
                      <a:pt x="0" y="288"/>
                    </a:lnTo>
                    <a:lnTo>
                      <a:pt x="85" y="288"/>
                    </a:lnTo>
                    <a:lnTo>
                      <a:pt x="85" y="64"/>
                    </a:lnTo>
                    <a:lnTo>
                      <a:pt x="164" y="64"/>
                    </a:lnTo>
                    <a:lnTo>
                      <a:pt x="164" y="288"/>
                    </a:lnTo>
                    <a:lnTo>
                      <a:pt x="207" y="288"/>
                    </a:lnTo>
                    <a:lnTo>
                      <a:pt x="249" y="28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2" name="Freeform 1293"/>
              <p:cNvSpPr>
                <a:spLocks noEditPoints="1" noChangeArrowheads="1"/>
              </p:cNvSpPr>
              <p:nvPr/>
            </p:nvSpPr>
            <p:spPr bwMode="auto">
              <a:xfrm>
                <a:off x="319088" y="1646237"/>
                <a:ext cx="1916113" cy="677862"/>
              </a:xfrm>
              <a:custGeom>
                <a:avLst/>
                <a:gdLst>
                  <a:gd name="T0" fmla="*/ 2147483646 w 1660"/>
                  <a:gd name="T1" fmla="*/ 137354242 h 587"/>
                  <a:gd name="T2" fmla="*/ 2126468733 w 1660"/>
                  <a:gd name="T3" fmla="*/ 90681076 h 587"/>
                  <a:gd name="T4" fmla="*/ 1460281260 w 1660"/>
                  <a:gd name="T5" fmla="*/ 52008298 h 587"/>
                  <a:gd name="T6" fmla="*/ 1115196235 w 1660"/>
                  <a:gd name="T7" fmla="*/ 198697866 h 587"/>
                  <a:gd name="T8" fmla="*/ 1096544144 w 1660"/>
                  <a:gd name="T9" fmla="*/ 198697866 h 587"/>
                  <a:gd name="T10" fmla="*/ 751459119 w 1660"/>
                  <a:gd name="T11" fmla="*/ 52008298 h 587"/>
                  <a:gd name="T12" fmla="*/ 85271646 w 1660"/>
                  <a:gd name="T13" fmla="*/ 90681076 h 587"/>
                  <a:gd name="T14" fmla="*/ 2665244 w 1660"/>
                  <a:gd name="T15" fmla="*/ 137354242 h 587"/>
                  <a:gd name="T16" fmla="*/ 35974444 w 1660"/>
                  <a:gd name="T17" fmla="*/ 214699797 h 587"/>
                  <a:gd name="T18" fmla="*/ 130572712 w 1660"/>
                  <a:gd name="T19" fmla="*/ 394728165 h 587"/>
                  <a:gd name="T20" fmla="*/ 285128003 w 1660"/>
                  <a:gd name="T21" fmla="*/ 721446102 h 587"/>
                  <a:gd name="T22" fmla="*/ 818077520 w 1660"/>
                  <a:gd name="T23" fmla="*/ 716110970 h 587"/>
                  <a:gd name="T24" fmla="*/ 1103205523 w 1660"/>
                  <a:gd name="T25" fmla="*/ 317382610 h 587"/>
                  <a:gd name="T26" fmla="*/ 1108534856 w 1660"/>
                  <a:gd name="T27" fmla="*/ 317382610 h 587"/>
                  <a:gd name="T28" fmla="*/ 1393662859 w 1660"/>
                  <a:gd name="T29" fmla="*/ 716110970 h 587"/>
                  <a:gd name="T30" fmla="*/ 1926612376 w 1660"/>
                  <a:gd name="T31" fmla="*/ 721446102 h 587"/>
                  <a:gd name="T32" fmla="*/ 2081167666 w 1660"/>
                  <a:gd name="T33" fmla="*/ 394728165 h 587"/>
                  <a:gd name="T34" fmla="*/ 2147483646 w 1660"/>
                  <a:gd name="T35" fmla="*/ 214699797 h 587"/>
                  <a:gd name="T36" fmla="*/ 2147483646 w 1660"/>
                  <a:gd name="T37" fmla="*/ 137354242 h 587"/>
                  <a:gd name="T38" fmla="*/ 892690498 w 1660"/>
                  <a:gd name="T39" fmla="*/ 454738006 h 587"/>
                  <a:gd name="T40" fmla="*/ 783436274 w 1660"/>
                  <a:gd name="T41" fmla="*/ 652102089 h 587"/>
                  <a:gd name="T42" fmla="*/ 547605473 w 1660"/>
                  <a:gd name="T43" fmla="*/ 692107495 h 587"/>
                  <a:gd name="T44" fmla="*/ 311775825 w 1660"/>
                  <a:gd name="T45" fmla="*/ 653434717 h 587"/>
                  <a:gd name="T46" fmla="*/ 213180268 w 1660"/>
                  <a:gd name="T47" fmla="*/ 421399206 h 587"/>
                  <a:gd name="T48" fmla="*/ 194527024 w 1660"/>
                  <a:gd name="T49" fmla="*/ 176027019 h 587"/>
                  <a:gd name="T50" fmla="*/ 539610895 w 1660"/>
                  <a:gd name="T51" fmla="*/ 118684744 h 587"/>
                  <a:gd name="T52" fmla="*/ 935326321 w 1660"/>
                  <a:gd name="T53" fmla="*/ 226701534 h 587"/>
                  <a:gd name="T54" fmla="*/ 892690498 w 1660"/>
                  <a:gd name="T55" fmla="*/ 454738006 h 587"/>
                  <a:gd name="T56" fmla="*/ 1998560110 w 1660"/>
                  <a:gd name="T57" fmla="*/ 421399206 h 587"/>
                  <a:gd name="T58" fmla="*/ 1899964554 w 1660"/>
                  <a:gd name="T59" fmla="*/ 653434717 h 587"/>
                  <a:gd name="T60" fmla="*/ 1664134906 w 1660"/>
                  <a:gd name="T61" fmla="*/ 692107495 h 587"/>
                  <a:gd name="T62" fmla="*/ 1428304104 w 1660"/>
                  <a:gd name="T63" fmla="*/ 652102089 h 587"/>
                  <a:gd name="T64" fmla="*/ 1319049881 w 1660"/>
                  <a:gd name="T65" fmla="*/ 454738006 h 587"/>
                  <a:gd name="T66" fmla="*/ 1276414058 w 1660"/>
                  <a:gd name="T67" fmla="*/ 226701534 h 587"/>
                  <a:gd name="T68" fmla="*/ 1672129484 w 1660"/>
                  <a:gd name="T69" fmla="*/ 118684744 h 587"/>
                  <a:gd name="T70" fmla="*/ 2017213355 w 1660"/>
                  <a:gd name="T71" fmla="*/ 176027019 h 587"/>
                  <a:gd name="T72" fmla="*/ 1998560110 w 1660"/>
                  <a:gd name="T73" fmla="*/ 421399206 h 5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60"/>
                  <a:gd name="T112" fmla="*/ 0 h 587"/>
                  <a:gd name="T113" fmla="*/ 1660 w 1660"/>
                  <a:gd name="T114" fmla="*/ 587 h 58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60" h="587">
                    <a:moveTo>
                      <a:pt x="1658" y="103"/>
                    </a:moveTo>
                    <a:cubicBezTo>
                      <a:pt x="1658" y="71"/>
                      <a:pt x="1653" y="83"/>
                      <a:pt x="1596" y="68"/>
                    </a:cubicBezTo>
                    <a:cubicBezTo>
                      <a:pt x="1539" y="52"/>
                      <a:pt x="1364" y="0"/>
                      <a:pt x="1096" y="39"/>
                    </a:cubicBezTo>
                    <a:cubicBezTo>
                      <a:pt x="872" y="72"/>
                      <a:pt x="929" y="146"/>
                      <a:pt x="837" y="149"/>
                    </a:cubicBezTo>
                    <a:cubicBezTo>
                      <a:pt x="823" y="149"/>
                      <a:pt x="823" y="149"/>
                      <a:pt x="823" y="149"/>
                    </a:cubicBezTo>
                    <a:cubicBezTo>
                      <a:pt x="731" y="146"/>
                      <a:pt x="788" y="72"/>
                      <a:pt x="564" y="39"/>
                    </a:cubicBezTo>
                    <a:cubicBezTo>
                      <a:pt x="296" y="0"/>
                      <a:pt x="121" y="52"/>
                      <a:pt x="64" y="68"/>
                    </a:cubicBezTo>
                    <a:cubicBezTo>
                      <a:pt x="7" y="83"/>
                      <a:pt x="2" y="71"/>
                      <a:pt x="2" y="103"/>
                    </a:cubicBezTo>
                    <a:cubicBezTo>
                      <a:pt x="3" y="135"/>
                      <a:pt x="0" y="161"/>
                      <a:pt x="27" y="161"/>
                    </a:cubicBezTo>
                    <a:cubicBezTo>
                      <a:pt x="55" y="161"/>
                      <a:pt x="55" y="161"/>
                      <a:pt x="98" y="296"/>
                    </a:cubicBezTo>
                    <a:cubicBezTo>
                      <a:pt x="150" y="458"/>
                      <a:pt x="164" y="504"/>
                      <a:pt x="214" y="541"/>
                    </a:cubicBezTo>
                    <a:cubicBezTo>
                      <a:pt x="275" y="587"/>
                      <a:pt x="531" y="587"/>
                      <a:pt x="614" y="537"/>
                    </a:cubicBezTo>
                    <a:cubicBezTo>
                      <a:pt x="717" y="475"/>
                      <a:pt x="704" y="241"/>
                      <a:pt x="828" y="238"/>
                    </a:cubicBezTo>
                    <a:cubicBezTo>
                      <a:pt x="829" y="238"/>
                      <a:pt x="831" y="238"/>
                      <a:pt x="832" y="238"/>
                    </a:cubicBezTo>
                    <a:cubicBezTo>
                      <a:pt x="956" y="241"/>
                      <a:pt x="943" y="475"/>
                      <a:pt x="1046" y="537"/>
                    </a:cubicBezTo>
                    <a:cubicBezTo>
                      <a:pt x="1129" y="587"/>
                      <a:pt x="1385" y="587"/>
                      <a:pt x="1446" y="541"/>
                    </a:cubicBezTo>
                    <a:cubicBezTo>
                      <a:pt x="1496" y="504"/>
                      <a:pt x="1510" y="458"/>
                      <a:pt x="1562" y="296"/>
                    </a:cubicBezTo>
                    <a:cubicBezTo>
                      <a:pt x="1605" y="161"/>
                      <a:pt x="1605" y="161"/>
                      <a:pt x="1633" y="161"/>
                    </a:cubicBezTo>
                    <a:cubicBezTo>
                      <a:pt x="1660" y="161"/>
                      <a:pt x="1657" y="135"/>
                      <a:pt x="1658" y="103"/>
                    </a:cubicBezTo>
                    <a:close/>
                    <a:moveTo>
                      <a:pt x="670" y="341"/>
                    </a:moveTo>
                    <a:cubicBezTo>
                      <a:pt x="644" y="407"/>
                      <a:pt x="624" y="465"/>
                      <a:pt x="588" y="489"/>
                    </a:cubicBezTo>
                    <a:cubicBezTo>
                      <a:pt x="550" y="515"/>
                      <a:pt x="494" y="520"/>
                      <a:pt x="411" y="519"/>
                    </a:cubicBezTo>
                    <a:cubicBezTo>
                      <a:pt x="341" y="517"/>
                      <a:pt x="266" y="520"/>
                      <a:pt x="234" y="490"/>
                    </a:cubicBezTo>
                    <a:cubicBezTo>
                      <a:pt x="208" y="465"/>
                      <a:pt x="182" y="386"/>
                      <a:pt x="160" y="316"/>
                    </a:cubicBezTo>
                    <a:cubicBezTo>
                      <a:pt x="129" y="219"/>
                      <a:pt x="115" y="161"/>
                      <a:pt x="146" y="132"/>
                    </a:cubicBezTo>
                    <a:cubicBezTo>
                      <a:pt x="185" y="97"/>
                      <a:pt x="286" y="91"/>
                      <a:pt x="405" y="89"/>
                    </a:cubicBezTo>
                    <a:cubicBezTo>
                      <a:pt x="524" y="88"/>
                      <a:pt x="682" y="123"/>
                      <a:pt x="702" y="170"/>
                    </a:cubicBezTo>
                    <a:cubicBezTo>
                      <a:pt x="718" y="205"/>
                      <a:pt x="693" y="282"/>
                      <a:pt x="670" y="341"/>
                    </a:cubicBezTo>
                    <a:close/>
                    <a:moveTo>
                      <a:pt x="1500" y="316"/>
                    </a:moveTo>
                    <a:cubicBezTo>
                      <a:pt x="1478" y="386"/>
                      <a:pt x="1452" y="465"/>
                      <a:pt x="1426" y="490"/>
                    </a:cubicBezTo>
                    <a:cubicBezTo>
                      <a:pt x="1394" y="520"/>
                      <a:pt x="1319" y="517"/>
                      <a:pt x="1249" y="519"/>
                    </a:cubicBezTo>
                    <a:cubicBezTo>
                      <a:pt x="1166" y="520"/>
                      <a:pt x="1110" y="515"/>
                      <a:pt x="1072" y="489"/>
                    </a:cubicBezTo>
                    <a:cubicBezTo>
                      <a:pt x="1036" y="465"/>
                      <a:pt x="1016" y="407"/>
                      <a:pt x="990" y="341"/>
                    </a:cubicBezTo>
                    <a:cubicBezTo>
                      <a:pt x="967" y="282"/>
                      <a:pt x="942" y="205"/>
                      <a:pt x="958" y="170"/>
                    </a:cubicBezTo>
                    <a:cubicBezTo>
                      <a:pt x="978" y="123"/>
                      <a:pt x="1136" y="88"/>
                      <a:pt x="1255" y="89"/>
                    </a:cubicBezTo>
                    <a:cubicBezTo>
                      <a:pt x="1374" y="91"/>
                      <a:pt x="1475" y="97"/>
                      <a:pt x="1514" y="132"/>
                    </a:cubicBezTo>
                    <a:cubicBezTo>
                      <a:pt x="1546" y="161"/>
                      <a:pt x="1531" y="219"/>
                      <a:pt x="1500" y="316"/>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3" name="Freeform 1294"/>
              <p:cNvSpPr>
                <a:spLocks noChangeArrowheads="1"/>
              </p:cNvSpPr>
              <p:nvPr/>
            </p:nvSpPr>
            <p:spPr bwMode="auto">
              <a:xfrm>
                <a:off x="663575" y="2454274"/>
                <a:ext cx="622300" cy="488950"/>
              </a:xfrm>
              <a:custGeom>
                <a:avLst/>
                <a:gdLst>
                  <a:gd name="T0" fmla="*/ 0 w 538"/>
                  <a:gd name="T1" fmla="*/ 461452328 h 424"/>
                  <a:gd name="T2" fmla="*/ 204704313 w 538"/>
                  <a:gd name="T3" fmla="*/ 398949758 h 424"/>
                  <a:gd name="T4" fmla="*/ 457573257 w 538"/>
                  <a:gd name="T5" fmla="*/ 216762836 h 424"/>
                  <a:gd name="T6" fmla="*/ 709105067 w 538"/>
                  <a:gd name="T7" fmla="*/ 115695487 h 424"/>
                  <a:gd name="T8" fmla="*/ 544539104 w 538"/>
                  <a:gd name="T9" fmla="*/ 2659242 h 424"/>
                  <a:gd name="T10" fmla="*/ 198014009 w 538"/>
                  <a:gd name="T11" fmla="*/ 239369855 h 424"/>
                  <a:gd name="T12" fmla="*/ 109711027 w 538"/>
                  <a:gd name="T13" fmla="*/ 433525672 h 424"/>
                  <a:gd name="T14" fmla="*/ 0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0" y="347"/>
                    </a:moveTo>
                    <a:cubicBezTo>
                      <a:pt x="0" y="347"/>
                      <a:pt x="82" y="424"/>
                      <a:pt x="153" y="300"/>
                    </a:cubicBezTo>
                    <a:cubicBezTo>
                      <a:pt x="209" y="203"/>
                      <a:pt x="220" y="166"/>
                      <a:pt x="342" y="163"/>
                    </a:cubicBezTo>
                    <a:cubicBezTo>
                      <a:pt x="465" y="160"/>
                      <a:pt x="522" y="141"/>
                      <a:pt x="530" y="87"/>
                    </a:cubicBezTo>
                    <a:cubicBezTo>
                      <a:pt x="538" y="33"/>
                      <a:pt x="492" y="0"/>
                      <a:pt x="407" y="2"/>
                    </a:cubicBezTo>
                    <a:cubicBezTo>
                      <a:pt x="323" y="4"/>
                      <a:pt x="210" y="54"/>
                      <a:pt x="148" y="180"/>
                    </a:cubicBezTo>
                    <a:cubicBezTo>
                      <a:pt x="104" y="269"/>
                      <a:pt x="108" y="298"/>
                      <a:pt x="82" y="326"/>
                    </a:cubicBezTo>
                    <a:cubicBezTo>
                      <a:pt x="56" y="354"/>
                      <a:pt x="0" y="347"/>
                      <a:pt x="0"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4" name="Freeform 1295"/>
              <p:cNvSpPr>
                <a:spLocks noChangeArrowheads="1"/>
              </p:cNvSpPr>
              <p:nvPr/>
            </p:nvSpPr>
            <p:spPr bwMode="auto">
              <a:xfrm>
                <a:off x="1268413" y="2454274"/>
                <a:ext cx="622300" cy="488950"/>
              </a:xfrm>
              <a:custGeom>
                <a:avLst/>
                <a:gdLst>
                  <a:gd name="T0" fmla="*/ 719809089 w 538"/>
                  <a:gd name="T1" fmla="*/ 461452328 h 424"/>
                  <a:gd name="T2" fmla="*/ 515104777 w 538"/>
                  <a:gd name="T3" fmla="*/ 398949758 h 424"/>
                  <a:gd name="T4" fmla="*/ 262235832 w 538"/>
                  <a:gd name="T5" fmla="*/ 216762836 h 424"/>
                  <a:gd name="T6" fmla="*/ 10704023 w 538"/>
                  <a:gd name="T7" fmla="*/ 115695487 h 424"/>
                  <a:gd name="T8" fmla="*/ 175269985 w 538"/>
                  <a:gd name="T9" fmla="*/ 2659242 h 424"/>
                  <a:gd name="T10" fmla="*/ 521795080 w 538"/>
                  <a:gd name="T11" fmla="*/ 239369855 h 424"/>
                  <a:gd name="T12" fmla="*/ 610098062 w 538"/>
                  <a:gd name="T13" fmla="*/ 433525672 h 424"/>
                  <a:gd name="T14" fmla="*/ 719809089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538" y="347"/>
                    </a:moveTo>
                    <a:cubicBezTo>
                      <a:pt x="538" y="347"/>
                      <a:pt x="456" y="424"/>
                      <a:pt x="385" y="300"/>
                    </a:cubicBezTo>
                    <a:cubicBezTo>
                      <a:pt x="329" y="203"/>
                      <a:pt x="318" y="166"/>
                      <a:pt x="196" y="163"/>
                    </a:cubicBezTo>
                    <a:cubicBezTo>
                      <a:pt x="74" y="160"/>
                      <a:pt x="16" y="141"/>
                      <a:pt x="8" y="87"/>
                    </a:cubicBezTo>
                    <a:cubicBezTo>
                      <a:pt x="0" y="33"/>
                      <a:pt x="46" y="0"/>
                      <a:pt x="131" y="2"/>
                    </a:cubicBezTo>
                    <a:cubicBezTo>
                      <a:pt x="215" y="4"/>
                      <a:pt x="328" y="54"/>
                      <a:pt x="390" y="180"/>
                    </a:cubicBezTo>
                    <a:cubicBezTo>
                      <a:pt x="434" y="269"/>
                      <a:pt x="430" y="298"/>
                      <a:pt x="456" y="326"/>
                    </a:cubicBezTo>
                    <a:cubicBezTo>
                      <a:pt x="482" y="354"/>
                      <a:pt x="538" y="347"/>
                      <a:pt x="538"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5" name="Freeform 1296"/>
              <p:cNvSpPr>
                <a:spLocks noChangeArrowheads="1"/>
              </p:cNvSpPr>
              <p:nvPr/>
            </p:nvSpPr>
            <p:spPr bwMode="auto">
              <a:xfrm>
                <a:off x="454025" y="2387599"/>
                <a:ext cx="1647825" cy="1027112"/>
              </a:xfrm>
              <a:custGeom>
                <a:avLst/>
                <a:gdLst>
                  <a:gd name="T0" fmla="*/ 1680137151 w 1427"/>
                  <a:gd name="T1" fmla="*/ 299666273 h 890"/>
                  <a:gd name="T2" fmla="*/ 1357444054 w 1427"/>
                  <a:gd name="T3" fmla="*/ 728522463 h 890"/>
                  <a:gd name="T4" fmla="*/ 1056086077 w 1427"/>
                  <a:gd name="T5" fmla="*/ 554049602 h 890"/>
                  <a:gd name="T6" fmla="*/ 950744216 w 1427"/>
                  <a:gd name="T7" fmla="*/ 499444174 h 890"/>
                  <a:gd name="T8" fmla="*/ 845402355 w 1427"/>
                  <a:gd name="T9" fmla="*/ 554049602 h 890"/>
                  <a:gd name="T10" fmla="*/ 544044378 w 1427"/>
                  <a:gd name="T11" fmla="*/ 728522463 h 890"/>
                  <a:gd name="T12" fmla="*/ 221351281 w 1427"/>
                  <a:gd name="T13" fmla="*/ 299666273 h 890"/>
                  <a:gd name="T14" fmla="*/ 0 w 1427"/>
                  <a:gd name="T15" fmla="*/ 0 h 890"/>
                  <a:gd name="T16" fmla="*/ 120009467 w 1427"/>
                  <a:gd name="T17" fmla="*/ 594005413 h 890"/>
                  <a:gd name="T18" fmla="*/ 616049827 w 1427"/>
                  <a:gd name="T19" fmla="*/ 1049498425 h 890"/>
                  <a:gd name="T20" fmla="*/ 950744216 w 1427"/>
                  <a:gd name="T21" fmla="*/ 1172028271 h 890"/>
                  <a:gd name="T22" fmla="*/ 1285438605 w 1427"/>
                  <a:gd name="T23" fmla="*/ 1049498425 h 890"/>
                  <a:gd name="T24" fmla="*/ 1781478966 w 1427"/>
                  <a:gd name="T25" fmla="*/ 594005413 h 890"/>
                  <a:gd name="T26" fmla="*/ 1902822166 w 1427"/>
                  <a:gd name="T27" fmla="*/ 0 h 890"/>
                  <a:gd name="T28" fmla="*/ 1680137151 w 1427"/>
                  <a:gd name="T29" fmla="*/ 299666273 h 8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7"/>
                  <a:gd name="T46" fmla="*/ 0 h 890"/>
                  <a:gd name="T47" fmla="*/ 1427 w 1427"/>
                  <a:gd name="T48" fmla="*/ 890 h 8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7" h="890">
                    <a:moveTo>
                      <a:pt x="1260" y="225"/>
                    </a:moveTo>
                    <a:cubicBezTo>
                      <a:pt x="1249" y="317"/>
                      <a:pt x="1157" y="492"/>
                      <a:pt x="1018" y="547"/>
                    </a:cubicBezTo>
                    <a:cubicBezTo>
                      <a:pt x="879" y="602"/>
                      <a:pt x="841" y="467"/>
                      <a:pt x="792" y="416"/>
                    </a:cubicBezTo>
                    <a:cubicBezTo>
                      <a:pt x="753" y="376"/>
                      <a:pt x="724" y="374"/>
                      <a:pt x="713" y="375"/>
                    </a:cubicBezTo>
                    <a:cubicBezTo>
                      <a:pt x="702" y="374"/>
                      <a:pt x="673" y="376"/>
                      <a:pt x="634" y="416"/>
                    </a:cubicBezTo>
                    <a:cubicBezTo>
                      <a:pt x="585" y="467"/>
                      <a:pt x="547" y="602"/>
                      <a:pt x="408" y="547"/>
                    </a:cubicBezTo>
                    <a:cubicBezTo>
                      <a:pt x="269" y="492"/>
                      <a:pt x="177" y="317"/>
                      <a:pt x="166" y="225"/>
                    </a:cubicBezTo>
                    <a:cubicBezTo>
                      <a:pt x="143" y="32"/>
                      <a:pt x="0" y="0"/>
                      <a:pt x="0" y="0"/>
                    </a:cubicBezTo>
                    <a:cubicBezTo>
                      <a:pt x="0" y="0"/>
                      <a:pt x="41" y="368"/>
                      <a:pt x="90" y="446"/>
                    </a:cubicBezTo>
                    <a:cubicBezTo>
                      <a:pt x="139" y="523"/>
                      <a:pt x="332" y="684"/>
                      <a:pt x="462" y="788"/>
                    </a:cubicBezTo>
                    <a:cubicBezTo>
                      <a:pt x="590" y="890"/>
                      <a:pt x="643" y="880"/>
                      <a:pt x="713" y="880"/>
                    </a:cubicBezTo>
                    <a:cubicBezTo>
                      <a:pt x="783" y="880"/>
                      <a:pt x="836" y="890"/>
                      <a:pt x="964" y="788"/>
                    </a:cubicBezTo>
                    <a:cubicBezTo>
                      <a:pt x="1095" y="684"/>
                      <a:pt x="1287" y="523"/>
                      <a:pt x="1336" y="446"/>
                    </a:cubicBezTo>
                    <a:cubicBezTo>
                      <a:pt x="1385" y="368"/>
                      <a:pt x="1427" y="0"/>
                      <a:pt x="1427" y="0"/>
                    </a:cubicBezTo>
                    <a:cubicBezTo>
                      <a:pt x="1427" y="0"/>
                      <a:pt x="1284" y="32"/>
                      <a:pt x="1260" y="225"/>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6" name="Oval 1297"/>
              <p:cNvSpPr>
                <a:spLocks noChangeArrowheads="1"/>
              </p:cNvSpPr>
              <p:nvPr/>
            </p:nvSpPr>
            <p:spPr bwMode="auto">
              <a:xfrm>
                <a:off x="19050" y="719137"/>
                <a:ext cx="2516188" cy="909637"/>
              </a:xfrm>
              <a:prstGeom prst="ellipse">
                <a:avLst/>
              </a:pr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27" name="Freeform 1298"/>
              <p:cNvSpPr>
                <a:spLocks noChangeArrowheads="1"/>
              </p:cNvSpPr>
              <p:nvPr/>
            </p:nvSpPr>
            <p:spPr bwMode="auto">
              <a:xfrm>
                <a:off x="449263" y="0"/>
                <a:ext cx="1655763" cy="1004887"/>
              </a:xfrm>
              <a:custGeom>
                <a:avLst/>
                <a:gdLst>
                  <a:gd name="T0" fmla="*/ 1906487547 w 1434"/>
                  <a:gd name="T1" fmla="*/ 897865379 h 870"/>
                  <a:gd name="T2" fmla="*/ 1906487547 w 1434"/>
                  <a:gd name="T3" fmla="*/ 896531305 h 870"/>
                  <a:gd name="T4" fmla="*/ 1905155085 w 1434"/>
                  <a:gd name="T5" fmla="*/ 895197231 h 870"/>
                  <a:gd name="T6" fmla="*/ 1541188588 w 1434"/>
                  <a:gd name="T7" fmla="*/ 126741662 h 870"/>
                  <a:gd name="T8" fmla="*/ 990573493 w 1434"/>
                  <a:gd name="T9" fmla="*/ 269493368 h 870"/>
                  <a:gd name="T10" fmla="*/ 525284461 w 1434"/>
                  <a:gd name="T11" fmla="*/ 69374164 h 870"/>
                  <a:gd name="T12" fmla="*/ 5333312 w 1434"/>
                  <a:gd name="T13" fmla="*/ 896531305 h 870"/>
                  <a:gd name="T14" fmla="*/ 5333312 w 1434"/>
                  <a:gd name="T15" fmla="*/ 896531305 h 870"/>
                  <a:gd name="T16" fmla="*/ 0 w 1434"/>
                  <a:gd name="T17" fmla="*/ 921878714 h 870"/>
                  <a:gd name="T18" fmla="*/ 79992751 w 1434"/>
                  <a:gd name="T19" fmla="*/ 1016601441 h 870"/>
                  <a:gd name="T20" fmla="*/ 955909852 w 1434"/>
                  <a:gd name="T21" fmla="*/ 1160687222 h 870"/>
                  <a:gd name="T22" fmla="*/ 1831828108 w 1434"/>
                  <a:gd name="T23" fmla="*/ 1016601441 h 870"/>
                  <a:gd name="T24" fmla="*/ 1911820859 w 1434"/>
                  <a:gd name="T25" fmla="*/ 921878714 h 870"/>
                  <a:gd name="T26" fmla="*/ 1906487547 w 1434"/>
                  <a:gd name="T27" fmla="*/ 897865379 h 8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4"/>
                  <a:gd name="T43" fmla="*/ 0 h 870"/>
                  <a:gd name="T44" fmla="*/ 1434 w 1434"/>
                  <a:gd name="T45" fmla="*/ 870 h 8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4" h="870">
                    <a:moveTo>
                      <a:pt x="1430" y="673"/>
                    </a:moveTo>
                    <a:cubicBezTo>
                      <a:pt x="1430" y="672"/>
                      <a:pt x="1430" y="672"/>
                      <a:pt x="1430" y="672"/>
                    </a:cubicBezTo>
                    <a:cubicBezTo>
                      <a:pt x="1429" y="671"/>
                      <a:pt x="1429" y="671"/>
                      <a:pt x="1429" y="671"/>
                    </a:cubicBezTo>
                    <a:cubicBezTo>
                      <a:pt x="1429" y="671"/>
                      <a:pt x="1245" y="189"/>
                      <a:pt x="1156" y="95"/>
                    </a:cubicBezTo>
                    <a:cubicBezTo>
                      <a:pt x="1067" y="0"/>
                      <a:pt x="934" y="156"/>
                      <a:pt x="743" y="202"/>
                    </a:cubicBezTo>
                    <a:cubicBezTo>
                      <a:pt x="606" y="234"/>
                      <a:pt x="550" y="74"/>
                      <a:pt x="394" y="52"/>
                    </a:cubicBezTo>
                    <a:cubicBezTo>
                      <a:pt x="262" y="34"/>
                      <a:pt x="14" y="646"/>
                      <a:pt x="4" y="672"/>
                    </a:cubicBezTo>
                    <a:cubicBezTo>
                      <a:pt x="4" y="672"/>
                      <a:pt x="4" y="672"/>
                      <a:pt x="4" y="672"/>
                    </a:cubicBezTo>
                    <a:cubicBezTo>
                      <a:pt x="1" y="678"/>
                      <a:pt x="0" y="684"/>
                      <a:pt x="0" y="691"/>
                    </a:cubicBezTo>
                    <a:cubicBezTo>
                      <a:pt x="0" y="716"/>
                      <a:pt x="22" y="740"/>
                      <a:pt x="60" y="762"/>
                    </a:cubicBezTo>
                    <a:cubicBezTo>
                      <a:pt x="171" y="826"/>
                      <a:pt x="423" y="870"/>
                      <a:pt x="717" y="870"/>
                    </a:cubicBezTo>
                    <a:cubicBezTo>
                      <a:pt x="1011" y="870"/>
                      <a:pt x="1263" y="826"/>
                      <a:pt x="1374" y="762"/>
                    </a:cubicBezTo>
                    <a:cubicBezTo>
                      <a:pt x="1412" y="740"/>
                      <a:pt x="1434" y="716"/>
                      <a:pt x="1434" y="691"/>
                    </a:cubicBezTo>
                    <a:cubicBezTo>
                      <a:pt x="1434" y="685"/>
                      <a:pt x="1433" y="679"/>
                      <a:pt x="1430" y="673"/>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8" name="Freeform 1299"/>
              <p:cNvSpPr>
                <a:spLocks noChangeArrowheads="1"/>
              </p:cNvSpPr>
              <p:nvPr/>
            </p:nvSpPr>
            <p:spPr bwMode="auto">
              <a:xfrm>
                <a:off x="433388" y="785812"/>
                <a:ext cx="25400" cy="44450"/>
              </a:xfrm>
              <a:custGeom>
                <a:avLst/>
                <a:gdLst>
                  <a:gd name="T0" fmla="*/ 17328573 w 22"/>
                  <a:gd name="T1" fmla="*/ 14288965 h 39"/>
                  <a:gd name="T2" fmla="*/ 18662073 w 22"/>
                  <a:gd name="T3" fmla="*/ 0 h 39"/>
                  <a:gd name="T4" fmla="*/ 18662073 w 22"/>
                  <a:gd name="T5" fmla="*/ 0 h 39"/>
                  <a:gd name="T6" fmla="*/ 0 w 22"/>
                  <a:gd name="T7" fmla="*/ 48064127 h 39"/>
                  <a:gd name="T8" fmla="*/ 29325455 w 22"/>
                  <a:gd name="T9" fmla="*/ 50661603 h 39"/>
                  <a:gd name="T10" fmla="*/ 17328573 w 22"/>
                  <a:gd name="T11" fmla="*/ 14288965 h 39"/>
                  <a:gd name="T12" fmla="*/ 0 60000 65536"/>
                  <a:gd name="T13" fmla="*/ 0 60000 65536"/>
                  <a:gd name="T14" fmla="*/ 0 60000 65536"/>
                  <a:gd name="T15" fmla="*/ 0 60000 65536"/>
                  <a:gd name="T16" fmla="*/ 0 60000 65536"/>
                  <a:gd name="T17" fmla="*/ 0 60000 65536"/>
                  <a:gd name="T18" fmla="*/ 0 w 22"/>
                  <a:gd name="T19" fmla="*/ 0 h 39"/>
                  <a:gd name="T20" fmla="*/ 22 w 2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2" h="39">
                    <a:moveTo>
                      <a:pt x="13" y="11"/>
                    </a:moveTo>
                    <a:cubicBezTo>
                      <a:pt x="13" y="7"/>
                      <a:pt x="14" y="3"/>
                      <a:pt x="14" y="0"/>
                    </a:cubicBezTo>
                    <a:cubicBezTo>
                      <a:pt x="14" y="0"/>
                      <a:pt x="14" y="0"/>
                      <a:pt x="14" y="0"/>
                    </a:cubicBezTo>
                    <a:cubicBezTo>
                      <a:pt x="0" y="37"/>
                      <a:pt x="0" y="37"/>
                      <a:pt x="0" y="37"/>
                    </a:cubicBezTo>
                    <a:cubicBezTo>
                      <a:pt x="22" y="39"/>
                      <a:pt x="22" y="39"/>
                      <a:pt x="22" y="39"/>
                    </a:cubicBezTo>
                    <a:cubicBezTo>
                      <a:pt x="16" y="30"/>
                      <a:pt x="13" y="20"/>
                      <a:pt x="13" y="11"/>
                    </a:cubicBez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9" name="Freeform 1300"/>
              <p:cNvSpPr>
                <a:spLocks noChangeArrowheads="1"/>
              </p:cNvSpPr>
              <p:nvPr/>
            </p:nvSpPr>
            <p:spPr bwMode="auto">
              <a:xfrm>
                <a:off x="760413" y="1246187"/>
                <a:ext cx="411163" cy="38100"/>
              </a:xfrm>
              <a:custGeom>
                <a:avLst/>
                <a:gdLst>
                  <a:gd name="T0" fmla="*/ 0 w 355"/>
                  <a:gd name="T1" fmla="*/ 1333500 h 33"/>
                  <a:gd name="T2" fmla="*/ 335359599 w 355"/>
                  <a:gd name="T3" fmla="*/ 43988182 h 33"/>
                  <a:gd name="T4" fmla="*/ 476211303 w 355"/>
                  <a:gd name="T5" fmla="*/ 0 h 33"/>
                  <a:gd name="T6" fmla="*/ 0 w 355"/>
                  <a:gd name="T7" fmla="*/ 1333500 h 33"/>
                  <a:gd name="T8" fmla="*/ 0 60000 65536"/>
                  <a:gd name="T9" fmla="*/ 0 60000 65536"/>
                  <a:gd name="T10" fmla="*/ 0 60000 65536"/>
                  <a:gd name="T11" fmla="*/ 0 60000 65536"/>
                  <a:gd name="T12" fmla="*/ 0 w 355"/>
                  <a:gd name="T13" fmla="*/ 0 h 33"/>
                  <a:gd name="T14" fmla="*/ 355 w 355"/>
                  <a:gd name="T15" fmla="*/ 33 h 33"/>
                </a:gdLst>
                <a:ahLst/>
                <a:cxnLst>
                  <a:cxn ang="T8">
                    <a:pos x="T0" y="T1"/>
                  </a:cxn>
                  <a:cxn ang="T9">
                    <a:pos x="T2" y="T3"/>
                  </a:cxn>
                  <a:cxn ang="T10">
                    <a:pos x="T4" y="T5"/>
                  </a:cxn>
                  <a:cxn ang="T11">
                    <a:pos x="T6" y="T7"/>
                  </a:cxn>
                </a:cxnLst>
                <a:rect l="T12" t="T13" r="T14" b="T15"/>
                <a:pathLst>
                  <a:path w="355" h="33">
                    <a:moveTo>
                      <a:pt x="0" y="1"/>
                    </a:moveTo>
                    <a:cubicBezTo>
                      <a:pt x="75" y="16"/>
                      <a:pt x="159" y="27"/>
                      <a:pt x="250" y="33"/>
                    </a:cubicBezTo>
                    <a:cubicBezTo>
                      <a:pt x="355" y="0"/>
                      <a:pt x="355" y="0"/>
                      <a:pt x="355" y="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0" name="Freeform 1301"/>
              <p:cNvSpPr>
                <a:spLocks noChangeArrowheads="1"/>
              </p:cNvSpPr>
              <p:nvPr/>
            </p:nvSpPr>
            <p:spPr bwMode="auto">
              <a:xfrm>
                <a:off x="450850" y="776287"/>
                <a:ext cx="3175" cy="9525"/>
              </a:xfrm>
              <a:custGeom>
                <a:avLst/>
                <a:gdLst>
                  <a:gd name="T0" fmla="*/ 3360208 w 3"/>
                  <a:gd name="T1" fmla="*/ 0 h 8"/>
                  <a:gd name="T2" fmla="*/ 3360208 w 3"/>
                  <a:gd name="T3" fmla="*/ 1418034 h 8"/>
                  <a:gd name="T4" fmla="*/ 0 w 3"/>
                  <a:gd name="T5" fmla="*/ 11340703 h 8"/>
                  <a:gd name="T6" fmla="*/ 0 w 3"/>
                  <a:gd name="T7" fmla="*/ 11340703 h 8"/>
                  <a:gd name="T8" fmla="*/ 3360208 w 3"/>
                  <a:gd name="T9" fmla="*/ 0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3" y="0"/>
                    </a:moveTo>
                    <a:cubicBezTo>
                      <a:pt x="3" y="1"/>
                      <a:pt x="3" y="1"/>
                      <a:pt x="3" y="1"/>
                    </a:cubicBezTo>
                    <a:cubicBezTo>
                      <a:pt x="0" y="8"/>
                      <a:pt x="0" y="8"/>
                      <a:pt x="0" y="8"/>
                    </a:cubicBezTo>
                    <a:cubicBezTo>
                      <a:pt x="0" y="8"/>
                      <a:pt x="0" y="8"/>
                      <a:pt x="0" y="8"/>
                    </a:cubicBezTo>
                    <a:cubicBezTo>
                      <a:pt x="1" y="5"/>
                      <a:pt x="2" y="3"/>
                      <a:pt x="3" y="0"/>
                    </a:cubicBez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1" name="Freeform 1302"/>
              <p:cNvSpPr>
                <a:spLocks noChangeArrowheads="1"/>
              </p:cNvSpPr>
              <p:nvPr/>
            </p:nvSpPr>
            <p:spPr bwMode="auto">
              <a:xfrm>
                <a:off x="1355725" y="1117599"/>
                <a:ext cx="485775" cy="128587"/>
              </a:xfrm>
              <a:custGeom>
                <a:avLst/>
                <a:gdLst>
                  <a:gd name="T0" fmla="*/ 0 w 421"/>
                  <a:gd name="T1" fmla="*/ 113358625 h 112"/>
                  <a:gd name="T2" fmla="*/ 508591425 w 421"/>
                  <a:gd name="T3" fmla="*/ 147630505 h 112"/>
                  <a:gd name="T4" fmla="*/ 560516272 w 421"/>
                  <a:gd name="T5" fmla="*/ 137085223 h 112"/>
                  <a:gd name="T6" fmla="*/ 426045444 w 421"/>
                  <a:gd name="T7" fmla="*/ 0 h 112"/>
                  <a:gd name="T8" fmla="*/ 0 w 421"/>
                  <a:gd name="T9" fmla="*/ 113358625 h 112"/>
                  <a:gd name="T10" fmla="*/ 0 60000 65536"/>
                  <a:gd name="T11" fmla="*/ 0 60000 65536"/>
                  <a:gd name="T12" fmla="*/ 0 60000 65536"/>
                  <a:gd name="T13" fmla="*/ 0 60000 65536"/>
                  <a:gd name="T14" fmla="*/ 0 60000 65536"/>
                  <a:gd name="T15" fmla="*/ 0 w 421"/>
                  <a:gd name="T16" fmla="*/ 0 h 112"/>
                  <a:gd name="T17" fmla="*/ 421 w 421"/>
                  <a:gd name="T18" fmla="*/ 112 h 112"/>
                </a:gdLst>
                <a:ahLst/>
                <a:cxnLst>
                  <a:cxn ang="T10">
                    <a:pos x="T0" y="T1"/>
                  </a:cxn>
                  <a:cxn ang="T11">
                    <a:pos x="T2" y="T3"/>
                  </a:cxn>
                  <a:cxn ang="T12">
                    <a:pos x="T4" y="T5"/>
                  </a:cxn>
                  <a:cxn ang="T13">
                    <a:pos x="T6" y="T7"/>
                  </a:cxn>
                  <a:cxn ang="T14">
                    <a:pos x="T8" y="T9"/>
                  </a:cxn>
                </a:cxnLst>
                <a:rect l="T15" t="T16" r="T17" b="T18"/>
                <a:pathLst>
                  <a:path w="421" h="112">
                    <a:moveTo>
                      <a:pt x="0" y="86"/>
                    </a:moveTo>
                    <a:cubicBezTo>
                      <a:pt x="382" y="112"/>
                      <a:pt x="382" y="112"/>
                      <a:pt x="382" y="112"/>
                    </a:cubicBezTo>
                    <a:cubicBezTo>
                      <a:pt x="395" y="109"/>
                      <a:pt x="408" y="107"/>
                      <a:pt x="421" y="104"/>
                    </a:cubicBezTo>
                    <a:cubicBezTo>
                      <a:pt x="320" y="0"/>
                      <a:pt x="320" y="0"/>
                      <a:pt x="320" y="0"/>
                    </a:cubicBezTo>
                    <a:lnTo>
                      <a:pt x="0" y="8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2" name="Freeform 1303"/>
              <p:cNvSpPr>
                <a:spLocks noChangeArrowheads="1"/>
              </p:cNvSpPr>
              <p:nvPr/>
            </p:nvSpPr>
            <p:spPr bwMode="auto">
              <a:xfrm>
                <a:off x="1065213" y="998537"/>
                <a:ext cx="180975" cy="47625"/>
              </a:xfrm>
              <a:custGeom>
                <a:avLst/>
                <a:gdLst>
                  <a:gd name="T0" fmla="*/ 209948401 w 156"/>
                  <a:gd name="T1" fmla="*/ 7715250 h 42"/>
                  <a:gd name="T2" fmla="*/ 0 w 156"/>
                  <a:gd name="T3" fmla="*/ 0 h 42"/>
                  <a:gd name="T4" fmla="*/ 14803987 w 156"/>
                  <a:gd name="T5" fmla="*/ 54003348 h 42"/>
                  <a:gd name="T6" fmla="*/ 209948401 w 156"/>
                  <a:gd name="T7" fmla="*/ 7715250 h 42"/>
                  <a:gd name="T8" fmla="*/ 0 60000 65536"/>
                  <a:gd name="T9" fmla="*/ 0 60000 65536"/>
                  <a:gd name="T10" fmla="*/ 0 60000 65536"/>
                  <a:gd name="T11" fmla="*/ 0 60000 65536"/>
                  <a:gd name="T12" fmla="*/ 0 w 156"/>
                  <a:gd name="T13" fmla="*/ 0 h 42"/>
                  <a:gd name="T14" fmla="*/ 156 w 156"/>
                  <a:gd name="T15" fmla="*/ 42 h 42"/>
                </a:gdLst>
                <a:ahLst/>
                <a:cxnLst>
                  <a:cxn ang="T8">
                    <a:pos x="T0" y="T1"/>
                  </a:cxn>
                  <a:cxn ang="T9">
                    <a:pos x="T2" y="T3"/>
                  </a:cxn>
                  <a:cxn ang="T10">
                    <a:pos x="T4" y="T5"/>
                  </a:cxn>
                  <a:cxn ang="T11">
                    <a:pos x="T6" y="T7"/>
                  </a:cxn>
                </a:cxnLst>
                <a:rect l="T12" t="T13" r="T14" b="T15"/>
                <a:pathLst>
                  <a:path w="156" h="42">
                    <a:moveTo>
                      <a:pt x="156" y="6"/>
                    </a:moveTo>
                    <a:cubicBezTo>
                      <a:pt x="102" y="5"/>
                      <a:pt x="50" y="3"/>
                      <a:pt x="0" y="0"/>
                    </a:cubicBezTo>
                    <a:cubicBezTo>
                      <a:pt x="11" y="42"/>
                      <a:pt x="11" y="42"/>
                      <a:pt x="11" y="42"/>
                    </a:cubicBezTo>
                    <a:lnTo>
                      <a:pt x="156" y="6"/>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3" name="Freeform 1304"/>
              <p:cNvSpPr>
                <a:spLocks noChangeArrowheads="1"/>
              </p:cNvSpPr>
              <p:nvPr/>
            </p:nvSpPr>
            <p:spPr bwMode="auto">
              <a:xfrm>
                <a:off x="1077913" y="1004887"/>
                <a:ext cx="244475" cy="60325"/>
              </a:xfrm>
              <a:custGeom>
                <a:avLst/>
                <a:gdLst>
                  <a:gd name="T0" fmla="*/ 193314841 w 211"/>
                  <a:gd name="T1" fmla="*/ 69982800 h 52"/>
                  <a:gd name="T2" fmla="*/ 283260785 w 211"/>
                  <a:gd name="T3" fmla="*/ 0 h 52"/>
                  <a:gd name="T4" fmla="*/ 230904900 w 211"/>
                  <a:gd name="T5" fmla="*/ 0 h 52"/>
                  <a:gd name="T6" fmla="*/ 194657715 w 211"/>
                  <a:gd name="T7" fmla="*/ 0 h 52"/>
                  <a:gd name="T8" fmla="*/ 0 w 211"/>
                  <a:gd name="T9" fmla="*/ 48449096 h 52"/>
                  <a:gd name="T10" fmla="*/ 193314841 w 211"/>
                  <a:gd name="T11" fmla="*/ 69982800 h 52"/>
                  <a:gd name="T12" fmla="*/ 0 60000 65536"/>
                  <a:gd name="T13" fmla="*/ 0 60000 65536"/>
                  <a:gd name="T14" fmla="*/ 0 60000 65536"/>
                  <a:gd name="T15" fmla="*/ 0 60000 65536"/>
                  <a:gd name="T16" fmla="*/ 0 60000 65536"/>
                  <a:gd name="T17" fmla="*/ 0 60000 65536"/>
                  <a:gd name="T18" fmla="*/ 0 w 211"/>
                  <a:gd name="T19" fmla="*/ 0 h 52"/>
                  <a:gd name="T20" fmla="*/ 211 w 211"/>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1" h="52">
                    <a:moveTo>
                      <a:pt x="144" y="52"/>
                    </a:moveTo>
                    <a:cubicBezTo>
                      <a:pt x="211" y="0"/>
                      <a:pt x="211" y="0"/>
                      <a:pt x="211" y="0"/>
                    </a:cubicBezTo>
                    <a:cubicBezTo>
                      <a:pt x="198" y="0"/>
                      <a:pt x="185" y="0"/>
                      <a:pt x="172" y="0"/>
                    </a:cubicBezTo>
                    <a:cubicBezTo>
                      <a:pt x="163" y="0"/>
                      <a:pt x="154" y="0"/>
                      <a:pt x="145" y="0"/>
                    </a:cubicBezTo>
                    <a:cubicBezTo>
                      <a:pt x="0" y="36"/>
                      <a:pt x="0" y="36"/>
                      <a:pt x="0" y="36"/>
                    </a:cubicBezTo>
                    <a:lnTo>
                      <a:pt x="144" y="5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4" name="Freeform 1305"/>
              <p:cNvSpPr>
                <a:spLocks noChangeArrowheads="1"/>
              </p:cNvSpPr>
              <p:nvPr/>
            </p:nvSpPr>
            <p:spPr bwMode="auto">
              <a:xfrm>
                <a:off x="633413" y="927099"/>
                <a:ext cx="1588" cy="1587"/>
              </a:xfrm>
              <a:custGeom>
                <a:avLst/>
                <a:gdLst>
                  <a:gd name="T0" fmla="*/ 1260872 w 2"/>
                  <a:gd name="T1" fmla="*/ 2518569 h 1"/>
                  <a:gd name="T2" fmla="*/ 0 w 2"/>
                  <a:gd name="T3" fmla="*/ 0 h 1"/>
                  <a:gd name="T4" fmla="*/ 1260872 w 2"/>
                  <a:gd name="T5" fmla="*/ 2518569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2" y="1"/>
                    </a:moveTo>
                    <a:cubicBezTo>
                      <a:pt x="1" y="1"/>
                      <a:pt x="1" y="0"/>
                      <a:pt x="0" y="0"/>
                    </a:cubicBezTo>
                    <a:cubicBezTo>
                      <a:pt x="2" y="1"/>
                      <a:pt x="2" y="1"/>
                      <a:pt x="2" y="1"/>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5" name="Freeform 1306"/>
              <p:cNvSpPr>
                <a:spLocks noChangeArrowheads="1"/>
              </p:cNvSpPr>
              <p:nvPr/>
            </p:nvSpPr>
            <p:spPr bwMode="auto">
              <a:xfrm>
                <a:off x="423863" y="828674"/>
                <a:ext cx="158750" cy="80962"/>
              </a:xfrm>
              <a:custGeom>
                <a:avLst/>
                <a:gdLst>
                  <a:gd name="T0" fmla="*/ 110102974 w 137"/>
                  <a:gd name="T1" fmla="*/ 58513860 h 71"/>
                  <a:gd name="T2" fmla="*/ 41624945 w 137"/>
                  <a:gd name="T3" fmla="*/ 2601047 h 71"/>
                  <a:gd name="T4" fmla="*/ 12084699 w 137"/>
                  <a:gd name="T5" fmla="*/ 0 h 71"/>
                  <a:gd name="T6" fmla="*/ 0 w 137"/>
                  <a:gd name="T7" fmla="*/ 29906907 h 71"/>
                  <a:gd name="T8" fmla="*/ 183953011 w 137"/>
                  <a:gd name="T9" fmla="*/ 92321767 h 71"/>
                  <a:gd name="T10" fmla="*/ 110102974 w 137"/>
                  <a:gd name="T11" fmla="*/ 58513860 h 71"/>
                  <a:gd name="T12" fmla="*/ 0 60000 65536"/>
                  <a:gd name="T13" fmla="*/ 0 60000 65536"/>
                  <a:gd name="T14" fmla="*/ 0 60000 65536"/>
                  <a:gd name="T15" fmla="*/ 0 60000 65536"/>
                  <a:gd name="T16" fmla="*/ 0 60000 65536"/>
                  <a:gd name="T17" fmla="*/ 0 60000 65536"/>
                  <a:gd name="T18" fmla="*/ 0 w 137"/>
                  <a:gd name="T19" fmla="*/ 0 h 71"/>
                  <a:gd name="T20" fmla="*/ 137 w 13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37" h="71">
                    <a:moveTo>
                      <a:pt x="82" y="45"/>
                    </a:moveTo>
                    <a:cubicBezTo>
                      <a:pt x="58" y="32"/>
                      <a:pt x="41" y="17"/>
                      <a:pt x="31" y="2"/>
                    </a:cubicBezTo>
                    <a:cubicBezTo>
                      <a:pt x="9" y="0"/>
                      <a:pt x="9" y="0"/>
                      <a:pt x="9" y="0"/>
                    </a:cubicBezTo>
                    <a:cubicBezTo>
                      <a:pt x="0" y="23"/>
                      <a:pt x="0" y="23"/>
                      <a:pt x="0" y="23"/>
                    </a:cubicBezTo>
                    <a:cubicBezTo>
                      <a:pt x="137" y="71"/>
                      <a:pt x="137" y="71"/>
                      <a:pt x="137" y="71"/>
                    </a:cubicBezTo>
                    <a:cubicBezTo>
                      <a:pt x="116" y="63"/>
                      <a:pt x="98" y="54"/>
                      <a:pt x="82" y="45"/>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6" name="Freeform 1307"/>
              <p:cNvSpPr>
                <a:spLocks noChangeArrowheads="1"/>
              </p:cNvSpPr>
              <p:nvPr/>
            </p:nvSpPr>
            <p:spPr bwMode="auto">
              <a:xfrm>
                <a:off x="361950" y="855662"/>
                <a:ext cx="273050" cy="247650"/>
              </a:xfrm>
              <a:custGeom>
                <a:avLst/>
                <a:gdLst>
                  <a:gd name="T0" fmla="*/ 313239258 w 236"/>
                  <a:gd name="T1" fmla="*/ 83587058 h 215"/>
                  <a:gd name="T2" fmla="*/ 254339133 w 236"/>
                  <a:gd name="T3" fmla="*/ 63685213 h 215"/>
                  <a:gd name="T4" fmla="*/ 70947877 w 236"/>
                  <a:gd name="T5" fmla="*/ 0 h 215"/>
                  <a:gd name="T6" fmla="*/ 6693196 w 236"/>
                  <a:gd name="T7" fmla="*/ 164521382 h 215"/>
                  <a:gd name="T8" fmla="*/ 5354557 w 236"/>
                  <a:gd name="T9" fmla="*/ 169828003 h 215"/>
                  <a:gd name="T10" fmla="*/ 4015918 w 236"/>
                  <a:gd name="T11" fmla="*/ 172481890 h 215"/>
                  <a:gd name="T12" fmla="*/ 4015918 w 236"/>
                  <a:gd name="T13" fmla="*/ 172481890 h 215"/>
                  <a:gd name="T14" fmla="*/ 0 w 236"/>
                  <a:gd name="T15" fmla="*/ 199017299 h 215"/>
                  <a:gd name="T16" fmla="*/ 42836454 w 236"/>
                  <a:gd name="T17" fmla="*/ 285258244 h 215"/>
                  <a:gd name="T18" fmla="*/ 315916536 w 236"/>
                  <a:gd name="T19" fmla="*/ 84914002 h 215"/>
                  <a:gd name="T20" fmla="*/ 313239258 w 236"/>
                  <a:gd name="T21" fmla="*/ 83587058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15"/>
                  <a:gd name="T35" fmla="*/ 236 w 236"/>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15">
                    <a:moveTo>
                      <a:pt x="234" y="63"/>
                    </a:moveTo>
                    <a:cubicBezTo>
                      <a:pt x="218" y="58"/>
                      <a:pt x="204" y="53"/>
                      <a:pt x="190" y="48"/>
                    </a:cubicBezTo>
                    <a:cubicBezTo>
                      <a:pt x="53" y="0"/>
                      <a:pt x="53" y="0"/>
                      <a:pt x="53" y="0"/>
                    </a:cubicBezTo>
                    <a:cubicBezTo>
                      <a:pt x="5" y="124"/>
                      <a:pt x="5" y="124"/>
                      <a:pt x="5" y="124"/>
                    </a:cubicBezTo>
                    <a:cubicBezTo>
                      <a:pt x="4" y="128"/>
                      <a:pt x="4" y="128"/>
                      <a:pt x="4" y="128"/>
                    </a:cubicBezTo>
                    <a:cubicBezTo>
                      <a:pt x="3" y="130"/>
                      <a:pt x="3" y="130"/>
                      <a:pt x="3" y="130"/>
                    </a:cubicBezTo>
                    <a:cubicBezTo>
                      <a:pt x="3" y="130"/>
                      <a:pt x="3" y="130"/>
                      <a:pt x="3" y="130"/>
                    </a:cubicBezTo>
                    <a:cubicBezTo>
                      <a:pt x="1" y="137"/>
                      <a:pt x="0" y="144"/>
                      <a:pt x="0" y="150"/>
                    </a:cubicBezTo>
                    <a:cubicBezTo>
                      <a:pt x="0" y="173"/>
                      <a:pt x="11" y="194"/>
                      <a:pt x="32" y="215"/>
                    </a:cubicBezTo>
                    <a:cubicBezTo>
                      <a:pt x="236" y="64"/>
                      <a:pt x="236" y="64"/>
                      <a:pt x="236" y="64"/>
                    </a:cubicBezTo>
                    <a:lnTo>
                      <a:pt x="234" y="63"/>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7" name="Freeform 1308"/>
              <p:cNvSpPr>
                <a:spLocks noChangeArrowheads="1"/>
              </p:cNvSpPr>
              <p:nvPr/>
            </p:nvSpPr>
            <p:spPr bwMode="auto">
              <a:xfrm>
                <a:off x="1355725" y="1216024"/>
                <a:ext cx="441325" cy="58737"/>
              </a:xfrm>
              <a:custGeom>
                <a:avLst/>
                <a:gdLst>
                  <a:gd name="T0" fmla="*/ 289633973 w 382"/>
                  <a:gd name="T1" fmla="*/ 67647748 h 51"/>
                  <a:gd name="T2" fmla="*/ 509863235 w 382"/>
                  <a:gd name="T3" fmla="*/ 34486681 h 51"/>
                  <a:gd name="T4" fmla="*/ 0 w 382"/>
                  <a:gd name="T5" fmla="*/ 0 h 51"/>
                  <a:gd name="T6" fmla="*/ 289633973 w 382"/>
                  <a:gd name="T7" fmla="*/ 67647748 h 51"/>
                  <a:gd name="T8" fmla="*/ 0 60000 65536"/>
                  <a:gd name="T9" fmla="*/ 0 60000 65536"/>
                  <a:gd name="T10" fmla="*/ 0 60000 65536"/>
                  <a:gd name="T11" fmla="*/ 0 60000 65536"/>
                  <a:gd name="T12" fmla="*/ 0 w 382"/>
                  <a:gd name="T13" fmla="*/ 0 h 51"/>
                  <a:gd name="T14" fmla="*/ 382 w 382"/>
                  <a:gd name="T15" fmla="*/ 51 h 51"/>
                </a:gdLst>
                <a:ahLst/>
                <a:cxnLst>
                  <a:cxn ang="T8">
                    <a:pos x="T0" y="T1"/>
                  </a:cxn>
                  <a:cxn ang="T9">
                    <a:pos x="T2" y="T3"/>
                  </a:cxn>
                  <a:cxn ang="T10">
                    <a:pos x="T4" y="T5"/>
                  </a:cxn>
                  <a:cxn ang="T11">
                    <a:pos x="T6" y="T7"/>
                  </a:cxn>
                </a:cxnLst>
                <a:rect l="T12" t="T13" r="T14" b="T15"/>
                <a:pathLst>
                  <a:path w="382" h="51">
                    <a:moveTo>
                      <a:pt x="217" y="51"/>
                    </a:moveTo>
                    <a:cubicBezTo>
                      <a:pt x="276" y="45"/>
                      <a:pt x="331" y="36"/>
                      <a:pt x="382" y="26"/>
                    </a:cubicBezTo>
                    <a:cubicBezTo>
                      <a:pt x="0" y="0"/>
                      <a:pt x="0" y="0"/>
                      <a:pt x="0" y="0"/>
                    </a:cubicBezTo>
                    <a:lnTo>
                      <a:pt x="217" y="51"/>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8" name="Freeform 1309"/>
              <p:cNvSpPr>
                <a:spLocks noChangeArrowheads="1"/>
              </p:cNvSpPr>
              <p:nvPr/>
            </p:nvSpPr>
            <p:spPr bwMode="auto">
              <a:xfrm>
                <a:off x="1077913" y="1046162"/>
                <a:ext cx="166688" cy="38100"/>
              </a:xfrm>
              <a:custGeom>
                <a:avLst/>
                <a:gdLst>
                  <a:gd name="T0" fmla="*/ 264617994 w 105"/>
                  <a:gd name="T1" fmla="*/ 30241875 h 24"/>
                  <a:gd name="T2" fmla="*/ 0 w 105"/>
                  <a:gd name="T3" fmla="*/ 0 h 24"/>
                  <a:gd name="T4" fmla="*/ 206653432 w 105"/>
                  <a:gd name="T5" fmla="*/ 60483750 h 24"/>
                  <a:gd name="T6" fmla="*/ 264617994 w 105"/>
                  <a:gd name="T7" fmla="*/ 30241875 h 24"/>
                  <a:gd name="T8" fmla="*/ 0 60000 65536"/>
                  <a:gd name="T9" fmla="*/ 0 60000 65536"/>
                  <a:gd name="T10" fmla="*/ 0 60000 65536"/>
                  <a:gd name="T11" fmla="*/ 0 60000 65536"/>
                  <a:gd name="T12" fmla="*/ 0 w 105"/>
                  <a:gd name="T13" fmla="*/ 0 h 24"/>
                  <a:gd name="T14" fmla="*/ 105 w 105"/>
                  <a:gd name="T15" fmla="*/ 24 h 24"/>
                </a:gdLst>
                <a:ahLst/>
                <a:cxnLst>
                  <a:cxn ang="T8">
                    <a:pos x="T0" y="T1"/>
                  </a:cxn>
                  <a:cxn ang="T9">
                    <a:pos x="T2" y="T3"/>
                  </a:cxn>
                  <a:cxn ang="T10">
                    <a:pos x="T4" y="T5"/>
                  </a:cxn>
                  <a:cxn ang="T11">
                    <a:pos x="T6" y="T7"/>
                  </a:cxn>
                </a:cxnLst>
                <a:rect l="T12" t="T13" r="T14" b="T15"/>
                <a:pathLst>
                  <a:path w="105" h="24">
                    <a:moveTo>
                      <a:pt x="105" y="12"/>
                    </a:moveTo>
                    <a:lnTo>
                      <a:pt x="0" y="0"/>
                    </a:lnTo>
                    <a:lnTo>
                      <a:pt x="82" y="24"/>
                    </a:lnTo>
                    <a:lnTo>
                      <a:pt x="105" y="1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9" name="Freeform 1310"/>
              <p:cNvSpPr>
                <a:spLocks noChangeArrowheads="1"/>
              </p:cNvSpPr>
              <p:nvPr/>
            </p:nvSpPr>
            <p:spPr bwMode="auto">
              <a:xfrm>
                <a:off x="1171575" y="1084262"/>
                <a:ext cx="184150" cy="161925"/>
              </a:xfrm>
              <a:custGeom>
                <a:avLst/>
                <a:gdLst>
                  <a:gd name="T0" fmla="*/ 0 w 116"/>
                  <a:gd name="T1" fmla="*/ 257055938 h 102"/>
                  <a:gd name="T2" fmla="*/ 292338125 w 116"/>
                  <a:gd name="T3" fmla="*/ 209173763 h 102"/>
                  <a:gd name="T4" fmla="*/ 57964388 w 116"/>
                  <a:gd name="T5" fmla="*/ 0 h 102"/>
                  <a:gd name="T6" fmla="*/ 0 w 116"/>
                  <a:gd name="T7" fmla="*/ 257055938 h 102"/>
                  <a:gd name="T8" fmla="*/ 0 60000 65536"/>
                  <a:gd name="T9" fmla="*/ 0 60000 65536"/>
                  <a:gd name="T10" fmla="*/ 0 60000 65536"/>
                  <a:gd name="T11" fmla="*/ 0 60000 65536"/>
                  <a:gd name="T12" fmla="*/ 0 w 116"/>
                  <a:gd name="T13" fmla="*/ 0 h 102"/>
                  <a:gd name="T14" fmla="*/ 116 w 116"/>
                  <a:gd name="T15" fmla="*/ 102 h 102"/>
                </a:gdLst>
                <a:ahLst/>
                <a:cxnLst>
                  <a:cxn ang="T8">
                    <a:pos x="T0" y="T1"/>
                  </a:cxn>
                  <a:cxn ang="T9">
                    <a:pos x="T2" y="T3"/>
                  </a:cxn>
                  <a:cxn ang="T10">
                    <a:pos x="T4" y="T5"/>
                  </a:cxn>
                  <a:cxn ang="T11">
                    <a:pos x="T6" y="T7"/>
                  </a:cxn>
                </a:cxnLst>
                <a:rect l="T12" t="T13" r="T14" b="T15"/>
                <a:pathLst>
                  <a:path w="116" h="102">
                    <a:moveTo>
                      <a:pt x="0" y="102"/>
                    </a:moveTo>
                    <a:lnTo>
                      <a:pt x="116" y="83"/>
                    </a:lnTo>
                    <a:lnTo>
                      <a:pt x="23" y="0"/>
                    </a:lnTo>
                    <a:lnTo>
                      <a:pt x="0" y="10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0" name="Freeform 1311"/>
              <p:cNvSpPr>
                <a:spLocks noChangeArrowheads="1"/>
              </p:cNvSpPr>
              <p:nvPr/>
            </p:nvSpPr>
            <p:spPr bwMode="auto">
              <a:xfrm>
                <a:off x="1208088" y="1065212"/>
                <a:ext cx="147638" cy="150812"/>
              </a:xfrm>
              <a:custGeom>
                <a:avLst/>
                <a:gdLst>
                  <a:gd name="T0" fmla="*/ 0 w 93"/>
                  <a:gd name="T1" fmla="*/ 30241775 h 95"/>
                  <a:gd name="T2" fmla="*/ 234376119 w 93"/>
                  <a:gd name="T3" fmla="*/ 239413256 h 95"/>
                  <a:gd name="T4" fmla="*/ 57964584 w 93"/>
                  <a:gd name="T5" fmla="*/ 0 h 95"/>
                  <a:gd name="T6" fmla="*/ 0 w 93"/>
                  <a:gd name="T7" fmla="*/ 30241775 h 95"/>
                  <a:gd name="T8" fmla="*/ 0 60000 65536"/>
                  <a:gd name="T9" fmla="*/ 0 60000 65536"/>
                  <a:gd name="T10" fmla="*/ 0 60000 65536"/>
                  <a:gd name="T11" fmla="*/ 0 60000 65536"/>
                  <a:gd name="T12" fmla="*/ 0 w 93"/>
                  <a:gd name="T13" fmla="*/ 0 h 95"/>
                  <a:gd name="T14" fmla="*/ 93 w 93"/>
                  <a:gd name="T15" fmla="*/ 95 h 95"/>
                </a:gdLst>
                <a:ahLst/>
                <a:cxnLst>
                  <a:cxn ang="T8">
                    <a:pos x="T0" y="T1"/>
                  </a:cxn>
                  <a:cxn ang="T9">
                    <a:pos x="T2" y="T3"/>
                  </a:cxn>
                  <a:cxn ang="T10">
                    <a:pos x="T4" y="T5"/>
                  </a:cxn>
                  <a:cxn ang="T11">
                    <a:pos x="T6" y="T7"/>
                  </a:cxn>
                </a:cxnLst>
                <a:rect l="T12" t="T13" r="T14" b="T15"/>
                <a:pathLst>
                  <a:path w="93" h="95">
                    <a:moveTo>
                      <a:pt x="0" y="12"/>
                    </a:moveTo>
                    <a:lnTo>
                      <a:pt x="93" y="95"/>
                    </a:lnTo>
                    <a:lnTo>
                      <a:pt x="23" y="0"/>
                    </a:lnTo>
                    <a:lnTo>
                      <a:pt x="0" y="12"/>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1" name="Rectangle 1312"/>
              <p:cNvSpPr>
                <a:spLocks noChangeArrowheads="1"/>
              </p:cNvSpPr>
              <p:nvPr/>
            </p:nvSpPr>
            <p:spPr bwMode="auto">
              <a:xfrm>
                <a:off x="635000" y="928687"/>
                <a:ext cx="1588" cy="1587"/>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42" name="Freeform 1313"/>
              <p:cNvSpPr>
                <a:spLocks noChangeArrowheads="1"/>
              </p:cNvSpPr>
              <p:nvPr/>
            </p:nvSpPr>
            <p:spPr bwMode="auto">
              <a:xfrm>
                <a:off x="661988" y="1065212"/>
                <a:ext cx="509588" cy="182562"/>
              </a:xfrm>
              <a:custGeom>
                <a:avLst/>
                <a:gdLst>
                  <a:gd name="T0" fmla="*/ 204292789 w 441"/>
                  <a:gd name="T1" fmla="*/ 0 h 158"/>
                  <a:gd name="T2" fmla="*/ 0 w 441"/>
                  <a:gd name="T3" fmla="*/ 184240877 h 158"/>
                  <a:gd name="T4" fmla="*/ 114830629 w 441"/>
                  <a:gd name="T5" fmla="*/ 210942303 h 158"/>
                  <a:gd name="T6" fmla="*/ 588843378 w 441"/>
                  <a:gd name="T7" fmla="*/ 209607751 h 158"/>
                  <a:gd name="T8" fmla="*/ 204292789 w 441"/>
                  <a:gd name="T9" fmla="*/ 0 h 158"/>
                  <a:gd name="T10" fmla="*/ 0 60000 65536"/>
                  <a:gd name="T11" fmla="*/ 0 60000 65536"/>
                  <a:gd name="T12" fmla="*/ 0 60000 65536"/>
                  <a:gd name="T13" fmla="*/ 0 60000 65536"/>
                  <a:gd name="T14" fmla="*/ 0 60000 65536"/>
                  <a:gd name="T15" fmla="*/ 0 w 441"/>
                  <a:gd name="T16" fmla="*/ 0 h 158"/>
                  <a:gd name="T17" fmla="*/ 441 w 441"/>
                  <a:gd name="T18" fmla="*/ 158 h 158"/>
                </a:gdLst>
                <a:ahLst/>
                <a:cxnLst>
                  <a:cxn ang="T10">
                    <a:pos x="T0" y="T1"/>
                  </a:cxn>
                  <a:cxn ang="T11">
                    <a:pos x="T2" y="T3"/>
                  </a:cxn>
                  <a:cxn ang="T12">
                    <a:pos x="T4" y="T5"/>
                  </a:cxn>
                  <a:cxn ang="T13">
                    <a:pos x="T6" y="T7"/>
                  </a:cxn>
                  <a:cxn ang="T14">
                    <a:pos x="T8" y="T9"/>
                  </a:cxn>
                </a:cxnLst>
                <a:rect l="T15" t="T16" r="T17" b="T18"/>
                <a:pathLst>
                  <a:path w="441" h="158">
                    <a:moveTo>
                      <a:pt x="153" y="0"/>
                    </a:moveTo>
                    <a:cubicBezTo>
                      <a:pt x="0" y="138"/>
                      <a:pt x="0" y="138"/>
                      <a:pt x="0" y="138"/>
                    </a:cubicBezTo>
                    <a:cubicBezTo>
                      <a:pt x="27" y="145"/>
                      <a:pt x="56" y="152"/>
                      <a:pt x="86" y="158"/>
                    </a:cubicBezTo>
                    <a:cubicBezTo>
                      <a:pt x="441" y="157"/>
                      <a:pt x="441" y="157"/>
                      <a:pt x="441" y="157"/>
                    </a:cubicBezTo>
                    <a:lnTo>
                      <a:pt x="153" y="0"/>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3" name="Freeform 1314"/>
              <p:cNvSpPr>
                <a:spLocks noChangeArrowheads="1"/>
              </p:cNvSpPr>
              <p:nvPr/>
            </p:nvSpPr>
            <p:spPr bwMode="auto">
              <a:xfrm>
                <a:off x="635000" y="928687"/>
                <a:ext cx="307975" cy="136525"/>
              </a:xfrm>
              <a:custGeom>
                <a:avLst/>
                <a:gdLst>
                  <a:gd name="T0" fmla="*/ 234164812 w 267"/>
                  <a:gd name="T1" fmla="*/ 157958268 h 118"/>
                  <a:gd name="T2" fmla="*/ 355238205 w 267"/>
                  <a:gd name="T3" fmla="*/ 68270599 h 118"/>
                  <a:gd name="T4" fmla="*/ 1329944 w 267"/>
                  <a:gd name="T5" fmla="*/ 0 h 118"/>
                  <a:gd name="T6" fmla="*/ 0 w 267"/>
                  <a:gd name="T7" fmla="*/ 0 h 118"/>
                  <a:gd name="T8" fmla="*/ 234164812 w 267"/>
                  <a:gd name="T9" fmla="*/ 157958268 h 118"/>
                  <a:gd name="T10" fmla="*/ 0 60000 65536"/>
                  <a:gd name="T11" fmla="*/ 0 60000 65536"/>
                  <a:gd name="T12" fmla="*/ 0 60000 65536"/>
                  <a:gd name="T13" fmla="*/ 0 60000 65536"/>
                  <a:gd name="T14" fmla="*/ 0 60000 65536"/>
                  <a:gd name="T15" fmla="*/ 0 w 267"/>
                  <a:gd name="T16" fmla="*/ 0 h 118"/>
                  <a:gd name="T17" fmla="*/ 267 w 267"/>
                  <a:gd name="T18" fmla="*/ 118 h 118"/>
                </a:gdLst>
                <a:ahLst/>
                <a:cxnLst>
                  <a:cxn ang="T10">
                    <a:pos x="T0" y="T1"/>
                  </a:cxn>
                  <a:cxn ang="T11">
                    <a:pos x="T2" y="T3"/>
                  </a:cxn>
                  <a:cxn ang="T12">
                    <a:pos x="T4" y="T5"/>
                  </a:cxn>
                  <a:cxn ang="T13">
                    <a:pos x="T6" y="T7"/>
                  </a:cxn>
                  <a:cxn ang="T14">
                    <a:pos x="T8" y="T9"/>
                  </a:cxn>
                </a:cxnLst>
                <a:rect l="T15" t="T16" r="T17" b="T18"/>
                <a:pathLst>
                  <a:path w="267" h="118">
                    <a:moveTo>
                      <a:pt x="176" y="118"/>
                    </a:moveTo>
                    <a:cubicBezTo>
                      <a:pt x="267" y="51"/>
                      <a:pt x="267" y="51"/>
                      <a:pt x="267" y="51"/>
                    </a:cubicBezTo>
                    <a:cubicBezTo>
                      <a:pt x="163" y="39"/>
                      <a:pt x="72" y="22"/>
                      <a:pt x="1" y="0"/>
                    </a:cubicBezTo>
                    <a:cubicBezTo>
                      <a:pt x="0" y="0"/>
                      <a:pt x="0" y="0"/>
                      <a:pt x="0" y="0"/>
                    </a:cubicBezTo>
                    <a:lnTo>
                      <a:pt x="176" y="118"/>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4" name="Freeform 1315"/>
              <p:cNvSpPr>
                <a:spLocks noChangeArrowheads="1"/>
              </p:cNvSpPr>
              <p:nvPr/>
            </p:nvSpPr>
            <p:spPr bwMode="auto">
              <a:xfrm>
                <a:off x="838200" y="987424"/>
                <a:ext cx="239713" cy="77787"/>
              </a:xfrm>
              <a:custGeom>
                <a:avLst/>
                <a:gdLst>
                  <a:gd name="T0" fmla="*/ 276261165 w 208"/>
                  <a:gd name="T1" fmla="*/ 68743971 h 67"/>
                  <a:gd name="T2" fmla="*/ 261651349 w 208"/>
                  <a:gd name="T3" fmla="*/ 12131289 h 67"/>
                  <a:gd name="T4" fmla="*/ 120863756 w 208"/>
                  <a:gd name="T5" fmla="*/ 0 h 67"/>
                  <a:gd name="T6" fmla="*/ 0 w 208"/>
                  <a:gd name="T7" fmla="*/ 90310707 h 67"/>
                  <a:gd name="T8" fmla="*/ 276261165 w 208"/>
                  <a:gd name="T9" fmla="*/ 68743971 h 67"/>
                  <a:gd name="T10" fmla="*/ 0 60000 65536"/>
                  <a:gd name="T11" fmla="*/ 0 60000 65536"/>
                  <a:gd name="T12" fmla="*/ 0 60000 65536"/>
                  <a:gd name="T13" fmla="*/ 0 60000 65536"/>
                  <a:gd name="T14" fmla="*/ 0 60000 65536"/>
                  <a:gd name="T15" fmla="*/ 0 w 208"/>
                  <a:gd name="T16" fmla="*/ 0 h 67"/>
                  <a:gd name="T17" fmla="*/ 208 w 208"/>
                  <a:gd name="T18" fmla="*/ 67 h 67"/>
                </a:gdLst>
                <a:ahLst/>
                <a:cxnLst>
                  <a:cxn ang="T10">
                    <a:pos x="T0" y="T1"/>
                  </a:cxn>
                  <a:cxn ang="T11">
                    <a:pos x="T2" y="T3"/>
                  </a:cxn>
                  <a:cxn ang="T12">
                    <a:pos x="T4" y="T5"/>
                  </a:cxn>
                  <a:cxn ang="T13">
                    <a:pos x="T6" y="T7"/>
                  </a:cxn>
                  <a:cxn ang="T14">
                    <a:pos x="T8" y="T9"/>
                  </a:cxn>
                </a:cxnLst>
                <a:rect l="T15" t="T16" r="T17" b="T18"/>
                <a:pathLst>
                  <a:path w="208" h="67">
                    <a:moveTo>
                      <a:pt x="208" y="51"/>
                    </a:moveTo>
                    <a:cubicBezTo>
                      <a:pt x="197" y="9"/>
                      <a:pt x="197" y="9"/>
                      <a:pt x="197" y="9"/>
                    </a:cubicBezTo>
                    <a:cubicBezTo>
                      <a:pt x="160" y="7"/>
                      <a:pt x="125" y="4"/>
                      <a:pt x="91" y="0"/>
                    </a:cubicBezTo>
                    <a:cubicBezTo>
                      <a:pt x="0" y="67"/>
                      <a:pt x="0" y="67"/>
                      <a:pt x="0" y="67"/>
                    </a:cubicBezTo>
                    <a:lnTo>
                      <a:pt x="208" y="51"/>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5" name="Freeform 1316"/>
              <p:cNvSpPr>
                <a:spLocks noChangeArrowheads="1"/>
              </p:cNvSpPr>
              <p:nvPr/>
            </p:nvSpPr>
            <p:spPr bwMode="auto">
              <a:xfrm>
                <a:off x="838200" y="1046162"/>
                <a:ext cx="369888" cy="38100"/>
              </a:xfrm>
              <a:custGeom>
                <a:avLst/>
                <a:gdLst>
                  <a:gd name="T0" fmla="*/ 380544902 w 233"/>
                  <a:gd name="T1" fmla="*/ 0 h 24"/>
                  <a:gd name="T2" fmla="*/ 0 w 233"/>
                  <a:gd name="T3" fmla="*/ 30241875 h 24"/>
                  <a:gd name="T4" fmla="*/ 587197994 w 233"/>
                  <a:gd name="T5" fmla="*/ 60483750 h 24"/>
                  <a:gd name="T6" fmla="*/ 380544902 w 233"/>
                  <a:gd name="T7" fmla="*/ 0 h 24"/>
                  <a:gd name="T8" fmla="*/ 0 60000 65536"/>
                  <a:gd name="T9" fmla="*/ 0 60000 65536"/>
                  <a:gd name="T10" fmla="*/ 0 60000 65536"/>
                  <a:gd name="T11" fmla="*/ 0 60000 65536"/>
                  <a:gd name="T12" fmla="*/ 0 w 233"/>
                  <a:gd name="T13" fmla="*/ 0 h 24"/>
                  <a:gd name="T14" fmla="*/ 233 w 233"/>
                  <a:gd name="T15" fmla="*/ 24 h 24"/>
                </a:gdLst>
                <a:ahLst/>
                <a:cxnLst>
                  <a:cxn ang="T8">
                    <a:pos x="T0" y="T1"/>
                  </a:cxn>
                  <a:cxn ang="T9">
                    <a:pos x="T2" y="T3"/>
                  </a:cxn>
                  <a:cxn ang="T10">
                    <a:pos x="T4" y="T5"/>
                  </a:cxn>
                  <a:cxn ang="T11">
                    <a:pos x="T6" y="T7"/>
                  </a:cxn>
                </a:cxnLst>
                <a:rect l="T12" t="T13" r="T14" b="T15"/>
                <a:pathLst>
                  <a:path w="233" h="24">
                    <a:moveTo>
                      <a:pt x="151" y="0"/>
                    </a:moveTo>
                    <a:lnTo>
                      <a:pt x="0" y="12"/>
                    </a:lnTo>
                    <a:lnTo>
                      <a:pt x="233" y="24"/>
                    </a:lnTo>
                    <a:lnTo>
                      <a:pt x="15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6" name="Freeform 1317"/>
              <p:cNvSpPr>
                <a:spLocks noChangeArrowheads="1"/>
              </p:cNvSpPr>
              <p:nvPr/>
            </p:nvSpPr>
            <p:spPr bwMode="auto">
              <a:xfrm>
                <a:off x="838200" y="1065212"/>
                <a:ext cx="369888" cy="180975"/>
              </a:xfrm>
              <a:custGeom>
                <a:avLst/>
                <a:gdLst>
                  <a:gd name="T0" fmla="*/ 0 w 233"/>
                  <a:gd name="T1" fmla="*/ 0 h 114"/>
                  <a:gd name="T2" fmla="*/ 529233528 w 233"/>
                  <a:gd name="T3" fmla="*/ 287297813 h 114"/>
                  <a:gd name="T4" fmla="*/ 587197994 w 233"/>
                  <a:gd name="T5" fmla="*/ 30241875 h 114"/>
                  <a:gd name="T6" fmla="*/ 0 w 233"/>
                  <a:gd name="T7" fmla="*/ 0 h 114"/>
                  <a:gd name="T8" fmla="*/ 0 60000 65536"/>
                  <a:gd name="T9" fmla="*/ 0 60000 65536"/>
                  <a:gd name="T10" fmla="*/ 0 60000 65536"/>
                  <a:gd name="T11" fmla="*/ 0 60000 65536"/>
                  <a:gd name="T12" fmla="*/ 0 w 233"/>
                  <a:gd name="T13" fmla="*/ 0 h 114"/>
                  <a:gd name="T14" fmla="*/ 233 w 233"/>
                  <a:gd name="T15" fmla="*/ 114 h 114"/>
                </a:gdLst>
                <a:ahLst/>
                <a:cxnLst>
                  <a:cxn ang="T8">
                    <a:pos x="T0" y="T1"/>
                  </a:cxn>
                  <a:cxn ang="T9">
                    <a:pos x="T2" y="T3"/>
                  </a:cxn>
                  <a:cxn ang="T10">
                    <a:pos x="T4" y="T5"/>
                  </a:cxn>
                  <a:cxn ang="T11">
                    <a:pos x="T6" y="T7"/>
                  </a:cxn>
                </a:cxnLst>
                <a:rect l="T12" t="T13" r="T14" b="T15"/>
                <a:pathLst>
                  <a:path w="233" h="114">
                    <a:moveTo>
                      <a:pt x="0" y="0"/>
                    </a:moveTo>
                    <a:lnTo>
                      <a:pt x="210" y="114"/>
                    </a:lnTo>
                    <a:lnTo>
                      <a:pt x="233" y="12"/>
                    </a:lnTo>
                    <a:lnTo>
                      <a:pt x="0"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7" name="Freeform 1318"/>
              <p:cNvSpPr>
                <a:spLocks noChangeArrowheads="1"/>
              </p:cNvSpPr>
              <p:nvPr/>
            </p:nvSpPr>
            <p:spPr bwMode="auto">
              <a:xfrm>
                <a:off x="642938" y="1065212"/>
                <a:ext cx="195263" cy="158750"/>
              </a:xfrm>
              <a:custGeom>
                <a:avLst/>
                <a:gdLst>
                  <a:gd name="T0" fmla="*/ 33373797 w 169"/>
                  <a:gd name="T1" fmla="*/ 59549656 h 138"/>
                  <a:gd name="T2" fmla="*/ 0 w 169"/>
                  <a:gd name="T3" fmla="*/ 177327201 h 138"/>
                  <a:gd name="T4" fmla="*/ 21358768 w 169"/>
                  <a:gd name="T5" fmla="*/ 182620018 h 138"/>
                  <a:gd name="T6" fmla="*/ 225607332 w 169"/>
                  <a:gd name="T7" fmla="*/ 0 h 138"/>
                  <a:gd name="T8" fmla="*/ 33373797 w 169"/>
                  <a:gd name="T9" fmla="*/ 59549656 h 138"/>
                  <a:gd name="T10" fmla="*/ 0 60000 65536"/>
                  <a:gd name="T11" fmla="*/ 0 60000 65536"/>
                  <a:gd name="T12" fmla="*/ 0 60000 65536"/>
                  <a:gd name="T13" fmla="*/ 0 60000 65536"/>
                  <a:gd name="T14" fmla="*/ 0 60000 65536"/>
                  <a:gd name="T15" fmla="*/ 0 w 169"/>
                  <a:gd name="T16" fmla="*/ 0 h 138"/>
                  <a:gd name="T17" fmla="*/ 169 w 169"/>
                  <a:gd name="T18" fmla="*/ 138 h 138"/>
                </a:gdLst>
                <a:ahLst/>
                <a:cxnLst>
                  <a:cxn ang="T10">
                    <a:pos x="T0" y="T1"/>
                  </a:cxn>
                  <a:cxn ang="T11">
                    <a:pos x="T2" y="T3"/>
                  </a:cxn>
                  <a:cxn ang="T12">
                    <a:pos x="T4" y="T5"/>
                  </a:cxn>
                  <a:cxn ang="T13">
                    <a:pos x="T6" y="T7"/>
                  </a:cxn>
                  <a:cxn ang="T14">
                    <a:pos x="T8" y="T9"/>
                  </a:cxn>
                </a:cxnLst>
                <a:rect l="T15" t="T16" r="T17" b="T18"/>
                <a:pathLst>
                  <a:path w="169" h="138">
                    <a:moveTo>
                      <a:pt x="25" y="45"/>
                    </a:moveTo>
                    <a:cubicBezTo>
                      <a:pt x="0" y="134"/>
                      <a:pt x="0" y="134"/>
                      <a:pt x="0" y="134"/>
                    </a:cubicBezTo>
                    <a:cubicBezTo>
                      <a:pt x="5" y="135"/>
                      <a:pt x="11" y="136"/>
                      <a:pt x="16" y="138"/>
                    </a:cubicBezTo>
                    <a:cubicBezTo>
                      <a:pt x="169" y="0"/>
                      <a:pt x="169" y="0"/>
                      <a:pt x="169" y="0"/>
                    </a:cubicBezTo>
                    <a:lnTo>
                      <a:pt x="25" y="4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8" name="Freeform 1319"/>
              <p:cNvSpPr>
                <a:spLocks noChangeArrowheads="1"/>
              </p:cNvSpPr>
              <p:nvPr/>
            </p:nvSpPr>
            <p:spPr bwMode="auto">
              <a:xfrm>
                <a:off x="635000" y="928687"/>
                <a:ext cx="203200" cy="188912"/>
              </a:xfrm>
              <a:custGeom>
                <a:avLst/>
                <a:gdLst>
                  <a:gd name="T0" fmla="*/ 57964388 w 128"/>
                  <a:gd name="T1" fmla="*/ 299897006 h 119"/>
                  <a:gd name="T2" fmla="*/ 322580000 w 128"/>
                  <a:gd name="T3" fmla="*/ 216732864 h 119"/>
                  <a:gd name="T4" fmla="*/ 0 w 128"/>
                  <a:gd name="T5" fmla="*/ 0 h 119"/>
                  <a:gd name="T6" fmla="*/ 57964388 w 128"/>
                  <a:gd name="T7" fmla="*/ 299897006 h 119"/>
                  <a:gd name="T8" fmla="*/ 0 60000 65536"/>
                  <a:gd name="T9" fmla="*/ 0 60000 65536"/>
                  <a:gd name="T10" fmla="*/ 0 60000 65536"/>
                  <a:gd name="T11" fmla="*/ 0 60000 65536"/>
                  <a:gd name="T12" fmla="*/ 0 w 128"/>
                  <a:gd name="T13" fmla="*/ 0 h 119"/>
                  <a:gd name="T14" fmla="*/ 128 w 128"/>
                  <a:gd name="T15" fmla="*/ 119 h 119"/>
                </a:gdLst>
                <a:ahLst/>
                <a:cxnLst>
                  <a:cxn ang="T8">
                    <a:pos x="T0" y="T1"/>
                  </a:cxn>
                  <a:cxn ang="T9">
                    <a:pos x="T2" y="T3"/>
                  </a:cxn>
                  <a:cxn ang="T10">
                    <a:pos x="T4" y="T5"/>
                  </a:cxn>
                  <a:cxn ang="T11">
                    <a:pos x="T6" y="T7"/>
                  </a:cxn>
                </a:cxnLst>
                <a:rect l="T12" t="T13" r="T14" b="T15"/>
                <a:pathLst>
                  <a:path w="128" h="119">
                    <a:moveTo>
                      <a:pt x="23" y="119"/>
                    </a:moveTo>
                    <a:lnTo>
                      <a:pt x="128" y="86"/>
                    </a:lnTo>
                    <a:lnTo>
                      <a:pt x="0" y="0"/>
                    </a:lnTo>
                    <a:lnTo>
                      <a:pt x="23" y="119"/>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9" name="Freeform 1320"/>
              <p:cNvSpPr>
                <a:spLocks noChangeArrowheads="1"/>
              </p:cNvSpPr>
              <p:nvPr/>
            </p:nvSpPr>
            <p:spPr bwMode="auto">
              <a:xfrm>
                <a:off x="463550" y="1117599"/>
                <a:ext cx="207963" cy="103187"/>
              </a:xfrm>
              <a:custGeom>
                <a:avLst/>
                <a:gdLst>
                  <a:gd name="T0" fmla="*/ 0 w 181"/>
                  <a:gd name="T1" fmla="*/ 37637748 h 89"/>
                  <a:gd name="T2" fmla="*/ 205939669 w 181"/>
                  <a:gd name="T3" fmla="*/ 119635472 h 89"/>
                  <a:gd name="T4" fmla="*/ 238942593 w 181"/>
                  <a:gd name="T5" fmla="*/ 0 h 89"/>
                  <a:gd name="T6" fmla="*/ 0 w 181"/>
                  <a:gd name="T7" fmla="*/ 37637748 h 89"/>
                  <a:gd name="T8" fmla="*/ 0 60000 65536"/>
                  <a:gd name="T9" fmla="*/ 0 60000 65536"/>
                  <a:gd name="T10" fmla="*/ 0 60000 65536"/>
                  <a:gd name="T11" fmla="*/ 0 60000 65536"/>
                  <a:gd name="T12" fmla="*/ 0 w 181"/>
                  <a:gd name="T13" fmla="*/ 0 h 89"/>
                  <a:gd name="T14" fmla="*/ 181 w 181"/>
                  <a:gd name="T15" fmla="*/ 89 h 89"/>
                </a:gdLst>
                <a:ahLst/>
                <a:cxnLst>
                  <a:cxn ang="T8">
                    <a:pos x="T0" y="T1"/>
                  </a:cxn>
                  <a:cxn ang="T9">
                    <a:pos x="T2" y="T3"/>
                  </a:cxn>
                  <a:cxn ang="T10">
                    <a:pos x="T4" y="T5"/>
                  </a:cxn>
                  <a:cxn ang="T11">
                    <a:pos x="T6" y="T7"/>
                  </a:cxn>
                </a:cxnLst>
                <a:rect l="T12" t="T13" r="T14" b="T15"/>
                <a:pathLst>
                  <a:path w="181" h="89">
                    <a:moveTo>
                      <a:pt x="0" y="28"/>
                    </a:moveTo>
                    <a:cubicBezTo>
                      <a:pt x="41" y="51"/>
                      <a:pt x="93" y="71"/>
                      <a:pt x="156" y="89"/>
                    </a:cubicBezTo>
                    <a:cubicBezTo>
                      <a:pt x="181" y="0"/>
                      <a:pt x="181" y="0"/>
                      <a:pt x="181" y="0"/>
                    </a:cubicBezTo>
                    <a:lnTo>
                      <a:pt x="0" y="28"/>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0" name="Freeform 1321"/>
              <p:cNvSpPr>
                <a:spLocks noChangeArrowheads="1"/>
              </p:cNvSpPr>
              <p:nvPr/>
            </p:nvSpPr>
            <p:spPr bwMode="auto">
              <a:xfrm>
                <a:off x="400050" y="928687"/>
                <a:ext cx="271463" cy="220662"/>
              </a:xfrm>
              <a:custGeom>
                <a:avLst/>
                <a:gdLst>
                  <a:gd name="T0" fmla="*/ 269914741 w 236"/>
                  <a:gd name="T1" fmla="*/ 0 h 191"/>
                  <a:gd name="T2" fmla="*/ 0 w 236"/>
                  <a:gd name="T3" fmla="*/ 201541811 h 191"/>
                  <a:gd name="T4" fmla="*/ 72771639 w 236"/>
                  <a:gd name="T5" fmla="*/ 254930462 h 191"/>
                  <a:gd name="T6" fmla="*/ 312254917 w 236"/>
                  <a:gd name="T7" fmla="*/ 217558868 h 191"/>
                  <a:gd name="T8" fmla="*/ 269914741 w 236"/>
                  <a:gd name="T9" fmla="*/ 0 h 191"/>
                  <a:gd name="T10" fmla="*/ 0 60000 65536"/>
                  <a:gd name="T11" fmla="*/ 0 60000 65536"/>
                  <a:gd name="T12" fmla="*/ 0 60000 65536"/>
                  <a:gd name="T13" fmla="*/ 0 60000 65536"/>
                  <a:gd name="T14" fmla="*/ 0 60000 65536"/>
                  <a:gd name="T15" fmla="*/ 0 w 236"/>
                  <a:gd name="T16" fmla="*/ 0 h 191"/>
                  <a:gd name="T17" fmla="*/ 236 w 236"/>
                  <a:gd name="T18" fmla="*/ 191 h 191"/>
                </a:gdLst>
                <a:ahLst/>
                <a:cxnLst>
                  <a:cxn ang="T10">
                    <a:pos x="T0" y="T1"/>
                  </a:cxn>
                  <a:cxn ang="T11">
                    <a:pos x="T2" y="T3"/>
                  </a:cxn>
                  <a:cxn ang="T12">
                    <a:pos x="T4" y="T5"/>
                  </a:cxn>
                  <a:cxn ang="T13">
                    <a:pos x="T6" y="T7"/>
                  </a:cxn>
                  <a:cxn ang="T14">
                    <a:pos x="T8" y="T9"/>
                  </a:cxn>
                </a:cxnLst>
                <a:rect l="T15" t="T16" r="T17" b="T18"/>
                <a:pathLst>
                  <a:path w="236" h="191">
                    <a:moveTo>
                      <a:pt x="204" y="0"/>
                    </a:moveTo>
                    <a:cubicBezTo>
                      <a:pt x="0" y="151"/>
                      <a:pt x="0" y="151"/>
                      <a:pt x="0" y="151"/>
                    </a:cubicBezTo>
                    <a:cubicBezTo>
                      <a:pt x="14" y="165"/>
                      <a:pt x="33" y="178"/>
                      <a:pt x="55" y="191"/>
                    </a:cubicBezTo>
                    <a:cubicBezTo>
                      <a:pt x="236" y="163"/>
                      <a:pt x="236" y="163"/>
                      <a:pt x="236" y="163"/>
                    </a:cubicBezTo>
                    <a:lnTo>
                      <a:pt x="204" y="0"/>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1" name="Freeform 1322"/>
              <p:cNvSpPr>
                <a:spLocks noChangeArrowheads="1"/>
              </p:cNvSpPr>
              <p:nvPr/>
            </p:nvSpPr>
            <p:spPr bwMode="auto">
              <a:xfrm>
                <a:off x="1049338" y="1246187"/>
                <a:ext cx="220663" cy="47625"/>
              </a:xfrm>
              <a:custGeom>
                <a:avLst/>
                <a:gdLst>
                  <a:gd name="T0" fmla="*/ 0 w 191"/>
                  <a:gd name="T1" fmla="*/ 44525890 h 41"/>
                  <a:gd name="T2" fmla="*/ 254932773 w 191"/>
                  <a:gd name="T3" fmla="*/ 55320503 h 41"/>
                  <a:gd name="T4" fmla="*/ 140146422 w 191"/>
                  <a:gd name="T5" fmla="*/ 0 h 41"/>
                  <a:gd name="T6" fmla="*/ 0 w 191"/>
                  <a:gd name="T7" fmla="*/ 44525890 h 41"/>
                  <a:gd name="T8" fmla="*/ 0 60000 65536"/>
                  <a:gd name="T9" fmla="*/ 0 60000 65536"/>
                  <a:gd name="T10" fmla="*/ 0 60000 65536"/>
                  <a:gd name="T11" fmla="*/ 0 60000 65536"/>
                  <a:gd name="T12" fmla="*/ 0 w 191"/>
                  <a:gd name="T13" fmla="*/ 0 h 41"/>
                  <a:gd name="T14" fmla="*/ 191 w 191"/>
                  <a:gd name="T15" fmla="*/ 41 h 41"/>
                </a:gdLst>
                <a:ahLst/>
                <a:cxnLst>
                  <a:cxn ang="T8">
                    <a:pos x="T0" y="T1"/>
                  </a:cxn>
                  <a:cxn ang="T9">
                    <a:pos x="T2" y="T3"/>
                  </a:cxn>
                  <a:cxn ang="T10">
                    <a:pos x="T4" y="T5"/>
                  </a:cxn>
                  <a:cxn ang="T11">
                    <a:pos x="T6" y="T7"/>
                  </a:cxn>
                </a:cxnLst>
                <a:rect l="T12" t="T13" r="T14" b="T15"/>
                <a:pathLst>
                  <a:path w="191" h="41">
                    <a:moveTo>
                      <a:pt x="0" y="33"/>
                    </a:moveTo>
                    <a:cubicBezTo>
                      <a:pt x="61" y="38"/>
                      <a:pt x="125" y="40"/>
                      <a:pt x="191" y="41"/>
                    </a:cubicBezTo>
                    <a:cubicBezTo>
                      <a:pt x="105" y="0"/>
                      <a:pt x="105" y="0"/>
                      <a:pt x="105" y="0"/>
                    </a:cubicBezTo>
                    <a:lnTo>
                      <a:pt x="0" y="33"/>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2" name="Freeform 1323"/>
              <p:cNvSpPr>
                <a:spLocks noChangeArrowheads="1"/>
              </p:cNvSpPr>
              <p:nvPr/>
            </p:nvSpPr>
            <p:spPr bwMode="auto">
              <a:xfrm>
                <a:off x="1171575" y="1216024"/>
                <a:ext cx="184150" cy="77787"/>
              </a:xfrm>
              <a:custGeom>
                <a:avLst/>
                <a:gdLst>
                  <a:gd name="T0" fmla="*/ 0 w 160"/>
                  <a:gd name="T1" fmla="*/ 35045946 h 67"/>
                  <a:gd name="T2" fmla="*/ 113920945 w 160"/>
                  <a:gd name="T3" fmla="*/ 90310707 h 67"/>
                  <a:gd name="T4" fmla="*/ 121868168 w 160"/>
                  <a:gd name="T5" fmla="*/ 90310707 h 67"/>
                  <a:gd name="T6" fmla="*/ 180153945 w 160"/>
                  <a:gd name="T7" fmla="*/ 88962786 h 67"/>
                  <a:gd name="T8" fmla="*/ 211945141 w 160"/>
                  <a:gd name="T9" fmla="*/ 0 h 67"/>
                  <a:gd name="T10" fmla="*/ 0 w 160"/>
                  <a:gd name="T11" fmla="*/ 35045946 h 67"/>
                  <a:gd name="T12" fmla="*/ 0 60000 65536"/>
                  <a:gd name="T13" fmla="*/ 0 60000 65536"/>
                  <a:gd name="T14" fmla="*/ 0 60000 65536"/>
                  <a:gd name="T15" fmla="*/ 0 60000 65536"/>
                  <a:gd name="T16" fmla="*/ 0 60000 65536"/>
                  <a:gd name="T17" fmla="*/ 0 60000 65536"/>
                  <a:gd name="T18" fmla="*/ 0 w 160"/>
                  <a:gd name="T19" fmla="*/ 0 h 67"/>
                  <a:gd name="T20" fmla="*/ 160 w 160"/>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60" h="67">
                    <a:moveTo>
                      <a:pt x="0" y="26"/>
                    </a:moveTo>
                    <a:cubicBezTo>
                      <a:pt x="86" y="67"/>
                      <a:pt x="86" y="67"/>
                      <a:pt x="86" y="67"/>
                    </a:cubicBezTo>
                    <a:cubicBezTo>
                      <a:pt x="88" y="67"/>
                      <a:pt x="90" y="67"/>
                      <a:pt x="92" y="67"/>
                    </a:cubicBezTo>
                    <a:cubicBezTo>
                      <a:pt x="107" y="67"/>
                      <a:pt x="121" y="66"/>
                      <a:pt x="136" y="66"/>
                    </a:cubicBezTo>
                    <a:cubicBezTo>
                      <a:pt x="160" y="0"/>
                      <a:pt x="160" y="0"/>
                      <a:pt x="160" y="0"/>
                    </a:cubicBezTo>
                    <a:lnTo>
                      <a:pt x="0" y="2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3" name="Freeform 1324"/>
              <p:cNvSpPr>
                <a:spLocks noChangeArrowheads="1"/>
              </p:cNvSpPr>
              <p:nvPr/>
            </p:nvSpPr>
            <p:spPr bwMode="auto">
              <a:xfrm>
                <a:off x="1328738" y="1216024"/>
                <a:ext cx="277813" cy="76200"/>
              </a:xfrm>
              <a:custGeom>
                <a:avLst/>
                <a:gdLst>
                  <a:gd name="T0" fmla="*/ 0 w 241"/>
                  <a:gd name="T1" fmla="*/ 87976364 h 66"/>
                  <a:gd name="T2" fmla="*/ 320249224 w 241"/>
                  <a:gd name="T3" fmla="*/ 67981945 h 66"/>
                  <a:gd name="T4" fmla="*/ 31892010 w 241"/>
                  <a:gd name="T5" fmla="*/ 0 h 66"/>
                  <a:gd name="T6" fmla="*/ 0 w 241"/>
                  <a:gd name="T7" fmla="*/ 87976364 h 66"/>
                  <a:gd name="T8" fmla="*/ 0 60000 65536"/>
                  <a:gd name="T9" fmla="*/ 0 60000 65536"/>
                  <a:gd name="T10" fmla="*/ 0 60000 65536"/>
                  <a:gd name="T11" fmla="*/ 0 60000 65536"/>
                  <a:gd name="T12" fmla="*/ 0 w 241"/>
                  <a:gd name="T13" fmla="*/ 0 h 66"/>
                  <a:gd name="T14" fmla="*/ 241 w 241"/>
                  <a:gd name="T15" fmla="*/ 66 h 66"/>
                </a:gdLst>
                <a:ahLst/>
                <a:cxnLst>
                  <a:cxn ang="T8">
                    <a:pos x="T0" y="T1"/>
                  </a:cxn>
                  <a:cxn ang="T9">
                    <a:pos x="T2" y="T3"/>
                  </a:cxn>
                  <a:cxn ang="T10">
                    <a:pos x="T4" y="T5"/>
                  </a:cxn>
                  <a:cxn ang="T11">
                    <a:pos x="T6" y="T7"/>
                  </a:cxn>
                </a:cxnLst>
                <a:rect l="T12" t="T13" r="T14" b="T15"/>
                <a:pathLst>
                  <a:path w="241" h="66">
                    <a:moveTo>
                      <a:pt x="0" y="66"/>
                    </a:moveTo>
                    <a:cubicBezTo>
                      <a:pt x="84" y="65"/>
                      <a:pt x="165" y="60"/>
                      <a:pt x="241" y="51"/>
                    </a:cubicBezTo>
                    <a:cubicBezTo>
                      <a:pt x="24" y="0"/>
                      <a:pt x="24" y="0"/>
                      <a:pt x="24" y="0"/>
                    </a:cubicBezTo>
                    <a:lnTo>
                      <a:pt x="0" y="66"/>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4" name="Freeform 1325"/>
              <p:cNvSpPr>
                <a:spLocks noChangeArrowheads="1"/>
              </p:cNvSpPr>
              <p:nvPr/>
            </p:nvSpPr>
            <p:spPr bwMode="auto">
              <a:xfrm>
                <a:off x="1725613" y="1117599"/>
                <a:ext cx="358775" cy="119062"/>
              </a:xfrm>
              <a:custGeom>
                <a:avLst/>
                <a:gdLst>
                  <a:gd name="T0" fmla="*/ 134413727 w 311"/>
                  <a:gd name="T1" fmla="*/ 136305383 h 104"/>
                  <a:gd name="T2" fmla="*/ 413889070 w 311"/>
                  <a:gd name="T3" fmla="*/ 40629908 h 104"/>
                  <a:gd name="T4" fmla="*/ 0 w 311"/>
                  <a:gd name="T5" fmla="*/ 0 h 104"/>
                  <a:gd name="T6" fmla="*/ 134413727 w 311"/>
                  <a:gd name="T7" fmla="*/ 136305383 h 104"/>
                  <a:gd name="T8" fmla="*/ 0 60000 65536"/>
                  <a:gd name="T9" fmla="*/ 0 60000 65536"/>
                  <a:gd name="T10" fmla="*/ 0 60000 65536"/>
                  <a:gd name="T11" fmla="*/ 0 60000 65536"/>
                  <a:gd name="T12" fmla="*/ 0 w 311"/>
                  <a:gd name="T13" fmla="*/ 0 h 104"/>
                  <a:gd name="T14" fmla="*/ 311 w 311"/>
                  <a:gd name="T15" fmla="*/ 104 h 104"/>
                </a:gdLst>
                <a:ahLst/>
                <a:cxnLst>
                  <a:cxn ang="T8">
                    <a:pos x="T0" y="T1"/>
                  </a:cxn>
                  <a:cxn ang="T9">
                    <a:pos x="T2" y="T3"/>
                  </a:cxn>
                  <a:cxn ang="T10">
                    <a:pos x="T4" y="T5"/>
                  </a:cxn>
                  <a:cxn ang="T11">
                    <a:pos x="T6" y="T7"/>
                  </a:cxn>
                </a:cxnLst>
                <a:rect l="T12" t="T13" r="T14" b="T15"/>
                <a:pathLst>
                  <a:path w="311" h="104">
                    <a:moveTo>
                      <a:pt x="101" y="104"/>
                    </a:moveTo>
                    <a:cubicBezTo>
                      <a:pt x="188" y="84"/>
                      <a:pt x="259" y="59"/>
                      <a:pt x="311" y="31"/>
                    </a:cubicBezTo>
                    <a:cubicBezTo>
                      <a:pt x="0" y="0"/>
                      <a:pt x="0" y="0"/>
                      <a:pt x="0" y="0"/>
                    </a:cubicBezTo>
                    <a:lnTo>
                      <a:pt x="101" y="104"/>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5" name="Freeform 1326"/>
              <p:cNvSpPr>
                <a:spLocks noChangeArrowheads="1"/>
              </p:cNvSpPr>
              <p:nvPr/>
            </p:nvSpPr>
            <p:spPr bwMode="auto">
              <a:xfrm>
                <a:off x="2085975" y="811212"/>
                <a:ext cx="106363" cy="315912"/>
              </a:xfrm>
              <a:custGeom>
                <a:avLst/>
                <a:gdLst>
                  <a:gd name="T0" fmla="*/ 0 w 91"/>
                  <a:gd name="T1" fmla="*/ 34816280 h 273"/>
                  <a:gd name="T2" fmla="*/ 49181784 w 91"/>
                  <a:gd name="T3" fmla="*/ 365569201 h 273"/>
                  <a:gd name="T4" fmla="*/ 124319646 w 91"/>
                  <a:gd name="T5" fmla="*/ 251747148 h 273"/>
                  <a:gd name="T6" fmla="*/ 117489037 w 91"/>
                  <a:gd name="T7" fmla="*/ 216930869 h 273"/>
                  <a:gd name="T8" fmla="*/ 117489037 w 91"/>
                  <a:gd name="T9" fmla="*/ 216930869 h 273"/>
                  <a:gd name="T10" fmla="*/ 49181784 w 91"/>
                  <a:gd name="T11" fmla="*/ 44189493 h 273"/>
                  <a:gd name="T12" fmla="*/ 19126639 w 91"/>
                  <a:gd name="T13" fmla="*/ 0 h 273"/>
                  <a:gd name="T14" fmla="*/ 0 w 91"/>
                  <a:gd name="T15" fmla="*/ 34816280 h 273"/>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273"/>
                  <a:gd name="T26" fmla="*/ 91 w 91"/>
                  <a:gd name="T27" fmla="*/ 273 h 2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273">
                    <a:moveTo>
                      <a:pt x="0" y="26"/>
                    </a:moveTo>
                    <a:cubicBezTo>
                      <a:pt x="36" y="273"/>
                      <a:pt x="36" y="273"/>
                      <a:pt x="36" y="273"/>
                    </a:cubicBezTo>
                    <a:cubicBezTo>
                      <a:pt x="71" y="247"/>
                      <a:pt x="91" y="218"/>
                      <a:pt x="91" y="188"/>
                    </a:cubicBezTo>
                    <a:cubicBezTo>
                      <a:pt x="91" y="179"/>
                      <a:pt x="89" y="171"/>
                      <a:pt x="86" y="162"/>
                    </a:cubicBezTo>
                    <a:cubicBezTo>
                      <a:pt x="86" y="162"/>
                      <a:pt x="86" y="162"/>
                      <a:pt x="86" y="162"/>
                    </a:cubicBezTo>
                    <a:cubicBezTo>
                      <a:pt x="36" y="33"/>
                      <a:pt x="36" y="33"/>
                      <a:pt x="36" y="33"/>
                    </a:cubicBezTo>
                    <a:cubicBezTo>
                      <a:pt x="14" y="0"/>
                      <a:pt x="14" y="0"/>
                      <a:pt x="14" y="0"/>
                    </a:cubicBezTo>
                    <a:cubicBezTo>
                      <a:pt x="12" y="9"/>
                      <a:pt x="7" y="18"/>
                      <a:pt x="0" y="26"/>
                    </a:cubicBez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6" name="Freeform 1327"/>
              <p:cNvSpPr>
                <a:spLocks noChangeArrowheads="1"/>
              </p:cNvSpPr>
              <p:nvPr/>
            </p:nvSpPr>
            <p:spPr bwMode="auto">
              <a:xfrm>
                <a:off x="1725613" y="841374"/>
                <a:ext cx="403225" cy="311150"/>
              </a:xfrm>
              <a:custGeom>
                <a:avLst/>
                <a:gdLst>
                  <a:gd name="T0" fmla="*/ 359083994 w 349"/>
                  <a:gd name="T1" fmla="*/ 45153627 h 270"/>
                  <a:gd name="T2" fmla="*/ 220255591 w 349"/>
                  <a:gd name="T3" fmla="*/ 102258871 h 270"/>
                  <a:gd name="T4" fmla="*/ 0 w 349"/>
                  <a:gd name="T5" fmla="*/ 317401810 h 270"/>
                  <a:gd name="T6" fmla="*/ 415149599 w 349"/>
                  <a:gd name="T7" fmla="*/ 358571565 h 270"/>
                  <a:gd name="T8" fmla="*/ 465875073 w 349"/>
                  <a:gd name="T9" fmla="*/ 328027006 h 270"/>
                  <a:gd name="T10" fmla="*/ 417819665 w 349"/>
                  <a:gd name="T11" fmla="*/ 0 h 270"/>
                  <a:gd name="T12" fmla="*/ 359083994 w 349"/>
                  <a:gd name="T13" fmla="*/ 45153627 h 270"/>
                  <a:gd name="T14" fmla="*/ 0 60000 65536"/>
                  <a:gd name="T15" fmla="*/ 0 60000 65536"/>
                  <a:gd name="T16" fmla="*/ 0 60000 65536"/>
                  <a:gd name="T17" fmla="*/ 0 60000 65536"/>
                  <a:gd name="T18" fmla="*/ 0 60000 65536"/>
                  <a:gd name="T19" fmla="*/ 0 60000 65536"/>
                  <a:gd name="T20" fmla="*/ 0 60000 65536"/>
                  <a:gd name="T21" fmla="*/ 0 w 349"/>
                  <a:gd name="T22" fmla="*/ 0 h 270"/>
                  <a:gd name="T23" fmla="*/ 349 w 349"/>
                  <a:gd name="T24" fmla="*/ 270 h 2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9" h="270">
                    <a:moveTo>
                      <a:pt x="269" y="34"/>
                    </a:moveTo>
                    <a:cubicBezTo>
                      <a:pt x="242" y="50"/>
                      <a:pt x="207" y="64"/>
                      <a:pt x="165" y="77"/>
                    </a:cubicBezTo>
                    <a:cubicBezTo>
                      <a:pt x="0" y="239"/>
                      <a:pt x="0" y="239"/>
                      <a:pt x="0" y="239"/>
                    </a:cubicBezTo>
                    <a:cubicBezTo>
                      <a:pt x="311" y="270"/>
                      <a:pt x="311" y="270"/>
                      <a:pt x="311" y="270"/>
                    </a:cubicBezTo>
                    <a:cubicBezTo>
                      <a:pt x="325" y="262"/>
                      <a:pt x="338" y="255"/>
                      <a:pt x="349" y="247"/>
                    </a:cubicBezTo>
                    <a:cubicBezTo>
                      <a:pt x="313" y="0"/>
                      <a:pt x="313" y="0"/>
                      <a:pt x="313" y="0"/>
                    </a:cubicBezTo>
                    <a:cubicBezTo>
                      <a:pt x="303" y="12"/>
                      <a:pt x="288" y="23"/>
                      <a:pt x="269" y="34"/>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7" name="Rectangle 1328"/>
              <p:cNvSpPr>
                <a:spLocks noChangeArrowheads="1"/>
              </p:cNvSpPr>
              <p:nvPr/>
            </p:nvSpPr>
            <p:spPr bwMode="auto">
              <a:xfrm>
                <a:off x="635000" y="928687"/>
                <a:ext cx="1588" cy="1587"/>
              </a:xfrm>
              <a:prstGeom prst="rect">
                <a:avLst/>
              </a:pr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58" name="Freeform 1329"/>
              <p:cNvSpPr>
                <a:spLocks noChangeArrowheads="1"/>
              </p:cNvSpPr>
              <p:nvPr/>
            </p:nvSpPr>
            <p:spPr bwMode="auto">
              <a:xfrm>
                <a:off x="635000" y="928687"/>
                <a:ext cx="1588" cy="1"/>
              </a:xfrm>
              <a:custGeom>
                <a:avLst/>
                <a:gdLst>
                  <a:gd name="T0" fmla="*/ 2521744 w 1"/>
                  <a:gd name="T1" fmla="*/ 0 h 1"/>
                  <a:gd name="T2" fmla="*/ 2521744 w 1"/>
                  <a:gd name="T3" fmla="*/ 0 h 1"/>
                  <a:gd name="T4" fmla="*/ 0 w 1"/>
                  <a:gd name="T5" fmla="*/ 0 h 1"/>
                  <a:gd name="T6" fmla="*/ 2521744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0"/>
                    </a:lnTo>
                    <a:lnTo>
                      <a:pt x="0"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9" name="Freeform 1330"/>
              <p:cNvSpPr>
                <a:spLocks noChangeArrowheads="1"/>
              </p:cNvSpPr>
              <p:nvPr/>
            </p:nvSpPr>
            <p:spPr bwMode="auto">
              <a:xfrm>
                <a:off x="1244600" y="1065212"/>
                <a:ext cx="369888" cy="150812"/>
              </a:xfrm>
              <a:custGeom>
                <a:avLst/>
                <a:gdLst>
                  <a:gd name="T0" fmla="*/ 0 w 233"/>
                  <a:gd name="T1" fmla="*/ 0 h 95"/>
                  <a:gd name="T2" fmla="*/ 176411176 w 233"/>
                  <a:gd name="T3" fmla="*/ 239413256 h 95"/>
                  <a:gd name="T4" fmla="*/ 587197994 w 233"/>
                  <a:gd name="T5" fmla="*/ 32761129 h 95"/>
                  <a:gd name="T6" fmla="*/ 0 w 233"/>
                  <a:gd name="T7" fmla="*/ 0 h 95"/>
                  <a:gd name="T8" fmla="*/ 0 60000 65536"/>
                  <a:gd name="T9" fmla="*/ 0 60000 65536"/>
                  <a:gd name="T10" fmla="*/ 0 60000 65536"/>
                  <a:gd name="T11" fmla="*/ 0 60000 65536"/>
                  <a:gd name="T12" fmla="*/ 0 w 233"/>
                  <a:gd name="T13" fmla="*/ 0 h 95"/>
                  <a:gd name="T14" fmla="*/ 233 w 233"/>
                  <a:gd name="T15" fmla="*/ 95 h 95"/>
                </a:gdLst>
                <a:ahLst/>
                <a:cxnLst>
                  <a:cxn ang="T8">
                    <a:pos x="T0" y="T1"/>
                  </a:cxn>
                  <a:cxn ang="T9">
                    <a:pos x="T2" y="T3"/>
                  </a:cxn>
                  <a:cxn ang="T10">
                    <a:pos x="T4" y="T5"/>
                  </a:cxn>
                  <a:cxn ang="T11">
                    <a:pos x="T6" y="T7"/>
                  </a:cxn>
                </a:cxnLst>
                <a:rect l="T12" t="T13" r="T14" b="T15"/>
                <a:pathLst>
                  <a:path w="233" h="95">
                    <a:moveTo>
                      <a:pt x="0" y="0"/>
                    </a:moveTo>
                    <a:lnTo>
                      <a:pt x="70" y="95"/>
                    </a:lnTo>
                    <a:lnTo>
                      <a:pt x="233" y="1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0" name="Freeform 1331"/>
              <p:cNvSpPr>
                <a:spLocks noChangeArrowheads="1"/>
              </p:cNvSpPr>
              <p:nvPr/>
            </p:nvSpPr>
            <p:spPr bwMode="auto">
              <a:xfrm>
                <a:off x="1244600" y="1003299"/>
                <a:ext cx="369888" cy="82550"/>
              </a:xfrm>
              <a:custGeom>
                <a:avLst/>
                <a:gdLst>
                  <a:gd name="T0" fmla="*/ 427553539 w 320"/>
                  <a:gd name="T1" fmla="*/ 94645868 h 72"/>
                  <a:gd name="T2" fmla="*/ 197743281 w 320"/>
                  <a:gd name="T3" fmla="*/ 0 h 72"/>
                  <a:gd name="T4" fmla="*/ 89518676 w 320"/>
                  <a:gd name="T5" fmla="*/ 2628988 h 72"/>
                  <a:gd name="T6" fmla="*/ 0 w 320"/>
                  <a:gd name="T7" fmla="*/ 70984974 h 72"/>
                  <a:gd name="T8" fmla="*/ 427553539 w 320"/>
                  <a:gd name="T9" fmla="*/ 94645868 h 72"/>
                  <a:gd name="T10" fmla="*/ 0 60000 65536"/>
                  <a:gd name="T11" fmla="*/ 0 60000 65536"/>
                  <a:gd name="T12" fmla="*/ 0 60000 65536"/>
                  <a:gd name="T13" fmla="*/ 0 60000 65536"/>
                  <a:gd name="T14" fmla="*/ 0 60000 65536"/>
                  <a:gd name="T15" fmla="*/ 0 w 320"/>
                  <a:gd name="T16" fmla="*/ 0 h 72"/>
                  <a:gd name="T17" fmla="*/ 320 w 320"/>
                  <a:gd name="T18" fmla="*/ 72 h 72"/>
                </a:gdLst>
                <a:ahLst/>
                <a:cxnLst>
                  <a:cxn ang="T10">
                    <a:pos x="T0" y="T1"/>
                  </a:cxn>
                  <a:cxn ang="T11">
                    <a:pos x="T2" y="T3"/>
                  </a:cxn>
                  <a:cxn ang="T12">
                    <a:pos x="T4" y="T5"/>
                  </a:cxn>
                  <a:cxn ang="T13">
                    <a:pos x="T6" y="T7"/>
                  </a:cxn>
                  <a:cxn ang="T14">
                    <a:pos x="T8" y="T9"/>
                  </a:cxn>
                </a:cxnLst>
                <a:rect l="T15" t="T16" r="T17" b="T18"/>
                <a:pathLst>
                  <a:path w="320" h="72">
                    <a:moveTo>
                      <a:pt x="320" y="72"/>
                    </a:moveTo>
                    <a:cubicBezTo>
                      <a:pt x="148" y="0"/>
                      <a:pt x="148" y="0"/>
                      <a:pt x="148" y="0"/>
                    </a:cubicBezTo>
                    <a:cubicBezTo>
                      <a:pt x="121" y="1"/>
                      <a:pt x="94" y="1"/>
                      <a:pt x="67" y="2"/>
                    </a:cubicBezTo>
                    <a:cubicBezTo>
                      <a:pt x="0" y="54"/>
                      <a:pt x="0" y="54"/>
                      <a:pt x="0" y="54"/>
                    </a:cubicBezTo>
                    <a:lnTo>
                      <a:pt x="320" y="72"/>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1" name="Freeform 1332"/>
              <p:cNvSpPr>
                <a:spLocks noChangeArrowheads="1"/>
              </p:cNvSpPr>
              <p:nvPr/>
            </p:nvSpPr>
            <p:spPr bwMode="auto">
              <a:xfrm>
                <a:off x="1355725" y="1085849"/>
                <a:ext cx="369888" cy="130175"/>
              </a:xfrm>
              <a:custGeom>
                <a:avLst/>
                <a:gdLst>
                  <a:gd name="T0" fmla="*/ 0 w 233"/>
                  <a:gd name="T1" fmla="*/ 206652813 h 82"/>
                  <a:gd name="T2" fmla="*/ 587197994 w 233"/>
                  <a:gd name="T3" fmla="*/ 50403125 h 82"/>
                  <a:gd name="T4" fmla="*/ 410786818 w 233"/>
                  <a:gd name="T5" fmla="*/ 0 h 82"/>
                  <a:gd name="T6" fmla="*/ 0 w 233"/>
                  <a:gd name="T7" fmla="*/ 206652813 h 82"/>
                  <a:gd name="T8" fmla="*/ 0 60000 65536"/>
                  <a:gd name="T9" fmla="*/ 0 60000 65536"/>
                  <a:gd name="T10" fmla="*/ 0 60000 65536"/>
                  <a:gd name="T11" fmla="*/ 0 60000 65536"/>
                  <a:gd name="T12" fmla="*/ 0 w 233"/>
                  <a:gd name="T13" fmla="*/ 0 h 82"/>
                  <a:gd name="T14" fmla="*/ 233 w 233"/>
                  <a:gd name="T15" fmla="*/ 82 h 82"/>
                </a:gdLst>
                <a:ahLst/>
                <a:cxnLst>
                  <a:cxn ang="T8">
                    <a:pos x="T0" y="T1"/>
                  </a:cxn>
                  <a:cxn ang="T9">
                    <a:pos x="T2" y="T3"/>
                  </a:cxn>
                  <a:cxn ang="T10">
                    <a:pos x="T4" y="T5"/>
                  </a:cxn>
                  <a:cxn ang="T11">
                    <a:pos x="T6" y="T7"/>
                  </a:cxn>
                </a:cxnLst>
                <a:rect l="T12" t="T13" r="T14" b="T15"/>
                <a:pathLst>
                  <a:path w="233" h="82">
                    <a:moveTo>
                      <a:pt x="0" y="82"/>
                    </a:moveTo>
                    <a:lnTo>
                      <a:pt x="233" y="20"/>
                    </a:lnTo>
                    <a:lnTo>
                      <a:pt x="163" y="0"/>
                    </a:lnTo>
                    <a:lnTo>
                      <a:pt x="0" y="8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2" name="Freeform 1333"/>
              <p:cNvSpPr>
                <a:spLocks noChangeArrowheads="1"/>
              </p:cNvSpPr>
              <p:nvPr/>
            </p:nvSpPr>
            <p:spPr bwMode="auto">
              <a:xfrm>
                <a:off x="1416050" y="985837"/>
                <a:ext cx="206375" cy="100012"/>
              </a:xfrm>
              <a:custGeom>
                <a:avLst/>
                <a:gdLst>
                  <a:gd name="T0" fmla="*/ 237936540 w 179"/>
                  <a:gd name="T1" fmla="*/ 0 h 86"/>
                  <a:gd name="T2" fmla="*/ 0 w 179"/>
                  <a:gd name="T3" fmla="*/ 18933667 h 86"/>
                  <a:gd name="T4" fmla="*/ 228631218 w 179"/>
                  <a:gd name="T5" fmla="*/ 116306978 h 86"/>
                  <a:gd name="T6" fmla="*/ 237936540 w 179"/>
                  <a:gd name="T7" fmla="*/ 0 h 86"/>
                  <a:gd name="T8" fmla="*/ 0 60000 65536"/>
                  <a:gd name="T9" fmla="*/ 0 60000 65536"/>
                  <a:gd name="T10" fmla="*/ 0 60000 65536"/>
                  <a:gd name="T11" fmla="*/ 0 60000 65536"/>
                  <a:gd name="T12" fmla="*/ 0 w 179"/>
                  <a:gd name="T13" fmla="*/ 0 h 86"/>
                  <a:gd name="T14" fmla="*/ 179 w 179"/>
                  <a:gd name="T15" fmla="*/ 86 h 86"/>
                </a:gdLst>
                <a:ahLst/>
                <a:cxnLst>
                  <a:cxn ang="T8">
                    <a:pos x="T0" y="T1"/>
                  </a:cxn>
                  <a:cxn ang="T9">
                    <a:pos x="T2" y="T3"/>
                  </a:cxn>
                  <a:cxn ang="T10">
                    <a:pos x="T4" y="T5"/>
                  </a:cxn>
                  <a:cxn ang="T11">
                    <a:pos x="T6" y="T7"/>
                  </a:cxn>
                </a:cxnLst>
                <a:rect l="T12" t="T13" r="T14" b="T15"/>
                <a:pathLst>
                  <a:path w="179" h="86">
                    <a:moveTo>
                      <a:pt x="179" y="0"/>
                    </a:moveTo>
                    <a:cubicBezTo>
                      <a:pt x="123" y="6"/>
                      <a:pt x="63" y="11"/>
                      <a:pt x="0" y="14"/>
                    </a:cubicBezTo>
                    <a:cubicBezTo>
                      <a:pt x="172" y="86"/>
                      <a:pt x="172" y="86"/>
                      <a:pt x="172" y="86"/>
                    </a:cubicBezTo>
                    <a:lnTo>
                      <a:pt x="179"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3" name="Freeform 1334"/>
              <p:cNvSpPr>
                <a:spLocks noChangeArrowheads="1"/>
              </p:cNvSpPr>
              <p:nvPr/>
            </p:nvSpPr>
            <p:spPr bwMode="auto">
              <a:xfrm>
                <a:off x="1614488" y="957262"/>
                <a:ext cx="188913" cy="128587"/>
              </a:xfrm>
              <a:custGeom>
                <a:avLst/>
                <a:gdLst>
                  <a:gd name="T0" fmla="*/ 218945531 w 163"/>
                  <a:gd name="T1" fmla="*/ 0 h 111"/>
                  <a:gd name="T2" fmla="*/ 9402768 w 163"/>
                  <a:gd name="T3" fmla="*/ 33549623 h 111"/>
                  <a:gd name="T4" fmla="*/ 0 w 163"/>
                  <a:gd name="T5" fmla="*/ 148960510 h 111"/>
                  <a:gd name="T6" fmla="*/ 218945531 w 163"/>
                  <a:gd name="T7" fmla="*/ 0 h 111"/>
                  <a:gd name="T8" fmla="*/ 0 60000 65536"/>
                  <a:gd name="T9" fmla="*/ 0 60000 65536"/>
                  <a:gd name="T10" fmla="*/ 0 60000 65536"/>
                  <a:gd name="T11" fmla="*/ 0 60000 65536"/>
                  <a:gd name="T12" fmla="*/ 0 w 163"/>
                  <a:gd name="T13" fmla="*/ 0 h 111"/>
                  <a:gd name="T14" fmla="*/ 163 w 163"/>
                  <a:gd name="T15" fmla="*/ 111 h 111"/>
                </a:gdLst>
                <a:ahLst/>
                <a:cxnLst>
                  <a:cxn ang="T8">
                    <a:pos x="T0" y="T1"/>
                  </a:cxn>
                  <a:cxn ang="T9">
                    <a:pos x="T2" y="T3"/>
                  </a:cxn>
                  <a:cxn ang="T10">
                    <a:pos x="T4" y="T5"/>
                  </a:cxn>
                  <a:cxn ang="T11">
                    <a:pos x="T6" y="T7"/>
                  </a:cxn>
                </a:cxnLst>
                <a:rect l="T12" t="T13" r="T14" b="T15"/>
                <a:pathLst>
                  <a:path w="163" h="111">
                    <a:moveTo>
                      <a:pt x="163" y="0"/>
                    </a:moveTo>
                    <a:cubicBezTo>
                      <a:pt x="116" y="10"/>
                      <a:pt x="63" y="18"/>
                      <a:pt x="7" y="25"/>
                    </a:cubicBezTo>
                    <a:cubicBezTo>
                      <a:pt x="0" y="111"/>
                      <a:pt x="0" y="111"/>
                      <a:pt x="0" y="111"/>
                    </a:cubicBezTo>
                    <a:lnTo>
                      <a:pt x="163" y="0"/>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4" name="Freeform 1335"/>
              <p:cNvSpPr>
                <a:spLocks noChangeArrowheads="1"/>
              </p:cNvSpPr>
              <p:nvPr/>
            </p:nvSpPr>
            <p:spPr bwMode="auto">
              <a:xfrm>
                <a:off x="1614488" y="930274"/>
                <a:ext cx="301625" cy="187325"/>
              </a:xfrm>
              <a:custGeom>
                <a:avLst/>
                <a:gdLst>
                  <a:gd name="T0" fmla="*/ 128211427 w 261"/>
                  <a:gd name="T1" fmla="*/ 216608985 h 162"/>
                  <a:gd name="T2" fmla="*/ 348573336 w 261"/>
                  <a:gd name="T3" fmla="*/ 0 h 162"/>
                  <a:gd name="T4" fmla="*/ 217691199 w 261"/>
                  <a:gd name="T5" fmla="*/ 32090391 h 162"/>
                  <a:gd name="T6" fmla="*/ 0 w 261"/>
                  <a:gd name="T7" fmla="*/ 180507295 h 162"/>
                  <a:gd name="T8" fmla="*/ 128211427 w 261"/>
                  <a:gd name="T9" fmla="*/ 216608985 h 162"/>
                  <a:gd name="T10" fmla="*/ 0 60000 65536"/>
                  <a:gd name="T11" fmla="*/ 0 60000 65536"/>
                  <a:gd name="T12" fmla="*/ 0 60000 65536"/>
                  <a:gd name="T13" fmla="*/ 0 60000 65536"/>
                  <a:gd name="T14" fmla="*/ 0 60000 65536"/>
                  <a:gd name="T15" fmla="*/ 0 w 261"/>
                  <a:gd name="T16" fmla="*/ 0 h 162"/>
                  <a:gd name="T17" fmla="*/ 261 w 261"/>
                  <a:gd name="T18" fmla="*/ 162 h 162"/>
                </a:gdLst>
                <a:ahLst/>
                <a:cxnLst>
                  <a:cxn ang="T10">
                    <a:pos x="T0" y="T1"/>
                  </a:cxn>
                  <a:cxn ang="T11">
                    <a:pos x="T2" y="T3"/>
                  </a:cxn>
                  <a:cxn ang="T12">
                    <a:pos x="T4" y="T5"/>
                  </a:cxn>
                  <a:cxn ang="T13">
                    <a:pos x="T6" y="T7"/>
                  </a:cxn>
                  <a:cxn ang="T14">
                    <a:pos x="T8" y="T9"/>
                  </a:cxn>
                </a:cxnLst>
                <a:rect l="T15" t="T16" r="T17" b="T18"/>
                <a:pathLst>
                  <a:path w="261" h="162">
                    <a:moveTo>
                      <a:pt x="96" y="162"/>
                    </a:moveTo>
                    <a:cubicBezTo>
                      <a:pt x="261" y="0"/>
                      <a:pt x="261" y="0"/>
                      <a:pt x="261" y="0"/>
                    </a:cubicBezTo>
                    <a:cubicBezTo>
                      <a:pt x="232" y="9"/>
                      <a:pt x="199" y="17"/>
                      <a:pt x="163" y="24"/>
                    </a:cubicBezTo>
                    <a:cubicBezTo>
                      <a:pt x="0" y="135"/>
                      <a:pt x="0" y="135"/>
                      <a:pt x="0" y="135"/>
                    </a:cubicBezTo>
                    <a:lnTo>
                      <a:pt x="96" y="16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5" name="Freeform 1336"/>
              <p:cNvSpPr>
                <a:spLocks noChangeArrowheads="1"/>
              </p:cNvSpPr>
              <p:nvPr/>
            </p:nvSpPr>
            <p:spPr bwMode="auto">
              <a:xfrm>
                <a:off x="2100263" y="777874"/>
                <a:ext cx="28575" cy="71437"/>
              </a:xfrm>
              <a:custGeom>
                <a:avLst/>
                <a:gdLst>
                  <a:gd name="T0" fmla="*/ 5670947 w 24"/>
                  <a:gd name="T1" fmla="*/ 23896829 h 62"/>
                  <a:gd name="T2" fmla="*/ 2834878 w 24"/>
                  <a:gd name="T3" fmla="*/ 38499934 h 62"/>
                  <a:gd name="T4" fmla="*/ 34022109 w 24"/>
                  <a:gd name="T5" fmla="*/ 82310403 h 62"/>
                  <a:gd name="T6" fmla="*/ 0 w 24"/>
                  <a:gd name="T7" fmla="*/ 0 h 62"/>
                  <a:gd name="T8" fmla="*/ 5670947 w 24"/>
                  <a:gd name="T9" fmla="*/ 23896829 h 62"/>
                  <a:gd name="T10" fmla="*/ 0 60000 65536"/>
                  <a:gd name="T11" fmla="*/ 0 60000 65536"/>
                  <a:gd name="T12" fmla="*/ 0 60000 65536"/>
                  <a:gd name="T13" fmla="*/ 0 60000 65536"/>
                  <a:gd name="T14" fmla="*/ 0 60000 65536"/>
                  <a:gd name="T15" fmla="*/ 0 w 24"/>
                  <a:gd name="T16" fmla="*/ 0 h 62"/>
                  <a:gd name="T17" fmla="*/ 24 w 24"/>
                  <a:gd name="T18" fmla="*/ 62 h 62"/>
                </a:gdLst>
                <a:ahLst/>
                <a:cxnLst>
                  <a:cxn ang="T10">
                    <a:pos x="T0" y="T1"/>
                  </a:cxn>
                  <a:cxn ang="T11">
                    <a:pos x="T2" y="T3"/>
                  </a:cxn>
                  <a:cxn ang="T12">
                    <a:pos x="T4" y="T5"/>
                  </a:cxn>
                  <a:cxn ang="T13">
                    <a:pos x="T6" y="T7"/>
                  </a:cxn>
                  <a:cxn ang="T14">
                    <a:pos x="T8" y="T9"/>
                  </a:cxn>
                </a:cxnLst>
                <a:rect l="T15" t="T16" r="T17" b="T18"/>
                <a:pathLst>
                  <a:path w="24" h="62">
                    <a:moveTo>
                      <a:pt x="4" y="18"/>
                    </a:moveTo>
                    <a:cubicBezTo>
                      <a:pt x="4" y="21"/>
                      <a:pt x="3" y="25"/>
                      <a:pt x="2" y="29"/>
                    </a:cubicBezTo>
                    <a:cubicBezTo>
                      <a:pt x="24" y="62"/>
                      <a:pt x="24" y="62"/>
                      <a:pt x="24" y="62"/>
                    </a:cubicBezTo>
                    <a:cubicBezTo>
                      <a:pt x="0" y="0"/>
                      <a:pt x="0" y="0"/>
                      <a:pt x="0" y="0"/>
                    </a:cubicBezTo>
                    <a:cubicBezTo>
                      <a:pt x="3" y="6"/>
                      <a:pt x="4" y="12"/>
                      <a:pt x="4" y="18"/>
                    </a:cubicBez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sp>
        <p:nvSpPr>
          <p:cNvPr id="66" name="任意多边形 98"/>
          <p:cNvSpPr>
            <a:spLocks noChangeArrowheads="1"/>
          </p:cNvSpPr>
          <p:nvPr/>
        </p:nvSpPr>
        <p:spPr bwMode="auto">
          <a:xfrm>
            <a:off x="3715403" y="2356325"/>
            <a:ext cx="1746647" cy="360759"/>
          </a:xfrm>
          <a:custGeom>
            <a:avLst/>
            <a:gdLst>
              <a:gd name="T0" fmla="*/ 0 w 2541974"/>
              <a:gd name="T1" fmla="*/ 0 h 636814"/>
              <a:gd name="T2" fmla="*/ 2133619 w 2541974"/>
              <a:gd name="T3" fmla="*/ 0 h 636814"/>
              <a:gd name="T4" fmla="*/ 1991723 w 2541974"/>
              <a:gd name="T5" fmla="*/ 181664 h 636814"/>
              <a:gd name="T6" fmla="*/ 2133619 w 2541974"/>
              <a:gd name="T7" fmla="*/ 363328 h 636814"/>
              <a:gd name="T8" fmla="*/ 0 w 2541974"/>
              <a:gd name="T9" fmla="*/ 363328 h 636814"/>
              <a:gd name="T10" fmla="*/ 141809 w 2541974"/>
              <a:gd name="T11" fmla="*/ 181664 h 636814"/>
              <a:gd name="T12" fmla="*/ 0 60000 65536"/>
              <a:gd name="T13" fmla="*/ 0 60000 65536"/>
              <a:gd name="T14" fmla="*/ 0 60000 65536"/>
              <a:gd name="T15" fmla="*/ 0 60000 65536"/>
              <a:gd name="T16" fmla="*/ 0 60000 65536"/>
              <a:gd name="T17" fmla="*/ 0 60000 65536"/>
              <a:gd name="T18" fmla="*/ 0 w 2541974"/>
              <a:gd name="T19" fmla="*/ 0 h 636814"/>
              <a:gd name="T20" fmla="*/ 2541974 w 2541974"/>
              <a:gd name="T21" fmla="*/ 636814 h 636814"/>
            </a:gdLst>
            <a:ahLst/>
            <a:cxnLst>
              <a:cxn ang="T12">
                <a:pos x="T0" y="T1"/>
              </a:cxn>
              <a:cxn ang="T13">
                <a:pos x="T2" y="T3"/>
              </a:cxn>
              <a:cxn ang="T14">
                <a:pos x="T4" y="T5"/>
              </a:cxn>
              <a:cxn ang="T15">
                <a:pos x="T6" y="T7"/>
              </a:cxn>
              <a:cxn ang="T16">
                <a:pos x="T8" y="T9"/>
              </a:cxn>
              <a:cxn ang="T17">
                <a:pos x="T10" y="T11"/>
              </a:cxn>
            </a:cxnLst>
            <a:rect l="T18" t="T19" r="T20" b="T21"/>
            <a:pathLst>
              <a:path w="2541974" h="636814">
                <a:moveTo>
                  <a:pt x="0" y="0"/>
                </a:moveTo>
                <a:lnTo>
                  <a:pt x="2541974" y="0"/>
                </a:lnTo>
                <a:lnTo>
                  <a:pt x="2372921" y="318407"/>
                </a:lnTo>
                <a:lnTo>
                  <a:pt x="2541974" y="636814"/>
                </a:lnTo>
                <a:lnTo>
                  <a:pt x="0" y="636814"/>
                </a:lnTo>
                <a:lnTo>
                  <a:pt x="168950" y="318407"/>
                </a:lnTo>
                <a:lnTo>
                  <a:pt x="0" y="0"/>
                </a:lnTo>
                <a:close/>
              </a:path>
            </a:pathLst>
          </a:custGeom>
          <a:blipFill dpi="0" rotWithShape="1">
            <a:blip r:embed="rId2" cstate="print"/>
            <a:srcRect/>
            <a:tile tx="0" ty="0" sx="100000" sy="100000" flip="none" algn="tl"/>
          </a:blipFill>
          <a:ln>
            <a:noFill/>
          </a:ln>
          <a:extLst>
            <a:ext uri="{91240B29-F687-4F45-9708-019B960494DF}">
              <a14:hiddenLine xmlns:a14="http://schemas.microsoft.com/office/drawing/2010/main" w="12700">
                <a:solidFill>
                  <a:srgbClr val="42719B"/>
                </a:solidFill>
                <a:bevel/>
              </a14:hiddenLine>
            </a:ext>
          </a:extLst>
        </p:spPr>
        <p:txBody>
          <a:bodyPr anchor="ctr"/>
          <a:lstStyle/>
          <a:p>
            <a:r>
              <a:rPr lang="zh-CN" altLang="en-US" dirty="0">
                <a:solidFill>
                  <a:schemeClr val="bg1"/>
                </a:solidFill>
                <a:latin typeface="+mn-ea"/>
                <a:ea typeface="+mn-ea"/>
              </a:rPr>
              <a:t>谢谢聆听</a:t>
            </a:r>
            <a:endParaRPr lang="zh-CN" altLang="en-US" dirty="0">
              <a:solidFill>
                <a:schemeClr val="bg1"/>
              </a:solidFill>
              <a:latin typeface="+mn-ea"/>
              <a:ea typeface="+mn-ea"/>
            </a:endParaRPr>
          </a:p>
        </p:txBody>
      </p:sp>
      <p:pic>
        <p:nvPicPr>
          <p:cNvPr id="69"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191" y="138184"/>
            <a:ext cx="225742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KSO_WM_DOC_GUID" val="{649213ff-d3db-4880-88a4-46b67c6b2d23}"/>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4708</Words>
  <Application>WPS 演示</Application>
  <PresentationFormat>全屏显示(16:9)</PresentationFormat>
  <Paragraphs>583</Paragraphs>
  <Slides>47</Slides>
  <Notes>43</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6" baseType="lpstr">
      <vt:lpstr>Arial</vt:lpstr>
      <vt:lpstr>宋体</vt:lpstr>
      <vt:lpstr>Wingdings</vt:lpstr>
      <vt:lpstr>黑体</vt:lpstr>
      <vt:lpstr>Calibri</vt:lpstr>
      <vt:lpstr>微软雅黑</vt:lpstr>
      <vt:lpstr>Browallia New</vt:lpstr>
      <vt:lpstr>Tahoma</vt:lpstr>
      <vt:lpstr>Times New Roman</vt:lpstr>
      <vt:lpstr>Segoe Print</vt:lpstr>
      <vt:lpstr>Times New Roman</vt:lpstr>
      <vt:lpstr>楷体_GB2312</vt:lpstr>
      <vt:lpstr>Arial Unicode MS</vt:lpstr>
      <vt:lpstr>Wingdings</vt:lpstr>
      <vt:lpstr>Arial</vt:lpstr>
      <vt:lpstr>Impact</vt:lpstr>
      <vt:lpstr>新宋体</vt:lpstr>
      <vt:lpstr>Office 主题</vt:lpstr>
      <vt:lpstr>Word.Picture.8</vt:lpstr>
      <vt:lpstr>第三单元 Python程序控制结构及其语句2</vt:lpstr>
      <vt:lpstr>第一课时</vt:lpstr>
      <vt:lpstr>知识回顾</vt:lpstr>
      <vt:lpstr>贯穿案例</vt:lpstr>
      <vt:lpstr>PowerPoint 演示文稿</vt:lpstr>
      <vt:lpstr>生活中的循环</vt:lpstr>
      <vt:lpstr>PowerPoint 演示文稿</vt:lpstr>
      <vt:lpstr>PowerPoint 演示文稿</vt:lpstr>
      <vt:lpstr>什么是循环结构</vt:lpstr>
      <vt:lpstr>PowerPoint 演示文稿</vt:lpstr>
      <vt:lpstr>while循环应用</vt:lpstr>
      <vt:lpstr>while循环案例 </vt:lpstr>
      <vt:lpstr>while循环应用 </vt:lpstr>
      <vt:lpstr>while循环案例 </vt:lpstr>
      <vt:lpstr>第三课时</vt:lpstr>
      <vt:lpstr>PowerPoint 演示文稿</vt:lpstr>
      <vt:lpstr>while循环案例 </vt:lpstr>
      <vt:lpstr>for循环案例 </vt:lpstr>
      <vt:lpstr>PowerPoint 演示文稿</vt:lpstr>
      <vt:lpstr>PowerPoint 演示文稿</vt:lpstr>
      <vt:lpstr>PowerPoint 演示文稿</vt:lpstr>
      <vt:lpstr>PowerPoint 演示文稿</vt:lpstr>
      <vt:lpstr>PowerPoint 演示文稿</vt:lpstr>
      <vt:lpstr>PowerPoint 演示文稿</vt:lpstr>
      <vt:lpstr>第四课时</vt:lpstr>
      <vt:lpstr>知识回顾</vt:lpstr>
      <vt:lpstr>如何使用循环的嵌套</vt:lpstr>
      <vt:lpstr>PowerPoint 演示文稿</vt:lpstr>
      <vt:lpstr>PowerPoint 演示文稿</vt:lpstr>
      <vt:lpstr>PowerPoint 演示文稿</vt:lpstr>
      <vt:lpstr>PowerPoint 演示文稿</vt:lpstr>
      <vt:lpstr>第四课时</vt:lpstr>
      <vt:lpstr>如何使用while循环和else</vt:lpstr>
      <vt:lpstr>PowerPoint 演示文稿</vt:lpstr>
      <vt:lpstr>PowerPoint 演示文稿</vt:lpstr>
      <vt:lpstr>PowerPoint 演示文稿</vt:lpstr>
      <vt:lpstr>PowerPoint 演示文稿</vt:lpstr>
      <vt:lpstr>PowerPoint 演示文稿</vt:lpstr>
      <vt:lpstr>如何使用while无限循环</vt:lpstr>
      <vt:lpstr>登录验证案例</vt:lpstr>
      <vt:lpstr>PowerPoint 演示文稿</vt:lpstr>
      <vt:lpstr>循环结构的作用</vt:lpstr>
      <vt:lpstr>单元总结</vt:lpstr>
      <vt:lpstr>PowerPoint 演示文稿</vt:lpstr>
      <vt:lpstr>作业</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第1章内容回顾</dc:title>
  <dc:creator>xiaojing.dai</dc:creator>
  <cp:lastModifiedBy>姚慧</cp:lastModifiedBy>
  <cp:revision>1779</cp:revision>
  <dcterms:created xsi:type="dcterms:W3CDTF">2006-03-08T06:55:00Z</dcterms:created>
  <dcterms:modified xsi:type="dcterms:W3CDTF">2020-11-08T20:38:53Z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