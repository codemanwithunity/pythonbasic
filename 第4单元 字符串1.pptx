
<file path=[Content_Types].xml><?xml version="1.0" encoding="utf-8"?>
<Types xmlns="http://schemas.openxmlformats.org/package/2006/content-types">
  <Default Extension="jpeg" ContentType="image/jpeg"/>
  <Default Extension="png" ContentType="image/png"/>
  <Default Extension="wmf" ContentType="image/x-w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9"/>
  </p:handoutMasterIdLst>
  <p:sldIdLst>
    <p:sldId id="516" r:id="rId3"/>
    <p:sldId id="1683" r:id="rId5"/>
    <p:sldId id="520" r:id="rId6"/>
    <p:sldId id="542" r:id="rId7"/>
    <p:sldId id="522" r:id="rId8"/>
    <p:sldId id="482" r:id="rId9"/>
    <p:sldId id="1775" r:id="rId10"/>
    <p:sldId id="1860" r:id="rId11"/>
    <p:sldId id="1547" r:id="rId12"/>
    <p:sldId id="1898" r:id="rId13"/>
    <p:sldId id="1821" r:id="rId14"/>
    <p:sldId id="1825" r:id="rId15"/>
    <p:sldId id="1822" r:id="rId16"/>
    <p:sldId id="1640" r:id="rId17"/>
    <p:sldId id="1826" r:id="rId18"/>
    <p:sldId id="830" r:id="rId19"/>
    <p:sldId id="1684" r:id="rId20"/>
    <p:sldId id="1990" r:id="rId21"/>
    <p:sldId id="1992" r:id="rId22"/>
    <p:sldId id="1512" r:id="rId23"/>
    <p:sldId id="1549" r:id="rId24"/>
    <p:sldId id="982" r:id="rId25"/>
    <p:sldId id="618" r:id="rId26"/>
    <p:sldId id="1742" r:id="rId27"/>
    <p:sldId id="834" r:id="rId28"/>
    <p:sldId id="1685" r:id="rId29"/>
    <p:sldId id="1589" r:id="rId30"/>
    <p:sldId id="833" r:id="rId31"/>
    <p:sldId id="597" r:id="rId32"/>
    <p:sldId id="626" r:id="rId33"/>
    <p:sldId id="598" r:id="rId34"/>
    <p:sldId id="1513" r:id="rId35"/>
    <p:sldId id="1994" r:id="rId36"/>
    <p:sldId id="1184" r:id="rId37"/>
    <p:sldId id="1686" r:id="rId38"/>
    <p:sldId id="1741" r:id="rId39"/>
    <p:sldId id="627" r:id="rId40"/>
    <p:sldId id="1541" r:id="rId41"/>
    <p:sldId id="2020" r:id="rId42"/>
    <p:sldId id="1995" r:id="rId43"/>
    <p:sldId id="1899" r:id="rId44"/>
    <p:sldId id="629" r:id="rId45"/>
    <p:sldId id="1517" r:id="rId46"/>
    <p:sldId id="636" r:id="rId47"/>
    <p:sldId id="515" r:id="rId48"/>
  </p:sldIdLst>
  <p:sldSz cx="9144000" cy="5143500" type="screen16x9"/>
  <p:notesSz cx="6858000" cy="9144000"/>
  <p:custDataLst>
    <p:tags r:id="rId54"/>
  </p:custDataLst>
  <p:defaultTextStyle>
    <a:defPPr>
      <a:defRPr lang="en-US"/>
    </a:defPPr>
    <a:lvl1pPr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1pPr>
    <a:lvl2pPr marL="4572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2pPr>
    <a:lvl3pPr marL="9144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9pPr>
  </p:defaultTextStyle>
  <p:extLst>
    <p:ext uri="{505F2C04-C923-438B-8C0F-E0CD2BADF298}">
      <wppc:fontMiss xmlns:wppc="http://www.wps.cn/officeDocument/PresentationCustomData" type="true"/>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作"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FFFFFF"/>
    <a:srgbClr val="E1FEFF"/>
    <a:srgbClr val="E7F4FF"/>
    <a:srgbClr val="5AADD6"/>
    <a:srgbClr val="D5EBFF"/>
    <a:srgbClr val="FEF6F0"/>
    <a:srgbClr val="FDF0E7"/>
    <a:srgbClr val="FDFEE8"/>
    <a:srgbClr val="E7F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67" autoAdjust="0"/>
    <p:restoredTop sz="89312" autoAdjust="0"/>
  </p:normalViewPr>
  <p:slideViewPr>
    <p:cSldViewPr>
      <p:cViewPr varScale="1">
        <p:scale>
          <a:sx n="86" d="100"/>
          <a:sy n="86" d="100"/>
        </p:scale>
        <p:origin x="206" y="41"/>
      </p:cViewPr>
      <p:guideLst>
        <p:guide orient="horz" pos="1620"/>
        <p:guide orient="horz" pos="2521"/>
        <p:guide pos="2804"/>
      </p:guideLst>
    </p:cSldViewPr>
  </p:slideViewPr>
  <p:notesTextViewPr>
    <p:cViewPr>
      <p:scale>
        <a:sx n="100" d="100"/>
        <a:sy n="100" d="100"/>
      </p:scale>
      <p:origin x="0" y="0"/>
    </p:cViewPr>
  </p:notesTextViewPr>
  <p:sorterViewPr>
    <p:cViewPr>
      <p:scale>
        <a:sx n="66" d="100"/>
        <a:sy n="66" d="100"/>
      </p:scale>
      <p:origin x="0" y="2222"/>
    </p:cViewPr>
  </p:sorterViewPr>
  <p:notesViewPr>
    <p:cSldViewPr>
      <p:cViewPr varScale="1">
        <p:scale>
          <a:sx n="54" d="100"/>
          <a:sy n="54" d="100"/>
        </p:scale>
        <p:origin x="-2610" y="-84"/>
      </p:cViewPr>
      <p:guideLst>
        <p:guide orient="horz" pos="2880"/>
        <p:guide pos="2103"/>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4" Type="http://schemas.openxmlformats.org/officeDocument/2006/relationships/tags" Target="tags/tag1.xml"/><Relationship Id="rId53" Type="http://schemas.openxmlformats.org/officeDocument/2006/relationships/commentAuthors" Target="commentAuthors.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2.xml"/><Relationship Id="rId49" Type="http://schemas.openxmlformats.org/officeDocument/2006/relationships/handoutMaster" Target="handoutMasters/handoutMaster1.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atin typeface="Tahoma" panose="020B0604030504040204" pitchFamily="34" charset="0"/>
                <a:ea typeface="+mn-ea"/>
              </a:defRPr>
            </a:lvl1pPr>
          </a:lstStyle>
          <a:p>
            <a:pPr>
              <a:defRPr/>
            </a:pPr>
            <a:endParaRPr lang="zh-CN" altLang="en-US"/>
          </a:p>
        </p:txBody>
      </p:sp>
      <p:sp>
        <p:nvSpPr>
          <p:cNvPr id="46083"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pitchFamily="34" charset="0"/>
                <a:ea typeface="+mn-ea"/>
              </a:defRPr>
            </a:lvl1pPr>
          </a:lstStyle>
          <a:p>
            <a:pPr>
              <a:defRPr/>
            </a:pPr>
            <a:endParaRPr lang="en-US" altLang="zh-CN"/>
          </a:p>
        </p:txBody>
      </p:sp>
      <p:sp>
        <p:nvSpPr>
          <p:cNvPr id="46084"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atin typeface="Tahoma" panose="020B0604030504040204" pitchFamily="34" charset="0"/>
                <a:ea typeface="+mn-ea"/>
              </a:defRPr>
            </a:lvl1pPr>
          </a:lstStyle>
          <a:p>
            <a:pPr>
              <a:defRPr/>
            </a:pPr>
            <a:endParaRPr lang="en-US" altLang="zh-CN"/>
          </a:p>
        </p:txBody>
      </p:sp>
      <p:sp>
        <p:nvSpPr>
          <p:cNvPr id="46085"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pitchFamily="34" charset="0"/>
                <a:ea typeface="+mn-ea"/>
              </a:defRPr>
            </a:lvl1pPr>
          </a:lstStyle>
          <a:p>
            <a:pPr>
              <a:defRPr/>
            </a:pPr>
            <a:fld id="{DB3C531B-D83C-493A-84AD-316F78881EC3}"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atin typeface="Tahoma" panose="020B0604030504040204" pitchFamily="34" charset="0"/>
                <a:ea typeface="+mn-ea"/>
              </a:defRPr>
            </a:lvl1pPr>
          </a:lstStyle>
          <a:p>
            <a:pPr>
              <a:defRPr/>
            </a:pPr>
            <a:endParaRPr lang="zh-CN" altLang="en-US"/>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pitchFamily="34" charset="0"/>
                <a:ea typeface="+mn-ea"/>
              </a:defRPr>
            </a:lvl1pPr>
          </a:lstStyle>
          <a:p>
            <a:pPr>
              <a:defRPr/>
            </a:pPr>
            <a:endParaRPr lang="en-US" altLang="zh-CN"/>
          </a:p>
        </p:txBody>
      </p:sp>
      <p:sp>
        <p:nvSpPr>
          <p:cNvPr id="4813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atin typeface="Tahoma" panose="020B0604030504040204" pitchFamily="34" charset="0"/>
                <a:ea typeface="+mn-ea"/>
              </a:defRPr>
            </a:lvl1pPr>
          </a:lstStyle>
          <a:p>
            <a:pPr>
              <a:defRPr/>
            </a:pPr>
            <a:endParaRPr lang="en-US" altLang="zh-CN"/>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pitchFamily="34" charset="0"/>
                <a:ea typeface="+mn-ea"/>
              </a:defRPr>
            </a:lvl1pPr>
          </a:lstStyle>
          <a:p>
            <a:pPr>
              <a:defRPr/>
            </a:pPr>
            <a:fld id="{CB801823-96DB-4EC2-991A-2DEE593AD1DA}"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  </a:t>
            </a:r>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  </a:t>
            </a:r>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5F0874A-DC79-43EA-A2C2-B8C0F6439921}" type="slidenum">
              <a:rPr lang="zh-CN" altLang="en-US"/>
            </a:fld>
            <a:endParaRPr lang="en-US" altLang="zh-CN"/>
          </a:p>
        </p:txBody>
      </p:sp>
      <p:sp>
        <p:nvSpPr>
          <p:cNvPr id="637954" name="Rectangle 2"/>
          <p:cNvSpPr>
            <a:spLocks noGrp="1" noRot="1" noChangeAspect="1" noChangeArrowheads="1" noTextEdit="1"/>
          </p:cNvSpPr>
          <p:nvPr>
            <p:ph type="sldImg"/>
          </p:nvPr>
        </p:nvSpPr>
        <p:spPr>
          <a:xfrm>
            <a:off x="381000" y="685800"/>
            <a:ext cx="6096000" cy="3429000"/>
          </a:xfrm>
        </p:spPr>
      </p:sp>
      <p:sp>
        <p:nvSpPr>
          <p:cNvPr id="637955" name="Rectangle 3"/>
          <p:cNvSpPr>
            <a:spLocks noGrp="1" noChangeArrowheads="1"/>
          </p:cNvSpPr>
          <p:nvPr>
            <p:ph type="body" idx="1"/>
          </p:nvPr>
        </p:nvSpPr>
        <p:spPr>
          <a:xfrm>
            <a:off x="685800" y="4343400"/>
            <a:ext cx="5486400" cy="4114800"/>
          </a:xfrm>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noTextEdit="1"/>
          </p:cNvSpPr>
          <p:nvPr>
            <p:ph type="sldImg"/>
          </p:nvPr>
        </p:nvSpPr>
        <p:spPr/>
      </p:sp>
      <p:sp>
        <p:nvSpPr>
          <p:cNvPr id="87042" name="备注占位符 2"/>
          <p:cNvSpPr>
            <a:spLocks noGrp="1"/>
          </p:cNvSpPr>
          <p:nvPr>
            <p:ph type="body"/>
          </p:nvPr>
        </p:nvSpPr>
        <p:spPr/>
        <p:txBody>
          <a:bodyPr wrap="square" lIns="91440" tIns="45720" rIns="91440" bIns="45720" anchor="t"/>
          <a:lstStyle/>
          <a:p>
            <a:pPr lvl="0"/>
            <a:endParaRPr lang="zh-CN" altLang="en-US" dirty="0"/>
          </a:p>
        </p:txBody>
      </p:sp>
      <p:sp>
        <p:nvSpPr>
          <p:cNvPr id="87043" name="灯片编号占位符 3"/>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zh-CN" altLang="en-US" sz="1200">
                <a:latin typeface="Tahoma" panose="020B0604030504040204" pitchFamily="34" charset="0"/>
                <a:ea typeface="宋体" panose="02010600030101010101" pitchFamily="2" charset="-122"/>
              </a:rPr>
            </a:fld>
            <a:endParaRPr lang="zh-CN" altLang="en-US" sz="1200" dirty="0">
              <a:latin typeface="Tahoma" panose="020B060403050404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noTextEdit="1"/>
          </p:cNvSpPr>
          <p:nvPr>
            <p:ph type="sldImg"/>
          </p:nvPr>
        </p:nvSpPr>
        <p:spPr/>
      </p:sp>
      <p:sp>
        <p:nvSpPr>
          <p:cNvPr id="87042" name="备注占位符 2"/>
          <p:cNvSpPr>
            <a:spLocks noGrp="1"/>
          </p:cNvSpPr>
          <p:nvPr>
            <p:ph type="body"/>
          </p:nvPr>
        </p:nvSpPr>
        <p:spPr/>
        <p:txBody>
          <a:bodyPr wrap="square" lIns="91440" tIns="45720" rIns="91440" bIns="45720" anchor="t"/>
          <a:lstStyle/>
          <a:p>
            <a:pPr lvl="0"/>
            <a:endParaRPr lang="zh-CN" altLang="en-US" dirty="0"/>
          </a:p>
        </p:txBody>
      </p:sp>
      <p:sp>
        <p:nvSpPr>
          <p:cNvPr id="87043" name="灯片编号占位符 3"/>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zh-CN" altLang="en-US" sz="1200">
                <a:latin typeface="Tahoma" panose="020B0604030504040204" pitchFamily="34" charset="0"/>
                <a:ea typeface="宋体" panose="02010600030101010101" pitchFamily="2" charset="-122"/>
              </a:rPr>
            </a:fld>
            <a:endParaRPr lang="zh-CN" altLang="en-US" sz="1200" dirty="0">
              <a:latin typeface="Tahoma" panose="020B060403050404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b="1" dirty="0">
                <a:solidFill>
                  <a:schemeClr val="bg1"/>
                </a:solidFill>
                <a:latin typeface="微软雅黑" panose="020B0503020204020204" pitchFamily="34" charset="-122"/>
                <a:ea typeface="微软雅黑" panose="020B0503020204020204" pitchFamily="34" charset="-122"/>
                <a:sym typeface="+mn-ea"/>
              </a:rPr>
              <a:t>数组是相同数据类型的元素的集合</a:t>
            </a:r>
            <a:endParaRPr lang="en-US" altLang="zh-CN" sz="1200" b="1" dirty="0">
              <a:solidFill>
                <a:schemeClr val="bg1"/>
              </a:solidFill>
              <a:latin typeface="微软雅黑" panose="020B0503020204020204" pitchFamily="34" charset="-122"/>
              <a:ea typeface="微软雅黑" panose="020B0503020204020204" pitchFamily="34" charset="-122"/>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1" dirty="0">
                <a:solidFill>
                  <a:schemeClr val="bg1"/>
                </a:solidFill>
                <a:latin typeface="微软雅黑" panose="020B0503020204020204" pitchFamily="34" charset="-122"/>
                <a:ea typeface="微软雅黑" panose="020B0503020204020204" pitchFamily="34" charset="-122"/>
                <a:sym typeface="+mn-ea"/>
              </a:rPr>
              <a:t>数组可以存储多个数据，每个数据作为数组元素而存在</a:t>
            </a:r>
            <a:endParaRPr lang="en-US" altLang="zh-CN" sz="1200" b="1" dirty="0">
              <a:solidFill>
                <a:schemeClr val="bg1"/>
              </a:solidFill>
              <a:latin typeface="微软雅黑" panose="020B0503020204020204" pitchFamily="34" charset="-122"/>
              <a:ea typeface="微软雅黑" panose="020B0503020204020204" pitchFamily="34" charset="-122"/>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1" dirty="0">
                <a:solidFill>
                  <a:schemeClr val="bg1"/>
                </a:solidFill>
                <a:latin typeface="微软雅黑" panose="020B0503020204020204" pitchFamily="34" charset="-122"/>
                <a:ea typeface="微软雅黑" panose="020B0503020204020204" pitchFamily="34" charset="-122"/>
                <a:sym typeface="+mn-ea"/>
              </a:rPr>
              <a:t>数组是有序的元素序列</a:t>
            </a:r>
            <a:endParaRPr lang="zh-CN" altLang="en-US" sz="1200" b="1" dirty="0">
              <a:solidFill>
                <a:schemeClr val="bg1"/>
              </a:solidFill>
              <a:latin typeface="微软雅黑" panose="020B0503020204020204" pitchFamily="34" charset="-122"/>
              <a:ea typeface="微软雅黑" panose="020B0503020204020204" pitchFamily="34" charset="-122"/>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zh-CN" sz="1200" b="1" dirty="0">
                <a:solidFill>
                  <a:schemeClr val="bg1"/>
                </a:solidFill>
                <a:latin typeface="微软雅黑" panose="020B0503020204020204" pitchFamily="34" charset="-122"/>
                <a:ea typeface="微软雅黑" panose="020B0503020204020204" pitchFamily="34" charset="-122"/>
              </a:rPr>
              <a:t>数组长度是固定的</a:t>
            </a:r>
            <a:endParaRPr lang="zh-CN"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1" dirty="0">
                <a:solidFill>
                  <a:schemeClr val="bg1"/>
                </a:solidFill>
                <a:latin typeface="微软雅黑" panose="020B0503020204020204" pitchFamily="34" charset="-122"/>
                <a:ea typeface="微软雅黑" panose="020B0503020204020204" pitchFamily="34" charset="-122"/>
                <a:sym typeface="+mn-ea"/>
              </a:rPr>
              <a:t>数组是一种数据结构</a:t>
            </a:r>
            <a:endParaRPr lang="en-US" altLang="zh-CN" sz="1200" b="1" dirty="0">
              <a:solidFill>
                <a:schemeClr val="bg1"/>
              </a:solidFill>
              <a:latin typeface="微软雅黑" panose="020B0503020204020204" pitchFamily="34" charset="-122"/>
              <a:ea typeface="微软雅黑" panose="020B0503020204020204" pitchFamily="34" charset="-122"/>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1" dirty="0">
                <a:solidFill>
                  <a:schemeClr val="bg1"/>
                </a:solidFill>
                <a:latin typeface="微软雅黑" panose="020B0503020204020204" pitchFamily="34" charset="-122"/>
                <a:ea typeface="微软雅黑" panose="020B0503020204020204" pitchFamily="34" charset="-122"/>
                <a:sym typeface="+mn-ea"/>
              </a:rPr>
              <a:t>数组在内存中是一块连续的空间，用于存储相同类型的</a:t>
            </a:r>
            <a:endParaRPr lang="zh-CN" altLang="en-US" sz="1200" b="1" dirty="0">
              <a:solidFill>
                <a:schemeClr val="bg1"/>
              </a:solidFill>
              <a:latin typeface="微软雅黑" panose="020B0503020204020204" pitchFamily="34" charset="-122"/>
              <a:ea typeface="微软雅黑" panose="020B0503020204020204" pitchFamily="34" charset="-122"/>
              <a:sym typeface="+mn-ea"/>
            </a:endParaRPr>
          </a:p>
          <a:p>
            <a:pPr marL="0" marR="0" indent="0" algn="l" defTabSz="914400" rtl="0" eaLnBrk="0" fontAlgn="base" latinLnBrk="0" hangingPunct="0">
              <a:lnSpc>
                <a:spcPct val="100000"/>
              </a:lnSpc>
              <a:spcBef>
                <a:spcPct val="30000"/>
              </a:spcBef>
              <a:spcAft>
                <a:spcPct val="0"/>
              </a:spcAft>
              <a:buClrTx/>
              <a:buSzTx/>
              <a:buFontTx/>
              <a:buNone/>
              <a:defRPr/>
            </a:pPr>
            <a:endParaRPr lang="zh-CN" altLang="en-US" sz="1200" b="1" dirty="0">
              <a:solidFill>
                <a:schemeClr val="bg1"/>
              </a:solidFill>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  </a:t>
            </a:r>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noTextEdit="1"/>
          </p:cNvSpPr>
          <p:nvPr>
            <p:ph type="sldImg"/>
          </p:nvPr>
        </p:nvSpPr>
        <p:spPr/>
      </p:sp>
      <p:sp>
        <p:nvSpPr>
          <p:cNvPr id="87042" name="备注占位符 2"/>
          <p:cNvSpPr>
            <a:spLocks noGrp="1"/>
          </p:cNvSpPr>
          <p:nvPr>
            <p:ph type="body"/>
          </p:nvPr>
        </p:nvSpPr>
        <p:spPr/>
        <p:txBody>
          <a:bodyPr wrap="square" lIns="91440" tIns="45720" rIns="91440" bIns="45720" anchor="t"/>
          <a:lstStyle/>
          <a:p>
            <a:pPr lvl="0"/>
            <a:endParaRPr lang="zh-CN" altLang="en-US" dirty="0"/>
          </a:p>
        </p:txBody>
      </p:sp>
      <p:sp>
        <p:nvSpPr>
          <p:cNvPr id="87043" name="灯片编号占位符 3"/>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zh-CN" altLang="en-US" sz="1200">
                <a:latin typeface="Tahoma" panose="020B0604030504040204" pitchFamily="34" charset="0"/>
                <a:ea typeface="宋体" panose="02010600030101010101" pitchFamily="2" charset="-122"/>
              </a:rPr>
            </a:fld>
            <a:endParaRPr lang="zh-CN" altLang="en-US" sz="1200" dirty="0">
              <a:latin typeface="Tahoma" panose="020B060403050404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86AF6BF-FFFC-4E9D-96B5-CEDA40342436}" type="slidenum">
              <a:rPr lang="zh-CN" altLang="en-US"/>
            </a:fld>
            <a:endParaRPr lang="en-US" altLang="zh-CN"/>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  </a:t>
            </a:r>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6222E8E-E4D9-496E-B804-B7DB7683E06B}" type="slidenum">
              <a:rPr lang="zh-CN" altLang="en-US"/>
            </a:fld>
            <a:endParaRPr lang="en-US" altLang="zh-CN"/>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6222E8E-E4D9-496E-B804-B7DB7683E06B}" type="slidenum">
              <a:rPr lang="zh-CN" altLang="en-US"/>
            </a:fld>
            <a:endParaRPr lang="en-US" altLang="zh-CN"/>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sz="1200" kern="1200" dirty="0">
              <a:solidFill>
                <a:schemeClr val="tx1"/>
              </a:solidFill>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  </a:t>
            </a:r>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p:sp>
      <p:sp>
        <p:nvSpPr>
          <p:cNvPr id="98307" name="备注占位符 2"/>
          <p:cNvSpPr>
            <a:spLocks noGrp="1"/>
          </p:cNvSpPr>
          <p:nvPr>
            <p:ph type="body" idx="1"/>
          </p:nvPr>
        </p:nvSpPr>
        <p:spPr>
          <a:noFill/>
        </p:spPr>
        <p:txBody>
          <a:bodyPr/>
          <a:lstStyle/>
          <a:p>
            <a:pPr marL="0" marR="0" lvl="1" indent="0" algn="l" defTabSz="914400" rtl="0" eaLnBrk="0" fontAlgn="base" latinLnBrk="0" hangingPunct="0">
              <a:lnSpc>
                <a:spcPct val="100000"/>
              </a:lnSpc>
              <a:spcBef>
                <a:spcPct val="30000"/>
              </a:spcBef>
              <a:spcAft>
                <a:spcPct val="0"/>
              </a:spcAft>
              <a:buClrTx/>
              <a:buSzTx/>
              <a:buFontTx/>
              <a:buNone/>
              <a:defRPr/>
            </a:pPr>
            <a:r>
              <a:rPr lang="zh-CN" altLang="en-US" dirty="0"/>
              <a:t>借助书籍和</a:t>
            </a:r>
            <a:r>
              <a:rPr lang="en-US" altLang="zh-CN" dirty="0"/>
              <a:t>PPT</a:t>
            </a:r>
            <a:r>
              <a:rPr lang="zh-CN" altLang="en-US"/>
              <a:t>完成下一单元类和对象的预习</a:t>
            </a:r>
            <a:endParaRPr lang="zh-CN" altLang="en-US"/>
          </a:p>
          <a:p>
            <a:endParaRPr lang="zh-CN" altLang="en-US" dirty="0"/>
          </a:p>
        </p:txBody>
      </p:sp>
      <p:sp>
        <p:nvSpPr>
          <p:cNvPr id="4" name="灯片编号占位符 3"/>
          <p:cNvSpPr>
            <a:spLocks noGrp="1"/>
          </p:cNvSpPr>
          <p:nvPr>
            <p:ph type="sldNum" sz="quarter" idx="5"/>
          </p:nvPr>
        </p:nvSpPr>
        <p:spPr/>
        <p:txBody>
          <a:bodyPr/>
          <a:lstStyle/>
          <a:p>
            <a:pPr>
              <a:defRPr/>
            </a:pPr>
            <a:fld id="{7904090E-D64E-40C3-B961-86ECD9067041}"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Ref idx="1001">
        <a:schemeClr val="bg1"/>
      </p:bgRef>
    </p:bg>
    <p:spTree>
      <p:nvGrpSpPr>
        <p:cNvPr id="1" name=""/>
        <p:cNvGrpSpPr/>
        <p:nvPr/>
      </p:nvGrpSpPr>
      <p:grpSpPr>
        <a:xfrm>
          <a:off x="0" y="0"/>
          <a:ext cx="0" cy="0"/>
          <a:chOff x="0" y="0"/>
          <a:chExt cx="0" cy="0"/>
        </a:xfrm>
      </p:grpSpPr>
      <p:sp>
        <p:nvSpPr>
          <p:cNvPr id="2" name="直接连接符 14"/>
          <p:cNvSpPr>
            <a:spLocks noChangeShapeType="1"/>
          </p:cNvSpPr>
          <p:nvPr userDrawn="1"/>
        </p:nvSpPr>
        <p:spPr bwMode="auto">
          <a:xfrm>
            <a:off x="1671638" y="951313"/>
            <a:ext cx="0" cy="4192190"/>
          </a:xfrm>
          <a:prstGeom prst="line">
            <a:avLst/>
          </a:prstGeom>
          <a:noFill/>
          <a:ln w="9525">
            <a:solidFill>
              <a:schemeClr val="accent1"/>
            </a:solidFill>
            <a:miter lim="800000"/>
            <a:head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 name="标题 1"/>
          <p:cNvSpPr>
            <a:spLocks noGrp="1"/>
          </p:cNvSpPr>
          <p:nvPr>
            <p:ph type="title"/>
          </p:nvPr>
        </p:nvSpPr>
        <p:spPr>
          <a:xfrm>
            <a:off x="2195739" y="141482"/>
            <a:ext cx="6768877" cy="369332"/>
          </a:xfrm>
          <a:prstGeom prst="rect">
            <a:avLst/>
          </a:prstGeom>
          <a:noFill/>
        </p:spPr>
        <p:txBody>
          <a:bodyPr wrap="square">
            <a:spAutoFit/>
          </a:bodyPr>
          <a:lstStyle>
            <a:lvl1pPr>
              <a:defRPr lang="zh-CN" altLang="en-US" sz="2000" b="0" dirty="0">
                <a:solidFill>
                  <a:srgbClr val="0070C0"/>
                </a:solidFill>
              </a:defRPr>
            </a:lvl1pPr>
          </a:lstStyle>
          <a:p>
            <a:pPr lvl="0" algn="r"/>
            <a:r>
              <a:rPr lang="zh-CN" altLang="en-US" dirty="0"/>
              <a:t>单击此处编辑母版标题样式</a:t>
            </a:r>
            <a:endParaRPr lang="zh-CN" altLang="en-US" dirty="0"/>
          </a:p>
        </p:txBody>
      </p:sp>
      <p:sp>
        <p:nvSpPr>
          <p:cNvPr id="4" name="内容占位符 2"/>
          <p:cNvSpPr>
            <a:spLocks noGrp="1"/>
          </p:cNvSpPr>
          <p:nvPr>
            <p:ph idx="1"/>
          </p:nvPr>
        </p:nvSpPr>
        <p:spPr>
          <a:xfrm>
            <a:off x="1835696" y="843559"/>
            <a:ext cx="6984776" cy="3744416"/>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5" name="内容占位符 2"/>
          <p:cNvSpPr>
            <a:spLocks noGrp="1"/>
          </p:cNvSpPr>
          <p:nvPr>
            <p:ph idx="10" hasCustomPrompt="1"/>
          </p:nvPr>
        </p:nvSpPr>
        <p:spPr>
          <a:xfrm>
            <a:off x="107504" y="843558"/>
            <a:ext cx="1440160" cy="3744416"/>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单击此处编辑式</a:t>
            </a:r>
            <a:endParaRPr lang="zh-CN" alt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600">
        <p:random/>
      </p:transition>
    </mc:Choice>
    <mc:Fallback>
      <p:transition spd="med">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标题 1"/>
          <p:cNvSpPr>
            <a:spLocks noGrp="1"/>
          </p:cNvSpPr>
          <p:nvPr>
            <p:ph type="title"/>
          </p:nvPr>
        </p:nvSpPr>
        <p:spPr>
          <a:xfrm>
            <a:off x="2195739" y="141482"/>
            <a:ext cx="6768877" cy="369332"/>
          </a:xfrm>
          <a:prstGeom prst="rect">
            <a:avLst/>
          </a:prstGeom>
          <a:noFill/>
        </p:spPr>
        <p:txBody>
          <a:bodyPr wrap="square">
            <a:spAutoFit/>
          </a:bodyPr>
          <a:lstStyle>
            <a:lvl1pPr>
              <a:defRPr lang="zh-CN" altLang="en-US" sz="2000" b="0" dirty="0">
                <a:solidFill>
                  <a:srgbClr val="0070C0"/>
                </a:solidFill>
              </a:defRPr>
            </a:lvl1pPr>
          </a:lstStyle>
          <a:p>
            <a:pPr lvl="0" algn="r"/>
            <a:r>
              <a:rPr lang="zh-CN" altLang="en-US" dirty="0"/>
              <a:t>单击此处编辑母版标题样式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00">
        <p:random/>
      </p:transition>
    </mc:Choice>
    <mc:Fallback>
      <p:transition spd="med">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幻灯片">
    <p:bg>
      <p:bgPr>
        <a:blipFill>
          <a:blip r:embed="rId2" cstate="print"/>
          <a:tile tx="0" ty="0" sx="100000" sy="100000" flip="none" algn="tl"/>
        </a:blipFill>
        <a:effectLst/>
      </p:bgPr>
    </p:bg>
    <p:spTree>
      <p:nvGrpSpPr>
        <p:cNvPr id="1" name=""/>
        <p:cNvGrpSpPr/>
        <p:nvPr/>
      </p:nvGrpSpPr>
      <p:grpSpPr>
        <a:xfrm>
          <a:off x="0" y="0"/>
          <a:ext cx="0" cy="0"/>
          <a:chOff x="0" y="0"/>
          <a:chExt cx="0" cy="0"/>
        </a:xfrm>
      </p:grpSpPr>
      <p:sp>
        <p:nvSpPr>
          <p:cNvPr id="13" name="标题 1"/>
          <p:cNvSpPr>
            <a:spLocks noGrp="1"/>
          </p:cNvSpPr>
          <p:nvPr>
            <p:ph type="ctrTitle"/>
          </p:nvPr>
        </p:nvSpPr>
        <p:spPr>
          <a:xfrm>
            <a:off x="685800" y="1253209"/>
            <a:ext cx="7772400" cy="1102519"/>
          </a:xfrm>
          <a:prstGeom prst="rect">
            <a:avLst/>
          </a:prstGeom>
          <a:noFill/>
        </p:spPr>
        <p:txBody>
          <a:bodyPr anchor="ctr">
            <a:normAutofit/>
          </a:bodyPr>
          <a:lstStyle>
            <a:lvl1pPr algn="ctr">
              <a:defRPr sz="4000" b="1">
                <a:solidFill>
                  <a:schemeClr val="accent5">
                    <a:lumMod val="50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4" name="副标题 2"/>
          <p:cNvSpPr>
            <a:spLocks noGrp="1"/>
          </p:cNvSpPr>
          <p:nvPr>
            <p:ph type="subTitle" idx="1"/>
          </p:nvPr>
        </p:nvSpPr>
        <p:spPr>
          <a:xfrm>
            <a:off x="683568" y="2283718"/>
            <a:ext cx="7776864" cy="594066"/>
          </a:xfrm>
          <a:prstGeom prst="rect">
            <a:avLst/>
          </a:prstGeom>
        </p:spPr>
        <p:txBody>
          <a:bodyPr/>
          <a:lstStyle>
            <a:lvl1pPr marL="0" indent="0" algn="ctr">
              <a:buNone/>
              <a:defRPr sz="2800" b="1">
                <a:solidFill>
                  <a:schemeClr val="tx1">
                    <a:lumMod val="65000"/>
                    <a:lumOff val="35000"/>
                  </a:schemeClr>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pic>
        <p:nvPicPr>
          <p:cNvPr id="23" name="图片 6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113" y="3082826"/>
            <a:ext cx="9155113"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圆角矩形 4"/>
          <p:cNvSpPr>
            <a:spLocks noChangeArrowheads="1"/>
          </p:cNvSpPr>
          <p:nvPr userDrawn="1"/>
        </p:nvSpPr>
        <p:spPr bwMode="auto">
          <a:xfrm>
            <a:off x="2442815" y="3962401"/>
            <a:ext cx="4289425" cy="359569"/>
          </a:xfrm>
          <a:prstGeom prst="roundRect">
            <a:avLst>
              <a:gd name="adj" fmla="val 7292"/>
            </a:avLst>
          </a:prstGeom>
          <a:solidFill>
            <a:srgbClr val="FFFFFF">
              <a:alpha val="32156"/>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知识很简单  学习很快乐</a:t>
            </a:r>
            <a:endParaRPr lang="zh-CN" altLang="zh-CN" sz="2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600">
        <p:random/>
      </p:transition>
    </mc:Choice>
    <mc:Fallback>
      <p:transition spd="med">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203598"/>
            <a:ext cx="8352928" cy="3137572"/>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副标题 2"/>
          <p:cNvSpPr>
            <a:spLocks noGrp="1"/>
          </p:cNvSpPr>
          <p:nvPr>
            <p:ph type="subTitle" idx="10" hasCustomPrompt="1"/>
          </p:nvPr>
        </p:nvSpPr>
        <p:spPr>
          <a:xfrm>
            <a:off x="467544" y="771550"/>
            <a:ext cx="7488832" cy="360040"/>
          </a:xfrm>
          <a:prstGeom prst="rect">
            <a:avLst/>
          </a:prstGeom>
        </p:spPr>
        <p:txBody>
          <a:bodyPr/>
          <a:lstStyle>
            <a:lvl1pPr marL="0" indent="0" algn="l">
              <a:buNone/>
              <a:defRPr sz="1600" b="1">
                <a:solidFill>
                  <a:srgbClr val="0070C0"/>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a:t>
            </a:r>
            <a:endParaRPr lang="zh-CN" altLang="en-US" dirty="0"/>
          </a:p>
        </p:txBody>
      </p:sp>
      <p:sp>
        <p:nvSpPr>
          <p:cNvPr id="10"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600">
        <p:random/>
      </p:transition>
    </mc:Choice>
    <mc:Fallback>
      <p:transition spd="med">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843558"/>
            <a:ext cx="8352928" cy="3600400"/>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00">
        <p:random/>
      </p:transition>
    </mc:Choice>
    <mc:Fallback>
      <p:transition spd="med">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357686" y="214296"/>
            <a:ext cx="4606927" cy="480131"/>
          </a:xfrm>
          <a:prstGeom prst="rect">
            <a:avLst/>
          </a:prstGeom>
          <a:solidFill>
            <a:schemeClr val="bg1"/>
          </a:solidFill>
        </p:spPr>
        <p:txBody>
          <a:bodyPr>
            <a:spAutoFit/>
          </a:bodyPr>
          <a:lstStyle>
            <a:lvl1pPr>
              <a:defRPr sz="2800" b="1">
                <a:solidFill>
                  <a:schemeClr val="tx2">
                    <a:lumMod val="50000"/>
                  </a:schemeClr>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784254" y="910817"/>
            <a:ext cx="7645398" cy="3857652"/>
          </a:xfrm>
          <a:prstGeom prst="rect">
            <a:avLst/>
          </a:prstGeom>
        </p:spPr>
        <p:txBody>
          <a:bodyPr/>
          <a:lstStyle>
            <a:lvl1pPr>
              <a:buSzPct val="100000"/>
              <a:buFont typeface="Wingdings" panose="05000000000000000000" pitchFamily="2" charset="2"/>
              <a:buChar char="n"/>
              <a:defRPr b="1">
                <a:latin typeface="+mn-lt"/>
              </a:defRPr>
            </a:lvl1pPr>
            <a:lvl2pPr>
              <a:buSzPct val="100000"/>
              <a:buFont typeface="Wingdings" panose="05000000000000000000" pitchFamily="2" charset="2"/>
              <a:buChar char="u"/>
              <a:defRPr b="1">
                <a:latin typeface="+mn-lt"/>
              </a:defRPr>
            </a:lvl2pPr>
            <a:lvl3pPr>
              <a:buClr>
                <a:srgbClr val="0E9CDE"/>
              </a:buClr>
              <a:buSzPct val="85000"/>
              <a:buFont typeface="Wingdings" panose="05000000000000000000" pitchFamily="2" charset="2"/>
              <a:buChar char="Ø"/>
              <a:defRPr b="1">
                <a:latin typeface="+mn-lt"/>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5"/>
          <p:cNvSpPr>
            <a:spLocks noGrp="1"/>
          </p:cNvSpPr>
          <p:nvPr>
            <p:ph type="sldNum" sz="quarter" idx="10"/>
          </p:nvPr>
        </p:nvSpPr>
        <p:spPr>
          <a:xfrm>
            <a:off x="6938963" y="4816079"/>
            <a:ext cx="2133600" cy="273844"/>
          </a:xfrm>
          <a:prstGeom prst="rect">
            <a:avLst/>
          </a:prstGeom>
        </p:spPr>
        <p:txBody>
          <a:bodyPr/>
          <a:lstStyle>
            <a:lvl1pPr>
              <a:defRPr/>
            </a:lvl1pPr>
          </a:lstStyle>
          <a:p>
            <a:pPr>
              <a:defRPr/>
            </a:pPr>
            <a:fld id="{B6F2B5F8-CE0A-4CE3-86F1-76C2246F4BA3}" type="slidenum">
              <a:rPr lang="zh-CN" altLang="en-US" smtClean="0"/>
            </a:fld>
            <a:r>
              <a:rPr lang="en-US" altLang="zh-CN" dirty="0"/>
              <a:t>/39</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00">
        <p:random/>
      </p:transition>
    </mc:Choice>
    <mc:Fallback>
      <p:transition spd="med">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不带方块的">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179512" y="771550"/>
            <a:ext cx="8640960" cy="3744416"/>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600">
        <p:random/>
      </p:transition>
    </mc:Choice>
    <mc:Fallback>
      <p:transition spd="med">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带方块的">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203598"/>
            <a:ext cx="8352928" cy="3137572"/>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副标题 2"/>
          <p:cNvSpPr>
            <a:spLocks noGrp="1"/>
          </p:cNvSpPr>
          <p:nvPr>
            <p:ph type="subTitle" idx="10" hasCustomPrompt="1"/>
          </p:nvPr>
        </p:nvSpPr>
        <p:spPr>
          <a:xfrm>
            <a:off x="467544" y="771550"/>
            <a:ext cx="7488832" cy="360040"/>
          </a:xfrm>
          <a:prstGeom prst="rect">
            <a:avLst/>
          </a:prstGeom>
        </p:spPr>
        <p:txBody>
          <a:bodyPr/>
          <a:lstStyle>
            <a:lvl1pPr marL="0" indent="0" algn="l">
              <a:buNone/>
              <a:defRPr sz="1600" b="1">
                <a:solidFill>
                  <a:srgbClr val="0070C0"/>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a:t>
            </a:r>
            <a:endParaRPr lang="zh-CN" altLang="en-US" dirty="0"/>
          </a:p>
        </p:txBody>
      </p:sp>
      <p:sp>
        <p:nvSpPr>
          <p:cNvPr id="10"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600">
        <p:random/>
      </p:transition>
    </mc:Choice>
    <mc:Fallback>
      <p:transition spd="med">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5.png"/><Relationship Id="rId10" Type="http://schemas.microsoft.com/office/2007/relationships/hdphoto" Target="../media/image4.wdp"/><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图片 3"/>
          <p:cNvPicPr>
            <a:picLocks noChangeAspect="1" noChangeArrowheads="1"/>
          </p:cNvPicPr>
          <p:nvPr userDrawn="1"/>
        </p:nvPicPr>
        <p:blipFill>
          <a:blip r:embed="rId9" cstate="print">
            <a:extLst>
              <a:ext uri="{BEBA8EAE-BF5A-486C-A8C5-ECC9F3942E4B}">
                <a14:imgProps xmlns:a14="http://schemas.microsoft.com/office/drawing/2010/main">
                  <a14:imgLayer r:embed="rId10">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矩形 17"/>
          <p:cNvSpPr>
            <a:spLocks noChangeArrowheads="1"/>
          </p:cNvSpPr>
          <p:nvPr userDrawn="1"/>
        </p:nvSpPr>
        <p:spPr bwMode="auto">
          <a:xfrm>
            <a:off x="8623697" y="4693446"/>
            <a:ext cx="52268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28" name="矩形 31"/>
          <p:cNvSpPr>
            <a:spLocks noChangeArrowheads="1"/>
          </p:cNvSpPr>
          <p:nvPr userDrawn="1"/>
        </p:nvSpPr>
        <p:spPr bwMode="auto">
          <a:xfrm flipV="1">
            <a:off x="3" y="555526"/>
            <a:ext cx="9146381" cy="41126"/>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29" name="TextBox 15"/>
          <p:cNvSpPr>
            <a:spLocks noChangeArrowheads="1"/>
          </p:cNvSpPr>
          <p:nvPr userDrawn="1"/>
        </p:nvSpPr>
        <p:spPr bwMode="auto">
          <a:xfrm>
            <a:off x="8792769" y="4731544"/>
            <a:ext cx="4716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0D41CE8-2465-49E5-8469-C528E9CDFDF7}" type="slidenum">
              <a:rPr lang="zh-CN" altLang="en-US" sz="1600">
                <a:solidFill>
                  <a:schemeClr val="bg1"/>
                </a:solidFill>
                <a:latin typeface="Calibri" panose="020F0502020204030204" pitchFamily="34" charset="0"/>
                <a:sym typeface="宋体" panose="02010600030101010101" pitchFamily="2" charset="-122"/>
              </a:rPr>
            </a:fld>
            <a:r>
              <a:rPr lang="zh-CN" altLang="en-US" sz="1600">
                <a:solidFill>
                  <a:schemeClr val="bg1"/>
                </a:solidFill>
                <a:latin typeface="Calibri" panose="020F0502020204030204" pitchFamily="34" charset="0"/>
                <a:sym typeface="宋体" panose="02010600030101010101" pitchFamily="2" charset="-122"/>
              </a:rPr>
              <a:t> </a:t>
            </a:r>
            <a:endParaRPr lang="zh-CN" altLang="en-US"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9" name="图片 3"/>
          <p:cNvPicPr>
            <a:picLocks noChangeAspect="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7504" y="88438"/>
            <a:ext cx="1547664" cy="395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spd="med" p14:dur="600">
        <p:random/>
      </p:transition>
    </mc:Choice>
    <mc:Fallback>
      <p:transition spd="med">
        <p:random/>
      </p:transition>
    </mc:Fallback>
  </mc:AlternateContent>
  <p:txStyles>
    <p:titleStyle>
      <a:lvl1pPr marL="913130" indent="-913130" algn="l" rtl="0" eaLnBrk="0" fontAlgn="base" hangingPunct="0">
        <a:lnSpc>
          <a:spcPct val="90000"/>
        </a:lnSpc>
        <a:spcBef>
          <a:spcPct val="0"/>
        </a:spcBef>
        <a:spcAft>
          <a:spcPct val="0"/>
        </a:spcAft>
        <a:defRPr sz="4400" kern="1200">
          <a:solidFill>
            <a:schemeClr val="tx1"/>
          </a:solidFill>
          <a:latin typeface="+mj-lt"/>
          <a:ea typeface="+mj-ea"/>
          <a:cs typeface="+mj-cs"/>
          <a:sym typeface="Browallia New" panose="020B0604020202020204" charset="0"/>
        </a:defRPr>
      </a:lvl1pPr>
      <a:lvl2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p:titleStyle>
    <p:bodyStyle>
      <a:lvl1pPr marL="22733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1pPr>
      <a:lvl2pPr marL="68453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2pPr>
      <a:lvl3pPr marL="114173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3pPr>
      <a:lvl4pPr marL="159893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pitchFamily="34" charset="0"/>
        </a:defRPr>
      </a:lvl4pPr>
      <a:lvl5pPr marL="205613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pitchFamily="34" charset="0"/>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5.xml"/><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5.xml"/><Relationship Id="rId4" Type="http://schemas.openxmlformats.org/officeDocument/2006/relationships/image" Target="../media/image15.jpeg"/><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5.xml"/><Relationship Id="rId2" Type="http://schemas.openxmlformats.org/officeDocument/2006/relationships/image" Target="../media/image17.pn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5.xml"/><Relationship Id="rId3" Type="http://schemas.openxmlformats.org/officeDocument/2006/relationships/image" Target="../media/image23.png"/><Relationship Id="rId2" Type="http://schemas.openxmlformats.org/officeDocument/2006/relationships/image" Target="../media/image22.wmf"/><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4.xml"/><Relationship Id="rId2" Type="http://schemas.openxmlformats.org/officeDocument/2006/relationships/image" Target="../media/image26.png"/><Relationship Id="rId1"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8.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32.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第四</a:t>
            </a:r>
            <a:r>
              <a:rPr lang="zh-CN" altLang="en-US"/>
              <a:t>单元 </a:t>
            </a:r>
            <a:endParaRPr lang="zh-CN" altLang="en-US"/>
          </a:p>
        </p:txBody>
      </p:sp>
      <p:sp>
        <p:nvSpPr>
          <p:cNvPr id="3" name="副标题 2"/>
          <p:cNvSpPr>
            <a:spLocks noGrp="1"/>
          </p:cNvSpPr>
          <p:nvPr>
            <p:ph type="subTitle" idx="1"/>
          </p:nvPr>
        </p:nvSpPr>
        <p:spPr/>
        <p:txBody>
          <a:bodyPr/>
          <a:lstStyle/>
          <a:p>
            <a:r>
              <a:rPr lang="zh-CN" altLang="en-US">
                <a:sym typeface="+mn-ea"/>
              </a:rPr>
              <a:t>字符串</a:t>
            </a:r>
            <a:r>
              <a:rPr lang="en-US" altLang="zh-CN">
                <a:sym typeface="+mn-ea"/>
              </a:rPr>
              <a:t>1</a:t>
            </a:r>
            <a:endParaRPr lang="en-US" altLang="zh-CN" dirty="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第一节课</a:t>
            </a:r>
            <a:endParaRPr lang="zh-CN" altLang="en-US"/>
          </a:p>
        </p:txBody>
      </p:sp>
      <p:sp>
        <p:nvSpPr>
          <p:cNvPr id="3" name="文本框 2"/>
          <p:cNvSpPr txBox="1"/>
          <p:nvPr/>
        </p:nvSpPr>
        <p:spPr>
          <a:xfrm>
            <a:off x="2846070" y="2355850"/>
            <a:ext cx="3225165" cy="583565"/>
          </a:xfrm>
          <a:prstGeom prst="rect">
            <a:avLst/>
          </a:prstGeom>
          <a:noFill/>
        </p:spPr>
        <p:txBody>
          <a:bodyPr wrap="square" rtlCol="0">
            <a:spAutoFit/>
          </a:bodyPr>
          <a:lstStyle/>
          <a:p>
            <a:r>
              <a:rPr lang="zh-CN" altLang="en-US" sz="3200" b="1"/>
              <a:t>序列</a:t>
            </a:r>
            <a:endParaRPr lang="zh-CN" altLang="en-US" sz="3200" b="1"/>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回顾</a:t>
            </a:r>
            <a:endParaRPr lang="zh-CN" altLang="en-US" dirty="0"/>
          </a:p>
        </p:txBody>
      </p:sp>
      <p:sp>
        <p:nvSpPr>
          <p:cNvPr id="3" name="内容占位符 2"/>
          <p:cNvSpPr>
            <a:spLocks noGrp="1"/>
          </p:cNvSpPr>
          <p:nvPr>
            <p:ph idx="1"/>
          </p:nvPr>
        </p:nvSpPr>
        <p:spPr>
          <a:xfrm>
            <a:off x="467544" y="1275606"/>
            <a:ext cx="8064896" cy="3353596"/>
          </a:xfrm>
        </p:spPr>
        <p:txBody>
          <a:bodyPr/>
          <a:lstStyle/>
          <a:p>
            <a:r>
              <a:rPr lang="zh-CN" altLang="en-US" dirty="0"/>
              <a:t>请简述什么是循环结构</a:t>
            </a:r>
            <a:endParaRPr lang="zh-CN" altLang="en-US" dirty="0"/>
          </a:p>
          <a:p>
            <a:r>
              <a:rPr lang="zh-CN" altLang="en-US" dirty="0"/>
              <a:t>Python中有哪两种循环</a:t>
            </a:r>
            <a:endParaRPr lang="zh-CN" altLang="en-US" dirty="0">
              <a:sym typeface="+mn-ea"/>
            </a:endParaRPr>
          </a:p>
          <a:p>
            <a:r>
              <a:rPr lang="zh-CN" altLang="en-US" dirty="0">
                <a:sym typeface="+mn-ea"/>
              </a:rPr>
              <a:t>请简述三种程序结构</a:t>
            </a:r>
            <a:endParaRPr lang="zh-CN" altLang="en-US" dirty="0">
              <a:sym typeface="+mn-ea"/>
            </a:endParaRPr>
          </a:p>
          <a:p>
            <a:r>
              <a:rPr lang="zh-CN" altLang="en-US" sz="2000" b="0" dirty="0">
                <a:latin typeface="+mn-ea"/>
                <a:ea typeface="+mn-ea"/>
              </a:rPr>
              <a:t>简述if选择语句结构</a:t>
            </a:r>
            <a:endParaRPr lang="zh-CN" altLang="en-US" sz="2000" b="0" dirty="0">
              <a:latin typeface="+mn-ea"/>
              <a:ea typeface="+mn-ea"/>
            </a:endParaRPr>
          </a:p>
        </p:txBody>
      </p:sp>
      <p:sp>
        <p:nvSpPr>
          <p:cNvPr id="9" name="TextBox 8"/>
          <p:cNvSpPr txBox="1"/>
          <p:nvPr/>
        </p:nvSpPr>
        <p:spPr>
          <a:xfrm>
            <a:off x="539552" y="771550"/>
            <a:ext cx="1728192" cy="338554"/>
          </a:xfrm>
          <a:prstGeom prst="rect">
            <a:avLst/>
          </a:prstGeom>
          <a:noFill/>
        </p:spPr>
        <p:txBody>
          <a:bodyPr wrap="square" rtlCol="0">
            <a:spAutoFit/>
          </a:bodyPr>
          <a:lstStyle/>
          <a:p>
            <a:pPr algn="l"/>
            <a:r>
              <a:rPr lang="zh-CN" altLang="en-US" sz="1600" b="1" dirty="0">
                <a:solidFill>
                  <a:srgbClr val="0070C0"/>
                </a:solidFill>
                <a:latin typeface="+mj-ea"/>
                <a:ea typeface="+mj-ea"/>
              </a:rPr>
              <a:t>现场提问</a:t>
            </a:r>
            <a:endParaRPr lang="zh-CN" altLang="en-US" sz="1600" b="1" dirty="0">
              <a:solidFill>
                <a:srgbClr val="0070C0"/>
              </a:solidFill>
              <a:latin typeface="+mj-ea"/>
              <a:ea typeface="+mj-ea"/>
            </a:endParaRPr>
          </a:p>
        </p:txBody>
      </p:sp>
      <p:pic>
        <p:nvPicPr>
          <p:cNvPr id="12" name="图片 11" descr="现场提问3.png"/>
          <p:cNvPicPr>
            <a:picLocks noChangeAspect="1"/>
          </p:cNvPicPr>
          <p:nvPr/>
        </p:nvPicPr>
        <p:blipFill>
          <a:blip r:embed="rId1" cstate="print"/>
          <a:stretch>
            <a:fillRect/>
          </a:stretch>
        </p:blipFill>
        <p:spPr>
          <a:xfrm>
            <a:off x="179512" y="723157"/>
            <a:ext cx="405385" cy="408433"/>
          </a:xfrm>
          <a:prstGeom prst="rect">
            <a:avLst/>
          </a:prstGeom>
          <a:noFill/>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6946" name="Rectangle 18"/>
          <p:cNvSpPr>
            <a:spLocks noGrp="1" noChangeArrowheads="1"/>
          </p:cNvSpPr>
          <p:nvPr>
            <p:ph type="title"/>
          </p:nvPr>
        </p:nvSpPr>
        <p:spPr bwMode="auto">
          <a:xfrm>
            <a:off x="4067947" y="106869"/>
            <a:ext cx="4896669" cy="369332"/>
          </a:xfrm>
          <a:noFill/>
          <a:ln cap="flat" algn="ctr">
            <a:miter lim="800000"/>
          </a:ln>
        </p:spPr>
        <p:txBody>
          <a:bodyPr vert="horz" wrap="square" lIns="91440" tIns="45720" rIns="91440" bIns="45720" numCol="1" anchor="ctr" anchorCtr="0" compatLnSpc="1"/>
          <a:lstStyle/>
          <a:p>
            <a:r>
              <a:rPr lang="zh-CN" altLang="en-US" dirty="0"/>
              <a:t>回顾</a:t>
            </a:r>
            <a:endParaRPr lang="zh-CN" altLang="en-US" dirty="0"/>
          </a:p>
        </p:txBody>
      </p:sp>
      <p:sp>
        <p:nvSpPr>
          <p:cNvPr id="636932" name="AutoShape 4"/>
          <p:cNvSpPr>
            <a:spLocks noChangeArrowheads="1"/>
          </p:cNvSpPr>
          <p:nvPr/>
        </p:nvSpPr>
        <p:spPr bwMode="auto">
          <a:xfrm>
            <a:off x="1602740" y="1454150"/>
            <a:ext cx="2018030" cy="737273"/>
          </a:xfrm>
          <a:prstGeom prst="roundRect">
            <a:avLst>
              <a:gd name="adj" fmla="val 9"/>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indent="-224155" algn="l" defTabSz="381000">
              <a:lnSpc>
                <a:spcPct val="150000"/>
              </a:lnSpc>
              <a:buClr>
                <a:schemeClr val="folHlink"/>
              </a:buClr>
              <a:buSzPct val="60000"/>
              <a:defRPr/>
            </a:pPr>
            <a:r>
              <a:rPr lang="en-US" altLang="zh-CN" sz="1400" dirty="0">
                <a:solidFill>
                  <a:schemeClr val="tx1">
                    <a:lumMod val="75000"/>
                    <a:lumOff val="25000"/>
                  </a:schemeClr>
                </a:solidFill>
                <a:latin typeface="+mn-ea"/>
                <a:ea typeface="+mn-ea"/>
              </a:rPr>
              <a:t>for i in range(5):</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defRPr/>
            </a:pPr>
            <a:r>
              <a:rPr lang="en-US" altLang="zh-CN" sz="1400" dirty="0">
                <a:solidFill>
                  <a:schemeClr val="tx1">
                    <a:lumMod val="75000"/>
                    <a:lumOff val="25000"/>
                  </a:schemeClr>
                </a:solidFill>
                <a:latin typeface="+mn-ea"/>
                <a:ea typeface="+mn-ea"/>
              </a:rPr>
              <a:t>	print(“hello”)</a:t>
            </a:r>
            <a:endParaRPr lang="en-US" altLang="zh-CN" sz="1400" dirty="0">
              <a:solidFill>
                <a:schemeClr val="tx1">
                  <a:lumMod val="75000"/>
                  <a:lumOff val="25000"/>
                </a:schemeClr>
              </a:solidFill>
              <a:latin typeface="+mn-ea"/>
              <a:ea typeface="+mn-ea"/>
            </a:endParaRPr>
          </a:p>
        </p:txBody>
      </p:sp>
      <p:sp>
        <p:nvSpPr>
          <p:cNvPr id="2" name="AutoShape 4"/>
          <p:cNvSpPr>
            <a:spLocks noChangeArrowheads="1"/>
          </p:cNvSpPr>
          <p:nvPr/>
        </p:nvSpPr>
        <p:spPr bwMode="auto">
          <a:xfrm>
            <a:off x="1590675" y="3011170"/>
            <a:ext cx="2030095" cy="737273"/>
          </a:xfrm>
          <a:prstGeom prst="roundRect">
            <a:avLst>
              <a:gd name="adj" fmla="val 9"/>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indent="-224155" algn="l" defTabSz="381000">
              <a:lnSpc>
                <a:spcPct val="150000"/>
              </a:lnSpc>
              <a:buClr>
                <a:schemeClr val="folHlink"/>
              </a:buClr>
              <a:buSzPct val="60000"/>
              <a:defRPr/>
            </a:pPr>
            <a:r>
              <a:rPr lang="en-US" altLang="zh-CN" sz="1400" dirty="0">
                <a:solidFill>
                  <a:schemeClr val="tx1">
                    <a:lumMod val="75000"/>
                    <a:lumOff val="25000"/>
                  </a:schemeClr>
                </a:solidFill>
                <a:latin typeface="+mn-ea"/>
                <a:ea typeface="+mn-ea"/>
              </a:rPr>
              <a:t>while  True:</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defRPr/>
            </a:pPr>
            <a:r>
              <a:rPr lang="en-US" altLang="zh-CN" sz="1400" dirty="0">
                <a:solidFill>
                  <a:schemeClr val="tx1">
                    <a:lumMod val="75000"/>
                    <a:lumOff val="25000"/>
                  </a:schemeClr>
                </a:solidFill>
                <a:latin typeface="+mn-ea"/>
                <a:ea typeface="+mn-ea"/>
              </a:rPr>
              <a:t>	print(“hello”)</a:t>
            </a:r>
            <a:endParaRPr lang="en-US" altLang="zh-CN" sz="1400" dirty="0">
              <a:solidFill>
                <a:schemeClr val="tx1">
                  <a:lumMod val="75000"/>
                  <a:lumOff val="25000"/>
                </a:schemeClr>
              </a:solidFill>
              <a:latin typeface="+mn-ea"/>
              <a:ea typeface="+mn-ea"/>
            </a:endParaRPr>
          </a:p>
        </p:txBody>
      </p:sp>
      <p:sp>
        <p:nvSpPr>
          <p:cNvPr id="3" name="AutoShape 4"/>
          <p:cNvSpPr>
            <a:spLocks noChangeArrowheads="1"/>
          </p:cNvSpPr>
          <p:nvPr/>
        </p:nvSpPr>
        <p:spPr bwMode="auto">
          <a:xfrm>
            <a:off x="4250055" y="1454150"/>
            <a:ext cx="3168015" cy="2353434"/>
          </a:xfrm>
          <a:prstGeom prst="roundRect">
            <a:avLst>
              <a:gd name="adj" fmla="val 9"/>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indent="-224155" algn="l" defTabSz="381000">
              <a:lnSpc>
                <a:spcPct val="150000"/>
              </a:lnSpc>
              <a:buClr>
                <a:schemeClr val="folHlink"/>
              </a:buClr>
              <a:buSzPct val="60000"/>
              <a:defRPr/>
            </a:pPr>
            <a:r>
              <a:rPr lang="en-US" altLang="zh-CN" sz="1400" dirty="0">
                <a:solidFill>
                  <a:schemeClr val="tx1">
                    <a:lumMod val="75000"/>
                    <a:lumOff val="25000"/>
                  </a:schemeClr>
                </a:solidFill>
                <a:latin typeface="+mn-ea"/>
                <a:ea typeface="+mn-ea"/>
              </a:rPr>
              <a:t>a = input(“</a:t>
            </a:r>
            <a:r>
              <a:rPr lang="zh-CN" altLang="en-US" sz="1400" dirty="0">
                <a:solidFill>
                  <a:schemeClr val="tx1">
                    <a:lumMod val="75000"/>
                    <a:lumOff val="25000"/>
                  </a:schemeClr>
                </a:solidFill>
                <a:latin typeface="+mn-ea"/>
                <a:ea typeface="+mn-ea"/>
              </a:rPr>
              <a:t>请输入你的成绩：</a:t>
            </a:r>
            <a:r>
              <a:rPr lang="en-US" altLang="zh-CN" sz="1400" dirty="0">
                <a:solidFill>
                  <a:schemeClr val="tx1">
                    <a:lumMod val="75000"/>
                    <a:lumOff val="25000"/>
                  </a:schemeClr>
                </a:solidFill>
                <a:latin typeface="+mn-ea"/>
                <a:ea typeface="+mn-ea"/>
              </a:rPr>
              <a:t>”)</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defRPr/>
            </a:pPr>
            <a:r>
              <a:rPr lang="en-US" altLang="zh-CN" sz="1400" dirty="0">
                <a:solidFill>
                  <a:schemeClr val="tx1">
                    <a:lumMod val="75000"/>
                    <a:lumOff val="25000"/>
                  </a:schemeClr>
                </a:solidFill>
                <a:latin typeface="+mn-ea"/>
                <a:ea typeface="+mn-ea"/>
              </a:rPr>
              <a:t>if  90&lt;=a &lt;= 100:</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defRPr/>
            </a:pPr>
            <a:r>
              <a:rPr lang="en-US" altLang="zh-CN" sz="1400" dirty="0">
                <a:solidFill>
                  <a:schemeClr val="tx1">
                    <a:lumMod val="75000"/>
                    <a:lumOff val="25000"/>
                  </a:schemeClr>
                </a:solidFill>
                <a:latin typeface="+mn-ea"/>
                <a:ea typeface="+mn-ea"/>
              </a:rPr>
              <a:t>	print(“</a:t>
            </a:r>
            <a:r>
              <a:rPr lang="zh-CN" altLang="en-US" sz="1400" dirty="0">
                <a:solidFill>
                  <a:schemeClr val="tx1">
                    <a:lumMod val="75000"/>
                    <a:lumOff val="25000"/>
                  </a:schemeClr>
                </a:solidFill>
                <a:latin typeface="+mn-ea"/>
                <a:ea typeface="+mn-ea"/>
              </a:rPr>
              <a:t>恭喜考试及格</a:t>
            </a:r>
            <a:r>
              <a:rPr lang="en-US" altLang="zh-CN" sz="1400" dirty="0">
                <a:solidFill>
                  <a:schemeClr val="tx1">
                    <a:lumMod val="75000"/>
                    <a:lumOff val="25000"/>
                  </a:schemeClr>
                </a:solidFill>
                <a:latin typeface="+mn-ea"/>
                <a:ea typeface="+mn-ea"/>
              </a:rPr>
              <a:t>”)</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defRPr/>
            </a:pPr>
            <a:r>
              <a:rPr lang="en-US" altLang="zh-CN" sz="1400" dirty="0">
                <a:solidFill>
                  <a:schemeClr val="tx1">
                    <a:lumMod val="75000"/>
                    <a:lumOff val="25000"/>
                  </a:schemeClr>
                </a:solidFill>
                <a:latin typeface="+mn-ea"/>
                <a:ea typeface="+mn-ea"/>
              </a:rPr>
              <a:t>elif 80 &lt;= a &lt; 90:</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defRPr/>
            </a:pPr>
            <a:r>
              <a:rPr lang="en-US" altLang="zh-CN" sz="1400" dirty="0">
                <a:solidFill>
                  <a:schemeClr val="tx1">
                    <a:lumMod val="75000"/>
                    <a:lumOff val="25000"/>
                  </a:schemeClr>
                </a:solidFill>
                <a:latin typeface="+mn-ea"/>
                <a:ea typeface="+mn-ea"/>
              </a:rPr>
              <a:t>	print(“</a:t>
            </a:r>
            <a:r>
              <a:rPr lang="zh-CN" altLang="en-US" sz="1400" dirty="0">
                <a:solidFill>
                  <a:schemeClr val="tx1">
                    <a:lumMod val="75000"/>
                    <a:lumOff val="25000"/>
                  </a:schemeClr>
                </a:solidFill>
                <a:latin typeface="+mn-ea"/>
                <a:ea typeface="+mn-ea"/>
              </a:rPr>
              <a:t>继续努力，加油</a:t>
            </a:r>
            <a:r>
              <a:rPr lang="en-US" altLang="zh-CN" sz="1400" dirty="0">
                <a:solidFill>
                  <a:schemeClr val="tx1">
                    <a:lumMod val="75000"/>
                    <a:lumOff val="25000"/>
                  </a:schemeClr>
                </a:solidFill>
                <a:latin typeface="+mn-ea"/>
                <a:ea typeface="+mn-ea"/>
              </a:rPr>
              <a:t>”)</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defRPr/>
            </a:pPr>
            <a:r>
              <a:rPr lang="en-US" altLang="zh-CN" sz="1400" dirty="0">
                <a:solidFill>
                  <a:schemeClr val="tx1">
                    <a:lumMod val="75000"/>
                    <a:lumOff val="25000"/>
                  </a:schemeClr>
                </a:solidFill>
                <a:latin typeface="+mn-ea"/>
                <a:ea typeface="+mn-ea"/>
              </a:rPr>
              <a:t>else</a:t>
            </a:r>
            <a:r>
              <a:rPr lang="zh-CN" altLang="en-US" sz="1400" dirty="0">
                <a:solidFill>
                  <a:schemeClr val="tx1">
                    <a:lumMod val="75000"/>
                    <a:lumOff val="25000"/>
                  </a:schemeClr>
                </a:solidFill>
                <a:latin typeface="+mn-ea"/>
                <a:ea typeface="+mn-ea"/>
              </a:rPr>
              <a:t>：</a:t>
            </a:r>
            <a:endParaRPr lang="zh-CN" altLang="en-US"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defRPr/>
            </a:pPr>
            <a:r>
              <a:rPr lang="en-US" altLang="zh-CN" sz="1400" dirty="0">
                <a:solidFill>
                  <a:schemeClr val="tx1">
                    <a:lumMod val="75000"/>
                    <a:lumOff val="25000"/>
                  </a:schemeClr>
                </a:solidFill>
                <a:latin typeface="+mn-ea"/>
                <a:ea typeface="+mn-ea"/>
              </a:rPr>
              <a:t>	print(“</a:t>
            </a:r>
            <a:r>
              <a:rPr lang="zh-CN" altLang="en-US" sz="1400" dirty="0">
                <a:solidFill>
                  <a:schemeClr val="tx1">
                    <a:lumMod val="75000"/>
                    <a:lumOff val="25000"/>
                  </a:schemeClr>
                </a:solidFill>
                <a:latin typeface="+mn-ea"/>
                <a:ea typeface="+mn-ea"/>
              </a:rPr>
              <a:t>成绩不及格，努力吧</a:t>
            </a:r>
            <a:r>
              <a:rPr lang="en-US" altLang="zh-CN" sz="1400" dirty="0">
                <a:solidFill>
                  <a:schemeClr val="tx1">
                    <a:lumMod val="75000"/>
                    <a:lumOff val="25000"/>
                  </a:schemeClr>
                </a:solidFill>
                <a:latin typeface="+mn-ea"/>
                <a:ea typeface="+mn-ea"/>
              </a:rPr>
              <a:t>”)</a:t>
            </a:r>
            <a:endParaRPr lang="en-US" altLang="zh-CN" sz="1400" dirty="0">
              <a:solidFill>
                <a:schemeClr val="tx1">
                  <a:lumMod val="75000"/>
                  <a:lumOff val="25000"/>
                </a:schemeClr>
              </a:solidFill>
              <a:latin typeface="+mn-ea"/>
              <a:ea typeface="+mn-ea"/>
            </a:endParaRPr>
          </a:p>
        </p:txBody>
      </p:sp>
    </p:spTree>
  </p:cSld>
  <p:clrMapOvr>
    <a:overrideClrMapping bg1="lt1" tx1="dk1" bg2="lt2" tx2="dk2" accent1="accent1" accent2="accent2" accent3="accent3" accent4="accent4" accent5="accent5" accent6="accent6" hlink="hlink" folHlink="folHlink"/>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636932"/>
                                        </p:tgtEl>
                                        <p:attrNameLst>
                                          <p:attrName>style.visibility</p:attrName>
                                        </p:attrNameLst>
                                      </p:cBhvr>
                                      <p:to>
                                        <p:strVal val="visible"/>
                                      </p:to>
                                    </p:set>
                                    <p:animEffect transition="in" filter="strips(downLeft)">
                                      <p:cBhvr>
                                        <p:cTn id="7" dur="500"/>
                                        <p:tgtEl>
                                          <p:spTgt spid="63693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heel(1)">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932" grpId="0" bldLvl="0" animBg="1"/>
      <p:bldP spid="2" grpId="0" bldLvl="0" animBg="1"/>
      <p:bldP spid="3"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2195739" y="141998"/>
            <a:ext cx="6768877" cy="368300"/>
          </a:xfrm>
        </p:spPr>
        <p:txBody>
          <a:bodyPr anchor="ctr"/>
          <a:lstStyle/>
          <a:p>
            <a:r>
              <a:rPr lang="zh-CN" altLang="en-US" dirty="0"/>
              <a:t>贯穿案例</a:t>
            </a:r>
            <a:endParaRPr lang="zh-CN" altLang="en-US" dirty="0"/>
          </a:p>
        </p:txBody>
      </p:sp>
      <p:sp>
        <p:nvSpPr>
          <p:cNvPr id="17411" name="内容占位符 2"/>
          <p:cNvSpPr>
            <a:spLocks noGrp="1"/>
          </p:cNvSpPr>
          <p:nvPr>
            <p:ph idx="1"/>
          </p:nvPr>
        </p:nvSpPr>
        <p:spPr>
          <a:xfrm>
            <a:off x="311785" y="690880"/>
            <a:ext cx="8364220" cy="3752850"/>
          </a:xfrm>
        </p:spPr>
        <p:txBody>
          <a:bodyPr/>
          <a:lstStyle/>
          <a:p>
            <a:pPr marL="0" indent="0">
              <a:buNone/>
            </a:pPr>
            <a:r>
              <a:rPr lang="zh-CN" altLang="en-US" sz="2000" dirty="0">
                <a:solidFill>
                  <a:schemeClr val="tx1"/>
                </a:solidFill>
                <a:effectLst>
                  <a:outerShdw blurRad="38100" dist="25400" dir="5400000" algn="ctr" rotWithShape="0">
                    <a:srgbClr val="6E747A">
                      <a:alpha val="43000"/>
                    </a:srgbClr>
                  </a:outerShdw>
                </a:effectLst>
              </a:rPr>
              <a:t>需求说明：</a:t>
            </a:r>
            <a:r>
              <a:rPr lang="zh-CN" altLang="en-US" dirty="0">
                <a:solidFill>
                  <a:schemeClr val="tx1"/>
                </a:solidFill>
                <a:effectLst>
                  <a:outerShdw blurRad="38100" dist="25400" dir="5400000" algn="ctr" rotWithShape="0">
                    <a:srgbClr val="6E747A">
                      <a:alpha val="43000"/>
                    </a:srgbClr>
                  </a:outerShdw>
                </a:effectLst>
                <a:sym typeface="+mn-ea"/>
              </a:rPr>
              <a:t>循环输入</a:t>
            </a:r>
            <a:r>
              <a:rPr lang="en-US" altLang="zh-CN" dirty="0">
                <a:solidFill>
                  <a:schemeClr val="tx1"/>
                </a:solidFill>
                <a:effectLst>
                  <a:outerShdw blurRad="38100" dist="25400" dir="5400000" algn="ctr" rotWithShape="0">
                    <a:srgbClr val="6E747A">
                      <a:alpha val="43000"/>
                    </a:srgbClr>
                  </a:outerShdw>
                </a:effectLst>
                <a:sym typeface="+mn-ea"/>
              </a:rPr>
              <a:t>10</a:t>
            </a:r>
            <a:r>
              <a:rPr lang="zh-CN" altLang="en-US" dirty="0">
                <a:solidFill>
                  <a:schemeClr val="tx1"/>
                </a:solidFill>
                <a:effectLst>
                  <a:outerShdw blurRad="38100" dist="25400" dir="5400000" algn="ctr" rotWithShape="0">
                    <a:srgbClr val="6E747A">
                      <a:alpha val="43000"/>
                    </a:srgbClr>
                  </a:outerShdw>
                </a:effectLst>
                <a:sym typeface="+mn-ea"/>
              </a:rPr>
              <a:t>个学生成绩，求最大值，最小值，平均值。</a:t>
            </a:r>
            <a:endParaRPr lang="zh-CN" altLang="en-US" dirty="0">
              <a:solidFill>
                <a:schemeClr val="tx1"/>
              </a:solidFill>
              <a:effectLst>
                <a:outerShdw blurRad="38100" dist="25400" dir="5400000" algn="ctr" rotWithShape="0">
                  <a:srgbClr val="6E747A">
                    <a:alpha val="43000"/>
                  </a:srgbClr>
                </a:outerShdw>
              </a:effectLst>
              <a:sym typeface="+mn-ea"/>
            </a:endParaRPr>
          </a:p>
          <a:p>
            <a:pPr marL="0" indent="0">
              <a:buNone/>
            </a:pPr>
            <a:endParaRPr lang="zh-CN" altLang="en-US" sz="1400" dirty="0">
              <a:solidFill>
                <a:schemeClr val="accent1"/>
              </a:solidFill>
              <a:effectLst>
                <a:outerShdw blurRad="38100" dist="25400" dir="5400000" algn="ctr" rotWithShape="0">
                  <a:srgbClr val="6E747A">
                    <a:alpha val="43000"/>
                  </a:srgbClr>
                </a:outerShdw>
              </a:effectLst>
              <a:sym typeface="+mn-ea"/>
            </a:endParaRPr>
          </a:p>
          <a:p>
            <a:pPr marL="0" indent="0">
              <a:buNone/>
            </a:pPr>
            <a:endParaRPr lang="zh-CN" altLang="en-US" sz="2000" dirty="0"/>
          </a:p>
          <a:p>
            <a:pPr marL="457200" lvl="1" algn="l">
              <a:buNone/>
            </a:pPr>
            <a:endParaRPr lang="zh-CN" altLang="en-US" sz="2000" dirty="0">
              <a:sym typeface="+mn-ea"/>
            </a:endParaRPr>
          </a:p>
        </p:txBody>
      </p:sp>
      <p:pic>
        <p:nvPicPr>
          <p:cNvPr id="2" name="图片 1" descr="]CA0]@W{0W~9O095L6DE5QP"/>
          <p:cNvPicPr>
            <a:picLocks noChangeAspect="1"/>
          </p:cNvPicPr>
          <p:nvPr/>
        </p:nvPicPr>
        <p:blipFill>
          <a:blip r:embed="rId1"/>
          <a:stretch>
            <a:fillRect/>
          </a:stretch>
        </p:blipFill>
        <p:spPr>
          <a:xfrm>
            <a:off x="2658110" y="1353185"/>
            <a:ext cx="3364230" cy="3547110"/>
          </a:xfrm>
          <a:prstGeom prst="rect">
            <a:avLst/>
          </a:prstGeom>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amond(in)">
                                      <p:cBhvr>
                                        <p:cTn id="1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2195739" y="141482"/>
            <a:ext cx="6768877" cy="368300"/>
          </a:xfrm>
        </p:spPr>
        <p:txBody>
          <a:bodyPr/>
          <a:lstStyle/>
          <a:p>
            <a:r>
              <a:rPr lang="zh-CN" altLang="en-US" dirty="0"/>
              <a:t>知识目标</a:t>
            </a:r>
            <a:endParaRPr lang="zh-CN" altLang="en-US" dirty="0"/>
          </a:p>
        </p:txBody>
      </p:sp>
      <p:pic>
        <p:nvPicPr>
          <p:cNvPr id="4" name="图片 3" descr="_6B_5EFDGWP[7$M}$V(YU]C"/>
          <p:cNvPicPr>
            <a:picLocks noChangeAspect="1"/>
          </p:cNvPicPr>
          <p:nvPr/>
        </p:nvPicPr>
        <p:blipFill>
          <a:blip r:embed="rId1"/>
          <a:stretch>
            <a:fillRect/>
          </a:stretch>
        </p:blipFill>
        <p:spPr>
          <a:xfrm>
            <a:off x="892810" y="674370"/>
            <a:ext cx="7512685" cy="4149725"/>
          </a:xfrm>
          <a:prstGeom prst="rect">
            <a:avLst/>
          </a:prstGeom>
        </p:spPr>
      </p:pic>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195739" y="141482"/>
            <a:ext cx="6768877" cy="368300"/>
          </a:xfrm>
        </p:spPr>
        <p:txBody>
          <a:bodyPr/>
          <a:lstStyle/>
          <a:p>
            <a:r>
              <a:rPr lang="zh-CN" altLang="en-US" dirty="0"/>
              <a:t>为什么使用序列</a:t>
            </a:r>
            <a:endParaRPr lang="zh-CN" altLang="en-US" dirty="0"/>
          </a:p>
        </p:txBody>
      </p:sp>
      <p:sp>
        <p:nvSpPr>
          <p:cNvPr id="11" name="Rectangle 9"/>
          <p:cNvSpPr>
            <a:spLocks noChangeArrowheads="1"/>
          </p:cNvSpPr>
          <p:nvPr/>
        </p:nvSpPr>
        <p:spPr bwMode="auto">
          <a:xfrm>
            <a:off x="4143591" y="1824775"/>
            <a:ext cx="157492" cy="355712"/>
          </a:xfrm>
          <a:prstGeom prst="rect">
            <a:avLst/>
          </a:prstGeom>
          <a:noFill/>
          <a:ln w="9525">
            <a:noFill/>
            <a:miter lim="800000"/>
          </a:ln>
          <a:effectLst>
            <a:outerShdw dist="35921" dir="2700000" algn="ctr" rotWithShape="0">
              <a:schemeClr val="bg2"/>
            </a:outerShdw>
          </a:effectLst>
        </p:spPr>
        <p:txBody>
          <a:bodyPr wrap="none" lIns="77953" tIns="38976" rIns="77953" bIns="38976" anchor="ctr">
            <a:spAutoFit/>
          </a:bodyPr>
          <a:lstStyle/>
          <a:p>
            <a:pPr>
              <a:defRPr/>
            </a:pPr>
            <a:endParaRPr lang="zh-CN" altLang="en-US"/>
          </a:p>
        </p:txBody>
      </p:sp>
      <p:sp>
        <p:nvSpPr>
          <p:cNvPr id="12" name="Rectangle 12"/>
          <p:cNvSpPr>
            <a:spLocks noChangeArrowheads="1"/>
          </p:cNvSpPr>
          <p:nvPr/>
        </p:nvSpPr>
        <p:spPr bwMode="auto">
          <a:xfrm>
            <a:off x="4143591" y="2183154"/>
            <a:ext cx="157492" cy="355712"/>
          </a:xfrm>
          <a:prstGeom prst="rect">
            <a:avLst/>
          </a:prstGeom>
          <a:noFill/>
          <a:ln w="9525">
            <a:noFill/>
            <a:miter lim="800000"/>
          </a:ln>
          <a:effectLst>
            <a:outerShdw dist="35921" dir="2700000" algn="ctr" rotWithShape="0">
              <a:schemeClr val="bg2"/>
            </a:outerShdw>
          </a:effectLst>
        </p:spPr>
        <p:txBody>
          <a:bodyPr wrap="none" lIns="77953" tIns="38976" rIns="77953" bIns="38976" anchor="ctr">
            <a:spAutoFit/>
          </a:bodyPr>
          <a:lstStyle/>
          <a:p>
            <a:pPr>
              <a:defRPr/>
            </a:pPr>
            <a:endParaRPr lang="zh-CN" altLang="en-US"/>
          </a:p>
        </p:txBody>
      </p:sp>
      <p:sp>
        <p:nvSpPr>
          <p:cNvPr id="13" name="Rectangle 13"/>
          <p:cNvSpPr>
            <a:spLocks noChangeArrowheads="1"/>
          </p:cNvSpPr>
          <p:nvPr/>
        </p:nvSpPr>
        <p:spPr bwMode="auto">
          <a:xfrm>
            <a:off x="11008" y="3314441"/>
            <a:ext cx="253609" cy="217213"/>
          </a:xfrm>
          <a:prstGeom prst="rect">
            <a:avLst/>
          </a:prstGeom>
          <a:noFill/>
          <a:ln w="9525">
            <a:noFill/>
            <a:miter lim="800000"/>
          </a:ln>
          <a:effectLst>
            <a:outerShdw dist="35921" dir="2700000" algn="ctr" rotWithShape="0">
              <a:schemeClr val="bg2"/>
            </a:outerShdw>
          </a:effectLst>
        </p:spPr>
        <p:txBody>
          <a:bodyPr wrap="none" lIns="77953" tIns="38976" rIns="77953" bIns="38976" anchor="ctr">
            <a:spAutoFit/>
          </a:bodyPr>
          <a:lstStyle/>
          <a:p>
            <a:pPr>
              <a:defRPr/>
            </a:pPr>
            <a:r>
              <a:rPr lang="en-US" sz="900" dirty="0">
                <a:cs typeface="Times New Roman" panose="02020603050405020304" pitchFamily="18" charset="0"/>
              </a:rPr>
              <a:t>   </a:t>
            </a:r>
            <a:endParaRPr lang="en-US" dirty="0">
              <a:cs typeface="Times New Roman" panose="02020603050405020304" pitchFamily="18" charset="0"/>
            </a:endParaRPr>
          </a:p>
        </p:txBody>
      </p:sp>
      <p:sp>
        <p:nvSpPr>
          <p:cNvPr id="14" name="Rectangle 14"/>
          <p:cNvSpPr>
            <a:spLocks noChangeArrowheads="1"/>
          </p:cNvSpPr>
          <p:nvPr/>
        </p:nvSpPr>
        <p:spPr bwMode="auto">
          <a:xfrm>
            <a:off x="14134" y="4609841"/>
            <a:ext cx="317729" cy="217213"/>
          </a:xfrm>
          <a:prstGeom prst="rect">
            <a:avLst/>
          </a:prstGeom>
          <a:noFill/>
          <a:ln w="9525">
            <a:noFill/>
            <a:miter lim="800000"/>
          </a:ln>
          <a:effectLst>
            <a:outerShdw dist="35921" dir="2700000" algn="ctr" rotWithShape="0">
              <a:schemeClr val="bg2"/>
            </a:outerShdw>
          </a:effectLst>
        </p:spPr>
        <p:txBody>
          <a:bodyPr wrap="none" lIns="77953" tIns="38976" rIns="77953" bIns="38976" anchor="ctr">
            <a:spAutoFit/>
          </a:bodyPr>
          <a:lstStyle/>
          <a:p>
            <a:pPr>
              <a:defRPr/>
            </a:pPr>
            <a:r>
              <a:rPr lang="en-US" sz="900" dirty="0">
                <a:cs typeface="Times New Roman" panose="02020603050405020304" pitchFamily="18" charset="0"/>
              </a:rPr>
              <a:t>     </a:t>
            </a:r>
            <a:endParaRPr lang="en-US" dirty="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624840" y="892810"/>
            <a:ext cx="3676650" cy="2602865"/>
          </a:xfrm>
          <a:prstGeom prst="rect">
            <a:avLst/>
          </a:prstGeom>
        </p:spPr>
      </p:pic>
      <p:pic>
        <p:nvPicPr>
          <p:cNvPr id="6" name="图片 5"/>
          <p:cNvPicPr>
            <a:picLocks noChangeAspect="1"/>
          </p:cNvPicPr>
          <p:nvPr/>
        </p:nvPicPr>
        <p:blipFill>
          <a:blip r:embed="rId2"/>
          <a:stretch>
            <a:fillRect/>
          </a:stretch>
        </p:blipFill>
        <p:spPr>
          <a:xfrm>
            <a:off x="4899025" y="813435"/>
            <a:ext cx="3575685" cy="2761615"/>
          </a:xfrm>
          <a:prstGeom prst="rect">
            <a:avLst/>
          </a:prstGeom>
        </p:spPr>
      </p:pic>
      <p:sp>
        <p:nvSpPr>
          <p:cNvPr id="2" name="文本框 1"/>
          <p:cNvSpPr txBox="1"/>
          <p:nvPr/>
        </p:nvSpPr>
        <p:spPr>
          <a:xfrm>
            <a:off x="1099185" y="4067175"/>
            <a:ext cx="6945630" cy="460375"/>
          </a:xfrm>
          <a:prstGeom prst="rect">
            <a:avLst/>
          </a:prstGeom>
          <a:noFill/>
        </p:spPr>
        <p:txBody>
          <a:bodyPr wrap="square" rtlCol="0" anchor="t">
            <a:spAutoFit/>
          </a:bodyPr>
          <a:lstStyle/>
          <a:p>
            <a:r>
              <a:rPr lang="zh-CN" altLang="en-US" sz="2400">
                <a:solidFill>
                  <a:srgbClr val="002060"/>
                </a:solidFill>
              </a:rPr>
              <a:t>　　有序的世界充满阳光，无序的天下纷乱错杂。</a:t>
            </a:r>
            <a:endParaRPr lang="zh-CN" altLang="en-US" sz="240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spd="med" p14:dur="600">
        <p:random/>
      </p:transition>
    </mc:Choice>
    <mc:Fallback>
      <p:transition spd="med">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195739" y="141482"/>
            <a:ext cx="6768877" cy="368300"/>
          </a:xfrm>
        </p:spPr>
        <p:txBody>
          <a:bodyPr/>
          <a:lstStyle/>
          <a:p>
            <a:r>
              <a:rPr lang="zh-CN" altLang="en-US" dirty="0"/>
              <a:t>为什么使用序列</a:t>
            </a:r>
            <a:endParaRPr lang="zh-CN" altLang="en-US" dirty="0"/>
          </a:p>
        </p:txBody>
      </p:sp>
      <p:sp>
        <p:nvSpPr>
          <p:cNvPr id="11" name="Rectangle 9"/>
          <p:cNvSpPr>
            <a:spLocks noChangeArrowheads="1"/>
          </p:cNvSpPr>
          <p:nvPr/>
        </p:nvSpPr>
        <p:spPr bwMode="auto">
          <a:xfrm>
            <a:off x="4143591" y="1824775"/>
            <a:ext cx="157492" cy="355712"/>
          </a:xfrm>
          <a:prstGeom prst="rect">
            <a:avLst/>
          </a:prstGeom>
          <a:noFill/>
          <a:ln w="9525">
            <a:noFill/>
            <a:miter lim="800000"/>
          </a:ln>
          <a:effectLst>
            <a:outerShdw dist="35921" dir="2700000" algn="ctr" rotWithShape="0">
              <a:schemeClr val="bg2"/>
            </a:outerShdw>
          </a:effectLst>
        </p:spPr>
        <p:txBody>
          <a:bodyPr wrap="none" lIns="77953" tIns="38976" rIns="77953" bIns="38976" anchor="ctr">
            <a:spAutoFit/>
          </a:bodyPr>
          <a:lstStyle/>
          <a:p>
            <a:pPr>
              <a:defRPr/>
            </a:pPr>
            <a:endParaRPr lang="zh-CN" altLang="en-US"/>
          </a:p>
        </p:txBody>
      </p:sp>
      <p:sp>
        <p:nvSpPr>
          <p:cNvPr id="12" name="Rectangle 12"/>
          <p:cNvSpPr>
            <a:spLocks noChangeArrowheads="1"/>
          </p:cNvSpPr>
          <p:nvPr/>
        </p:nvSpPr>
        <p:spPr bwMode="auto">
          <a:xfrm>
            <a:off x="4143591" y="2183154"/>
            <a:ext cx="157492" cy="355712"/>
          </a:xfrm>
          <a:prstGeom prst="rect">
            <a:avLst/>
          </a:prstGeom>
          <a:noFill/>
          <a:ln w="9525">
            <a:noFill/>
            <a:miter lim="800000"/>
          </a:ln>
          <a:effectLst>
            <a:outerShdw dist="35921" dir="2700000" algn="ctr" rotWithShape="0">
              <a:schemeClr val="bg2"/>
            </a:outerShdw>
          </a:effectLst>
        </p:spPr>
        <p:txBody>
          <a:bodyPr wrap="none" lIns="77953" tIns="38976" rIns="77953" bIns="38976" anchor="ctr">
            <a:spAutoFit/>
          </a:bodyPr>
          <a:lstStyle/>
          <a:p>
            <a:pPr>
              <a:defRPr/>
            </a:pPr>
            <a:endParaRPr lang="zh-CN" altLang="en-US"/>
          </a:p>
        </p:txBody>
      </p:sp>
      <p:sp>
        <p:nvSpPr>
          <p:cNvPr id="13" name="Rectangle 13"/>
          <p:cNvSpPr>
            <a:spLocks noChangeArrowheads="1"/>
          </p:cNvSpPr>
          <p:nvPr/>
        </p:nvSpPr>
        <p:spPr bwMode="auto">
          <a:xfrm>
            <a:off x="11008" y="3314441"/>
            <a:ext cx="253609" cy="217213"/>
          </a:xfrm>
          <a:prstGeom prst="rect">
            <a:avLst/>
          </a:prstGeom>
          <a:noFill/>
          <a:ln w="9525">
            <a:noFill/>
            <a:miter lim="800000"/>
          </a:ln>
          <a:effectLst>
            <a:outerShdw dist="35921" dir="2700000" algn="ctr" rotWithShape="0">
              <a:schemeClr val="bg2"/>
            </a:outerShdw>
          </a:effectLst>
        </p:spPr>
        <p:txBody>
          <a:bodyPr wrap="none" lIns="77953" tIns="38976" rIns="77953" bIns="38976" anchor="ctr">
            <a:spAutoFit/>
          </a:bodyPr>
          <a:lstStyle/>
          <a:p>
            <a:pPr>
              <a:defRPr/>
            </a:pPr>
            <a:r>
              <a:rPr lang="en-US" sz="900" dirty="0">
                <a:cs typeface="Times New Roman" panose="02020603050405020304" pitchFamily="18" charset="0"/>
              </a:rPr>
              <a:t>   </a:t>
            </a:r>
            <a:endParaRPr lang="en-US" dirty="0">
              <a:cs typeface="Times New Roman" panose="02020603050405020304" pitchFamily="18" charset="0"/>
            </a:endParaRPr>
          </a:p>
        </p:txBody>
      </p:sp>
      <p:sp>
        <p:nvSpPr>
          <p:cNvPr id="14" name="Rectangle 14"/>
          <p:cNvSpPr>
            <a:spLocks noChangeArrowheads="1"/>
          </p:cNvSpPr>
          <p:nvPr/>
        </p:nvSpPr>
        <p:spPr bwMode="auto">
          <a:xfrm>
            <a:off x="14134" y="4609841"/>
            <a:ext cx="317729" cy="217213"/>
          </a:xfrm>
          <a:prstGeom prst="rect">
            <a:avLst/>
          </a:prstGeom>
          <a:noFill/>
          <a:ln w="9525">
            <a:noFill/>
            <a:miter lim="800000"/>
          </a:ln>
          <a:effectLst>
            <a:outerShdw dist="35921" dir="2700000" algn="ctr" rotWithShape="0">
              <a:schemeClr val="bg2"/>
            </a:outerShdw>
          </a:effectLst>
        </p:spPr>
        <p:txBody>
          <a:bodyPr wrap="none" lIns="77953" tIns="38976" rIns="77953" bIns="38976" anchor="ctr">
            <a:spAutoFit/>
          </a:bodyPr>
          <a:lstStyle/>
          <a:p>
            <a:pPr>
              <a:defRPr/>
            </a:pPr>
            <a:r>
              <a:rPr lang="en-US" sz="900" dirty="0">
                <a:cs typeface="Times New Roman" panose="02020603050405020304" pitchFamily="18" charset="0"/>
              </a:rPr>
              <a:t>     </a:t>
            </a:r>
            <a:endParaRPr lang="en-US" dirty="0">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974090" y="1327150"/>
            <a:ext cx="7037070" cy="27057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random/>
      </p:transition>
    </mc:Choice>
    <mc:Fallback>
      <p:transition spd="med">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
          <p:cNvSpPr>
            <a:spLocks noGrp="1"/>
          </p:cNvSpPr>
          <p:nvPr>
            <p:ph type="title"/>
          </p:nvPr>
        </p:nvSpPr>
        <p:spPr>
          <a:xfrm>
            <a:off x="2195513" y="141288"/>
            <a:ext cx="6769100" cy="368300"/>
          </a:xfrm>
          <a:ln>
            <a:noFill/>
          </a:ln>
        </p:spPr>
        <p:txBody>
          <a:bodyPr wrap="square" anchor="t">
            <a:spAutoFit/>
          </a:bodyPr>
          <a:lstStyle/>
          <a:p>
            <a:r>
              <a:rPr lang="zh-CN" altLang="en-US" dirty="0">
                <a:sym typeface="Browallia New" panose="020B0604020202020204" charset="0"/>
              </a:rPr>
              <a:t>什么是序列</a:t>
            </a:r>
            <a:endParaRPr lang="zh-CN" altLang="en-US" dirty="0">
              <a:sym typeface="Browallia New" panose="020B0604020202020204" charset="0"/>
            </a:endParaRPr>
          </a:p>
        </p:txBody>
      </p:sp>
      <p:sp>
        <p:nvSpPr>
          <p:cNvPr id="2" name="椭圆 1"/>
          <p:cNvSpPr/>
          <p:nvPr/>
        </p:nvSpPr>
        <p:spPr>
          <a:xfrm>
            <a:off x="1265555" y="1957388"/>
            <a:ext cx="998538" cy="105568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en-US" altLang="zh-CN" sz="2000" b="1" strike="noStrike" noProof="1">
              <a:solidFill>
                <a:schemeClr val="accent1"/>
              </a:solidFill>
            </a:endParaRPr>
          </a:p>
          <a:p>
            <a:pPr algn="ctr" fontAlgn="base"/>
            <a:r>
              <a:rPr lang="zh-CN" altLang="en-US" sz="2000" b="1" strike="noStrike" noProof="1">
                <a:solidFill>
                  <a:schemeClr val="accent1"/>
                </a:solidFill>
              </a:rPr>
              <a:t>序列</a:t>
            </a:r>
            <a:endParaRPr lang="en-US" altLang="zh-CN" sz="2000" b="1" strike="noStrike" noProof="1">
              <a:solidFill>
                <a:schemeClr val="accent1"/>
              </a:solidFill>
            </a:endParaRPr>
          </a:p>
          <a:p>
            <a:pPr algn="ctr" fontAlgn="base"/>
            <a:endParaRPr lang="en-US" altLang="zh-CN" sz="2000" b="1" strike="noStrike" noProof="1">
              <a:solidFill>
                <a:schemeClr val="accent1"/>
              </a:solidFill>
            </a:endParaRPr>
          </a:p>
        </p:txBody>
      </p:sp>
      <p:sp>
        <p:nvSpPr>
          <p:cNvPr id="16" name="Text Box 14"/>
          <p:cNvSpPr txBox="1"/>
          <p:nvPr/>
        </p:nvSpPr>
        <p:spPr>
          <a:xfrm>
            <a:off x="835978" y="1492250"/>
            <a:ext cx="185737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被定义项</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1" name="Text Box 8"/>
          <p:cNvSpPr txBox="1"/>
          <p:nvPr/>
        </p:nvSpPr>
        <p:spPr>
          <a:xfrm>
            <a:off x="2453640" y="1492250"/>
            <a:ext cx="204152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临近的属</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3" name="椭圆 2"/>
          <p:cNvSpPr/>
          <p:nvPr/>
        </p:nvSpPr>
        <p:spPr>
          <a:xfrm>
            <a:off x="3029903" y="1957705"/>
            <a:ext cx="998538" cy="105568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000" b="1" strike="noStrike" noProof="1">
                <a:solidFill>
                  <a:schemeClr val="accent1"/>
                </a:solidFill>
              </a:rPr>
              <a:t>集合</a:t>
            </a:r>
            <a:endParaRPr lang="zh-CN" altLang="en-US" sz="2000" b="1" strike="noStrike" noProof="1">
              <a:solidFill>
                <a:schemeClr val="accent1"/>
              </a:solidFill>
            </a:endParaRPr>
          </a:p>
        </p:txBody>
      </p:sp>
      <p:sp>
        <p:nvSpPr>
          <p:cNvPr id="14" name="Text Box 12"/>
          <p:cNvSpPr txBox="1"/>
          <p:nvPr/>
        </p:nvSpPr>
        <p:spPr>
          <a:xfrm>
            <a:off x="5346700" y="1492250"/>
            <a:ext cx="1771650"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种差（内涵</a:t>
            </a:r>
            <a:r>
              <a:rPr lang="en-US" altLang="zh-CN" dirty="0">
                <a:solidFill>
                  <a:srgbClr val="FF0000"/>
                </a:solidFill>
                <a:latin typeface="微软雅黑" panose="020B0503020204020204" pitchFamily="34" charset="-122"/>
                <a:ea typeface="微软雅黑" panose="020B0503020204020204" pitchFamily="34" charset="-122"/>
              </a:rPr>
              <a:t>)</a:t>
            </a:r>
            <a:endParaRPr lang="en-US" altLang="zh-CN" dirty="0">
              <a:solidFill>
                <a:srgbClr val="FF0000"/>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4763770" y="1929130"/>
            <a:ext cx="4253865" cy="977900"/>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10" name="文本框 9"/>
          <p:cNvSpPr txBox="1"/>
          <p:nvPr/>
        </p:nvSpPr>
        <p:spPr>
          <a:xfrm>
            <a:off x="2104390" y="3233745"/>
            <a:ext cx="6389370" cy="922020"/>
          </a:xfrm>
          <a:prstGeom prst="rect">
            <a:avLst/>
          </a:prstGeom>
          <a:noFill/>
        </p:spPr>
        <p:txBody>
          <a:bodyPr wrap="none" rtlCol="0">
            <a:spAutoFit/>
          </a:bodyPr>
          <a:lstStyle/>
          <a:p>
            <a:pPr algn="l"/>
            <a:r>
              <a:rPr lang="zh-CN" altLang="en-US" b="1" noProof="1">
                <a:latin typeface="Arial" panose="020B0604020202020204" pitchFamily="34" charset="0"/>
                <a:ea typeface="黑体" panose="02010609060101010101" pitchFamily="2" charset="-122"/>
                <a:cs typeface="+mn-cs"/>
              </a:rPr>
              <a:t>定义</a:t>
            </a:r>
            <a:r>
              <a:rPr lang="en-US" altLang="zh-CN" b="1" noProof="1">
                <a:latin typeface="Arial" panose="020B0604020202020204" pitchFamily="34" charset="0"/>
                <a:ea typeface="黑体" panose="02010609060101010101" pitchFamily="2" charset="-122"/>
                <a:cs typeface="+mn-cs"/>
              </a:rPr>
              <a:t>: </a:t>
            </a:r>
            <a:r>
              <a:rPr lang="zh-CN" altLang="en-US" b="1" noProof="1">
                <a:latin typeface="Arial" panose="020B0604020202020204" pitchFamily="34" charset="0"/>
                <a:ea typeface="黑体" panose="02010609060101010101" pitchFamily="2" charset="-122"/>
                <a:cs typeface="+mn-cs"/>
              </a:rPr>
              <a:t>序列是一种数据存储方式，用来存储一系列的数据。</a:t>
            </a:r>
            <a:endParaRPr lang="zh-CN" altLang="en-US" b="1" noProof="1">
              <a:latin typeface="Arial" panose="020B0604020202020204" pitchFamily="34" charset="0"/>
              <a:ea typeface="黑体" panose="02010609060101010101" pitchFamily="2" charset="-122"/>
              <a:cs typeface="+mn-cs"/>
            </a:endParaRPr>
          </a:p>
          <a:p>
            <a:pPr algn="l"/>
            <a:r>
              <a:rPr lang="zh-CN" altLang="en-US" b="1" noProof="1">
                <a:latin typeface="Arial" panose="020B0604020202020204" pitchFamily="34" charset="0"/>
                <a:ea typeface="黑体" panose="02010609060101010101" pitchFamily="2" charset="-122"/>
                <a:cs typeface="+mn-cs"/>
              </a:rPr>
              <a:t>         可以看做是元素的集合</a:t>
            </a:r>
            <a:endParaRPr lang="zh-CN" altLang="en-US" b="1" noProof="1">
              <a:latin typeface="Arial" panose="020B0604020202020204" pitchFamily="34" charset="0"/>
              <a:ea typeface="黑体" panose="02010609060101010101" pitchFamily="2" charset="-122"/>
              <a:cs typeface="+mn-cs"/>
            </a:endParaRPr>
          </a:p>
          <a:p>
            <a:pPr algn="l"/>
            <a:r>
              <a:rPr lang="zh-CN" altLang="en-US" b="1" noProof="1">
                <a:latin typeface="Arial" panose="020B0604020202020204" pitchFamily="34" charset="0"/>
                <a:ea typeface="黑体" panose="02010609060101010101" pitchFamily="2" charset="-122"/>
                <a:cs typeface="+mn-cs"/>
              </a:rPr>
              <a:t>在内存中，序列就是一块用来存放多个值的连续的内存空间。</a:t>
            </a:r>
            <a:endParaRPr lang="zh-CN" altLang="en-US" b="1" noProof="1">
              <a:latin typeface="Arial" panose="020B0604020202020204" pitchFamily="34" charset="0"/>
              <a:ea typeface="黑体" panose="02010609060101010101" pitchFamily="2" charset="-122"/>
              <a:cs typeface="+mn-cs"/>
            </a:endParaRPr>
          </a:p>
        </p:txBody>
      </p:sp>
      <p:sp>
        <p:nvSpPr>
          <p:cNvPr id="18" name="AutoShape 7"/>
          <p:cNvSpPr/>
          <p:nvPr/>
        </p:nvSpPr>
        <p:spPr>
          <a:xfrm flipH="1">
            <a:off x="1335405" y="3107690"/>
            <a:ext cx="215900" cy="576580"/>
          </a:xfrm>
          <a:prstGeom prst="downArrow">
            <a:avLst>
              <a:gd name="adj1" fmla="val 50000"/>
              <a:gd name="adj2" fmla="val 66468"/>
            </a:avLst>
          </a:prstGeom>
          <a:solidFill>
            <a:schemeClr val="accent1"/>
          </a:solidFill>
          <a:ln w="9525" cap="flat" cmpd="sng">
            <a:solidFill>
              <a:schemeClr val="tx1"/>
            </a:solidFill>
            <a:prstDash val="solid"/>
            <a:miter/>
            <a:headEnd type="none" w="med" len="med"/>
            <a:tailEnd type="none" w="med" len="med"/>
          </a:ln>
        </p:spPr>
        <p:txBody>
          <a:bodyPr vert="eaVert" anchor="ctr"/>
          <a:lstStyle/>
          <a:p>
            <a:pPr algn="ctr"/>
            <a:endParaRPr lang="zh-CN" altLang="en-US">
              <a:latin typeface="Arial" panose="020B0604020202020204" pitchFamily="34" charset="0"/>
              <a:ea typeface="黑体" panose="02010609060101010101" pitchFamily="2" charset="-122"/>
            </a:endParaRPr>
          </a:p>
        </p:txBody>
      </p:sp>
      <p:sp>
        <p:nvSpPr>
          <p:cNvPr id="19" name="Text Box 8"/>
          <p:cNvSpPr txBox="1"/>
          <p:nvPr/>
        </p:nvSpPr>
        <p:spPr>
          <a:xfrm>
            <a:off x="411870" y="3787945"/>
            <a:ext cx="204152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外延</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33" name="组合 32"/>
          <p:cNvGrpSpPr/>
          <p:nvPr/>
        </p:nvGrpSpPr>
        <p:grpSpPr>
          <a:xfrm>
            <a:off x="2453640" y="4246880"/>
            <a:ext cx="1191260" cy="485775"/>
            <a:chOff x="2458396" y="1463021"/>
            <a:chExt cx="1870251" cy="276935"/>
          </a:xfrm>
          <a:solidFill>
            <a:schemeClr val="accent1"/>
          </a:solidFill>
        </p:grpSpPr>
        <p:sp>
          <p:nvSpPr>
            <p:cNvPr id="34" name="AutoShape 5"/>
            <p:cNvSpPr>
              <a:spLocks noChangeArrowheads="1"/>
            </p:cNvSpPr>
            <p:nvPr/>
          </p:nvSpPr>
          <p:spPr bwMode="auto">
            <a:xfrm>
              <a:off x="2458396" y="1463021"/>
              <a:ext cx="1870251" cy="276935"/>
            </a:xfrm>
            <a:prstGeom prst="chevron">
              <a:avLst>
                <a:gd name="adj" fmla="val 12153"/>
              </a:avLst>
            </a:prstGeom>
          </p:spPr>
          <p:style>
            <a:lnRef idx="1">
              <a:schemeClr val="accent2"/>
            </a:lnRef>
            <a:fillRef idx="3">
              <a:schemeClr val="accent2"/>
            </a:fillRef>
            <a:effectRef idx="2">
              <a:schemeClr val="accent2"/>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endParaRPr>
            </a:p>
          </p:txBody>
        </p:sp>
        <p:sp>
          <p:nvSpPr>
            <p:cNvPr id="35" name="Text Box 6"/>
            <p:cNvSpPr txBox="1">
              <a:spLocks noChangeArrowheads="1"/>
            </p:cNvSpPr>
            <p:nvPr/>
          </p:nvSpPr>
          <p:spPr bwMode="auto">
            <a:xfrm>
              <a:off x="2647669" y="1509680"/>
              <a:ext cx="1491634" cy="183899"/>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algn="ctr" fontAlgn="base"/>
              <a:r>
                <a:rPr lang="zh-CN" altLang="en-US" sz="2100" b="1" strike="noStrike" kern="0" noProof="1">
                  <a:solidFill>
                    <a:srgbClr val="FFFFFF"/>
                  </a:solidFill>
                  <a:latin typeface="微软雅黑" panose="020B0503020204020204" pitchFamily="34" charset="-122"/>
                  <a:ea typeface="微软雅黑" panose="020B0503020204020204" pitchFamily="34" charset="-122"/>
                </a:rPr>
                <a:t>字符串</a:t>
              </a:r>
              <a:endParaRPr lang="zh-CN" altLang="en-US" sz="2100" b="1" strike="noStrike" kern="0" noProof="1">
                <a:solidFill>
                  <a:srgbClr val="FFFFFF"/>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1042670" y="4240530"/>
            <a:ext cx="1061720" cy="485775"/>
            <a:chOff x="897128" y="1459399"/>
            <a:chExt cx="1868348" cy="276935"/>
          </a:xfrm>
          <a:solidFill>
            <a:schemeClr val="accent1"/>
          </a:solidFill>
        </p:grpSpPr>
        <p:sp>
          <p:nvSpPr>
            <p:cNvPr id="37" name="AutoShape 7"/>
            <p:cNvSpPr>
              <a:spLocks noChangeArrowheads="1"/>
            </p:cNvSpPr>
            <p:nvPr/>
          </p:nvSpPr>
          <p:spPr bwMode="auto">
            <a:xfrm>
              <a:off x="897128" y="1459399"/>
              <a:ext cx="1868348" cy="276935"/>
            </a:xfrm>
            <a:prstGeom prst="homePlate">
              <a:avLst>
                <a:gd name="adj" fmla="val 11944"/>
              </a:avLst>
            </a:prstGeom>
          </p:spPr>
          <p:style>
            <a:lnRef idx="1">
              <a:schemeClr val="accent1"/>
            </a:lnRef>
            <a:fillRef idx="3">
              <a:schemeClr val="accent1"/>
            </a:fillRef>
            <a:effectRef idx="2">
              <a:schemeClr val="accent1"/>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endParaRPr>
            </a:p>
          </p:txBody>
        </p:sp>
        <p:sp>
          <p:nvSpPr>
            <p:cNvPr id="38" name="Text Box 8"/>
            <p:cNvSpPr txBox="1">
              <a:spLocks noChangeArrowheads="1"/>
            </p:cNvSpPr>
            <p:nvPr/>
          </p:nvSpPr>
          <p:spPr bwMode="auto">
            <a:xfrm>
              <a:off x="978940" y="1507508"/>
              <a:ext cx="1649550" cy="183899"/>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algn="ctr" fontAlgn="base"/>
              <a:r>
                <a:rPr lang="zh-CN" altLang="en-US" sz="2100" b="1" strike="noStrike" kern="0" noProof="1">
                  <a:solidFill>
                    <a:srgbClr val="FFFFFF"/>
                  </a:solidFill>
                  <a:latin typeface="微软雅黑" panose="020B0503020204020204" pitchFamily="34" charset="-122"/>
                  <a:ea typeface="微软雅黑" panose="020B0503020204020204" pitchFamily="34" charset="-122"/>
                </a:rPr>
                <a:t>列表</a:t>
              </a:r>
              <a:endParaRPr lang="zh-CN" altLang="en-US" sz="2100" b="1" strike="noStrike" kern="0" noProof="1">
                <a:solidFill>
                  <a:srgbClr val="FFFFFF"/>
                </a:solidFill>
                <a:latin typeface="微软雅黑" panose="020B0503020204020204" pitchFamily="34" charset="-122"/>
                <a:ea typeface="微软雅黑" panose="020B0503020204020204" pitchFamily="34" charset="-122"/>
              </a:endParaRPr>
            </a:p>
          </p:txBody>
        </p:sp>
      </p:grpSp>
      <p:sp>
        <p:nvSpPr>
          <p:cNvPr id="8" name="文本框 7"/>
          <p:cNvSpPr txBox="1"/>
          <p:nvPr/>
        </p:nvSpPr>
        <p:spPr>
          <a:xfrm>
            <a:off x="5455285" y="2233295"/>
            <a:ext cx="1554480" cy="368300"/>
          </a:xfrm>
          <a:prstGeom prst="rect">
            <a:avLst/>
          </a:prstGeom>
          <a:noFill/>
        </p:spPr>
        <p:txBody>
          <a:bodyPr wrap="none" rtlCol="0">
            <a:spAutoFit/>
          </a:bodyPr>
          <a:lstStyle/>
          <a:p>
            <a:pPr algn="ctr"/>
            <a:r>
              <a:rPr lang="zh-CN" altLang="en-US" dirty="0">
                <a:solidFill>
                  <a:schemeClr val="tx1">
                    <a:lumMod val="75000"/>
                    <a:lumOff val="25000"/>
                  </a:schemeClr>
                </a:solidFill>
                <a:sym typeface="+mn-ea"/>
              </a:rPr>
              <a:t>存放有序元素</a:t>
            </a:r>
            <a:endParaRPr lang="zh-CN" altLang="en-US"/>
          </a:p>
        </p:txBody>
      </p:sp>
      <p:grpSp>
        <p:nvGrpSpPr>
          <p:cNvPr id="7" name="组合 6"/>
          <p:cNvGrpSpPr/>
          <p:nvPr/>
        </p:nvGrpSpPr>
        <p:grpSpPr>
          <a:xfrm>
            <a:off x="3920490" y="4239895"/>
            <a:ext cx="1430226" cy="485775"/>
            <a:chOff x="754881" y="1457227"/>
            <a:chExt cx="1873609" cy="276935"/>
          </a:xfrm>
          <a:solidFill>
            <a:schemeClr val="accent1"/>
          </a:solidFill>
        </p:grpSpPr>
        <p:sp>
          <p:nvSpPr>
            <p:cNvPr id="9" name="AutoShape 7"/>
            <p:cNvSpPr>
              <a:spLocks noChangeArrowheads="1"/>
            </p:cNvSpPr>
            <p:nvPr/>
          </p:nvSpPr>
          <p:spPr bwMode="auto">
            <a:xfrm>
              <a:off x="754881" y="1457227"/>
              <a:ext cx="1868348" cy="276935"/>
            </a:xfrm>
            <a:prstGeom prst="homePlate">
              <a:avLst>
                <a:gd name="adj" fmla="val 11944"/>
              </a:avLst>
            </a:prstGeom>
          </p:spPr>
          <p:style>
            <a:lnRef idx="1">
              <a:schemeClr val="accent1"/>
            </a:lnRef>
            <a:fillRef idx="3">
              <a:schemeClr val="accent1"/>
            </a:fillRef>
            <a:effectRef idx="2">
              <a:schemeClr val="accent1"/>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endParaRPr>
            </a:p>
          </p:txBody>
        </p:sp>
        <p:sp>
          <p:nvSpPr>
            <p:cNvPr id="12" name="Text Box 8"/>
            <p:cNvSpPr txBox="1">
              <a:spLocks noChangeArrowheads="1"/>
            </p:cNvSpPr>
            <p:nvPr/>
          </p:nvSpPr>
          <p:spPr bwMode="auto">
            <a:xfrm>
              <a:off x="978940" y="1507508"/>
              <a:ext cx="1649550" cy="183899"/>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algn="ctr" fontAlgn="base"/>
              <a:r>
                <a:rPr lang="zh-CN" altLang="en-US" sz="2100" b="1" strike="noStrike" kern="0" noProof="1">
                  <a:solidFill>
                    <a:srgbClr val="FFFFFF"/>
                  </a:solidFill>
                  <a:latin typeface="微软雅黑" panose="020B0503020204020204" pitchFamily="34" charset="-122"/>
                  <a:ea typeface="微软雅黑" panose="020B0503020204020204" pitchFamily="34" charset="-122"/>
                </a:rPr>
                <a:t>元组</a:t>
              </a:r>
              <a:endParaRPr lang="zh-CN" altLang="en-US" sz="2100" b="1" strike="noStrike" kern="0" noProof="1">
                <a:solidFill>
                  <a:srgbClr val="FFFFFF"/>
                </a:solidFill>
                <a:latin typeface="微软雅黑" panose="020B0503020204020204" pitchFamily="34" charset="-122"/>
                <a:ea typeface="微软雅黑" panose="020B0503020204020204" pitchFamily="34" charset="-122"/>
              </a:endParaRPr>
            </a:p>
          </p:txBody>
        </p:sp>
      </p:grpSp>
      <p:grpSp>
        <p:nvGrpSpPr>
          <p:cNvPr id="15" name="组合 14"/>
          <p:cNvGrpSpPr/>
          <p:nvPr/>
        </p:nvGrpSpPr>
        <p:grpSpPr>
          <a:xfrm>
            <a:off x="5455285" y="4240530"/>
            <a:ext cx="1191260" cy="485775"/>
            <a:chOff x="2772431" y="1461211"/>
            <a:chExt cx="1870251" cy="276935"/>
          </a:xfrm>
          <a:solidFill>
            <a:schemeClr val="accent1"/>
          </a:solidFill>
        </p:grpSpPr>
        <p:sp>
          <p:nvSpPr>
            <p:cNvPr id="17" name="AutoShape 5"/>
            <p:cNvSpPr>
              <a:spLocks noChangeArrowheads="1"/>
            </p:cNvSpPr>
            <p:nvPr/>
          </p:nvSpPr>
          <p:spPr bwMode="auto">
            <a:xfrm>
              <a:off x="2772431" y="1461211"/>
              <a:ext cx="1870251" cy="276935"/>
            </a:xfrm>
            <a:prstGeom prst="chevron">
              <a:avLst>
                <a:gd name="adj" fmla="val 12153"/>
              </a:avLst>
            </a:prstGeom>
          </p:spPr>
          <p:style>
            <a:lnRef idx="1">
              <a:schemeClr val="accent2"/>
            </a:lnRef>
            <a:fillRef idx="3">
              <a:schemeClr val="accent2"/>
            </a:fillRef>
            <a:effectRef idx="2">
              <a:schemeClr val="accent2"/>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endParaRPr>
            </a:p>
          </p:txBody>
        </p:sp>
        <p:sp>
          <p:nvSpPr>
            <p:cNvPr id="20" name="Text Box 6"/>
            <p:cNvSpPr txBox="1">
              <a:spLocks noChangeArrowheads="1"/>
            </p:cNvSpPr>
            <p:nvPr/>
          </p:nvSpPr>
          <p:spPr bwMode="auto">
            <a:xfrm>
              <a:off x="2997593" y="1507508"/>
              <a:ext cx="1491634" cy="183899"/>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algn="ctr" fontAlgn="base"/>
              <a:r>
                <a:rPr lang="zh-CN" altLang="en-US" sz="2100" b="1" strike="noStrike" kern="0" noProof="1">
                  <a:solidFill>
                    <a:srgbClr val="FFFFFF"/>
                  </a:solidFill>
                  <a:latin typeface="微软雅黑" panose="020B0503020204020204" pitchFamily="34" charset="-122"/>
                  <a:ea typeface="微软雅黑" panose="020B0503020204020204" pitchFamily="34" charset="-122"/>
                </a:rPr>
                <a:t>集合</a:t>
              </a:r>
              <a:endParaRPr lang="zh-CN" altLang="en-US" sz="2100" b="1" strike="noStrike" kern="0" noProof="1">
                <a:solidFill>
                  <a:srgbClr val="FFFFFF"/>
                </a:solidFill>
                <a:latin typeface="微软雅黑" panose="020B0503020204020204" pitchFamily="34" charset="-122"/>
                <a:ea typeface="微软雅黑" panose="020B0503020204020204" pitchFamily="34" charset="-122"/>
              </a:endParaRPr>
            </a:p>
          </p:txBody>
        </p:sp>
      </p:grpSp>
      <p:grpSp>
        <p:nvGrpSpPr>
          <p:cNvPr id="24" name="组合 23"/>
          <p:cNvGrpSpPr/>
          <p:nvPr/>
        </p:nvGrpSpPr>
        <p:grpSpPr>
          <a:xfrm>
            <a:off x="6757035" y="4243705"/>
            <a:ext cx="1243965" cy="485775"/>
            <a:chOff x="897128" y="1459399"/>
            <a:chExt cx="1868348" cy="276935"/>
          </a:xfrm>
          <a:solidFill>
            <a:schemeClr val="accent1"/>
          </a:solidFill>
        </p:grpSpPr>
        <p:sp>
          <p:nvSpPr>
            <p:cNvPr id="25" name="AutoShape 7"/>
            <p:cNvSpPr>
              <a:spLocks noChangeArrowheads="1"/>
            </p:cNvSpPr>
            <p:nvPr/>
          </p:nvSpPr>
          <p:spPr bwMode="auto">
            <a:xfrm>
              <a:off x="897128" y="1459399"/>
              <a:ext cx="1868348" cy="276935"/>
            </a:xfrm>
            <a:prstGeom prst="homePlate">
              <a:avLst>
                <a:gd name="adj" fmla="val 11944"/>
              </a:avLst>
            </a:prstGeom>
          </p:spPr>
          <p:style>
            <a:lnRef idx="1">
              <a:schemeClr val="accent1"/>
            </a:lnRef>
            <a:fillRef idx="3">
              <a:schemeClr val="accent1"/>
            </a:fillRef>
            <a:effectRef idx="2">
              <a:schemeClr val="accent1"/>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endParaRPr>
            </a:p>
          </p:txBody>
        </p:sp>
        <p:sp>
          <p:nvSpPr>
            <p:cNvPr id="26" name="Text Box 8"/>
            <p:cNvSpPr txBox="1">
              <a:spLocks noChangeArrowheads="1"/>
            </p:cNvSpPr>
            <p:nvPr/>
          </p:nvSpPr>
          <p:spPr bwMode="auto">
            <a:xfrm>
              <a:off x="978940" y="1507508"/>
              <a:ext cx="1649550" cy="183899"/>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algn="ctr" fontAlgn="base"/>
              <a:r>
                <a:rPr lang="zh-CN" altLang="en-US" sz="2100" b="1" strike="noStrike" kern="0" noProof="1">
                  <a:solidFill>
                    <a:srgbClr val="FFFFFF"/>
                  </a:solidFill>
                  <a:latin typeface="微软雅黑" panose="020B0503020204020204" pitchFamily="34" charset="-122"/>
                  <a:ea typeface="微软雅黑" panose="020B0503020204020204" pitchFamily="34" charset="-122"/>
                </a:rPr>
                <a:t>字典</a:t>
              </a:r>
              <a:endParaRPr lang="zh-CN" altLang="en-US" sz="2100" b="1" strike="noStrike" kern="0" noProof="1">
                <a:solidFill>
                  <a:srgbClr val="FFFFFF"/>
                </a:solidFill>
                <a:latin typeface="微软雅黑" panose="020B0503020204020204" pitchFamily="34" charset="-122"/>
                <a:ea typeface="微软雅黑" panose="020B0503020204020204" pitchFamily="34" charset="-122"/>
              </a:endParaRP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25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up)">
                                      <p:cBhvr>
                                        <p:cTn id="42" dur="500"/>
                                        <p:tgtEl>
                                          <p:spTgt spid="18"/>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par>
                          <p:cTn id="47" fill="hold">
                            <p:stCondLst>
                              <p:cond delay="1000"/>
                            </p:stCondLst>
                            <p:childTnLst>
                              <p:par>
                                <p:cTn id="48" presetID="22" presetClass="entr" presetSubtype="8" fill="hold" nodeType="after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wipe(left)">
                                      <p:cBhvr>
                                        <p:cTn id="50" dur="500"/>
                                        <p:tgtEl>
                                          <p:spTgt spid="36"/>
                                        </p:tgtEl>
                                      </p:cBhvr>
                                    </p:animEffect>
                                  </p:childTnLst>
                                </p:cTn>
                              </p:par>
                            </p:childTnLst>
                          </p:cTn>
                        </p:par>
                        <p:par>
                          <p:cTn id="51" fill="hold">
                            <p:stCondLst>
                              <p:cond delay="1500"/>
                            </p:stCondLst>
                            <p:childTnLst>
                              <p:par>
                                <p:cTn id="52" presetID="22" presetClass="entr" presetSubtype="8" fill="hold"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wipe(left)">
                                      <p:cBhvr>
                                        <p:cTn id="54" dur="500"/>
                                        <p:tgtEl>
                                          <p:spTgt spid="33"/>
                                        </p:tgtEl>
                                      </p:cBhvr>
                                    </p:animEffect>
                                  </p:childTnLst>
                                </p:cTn>
                              </p:par>
                            </p:childTnLst>
                          </p:cTn>
                        </p:par>
                        <p:par>
                          <p:cTn id="55" fill="hold">
                            <p:stCondLst>
                              <p:cond delay="2000"/>
                            </p:stCondLst>
                            <p:childTnLst>
                              <p:par>
                                <p:cTn id="56" presetID="22" presetClass="entr" presetSubtype="8" fill="hold" nodeType="after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wipe(left)">
                                      <p:cBhvr>
                                        <p:cTn id="58" dur="500"/>
                                        <p:tgtEl>
                                          <p:spTgt spid="7"/>
                                        </p:tgtEl>
                                      </p:cBhvr>
                                    </p:animEffect>
                                  </p:childTnLst>
                                </p:cTn>
                              </p:par>
                            </p:childTnLst>
                          </p:cTn>
                        </p:par>
                        <p:par>
                          <p:cTn id="59" fill="hold">
                            <p:stCondLst>
                              <p:cond delay="2500"/>
                            </p:stCondLst>
                            <p:childTnLst>
                              <p:par>
                                <p:cTn id="60" presetID="22" presetClass="entr" presetSubtype="8" fill="hold" nodeType="after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par>
                          <p:cTn id="63" fill="hold">
                            <p:stCondLst>
                              <p:cond delay="3000"/>
                            </p:stCondLst>
                            <p:childTnLst>
                              <p:par>
                                <p:cTn id="64" presetID="22" presetClass="entr" presetSubtype="8" fill="hold" nodeType="after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wipe(left)">
                                      <p:cBhvr>
                                        <p:cTn id="6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6" grpId="0"/>
      <p:bldP spid="11" grpId="0"/>
      <p:bldP spid="3" grpId="0" bldLvl="0" animBg="1"/>
      <p:bldP spid="14" grpId="0"/>
      <p:bldP spid="10" grpId="0"/>
      <p:bldP spid="18" grpId="0" bldLvl="0" animBg="1"/>
      <p:bldP spid="19"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
          <p:cNvSpPr>
            <a:spLocks noGrp="1"/>
          </p:cNvSpPr>
          <p:nvPr>
            <p:ph type="title"/>
          </p:nvPr>
        </p:nvSpPr>
        <p:spPr>
          <a:xfrm>
            <a:off x="2195513" y="141288"/>
            <a:ext cx="6769100" cy="368300"/>
          </a:xfrm>
          <a:ln>
            <a:noFill/>
          </a:ln>
        </p:spPr>
        <p:txBody>
          <a:bodyPr wrap="square" anchor="t">
            <a:spAutoFit/>
          </a:bodyPr>
          <a:lstStyle/>
          <a:p>
            <a:r>
              <a:rPr lang="zh-CN" altLang="en-US" dirty="0">
                <a:sym typeface="Browallia New" panose="020B0604020202020204" charset="0"/>
              </a:rPr>
              <a:t>序列</a:t>
            </a:r>
            <a:endParaRPr lang="zh-CN" altLang="en-US" dirty="0">
              <a:sym typeface="Browallia New" panose="020B0604020202020204" charset="0"/>
            </a:endParaRPr>
          </a:p>
        </p:txBody>
      </p:sp>
      <p:sp>
        <p:nvSpPr>
          <p:cNvPr id="26" name="文本框 2"/>
          <p:cNvSpPr txBox="1">
            <a:spLocks noChangeArrowheads="1"/>
          </p:cNvSpPr>
          <p:nvPr/>
        </p:nvSpPr>
        <p:spPr bwMode="auto">
          <a:xfrm>
            <a:off x="1441450" y="1199515"/>
            <a:ext cx="5428615" cy="2980055"/>
          </a:xfrm>
          <a:prstGeom prst="rect">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72000" anchor="ctr" anchorCtr="0">
            <a:spAutoFit/>
          </a:bodyPr>
          <a:lstStyle>
            <a:defPPr>
              <a:defRPr lang="en-US"/>
            </a:defPPr>
            <a:lvl1pPr marL="224155" indent="-224155" algn="l" defTabSz="381000">
              <a:lnSpc>
                <a:spcPct val="150000"/>
              </a:lnSpc>
              <a:buClr>
                <a:schemeClr val="folHlink"/>
              </a:buClr>
              <a:buSzPct val="60000"/>
              <a:defRPr sz="1800">
                <a:solidFill>
                  <a:schemeClr val="tx1">
                    <a:lumMod val="75000"/>
                    <a:lumOff val="25000"/>
                  </a:schemeClr>
                </a:solidFill>
                <a:latin typeface="+mn-ea"/>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pPr marL="0" indent="0">
              <a:buNone/>
            </a:pPr>
            <a:r>
              <a:rPr lang="zh-CN" altLang="en-US" b="1" dirty="0">
                <a:solidFill>
                  <a:srgbClr val="FF0000"/>
                </a:solidFill>
                <a:cs typeface="+mn-ea"/>
                <a:sym typeface="+mn-ea"/>
              </a:rPr>
              <a:t>列表：</a:t>
            </a:r>
            <a:endParaRPr lang="en-US" altLang="zh-CN" sz="1400" b="1" dirty="0">
              <a:solidFill>
                <a:schemeClr val="tx1"/>
              </a:solidFill>
              <a:cs typeface="+mn-ea"/>
              <a:sym typeface="+mn-ea"/>
            </a:endParaRPr>
          </a:p>
          <a:p>
            <a:pPr marL="0" indent="0">
              <a:buNone/>
            </a:pPr>
            <a:r>
              <a:rPr lang="en-US" altLang="zh-CN" dirty="0">
                <a:solidFill>
                  <a:schemeClr val="tx1"/>
                </a:solidFill>
                <a:cs typeface="+mn-ea"/>
                <a:sym typeface="+mn-ea"/>
              </a:rPr>
              <a:t>list1 = [100, 200, 300]</a:t>
            </a:r>
            <a:r>
              <a:rPr lang="zh-CN" altLang="en-US" dirty="0">
                <a:solidFill>
                  <a:schemeClr val="tx1"/>
                </a:solidFill>
                <a:cs typeface="+mn-ea"/>
                <a:sym typeface="+mn-ea"/>
              </a:rPr>
              <a:t>  </a:t>
            </a:r>
            <a:r>
              <a:rPr lang="zh-CN" altLang="en-US" b="1" dirty="0">
                <a:solidFill>
                  <a:schemeClr val="tx1"/>
                </a:solidFill>
                <a:cs typeface="+mn-ea"/>
                <a:sym typeface="+mn-ea"/>
              </a:rPr>
              <a:t>   </a:t>
            </a:r>
            <a:endParaRPr lang="zh-CN" altLang="en-US" b="1" dirty="0">
              <a:solidFill>
                <a:schemeClr val="tx1"/>
              </a:solidFill>
              <a:cs typeface="+mn-ea"/>
              <a:sym typeface="+mn-ea"/>
            </a:endParaRPr>
          </a:p>
          <a:p>
            <a:pPr marL="0" indent="0">
              <a:buNone/>
            </a:pPr>
            <a:r>
              <a:rPr lang="en-US" altLang="zh-CN" dirty="0">
                <a:solidFill>
                  <a:schemeClr val="tx1"/>
                </a:solidFill>
                <a:cs typeface="+mn-ea"/>
                <a:sym typeface="+mn-ea"/>
              </a:rPr>
              <a:t>list1 = [10, 2.5, 'apple</a:t>
            </a:r>
            <a:r>
              <a:rPr lang="en-US" altLang="zh-CN" dirty="0">
                <a:solidFill>
                  <a:schemeClr val="tx1"/>
                </a:solidFill>
                <a:cs typeface="+mn-ea"/>
                <a:sym typeface="+mn-ea"/>
              </a:rPr>
              <a:t>', 'banana']</a:t>
            </a:r>
            <a:r>
              <a:rPr lang="zh-CN" altLang="en-US" dirty="0">
                <a:solidFill>
                  <a:schemeClr val="tx1"/>
                </a:solidFill>
                <a:cs typeface="+mn-ea"/>
                <a:sym typeface="+mn-ea"/>
              </a:rPr>
              <a:t> </a:t>
            </a:r>
            <a:r>
              <a:rPr lang="zh-CN" altLang="en-US" b="1" dirty="0">
                <a:solidFill>
                  <a:schemeClr val="tx1"/>
                </a:solidFill>
                <a:cs typeface="+mn-ea"/>
                <a:sym typeface="+mn-ea"/>
              </a:rPr>
              <a:t> </a:t>
            </a:r>
            <a:endParaRPr lang="zh-CN" altLang="en-US" b="1" dirty="0">
              <a:solidFill>
                <a:schemeClr val="tx1"/>
              </a:solidFill>
              <a:cs typeface="+mn-ea"/>
            </a:endParaRPr>
          </a:p>
          <a:p>
            <a:pPr marL="0" indent="0">
              <a:buNone/>
            </a:pPr>
            <a:r>
              <a:rPr lang="zh-CN" altLang="en-US" b="1" dirty="0">
                <a:solidFill>
                  <a:srgbClr val="FF0000"/>
                </a:solidFill>
                <a:cs typeface="+mn-ea"/>
                <a:sym typeface="+mn-ea"/>
              </a:rPr>
              <a:t>元组：</a:t>
            </a:r>
            <a:endParaRPr lang="zh-CN" altLang="en-US" b="1" dirty="0">
              <a:solidFill>
                <a:schemeClr val="tx1"/>
              </a:solidFill>
              <a:cs typeface="+mn-ea"/>
              <a:sym typeface="+mn-ea"/>
            </a:endParaRPr>
          </a:p>
          <a:p>
            <a:pPr marL="0" indent="0">
              <a:buNone/>
            </a:pPr>
            <a:r>
              <a:rPr lang="en-US" altLang="zh-CN" dirty="0">
                <a:solidFill>
                  <a:schemeClr val="tx1"/>
                </a:solidFill>
                <a:cs typeface="+mn-ea"/>
                <a:sym typeface="+mn-ea"/>
              </a:rPr>
              <a:t>tuple1 = (111, 222, 333, 444)</a:t>
            </a:r>
            <a:r>
              <a:rPr lang="zh-CN" altLang="en-US" b="1" dirty="0">
                <a:solidFill>
                  <a:schemeClr val="tx1"/>
                </a:solidFill>
                <a:cs typeface="+mn-ea"/>
                <a:sym typeface="+mn-ea"/>
              </a:rPr>
              <a:t> </a:t>
            </a:r>
            <a:endParaRPr lang="zh-CN" altLang="en-US" b="1" dirty="0">
              <a:solidFill>
                <a:schemeClr val="tx1"/>
              </a:solidFill>
              <a:cs typeface="+mn-ea"/>
              <a:sym typeface="+mn-ea"/>
            </a:endParaRPr>
          </a:p>
          <a:p>
            <a:pPr marL="0" indent="0">
              <a:buNone/>
            </a:pPr>
            <a:r>
              <a:rPr lang="zh-CN" altLang="en-US" b="1" dirty="0">
                <a:solidFill>
                  <a:srgbClr val="FF0000"/>
                </a:solidFill>
                <a:cs typeface="+mn-ea"/>
                <a:sym typeface="+mn-ea"/>
              </a:rPr>
              <a:t>字符串：</a:t>
            </a:r>
            <a:endParaRPr lang="zh-CN" altLang="en-US" b="1" dirty="0">
              <a:solidFill>
                <a:schemeClr val="tx1"/>
              </a:solidFill>
              <a:cs typeface="+mn-ea"/>
              <a:sym typeface="+mn-ea"/>
            </a:endParaRPr>
          </a:p>
          <a:p>
            <a:pPr marL="0" indent="0">
              <a:buNone/>
            </a:pPr>
            <a:r>
              <a:rPr lang="en-US" altLang="zh-CN" dirty="0">
                <a:solidFill>
                  <a:schemeClr val="tx1"/>
                </a:solidFill>
                <a:cs typeface="+mn-ea"/>
                <a:sym typeface="+mn-ea"/>
              </a:rPr>
              <a:t>str1 = “hello world”</a:t>
            </a:r>
            <a:r>
              <a:rPr lang="zh-CN" altLang="en-US" b="1" dirty="0">
                <a:solidFill>
                  <a:schemeClr val="tx1"/>
                </a:solidFill>
                <a:cs typeface="+mn-ea"/>
                <a:sym typeface="+mn-ea"/>
              </a:rPr>
              <a:t> </a:t>
            </a:r>
            <a:r>
              <a:rPr lang="zh-CN" altLang="en-US" sz="1600" b="1" dirty="0">
                <a:solidFill>
                  <a:schemeClr val="tx1"/>
                </a:solidFill>
                <a:cs typeface="+mn-ea"/>
                <a:sym typeface="+mn-ea"/>
              </a:rPr>
              <a:t>        </a:t>
            </a:r>
            <a:r>
              <a:rPr lang="en-US" altLang="zh-CN" sz="1600" b="1" dirty="0">
                <a:solidFill>
                  <a:srgbClr val="0070C0"/>
                </a:solidFill>
                <a:cs typeface="+mn-ea"/>
                <a:sym typeface="+mn-ea"/>
              </a:rPr>
              <a:t>  </a:t>
            </a:r>
            <a:endParaRPr lang="en-US" altLang="zh-CN" sz="1200" b="1" dirty="0">
              <a:solidFill>
                <a:schemeClr val="tx1"/>
              </a:solidFill>
              <a:latin typeface="Arial" panose="020B0604020202020204" pitchFamily="34" charset="0"/>
              <a:ea typeface="微软雅黑" panose="020B0503020204020204" pitchFamily="34" charset="-122"/>
              <a:cs typeface="+mn-ea"/>
              <a:sym typeface="+mn-ea"/>
            </a:endParaRPr>
          </a:p>
        </p:txBody>
      </p:sp>
      <p:sp>
        <p:nvSpPr>
          <p:cNvPr id="13" name="爆炸形 1 12"/>
          <p:cNvSpPr/>
          <p:nvPr/>
        </p:nvSpPr>
        <p:spPr>
          <a:xfrm>
            <a:off x="5245100" y="1260475"/>
            <a:ext cx="2393950" cy="1313815"/>
          </a:xfrm>
          <a:prstGeom prst="irregularSeal1">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特征是有序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195739" y="141482"/>
            <a:ext cx="6768877" cy="645160"/>
          </a:xfrm>
        </p:spPr>
        <p:txBody>
          <a:bodyPr/>
          <a:lstStyle/>
          <a:p>
            <a:r>
              <a:rPr lang="zh-CN" altLang="en-US" dirty="0"/>
              <a:t>如何使用序列</a:t>
            </a:r>
            <a:br>
              <a:rPr lang="zh-CN" altLang="en-US" dirty="0"/>
            </a:br>
            <a:endParaRPr lang="zh-CN" altLang="en-US"/>
          </a:p>
        </p:txBody>
      </p:sp>
      <p:sp>
        <p:nvSpPr>
          <p:cNvPr id="7" name="Freeform 6"/>
          <p:cNvSpPr/>
          <p:nvPr/>
        </p:nvSpPr>
        <p:spPr>
          <a:xfrm>
            <a:off x="214630" y="688975"/>
            <a:ext cx="3399790" cy="4439920"/>
          </a:xfrm>
          <a:custGeom>
            <a:avLst/>
            <a:gdLst>
              <a:gd name="connsiteX0" fmla="*/ 10391 w 5552210"/>
              <a:gd name="connsiteY0" fmla="*/ 0 h 7602682"/>
              <a:gd name="connsiteX1" fmla="*/ 72736 w 5552210"/>
              <a:gd name="connsiteY1" fmla="*/ 51955 h 7602682"/>
              <a:gd name="connsiteX2" fmla="*/ 3574473 w 5552210"/>
              <a:gd name="connsiteY2" fmla="*/ 2545773 h 7602682"/>
              <a:gd name="connsiteX3" fmla="*/ 4956464 w 5552210"/>
              <a:gd name="connsiteY3" fmla="*/ 6878782 h 7602682"/>
              <a:gd name="connsiteX4" fmla="*/ 0 w 5552210"/>
              <a:gd name="connsiteY4" fmla="*/ 6889173 h 7602682"/>
              <a:gd name="connsiteX0-1" fmla="*/ 10391 w 5552210"/>
              <a:gd name="connsiteY0-2" fmla="*/ 0 h 7602682"/>
              <a:gd name="connsiteX1-3" fmla="*/ 72736 w 5552210"/>
              <a:gd name="connsiteY1-4" fmla="*/ 51955 h 7602682"/>
              <a:gd name="connsiteX2-5" fmla="*/ 3574473 w 5552210"/>
              <a:gd name="connsiteY2-6" fmla="*/ 2545773 h 7602682"/>
              <a:gd name="connsiteX3-7" fmla="*/ 4956464 w 5552210"/>
              <a:gd name="connsiteY3-8" fmla="*/ 6878782 h 7602682"/>
              <a:gd name="connsiteX4-9" fmla="*/ 0 w 5552210"/>
              <a:gd name="connsiteY4-10" fmla="*/ 6889173 h 7602682"/>
              <a:gd name="connsiteX0-11" fmla="*/ 10391 w 5552210"/>
              <a:gd name="connsiteY0-12" fmla="*/ 0 h 7602682"/>
              <a:gd name="connsiteX1-13" fmla="*/ 72736 w 5552210"/>
              <a:gd name="connsiteY1-14" fmla="*/ 51955 h 7602682"/>
              <a:gd name="connsiteX2-15" fmla="*/ 3574473 w 5552210"/>
              <a:gd name="connsiteY2-16" fmla="*/ 2545773 h 7602682"/>
              <a:gd name="connsiteX3-17" fmla="*/ 4956464 w 5552210"/>
              <a:gd name="connsiteY3-18" fmla="*/ 6878782 h 7602682"/>
              <a:gd name="connsiteX4-19" fmla="*/ 0 w 5552210"/>
              <a:gd name="connsiteY4-20" fmla="*/ 6889173 h 7602682"/>
              <a:gd name="connsiteX0-21" fmla="*/ 10391 w 5552210"/>
              <a:gd name="connsiteY0-22" fmla="*/ 0 h 7602682"/>
              <a:gd name="connsiteX1-23" fmla="*/ 72736 w 5552210"/>
              <a:gd name="connsiteY1-24" fmla="*/ 51955 h 7602682"/>
              <a:gd name="connsiteX2-25" fmla="*/ 3574473 w 5552210"/>
              <a:gd name="connsiteY2-26" fmla="*/ 2545773 h 7602682"/>
              <a:gd name="connsiteX3-27" fmla="*/ 4956464 w 5552210"/>
              <a:gd name="connsiteY3-28" fmla="*/ 6878782 h 7602682"/>
              <a:gd name="connsiteX4-29" fmla="*/ 0 w 5552210"/>
              <a:gd name="connsiteY4-30" fmla="*/ 6889173 h 7602682"/>
              <a:gd name="connsiteX5" fmla="*/ 10391 w 5552210"/>
              <a:gd name="connsiteY5" fmla="*/ 0 h 7602682"/>
              <a:gd name="connsiteX0-31" fmla="*/ 10391 w 5552210"/>
              <a:gd name="connsiteY0-32" fmla="*/ 0 h 6889173"/>
              <a:gd name="connsiteX1-33" fmla="*/ 72736 w 5552210"/>
              <a:gd name="connsiteY1-34" fmla="*/ 51955 h 6889173"/>
              <a:gd name="connsiteX2-35" fmla="*/ 3574473 w 5552210"/>
              <a:gd name="connsiteY2-36" fmla="*/ 2545773 h 6889173"/>
              <a:gd name="connsiteX3-37" fmla="*/ 4956464 w 5552210"/>
              <a:gd name="connsiteY3-38" fmla="*/ 6878782 h 6889173"/>
              <a:gd name="connsiteX4-39" fmla="*/ 0 w 5552210"/>
              <a:gd name="connsiteY4-40" fmla="*/ 6889173 h 6889173"/>
              <a:gd name="connsiteX5-41" fmla="*/ 10391 w 5552210"/>
              <a:gd name="connsiteY5-42" fmla="*/ 0 h 6889173"/>
              <a:gd name="connsiteX0-43" fmla="*/ 10391 w 4968587"/>
              <a:gd name="connsiteY0-44" fmla="*/ 0 h 6889173"/>
              <a:gd name="connsiteX1-45" fmla="*/ 72736 w 4968587"/>
              <a:gd name="connsiteY1-46" fmla="*/ 51955 h 6889173"/>
              <a:gd name="connsiteX2-47" fmla="*/ 4956464 w 4968587"/>
              <a:gd name="connsiteY2-48" fmla="*/ 6878782 h 6889173"/>
              <a:gd name="connsiteX3-49" fmla="*/ 0 w 4968587"/>
              <a:gd name="connsiteY3-50" fmla="*/ 6889173 h 6889173"/>
              <a:gd name="connsiteX4-51" fmla="*/ 10391 w 4968587"/>
              <a:gd name="connsiteY4-52" fmla="*/ 0 h 6889173"/>
              <a:gd name="connsiteX0-53" fmla="*/ 10391 w 4956464"/>
              <a:gd name="connsiteY0-54" fmla="*/ 0 h 6889173"/>
              <a:gd name="connsiteX1-55" fmla="*/ 4956464 w 4956464"/>
              <a:gd name="connsiteY1-56" fmla="*/ 6878782 h 6889173"/>
              <a:gd name="connsiteX2-57" fmla="*/ 0 w 4956464"/>
              <a:gd name="connsiteY2-58" fmla="*/ 6889173 h 6889173"/>
              <a:gd name="connsiteX3-59" fmla="*/ 10391 w 4956464"/>
              <a:gd name="connsiteY3-60" fmla="*/ 0 h 6889173"/>
              <a:gd name="connsiteX0-61" fmla="*/ 10391 w 4956464"/>
              <a:gd name="connsiteY0-62" fmla="*/ 0 h 6889173"/>
              <a:gd name="connsiteX1-63" fmla="*/ 4956464 w 4956464"/>
              <a:gd name="connsiteY1-64" fmla="*/ 6878782 h 6889173"/>
              <a:gd name="connsiteX2-65" fmla="*/ 0 w 4956464"/>
              <a:gd name="connsiteY2-66" fmla="*/ 6889173 h 6889173"/>
              <a:gd name="connsiteX3-67" fmla="*/ 10391 w 4956464"/>
              <a:gd name="connsiteY3-68" fmla="*/ 0 h 6889173"/>
              <a:gd name="connsiteX0-69" fmla="*/ 10391 w 4956464"/>
              <a:gd name="connsiteY0-70" fmla="*/ 0 h 6889173"/>
              <a:gd name="connsiteX1-71" fmla="*/ 4956464 w 4956464"/>
              <a:gd name="connsiteY1-72" fmla="*/ 6878782 h 6889173"/>
              <a:gd name="connsiteX2-73" fmla="*/ 0 w 4956464"/>
              <a:gd name="connsiteY2-74" fmla="*/ 6889173 h 6889173"/>
              <a:gd name="connsiteX3-75" fmla="*/ 10391 w 4956464"/>
              <a:gd name="connsiteY3-76" fmla="*/ 0 h 6889173"/>
              <a:gd name="connsiteX0-77" fmla="*/ 10391 w 4956464"/>
              <a:gd name="connsiteY0-78" fmla="*/ 0 h 6889173"/>
              <a:gd name="connsiteX1-79" fmla="*/ 4956464 w 4956464"/>
              <a:gd name="connsiteY1-80" fmla="*/ 6878782 h 6889173"/>
              <a:gd name="connsiteX2-81" fmla="*/ 0 w 4956464"/>
              <a:gd name="connsiteY2-82" fmla="*/ 6889173 h 6889173"/>
              <a:gd name="connsiteX3-83" fmla="*/ 10391 w 4956464"/>
              <a:gd name="connsiteY3-84" fmla="*/ 0 h 6889173"/>
              <a:gd name="connsiteX0-85" fmla="*/ 10391 w 4956464"/>
              <a:gd name="connsiteY0-86" fmla="*/ 0 h 6889173"/>
              <a:gd name="connsiteX1-87" fmla="*/ 4956464 w 4956464"/>
              <a:gd name="connsiteY1-88" fmla="*/ 6878782 h 6889173"/>
              <a:gd name="connsiteX2-89" fmla="*/ 0 w 4956464"/>
              <a:gd name="connsiteY2-90" fmla="*/ 6889173 h 6889173"/>
              <a:gd name="connsiteX3-91" fmla="*/ 10391 w 4956464"/>
              <a:gd name="connsiteY3-92" fmla="*/ 0 h 6889173"/>
            </a:gdLst>
            <a:ahLst/>
            <a:cxnLst>
              <a:cxn ang="0">
                <a:pos x="connsiteX0-1" y="connsiteY0-2"/>
              </a:cxn>
              <a:cxn ang="0">
                <a:pos x="connsiteX1-3" y="connsiteY1-4"/>
              </a:cxn>
              <a:cxn ang="0">
                <a:pos x="connsiteX2-5" y="connsiteY2-6"/>
              </a:cxn>
              <a:cxn ang="0">
                <a:pos x="connsiteX3-7" y="connsiteY3-8"/>
              </a:cxn>
            </a:cxnLst>
            <a:rect l="l" t="t" r="r" b="b"/>
            <a:pathLst>
              <a:path w="4956464" h="6889173">
                <a:moveTo>
                  <a:pt x="10391" y="0"/>
                </a:moveTo>
                <a:cubicBezTo>
                  <a:pt x="3352800" y="1236518"/>
                  <a:pt x="4426528" y="4305300"/>
                  <a:pt x="4956464" y="6878782"/>
                </a:cubicBezTo>
                <a:lnTo>
                  <a:pt x="0" y="6889173"/>
                </a:lnTo>
                <a:cubicBezTo>
                  <a:pt x="3464" y="4592782"/>
                  <a:pt x="6927" y="2296391"/>
                  <a:pt x="10391" y="0"/>
                </a:cubicBezTo>
                <a:close/>
              </a:path>
            </a:pathLst>
          </a:cu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pic>
        <p:nvPicPr>
          <p:cNvPr id="5" name="Picture 2" descr="10738245_daisycopy.jpg"/>
          <p:cNvPicPr>
            <a:picLocks noChangeAspect="1"/>
          </p:cNvPicPr>
          <p:nvPr/>
        </p:nvPicPr>
        <p:blipFill>
          <a:blip r:embed="rId1" cstate="print"/>
          <a:srcRect/>
          <a:stretch>
            <a:fillRect/>
          </a:stretch>
        </p:blipFill>
        <p:spPr>
          <a:xfrm>
            <a:off x="880110" y="688975"/>
            <a:ext cx="868680" cy="868680"/>
          </a:xfrm>
          <a:prstGeom prst="ellipse">
            <a:avLst/>
          </a:prstGeom>
          <a:ln>
            <a:noFill/>
          </a:ln>
          <a:effectLst>
            <a:outerShdw blurRad="127000" dist="127000" dir="8460000" algn="ctr">
              <a:srgbClr val="000000">
                <a:alpha val="23000"/>
              </a:srgbClr>
            </a:outerShdw>
          </a:effectLst>
          <a:scene3d>
            <a:camera prst="orthographicFront">
              <a:rot lat="0" lon="0" rev="0"/>
            </a:camera>
            <a:lightRig rig="contrasting" dir="t">
              <a:rot lat="0" lon="0" rev="1500000"/>
            </a:lightRig>
          </a:scene3d>
          <a:sp3d prstMaterial="metal">
            <a:bevelT w="88900" h="88900"/>
          </a:sp3d>
        </p:spPr>
      </p:pic>
      <p:pic>
        <p:nvPicPr>
          <p:cNvPr id="6" name="Picture 4" descr="10738245_daisycopy.jpg"/>
          <p:cNvPicPr>
            <a:picLocks noChangeAspect="1"/>
          </p:cNvPicPr>
          <p:nvPr/>
        </p:nvPicPr>
        <p:blipFill>
          <a:blip r:embed="rId2" cstate="print"/>
          <a:srcRect/>
          <a:stretch>
            <a:fillRect/>
          </a:stretch>
        </p:blipFill>
        <p:spPr>
          <a:xfrm>
            <a:off x="1748790" y="1667510"/>
            <a:ext cx="891540" cy="891540"/>
          </a:xfrm>
          <a:prstGeom prst="ellipse">
            <a:avLst/>
          </a:prstGeom>
          <a:ln>
            <a:noFill/>
          </a:ln>
          <a:effectLst>
            <a:outerShdw blurRad="127000" dist="127000" dir="8460000" algn="ctr">
              <a:srgbClr val="000000">
                <a:alpha val="23000"/>
              </a:srgbClr>
            </a:outerShdw>
          </a:effectLst>
          <a:scene3d>
            <a:camera prst="orthographicFront">
              <a:rot lat="0" lon="0" rev="0"/>
            </a:camera>
            <a:lightRig rig="contrasting" dir="t">
              <a:rot lat="0" lon="0" rev="1500000"/>
            </a:lightRig>
          </a:scene3d>
          <a:sp3d prstMaterial="metal">
            <a:bevelT w="88900" h="88900"/>
          </a:sp3d>
        </p:spPr>
      </p:pic>
      <p:pic>
        <p:nvPicPr>
          <p:cNvPr id="8" name="Picture 5" descr="10738245_daisycopy.jpg"/>
          <p:cNvPicPr>
            <a:picLocks noChangeAspect="1"/>
          </p:cNvPicPr>
          <p:nvPr/>
        </p:nvPicPr>
        <p:blipFill>
          <a:blip r:embed="rId3" cstate="print"/>
          <a:srcRect/>
          <a:stretch>
            <a:fillRect/>
          </a:stretch>
        </p:blipFill>
        <p:spPr>
          <a:xfrm>
            <a:off x="2571750" y="2828290"/>
            <a:ext cx="836930" cy="836930"/>
          </a:xfrm>
          <a:prstGeom prst="ellipse">
            <a:avLst/>
          </a:prstGeom>
          <a:ln>
            <a:noFill/>
          </a:ln>
          <a:effectLst>
            <a:outerShdw blurRad="127000" dist="127000" dir="8460000" algn="ctr">
              <a:srgbClr val="000000">
                <a:alpha val="23000"/>
              </a:srgbClr>
            </a:outerShdw>
          </a:effectLst>
          <a:scene3d>
            <a:camera prst="orthographicFront">
              <a:rot lat="0" lon="0" rev="0"/>
            </a:camera>
            <a:lightRig rig="contrasting" dir="t">
              <a:rot lat="0" lon="0" rev="1500000"/>
            </a:lightRig>
          </a:scene3d>
          <a:sp3d prstMaterial="metal">
            <a:bevelT w="88900" h="88900"/>
          </a:sp3d>
        </p:spPr>
      </p:pic>
      <p:sp>
        <p:nvSpPr>
          <p:cNvPr id="9" name="TextBox 7"/>
          <p:cNvSpPr txBox="1"/>
          <p:nvPr/>
        </p:nvSpPr>
        <p:spPr>
          <a:xfrm flipH="1">
            <a:off x="1824991" y="781240"/>
            <a:ext cx="3840481" cy="429895"/>
          </a:xfrm>
          <a:prstGeom prst="rect">
            <a:avLst/>
          </a:prstGeom>
          <a:noFill/>
        </p:spPr>
        <p:txBody>
          <a:bodyPr wrap="square" rtlCol="0">
            <a:spAutoFit/>
          </a:bodyPr>
          <a:lstStyle/>
          <a:p>
            <a:r>
              <a:rPr lang="zh-CN" altLang="en-US" sz="2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序列的</a:t>
            </a:r>
            <a:r>
              <a:rPr lang="en-US" altLang="zh-CN" sz="2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操作</a:t>
            </a:r>
            <a:endParaRPr lang="en-US" sz="2200" dirty="0">
              <a:solidFill>
                <a:prstClr val="white">
                  <a:lumMod val="50000"/>
                </a:prstClr>
              </a:solidFill>
              <a:latin typeface="Corbel" panose="020B0503020204020204" pitchFamily="34" charset="0"/>
            </a:endParaRPr>
          </a:p>
        </p:txBody>
      </p:sp>
      <p:sp>
        <p:nvSpPr>
          <p:cNvPr id="10" name="TextBox 8"/>
          <p:cNvSpPr txBox="1"/>
          <p:nvPr/>
        </p:nvSpPr>
        <p:spPr>
          <a:xfrm flipH="1">
            <a:off x="3131820" y="1667710"/>
            <a:ext cx="3840481" cy="598805"/>
          </a:xfrm>
          <a:prstGeom prst="rect">
            <a:avLst/>
          </a:prstGeom>
          <a:noFill/>
        </p:spPr>
        <p:txBody>
          <a:bodyPr wrap="square" rtlCol="0">
            <a:spAutoFit/>
          </a:bodyPr>
          <a:lstStyle/>
          <a:p>
            <a:pPr algn="just">
              <a:lnSpc>
                <a:spcPct val="150000"/>
              </a:lnSpc>
            </a:pPr>
            <a:r>
              <a:rPr lang="zh-CN" altLang="en-US" sz="2200" dirty="0">
                <a:solidFill>
                  <a:srgbClr val="595959"/>
                </a:solidFill>
                <a:latin typeface="微软雅黑" panose="020B0503020204020204" pitchFamily="34" charset="-122"/>
                <a:ea typeface="微软雅黑" panose="020B0503020204020204" pitchFamily="34" charset="-122"/>
                <a:sym typeface="+mn-ea"/>
              </a:rPr>
              <a:t>序列的最大值、最小值、求和</a:t>
            </a:r>
            <a:endParaRPr lang="en-US" sz="2200" dirty="0">
              <a:solidFill>
                <a:prstClr val="white">
                  <a:lumMod val="50000"/>
                </a:prstClr>
              </a:solidFill>
              <a:latin typeface="Corbel" panose="020B0503020204020204" pitchFamily="34" charset="0"/>
            </a:endParaRPr>
          </a:p>
        </p:txBody>
      </p:sp>
      <p:sp>
        <p:nvSpPr>
          <p:cNvPr id="11" name="TextBox 9"/>
          <p:cNvSpPr txBox="1"/>
          <p:nvPr/>
        </p:nvSpPr>
        <p:spPr>
          <a:xfrm flipH="1">
            <a:off x="3614424" y="3031691"/>
            <a:ext cx="3840481" cy="429895"/>
          </a:xfrm>
          <a:prstGeom prst="rect">
            <a:avLst/>
          </a:prstGeom>
          <a:noFill/>
        </p:spPr>
        <p:txBody>
          <a:bodyPr wrap="square" rtlCol="0">
            <a:spAutoFit/>
          </a:bodyPr>
          <a:lstStyle/>
          <a:p>
            <a:r>
              <a:rPr lang="zh-CN" altLang="en-US" sz="2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序列的索引、长度</a:t>
            </a:r>
            <a:endParaRPr lang="zh-CN" altLang="en-US" sz="2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2" name="Picture 10" descr="10738245_daisycopy.jpg"/>
          <p:cNvPicPr>
            <a:picLocks noChangeAspect="1"/>
          </p:cNvPicPr>
          <p:nvPr/>
        </p:nvPicPr>
        <p:blipFill>
          <a:blip r:embed="rId4" cstate="print"/>
          <a:srcRect/>
          <a:stretch>
            <a:fillRect/>
          </a:stretch>
        </p:blipFill>
        <p:spPr>
          <a:xfrm>
            <a:off x="3131820" y="4141470"/>
            <a:ext cx="861060" cy="857885"/>
          </a:xfrm>
          <a:prstGeom prst="ellipse">
            <a:avLst/>
          </a:prstGeom>
          <a:ln>
            <a:noFill/>
          </a:ln>
          <a:effectLst>
            <a:outerShdw blurRad="127000" dist="127000" dir="8460000" algn="ctr">
              <a:srgbClr val="000000">
                <a:alpha val="23000"/>
              </a:srgbClr>
            </a:outerShdw>
          </a:effectLst>
          <a:scene3d>
            <a:camera prst="orthographicFront">
              <a:rot lat="0" lon="0" rev="0"/>
            </a:camera>
            <a:lightRig rig="contrasting" dir="t">
              <a:rot lat="0" lon="0" rev="1500000"/>
            </a:lightRig>
          </a:scene3d>
          <a:sp3d prstMaterial="metal">
            <a:bevelT/>
          </a:sp3d>
        </p:spPr>
      </p:pic>
      <p:sp>
        <p:nvSpPr>
          <p:cNvPr id="13" name="TextBox 11"/>
          <p:cNvSpPr txBox="1"/>
          <p:nvPr/>
        </p:nvSpPr>
        <p:spPr>
          <a:xfrm flipH="1">
            <a:off x="4159250" y="4141470"/>
            <a:ext cx="4427855" cy="598805"/>
          </a:xfrm>
          <a:prstGeom prst="rect">
            <a:avLst/>
          </a:prstGeom>
          <a:noFill/>
        </p:spPr>
        <p:txBody>
          <a:bodyPr wrap="square" rtlCol="0">
            <a:spAutoFit/>
          </a:bodyPr>
          <a:lstStyle/>
          <a:p>
            <a:pPr algn="just">
              <a:lnSpc>
                <a:spcPct val="150000"/>
              </a:lnSpc>
            </a:pPr>
            <a:r>
              <a:rPr lang="zh-CN" altLang="en-US" sz="2200" dirty="0">
                <a:solidFill>
                  <a:srgbClr val="595959"/>
                </a:solidFill>
                <a:latin typeface="微软雅黑" panose="020B0503020204020204" pitchFamily="34" charset="-122"/>
                <a:ea typeface="微软雅黑" panose="020B0503020204020204" pitchFamily="34" charset="-122"/>
                <a:sym typeface="+mn-ea"/>
              </a:rPr>
              <a:t>序列的分片、遍历、成员资格判断</a:t>
            </a:r>
            <a:endParaRPr lang="en-US" sz="2200" dirty="0">
              <a:solidFill>
                <a:prstClr val="white">
                  <a:lumMod val="50000"/>
                </a:prstClr>
              </a:solidFill>
              <a:latin typeface="Corbel" panose="020B0503020204020204" pitchFamily="34"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iterate type="lt">
                                    <p:tmPct val="5000"/>
                                  </p:iterate>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par>
                                <p:cTn id="11" presetID="0" presetClass="path" presetSubtype="0" accel="50000" decel="50000" fill="hold" nodeType="withEffect">
                                  <p:stCondLst>
                                    <p:cond delay="0"/>
                                  </p:stCondLst>
                                  <p:iterate type="lt">
                                    <p:tmPct val="0"/>
                                  </p:iterate>
                                  <p:childTnLst>
                                    <p:animMotion origin="layout" path="M 4.16667E-6 -3.89454E-6 C 0.06632 0.09598 0.13298 0.19219 0.18559 0.34991 C 0.23819 0.50764 0.27656 0.72688 0.3151 0.94635 " pathEditMode="relative" rAng="0" ptsTypes="aaA">
                                      <p:cBhvr>
                                        <p:cTn id="12" dur="1000" spd="-100000" fill="hold"/>
                                        <p:tgtEl>
                                          <p:spTgt spid="5"/>
                                        </p:tgtEl>
                                        <p:attrNameLst>
                                          <p:attrName>ppt_x</p:attrName>
                                          <p:attrName>ppt_y</p:attrName>
                                        </p:attrNameLst>
                                      </p:cBhvr>
                                      <p:rCtr x="15700" y="47300"/>
                                    </p:animMotion>
                                  </p:childTnLst>
                                </p:cTn>
                              </p:par>
                            </p:childTnLst>
                          </p:cTn>
                        </p:par>
                        <p:par>
                          <p:cTn id="13" fill="hold">
                            <p:stCondLst>
                              <p:cond delay="0"/>
                            </p:stCondLst>
                            <p:childTnLst>
                              <p:par>
                                <p:cTn id="14" presetID="10" presetClass="entr" presetSubtype="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1000"/>
                                        <p:tgtEl>
                                          <p:spTgt spid="9"/>
                                        </p:tgtEl>
                                      </p:cBhvr>
                                    </p:animEffect>
                                  </p:childTnLst>
                                </p:cTn>
                              </p:par>
                              <p:par>
                                <p:cTn id="17" presetID="31" presetClass="entr" presetSubtype="0" fill="hold" nodeType="withEffect">
                                  <p:stCondLst>
                                    <p:cond delay="0"/>
                                  </p:stCondLst>
                                  <p:iterate type="lt">
                                    <p:tmPct val="5000"/>
                                  </p:iterate>
                                  <p:childTnLst>
                                    <p:set>
                                      <p:cBhvr>
                                        <p:cTn id="18" dur="1" fill="hold">
                                          <p:stCondLst>
                                            <p:cond delay="0"/>
                                          </p:stCondLst>
                                        </p:cTn>
                                        <p:tgtEl>
                                          <p:spTgt spid="6"/>
                                        </p:tgtEl>
                                        <p:attrNameLst>
                                          <p:attrName>style.visibility</p:attrName>
                                        </p:attrNameLst>
                                      </p:cBhvr>
                                      <p:to>
                                        <p:strVal val="visible"/>
                                      </p:to>
                                    </p:set>
                                    <p:anim calcmode="lin" valueType="num">
                                      <p:cBhvr>
                                        <p:cTn id="19" dur="1000" fill="hold"/>
                                        <p:tgtEl>
                                          <p:spTgt spid="6"/>
                                        </p:tgtEl>
                                        <p:attrNameLst>
                                          <p:attrName>ppt_w</p:attrName>
                                        </p:attrNameLst>
                                      </p:cBhvr>
                                      <p:tavLst>
                                        <p:tav tm="0">
                                          <p:val>
                                            <p:fltVal val="0"/>
                                          </p:val>
                                        </p:tav>
                                        <p:tav tm="100000">
                                          <p:val>
                                            <p:strVal val="#ppt_w"/>
                                          </p:val>
                                        </p:tav>
                                      </p:tavLst>
                                    </p:anim>
                                    <p:anim calcmode="lin" valueType="num">
                                      <p:cBhvr>
                                        <p:cTn id="20" dur="1000" fill="hold"/>
                                        <p:tgtEl>
                                          <p:spTgt spid="6"/>
                                        </p:tgtEl>
                                        <p:attrNameLst>
                                          <p:attrName>ppt_h</p:attrName>
                                        </p:attrNameLst>
                                      </p:cBhvr>
                                      <p:tavLst>
                                        <p:tav tm="0">
                                          <p:val>
                                            <p:fltVal val="0"/>
                                          </p:val>
                                        </p:tav>
                                        <p:tav tm="100000">
                                          <p:val>
                                            <p:strVal val="#ppt_h"/>
                                          </p:val>
                                        </p:tav>
                                      </p:tavLst>
                                    </p:anim>
                                    <p:anim calcmode="lin" valueType="num">
                                      <p:cBhvr>
                                        <p:cTn id="21" dur="1000" fill="hold"/>
                                        <p:tgtEl>
                                          <p:spTgt spid="6"/>
                                        </p:tgtEl>
                                        <p:attrNameLst>
                                          <p:attrName>style.rotation</p:attrName>
                                        </p:attrNameLst>
                                      </p:cBhvr>
                                      <p:tavLst>
                                        <p:tav tm="0">
                                          <p:val>
                                            <p:fltVal val="90"/>
                                          </p:val>
                                        </p:tav>
                                        <p:tav tm="100000">
                                          <p:val>
                                            <p:fltVal val="0"/>
                                          </p:val>
                                        </p:tav>
                                      </p:tavLst>
                                    </p:anim>
                                    <p:animEffect transition="in" filter="fade">
                                      <p:cBhvr>
                                        <p:cTn id="22" dur="1000"/>
                                        <p:tgtEl>
                                          <p:spTgt spid="6"/>
                                        </p:tgtEl>
                                      </p:cBhvr>
                                    </p:animEffect>
                                  </p:childTnLst>
                                </p:cTn>
                              </p:par>
                              <p:par>
                                <p:cTn id="23" presetID="0" presetClass="path" presetSubtype="0" accel="50000" decel="50000" fill="hold" nodeType="withEffect">
                                  <p:stCondLst>
                                    <p:cond delay="0"/>
                                  </p:stCondLst>
                                  <p:iterate type="lt">
                                    <p:tmPct val="0"/>
                                  </p:iterate>
                                  <p:childTnLst>
                                    <p:animMotion origin="layout" path="M 8.33333E-7 2.78446E-6 C 0.05608 0.10522 0.08767 0.20583 0.1217 0.3358 C 0.15573 0.46577 0.18733 0.68709 0.20451 0.77937 " pathEditMode="relative" rAng="0" ptsTypes="faf">
                                      <p:cBhvr>
                                        <p:cTn id="24" dur="1000" spd="-100000" fill="hold"/>
                                        <p:tgtEl>
                                          <p:spTgt spid="6"/>
                                        </p:tgtEl>
                                        <p:attrNameLst>
                                          <p:attrName>ppt_x</p:attrName>
                                          <p:attrName>ppt_y</p:attrName>
                                        </p:attrNameLst>
                                      </p:cBhvr>
                                      <p:rCtr x="10200" y="39000"/>
                                    </p:animMotion>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childTnLst>
                                </p:cTn>
                              </p:par>
                              <p:par>
                                <p:cTn id="29" presetID="31" presetClass="entr" presetSubtype="0" fill="hold" nodeType="withEffect">
                                  <p:stCondLst>
                                    <p:cond delay="0"/>
                                  </p:stCondLst>
                                  <p:iterate type="lt">
                                    <p:tmPct val="5000"/>
                                  </p:iterate>
                                  <p:childTnLst>
                                    <p:set>
                                      <p:cBhvr>
                                        <p:cTn id="30" dur="1" fill="hold">
                                          <p:stCondLst>
                                            <p:cond delay="0"/>
                                          </p:stCondLst>
                                        </p:cTn>
                                        <p:tgtEl>
                                          <p:spTgt spid="8"/>
                                        </p:tgtEl>
                                        <p:attrNameLst>
                                          <p:attrName>style.visibility</p:attrName>
                                        </p:attrNameLst>
                                      </p:cBhvr>
                                      <p:to>
                                        <p:strVal val="visible"/>
                                      </p:to>
                                    </p:set>
                                    <p:anim calcmode="lin" valueType="num">
                                      <p:cBhvr>
                                        <p:cTn id="31" dur="1000" fill="hold"/>
                                        <p:tgtEl>
                                          <p:spTgt spid="8"/>
                                        </p:tgtEl>
                                        <p:attrNameLst>
                                          <p:attrName>ppt_w</p:attrName>
                                        </p:attrNameLst>
                                      </p:cBhvr>
                                      <p:tavLst>
                                        <p:tav tm="0">
                                          <p:val>
                                            <p:fltVal val="0"/>
                                          </p:val>
                                        </p:tav>
                                        <p:tav tm="100000">
                                          <p:val>
                                            <p:strVal val="#ppt_w"/>
                                          </p:val>
                                        </p:tav>
                                      </p:tavLst>
                                    </p:anim>
                                    <p:anim calcmode="lin" valueType="num">
                                      <p:cBhvr>
                                        <p:cTn id="32" dur="1000" fill="hold"/>
                                        <p:tgtEl>
                                          <p:spTgt spid="8"/>
                                        </p:tgtEl>
                                        <p:attrNameLst>
                                          <p:attrName>ppt_h</p:attrName>
                                        </p:attrNameLst>
                                      </p:cBhvr>
                                      <p:tavLst>
                                        <p:tav tm="0">
                                          <p:val>
                                            <p:fltVal val="0"/>
                                          </p:val>
                                        </p:tav>
                                        <p:tav tm="100000">
                                          <p:val>
                                            <p:strVal val="#ppt_h"/>
                                          </p:val>
                                        </p:tav>
                                      </p:tavLst>
                                    </p:anim>
                                    <p:anim calcmode="lin" valueType="num">
                                      <p:cBhvr>
                                        <p:cTn id="33" dur="1000" fill="hold"/>
                                        <p:tgtEl>
                                          <p:spTgt spid="8"/>
                                        </p:tgtEl>
                                        <p:attrNameLst>
                                          <p:attrName>style.rotation</p:attrName>
                                        </p:attrNameLst>
                                      </p:cBhvr>
                                      <p:tavLst>
                                        <p:tav tm="0">
                                          <p:val>
                                            <p:fltVal val="90"/>
                                          </p:val>
                                        </p:tav>
                                        <p:tav tm="100000">
                                          <p:val>
                                            <p:fltVal val="0"/>
                                          </p:val>
                                        </p:tav>
                                      </p:tavLst>
                                    </p:anim>
                                    <p:animEffect transition="in" filter="fade">
                                      <p:cBhvr>
                                        <p:cTn id="34" dur="1000"/>
                                        <p:tgtEl>
                                          <p:spTgt spid="8"/>
                                        </p:tgtEl>
                                      </p:cBhvr>
                                    </p:animEffect>
                                  </p:childTnLst>
                                </p:cTn>
                              </p:par>
                              <p:par>
                                <p:cTn id="35" presetID="0" presetClass="path" presetSubtype="0" accel="50000" decel="50000" fill="hold" nodeType="withEffect">
                                  <p:stCondLst>
                                    <p:cond delay="0"/>
                                  </p:stCondLst>
                                  <p:iterate type="lt">
                                    <p:tmPct val="0"/>
                                  </p:iterate>
                                  <p:childTnLst>
                                    <p:animMotion origin="layout" path="M -1.66667E-6 2.23867E-6 C 0.0198 0.07146 0.03959 0.14315 0.05973 0.2426 C 0.07987 0.34204 0.10035 0.46924 0.12084 0.59644 " pathEditMode="relative" ptsTypes="aaA">
                                      <p:cBhvr>
                                        <p:cTn id="36" dur="1000" spd="-100000" fill="hold"/>
                                        <p:tgtEl>
                                          <p:spTgt spid="8"/>
                                        </p:tgtEl>
                                        <p:attrNameLst>
                                          <p:attrName>ppt_x</p:attrName>
                                          <p:attrName>ppt_y</p:attrName>
                                        </p:attrNameLst>
                                      </p:cBhvr>
                                    </p:animMotion>
                                  </p:childTnLst>
                                </p:cTn>
                              </p:par>
                            </p:childTnLst>
                          </p:cTn>
                        </p:par>
                        <p:par>
                          <p:cTn id="37" fill="hold">
                            <p:stCondLst>
                              <p:cond delay="2000"/>
                            </p:stCondLst>
                            <p:childTnLst>
                              <p:par>
                                <p:cTn id="38" presetID="10" presetClass="entr" presetSubtype="0"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1000"/>
                                        <p:tgtEl>
                                          <p:spTgt spid="11"/>
                                        </p:tgtEl>
                                      </p:cBhvr>
                                    </p:animEffect>
                                  </p:childTnLst>
                                </p:cTn>
                              </p:par>
                              <p:par>
                                <p:cTn id="41" presetID="31" presetClass="entr" presetSubtype="0" fill="hold" nodeType="withEffect">
                                  <p:stCondLst>
                                    <p:cond delay="0"/>
                                  </p:stCondLst>
                                  <p:iterate type="lt">
                                    <p:tmPct val="5000"/>
                                  </p:iterate>
                                  <p:childTnLst>
                                    <p:set>
                                      <p:cBhvr>
                                        <p:cTn id="42" dur="1" fill="hold">
                                          <p:stCondLst>
                                            <p:cond delay="0"/>
                                          </p:stCondLst>
                                        </p:cTn>
                                        <p:tgtEl>
                                          <p:spTgt spid="12"/>
                                        </p:tgtEl>
                                        <p:attrNameLst>
                                          <p:attrName>style.visibility</p:attrName>
                                        </p:attrNameLst>
                                      </p:cBhvr>
                                      <p:to>
                                        <p:strVal val="visible"/>
                                      </p:to>
                                    </p:set>
                                    <p:anim calcmode="lin" valueType="num">
                                      <p:cBhvr>
                                        <p:cTn id="43" dur="1000" fill="hold"/>
                                        <p:tgtEl>
                                          <p:spTgt spid="12"/>
                                        </p:tgtEl>
                                        <p:attrNameLst>
                                          <p:attrName>ppt_w</p:attrName>
                                        </p:attrNameLst>
                                      </p:cBhvr>
                                      <p:tavLst>
                                        <p:tav tm="0">
                                          <p:val>
                                            <p:fltVal val="0"/>
                                          </p:val>
                                        </p:tav>
                                        <p:tav tm="100000">
                                          <p:val>
                                            <p:strVal val="#ppt_w"/>
                                          </p:val>
                                        </p:tav>
                                      </p:tavLst>
                                    </p:anim>
                                    <p:anim calcmode="lin" valueType="num">
                                      <p:cBhvr>
                                        <p:cTn id="44" dur="1000" fill="hold"/>
                                        <p:tgtEl>
                                          <p:spTgt spid="12"/>
                                        </p:tgtEl>
                                        <p:attrNameLst>
                                          <p:attrName>ppt_h</p:attrName>
                                        </p:attrNameLst>
                                      </p:cBhvr>
                                      <p:tavLst>
                                        <p:tav tm="0">
                                          <p:val>
                                            <p:fltVal val="0"/>
                                          </p:val>
                                        </p:tav>
                                        <p:tav tm="100000">
                                          <p:val>
                                            <p:strVal val="#ppt_h"/>
                                          </p:val>
                                        </p:tav>
                                      </p:tavLst>
                                    </p:anim>
                                    <p:anim calcmode="lin" valueType="num">
                                      <p:cBhvr>
                                        <p:cTn id="45" dur="1000" fill="hold"/>
                                        <p:tgtEl>
                                          <p:spTgt spid="12"/>
                                        </p:tgtEl>
                                        <p:attrNameLst>
                                          <p:attrName>style.rotation</p:attrName>
                                        </p:attrNameLst>
                                      </p:cBhvr>
                                      <p:tavLst>
                                        <p:tav tm="0">
                                          <p:val>
                                            <p:fltVal val="90"/>
                                          </p:val>
                                        </p:tav>
                                        <p:tav tm="100000">
                                          <p:val>
                                            <p:fltVal val="0"/>
                                          </p:val>
                                        </p:tav>
                                      </p:tavLst>
                                    </p:anim>
                                    <p:animEffect transition="in" filter="fade">
                                      <p:cBhvr>
                                        <p:cTn id="46" dur="1000"/>
                                        <p:tgtEl>
                                          <p:spTgt spid="12"/>
                                        </p:tgtEl>
                                      </p:cBhvr>
                                    </p:animEffect>
                                  </p:childTnLst>
                                </p:cTn>
                              </p:par>
                              <p:par>
                                <p:cTn id="47" presetID="0" presetClass="path" presetSubtype="0" accel="50000" decel="50000" fill="hold" nodeType="withEffect">
                                  <p:stCondLst>
                                    <p:cond delay="0"/>
                                  </p:stCondLst>
                                  <p:iterate type="lt">
                                    <p:tmPct val="0"/>
                                  </p:iterate>
                                  <p:childTnLst>
                                    <p:animMotion origin="layout" path="M -2.22222E-6 1.26735E-6 C 0.01215 0.05966 0.0243 0.11956 0.03715 0.18686 C 0.05 0.25416 0.06371 0.32886 0.0776 0.40356 " pathEditMode="relative" ptsTypes="aaA">
                                      <p:cBhvr>
                                        <p:cTn id="48" dur="1000" spd="-100000" fill="hold"/>
                                        <p:tgtEl>
                                          <p:spTgt spid="12"/>
                                        </p:tgtEl>
                                        <p:attrNameLst>
                                          <p:attrName>ppt_x</p:attrName>
                                          <p:attrName>ppt_y</p:attrName>
                                        </p:attrNameLst>
                                      </p:cBhvr>
                                    </p:animMotion>
                                  </p:childTnLst>
                                </p:cTn>
                              </p:par>
                            </p:childTnLst>
                          </p:cTn>
                        </p:par>
                        <p:par>
                          <p:cTn id="49" fill="hold">
                            <p:stCondLst>
                              <p:cond delay="3000"/>
                            </p:stCondLst>
                            <p:childTnLst>
                              <p:par>
                                <p:cTn id="50" presetID="10" presetClass="entr" presetSubtype="0" fill="hold" grpId="0"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195739" y="141482"/>
            <a:ext cx="6768877" cy="368300"/>
          </a:xfrm>
        </p:spPr>
        <p:txBody>
          <a:bodyPr/>
          <a:lstStyle/>
          <a:p>
            <a:r>
              <a:rPr lang="zh-CN" altLang="en-US" dirty="0"/>
              <a:t>序列的</a:t>
            </a:r>
            <a:r>
              <a:rPr lang="en-US" altLang="zh-CN" dirty="0"/>
              <a:t>+</a:t>
            </a:r>
            <a:r>
              <a:rPr lang="zh-CN" altLang="en-US" dirty="0"/>
              <a:t>、</a:t>
            </a:r>
            <a:r>
              <a:rPr lang="en-US" altLang="zh-CN" dirty="0"/>
              <a:t>*</a:t>
            </a:r>
            <a:endParaRPr lang="en-US" altLang="zh-CN" dirty="0"/>
          </a:p>
        </p:txBody>
      </p:sp>
      <p:sp>
        <p:nvSpPr>
          <p:cNvPr id="26" name="文本框 2"/>
          <p:cNvSpPr txBox="1">
            <a:spLocks noChangeArrowheads="1"/>
          </p:cNvSpPr>
          <p:nvPr/>
        </p:nvSpPr>
        <p:spPr bwMode="auto">
          <a:xfrm>
            <a:off x="925830" y="1622108"/>
            <a:ext cx="4030345" cy="1133475"/>
          </a:xfrm>
          <a:prstGeom prst="rect">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72000" anchor="ctr" anchorCtr="0">
            <a:spAutoFit/>
          </a:bodyPr>
          <a:lstStyle>
            <a:defPPr>
              <a:defRPr lang="en-US"/>
            </a:defPPr>
            <a:lvl1pPr marL="224155" indent="-224155" algn="l" defTabSz="381000">
              <a:lnSpc>
                <a:spcPct val="150000"/>
              </a:lnSpc>
              <a:buClr>
                <a:schemeClr val="folHlink"/>
              </a:buClr>
              <a:buSzPct val="60000"/>
              <a:defRPr sz="1800">
                <a:solidFill>
                  <a:schemeClr val="tx1">
                    <a:lumMod val="75000"/>
                    <a:lumOff val="25000"/>
                  </a:schemeClr>
                </a:solidFill>
                <a:latin typeface="+mn-ea"/>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pPr marL="0" indent="0">
              <a:buNone/>
            </a:pPr>
            <a:r>
              <a:rPr lang="en-US" altLang="zh-CN" sz="1200" b="1" dirty="0">
                <a:solidFill>
                  <a:schemeClr val="tx1"/>
                </a:solidFill>
                <a:cs typeface="+mn-ea"/>
                <a:sym typeface="+mn-ea"/>
              </a:rPr>
              <a:t># </a:t>
            </a:r>
            <a:r>
              <a:rPr lang="zh-CN" altLang="en-US" sz="1400" b="1" dirty="0">
                <a:solidFill>
                  <a:schemeClr val="tx1"/>
                </a:solidFill>
                <a:cs typeface="+mn-ea"/>
                <a:sym typeface="+mn-ea"/>
              </a:rPr>
              <a:t>加</a:t>
            </a:r>
            <a:r>
              <a:rPr lang="en-US" altLang="zh-CN" sz="1400" b="1" dirty="0">
                <a:solidFill>
                  <a:schemeClr val="tx1"/>
                </a:solidFill>
                <a:cs typeface="+mn-ea"/>
                <a:sym typeface="+mn-ea"/>
              </a:rPr>
              <a:t>  </a:t>
            </a:r>
            <a:endParaRPr lang="en-US" altLang="zh-CN" sz="1200" b="1" dirty="0">
              <a:solidFill>
                <a:schemeClr val="tx1"/>
              </a:solidFill>
              <a:cs typeface="+mn-ea"/>
              <a:sym typeface="+mn-ea"/>
            </a:endParaRPr>
          </a:p>
          <a:p>
            <a:pPr marL="0" indent="0">
              <a:buNone/>
            </a:pPr>
            <a:r>
              <a:rPr lang="en-US" altLang="zh-CN" sz="1600" b="1" dirty="0">
                <a:solidFill>
                  <a:schemeClr val="tx1"/>
                </a:solidFill>
                <a:cs typeface="+mn-ea"/>
                <a:sym typeface="+mn-ea"/>
              </a:rPr>
              <a:t>[</a:t>
            </a:r>
            <a:r>
              <a:rPr lang="zh-CN" altLang="en-US" sz="1600" b="1" dirty="0">
                <a:solidFill>
                  <a:schemeClr val="tx1"/>
                </a:solidFill>
                <a:cs typeface="+mn-ea"/>
                <a:sym typeface="+mn-ea"/>
              </a:rPr>
              <a:t>1,2,3]+[4,5,6]           </a:t>
            </a:r>
            <a:endParaRPr lang="zh-CN" altLang="en-US" sz="1600" b="1" dirty="0">
              <a:solidFill>
                <a:schemeClr val="tx1"/>
              </a:solidFill>
              <a:cs typeface="+mn-ea"/>
            </a:endParaRPr>
          </a:p>
          <a:p>
            <a:pPr marL="0" indent="0">
              <a:buNone/>
            </a:pPr>
            <a:r>
              <a:rPr lang="zh-CN" altLang="en-US" sz="1600" b="1" dirty="0">
                <a:solidFill>
                  <a:schemeClr val="tx1"/>
                </a:solidFill>
                <a:cs typeface="+mn-ea"/>
                <a:sym typeface="+mn-ea"/>
              </a:rPr>
              <a:t> "张三"+"您好"             </a:t>
            </a:r>
            <a:r>
              <a:rPr lang="en-US" altLang="zh-CN" sz="1600" b="1" dirty="0">
                <a:solidFill>
                  <a:srgbClr val="0070C0"/>
                </a:solidFill>
                <a:cs typeface="+mn-ea"/>
                <a:sym typeface="+mn-ea"/>
              </a:rPr>
              <a:t>  </a:t>
            </a:r>
            <a:endParaRPr lang="en-US" altLang="zh-CN" sz="1200" b="1" dirty="0">
              <a:solidFill>
                <a:schemeClr val="tx1"/>
              </a:solidFill>
              <a:latin typeface="Arial" panose="020B0604020202020204" pitchFamily="34" charset="0"/>
              <a:ea typeface="微软雅黑" panose="020B0503020204020204" pitchFamily="34" charset="-122"/>
              <a:cs typeface="+mn-ea"/>
              <a:sym typeface="+mn-ea"/>
            </a:endParaRPr>
          </a:p>
        </p:txBody>
      </p:sp>
      <p:sp>
        <p:nvSpPr>
          <p:cNvPr id="27" name="文本框 2"/>
          <p:cNvSpPr txBox="1">
            <a:spLocks noChangeArrowheads="1"/>
          </p:cNvSpPr>
          <p:nvPr/>
        </p:nvSpPr>
        <p:spPr bwMode="auto">
          <a:xfrm>
            <a:off x="3811905" y="3344546"/>
            <a:ext cx="4030345" cy="810260"/>
          </a:xfrm>
          <a:prstGeom prst="rect">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72000" anchor="ctr" anchorCtr="0">
            <a:spAutoFit/>
          </a:bodyPr>
          <a:lstStyle>
            <a:defPPr>
              <a:defRPr lang="en-US"/>
            </a:defPPr>
            <a:lvl1pPr marL="224155" indent="-224155" algn="l" defTabSz="381000">
              <a:lnSpc>
                <a:spcPct val="150000"/>
              </a:lnSpc>
              <a:buClr>
                <a:schemeClr val="folHlink"/>
              </a:buClr>
              <a:buSzPct val="60000"/>
              <a:defRPr sz="1800">
                <a:solidFill>
                  <a:schemeClr val="tx1">
                    <a:lumMod val="75000"/>
                    <a:lumOff val="25000"/>
                  </a:schemeClr>
                </a:solidFill>
                <a:latin typeface="+mn-ea"/>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pPr marL="0" indent="0">
              <a:buNone/>
            </a:pPr>
            <a:r>
              <a:rPr lang="en-US" altLang="zh-CN" sz="1600" b="1" dirty="0">
                <a:solidFill>
                  <a:schemeClr val="tx1"/>
                </a:solidFill>
                <a:cs typeface="+mn-ea"/>
                <a:sym typeface="+mn-ea"/>
              </a:rPr>
              <a:t>  </a:t>
            </a:r>
            <a:r>
              <a:rPr lang="zh-CN" altLang="en-US" sz="1600" b="1" dirty="0">
                <a:solidFill>
                  <a:schemeClr val="tx1"/>
                </a:solidFill>
                <a:cs typeface="+mn-ea"/>
                <a:sym typeface="+mn-ea"/>
              </a:rPr>
              <a:t> </a:t>
            </a:r>
            <a:r>
              <a:rPr lang="en-US" altLang="zh-CN" sz="1600" b="1" dirty="0">
                <a:solidFill>
                  <a:schemeClr val="tx1"/>
                </a:solidFill>
                <a:cs typeface="+mn-ea"/>
                <a:sym typeface="+mn-ea"/>
              </a:rPr>
              <a:t># </a:t>
            </a:r>
            <a:r>
              <a:rPr lang="zh-CN" altLang="en-US" sz="1600" b="1" dirty="0">
                <a:solidFill>
                  <a:schemeClr val="tx1"/>
                </a:solidFill>
                <a:cs typeface="+mn-ea"/>
                <a:sym typeface="+mn-ea"/>
              </a:rPr>
              <a:t>乘</a:t>
            </a:r>
            <a:endParaRPr lang="en-US" altLang="zh-CN" sz="1600" b="1" dirty="0">
              <a:solidFill>
                <a:schemeClr val="tx1"/>
              </a:solidFill>
              <a:cs typeface="+mn-ea"/>
              <a:sym typeface="+mn-ea"/>
            </a:endParaRPr>
          </a:p>
          <a:p>
            <a:pPr marL="0" indent="0">
              <a:buNone/>
            </a:pPr>
            <a:r>
              <a:rPr lang="en-US" altLang="zh-CN" sz="1600" b="1" dirty="0">
                <a:solidFill>
                  <a:schemeClr val="tx1"/>
                </a:solidFill>
                <a:cs typeface="+mn-ea"/>
                <a:sym typeface="+mn-ea"/>
              </a:rPr>
              <a:t>“</a:t>
            </a:r>
            <a:r>
              <a:rPr lang="zh-CN" altLang="en-US" sz="1600" b="1" dirty="0">
                <a:solidFill>
                  <a:schemeClr val="tx1"/>
                </a:solidFill>
                <a:cs typeface="+mn-ea"/>
                <a:sym typeface="+mn-ea"/>
              </a:rPr>
              <a:t>hello</a:t>
            </a:r>
            <a:r>
              <a:rPr lang="en-US" altLang="zh-CN" sz="1600" b="1" dirty="0">
                <a:solidFill>
                  <a:schemeClr val="tx1"/>
                </a:solidFill>
                <a:cs typeface="+mn-ea"/>
                <a:sym typeface="+mn-ea"/>
              </a:rPr>
              <a:t>”</a:t>
            </a:r>
            <a:r>
              <a:rPr lang="zh-CN" altLang="en-US" sz="1600" b="1" dirty="0">
                <a:solidFill>
                  <a:schemeClr val="tx1"/>
                </a:solidFill>
                <a:cs typeface="+mn-ea"/>
                <a:sym typeface="+mn-ea"/>
              </a:rPr>
              <a:t>*5</a:t>
            </a:r>
            <a:endParaRPr lang="en-US" altLang="zh-CN" sz="1600" b="1" dirty="0">
              <a:solidFill>
                <a:schemeClr val="tx1"/>
              </a:solidFill>
              <a:latin typeface="Arial" panose="020B0604020202020204" pitchFamily="34" charset="0"/>
              <a:ea typeface="微软雅黑" panose="020B0503020204020204" pitchFamily="34" charset="-122"/>
              <a:cs typeface="+mn-ea"/>
              <a:sym typeface="+mn-ea"/>
            </a:endParaRPr>
          </a:p>
        </p:txBody>
      </p:sp>
      <p:sp>
        <p:nvSpPr>
          <p:cNvPr id="28" name="文本框 27"/>
          <p:cNvSpPr txBox="1"/>
          <p:nvPr/>
        </p:nvSpPr>
        <p:spPr>
          <a:xfrm>
            <a:off x="412115" y="699770"/>
            <a:ext cx="1896110" cy="368300"/>
          </a:xfrm>
          <a:prstGeom prst="rect">
            <a:avLst/>
          </a:prstGeom>
          <a:noFill/>
        </p:spPr>
        <p:txBody>
          <a:bodyPr wrap="none" rtlCol="0">
            <a:spAutoFit/>
          </a:bodyPr>
          <a:lstStyle/>
          <a:p>
            <a:pPr algn="ctr"/>
            <a:r>
              <a:rPr lang="zh-CN" altLang="en-US"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序列的</a:t>
            </a:r>
            <a:r>
              <a:rPr lang="en-US" altLang="zh-CN"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操作</a:t>
            </a:r>
            <a:endParaRPr lang="zh-CN" altLang="en-US"/>
          </a:p>
        </p:txBody>
      </p:sp>
      <p:pic>
        <p:nvPicPr>
          <p:cNvPr id="2" name="图片 1" descr="C[%X{ET`(Q6A}4A1~]6[O@6"/>
          <p:cNvPicPr>
            <a:picLocks noChangeAspect="1"/>
          </p:cNvPicPr>
          <p:nvPr/>
        </p:nvPicPr>
        <p:blipFill>
          <a:blip r:embed="rId1"/>
          <a:stretch>
            <a:fillRect/>
          </a:stretch>
        </p:blipFill>
        <p:spPr>
          <a:xfrm>
            <a:off x="3559175" y="2291715"/>
            <a:ext cx="2314575" cy="704850"/>
          </a:xfrm>
          <a:prstGeom prst="rect">
            <a:avLst/>
          </a:prstGeom>
        </p:spPr>
      </p:pic>
      <p:pic>
        <p:nvPicPr>
          <p:cNvPr id="3" name="图片 2" descr="OA4Y]_)VJGT`O471VN}5JV2"/>
          <p:cNvPicPr>
            <a:picLocks noChangeAspect="1"/>
          </p:cNvPicPr>
          <p:nvPr/>
        </p:nvPicPr>
        <p:blipFill>
          <a:blip r:embed="rId2"/>
          <a:stretch>
            <a:fillRect/>
          </a:stretch>
        </p:blipFill>
        <p:spPr>
          <a:xfrm>
            <a:off x="5356225" y="3841750"/>
            <a:ext cx="2875915" cy="552450"/>
          </a:xfrm>
          <a:prstGeom prst="rect">
            <a:avLst/>
          </a:prstGeom>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195739" y="141482"/>
            <a:ext cx="6768877" cy="368300"/>
          </a:xfrm>
        </p:spPr>
        <p:txBody>
          <a:bodyPr/>
          <a:lstStyle/>
          <a:p>
            <a:r>
              <a:rPr lang="zh-CN" altLang="en-US"/>
              <a:t>序列求最大值，最小值、求和</a:t>
            </a:r>
            <a:endParaRPr lang="zh-CN" altLang="en-US"/>
          </a:p>
        </p:txBody>
      </p:sp>
      <p:sp>
        <p:nvSpPr>
          <p:cNvPr id="6" name="内容占位符 5"/>
          <p:cNvSpPr>
            <a:spLocks noGrp="1"/>
          </p:cNvSpPr>
          <p:nvPr>
            <p:ph idx="1"/>
          </p:nvPr>
        </p:nvSpPr>
        <p:spPr/>
        <p:txBody>
          <a:bodyPr/>
          <a:lstStyle/>
          <a:p>
            <a:pPr marL="0" indent="0">
              <a:buNone/>
            </a:pPr>
            <a:endParaRPr lang="zh-CN" altLang="en-US" sz="1400"/>
          </a:p>
          <a:p>
            <a:pPr marL="0" indent="0">
              <a:buNone/>
            </a:pPr>
            <a:endParaRPr lang="zh-CN" altLang="en-US" sz="1400" dirty="0">
              <a:solidFill>
                <a:schemeClr val="tx1">
                  <a:lumMod val="75000"/>
                  <a:lumOff val="25000"/>
                </a:schemeClr>
              </a:solidFill>
            </a:endParaRPr>
          </a:p>
          <a:p>
            <a:pPr marL="0" indent="0">
              <a:buNone/>
            </a:pPr>
            <a:r>
              <a:rPr lang="en-US" altLang="zh-CN" sz="1400" b="1" dirty="0">
                <a:solidFill>
                  <a:schemeClr val="tx1">
                    <a:lumMod val="75000"/>
                    <a:lumOff val="25000"/>
                  </a:schemeClr>
                </a:solidFill>
              </a:rPr>
              <a:t> </a:t>
            </a:r>
            <a:r>
              <a:rPr lang="en-US" altLang="zh-CN" sz="1400" b="1" dirty="0">
                <a:solidFill>
                  <a:srgbClr val="C00000"/>
                </a:solidFill>
              </a:rPr>
              <a:t> </a:t>
            </a:r>
            <a:endParaRPr lang="zh-CN" altLang="en-US" sz="1400" b="1" dirty="0">
              <a:solidFill>
                <a:srgbClr val="0070C0"/>
              </a:solidFill>
              <a:cs typeface="+mn-ea"/>
            </a:endParaRPr>
          </a:p>
          <a:p>
            <a:pPr marL="0" indent="0">
              <a:buNone/>
            </a:pPr>
            <a:endParaRPr lang="zh-CN" altLang="en-US" sz="1400" b="1" dirty="0">
              <a:solidFill>
                <a:srgbClr val="0070C0"/>
              </a:solidFill>
              <a:cs typeface="+mn-ea"/>
            </a:endParaRPr>
          </a:p>
          <a:p>
            <a:pPr marL="0" indent="0">
              <a:buNone/>
            </a:pPr>
            <a:endParaRPr lang="zh-CN" altLang="en-US" sz="1400" b="1" dirty="0">
              <a:solidFill>
                <a:srgbClr val="0070C0"/>
              </a:solidFill>
              <a:cs typeface="+mn-ea"/>
            </a:endParaRPr>
          </a:p>
          <a:p>
            <a:pPr marL="0" indent="0">
              <a:buNone/>
            </a:pPr>
            <a:r>
              <a:rPr lang="en-US" altLang="zh-CN" sz="1400" b="1" dirty="0">
                <a:solidFill>
                  <a:srgbClr val="0070C0"/>
                </a:solidFill>
                <a:cs typeface="+mn-ea"/>
              </a:rPr>
              <a:t> </a:t>
            </a:r>
            <a:endParaRPr lang="en-US" altLang="zh-CN" sz="1400" b="1" dirty="0">
              <a:solidFill>
                <a:srgbClr val="0070C0"/>
              </a:solidFill>
              <a:cs typeface="+mn-ea"/>
            </a:endParaRPr>
          </a:p>
          <a:p>
            <a:pPr marL="0" indent="0">
              <a:buNone/>
            </a:pPr>
            <a:r>
              <a:rPr lang="zh-CN" altLang="en-US" sz="1400" b="1" dirty="0">
                <a:solidFill>
                  <a:srgbClr val="0070C0"/>
                </a:solidFill>
                <a:cs typeface="+mn-ea"/>
              </a:rPr>
              <a:t>   </a:t>
            </a:r>
            <a:endParaRPr lang="zh-CN" altLang="en-US" sz="1400" b="1" dirty="0">
              <a:solidFill>
                <a:srgbClr val="0070C0"/>
              </a:solidFill>
              <a:cs typeface="+mn-ea"/>
            </a:endParaRPr>
          </a:p>
          <a:p>
            <a:pPr marL="0" indent="0">
              <a:buNone/>
            </a:pPr>
            <a:r>
              <a:rPr lang="en-US" altLang="zh-CN" sz="1400" b="1" dirty="0">
                <a:solidFill>
                  <a:srgbClr val="0070C0"/>
                </a:solidFill>
                <a:cs typeface="+mn-ea"/>
              </a:rPr>
              <a:t>	</a:t>
            </a:r>
            <a:endParaRPr lang="en-US" altLang="zh-CN" sz="1400" b="1" dirty="0">
              <a:solidFill>
                <a:srgbClr val="0070C0"/>
              </a:solidFill>
              <a:cs typeface="+mn-ea"/>
            </a:endParaRPr>
          </a:p>
        </p:txBody>
      </p:sp>
      <p:sp>
        <p:nvSpPr>
          <p:cNvPr id="22" name="文本框 21"/>
          <p:cNvSpPr txBox="1"/>
          <p:nvPr/>
        </p:nvSpPr>
        <p:spPr>
          <a:xfrm>
            <a:off x="323215" y="509905"/>
            <a:ext cx="3154680" cy="506730"/>
          </a:xfrm>
          <a:prstGeom prst="rect">
            <a:avLst/>
          </a:prstGeom>
          <a:noFill/>
        </p:spPr>
        <p:txBody>
          <a:bodyPr wrap="none" rtlCol="0">
            <a:spAutoFit/>
          </a:body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mn-ea"/>
              </a:rPr>
              <a:t>序列的最大值、最小值、求和</a:t>
            </a:r>
            <a:endParaRPr lang="zh-CN" altLang="en-US"/>
          </a:p>
        </p:txBody>
      </p:sp>
      <p:sp>
        <p:nvSpPr>
          <p:cNvPr id="23" name="文本框 22"/>
          <p:cNvSpPr txBox="1">
            <a:spLocks noChangeArrowheads="1"/>
          </p:cNvSpPr>
          <p:nvPr/>
        </p:nvSpPr>
        <p:spPr bwMode="auto">
          <a:xfrm>
            <a:off x="916305" y="1242378"/>
            <a:ext cx="4030345" cy="1040765"/>
          </a:xfrm>
          <a:prstGeom prst="rect">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72000" anchor="ctr" anchorCtr="0">
            <a:spAutoFit/>
          </a:bodyPr>
          <a:lstStyle>
            <a:defPPr>
              <a:defRPr lang="en-US"/>
            </a:defPPr>
            <a:lvl1pPr marL="224155" indent="-224155" algn="l" defTabSz="381000">
              <a:lnSpc>
                <a:spcPct val="150000"/>
              </a:lnSpc>
              <a:buClr>
                <a:schemeClr val="folHlink"/>
              </a:buClr>
              <a:buSzPct val="60000"/>
              <a:defRPr sz="1800">
                <a:solidFill>
                  <a:schemeClr val="tx1">
                    <a:lumMod val="75000"/>
                    <a:lumOff val="25000"/>
                  </a:schemeClr>
                </a:solidFill>
                <a:latin typeface="+mn-ea"/>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pPr marL="0" indent="0">
              <a:buNone/>
            </a:pPr>
            <a:r>
              <a:rPr lang="zh-CN" altLang="en-US" sz="1400" b="1" dirty="0">
                <a:solidFill>
                  <a:srgbClr val="FF0000"/>
                </a:solidFill>
                <a:ea typeface="+mn-ea"/>
                <a:cs typeface="+mn-ea"/>
                <a:sym typeface="+mn-ea"/>
              </a:rPr>
              <a:t>num=[33,44,55,66,111,33]</a:t>
            </a:r>
            <a:endParaRPr lang="zh-CN" altLang="en-US" sz="1400" b="1" dirty="0">
              <a:solidFill>
                <a:srgbClr val="FF0000"/>
              </a:solidFill>
              <a:ea typeface="+mn-ea"/>
              <a:cs typeface="+mn-ea"/>
              <a:sym typeface="+mn-ea"/>
            </a:endParaRPr>
          </a:p>
          <a:p>
            <a:pPr marL="0" indent="0">
              <a:buNone/>
            </a:pPr>
            <a:r>
              <a:rPr lang="en-US" altLang="zh-CN" sz="1400" b="1" dirty="0">
                <a:solidFill>
                  <a:srgbClr val="002060"/>
                </a:solidFill>
                <a:ea typeface="+mn-ea"/>
                <a:cs typeface="+mn-ea"/>
                <a:sym typeface="+mn-ea"/>
              </a:rPr>
              <a:t># </a:t>
            </a:r>
            <a:r>
              <a:rPr lang="zh-CN" altLang="en-US" sz="1400" b="1" dirty="0">
                <a:solidFill>
                  <a:srgbClr val="002060"/>
                </a:solidFill>
                <a:ea typeface="+mn-ea"/>
                <a:cs typeface="+mn-ea"/>
                <a:sym typeface="+mn-ea"/>
              </a:rPr>
              <a:t>最大值</a:t>
            </a:r>
            <a:r>
              <a:rPr lang="en-US" altLang="zh-CN" sz="1400" b="1" dirty="0">
                <a:solidFill>
                  <a:srgbClr val="002060"/>
                </a:solidFill>
                <a:ea typeface="+mn-ea"/>
                <a:cs typeface="+mn-ea"/>
                <a:sym typeface="+mn-ea"/>
              </a:rPr>
              <a:t>max()</a:t>
            </a:r>
            <a:endParaRPr lang="zh-CN" altLang="en-US" sz="1400" b="1" dirty="0">
              <a:solidFill>
                <a:srgbClr val="FF0000"/>
              </a:solidFill>
              <a:ea typeface="+mn-ea"/>
              <a:cs typeface="+mn-ea"/>
            </a:endParaRPr>
          </a:p>
          <a:p>
            <a:pPr marL="0" indent="0">
              <a:buNone/>
            </a:pPr>
            <a:r>
              <a:rPr lang="zh-CN" altLang="en-US" sz="1400" b="1" dirty="0">
                <a:solidFill>
                  <a:srgbClr val="FF0000"/>
                </a:solidFill>
                <a:ea typeface="+mn-ea"/>
                <a:cs typeface="+mn-ea"/>
                <a:sym typeface="+mn-ea"/>
              </a:rPr>
              <a:t>print( max(num)</a:t>
            </a:r>
            <a:r>
              <a:rPr lang="en-US" altLang="zh-CN" sz="1400" b="1" dirty="0">
                <a:solidFill>
                  <a:srgbClr val="FF0000"/>
                </a:solidFill>
                <a:ea typeface="+mn-ea"/>
                <a:cs typeface="+mn-ea"/>
                <a:sym typeface="+mn-ea"/>
              </a:rPr>
              <a:t>)</a:t>
            </a:r>
            <a:endParaRPr lang="en-US" altLang="zh-CN" sz="1400" b="1" dirty="0">
              <a:solidFill>
                <a:srgbClr val="FF0000"/>
              </a:solidFill>
              <a:latin typeface="Arial" panose="020B0604020202020204" pitchFamily="34" charset="0"/>
              <a:ea typeface="+mn-ea"/>
              <a:cs typeface="+mn-ea"/>
              <a:sym typeface="+mn-ea"/>
            </a:endParaRPr>
          </a:p>
        </p:txBody>
      </p:sp>
      <p:sp>
        <p:nvSpPr>
          <p:cNvPr id="24" name="文本框 23"/>
          <p:cNvSpPr txBox="1">
            <a:spLocks noChangeArrowheads="1"/>
          </p:cNvSpPr>
          <p:nvPr/>
        </p:nvSpPr>
        <p:spPr bwMode="auto">
          <a:xfrm>
            <a:off x="2330450" y="2504123"/>
            <a:ext cx="4030345" cy="1133475"/>
          </a:xfrm>
          <a:prstGeom prst="rect">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72000" anchor="ctr" anchorCtr="0">
            <a:spAutoFit/>
          </a:bodyPr>
          <a:lstStyle>
            <a:defPPr>
              <a:defRPr lang="en-US"/>
            </a:defPPr>
            <a:lvl1pPr marL="224155" indent="-224155" algn="l" defTabSz="381000">
              <a:lnSpc>
                <a:spcPct val="150000"/>
              </a:lnSpc>
              <a:buClr>
                <a:schemeClr val="folHlink"/>
              </a:buClr>
              <a:buSzPct val="60000"/>
              <a:defRPr sz="1800">
                <a:solidFill>
                  <a:schemeClr val="tx1">
                    <a:lumMod val="75000"/>
                    <a:lumOff val="25000"/>
                  </a:schemeClr>
                </a:solidFill>
                <a:latin typeface="+mn-ea"/>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pPr marL="0" indent="0">
              <a:buNone/>
            </a:pPr>
            <a:r>
              <a:rPr lang="zh-CN" altLang="en-US" sz="1400" b="1" dirty="0">
                <a:solidFill>
                  <a:srgbClr val="FF0000"/>
                </a:solidFill>
                <a:effectLst/>
                <a:ea typeface="+mn-ea"/>
                <a:cs typeface="+mn-ea"/>
                <a:sym typeface="+mn-ea"/>
              </a:rPr>
              <a:t>num=[33,44,55,66,111,33]</a:t>
            </a:r>
            <a:endParaRPr lang="zh-CN" altLang="en-US" sz="1400" b="1" dirty="0">
              <a:solidFill>
                <a:schemeClr val="tx1"/>
              </a:solidFill>
              <a:effectLst/>
              <a:ea typeface="+mn-ea"/>
              <a:cs typeface="+mn-ea"/>
              <a:sym typeface="+mn-ea"/>
            </a:endParaRPr>
          </a:p>
          <a:p>
            <a:pPr marL="0" indent="0">
              <a:buNone/>
            </a:pPr>
            <a:r>
              <a:rPr lang="en-US" altLang="zh-CN" sz="1400" b="1" dirty="0">
                <a:solidFill>
                  <a:srgbClr val="002060"/>
                </a:solidFill>
                <a:effectLst/>
                <a:ea typeface="+mn-ea"/>
                <a:cs typeface="+mn-ea"/>
                <a:sym typeface="+mn-ea"/>
              </a:rPr>
              <a:t># </a:t>
            </a:r>
            <a:r>
              <a:rPr lang="zh-CN" altLang="en-US" sz="1400" b="1" dirty="0">
                <a:solidFill>
                  <a:srgbClr val="002060"/>
                </a:solidFill>
                <a:effectLst/>
                <a:ea typeface="+mn-ea"/>
                <a:cs typeface="+mn-ea"/>
                <a:sym typeface="+mn-ea"/>
              </a:rPr>
              <a:t>最小值</a:t>
            </a:r>
            <a:r>
              <a:rPr lang="en-US" altLang="zh-CN" sz="1400" b="1" dirty="0">
                <a:solidFill>
                  <a:srgbClr val="002060"/>
                </a:solidFill>
                <a:effectLst/>
                <a:ea typeface="+mn-ea"/>
                <a:cs typeface="+mn-ea"/>
                <a:sym typeface="+mn-ea"/>
              </a:rPr>
              <a:t>min()</a:t>
            </a:r>
            <a:endParaRPr lang="zh-CN" altLang="en-US" sz="1400" b="1" dirty="0">
              <a:solidFill>
                <a:schemeClr val="tx1"/>
              </a:solidFill>
              <a:effectLst/>
              <a:ea typeface="+mn-ea"/>
              <a:cs typeface="+mn-ea"/>
            </a:endParaRPr>
          </a:p>
          <a:p>
            <a:pPr marL="0" indent="0">
              <a:buNone/>
            </a:pPr>
            <a:r>
              <a:rPr lang="zh-CN" altLang="en-US" sz="1400" b="1" dirty="0">
                <a:solidFill>
                  <a:srgbClr val="FF0000"/>
                </a:solidFill>
                <a:effectLst/>
                <a:ea typeface="+mn-ea"/>
                <a:cs typeface="+mn-ea"/>
                <a:sym typeface="+mn-ea"/>
              </a:rPr>
              <a:t>print( min(num))</a:t>
            </a:r>
            <a:r>
              <a:rPr lang="zh-CN" altLang="en-US" sz="1400" b="1" dirty="0">
                <a:solidFill>
                  <a:schemeClr val="tx1"/>
                </a:solidFill>
                <a:effectLst/>
                <a:ea typeface="+mn-ea"/>
                <a:cs typeface="+mn-ea"/>
                <a:sym typeface="+mn-ea"/>
              </a:rPr>
              <a:t>  </a:t>
            </a:r>
            <a:r>
              <a:rPr lang="en-US" altLang="zh-CN" b="1" dirty="0">
                <a:solidFill>
                  <a:srgbClr val="FF0000"/>
                </a:solidFill>
                <a:effectLst/>
                <a:cs typeface="+mn-ea"/>
                <a:sym typeface="+mn-ea"/>
              </a:rPr>
              <a:t> </a:t>
            </a:r>
            <a:endParaRPr lang="en-US" altLang="zh-CN" b="1" dirty="0">
              <a:solidFill>
                <a:srgbClr val="FF0000"/>
              </a:solidFill>
              <a:effectLst/>
              <a:latin typeface="Arial" panose="020B0604020202020204" pitchFamily="34" charset="0"/>
              <a:ea typeface="微软雅黑" panose="020B0503020204020204" pitchFamily="34" charset="-122"/>
              <a:cs typeface="+mn-ea"/>
              <a:sym typeface="+mn-ea"/>
            </a:endParaRPr>
          </a:p>
        </p:txBody>
      </p:sp>
      <p:sp>
        <p:nvSpPr>
          <p:cNvPr id="25" name="文本框 24"/>
          <p:cNvSpPr txBox="1">
            <a:spLocks noChangeArrowheads="1"/>
          </p:cNvSpPr>
          <p:nvPr/>
        </p:nvSpPr>
        <p:spPr bwMode="auto">
          <a:xfrm>
            <a:off x="3874135" y="3823653"/>
            <a:ext cx="4030345" cy="1040765"/>
          </a:xfrm>
          <a:prstGeom prst="rect">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72000" anchor="ctr" anchorCtr="0">
            <a:spAutoFit/>
          </a:bodyPr>
          <a:lstStyle>
            <a:defPPr>
              <a:defRPr lang="en-US"/>
            </a:defPPr>
            <a:lvl1pPr marL="224155" indent="-224155" algn="l" defTabSz="381000">
              <a:lnSpc>
                <a:spcPct val="150000"/>
              </a:lnSpc>
              <a:buClr>
                <a:schemeClr val="folHlink"/>
              </a:buClr>
              <a:buSzPct val="60000"/>
              <a:defRPr sz="1800">
                <a:solidFill>
                  <a:schemeClr val="tx1">
                    <a:lumMod val="75000"/>
                    <a:lumOff val="25000"/>
                  </a:schemeClr>
                </a:solidFill>
                <a:latin typeface="+mn-ea"/>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pPr marL="0" indent="0">
              <a:buNone/>
            </a:pPr>
            <a:r>
              <a:rPr lang="zh-CN" altLang="en-US" sz="1400" b="1" dirty="0">
                <a:solidFill>
                  <a:srgbClr val="FF0000"/>
                </a:solidFill>
                <a:ea typeface="+mn-ea"/>
                <a:cs typeface="+mn-ea"/>
                <a:sym typeface="+mn-ea"/>
              </a:rPr>
              <a:t>num=[33,44,55,66,111,33]</a:t>
            </a:r>
            <a:endParaRPr lang="zh-CN" altLang="en-US" sz="1400" b="1" dirty="0">
              <a:solidFill>
                <a:srgbClr val="FF0000"/>
              </a:solidFill>
              <a:ea typeface="+mn-ea"/>
              <a:cs typeface="+mn-ea"/>
              <a:sym typeface="+mn-ea"/>
            </a:endParaRPr>
          </a:p>
          <a:p>
            <a:pPr marL="0" indent="0">
              <a:buNone/>
            </a:pPr>
            <a:r>
              <a:rPr lang="en-US" altLang="zh-CN" sz="1400" b="1" dirty="0">
                <a:solidFill>
                  <a:srgbClr val="002060"/>
                </a:solidFill>
                <a:ea typeface="+mn-ea"/>
                <a:cs typeface="+mn-ea"/>
                <a:sym typeface="+mn-ea"/>
              </a:rPr>
              <a:t># </a:t>
            </a:r>
            <a:r>
              <a:rPr lang="zh-CN" altLang="en-US" sz="1400" b="1" dirty="0">
                <a:solidFill>
                  <a:srgbClr val="002060"/>
                </a:solidFill>
                <a:ea typeface="+mn-ea"/>
                <a:cs typeface="+mn-ea"/>
                <a:sym typeface="+mn-ea"/>
              </a:rPr>
              <a:t>求和</a:t>
            </a:r>
            <a:r>
              <a:rPr lang="en-US" altLang="zh-CN" sz="1400" b="1" dirty="0">
                <a:solidFill>
                  <a:srgbClr val="002060"/>
                </a:solidFill>
                <a:ea typeface="+mn-ea"/>
                <a:cs typeface="+mn-ea"/>
                <a:sym typeface="+mn-ea"/>
              </a:rPr>
              <a:t>sum()</a:t>
            </a:r>
            <a:endParaRPr lang="zh-CN" altLang="en-US" sz="1400" b="1" dirty="0">
              <a:solidFill>
                <a:srgbClr val="FF0000"/>
              </a:solidFill>
              <a:ea typeface="+mn-ea"/>
              <a:cs typeface="+mn-ea"/>
            </a:endParaRPr>
          </a:p>
          <a:p>
            <a:pPr marL="0" indent="0">
              <a:buNone/>
            </a:pPr>
            <a:r>
              <a:rPr lang="zh-CN" altLang="en-US" sz="1400" b="1" dirty="0">
                <a:solidFill>
                  <a:srgbClr val="FF0000"/>
                </a:solidFill>
                <a:ea typeface="+mn-ea"/>
                <a:cs typeface="+mn-ea"/>
                <a:sym typeface="+mn-ea"/>
              </a:rPr>
              <a:t>print( </a:t>
            </a:r>
            <a:r>
              <a:rPr lang="en-US" altLang="zh-CN" sz="1400" b="1" dirty="0">
                <a:solidFill>
                  <a:srgbClr val="FF0000"/>
                </a:solidFill>
                <a:ea typeface="+mn-ea"/>
                <a:cs typeface="+mn-ea"/>
                <a:sym typeface="+mn-ea"/>
              </a:rPr>
              <a:t>sum</a:t>
            </a:r>
            <a:r>
              <a:rPr lang="zh-CN" altLang="en-US" sz="1400" b="1" dirty="0">
                <a:solidFill>
                  <a:srgbClr val="FF0000"/>
                </a:solidFill>
                <a:ea typeface="+mn-ea"/>
                <a:cs typeface="+mn-ea"/>
                <a:sym typeface="+mn-ea"/>
              </a:rPr>
              <a:t>(num))</a:t>
            </a:r>
            <a:endParaRPr lang="zh-CN" altLang="en-US" sz="1400" b="1" dirty="0">
              <a:solidFill>
                <a:srgbClr val="FF0000"/>
              </a:solidFill>
              <a:latin typeface="Arial" panose="020B0604020202020204" pitchFamily="34" charset="0"/>
              <a:ea typeface="+mn-ea"/>
              <a:cs typeface="+mn-ea"/>
              <a:sym typeface="+mn-ea"/>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linds(horizontal)">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blinds(horizontal)">
                                      <p:cBhvr>
                                        <p:cTn id="1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P spid="25"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195739" y="141482"/>
            <a:ext cx="6768877" cy="368300"/>
          </a:xfrm>
        </p:spPr>
        <p:txBody>
          <a:bodyPr/>
          <a:lstStyle/>
          <a:p>
            <a:r>
              <a:rPr lang="zh-CN" altLang="en-US"/>
              <a:t>序列的索引、长度</a:t>
            </a:r>
            <a:endParaRPr lang="zh-CN" altLang="en-US"/>
          </a:p>
        </p:txBody>
      </p:sp>
      <p:sp>
        <p:nvSpPr>
          <p:cNvPr id="36908" name="TextBox 57"/>
          <p:cNvSpPr>
            <a:spLocks noChangeArrowheads="1"/>
          </p:cNvSpPr>
          <p:nvPr/>
        </p:nvSpPr>
        <p:spPr bwMode="auto">
          <a:xfrm>
            <a:off x="775970" y="3502025"/>
            <a:ext cx="1416050"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eaLnBrk="0" hangingPunct="0">
              <a:lnSpc>
                <a:spcPct val="150000"/>
              </a:lnSpc>
            </a:pPr>
            <a:endParaRPr lang="zh-CN" dirty="0"/>
          </a:p>
        </p:txBody>
      </p:sp>
      <p:sp>
        <p:nvSpPr>
          <p:cNvPr id="9" name="文本框 8"/>
          <p:cNvSpPr txBox="1"/>
          <p:nvPr/>
        </p:nvSpPr>
        <p:spPr>
          <a:xfrm>
            <a:off x="-167005" y="696595"/>
            <a:ext cx="3178175" cy="368300"/>
          </a:xfrm>
          <a:prstGeom prst="rect">
            <a:avLst/>
          </a:prstGeom>
          <a:noFill/>
        </p:spPr>
        <p:txBody>
          <a:bodyPr wrap="square" rtlCol="0">
            <a:spAutoFit/>
          </a:bodyPr>
          <a:lstStyle/>
          <a:p>
            <a:r>
              <a:rPr lang="zh-CN" altLang="en-US"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序列的索引、长度</a:t>
            </a:r>
            <a:endParaRPr lang="zh-CN" altLang="en-US"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文本框 11"/>
          <p:cNvSpPr txBox="1"/>
          <p:nvPr/>
        </p:nvSpPr>
        <p:spPr>
          <a:xfrm>
            <a:off x="764540" y="1127125"/>
            <a:ext cx="7614920" cy="368300"/>
          </a:xfrm>
          <a:prstGeom prst="rect">
            <a:avLst/>
          </a:prstGeom>
          <a:noFill/>
        </p:spPr>
        <p:txBody>
          <a:bodyPr wrap="square" rtlCol="0" anchor="t">
            <a:spAutoFit/>
          </a:bodyPr>
          <a:lstStyle/>
          <a:p>
            <a:r>
              <a:rPr lang="zh-CN" altLang="en-US"/>
              <a:t>序列字符串: name = 'abcdef'，在内存中的实际存储如下</a:t>
            </a:r>
            <a:endParaRPr lang="zh-CN" altLang="en-US"/>
          </a:p>
        </p:txBody>
      </p:sp>
      <p:pic>
        <p:nvPicPr>
          <p:cNvPr id="13" name="图片 12"/>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868170" y="1433195"/>
            <a:ext cx="4749165" cy="2388870"/>
          </a:xfrm>
          <a:prstGeom prst="rect">
            <a:avLst/>
          </a:prstGeom>
        </p:spPr>
      </p:pic>
      <p:sp>
        <p:nvSpPr>
          <p:cNvPr id="14" name="矩形 13"/>
          <p:cNvSpPr/>
          <p:nvPr/>
        </p:nvSpPr>
        <p:spPr>
          <a:xfrm>
            <a:off x="1352550" y="3785235"/>
            <a:ext cx="5779770" cy="41973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求序列的长度（元素的个数）</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len(name)</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矩形 15"/>
          <p:cNvSpPr/>
          <p:nvPr/>
        </p:nvSpPr>
        <p:spPr>
          <a:xfrm>
            <a:off x="1352550" y="4441190"/>
            <a:ext cx="5779770" cy="41973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索引从左往右从</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开始，从右往左从</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开始</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6908"/>
                                        </p:tgtEl>
                                        <p:attrNameLst>
                                          <p:attrName>style.visibility</p:attrName>
                                        </p:attrNameLst>
                                      </p:cBhvr>
                                      <p:to>
                                        <p:strVal val="visible"/>
                                      </p:to>
                                    </p:set>
                                    <p:animEffect>
                                      <p:cBhvr>
                                        <p:cTn id="7" dur="500"/>
                                        <p:tgtEl>
                                          <p:spTgt spid="36908"/>
                                        </p:tgtEl>
                                      </p:cBhvr>
                                    </p:animEffect>
                                    <p:anim calcmode="lin" valueType="num">
                                      <p:cBhvr>
                                        <p:cTn id="8" dur="500" fill="hold"/>
                                        <p:tgtEl>
                                          <p:spTgt spid="36908"/>
                                        </p:tgtEl>
                                        <p:attrNameLst>
                                          <p:attrName>ppt_x</p:attrName>
                                        </p:attrNameLst>
                                      </p:cBhvr>
                                      <p:tavLst>
                                        <p:tav tm="0">
                                          <p:val>
                                            <p:strVal val="#ppt_x"/>
                                          </p:val>
                                        </p:tav>
                                        <p:tav tm="100000">
                                          <p:val>
                                            <p:strVal val="#ppt_x"/>
                                          </p:val>
                                        </p:tav>
                                      </p:tavLst>
                                    </p:anim>
                                    <p:anim calcmode="lin" valueType="num">
                                      <p:cBhvr>
                                        <p:cTn id="9" dur="500" fill="hold"/>
                                        <p:tgtEl>
                                          <p:spTgt spid="3690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fill="hold"/>
                                        <p:tgtEl>
                                          <p:spTgt spid="12"/>
                                        </p:tgtEl>
                                        <p:attrNameLst>
                                          <p:attrName>ppt_x</p:attrName>
                                        </p:attrNameLst>
                                      </p:cBhvr>
                                      <p:tavLst>
                                        <p:tav tm="0">
                                          <p:val>
                                            <p:strVal val="#ppt_x"/>
                                          </p:val>
                                        </p:tav>
                                        <p:tav tm="100000">
                                          <p:val>
                                            <p:strVal val="#ppt_x"/>
                                          </p:val>
                                        </p:tav>
                                      </p:tavLst>
                                    </p:anim>
                                    <p:anim calcmode="lin" valueType="num">
                                      <p:cBhvr additive="base">
                                        <p:cTn id="1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8" presetClass="entr" presetSubtype="12"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strips(downLeft)">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randombar(horizontal)">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randombar(horizontal)">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08" grpId="0" bldLvl="0" autoUpdateAnimBg="0"/>
      <p:bldP spid="12" grpId="0"/>
      <p:bldP spid="14" grpId="0" bldLvl="0" animBg="1"/>
      <p:bldP spid="16"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304165" y="670560"/>
            <a:ext cx="1554480" cy="506730"/>
          </a:xfrm>
          <a:prstGeom prst="rect">
            <a:avLst/>
          </a:prstGeom>
          <a:noFill/>
        </p:spPr>
        <p:txBody>
          <a:bodyPr wrap="none" rtlCol="0">
            <a:spAutoFit/>
          </a:body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mn-ea"/>
              </a:rPr>
              <a:t>成员资格判断</a:t>
            </a:r>
            <a:endParaRPr lang="zh-CN" altLang="en-US"/>
          </a:p>
        </p:txBody>
      </p:sp>
      <p:sp>
        <p:nvSpPr>
          <p:cNvPr id="23" name="文本框 22"/>
          <p:cNvSpPr txBox="1">
            <a:spLocks noChangeArrowheads="1"/>
          </p:cNvSpPr>
          <p:nvPr/>
        </p:nvSpPr>
        <p:spPr bwMode="auto">
          <a:xfrm>
            <a:off x="2556510" y="1628775"/>
            <a:ext cx="4030345" cy="2887980"/>
          </a:xfrm>
          <a:prstGeom prst="rect">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72000" anchor="ctr" anchorCtr="0">
            <a:spAutoFit/>
          </a:bodyPr>
          <a:lstStyle>
            <a:defPPr>
              <a:defRPr lang="en-US"/>
            </a:defPPr>
            <a:lvl1pPr marL="224155" indent="-224155" algn="l" defTabSz="381000">
              <a:lnSpc>
                <a:spcPct val="150000"/>
              </a:lnSpc>
              <a:buClr>
                <a:schemeClr val="folHlink"/>
              </a:buClr>
              <a:buSzPct val="60000"/>
              <a:defRPr sz="1800">
                <a:solidFill>
                  <a:schemeClr val="tx1">
                    <a:lumMod val="75000"/>
                    <a:lumOff val="25000"/>
                  </a:schemeClr>
                </a:solidFill>
                <a:latin typeface="+mn-ea"/>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vl6pPr>
              <a:defRPr>
                <a:latin typeface="Arial" panose="020B0604020202020204" pitchFamily="34" charset="0"/>
              </a:defRPr>
            </a:lvl6pPr>
            <a:lvl7pPr>
              <a:defRPr>
                <a:latin typeface="Arial" panose="020B0604020202020204" pitchFamily="34" charset="0"/>
              </a:defRPr>
            </a:lvl7pPr>
            <a:lvl8pPr>
              <a:defRPr>
                <a:latin typeface="Arial" panose="020B0604020202020204" pitchFamily="34" charset="0"/>
              </a:defRPr>
            </a:lvl8pPr>
            <a:lvl9pPr>
              <a:defRPr>
                <a:latin typeface="Arial" panose="020B0604020202020204" pitchFamily="34" charset="0"/>
              </a:defRPr>
            </a:lvl9pPr>
          </a:lstStyle>
          <a:p>
            <a:pPr marL="0" indent="0">
              <a:buNone/>
            </a:pPr>
            <a:r>
              <a:rPr lang="zh-CN" altLang="en-US" sz="1400">
                <a:solidFill>
                  <a:srgbClr val="FF0000"/>
                </a:solidFill>
                <a:sym typeface="+mn-ea"/>
              </a:rPr>
              <a:t>格式： 数据  </a:t>
            </a:r>
            <a:r>
              <a:rPr lang="en-US" altLang="zh-CN" sz="1400">
                <a:solidFill>
                  <a:srgbClr val="FF0000"/>
                </a:solidFill>
                <a:sym typeface="+mn-ea"/>
              </a:rPr>
              <a:t>in  </a:t>
            </a:r>
            <a:r>
              <a:rPr lang="zh-CN" altLang="en-US" sz="1400">
                <a:solidFill>
                  <a:srgbClr val="FF0000"/>
                </a:solidFill>
                <a:sym typeface="+mn-ea"/>
              </a:rPr>
              <a:t>序列</a:t>
            </a:r>
            <a:endParaRPr lang="zh-CN" altLang="en-US" sz="1400">
              <a:sym typeface="+mn-ea"/>
            </a:endParaRPr>
          </a:p>
          <a:p>
            <a:pPr marL="0" indent="0">
              <a:buNone/>
            </a:pPr>
            <a:endParaRPr lang="en-US" altLang="zh-CN" b="1" dirty="0">
              <a:solidFill>
                <a:srgbClr val="FF0000"/>
              </a:solidFill>
              <a:latin typeface="Arial" panose="020B0604020202020204" pitchFamily="34" charset="0"/>
              <a:ea typeface="微软雅黑" panose="020B0503020204020204" pitchFamily="34" charset="-122"/>
              <a:cs typeface="+mn-ea"/>
              <a:sym typeface="+mn-ea"/>
            </a:endParaRPr>
          </a:p>
          <a:p>
            <a:pPr marL="0" indent="0">
              <a:buNone/>
            </a:pPr>
            <a:r>
              <a:rPr lang="en-US" altLang="zh-CN" dirty="0">
                <a:solidFill>
                  <a:srgbClr val="002060"/>
                </a:solidFill>
                <a:latin typeface="Arial" panose="020B0604020202020204" pitchFamily="34" charset="0"/>
                <a:ea typeface="微软雅黑" panose="020B0503020204020204" pitchFamily="34" charset="-122"/>
                <a:cs typeface="+mn-ea"/>
                <a:sym typeface="+mn-ea"/>
              </a:rPr>
              <a:t>db = ['jone', 'jeck','peter']</a:t>
            </a:r>
            <a:endParaRPr lang="en-US" altLang="zh-CN" dirty="0">
              <a:solidFill>
                <a:srgbClr val="002060"/>
              </a:solidFill>
              <a:latin typeface="Arial" panose="020B0604020202020204" pitchFamily="34" charset="0"/>
              <a:ea typeface="微软雅黑" panose="020B0503020204020204" pitchFamily="34" charset="-122"/>
              <a:cs typeface="+mn-ea"/>
              <a:sym typeface="+mn-ea"/>
            </a:endParaRPr>
          </a:p>
          <a:p>
            <a:pPr marL="0" indent="0">
              <a:buNone/>
            </a:pPr>
            <a:r>
              <a:rPr lang="en-US" altLang="zh-CN" dirty="0">
                <a:solidFill>
                  <a:srgbClr val="002060"/>
                </a:solidFill>
                <a:latin typeface="Arial" panose="020B0604020202020204" pitchFamily="34" charset="0"/>
                <a:ea typeface="微软雅黑" panose="020B0503020204020204" pitchFamily="34" charset="-122"/>
                <a:cs typeface="+mn-ea"/>
                <a:sym typeface="+mn-ea"/>
              </a:rPr>
              <a:t>if 'jone' in db:</a:t>
            </a:r>
            <a:endParaRPr lang="en-US" altLang="zh-CN" dirty="0">
              <a:solidFill>
                <a:srgbClr val="002060"/>
              </a:solidFill>
              <a:latin typeface="Arial" panose="020B0604020202020204" pitchFamily="34" charset="0"/>
              <a:ea typeface="微软雅黑" panose="020B0503020204020204" pitchFamily="34" charset="-122"/>
              <a:cs typeface="+mn-ea"/>
              <a:sym typeface="+mn-ea"/>
            </a:endParaRPr>
          </a:p>
          <a:p>
            <a:pPr marL="0" indent="0">
              <a:buNone/>
            </a:pPr>
            <a:r>
              <a:rPr lang="en-US" altLang="zh-CN" dirty="0">
                <a:solidFill>
                  <a:srgbClr val="002060"/>
                </a:solidFill>
                <a:latin typeface="Arial" panose="020B0604020202020204" pitchFamily="34" charset="0"/>
                <a:ea typeface="微软雅黑" panose="020B0503020204020204" pitchFamily="34" charset="-122"/>
                <a:cs typeface="+mn-ea"/>
                <a:sym typeface="+mn-ea"/>
              </a:rPr>
              <a:t>    print(</a:t>
            </a:r>
            <a:r>
              <a:rPr lang="zh-CN" altLang="en-US" dirty="0">
                <a:solidFill>
                  <a:srgbClr val="002060"/>
                </a:solidFill>
                <a:latin typeface="Arial" panose="020B0604020202020204" pitchFamily="34" charset="0"/>
                <a:ea typeface="微软雅黑" panose="020B0503020204020204" pitchFamily="34" charset="-122"/>
                <a:cs typeface="+mn-ea"/>
                <a:sym typeface="+mn-ea"/>
              </a:rPr>
              <a:t>列表含有</a:t>
            </a:r>
            <a:r>
              <a:rPr lang="en-US" altLang="zh-CN" dirty="0">
                <a:solidFill>
                  <a:srgbClr val="002060"/>
                </a:solidFill>
                <a:latin typeface="Arial" panose="020B0604020202020204" pitchFamily="34" charset="0"/>
                <a:ea typeface="微软雅黑" panose="020B0503020204020204" pitchFamily="34" charset="-122"/>
                <a:cs typeface="+mn-ea"/>
                <a:sym typeface="+mn-ea"/>
              </a:rPr>
              <a:t>'jone')</a:t>
            </a:r>
            <a:endParaRPr lang="en-US" altLang="zh-CN" dirty="0">
              <a:solidFill>
                <a:srgbClr val="002060"/>
              </a:solidFill>
              <a:latin typeface="Arial" panose="020B0604020202020204" pitchFamily="34" charset="0"/>
              <a:ea typeface="微软雅黑" panose="020B0503020204020204" pitchFamily="34" charset="-122"/>
              <a:cs typeface="+mn-ea"/>
              <a:sym typeface="+mn-ea"/>
            </a:endParaRPr>
          </a:p>
          <a:p>
            <a:pPr marL="0" indent="0">
              <a:buNone/>
            </a:pPr>
            <a:r>
              <a:rPr lang="en-US" altLang="zh-CN" dirty="0">
                <a:solidFill>
                  <a:srgbClr val="002060"/>
                </a:solidFill>
                <a:latin typeface="Arial" panose="020B0604020202020204" pitchFamily="34" charset="0"/>
                <a:ea typeface="微软雅黑" panose="020B0503020204020204" pitchFamily="34" charset="-122"/>
                <a:cs typeface="+mn-ea"/>
                <a:sym typeface="+mn-ea"/>
              </a:rPr>
              <a:t>else:</a:t>
            </a:r>
            <a:endParaRPr lang="en-US" altLang="zh-CN" dirty="0">
              <a:solidFill>
                <a:srgbClr val="002060"/>
              </a:solidFill>
              <a:latin typeface="Arial" panose="020B0604020202020204" pitchFamily="34" charset="0"/>
              <a:ea typeface="微软雅黑" panose="020B0503020204020204" pitchFamily="34" charset="-122"/>
              <a:cs typeface="+mn-ea"/>
              <a:sym typeface="+mn-ea"/>
            </a:endParaRPr>
          </a:p>
          <a:p>
            <a:pPr marL="0" indent="0">
              <a:buNone/>
            </a:pPr>
            <a:r>
              <a:rPr lang="en-US" altLang="zh-CN" dirty="0">
                <a:solidFill>
                  <a:srgbClr val="002060"/>
                </a:solidFill>
                <a:latin typeface="Arial" panose="020B0604020202020204" pitchFamily="34" charset="0"/>
                <a:ea typeface="微软雅黑" panose="020B0503020204020204" pitchFamily="34" charset="-122"/>
                <a:cs typeface="+mn-ea"/>
                <a:sym typeface="+mn-ea"/>
              </a:rPr>
              <a:t>    print(</a:t>
            </a:r>
            <a:r>
              <a:rPr lang="zh-CN" altLang="en-US" dirty="0">
                <a:solidFill>
                  <a:srgbClr val="002060"/>
                </a:solidFill>
                <a:latin typeface="Arial" panose="020B0604020202020204" pitchFamily="34" charset="0"/>
                <a:ea typeface="微软雅黑" panose="020B0503020204020204" pitchFamily="34" charset="-122"/>
                <a:cs typeface="+mn-ea"/>
                <a:sym typeface="+mn-ea"/>
              </a:rPr>
              <a:t>列表没有</a:t>
            </a:r>
            <a:r>
              <a:rPr lang="en-US" altLang="zh-CN" dirty="0">
                <a:solidFill>
                  <a:srgbClr val="002060"/>
                </a:solidFill>
                <a:latin typeface="Arial" panose="020B0604020202020204" pitchFamily="34" charset="0"/>
                <a:ea typeface="微软雅黑" panose="020B0503020204020204" pitchFamily="34" charset="-122"/>
                <a:cs typeface="+mn-ea"/>
                <a:sym typeface="+mn-ea"/>
              </a:rPr>
              <a:t>'jone')</a:t>
            </a:r>
            <a:endParaRPr lang="en-US" altLang="zh-CN" dirty="0">
              <a:solidFill>
                <a:srgbClr val="002060"/>
              </a:solidFill>
              <a:latin typeface="Arial" panose="020B0604020202020204" pitchFamily="34" charset="0"/>
              <a:ea typeface="微软雅黑" panose="020B0503020204020204" pitchFamily="34" charset="-122"/>
              <a:cs typeface="+mn-ea"/>
              <a:sym typeface="+mn-ea"/>
            </a:endParaRPr>
          </a:p>
        </p:txBody>
      </p:sp>
      <p:sp>
        <p:nvSpPr>
          <p:cNvPr id="5" name="标题 4"/>
          <p:cNvSpPr>
            <a:spLocks noGrp="1"/>
          </p:cNvSpPr>
          <p:nvPr>
            <p:ph type="title"/>
          </p:nvPr>
        </p:nvSpPr>
        <p:spPr>
          <a:xfrm>
            <a:off x="2195739" y="141482"/>
            <a:ext cx="6768877" cy="368300"/>
          </a:xfrm>
        </p:spPr>
        <p:txBody>
          <a:bodyPr/>
          <a:lstStyle/>
          <a:p>
            <a:r>
              <a:rPr lang="zh-CN" altLang="en-US" dirty="0"/>
              <a:t>序列的成员资格判断</a:t>
            </a:r>
            <a:endParaRPr lang="zh-CN" altLang="en-US" dirty="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195739" y="141482"/>
            <a:ext cx="6768877" cy="368300"/>
          </a:xfrm>
        </p:spPr>
        <p:txBody>
          <a:bodyPr/>
          <a:lstStyle/>
          <a:p>
            <a:r>
              <a:rPr lang="zh-CN" altLang="en-US" dirty="0"/>
              <a:t>序列的遍历</a:t>
            </a:r>
            <a:endParaRPr lang="zh-CN" altLang="en-US" dirty="0"/>
          </a:p>
        </p:txBody>
      </p:sp>
      <p:sp>
        <p:nvSpPr>
          <p:cNvPr id="508937" name="AutoShape 9"/>
          <p:cNvSpPr>
            <a:spLocks noChangeArrowheads="1"/>
          </p:cNvSpPr>
          <p:nvPr/>
        </p:nvSpPr>
        <p:spPr bwMode="auto">
          <a:xfrm>
            <a:off x="620688" y="1333583"/>
            <a:ext cx="2801937" cy="2488296"/>
          </a:xfrm>
          <a:prstGeom prst="roundRect">
            <a:avLst>
              <a:gd name="adj" fmla="val 16667"/>
            </a:avLst>
          </a:prstGeom>
          <a:solidFill>
            <a:srgbClr val="E7F4FF"/>
          </a:solidFill>
          <a:ln w="28575" cap="flat" cmpd="sng" algn="ctr">
            <a:solidFill>
              <a:srgbClr val="00B0F0"/>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algn="l"/>
            <a:r>
              <a:rPr lang="zh-CN" altLang="en-US" sz="1400" dirty="0">
                <a:solidFill>
                  <a:schemeClr val="tx1">
                    <a:lumMod val="75000"/>
                    <a:lumOff val="25000"/>
                  </a:schemeClr>
                </a:solidFill>
              </a:rPr>
              <a:t>语法：</a:t>
            </a:r>
            <a:endParaRPr lang="zh-CN" altLang="en-US" sz="1400" dirty="0">
              <a:solidFill>
                <a:schemeClr val="tx1">
                  <a:lumMod val="75000"/>
                  <a:lumOff val="25000"/>
                </a:schemeClr>
              </a:solidFill>
            </a:endParaRPr>
          </a:p>
          <a:p>
            <a:pPr algn="l"/>
            <a:r>
              <a:rPr lang="en-US" sz="1400" dirty="0">
                <a:solidFill>
                  <a:srgbClr val="FF0000"/>
                </a:solidFill>
              </a:rPr>
              <a:t>for  i   in  </a:t>
            </a:r>
            <a:r>
              <a:rPr lang="zh-CN" altLang="en-US" sz="1400" dirty="0">
                <a:solidFill>
                  <a:srgbClr val="FF0000"/>
                </a:solidFill>
              </a:rPr>
              <a:t>序列：</a:t>
            </a:r>
            <a:endParaRPr lang="zh-CN" altLang="en-US" sz="1400" dirty="0">
              <a:solidFill>
                <a:schemeClr val="tx1">
                  <a:lumMod val="75000"/>
                  <a:lumOff val="25000"/>
                </a:schemeClr>
              </a:solidFill>
            </a:endParaRPr>
          </a:p>
          <a:p>
            <a:pPr algn="l"/>
            <a:r>
              <a:rPr lang="en-US" altLang="zh-CN" sz="1400" dirty="0">
                <a:solidFill>
                  <a:schemeClr val="tx1">
                    <a:lumMod val="75000"/>
                    <a:lumOff val="25000"/>
                  </a:schemeClr>
                </a:solidFill>
              </a:rPr>
              <a:t>     </a:t>
            </a:r>
            <a:r>
              <a:rPr lang="zh-CN" altLang="en-US" sz="1400" dirty="0">
                <a:solidFill>
                  <a:schemeClr val="tx1">
                    <a:lumMod val="75000"/>
                    <a:lumOff val="25000"/>
                  </a:schemeClr>
                </a:solidFill>
              </a:rPr>
              <a:t>代码</a:t>
            </a:r>
            <a:endParaRPr lang="zh-CN" altLang="en-US" sz="1400" dirty="0">
              <a:solidFill>
                <a:schemeClr val="tx1">
                  <a:lumMod val="75000"/>
                  <a:lumOff val="25000"/>
                </a:schemeClr>
              </a:solidFill>
            </a:endParaRPr>
          </a:p>
          <a:p>
            <a:pPr algn="l"/>
            <a:endParaRPr lang="zh-CN" altLang="en-US" sz="1400" dirty="0">
              <a:solidFill>
                <a:schemeClr val="tx1">
                  <a:lumMod val="75000"/>
                  <a:lumOff val="25000"/>
                </a:schemeClr>
              </a:solidFill>
            </a:endParaRPr>
          </a:p>
          <a:p>
            <a:pPr algn="l"/>
            <a:endParaRPr lang="zh-CN" altLang="en-US" sz="1400" dirty="0">
              <a:solidFill>
                <a:schemeClr val="tx1">
                  <a:lumMod val="75000"/>
                  <a:lumOff val="25000"/>
                </a:schemeClr>
              </a:solidFill>
            </a:endParaRPr>
          </a:p>
          <a:p>
            <a:pPr algn="l"/>
            <a:r>
              <a:rPr lang="en-US" altLang="zh-CN" sz="1400" dirty="0">
                <a:solidFill>
                  <a:srgbClr val="FF0000"/>
                </a:solidFill>
              </a:rPr>
              <a:t>demo</a:t>
            </a:r>
            <a:r>
              <a:rPr lang="zh-CN" altLang="en-US" sz="1400" dirty="0">
                <a:solidFill>
                  <a:srgbClr val="FF0000"/>
                </a:solidFill>
              </a:rPr>
              <a:t>：</a:t>
            </a:r>
            <a:endParaRPr lang="zh-CN" altLang="en-US" sz="1400" dirty="0">
              <a:solidFill>
                <a:schemeClr val="tx1">
                  <a:lumMod val="75000"/>
                  <a:lumOff val="25000"/>
                </a:schemeClr>
              </a:solidFill>
            </a:endParaRPr>
          </a:p>
          <a:p>
            <a:pPr algn="l"/>
            <a:r>
              <a:rPr lang="en-US" altLang="zh-CN" sz="1400" dirty="0">
                <a:solidFill>
                  <a:schemeClr val="tx1">
                    <a:lumMod val="75000"/>
                    <a:lumOff val="25000"/>
                  </a:schemeClr>
                </a:solidFill>
              </a:rPr>
              <a:t>    f</a:t>
            </a:r>
            <a:r>
              <a:rPr lang="zh-CN" altLang="en-US" sz="1400" dirty="0">
                <a:solidFill>
                  <a:schemeClr val="tx1">
                    <a:lumMod val="75000"/>
                    <a:lumOff val="25000"/>
                  </a:schemeClr>
                </a:solidFill>
              </a:rPr>
              <a:t>oo = 'abc'</a:t>
            </a:r>
            <a:endParaRPr lang="zh-CN" altLang="en-US" sz="1400" dirty="0">
              <a:solidFill>
                <a:schemeClr val="tx1">
                  <a:lumMod val="75000"/>
                  <a:lumOff val="25000"/>
                </a:schemeClr>
              </a:solidFill>
            </a:endParaRPr>
          </a:p>
          <a:p>
            <a:pPr algn="l"/>
            <a:r>
              <a:rPr lang="zh-CN" altLang="en-US" sz="1400" dirty="0">
                <a:solidFill>
                  <a:schemeClr val="tx1">
                    <a:lumMod val="75000"/>
                    <a:lumOff val="25000"/>
                  </a:schemeClr>
                </a:solidFill>
              </a:rPr>
              <a:t>    for  i  in foo:</a:t>
            </a:r>
            <a:endParaRPr lang="zh-CN" altLang="en-US" sz="1400" dirty="0">
              <a:solidFill>
                <a:schemeClr val="tx1">
                  <a:lumMod val="75000"/>
                  <a:lumOff val="25000"/>
                </a:schemeClr>
              </a:solidFill>
            </a:endParaRPr>
          </a:p>
          <a:p>
            <a:pPr algn="l"/>
            <a:r>
              <a:rPr lang="zh-CN" altLang="en-US" sz="1400" dirty="0">
                <a:solidFill>
                  <a:schemeClr val="tx1">
                    <a:lumMod val="75000"/>
                    <a:lumOff val="25000"/>
                  </a:schemeClr>
                </a:solidFill>
              </a:rPr>
              <a:t>          print(i)   </a:t>
            </a:r>
            <a:endParaRPr lang="zh-CN" altLang="en-US" sz="1400" dirty="0">
              <a:solidFill>
                <a:schemeClr val="tx1">
                  <a:lumMod val="75000"/>
                  <a:lumOff val="25000"/>
                </a:schemeClr>
              </a:solidFill>
            </a:endParaRPr>
          </a:p>
          <a:p>
            <a:pPr algn="l"/>
            <a:r>
              <a:rPr lang="zh-CN" altLang="en-US" sz="1400" dirty="0">
                <a:solidFill>
                  <a:schemeClr val="tx1">
                    <a:lumMod val="75000"/>
                    <a:lumOff val="25000"/>
                  </a:schemeClr>
                </a:solidFill>
              </a:rPr>
              <a:t>#打印的结果为a b c</a:t>
            </a:r>
            <a:endParaRPr lang="zh-CN" altLang="en-US" sz="1400" dirty="0">
              <a:solidFill>
                <a:schemeClr val="tx1">
                  <a:lumMod val="75000"/>
                  <a:lumOff val="25000"/>
                </a:schemeClr>
              </a:solidFill>
            </a:endParaRPr>
          </a:p>
        </p:txBody>
      </p:sp>
      <p:sp>
        <p:nvSpPr>
          <p:cNvPr id="3" name="AutoShape 9"/>
          <p:cNvSpPr>
            <a:spLocks noChangeArrowheads="1"/>
          </p:cNvSpPr>
          <p:nvPr/>
        </p:nvSpPr>
        <p:spPr bwMode="auto">
          <a:xfrm>
            <a:off x="5560060" y="814705"/>
            <a:ext cx="3096895" cy="3840574"/>
          </a:xfrm>
          <a:prstGeom prst="roundRect">
            <a:avLst>
              <a:gd name="adj" fmla="val 16667"/>
            </a:avLst>
          </a:prstGeom>
          <a:solidFill>
            <a:srgbClr val="E7F4FF"/>
          </a:solidFill>
          <a:ln w="28575" cap="flat" cmpd="sng" algn="ctr">
            <a:solidFill>
              <a:srgbClr val="00B0F0"/>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algn="l"/>
            <a:r>
              <a:rPr lang="zh-CN" altLang="en-US" sz="1400" dirty="0">
                <a:solidFill>
                  <a:schemeClr val="tx1">
                    <a:lumMod val="75000"/>
                    <a:lumOff val="25000"/>
                  </a:schemeClr>
                </a:solidFill>
              </a:rPr>
              <a:t>语法：</a:t>
            </a:r>
            <a:endParaRPr lang="zh-CN" altLang="en-US" sz="1400" dirty="0">
              <a:solidFill>
                <a:schemeClr val="tx1">
                  <a:lumMod val="75000"/>
                  <a:lumOff val="25000"/>
                </a:schemeClr>
              </a:solidFill>
            </a:endParaRPr>
          </a:p>
          <a:p>
            <a:pPr algn="l"/>
            <a:r>
              <a:rPr sz="1400" dirty="0"/>
              <a:t>for  i, j  in enumerate(序列):</a:t>
            </a:r>
            <a:endParaRPr sz="1400" dirty="0"/>
          </a:p>
          <a:p>
            <a:pPr algn="l"/>
            <a:r>
              <a:rPr sz="1400" dirty="0"/>
              <a:t>       </a:t>
            </a:r>
            <a:r>
              <a:rPr lang="en-US" sz="1400" dirty="0"/>
              <a:t>print(i,j)</a:t>
            </a:r>
            <a:endParaRPr lang="en-US" sz="1400" dirty="0"/>
          </a:p>
          <a:p>
            <a:pPr algn="l"/>
            <a:endParaRPr sz="1400" dirty="0"/>
          </a:p>
          <a:p>
            <a:pPr algn="l"/>
            <a:r>
              <a:rPr sz="1400" dirty="0"/>
              <a:t>i为每次从序列中按顺序取出的元素的索引，j为每次取出的值</a:t>
            </a:r>
            <a:endParaRPr sz="1400" dirty="0"/>
          </a:p>
          <a:p>
            <a:pPr algn="l"/>
            <a:endParaRPr sz="1400" dirty="0"/>
          </a:p>
          <a:p>
            <a:pPr algn="l"/>
            <a:r>
              <a:rPr lang="en-US" sz="1400" dirty="0">
                <a:solidFill>
                  <a:srgbClr val="FF0000"/>
                </a:solidFill>
              </a:rPr>
              <a:t>demo:</a:t>
            </a:r>
            <a:endParaRPr lang="en-US" sz="1400" dirty="0"/>
          </a:p>
          <a:p>
            <a:pPr algn="l"/>
            <a:r>
              <a:rPr lang="en-US" sz="1400" dirty="0"/>
              <a:t>    foo = 'abc'</a:t>
            </a:r>
            <a:endParaRPr lang="en-US" sz="1400" dirty="0"/>
          </a:p>
          <a:p>
            <a:pPr algn="l"/>
            <a:r>
              <a:rPr lang="en-US" sz="1400" dirty="0"/>
              <a:t>    for i, ch in enumerate(foo):</a:t>
            </a:r>
            <a:endParaRPr lang="en-US" sz="1400" dirty="0"/>
          </a:p>
          <a:p>
            <a:pPr algn="l"/>
            <a:r>
              <a:rPr lang="en-US" sz="1400" dirty="0"/>
              <a:t>          print(i,ch)</a:t>
            </a:r>
            <a:endParaRPr lang="en-US" sz="1400" dirty="0"/>
          </a:p>
          <a:p>
            <a:pPr algn="l"/>
            <a:endParaRPr lang="en-US" sz="1400" dirty="0"/>
          </a:p>
          <a:p>
            <a:pPr algn="l"/>
            <a:r>
              <a:rPr lang="en-US" sz="1400" dirty="0"/>
              <a:t>输出的结果是：</a:t>
            </a:r>
            <a:endParaRPr lang="en-US" sz="1400" dirty="0"/>
          </a:p>
          <a:p>
            <a:pPr algn="l"/>
            <a:r>
              <a:rPr lang="en-US" sz="1400" dirty="0"/>
              <a:t>0 a</a:t>
            </a:r>
            <a:endParaRPr lang="en-US" sz="1400" dirty="0"/>
          </a:p>
          <a:p>
            <a:pPr algn="l"/>
            <a:r>
              <a:rPr lang="en-US" sz="1400" dirty="0"/>
              <a:t>1 b</a:t>
            </a:r>
            <a:endParaRPr lang="en-US" sz="1400" dirty="0"/>
          </a:p>
          <a:p>
            <a:pPr algn="l"/>
            <a:r>
              <a:rPr lang="en-US" sz="1400" dirty="0"/>
              <a:t>2 c</a:t>
            </a:r>
            <a:endParaRPr lang="en-US" sz="1400" dirty="0"/>
          </a:p>
        </p:txBody>
      </p:sp>
      <p:sp>
        <p:nvSpPr>
          <p:cNvPr id="2" name="文本框 1"/>
          <p:cNvSpPr txBox="1"/>
          <p:nvPr/>
        </p:nvSpPr>
        <p:spPr>
          <a:xfrm>
            <a:off x="328930" y="688340"/>
            <a:ext cx="1325880" cy="645160"/>
          </a:xfrm>
          <a:prstGeom prst="rect">
            <a:avLst/>
          </a:prstGeom>
          <a:noFill/>
        </p:spPr>
        <p:txBody>
          <a:bodyPr wrap="none" rtlCol="0">
            <a:spAutoFit/>
          </a:bodyPr>
          <a:lstStyle/>
          <a:p>
            <a:pPr algn="ctr"/>
            <a:r>
              <a:rPr lang="zh-CN" altLang="en-US" dirty="0">
                <a:sym typeface="+mn-ea"/>
              </a:rPr>
              <a:t>序列的遍历</a:t>
            </a:r>
            <a:endParaRPr lang="zh-CN" altLang="en-US" dirty="0"/>
          </a:p>
          <a:p>
            <a:endParaRPr lang="zh-CN" altLang="en-US"/>
          </a:p>
        </p:txBody>
      </p:sp>
      <p:sp>
        <p:nvSpPr>
          <p:cNvPr id="30" name="矩形 29"/>
          <p:cNvSpPr>
            <a:spLocks noChangeAspect="1"/>
          </p:cNvSpPr>
          <p:nvPr/>
        </p:nvSpPr>
        <p:spPr>
          <a:xfrm>
            <a:off x="3943350" y="2124711"/>
            <a:ext cx="1143000" cy="15240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altLang="zh-CN" sz="2800" b="1" spc="50" dirty="0">
                <a:ln w="13500">
                  <a:solidFill>
                    <a:srgbClr val="BBE0E3">
                      <a:shade val="2500"/>
                      <a:alpha val="6500"/>
                    </a:srgbClr>
                  </a:solidFill>
                  <a:prstDash val="solid"/>
                </a:ln>
                <a:solidFill>
                  <a:srgbClr val="BBE0E3">
                    <a:tint val="3000"/>
                    <a:alpha val="95000"/>
                  </a:srgbClr>
                </a:solidFill>
                <a:effectLst>
                  <a:innerShdw blurRad="50900" dist="38500" dir="13500000">
                    <a:srgbClr val="000000">
                      <a:alpha val="60000"/>
                    </a:srgbClr>
                  </a:innerShdw>
                </a:effectLst>
                <a:latin typeface="微软雅黑" panose="020B0503020204020204" pitchFamily="34" charset="-122"/>
                <a:ea typeface="微软雅黑" panose="020B0503020204020204" pitchFamily="34" charset="-122"/>
              </a:rPr>
              <a:t>for</a:t>
            </a:r>
            <a:endParaRPr lang="en-US" altLang="zh-CN" sz="2800" b="1" spc="50" dirty="0">
              <a:ln w="13500">
                <a:solidFill>
                  <a:srgbClr val="BBE0E3">
                    <a:shade val="2500"/>
                    <a:alpha val="6500"/>
                  </a:srgbClr>
                </a:solidFill>
                <a:prstDash val="solid"/>
              </a:ln>
              <a:solidFill>
                <a:srgbClr val="BBE0E3">
                  <a:tint val="3000"/>
                  <a:alpha val="95000"/>
                </a:srgbClr>
              </a:solidFill>
              <a:effectLst>
                <a:innerShdw blurRad="50900" dist="38500" dir="13500000">
                  <a:srgbClr val="000000">
                    <a:alpha val="60000"/>
                  </a:srgbClr>
                </a:innerShdw>
              </a:effectLst>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5137468" y="2402232"/>
            <a:ext cx="0" cy="982133"/>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3843973" y="2124830"/>
            <a:ext cx="0" cy="96519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5137484" y="2886500"/>
            <a:ext cx="42227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5559743" y="2124537"/>
            <a:ext cx="0" cy="2383367"/>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3421734" y="2577678"/>
            <a:ext cx="42227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3424873" y="1330979"/>
            <a:ext cx="0" cy="248073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8937"/>
                                        </p:tgtEl>
                                        <p:attrNameLst>
                                          <p:attrName>style.visibility</p:attrName>
                                        </p:attrNameLst>
                                      </p:cBhvr>
                                      <p:to>
                                        <p:strVal val="visible"/>
                                      </p:to>
                                    </p:set>
                                    <p:animEffect transition="in" filter="wipe(left)">
                                      <p:cBhvr>
                                        <p:cTn id="7" dur="500"/>
                                        <p:tgtEl>
                                          <p:spTgt spid="5089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2"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right)">
                                      <p:cBhvr>
                                        <p:cTn id="15" dur="100"/>
                                        <p:tgtEl>
                                          <p:spTgt spid="38"/>
                                        </p:tgtEl>
                                      </p:cBhvr>
                                    </p:animEffect>
                                  </p:childTnLst>
                                </p:cTn>
                              </p:par>
                              <p:par>
                                <p:cTn id="16" presetID="22" presetClass="entr" presetSubtype="8" fill="hold"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wipe(left)">
                                      <p:cBhvr>
                                        <p:cTn id="18" dur="100"/>
                                        <p:tgtEl>
                                          <p:spTgt spid="34"/>
                                        </p:tgtEl>
                                      </p:cBhvr>
                                    </p:animEffect>
                                  </p:childTnLst>
                                </p:cTn>
                              </p:par>
                              <p:par>
                                <p:cTn id="19" presetID="16" presetClass="entr" presetSubtype="42" fill="hold" nodeType="withEffect">
                                  <p:stCondLst>
                                    <p:cond delay="100"/>
                                  </p:stCondLst>
                                  <p:childTnLst>
                                    <p:set>
                                      <p:cBhvr>
                                        <p:cTn id="20" dur="1" fill="hold">
                                          <p:stCondLst>
                                            <p:cond delay="0"/>
                                          </p:stCondLst>
                                        </p:cTn>
                                        <p:tgtEl>
                                          <p:spTgt spid="39"/>
                                        </p:tgtEl>
                                        <p:attrNameLst>
                                          <p:attrName>style.visibility</p:attrName>
                                        </p:attrNameLst>
                                      </p:cBhvr>
                                      <p:to>
                                        <p:strVal val="visible"/>
                                      </p:to>
                                    </p:set>
                                    <p:animEffect transition="in" filter="barn(outHorizontal)">
                                      <p:cBhvr>
                                        <p:cTn id="21" dur="100"/>
                                        <p:tgtEl>
                                          <p:spTgt spid="39"/>
                                        </p:tgtEl>
                                      </p:cBhvr>
                                    </p:animEffect>
                                  </p:childTnLst>
                                </p:cTn>
                              </p:par>
                              <p:par>
                                <p:cTn id="22" presetID="16" presetClass="entr" presetSubtype="42" fill="hold" nodeType="withEffect">
                                  <p:stCondLst>
                                    <p:cond delay="100"/>
                                  </p:stCondLst>
                                  <p:childTnLst>
                                    <p:set>
                                      <p:cBhvr>
                                        <p:cTn id="23" dur="1" fill="hold">
                                          <p:stCondLst>
                                            <p:cond delay="0"/>
                                          </p:stCondLst>
                                        </p:cTn>
                                        <p:tgtEl>
                                          <p:spTgt spid="37"/>
                                        </p:tgtEl>
                                        <p:attrNameLst>
                                          <p:attrName>style.visibility</p:attrName>
                                        </p:attrNameLst>
                                      </p:cBhvr>
                                      <p:to>
                                        <p:strVal val="visible"/>
                                      </p:to>
                                    </p:set>
                                    <p:animEffect transition="in" filter="barn(outHorizontal)">
                                      <p:cBhvr>
                                        <p:cTn id="24" dur="1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7" grpId="0" bldLvl="0" animBg="1"/>
      <p:bldP spid="3"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第二节课</a:t>
            </a:r>
            <a:endParaRPr lang="zh-CN" altLang="en-US"/>
          </a:p>
        </p:txBody>
      </p:sp>
      <p:sp>
        <p:nvSpPr>
          <p:cNvPr id="3" name="文本框 2"/>
          <p:cNvSpPr txBox="1"/>
          <p:nvPr/>
        </p:nvSpPr>
        <p:spPr>
          <a:xfrm>
            <a:off x="2959100" y="2355850"/>
            <a:ext cx="3909060" cy="645160"/>
          </a:xfrm>
          <a:prstGeom prst="rect">
            <a:avLst/>
          </a:prstGeom>
          <a:noFill/>
        </p:spPr>
        <p:txBody>
          <a:bodyPr wrap="square" rtlCol="0">
            <a:spAutoFit/>
          </a:bodyPr>
          <a:lstStyle/>
          <a:p>
            <a:r>
              <a:rPr lang="zh-CN" altLang="en-US" sz="3600" b="1"/>
              <a:t>序列分片和字符串</a:t>
            </a:r>
            <a:endParaRPr lang="zh-CN" altLang="en-US" sz="3600" b="1"/>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289084" y="141482"/>
            <a:ext cx="6768877" cy="368300"/>
          </a:xfrm>
        </p:spPr>
        <p:txBody>
          <a:bodyPr/>
          <a:lstStyle/>
          <a:p>
            <a:r>
              <a:rPr lang="zh-CN" altLang="en-US" dirty="0">
                <a:sym typeface="+mn-ea"/>
              </a:rPr>
              <a:t>序列的分片</a:t>
            </a:r>
            <a:endParaRPr lang="zh-CN" altLang="en-US" dirty="0">
              <a:sym typeface="+mn-ea"/>
            </a:endParaRPr>
          </a:p>
        </p:txBody>
      </p:sp>
      <p:sp>
        <p:nvSpPr>
          <p:cNvPr id="10" name="文本框 9"/>
          <p:cNvSpPr txBox="1"/>
          <p:nvPr/>
        </p:nvSpPr>
        <p:spPr>
          <a:xfrm>
            <a:off x="281305" y="1081405"/>
            <a:ext cx="5076190" cy="398780"/>
          </a:xfrm>
          <a:prstGeom prst="rect">
            <a:avLst/>
          </a:prstGeom>
          <a:noFill/>
        </p:spPr>
        <p:txBody>
          <a:bodyPr wrap="none" rtlCol="0">
            <a:spAutoFit/>
          </a:bodyPr>
          <a:lstStyle/>
          <a:p>
            <a:pPr algn="ctr"/>
            <a:r>
              <a:rPr lang="zh-CN" altLang="en-US" sz="2000"/>
              <a:t>格式：</a:t>
            </a:r>
            <a:r>
              <a:rPr sz="2000"/>
              <a:t>object[start_index : end_index : step]</a:t>
            </a:r>
            <a:endParaRPr sz="2000"/>
          </a:p>
        </p:txBody>
      </p:sp>
      <p:sp>
        <p:nvSpPr>
          <p:cNvPr id="3" name="文本框 2"/>
          <p:cNvSpPr txBox="1"/>
          <p:nvPr/>
        </p:nvSpPr>
        <p:spPr>
          <a:xfrm>
            <a:off x="335280" y="611505"/>
            <a:ext cx="7353300" cy="368300"/>
          </a:xfrm>
          <a:prstGeom prst="rect">
            <a:avLst/>
          </a:prstGeom>
          <a:noFill/>
        </p:spPr>
        <p:txBody>
          <a:bodyPr wrap="square" rtlCol="0" anchor="t">
            <a:spAutoFit/>
          </a:bodyPr>
          <a:lstStyle/>
          <a:p>
            <a:pPr algn="l"/>
            <a:r>
              <a:rPr lang="zh-CN" altLang="en-US" dirty="0">
                <a:latin typeface="+mn-ea"/>
                <a:ea typeface="+mn-ea"/>
                <a:cs typeface="+mn-ea"/>
                <a:sym typeface="+mn-ea"/>
              </a:rPr>
              <a:t>序列的</a:t>
            </a:r>
            <a:r>
              <a:rPr lang="zh-CN" altLang="en-US" dirty="0">
                <a:solidFill>
                  <a:schemeClr val="tx1"/>
                </a:solidFill>
                <a:latin typeface="+mn-ea"/>
                <a:ea typeface="+mn-ea"/>
                <a:cs typeface="+mn-ea"/>
                <a:sym typeface="+mn-ea"/>
              </a:rPr>
              <a:t>分片</a:t>
            </a:r>
            <a:r>
              <a:rPr lang="en-US" altLang="zh-CN" dirty="0">
                <a:solidFill>
                  <a:schemeClr val="tx1"/>
                </a:solidFill>
                <a:latin typeface="+mn-ea"/>
                <a:ea typeface="+mn-ea"/>
                <a:cs typeface="+mn-ea"/>
                <a:sym typeface="+mn-ea"/>
              </a:rPr>
              <a:t>/</a:t>
            </a:r>
            <a:r>
              <a:rPr lang="zh-CN" altLang="en-US" dirty="0">
                <a:solidFill>
                  <a:schemeClr val="tx1"/>
                </a:solidFill>
                <a:latin typeface="+mn-ea"/>
                <a:ea typeface="+mn-ea"/>
                <a:cs typeface="+mn-ea"/>
                <a:sym typeface="+mn-ea"/>
              </a:rPr>
              <a:t>切片</a:t>
            </a:r>
            <a:r>
              <a:rPr lang="en-US" altLang="zh-CN" dirty="0">
                <a:solidFill>
                  <a:srgbClr val="002060"/>
                </a:solidFill>
                <a:latin typeface="+mn-ea"/>
                <a:ea typeface="+mn-ea"/>
                <a:cs typeface="+mn-ea"/>
                <a:sym typeface="+mn-ea"/>
              </a:rPr>
              <a:t>(</a:t>
            </a:r>
            <a:r>
              <a:rPr lang="zh-CN" altLang="en-US">
                <a:solidFill>
                  <a:srgbClr val="002060"/>
                </a:solidFill>
                <a:latin typeface="+mn-ea"/>
                <a:ea typeface="+mn-ea"/>
                <a:cs typeface="+mn-ea"/>
                <a:sym typeface="+mn-ea"/>
              </a:rPr>
              <a:t>分片是根据下标来切取序列的某个片段的操作</a:t>
            </a:r>
            <a:r>
              <a:rPr lang="zh-CN" altLang="en-US">
                <a:latin typeface="+mn-ea"/>
                <a:ea typeface="+mn-ea"/>
                <a:cs typeface="+mn-ea"/>
                <a:sym typeface="+mn-ea"/>
              </a:rPr>
              <a:t>。</a:t>
            </a:r>
            <a:r>
              <a:rPr lang="en-US" altLang="zh-CN">
                <a:latin typeface="+mn-ea"/>
                <a:ea typeface="+mn-ea"/>
                <a:cs typeface="+mn-ea"/>
                <a:sym typeface="+mn-ea"/>
              </a:rPr>
              <a:t>)</a:t>
            </a:r>
            <a:endParaRPr lang="en-US" altLang="zh-CN">
              <a:latin typeface="+mn-ea"/>
              <a:ea typeface="+mn-ea"/>
              <a:cs typeface="+mn-ea"/>
              <a:sym typeface="+mn-ea"/>
            </a:endParaRPr>
          </a:p>
        </p:txBody>
      </p:sp>
      <p:sp>
        <p:nvSpPr>
          <p:cNvPr id="2" name="文本框 1"/>
          <p:cNvSpPr txBox="1"/>
          <p:nvPr/>
        </p:nvSpPr>
        <p:spPr>
          <a:xfrm>
            <a:off x="335280" y="1624330"/>
            <a:ext cx="7868920" cy="1198880"/>
          </a:xfrm>
          <a:prstGeom prst="rect">
            <a:avLst/>
          </a:prstGeom>
          <a:noFill/>
        </p:spPr>
        <p:txBody>
          <a:bodyPr wrap="square" rtlCol="0" anchor="t">
            <a:spAutoFit/>
          </a:bodyPr>
          <a:p>
            <a:pPr algn="l"/>
            <a:r>
              <a:rPr lang="zh-CN" altLang="en-US">
                <a:latin typeface="+mj-ea"/>
                <a:ea typeface="+mj-ea"/>
                <a:cs typeface="+mj-ea"/>
              </a:rPr>
              <a:t>1、start_index：切片的起始位置（包括该位置）</a:t>
            </a:r>
            <a:endParaRPr lang="zh-CN" altLang="en-US">
              <a:latin typeface="+mj-ea"/>
              <a:ea typeface="+mj-ea"/>
              <a:cs typeface="+mj-ea"/>
            </a:endParaRPr>
          </a:p>
          <a:p>
            <a:pPr algn="l"/>
            <a:r>
              <a:rPr lang="zh-CN" altLang="en-US">
                <a:latin typeface="+mj-ea"/>
                <a:ea typeface="+mj-ea"/>
                <a:cs typeface="+mj-ea"/>
              </a:rPr>
              <a:t>     </a:t>
            </a:r>
            <a:r>
              <a:rPr lang="zh-CN" altLang="en-US" b="1">
                <a:latin typeface="+mj-ea"/>
                <a:ea typeface="+mj-ea"/>
                <a:cs typeface="+mj-ea"/>
              </a:rPr>
              <a:t> 0</a:t>
            </a:r>
            <a:r>
              <a:rPr lang="zh-CN" altLang="en-US">
                <a:latin typeface="+mj-ea"/>
                <a:ea typeface="+mj-ea"/>
                <a:cs typeface="+mj-ea"/>
              </a:rPr>
              <a:t>表示从第一个开始，1表示从第二个开始，以此类推。</a:t>
            </a:r>
            <a:endParaRPr lang="zh-CN" altLang="en-US">
              <a:latin typeface="+mj-ea"/>
              <a:ea typeface="+mj-ea"/>
              <a:cs typeface="+mj-ea"/>
            </a:endParaRPr>
          </a:p>
          <a:p>
            <a:pPr algn="l"/>
            <a:r>
              <a:rPr lang="zh-CN" altLang="en-US">
                <a:latin typeface="+mj-ea"/>
                <a:ea typeface="+mj-ea"/>
                <a:cs typeface="+mj-ea"/>
              </a:rPr>
              <a:t>     </a:t>
            </a:r>
            <a:r>
              <a:rPr lang="zh-CN" altLang="en-US" b="1">
                <a:latin typeface="+mj-ea"/>
                <a:ea typeface="+mj-ea"/>
                <a:cs typeface="+mj-ea"/>
              </a:rPr>
              <a:t> -1</a:t>
            </a:r>
            <a:r>
              <a:rPr lang="zh-CN" altLang="en-US">
                <a:latin typeface="+mj-ea"/>
                <a:ea typeface="+mj-ea"/>
                <a:cs typeface="+mj-ea"/>
              </a:rPr>
              <a:t>表示从倒数第一个开始，-2表示从倒数第二个开始，以此类推。</a:t>
            </a:r>
            <a:endParaRPr lang="zh-CN" altLang="en-US">
              <a:latin typeface="+mj-ea"/>
              <a:ea typeface="+mj-ea"/>
              <a:cs typeface="+mj-ea"/>
            </a:endParaRPr>
          </a:p>
          <a:p>
            <a:pPr algn="l"/>
            <a:r>
              <a:rPr lang="zh-CN" altLang="en-US">
                <a:latin typeface="+mj-ea"/>
                <a:ea typeface="+mj-ea"/>
                <a:cs typeface="+mj-ea"/>
              </a:rPr>
              <a:t>     缺省时取0或-1（即step为正数取0，负数取-1）</a:t>
            </a:r>
            <a:endParaRPr lang="zh-CN" altLang="en-US">
              <a:latin typeface="+mj-ea"/>
              <a:ea typeface="+mj-ea"/>
              <a:cs typeface="+mj-ea"/>
            </a:endParaRPr>
          </a:p>
        </p:txBody>
      </p:sp>
      <p:sp>
        <p:nvSpPr>
          <p:cNvPr id="6" name="文本框 5"/>
          <p:cNvSpPr txBox="1"/>
          <p:nvPr/>
        </p:nvSpPr>
        <p:spPr>
          <a:xfrm>
            <a:off x="335280" y="2965450"/>
            <a:ext cx="7181215" cy="1198880"/>
          </a:xfrm>
          <a:prstGeom prst="rect">
            <a:avLst/>
          </a:prstGeom>
          <a:noFill/>
        </p:spPr>
        <p:txBody>
          <a:bodyPr wrap="square" rtlCol="0" anchor="t">
            <a:spAutoFit/>
          </a:bodyPr>
          <a:p>
            <a:pPr algn="l"/>
            <a:r>
              <a:rPr lang="zh-CN" altLang="en-US">
                <a:latin typeface="+mj-ea"/>
                <a:ea typeface="+mj-ea"/>
                <a:cs typeface="+mj-ea"/>
              </a:rPr>
              <a:t>2、end_index：切片的结束位置(！！！且不包括该位置)</a:t>
            </a:r>
            <a:endParaRPr lang="zh-CN" altLang="en-US">
              <a:latin typeface="+mj-ea"/>
              <a:ea typeface="+mj-ea"/>
              <a:cs typeface="+mj-ea"/>
            </a:endParaRPr>
          </a:p>
          <a:p>
            <a:pPr algn="l"/>
            <a:r>
              <a:rPr lang="zh-CN" altLang="en-US">
                <a:latin typeface="+mj-ea"/>
                <a:ea typeface="+mj-ea"/>
                <a:cs typeface="+mj-ea"/>
              </a:rPr>
              <a:t>     </a:t>
            </a:r>
            <a:r>
              <a:rPr lang="zh-CN" altLang="en-US" b="1">
                <a:latin typeface="+mj-ea"/>
                <a:ea typeface="+mj-ea"/>
                <a:cs typeface="+mj-ea"/>
              </a:rPr>
              <a:t>0</a:t>
            </a:r>
            <a:r>
              <a:rPr lang="zh-CN" altLang="en-US">
                <a:latin typeface="+mj-ea"/>
                <a:ea typeface="+mj-ea"/>
                <a:cs typeface="+mj-ea"/>
              </a:rPr>
              <a:t>表示第一个为终点，1表示第二个为终点，以此类推。</a:t>
            </a:r>
            <a:endParaRPr lang="zh-CN" altLang="en-US">
              <a:latin typeface="+mj-ea"/>
              <a:ea typeface="+mj-ea"/>
              <a:cs typeface="+mj-ea"/>
            </a:endParaRPr>
          </a:p>
          <a:p>
            <a:pPr algn="l"/>
            <a:r>
              <a:rPr lang="zh-CN" altLang="en-US">
                <a:latin typeface="+mj-ea"/>
                <a:ea typeface="+mj-ea"/>
                <a:cs typeface="+mj-ea"/>
              </a:rPr>
              <a:t>     </a:t>
            </a:r>
            <a:r>
              <a:rPr lang="zh-CN" altLang="en-US" b="1">
                <a:latin typeface="+mj-ea"/>
                <a:ea typeface="+mj-ea"/>
                <a:cs typeface="+mj-ea"/>
              </a:rPr>
              <a:t>-1</a:t>
            </a:r>
            <a:r>
              <a:rPr lang="zh-CN" altLang="en-US">
                <a:latin typeface="+mj-ea"/>
                <a:ea typeface="+mj-ea"/>
                <a:cs typeface="+mj-ea"/>
              </a:rPr>
              <a:t>表示倒数第一个为终点，-2表示倒数第二个为终点，以此类推。</a:t>
            </a:r>
            <a:endParaRPr lang="zh-CN" altLang="en-US">
              <a:latin typeface="+mj-ea"/>
              <a:ea typeface="+mj-ea"/>
              <a:cs typeface="+mj-ea"/>
            </a:endParaRPr>
          </a:p>
          <a:p>
            <a:pPr algn="l"/>
            <a:r>
              <a:rPr lang="zh-CN" altLang="en-US">
                <a:latin typeface="+mj-ea"/>
                <a:ea typeface="+mj-ea"/>
                <a:cs typeface="+mj-ea"/>
              </a:rPr>
              <a:t>    缺省时默认为序列长度（step为正数取正，step负数取负）</a:t>
            </a:r>
            <a:endParaRPr lang="zh-CN" altLang="en-US">
              <a:latin typeface="+mj-ea"/>
              <a:ea typeface="+mj-ea"/>
              <a:cs typeface="+mj-ea"/>
            </a:endParaRPr>
          </a:p>
        </p:txBody>
      </p:sp>
      <p:sp>
        <p:nvSpPr>
          <p:cNvPr id="7" name="文本框 6"/>
          <p:cNvSpPr txBox="1"/>
          <p:nvPr/>
        </p:nvSpPr>
        <p:spPr>
          <a:xfrm>
            <a:off x="335280" y="4324985"/>
            <a:ext cx="7461250" cy="645160"/>
          </a:xfrm>
          <a:prstGeom prst="rect">
            <a:avLst/>
          </a:prstGeom>
          <a:noFill/>
        </p:spPr>
        <p:txBody>
          <a:bodyPr wrap="square" rtlCol="0" anchor="t">
            <a:spAutoFit/>
          </a:bodyPr>
          <a:p>
            <a:pPr algn="l"/>
            <a:r>
              <a:rPr lang="zh-CN" altLang="en-US">
                <a:latin typeface="+mj-ea"/>
                <a:ea typeface="+mj-ea"/>
                <a:cs typeface="+mj-ea"/>
              </a:rPr>
              <a:t>3、step，表示步长</a:t>
            </a:r>
            <a:endParaRPr lang="zh-CN" altLang="en-US">
              <a:latin typeface="+mj-ea"/>
              <a:ea typeface="+mj-ea"/>
              <a:cs typeface="+mj-ea"/>
            </a:endParaRPr>
          </a:p>
          <a:p>
            <a:pPr algn="l"/>
            <a:r>
              <a:rPr lang="zh-CN" altLang="en-US">
                <a:latin typeface="+mj-ea"/>
                <a:ea typeface="+mj-ea"/>
                <a:cs typeface="+mj-ea"/>
              </a:rPr>
              <a:t>     可取正负数，正数表示从左往右，负数表示从右往左。缺省时取1</a:t>
            </a:r>
            <a:endParaRPr lang="zh-CN" altLang="en-US">
              <a:latin typeface="+mj-ea"/>
              <a:ea typeface="+mj-ea"/>
              <a:cs typeface="+mj-ea"/>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2" grpId="0"/>
      <p:bldP spid="2" grpId="1"/>
      <p:bldP spid="6" grpId="0"/>
      <p:bldP spid="6" grpId="1"/>
      <p:bldP spid="7" grpId="0"/>
      <p:bldP spid="7"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289084" y="141482"/>
            <a:ext cx="6768877" cy="368300"/>
          </a:xfrm>
        </p:spPr>
        <p:txBody>
          <a:bodyPr/>
          <a:lstStyle/>
          <a:p>
            <a:r>
              <a:rPr lang="zh-CN" altLang="en-US" dirty="0">
                <a:sym typeface="+mn-ea"/>
              </a:rPr>
              <a:t>序列的分片</a:t>
            </a:r>
            <a:endParaRPr lang="zh-CN" altLang="en-US" dirty="0">
              <a:sym typeface="+mn-ea"/>
            </a:endParaRPr>
          </a:p>
        </p:txBody>
      </p:sp>
      <p:sp>
        <p:nvSpPr>
          <p:cNvPr id="8" name="文本框 7"/>
          <p:cNvSpPr txBox="1"/>
          <p:nvPr/>
        </p:nvSpPr>
        <p:spPr>
          <a:xfrm>
            <a:off x="965200" y="935355"/>
            <a:ext cx="3824605" cy="1198880"/>
          </a:xfrm>
          <a:prstGeom prst="rect">
            <a:avLst/>
          </a:prstGeom>
          <a:noFill/>
        </p:spPr>
        <p:txBody>
          <a:bodyPr wrap="square" rtlCol="0" anchor="t">
            <a:spAutoFit/>
          </a:bodyPr>
          <a:p>
            <a:pPr algn="l"/>
            <a:r>
              <a:rPr lang="zh-CN" altLang="en-US" sz="2400" b="1">
                <a:latin typeface="+mj-ea"/>
                <a:ea typeface="+mj-ea"/>
                <a:cs typeface="+mj-ea"/>
              </a:rPr>
              <a:t>字符串的切片</a:t>
            </a:r>
            <a:endParaRPr lang="zh-CN" altLang="en-US" sz="2400" b="1">
              <a:latin typeface="+mj-ea"/>
              <a:ea typeface="+mj-ea"/>
              <a:cs typeface="+mj-ea"/>
            </a:endParaRPr>
          </a:p>
          <a:p>
            <a:pPr algn="l"/>
            <a:r>
              <a:rPr lang="zh-CN" altLang="en-US" sz="2400">
                <a:latin typeface="+mj-ea"/>
                <a:ea typeface="+mj-ea"/>
                <a:cs typeface="+mj-ea"/>
              </a:rPr>
              <a:t>str="ABCDEFG"</a:t>
            </a:r>
            <a:endParaRPr lang="zh-CN" altLang="en-US" sz="2400">
              <a:latin typeface="+mj-ea"/>
              <a:ea typeface="+mj-ea"/>
              <a:cs typeface="+mj-ea"/>
            </a:endParaRPr>
          </a:p>
          <a:p>
            <a:pPr algn="l"/>
            <a:r>
              <a:rPr lang="zh-CN" altLang="en-US" sz="2400">
                <a:latin typeface="+mj-ea"/>
                <a:ea typeface="+mj-ea"/>
                <a:cs typeface="+mj-ea"/>
              </a:rPr>
              <a:t>str[</a:t>
            </a:r>
            <a:r>
              <a:rPr lang="en-US" altLang="zh-CN" sz="2400">
                <a:latin typeface="+mj-ea"/>
                <a:ea typeface="+mj-ea"/>
                <a:cs typeface="+mj-ea"/>
              </a:rPr>
              <a:t>0</a:t>
            </a:r>
            <a:r>
              <a:rPr lang="zh-CN" altLang="en-US" sz="2400">
                <a:latin typeface="+mj-ea"/>
                <a:ea typeface="+mj-ea"/>
                <a:cs typeface="+mj-ea"/>
              </a:rPr>
              <a:t>:</a:t>
            </a:r>
            <a:r>
              <a:rPr lang="en-US" altLang="zh-CN" sz="2400">
                <a:latin typeface="+mj-ea"/>
                <a:ea typeface="+mj-ea"/>
                <a:cs typeface="+mj-ea"/>
              </a:rPr>
              <a:t>7:1</a:t>
            </a:r>
            <a:r>
              <a:rPr lang="zh-CN" altLang="en-US" sz="2400">
                <a:latin typeface="+mj-ea"/>
                <a:ea typeface="+mj-ea"/>
                <a:cs typeface="+mj-ea"/>
              </a:rPr>
              <a:t>] </a:t>
            </a:r>
            <a:r>
              <a:rPr lang="zh-CN" altLang="en-US" sz="2000">
                <a:latin typeface="+mj-ea"/>
                <a:ea typeface="+mj-ea"/>
                <a:cs typeface="+mj-ea"/>
              </a:rPr>
              <a:t>     </a:t>
            </a:r>
            <a:endParaRPr lang="zh-CN" altLang="en-US" sz="2000">
              <a:latin typeface="+mj-ea"/>
              <a:ea typeface="+mj-ea"/>
              <a:cs typeface="+mj-ea"/>
            </a:endParaRPr>
          </a:p>
        </p:txBody>
      </p:sp>
      <p:sp>
        <p:nvSpPr>
          <p:cNvPr id="9" name="文本框 8"/>
          <p:cNvSpPr txBox="1"/>
          <p:nvPr/>
        </p:nvSpPr>
        <p:spPr>
          <a:xfrm>
            <a:off x="4664075" y="1304925"/>
            <a:ext cx="4097655" cy="460375"/>
          </a:xfrm>
          <a:prstGeom prst="rect">
            <a:avLst/>
          </a:prstGeom>
          <a:noFill/>
        </p:spPr>
        <p:txBody>
          <a:bodyPr wrap="square" rtlCol="0" anchor="t">
            <a:spAutoFit/>
          </a:bodyPr>
          <a:p>
            <a:pPr algn="l"/>
            <a:r>
              <a:rPr lang="zh-CN" altLang="en-US" sz="2400">
                <a:latin typeface="+mn-ea"/>
                <a:ea typeface="+mn-ea"/>
                <a:cs typeface="+mn-ea"/>
              </a:rPr>
              <a:t>结果为'</a:t>
            </a:r>
            <a:r>
              <a:rPr lang="zh-CN" altLang="en-US" sz="2400">
                <a:latin typeface="+mj-ea"/>
                <a:ea typeface="+mj-ea"/>
                <a:cs typeface="+mj-ea"/>
                <a:sym typeface="+mn-ea"/>
              </a:rPr>
              <a:t>ABCDEFG</a:t>
            </a:r>
            <a:r>
              <a:rPr lang="zh-CN" altLang="en-US" sz="2400">
                <a:latin typeface="+mn-ea"/>
                <a:ea typeface="+mn-ea"/>
                <a:cs typeface="+mn-ea"/>
              </a:rPr>
              <a:t>'</a:t>
            </a:r>
            <a:endParaRPr lang="zh-CN" altLang="en-US" sz="2400">
              <a:latin typeface="+mn-ea"/>
              <a:ea typeface="+mn-ea"/>
              <a:cs typeface="+mn-ea"/>
            </a:endParaRPr>
          </a:p>
        </p:txBody>
      </p:sp>
      <p:sp>
        <p:nvSpPr>
          <p:cNvPr id="6" name="文本框 5"/>
          <p:cNvSpPr txBox="1"/>
          <p:nvPr/>
        </p:nvSpPr>
        <p:spPr>
          <a:xfrm>
            <a:off x="965200" y="2134235"/>
            <a:ext cx="2540000" cy="460375"/>
          </a:xfrm>
          <a:prstGeom prst="rect">
            <a:avLst/>
          </a:prstGeom>
          <a:noFill/>
        </p:spPr>
        <p:txBody>
          <a:bodyPr wrap="square" rtlCol="0" anchor="t">
            <a:spAutoFit/>
          </a:bodyPr>
          <a:p>
            <a:pPr algn="l"/>
            <a:r>
              <a:rPr lang="zh-CN" altLang="en-US" sz="2400">
                <a:latin typeface="+mj-ea"/>
                <a:ea typeface="+mj-ea"/>
                <a:cs typeface="+mj-ea"/>
                <a:sym typeface="+mn-ea"/>
              </a:rPr>
              <a:t>str[</a:t>
            </a:r>
            <a:r>
              <a:rPr lang="en-US" altLang="zh-CN" sz="2400">
                <a:latin typeface="+mj-ea"/>
                <a:ea typeface="+mj-ea"/>
                <a:cs typeface="+mj-ea"/>
                <a:sym typeface="+mn-ea"/>
              </a:rPr>
              <a:t>0</a:t>
            </a:r>
            <a:r>
              <a:rPr lang="zh-CN" altLang="en-US" sz="2400">
                <a:latin typeface="+mj-ea"/>
                <a:ea typeface="+mj-ea"/>
                <a:cs typeface="+mj-ea"/>
                <a:sym typeface="+mn-ea"/>
              </a:rPr>
              <a:t>:</a:t>
            </a:r>
            <a:r>
              <a:rPr lang="en-US" altLang="zh-CN" sz="2400">
                <a:latin typeface="+mj-ea"/>
                <a:ea typeface="+mj-ea"/>
                <a:cs typeface="+mj-ea"/>
                <a:sym typeface="+mn-ea"/>
              </a:rPr>
              <a:t>7</a:t>
            </a:r>
            <a:r>
              <a:rPr lang="zh-CN" altLang="en-US" sz="2400">
                <a:latin typeface="+mj-ea"/>
                <a:ea typeface="+mj-ea"/>
                <a:cs typeface="+mj-ea"/>
                <a:sym typeface="+mn-ea"/>
              </a:rPr>
              <a:t>]</a:t>
            </a:r>
            <a:r>
              <a:rPr lang="zh-CN" altLang="en-US">
                <a:latin typeface="+mj-ea"/>
                <a:ea typeface="+mj-ea"/>
                <a:cs typeface="+mj-ea"/>
                <a:sym typeface="+mn-ea"/>
              </a:rPr>
              <a:t> </a:t>
            </a:r>
            <a:endParaRPr lang="zh-CN" altLang="en-US"/>
          </a:p>
        </p:txBody>
      </p:sp>
      <p:sp>
        <p:nvSpPr>
          <p:cNvPr id="7" name="文本框 6"/>
          <p:cNvSpPr txBox="1"/>
          <p:nvPr/>
        </p:nvSpPr>
        <p:spPr>
          <a:xfrm>
            <a:off x="1092200" y="2594610"/>
            <a:ext cx="2540000" cy="460375"/>
          </a:xfrm>
          <a:prstGeom prst="rect">
            <a:avLst/>
          </a:prstGeom>
          <a:noFill/>
        </p:spPr>
        <p:txBody>
          <a:bodyPr wrap="square" rtlCol="0" anchor="t">
            <a:spAutoFit/>
          </a:bodyPr>
          <a:p>
            <a:pPr algn="l"/>
            <a:r>
              <a:rPr lang="zh-CN" altLang="en-US" sz="2400">
                <a:latin typeface="+mj-ea"/>
                <a:ea typeface="+mj-ea"/>
                <a:cs typeface="+mj-ea"/>
                <a:sym typeface="+mn-ea"/>
              </a:rPr>
              <a:t>str[:</a:t>
            </a:r>
            <a:r>
              <a:rPr lang="en-US" altLang="zh-CN" sz="2400">
                <a:latin typeface="+mj-ea"/>
                <a:ea typeface="+mj-ea"/>
                <a:cs typeface="+mj-ea"/>
                <a:sym typeface="+mn-ea"/>
              </a:rPr>
              <a:t>7</a:t>
            </a:r>
            <a:r>
              <a:rPr lang="zh-CN" altLang="en-US" sz="2400">
                <a:latin typeface="+mj-ea"/>
                <a:ea typeface="+mj-ea"/>
                <a:cs typeface="+mj-ea"/>
                <a:sym typeface="+mn-ea"/>
              </a:rPr>
              <a:t>]</a:t>
            </a:r>
            <a:r>
              <a:rPr lang="zh-CN" altLang="en-US">
                <a:latin typeface="+mj-ea"/>
                <a:ea typeface="+mj-ea"/>
                <a:cs typeface="+mj-ea"/>
                <a:sym typeface="+mn-ea"/>
              </a:rPr>
              <a:t> </a:t>
            </a:r>
            <a:endParaRPr lang="zh-CN" altLang="en-US"/>
          </a:p>
        </p:txBody>
      </p:sp>
      <p:sp>
        <p:nvSpPr>
          <p:cNvPr id="12" name="文本框 11"/>
          <p:cNvSpPr txBox="1"/>
          <p:nvPr/>
        </p:nvSpPr>
        <p:spPr>
          <a:xfrm>
            <a:off x="1092200" y="3054985"/>
            <a:ext cx="2540000" cy="460375"/>
          </a:xfrm>
          <a:prstGeom prst="rect">
            <a:avLst/>
          </a:prstGeom>
          <a:noFill/>
        </p:spPr>
        <p:txBody>
          <a:bodyPr wrap="square" rtlCol="0" anchor="t">
            <a:spAutoFit/>
          </a:bodyPr>
          <a:p>
            <a:pPr algn="l"/>
            <a:r>
              <a:rPr lang="zh-CN" altLang="en-US" sz="2400">
                <a:latin typeface="+mj-ea"/>
                <a:ea typeface="+mj-ea"/>
                <a:cs typeface="+mj-ea"/>
                <a:sym typeface="+mn-ea"/>
              </a:rPr>
              <a:t>str[:]</a:t>
            </a:r>
            <a:r>
              <a:rPr lang="zh-CN" altLang="en-US">
                <a:latin typeface="+mj-ea"/>
                <a:ea typeface="+mj-ea"/>
                <a:cs typeface="+mj-ea"/>
                <a:sym typeface="+mn-ea"/>
              </a:rPr>
              <a:t> </a:t>
            </a:r>
            <a:endParaRPr lang="zh-CN" altLang="en-US"/>
          </a:p>
        </p:txBody>
      </p:sp>
      <p:sp>
        <p:nvSpPr>
          <p:cNvPr id="13" name="文本框 12"/>
          <p:cNvSpPr txBox="1"/>
          <p:nvPr/>
        </p:nvSpPr>
        <p:spPr>
          <a:xfrm>
            <a:off x="1092200" y="3515360"/>
            <a:ext cx="2540000" cy="460375"/>
          </a:xfrm>
          <a:prstGeom prst="rect">
            <a:avLst/>
          </a:prstGeom>
          <a:noFill/>
        </p:spPr>
        <p:txBody>
          <a:bodyPr wrap="square" rtlCol="0" anchor="t">
            <a:spAutoFit/>
          </a:bodyPr>
          <a:p>
            <a:pPr algn="l"/>
            <a:r>
              <a:rPr lang="zh-CN" altLang="en-US" sz="2400">
                <a:latin typeface="+mj-ea"/>
                <a:ea typeface="+mj-ea"/>
                <a:cs typeface="+mj-ea"/>
                <a:sym typeface="+mn-ea"/>
              </a:rPr>
              <a:t>str[</a:t>
            </a:r>
            <a:r>
              <a:rPr lang="en-US" altLang="zh-CN" sz="2400">
                <a:latin typeface="+mj-ea"/>
                <a:ea typeface="+mj-ea"/>
                <a:cs typeface="+mj-ea"/>
                <a:sym typeface="+mn-ea"/>
              </a:rPr>
              <a:t>-1</a:t>
            </a:r>
            <a:r>
              <a:rPr lang="zh-CN" altLang="en-US" sz="2400">
                <a:latin typeface="+mj-ea"/>
                <a:ea typeface="+mj-ea"/>
                <a:cs typeface="+mj-ea"/>
                <a:sym typeface="+mn-ea"/>
              </a:rPr>
              <a:t>:</a:t>
            </a:r>
            <a:r>
              <a:rPr lang="en-US" altLang="zh-CN" sz="2400">
                <a:latin typeface="+mj-ea"/>
                <a:ea typeface="+mj-ea"/>
                <a:cs typeface="+mj-ea"/>
                <a:sym typeface="+mn-ea"/>
              </a:rPr>
              <a:t>-8</a:t>
            </a:r>
            <a:r>
              <a:rPr lang="en-US" altLang="zh-CN" sz="2400">
                <a:latin typeface="+mj-ea"/>
                <a:ea typeface="+mj-ea"/>
                <a:cs typeface="+mj-ea"/>
                <a:sym typeface="+mn-ea"/>
              </a:rPr>
              <a:t>:-1</a:t>
            </a:r>
            <a:r>
              <a:rPr lang="zh-CN" altLang="en-US" sz="2400">
                <a:latin typeface="+mj-ea"/>
                <a:ea typeface="+mj-ea"/>
                <a:cs typeface="+mj-ea"/>
                <a:sym typeface="+mn-ea"/>
              </a:rPr>
              <a:t>]</a:t>
            </a:r>
            <a:r>
              <a:rPr lang="zh-CN" altLang="en-US">
                <a:latin typeface="+mj-ea"/>
                <a:ea typeface="+mj-ea"/>
                <a:cs typeface="+mj-ea"/>
                <a:sym typeface="+mn-ea"/>
              </a:rPr>
              <a:t> </a:t>
            </a:r>
            <a:endParaRPr lang="zh-CN" altLang="en-US"/>
          </a:p>
        </p:txBody>
      </p:sp>
      <p:sp>
        <p:nvSpPr>
          <p:cNvPr id="14" name="文本框 13"/>
          <p:cNvSpPr txBox="1"/>
          <p:nvPr/>
        </p:nvSpPr>
        <p:spPr>
          <a:xfrm>
            <a:off x="1092200" y="3975735"/>
            <a:ext cx="2540000" cy="460375"/>
          </a:xfrm>
          <a:prstGeom prst="rect">
            <a:avLst/>
          </a:prstGeom>
          <a:noFill/>
        </p:spPr>
        <p:txBody>
          <a:bodyPr wrap="square" rtlCol="0" anchor="t">
            <a:spAutoFit/>
          </a:bodyPr>
          <a:p>
            <a:pPr algn="l"/>
            <a:r>
              <a:rPr lang="zh-CN" altLang="en-US" sz="2400">
                <a:latin typeface="+mj-ea"/>
                <a:ea typeface="+mj-ea"/>
                <a:cs typeface="+mj-ea"/>
                <a:sym typeface="+mn-ea"/>
              </a:rPr>
              <a:t>str[</a:t>
            </a:r>
            <a:r>
              <a:rPr lang="en-US" altLang="zh-CN" sz="2400">
                <a:latin typeface="+mj-ea"/>
                <a:ea typeface="+mj-ea"/>
                <a:cs typeface="+mj-ea"/>
                <a:sym typeface="+mn-ea"/>
              </a:rPr>
              <a:t>-1</a:t>
            </a:r>
            <a:r>
              <a:rPr lang="zh-CN" altLang="en-US" sz="2400">
                <a:latin typeface="+mj-ea"/>
                <a:ea typeface="+mj-ea"/>
                <a:cs typeface="+mj-ea"/>
                <a:sym typeface="+mn-ea"/>
              </a:rPr>
              <a:t>:</a:t>
            </a:r>
            <a:r>
              <a:rPr lang="en-US" altLang="zh-CN" sz="2400">
                <a:latin typeface="+mj-ea"/>
                <a:ea typeface="+mj-ea"/>
                <a:cs typeface="+mj-ea"/>
                <a:sym typeface="+mn-ea"/>
              </a:rPr>
              <a:t>:-1</a:t>
            </a:r>
            <a:r>
              <a:rPr lang="zh-CN" altLang="en-US" sz="2400">
                <a:latin typeface="+mj-ea"/>
                <a:ea typeface="+mj-ea"/>
                <a:cs typeface="+mj-ea"/>
                <a:sym typeface="+mn-ea"/>
              </a:rPr>
              <a:t>]</a:t>
            </a:r>
            <a:r>
              <a:rPr lang="zh-CN" altLang="en-US">
                <a:latin typeface="+mj-ea"/>
                <a:ea typeface="+mj-ea"/>
                <a:cs typeface="+mj-ea"/>
                <a:sym typeface="+mn-ea"/>
              </a:rPr>
              <a:t> </a:t>
            </a:r>
            <a:endParaRPr lang="zh-CN" altLang="en-US"/>
          </a:p>
        </p:txBody>
      </p:sp>
      <p:sp>
        <p:nvSpPr>
          <p:cNvPr id="15" name="文本框 14"/>
          <p:cNvSpPr txBox="1"/>
          <p:nvPr/>
        </p:nvSpPr>
        <p:spPr>
          <a:xfrm>
            <a:off x="1092200" y="4580890"/>
            <a:ext cx="2540000" cy="460375"/>
          </a:xfrm>
          <a:prstGeom prst="rect">
            <a:avLst/>
          </a:prstGeom>
          <a:noFill/>
        </p:spPr>
        <p:txBody>
          <a:bodyPr wrap="square" rtlCol="0" anchor="t">
            <a:spAutoFit/>
          </a:bodyPr>
          <a:p>
            <a:pPr algn="l"/>
            <a:r>
              <a:rPr lang="zh-CN" altLang="en-US" sz="2400">
                <a:latin typeface="+mj-ea"/>
                <a:ea typeface="+mj-ea"/>
                <a:cs typeface="+mj-ea"/>
                <a:sym typeface="+mn-ea"/>
              </a:rPr>
              <a:t>str[:</a:t>
            </a:r>
            <a:r>
              <a:rPr lang="en-US" altLang="zh-CN" sz="2400">
                <a:latin typeface="+mj-ea"/>
                <a:ea typeface="+mj-ea"/>
                <a:cs typeface="+mj-ea"/>
                <a:sym typeface="+mn-ea"/>
              </a:rPr>
              <a:t>:-1</a:t>
            </a:r>
            <a:r>
              <a:rPr lang="zh-CN" altLang="en-US" sz="2400">
                <a:latin typeface="+mj-ea"/>
                <a:ea typeface="+mj-ea"/>
                <a:cs typeface="+mj-ea"/>
                <a:sym typeface="+mn-ea"/>
              </a:rPr>
              <a:t>]</a:t>
            </a:r>
            <a:r>
              <a:rPr lang="zh-CN" altLang="en-US">
                <a:latin typeface="+mj-ea"/>
                <a:ea typeface="+mj-ea"/>
                <a:cs typeface="+mj-ea"/>
                <a:sym typeface="+mn-ea"/>
              </a:rPr>
              <a:t> </a:t>
            </a:r>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9" grpId="0"/>
      <p:bldP spid="9"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nvSpPr>
        <p:spPr>
          <a:xfrm>
            <a:off x="2195739" y="141482"/>
            <a:ext cx="6768877" cy="368300"/>
          </a:xfrm>
          <a:prstGeom prst="rect">
            <a:avLst/>
          </a:prstGeom>
          <a:noFill/>
        </p:spPr>
        <p:txBody>
          <a:bodyPr wrap="square">
            <a:spAutoFit/>
          </a:bodyPr>
          <a:lstStyle>
            <a:lvl1pPr marL="913130" indent="-913130" algn="r" rtl="0" eaLnBrk="0" fontAlgn="base" hangingPunct="0">
              <a:lnSpc>
                <a:spcPct val="90000"/>
              </a:lnSpc>
              <a:spcBef>
                <a:spcPct val="0"/>
              </a:spcBef>
              <a:spcAft>
                <a:spcPct val="0"/>
              </a:spcAft>
              <a:defRPr sz="2000" b="0" kern="1200">
                <a:solidFill>
                  <a:srgbClr val="0070C0"/>
                </a:solidFill>
                <a:latin typeface="+mj-lt"/>
                <a:ea typeface="+mj-ea"/>
                <a:cs typeface="+mj-cs"/>
                <a:sym typeface="Browallia New" panose="020B0604020202020204" charset="0"/>
              </a:defRPr>
            </a:lvl1pPr>
            <a:lvl2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defRPr/>
            </a:pPr>
            <a:r>
              <a:rPr lang="zh-CN" dirty="0"/>
              <a:t>为什么使用字符串</a:t>
            </a:r>
            <a:endParaRPr lang="zh-CN" dirty="0"/>
          </a:p>
        </p:txBody>
      </p:sp>
      <p:pic>
        <p:nvPicPr>
          <p:cNvPr id="2" name="图片 1" descr="N5DXA~Y7S4L9@WRW]28A~OQ"/>
          <p:cNvPicPr>
            <a:picLocks noChangeAspect="1"/>
          </p:cNvPicPr>
          <p:nvPr/>
        </p:nvPicPr>
        <p:blipFill>
          <a:blip r:embed="rId1"/>
          <a:stretch>
            <a:fillRect/>
          </a:stretch>
        </p:blipFill>
        <p:spPr>
          <a:xfrm>
            <a:off x="5780405" y="716280"/>
            <a:ext cx="2944495" cy="3970020"/>
          </a:xfrm>
          <a:prstGeom prst="rect">
            <a:avLst/>
          </a:prstGeom>
        </p:spPr>
      </p:pic>
      <p:sp>
        <p:nvSpPr>
          <p:cNvPr id="3" name="文本框 2"/>
          <p:cNvSpPr txBox="1"/>
          <p:nvPr/>
        </p:nvSpPr>
        <p:spPr>
          <a:xfrm>
            <a:off x="1021715" y="1179195"/>
            <a:ext cx="3754120" cy="337185"/>
          </a:xfrm>
          <a:prstGeom prst="rect">
            <a:avLst/>
          </a:prstGeom>
          <a:noFill/>
        </p:spPr>
        <p:txBody>
          <a:bodyPr wrap="none" rtlCol="0">
            <a:spAutoFit/>
          </a:bodyPr>
          <a:lstStyle/>
          <a:p>
            <a:pPr algn="ctr"/>
            <a:r>
              <a:rPr lang="en-US" altLang="zh-CN" sz="1600"/>
              <a:t> </a:t>
            </a:r>
            <a:r>
              <a:rPr lang="en-US" altLang="zh-CN" sz="1600">
                <a:latin typeface="+mn-ea"/>
                <a:ea typeface="+mn-ea"/>
                <a:cs typeface="+mn-ea"/>
              </a:rPr>
              <a:t> </a:t>
            </a:r>
            <a:r>
              <a:rPr lang="zh-CN" altLang="en-US" sz="1600">
                <a:latin typeface="+mn-ea"/>
                <a:ea typeface="+mn-ea"/>
                <a:cs typeface="+mn-ea"/>
              </a:rPr>
              <a:t>如果存储价格，可以借助什么来存储？</a:t>
            </a:r>
            <a:endParaRPr lang="zh-CN" altLang="en-US" sz="1600">
              <a:latin typeface="+mn-ea"/>
              <a:ea typeface="+mn-ea"/>
              <a:cs typeface="+mn-ea"/>
            </a:endParaRPr>
          </a:p>
        </p:txBody>
      </p:sp>
      <p:sp>
        <p:nvSpPr>
          <p:cNvPr id="4" name="文本框 3"/>
          <p:cNvSpPr txBox="1"/>
          <p:nvPr/>
        </p:nvSpPr>
        <p:spPr>
          <a:xfrm>
            <a:off x="1080135" y="2532380"/>
            <a:ext cx="3637280" cy="337185"/>
          </a:xfrm>
          <a:prstGeom prst="rect">
            <a:avLst/>
          </a:prstGeom>
          <a:noFill/>
        </p:spPr>
        <p:txBody>
          <a:bodyPr wrap="none" rtlCol="0">
            <a:spAutoFit/>
          </a:bodyPr>
          <a:lstStyle/>
          <a:p>
            <a:pPr algn="ctr"/>
            <a:r>
              <a:rPr lang="zh-CN" altLang="en-US" sz="1600">
                <a:latin typeface="+mn-ea"/>
                <a:ea typeface="+mn-ea"/>
              </a:rPr>
              <a:t>存储商品名称，我们可以使用字符串。</a:t>
            </a:r>
            <a:endParaRPr lang="zh-CN" altLang="en-US" sz="1600">
              <a:latin typeface="+mn-ea"/>
              <a:ea typeface="+mn-ea"/>
            </a:endParaRPr>
          </a:p>
        </p:txBody>
      </p:sp>
      <p:sp>
        <p:nvSpPr>
          <p:cNvPr id="5" name="文本框 4"/>
          <p:cNvSpPr txBox="1"/>
          <p:nvPr/>
        </p:nvSpPr>
        <p:spPr>
          <a:xfrm>
            <a:off x="1314450" y="3228340"/>
            <a:ext cx="2080260" cy="368300"/>
          </a:xfrm>
          <a:prstGeom prst="rect">
            <a:avLst/>
          </a:prstGeom>
          <a:noFill/>
        </p:spPr>
        <p:txBody>
          <a:bodyPr wrap="none" rtlCol="0">
            <a:spAutoFit/>
          </a:bodyPr>
          <a:lstStyle/>
          <a:p>
            <a:pPr algn="ctr"/>
            <a:r>
              <a:rPr lang="en-US" altLang="zh-CN">
                <a:sym typeface="+mn-ea"/>
              </a:rPr>
              <a:t>menu1= '</a:t>
            </a:r>
            <a:r>
              <a:rPr lang="zh-CN" altLang="en-US">
                <a:sym typeface="+mn-ea"/>
              </a:rPr>
              <a:t>宫爆鸡丁</a:t>
            </a:r>
            <a:r>
              <a:rPr lang="en-US" altLang="zh-CN">
                <a:sym typeface="+mn-ea"/>
              </a:rPr>
              <a:t>'</a:t>
            </a:r>
            <a:endParaRPr lang="en-US" altLang="zh-CN"/>
          </a:p>
        </p:txBody>
      </p:sp>
      <p:sp>
        <p:nvSpPr>
          <p:cNvPr id="6" name="文本框 5"/>
          <p:cNvSpPr txBox="1"/>
          <p:nvPr/>
        </p:nvSpPr>
        <p:spPr>
          <a:xfrm>
            <a:off x="1499235" y="1669415"/>
            <a:ext cx="1256030" cy="368300"/>
          </a:xfrm>
          <a:prstGeom prst="rect">
            <a:avLst/>
          </a:prstGeom>
          <a:noFill/>
        </p:spPr>
        <p:txBody>
          <a:bodyPr wrap="none" rtlCol="0">
            <a:spAutoFit/>
          </a:bodyPr>
          <a:lstStyle/>
          <a:p>
            <a:pPr algn="ctr"/>
            <a:r>
              <a:rPr lang="en-US" altLang="zh-CN">
                <a:sym typeface="+mn-ea"/>
              </a:rPr>
              <a:t>price =  68</a:t>
            </a:r>
            <a:endParaRPr lang="en-US" altLang="zh-CN"/>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dissolve">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
          <p:cNvSpPr>
            <a:spLocks noGrp="1"/>
          </p:cNvSpPr>
          <p:nvPr>
            <p:ph type="title"/>
          </p:nvPr>
        </p:nvSpPr>
        <p:spPr>
          <a:xfrm>
            <a:off x="2195513" y="141288"/>
            <a:ext cx="6769100" cy="368300"/>
          </a:xfrm>
          <a:ln>
            <a:noFill/>
          </a:ln>
        </p:spPr>
        <p:txBody>
          <a:bodyPr wrap="square" anchor="t">
            <a:spAutoFit/>
          </a:bodyPr>
          <a:lstStyle/>
          <a:p>
            <a:r>
              <a:rPr lang="zh-CN" altLang="en-US" dirty="0">
                <a:sym typeface="Browallia New" panose="020B0604020202020204" charset="0"/>
              </a:rPr>
              <a:t>什么是字符串</a:t>
            </a:r>
            <a:endParaRPr lang="zh-CN" altLang="en-US" dirty="0">
              <a:sym typeface="Browallia New" panose="020B0604020202020204" charset="0"/>
            </a:endParaRPr>
          </a:p>
        </p:txBody>
      </p:sp>
      <p:sp>
        <p:nvSpPr>
          <p:cNvPr id="2" name="椭圆 1"/>
          <p:cNvSpPr/>
          <p:nvPr/>
        </p:nvSpPr>
        <p:spPr>
          <a:xfrm>
            <a:off x="839470" y="2025650"/>
            <a:ext cx="998538" cy="105568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en-US" altLang="zh-CN" sz="2000" b="1" strike="noStrike" noProof="1">
              <a:solidFill>
                <a:schemeClr val="accent1"/>
              </a:solidFill>
            </a:endParaRPr>
          </a:p>
          <a:p>
            <a:pPr algn="ctr" fontAlgn="base"/>
            <a:r>
              <a:rPr lang="zh-CN" altLang="en-US" sz="2000" b="1" strike="noStrike" noProof="1">
                <a:solidFill>
                  <a:schemeClr val="accent1"/>
                </a:solidFill>
              </a:rPr>
              <a:t>字符串</a:t>
            </a:r>
            <a:endParaRPr lang="en-US" altLang="zh-CN" sz="2000" b="1" strike="noStrike" noProof="1">
              <a:solidFill>
                <a:schemeClr val="accent1"/>
              </a:solidFill>
            </a:endParaRPr>
          </a:p>
          <a:p>
            <a:pPr algn="ctr" fontAlgn="base"/>
            <a:endParaRPr lang="en-US" altLang="zh-CN" sz="2000" b="1" strike="noStrike" noProof="1">
              <a:solidFill>
                <a:schemeClr val="accent1"/>
              </a:solidFill>
            </a:endParaRPr>
          </a:p>
        </p:txBody>
      </p:sp>
      <p:sp>
        <p:nvSpPr>
          <p:cNvPr id="16" name="Text Box 14"/>
          <p:cNvSpPr txBox="1"/>
          <p:nvPr/>
        </p:nvSpPr>
        <p:spPr>
          <a:xfrm>
            <a:off x="409893" y="1550670"/>
            <a:ext cx="185737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被定义项</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1" name="Text Box 8"/>
          <p:cNvSpPr txBox="1"/>
          <p:nvPr/>
        </p:nvSpPr>
        <p:spPr>
          <a:xfrm>
            <a:off x="1961515" y="1550670"/>
            <a:ext cx="204152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临近的属</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3" name="椭圆 2"/>
          <p:cNvSpPr/>
          <p:nvPr/>
        </p:nvSpPr>
        <p:spPr>
          <a:xfrm>
            <a:off x="2483009" y="2025650"/>
            <a:ext cx="998538" cy="105568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000" b="1" strike="noStrike" noProof="1">
                <a:solidFill>
                  <a:schemeClr val="accent1"/>
                </a:solidFill>
              </a:rPr>
              <a:t>序列</a:t>
            </a:r>
            <a:endParaRPr lang="zh-CN" altLang="en-US" sz="2000" b="1" strike="noStrike" noProof="1">
              <a:solidFill>
                <a:schemeClr val="accent1"/>
              </a:solidFill>
            </a:endParaRPr>
          </a:p>
        </p:txBody>
      </p:sp>
      <p:sp>
        <p:nvSpPr>
          <p:cNvPr id="14" name="Text Box 12"/>
          <p:cNvSpPr txBox="1"/>
          <p:nvPr/>
        </p:nvSpPr>
        <p:spPr>
          <a:xfrm>
            <a:off x="5920740" y="1492250"/>
            <a:ext cx="1771650"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种差（内涵</a:t>
            </a:r>
            <a:r>
              <a:rPr lang="en-US" altLang="zh-CN" dirty="0">
                <a:solidFill>
                  <a:srgbClr val="FF0000"/>
                </a:solidFill>
                <a:latin typeface="微软雅黑" panose="020B0503020204020204" pitchFamily="34" charset="-122"/>
                <a:ea typeface="微软雅黑" panose="020B0503020204020204" pitchFamily="34" charset="-122"/>
              </a:rPr>
              <a:t>)</a:t>
            </a:r>
            <a:endParaRPr lang="en-US" altLang="zh-CN" dirty="0">
              <a:solidFill>
                <a:srgbClr val="FF0000"/>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5801995" y="2068830"/>
            <a:ext cx="2807335" cy="977900"/>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10" name="文本框 9"/>
          <p:cNvSpPr txBox="1"/>
          <p:nvPr/>
        </p:nvSpPr>
        <p:spPr>
          <a:xfrm>
            <a:off x="2339340" y="3693485"/>
            <a:ext cx="3999230" cy="368300"/>
          </a:xfrm>
          <a:prstGeom prst="rect">
            <a:avLst/>
          </a:prstGeom>
          <a:noFill/>
        </p:spPr>
        <p:txBody>
          <a:bodyPr wrap="none" rtlCol="0">
            <a:spAutoFit/>
          </a:bodyPr>
          <a:lstStyle/>
          <a:p>
            <a:pPr algn="l"/>
            <a:r>
              <a:rPr lang="zh-CN" altLang="en-US" b="1" noProof="1">
                <a:latin typeface="Arial" panose="020B0604020202020204" pitchFamily="34" charset="0"/>
                <a:ea typeface="黑体" panose="02010609060101010101" pitchFamily="2" charset="-122"/>
                <a:cs typeface="+mn-cs"/>
              </a:rPr>
              <a:t>定义</a:t>
            </a:r>
            <a:r>
              <a:rPr lang="en-US" altLang="zh-CN" b="1" noProof="1">
                <a:latin typeface="Arial" panose="020B0604020202020204" pitchFamily="34" charset="0"/>
                <a:ea typeface="黑体" panose="02010609060101010101" pitchFamily="2" charset="-122"/>
                <a:cs typeface="+mn-cs"/>
              </a:rPr>
              <a:t>: </a:t>
            </a:r>
            <a:r>
              <a:rPr lang="zh-CN" altLang="en-US" b="1" noProof="1">
                <a:latin typeface="Arial" panose="020B0604020202020204" pitchFamily="34" charset="0"/>
                <a:ea typeface="黑体" panose="02010609060101010101" pitchFamily="2" charset="-122"/>
                <a:cs typeface="+mn-cs"/>
              </a:rPr>
              <a:t>字符串是一串字符构成的序列</a:t>
            </a:r>
            <a:r>
              <a:rPr lang="zh-CN" altLang="en-US" dirty="0">
                <a:solidFill>
                  <a:schemeClr val="tx1">
                    <a:lumMod val="75000"/>
                    <a:lumOff val="25000"/>
                  </a:schemeClr>
                </a:solidFill>
                <a:latin typeface="+mn-ea"/>
                <a:ea typeface="+mn-ea"/>
                <a:sym typeface="+mn-ea"/>
              </a:rPr>
              <a:t>。</a:t>
            </a:r>
            <a:endParaRPr lang="zh-CN" altLang="en-US" dirty="0">
              <a:solidFill>
                <a:schemeClr val="tx1">
                  <a:lumMod val="75000"/>
                  <a:lumOff val="25000"/>
                </a:schemeClr>
              </a:solidFill>
              <a:latin typeface="+mn-ea"/>
              <a:ea typeface="+mn-ea"/>
              <a:sym typeface="+mn-ea"/>
            </a:endParaRPr>
          </a:p>
        </p:txBody>
      </p:sp>
      <p:sp>
        <p:nvSpPr>
          <p:cNvPr id="8" name="文本框 7"/>
          <p:cNvSpPr txBox="1"/>
          <p:nvPr/>
        </p:nvSpPr>
        <p:spPr>
          <a:xfrm>
            <a:off x="6101080" y="2372360"/>
            <a:ext cx="1554480" cy="645160"/>
          </a:xfrm>
          <a:prstGeom prst="rect">
            <a:avLst/>
          </a:prstGeom>
          <a:noFill/>
        </p:spPr>
        <p:txBody>
          <a:bodyPr wrap="none" rtlCol="0">
            <a:spAutoFit/>
          </a:bodyPr>
          <a:lstStyle/>
          <a:p>
            <a:pPr algn="ctr"/>
            <a:r>
              <a:rPr lang="zh-CN" altLang="en-US" dirty="0">
                <a:solidFill>
                  <a:schemeClr val="tx1">
                    <a:lumMod val="75000"/>
                    <a:lumOff val="25000"/>
                  </a:schemeClr>
                </a:solidFill>
                <a:latin typeface="+mn-ea"/>
                <a:ea typeface="+mn-ea"/>
                <a:sym typeface="+mn-ea"/>
              </a:rPr>
              <a:t>一串字符构成</a:t>
            </a:r>
            <a:endParaRPr lang="zh-CN" altLang="en-US" dirty="0">
              <a:solidFill>
                <a:schemeClr val="tx1">
                  <a:lumMod val="75000"/>
                  <a:lumOff val="25000"/>
                </a:schemeClr>
              </a:solidFill>
              <a:latin typeface="+mn-ea"/>
              <a:ea typeface="+mn-ea"/>
              <a:sym typeface="+mn-ea"/>
            </a:endParaRPr>
          </a:p>
          <a:p>
            <a:endParaRPr lang="zh-CN" altLang="en-US"/>
          </a:p>
        </p:txBody>
      </p:sp>
      <p:sp>
        <p:nvSpPr>
          <p:cNvPr id="9" name="Text Box 8"/>
          <p:cNvSpPr txBox="1"/>
          <p:nvPr/>
        </p:nvSpPr>
        <p:spPr>
          <a:xfrm>
            <a:off x="3605530" y="1518285"/>
            <a:ext cx="204152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同属的其它种</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2" name="椭圆 11"/>
          <p:cNvSpPr/>
          <p:nvPr/>
        </p:nvSpPr>
        <p:spPr>
          <a:xfrm>
            <a:off x="4127024" y="2025650"/>
            <a:ext cx="998538" cy="105568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000" b="1" strike="noStrike" noProof="1">
                <a:solidFill>
                  <a:schemeClr val="accent1"/>
                </a:solidFill>
              </a:rPr>
              <a:t>列表</a:t>
            </a:r>
            <a:endParaRPr lang="zh-CN" altLang="en-US" sz="2000" b="1" strike="noStrike" noProof="1">
              <a:solidFill>
                <a:schemeClr val="accent1"/>
              </a:solidFill>
            </a:endParaRPr>
          </a:p>
          <a:p>
            <a:pPr algn="ctr" fontAlgn="base"/>
            <a:r>
              <a:rPr lang="zh-CN" altLang="en-US" sz="2000" b="1" strike="noStrike" noProof="1">
                <a:solidFill>
                  <a:schemeClr val="accent1"/>
                </a:solidFill>
              </a:rPr>
              <a:t>元组</a:t>
            </a:r>
            <a:endParaRPr lang="zh-CN" altLang="en-US" sz="2000" b="1" strike="noStrike" noProof="1">
              <a:solidFill>
                <a:schemeClr val="accent1"/>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linds(horizontal)">
                                      <p:cBhvr>
                                        <p:cTn id="28" dur="500"/>
                                        <p:tgtEl>
                                          <p:spTgt spid="12"/>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25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barn(inVertical)">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1000"/>
                                        <p:tgtEl>
                                          <p:spTgt spid="10"/>
                                        </p:tgtEl>
                                      </p:cBhvr>
                                    </p:animEffect>
                                    <p:anim calcmode="lin" valueType="num">
                                      <p:cBhvr>
                                        <p:cTn id="48" dur="1000" fill="hold"/>
                                        <p:tgtEl>
                                          <p:spTgt spid="10"/>
                                        </p:tgtEl>
                                        <p:attrNameLst>
                                          <p:attrName>ppt_x</p:attrName>
                                        </p:attrNameLst>
                                      </p:cBhvr>
                                      <p:tavLst>
                                        <p:tav tm="0">
                                          <p:val>
                                            <p:strVal val="#ppt_x"/>
                                          </p:val>
                                        </p:tav>
                                        <p:tav tm="100000">
                                          <p:val>
                                            <p:strVal val="#ppt_x"/>
                                          </p:val>
                                        </p:tav>
                                      </p:tavLst>
                                    </p:anim>
                                    <p:anim calcmode="lin" valueType="num">
                                      <p:cBhvr>
                                        <p:cTn id="4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6" grpId="0"/>
      <p:bldP spid="11" grpId="0"/>
      <p:bldP spid="3" grpId="0" bldLvl="0" animBg="1"/>
      <p:bldP spid="14" grpId="0"/>
      <p:bldP spid="10" grpId="0"/>
      <p:bldP spid="8" grpId="0"/>
      <p:bldP spid="9" grpId="0"/>
      <p:bldP spid="12"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6"/>
          <p:cNvSpPr txBox="1"/>
          <p:nvPr/>
        </p:nvSpPr>
        <p:spPr>
          <a:xfrm>
            <a:off x="1030605" y="861060"/>
            <a:ext cx="8258175" cy="464820"/>
          </a:xfrm>
          <a:prstGeom prst="rect">
            <a:avLst/>
          </a:prstGeom>
          <a:noFill/>
          <a:ln w="9525">
            <a:noFill/>
          </a:ln>
        </p:spPr>
        <p:txBody>
          <a:bodyPr wrap="square" anchor="t">
            <a:spAutoFit/>
          </a:bodyPr>
          <a:lstStyle/>
          <a:p>
            <a:pPr marL="342900" indent="-342900" algn="just" eaLnBrk="0" fontAlgn="b" hangingPunct="0">
              <a:lnSpc>
                <a:spcPct val="135000"/>
              </a:lnSpc>
              <a:buClr>
                <a:srgbClr val="595959"/>
              </a:buClr>
              <a:buFont typeface="Wingdings" panose="05000000000000000000" charset="0"/>
              <a:buChar char="n"/>
            </a:pPr>
            <a:r>
              <a:rPr lang="zh-CN" altLang="en-GB" sz="1800" dirty="0">
                <a:solidFill>
                  <a:schemeClr val="tx1">
                    <a:lumMod val="75000"/>
                    <a:lumOff val="25000"/>
                  </a:schemeClr>
                </a:solidFill>
                <a:latin typeface="+mn-ea"/>
                <a:ea typeface="+mn-ea"/>
                <a:cs typeface="Times New Roman" panose="02020603050405020304" pitchFamily="18" charset="0"/>
              </a:rPr>
              <a:t>格式：</a:t>
            </a:r>
            <a:endParaRPr lang="zh-CN" altLang="en-GB" sz="1800" dirty="0">
              <a:solidFill>
                <a:schemeClr val="tx1">
                  <a:lumMod val="75000"/>
                  <a:lumOff val="25000"/>
                </a:schemeClr>
              </a:solidFill>
              <a:latin typeface="+mn-ea"/>
              <a:ea typeface="+mn-ea"/>
              <a:cs typeface="Times New Roman" panose="02020603050405020304" pitchFamily="18" charset="0"/>
            </a:endParaRPr>
          </a:p>
        </p:txBody>
      </p:sp>
      <p:sp>
        <p:nvSpPr>
          <p:cNvPr id="21509" name="Rectangle 5"/>
          <p:cNvSpPr>
            <a:spLocks noChangeArrowheads="1"/>
          </p:cNvSpPr>
          <p:nvPr/>
        </p:nvSpPr>
        <p:spPr bwMode="auto">
          <a:xfrm>
            <a:off x="0" y="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3" name="文本框 2"/>
          <p:cNvSpPr txBox="1"/>
          <p:nvPr/>
        </p:nvSpPr>
        <p:spPr>
          <a:xfrm>
            <a:off x="7128510" y="135890"/>
            <a:ext cx="1960880" cy="398780"/>
          </a:xfrm>
          <a:prstGeom prst="rect">
            <a:avLst/>
          </a:prstGeom>
          <a:noFill/>
        </p:spPr>
        <p:txBody>
          <a:bodyPr wrap="none" rtlCol="0">
            <a:spAutoFit/>
          </a:bodyPr>
          <a:lstStyle/>
          <a:p>
            <a:pPr algn="ctr"/>
            <a:r>
              <a:rPr lang="zh-CN" sz="2000" dirty="0">
                <a:solidFill>
                  <a:srgbClr val="0070C0"/>
                </a:solidFill>
                <a:latin typeface="+mj-ea"/>
                <a:ea typeface="+mj-ea"/>
                <a:sym typeface="+mn-ea"/>
              </a:rPr>
              <a:t>如何使用字符串</a:t>
            </a:r>
            <a:endParaRPr lang="zh-CN" altLang="en-US" sz="2000">
              <a:latin typeface="+mj-ea"/>
              <a:ea typeface="+mj-ea"/>
            </a:endParaRPr>
          </a:p>
        </p:txBody>
      </p:sp>
      <p:sp>
        <p:nvSpPr>
          <p:cNvPr id="4" name="AutoShape 9"/>
          <p:cNvSpPr>
            <a:spLocks noChangeArrowheads="1"/>
          </p:cNvSpPr>
          <p:nvPr/>
        </p:nvSpPr>
        <p:spPr bwMode="auto">
          <a:xfrm>
            <a:off x="2668270" y="1652905"/>
            <a:ext cx="2868295" cy="1533369"/>
          </a:xfrm>
          <a:prstGeom prst="roundRect">
            <a:avLst>
              <a:gd name="adj" fmla="val 16667"/>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“helloworld”</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‘helloworld’</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  '''helloworld'''</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rPr>
              <a:t>”””helloworld”””</a:t>
            </a:r>
            <a:endParaRPr lang="en-US" altLang="zh-CN" sz="1400" dirty="0">
              <a:solidFill>
                <a:schemeClr val="tx1">
                  <a:lumMod val="75000"/>
                  <a:lumOff val="25000"/>
                </a:schemeClr>
              </a:solidFill>
              <a:latin typeface="+mn-ea"/>
              <a:ea typeface="+mn-ea"/>
            </a:endParaRPr>
          </a:p>
        </p:txBody>
      </p:sp>
      <p:sp>
        <p:nvSpPr>
          <p:cNvPr id="6" name="流程图: 过程 5"/>
          <p:cNvSpPr/>
          <p:nvPr/>
        </p:nvSpPr>
        <p:spPr>
          <a:xfrm>
            <a:off x="1030605" y="3636645"/>
            <a:ext cx="7435850" cy="503555"/>
          </a:xfrm>
          <a:prstGeom prst="flowChartProcess">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indent="0" algn="just" eaLnBrk="0" fontAlgn="b" hangingPunct="0">
              <a:lnSpc>
                <a:spcPct val="135000"/>
              </a:lnSpc>
              <a:buClr>
                <a:srgbClr val="595959"/>
              </a:buClr>
              <a:buFont typeface="Wingdings" panose="05000000000000000000" charset="0"/>
              <a:buNone/>
            </a:pPr>
            <a:r>
              <a:rPr lang="zh-CN" altLang="en-GB" sz="1800" dirty="0">
                <a:solidFill>
                  <a:schemeClr val="tx1">
                    <a:lumMod val="75000"/>
                    <a:lumOff val="25000"/>
                  </a:schemeClr>
                </a:solidFill>
                <a:latin typeface="+mn-ea"/>
                <a:ea typeface="+mn-ea"/>
                <a:cs typeface="Times New Roman" panose="02020603050405020304" pitchFamily="18" charset="0"/>
                <a:sym typeface="+mn-ea"/>
              </a:rPr>
              <a:t>由英文的单引号、双引号、三单引号、三双引号引起来的都是字符串</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wipe(left)">
                                      <p:cBhvr>
                                        <p:cTn id="11" dur="500"/>
                                        <p:tgtEl>
                                          <p:spTgt spid="4">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left)">
                                      <p:cBhvr>
                                        <p:cTn id="15" dur="500"/>
                                        <p:tgtEl>
                                          <p:spTgt spid="4">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wipe(left)">
                                      <p:cBhvr>
                                        <p:cTn id="19"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 name="内容占位符 14"/>
          <p:cNvSpPr>
            <a:spLocks noGrp="1"/>
          </p:cNvSpPr>
          <p:nvPr>
            <p:ph idx="1"/>
          </p:nvPr>
        </p:nvSpPr>
        <p:spPr>
          <a:xfrm>
            <a:off x="323528" y="1203598"/>
            <a:ext cx="8352928" cy="3296978"/>
          </a:xfrm>
        </p:spPr>
        <p:txBody>
          <a:bodyPr/>
          <a:lstStyle/>
          <a:p>
            <a:pPr lvl="1"/>
            <a:endParaRPr lang="en-US" altLang="zh-CN" dirty="0"/>
          </a:p>
          <a:p>
            <a:pPr lvl="2"/>
            <a:endParaRPr lang="en-US" altLang="zh-CN" dirty="0"/>
          </a:p>
          <a:p>
            <a:pPr lvl="2"/>
            <a:endParaRPr lang="en-US" altLang="zh-CN" dirty="0"/>
          </a:p>
        </p:txBody>
      </p:sp>
      <p:sp>
        <p:nvSpPr>
          <p:cNvPr id="18" name="标题 17"/>
          <p:cNvSpPr>
            <a:spLocks noGrp="1"/>
          </p:cNvSpPr>
          <p:nvPr>
            <p:ph type="title"/>
          </p:nvPr>
        </p:nvSpPr>
        <p:spPr>
          <a:xfrm>
            <a:off x="2267494" y="141482"/>
            <a:ext cx="6768877" cy="368300"/>
          </a:xfrm>
        </p:spPr>
        <p:txBody>
          <a:bodyPr/>
          <a:lstStyle/>
          <a:p>
            <a:pPr>
              <a:defRPr/>
            </a:pPr>
            <a:r>
              <a:rPr lang="zh-CN" dirty="0">
                <a:sym typeface="+mn-ea"/>
              </a:rPr>
              <a:t>如何使用字符串</a:t>
            </a:r>
            <a:endParaRPr dirty="0"/>
          </a:p>
        </p:txBody>
      </p:sp>
      <p:sp>
        <p:nvSpPr>
          <p:cNvPr id="8" name="AutoShape 3"/>
          <p:cNvSpPr>
            <a:spLocks noChangeArrowheads="1"/>
          </p:cNvSpPr>
          <p:nvPr/>
        </p:nvSpPr>
        <p:spPr bwMode="auto">
          <a:xfrm>
            <a:off x="1601470" y="909955"/>
            <a:ext cx="6149340" cy="3884839"/>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indent="-224155" algn="l" defTabSz="381000">
              <a:lnSpc>
                <a:spcPct val="150000"/>
              </a:lnSpc>
              <a:buClr>
                <a:schemeClr val="folHlink"/>
              </a:buClr>
              <a:buSzPct val="60000"/>
              <a:tabLst>
                <a:tab pos="444500" algn="l"/>
              </a:tabLst>
              <a:defRPr/>
            </a:pPr>
            <a:r>
              <a:rPr lang="zh-CN" altLang="en-US" sz="1400" dirty="0">
                <a:solidFill>
                  <a:schemeClr val="tx1">
                    <a:lumMod val="75000"/>
                    <a:lumOff val="25000"/>
                  </a:schemeClr>
                </a:solidFill>
                <a:latin typeface="+mn-ea"/>
                <a:ea typeface="+mn-ea"/>
                <a:sym typeface="+mn-ea"/>
              </a:rPr>
              <a:t>下列</a:t>
            </a:r>
            <a:r>
              <a:rPr lang="en-US" altLang="zh-CN" sz="1400" dirty="0">
                <a:solidFill>
                  <a:schemeClr val="tx1">
                    <a:lumMod val="75000"/>
                    <a:lumOff val="25000"/>
                  </a:schemeClr>
                </a:solidFill>
                <a:latin typeface="+mn-ea"/>
                <a:ea typeface="+mn-ea"/>
                <a:sym typeface="+mn-ea"/>
              </a:rPr>
              <a:t>哪些是字符串，哪些不是字符串</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sym typeface="+mn-ea"/>
              </a:rPr>
              <a:t>n = ’ a ’  </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sym typeface="+mn-ea"/>
              </a:rPr>
              <a:t>m = ’123‘</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sym typeface="+mn-ea"/>
              </a:rPr>
              <a:t>b = '''hello'''</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sym typeface="+mn-ea"/>
              </a:rPr>
              <a:t>c = """ hello</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sym typeface="+mn-ea"/>
              </a:rPr>
              <a:t>           world</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sym typeface="+mn-ea"/>
              </a:rPr>
              <a:t>       """ </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sym typeface="+mn-ea"/>
              </a:rPr>
              <a:t>d = "你好"</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sym typeface="+mn-ea"/>
              </a:rPr>
              <a:t>a1 = " "</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sym typeface="+mn-ea"/>
              </a:rPr>
              <a:t>a2 = “</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sym typeface="+mn-ea"/>
              </a:rPr>
              <a:t>a3 = helloworld</a:t>
            </a:r>
            <a:endParaRPr lang="en-US" altLang="zh-CN" sz="1400" dirty="0">
              <a:solidFill>
                <a:schemeClr val="tx1">
                  <a:lumMod val="75000"/>
                  <a:lumOff val="25000"/>
                </a:schemeClr>
              </a:solidFill>
              <a:latin typeface="+mn-ea"/>
              <a:ea typeface="+mn-ea"/>
            </a:endParaRPr>
          </a:p>
          <a:p>
            <a:pPr marL="224155"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sym typeface="+mn-ea"/>
              </a:rPr>
              <a:t>a4 = “hello</a:t>
            </a:r>
            <a:endParaRPr lang="en-US" altLang="zh-CN" sz="1400" dirty="0">
              <a:solidFill>
                <a:schemeClr val="tx1">
                  <a:lumMod val="75000"/>
                  <a:lumOff val="25000"/>
                </a:schemeClr>
              </a:solidFill>
              <a:latin typeface="+mn-ea"/>
              <a:ea typeface="+mn-ea"/>
              <a:sym typeface="+mn-ea"/>
            </a:endParaRPr>
          </a:p>
        </p:txBody>
      </p:sp>
      <p:sp>
        <p:nvSpPr>
          <p:cNvPr id="9" name="乘号 8"/>
          <p:cNvSpPr/>
          <p:nvPr/>
        </p:nvSpPr>
        <p:spPr>
          <a:xfrm>
            <a:off x="2423795" y="3849370"/>
            <a:ext cx="407035" cy="406400"/>
          </a:xfrm>
          <a:prstGeom prst="mathMultiply">
            <a:avLst/>
          </a:prstGeom>
          <a:solidFill>
            <a:srgbClr val="FF000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9" name="乘号 28"/>
          <p:cNvSpPr/>
          <p:nvPr/>
        </p:nvSpPr>
        <p:spPr>
          <a:xfrm>
            <a:off x="3142615" y="4093845"/>
            <a:ext cx="407035" cy="406400"/>
          </a:xfrm>
          <a:prstGeom prst="mathMultiply">
            <a:avLst/>
          </a:prstGeom>
          <a:solidFill>
            <a:srgbClr val="FF000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0" name="乘号 29"/>
          <p:cNvSpPr/>
          <p:nvPr/>
        </p:nvSpPr>
        <p:spPr>
          <a:xfrm>
            <a:off x="3142615" y="4428490"/>
            <a:ext cx="407035" cy="406400"/>
          </a:xfrm>
          <a:prstGeom prst="mathMultiply">
            <a:avLst/>
          </a:prstGeom>
          <a:solidFill>
            <a:srgbClr val="FF000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32" name="图片 31" descr="MXP]3_%N`CZ9W$6B7Y8CZ[I"/>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3021330" y="1275715"/>
            <a:ext cx="433705" cy="330200"/>
          </a:xfrm>
          <a:prstGeom prst="rect">
            <a:avLst/>
          </a:prstGeom>
        </p:spPr>
      </p:pic>
      <p:pic>
        <p:nvPicPr>
          <p:cNvPr id="33" name="图片 32" descr="MXP]3_%N`CZ9W$6B7Y8CZ[I"/>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3021330" y="1533525"/>
            <a:ext cx="433705" cy="330200"/>
          </a:xfrm>
          <a:prstGeom prst="rect">
            <a:avLst/>
          </a:prstGeom>
        </p:spPr>
      </p:pic>
      <p:pic>
        <p:nvPicPr>
          <p:cNvPr id="34" name="图片 33" descr="MXP]3_%N`CZ9W$6B7Y8CZ[I"/>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3021330" y="1863725"/>
            <a:ext cx="433705" cy="330200"/>
          </a:xfrm>
          <a:prstGeom prst="rect">
            <a:avLst/>
          </a:prstGeom>
        </p:spPr>
      </p:pic>
      <p:pic>
        <p:nvPicPr>
          <p:cNvPr id="35" name="图片 34" descr="MXP]3_%N`CZ9W$6B7Y8CZ[I"/>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3021330" y="2193925"/>
            <a:ext cx="433705" cy="330200"/>
          </a:xfrm>
          <a:prstGeom prst="rect">
            <a:avLst/>
          </a:prstGeom>
        </p:spPr>
      </p:pic>
      <p:pic>
        <p:nvPicPr>
          <p:cNvPr id="36" name="图片 35" descr="MXP]3_%N`CZ9W$6B7Y8CZ[I"/>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2587625" y="3188970"/>
            <a:ext cx="433705" cy="330200"/>
          </a:xfrm>
          <a:prstGeom prst="rect">
            <a:avLst/>
          </a:prstGeom>
        </p:spPr>
      </p:pic>
      <p:pic>
        <p:nvPicPr>
          <p:cNvPr id="37" name="图片 36" descr="MXP]3_%N`CZ9W$6B7Y8CZ[I"/>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2423795" y="3519170"/>
            <a:ext cx="433705" cy="330200"/>
          </a:xfrm>
          <a:prstGeom prst="rect">
            <a:avLst/>
          </a:prstGeom>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3"/>
                                        </p:tgtEl>
                                        <p:attrNameLst>
                                          <p:attrName>style.visibility</p:attrName>
                                        </p:attrNameLst>
                                      </p:cBhvr>
                                      <p:to>
                                        <p:strVal val="visible"/>
                                      </p:to>
                                    </p:set>
                                    <p:anim calcmode="lin" valueType="num">
                                      <p:cBhvr additive="base">
                                        <p:cTn id="14" dur="500" fill="hold"/>
                                        <p:tgtEl>
                                          <p:spTgt spid="33"/>
                                        </p:tgtEl>
                                        <p:attrNameLst>
                                          <p:attrName>ppt_x</p:attrName>
                                        </p:attrNameLst>
                                      </p:cBhvr>
                                      <p:tavLst>
                                        <p:tav tm="0">
                                          <p:val>
                                            <p:strVal val="#ppt_x"/>
                                          </p:val>
                                        </p:tav>
                                        <p:tav tm="100000">
                                          <p:val>
                                            <p:strVal val="#ppt_x"/>
                                          </p:val>
                                        </p:tav>
                                      </p:tavLst>
                                    </p:anim>
                                    <p:anim calcmode="lin" valueType="num">
                                      <p:cBhvr additive="base">
                                        <p:cTn id="15"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4"/>
                                        </p:tgtEl>
                                        <p:attrNameLst>
                                          <p:attrName>style.visibility</p:attrName>
                                        </p:attrNameLst>
                                      </p:cBhvr>
                                      <p:to>
                                        <p:strVal val="visible"/>
                                      </p:to>
                                    </p:set>
                                    <p:anim calcmode="lin" valueType="num">
                                      <p:cBhvr additive="base">
                                        <p:cTn id="20" dur="500" fill="hold"/>
                                        <p:tgtEl>
                                          <p:spTgt spid="34"/>
                                        </p:tgtEl>
                                        <p:attrNameLst>
                                          <p:attrName>ppt_x</p:attrName>
                                        </p:attrNameLst>
                                      </p:cBhvr>
                                      <p:tavLst>
                                        <p:tav tm="0">
                                          <p:val>
                                            <p:strVal val="#ppt_x"/>
                                          </p:val>
                                        </p:tav>
                                        <p:tav tm="100000">
                                          <p:val>
                                            <p:strVal val="#ppt_x"/>
                                          </p:val>
                                        </p:tav>
                                      </p:tavLst>
                                    </p:anim>
                                    <p:anim calcmode="lin" valueType="num">
                                      <p:cBhvr additive="base">
                                        <p:cTn id="21"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5"/>
                                        </p:tgtEl>
                                        <p:attrNameLst>
                                          <p:attrName>style.visibility</p:attrName>
                                        </p:attrNameLst>
                                      </p:cBhvr>
                                      <p:to>
                                        <p:strVal val="visible"/>
                                      </p:to>
                                    </p:set>
                                    <p:anim calcmode="lin" valueType="num">
                                      <p:cBhvr additive="base">
                                        <p:cTn id="26" dur="500" fill="hold"/>
                                        <p:tgtEl>
                                          <p:spTgt spid="35"/>
                                        </p:tgtEl>
                                        <p:attrNameLst>
                                          <p:attrName>ppt_x</p:attrName>
                                        </p:attrNameLst>
                                      </p:cBhvr>
                                      <p:tavLst>
                                        <p:tav tm="0">
                                          <p:val>
                                            <p:strVal val="#ppt_x"/>
                                          </p:val>
                                        </p:tav>
                                        <p:tav tm="100000">
                                          <p:val>
                                            <p:strVal val="#ppt_x"/>
                                          </p:val>
                                        </p:tav>
                                      </p:tavLst>
                                    </p:anim>
                                    <p:anim calcmode="lin" valueType="num">
                                      <p:cBhvr additive="base">
                                        <p:cTn id="27"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 calcmode="lin" valueType="num">
                                      <p:cBhvr additive="base">
                                        <p:cTn id="32" dur="500" fill="hold"/>
                                        <p:tgtEl>
                                          <p:spTgt spid="36"/>
                                        </p:tgtEl>
                                        <p:attrNameLst>
                                          <p:attrName>ppt_x</p:attrName>
                                        </p:attrNameLst>
                                      </p:cBhvr>
                                      <p:tavLst>
                                        <p:tav tm="0">
                                          <p:val>
                                            <p:strVal val="#ppt_x"/>
                                          </p:val>
                                        </p:tav>
                                        <p:tav tm="100000">
                                          <p:val>
                                            <p:strVal val="#ppt_x"/>
                                          </p:val>
                                        </p:tav>
                                      </p:tavLst>
                                    </p:anim>
                                    <p:anim calcmode="lin" valueType="num">
                                      <p:cBhvr additive="base">
                                        <p:cTn id="33"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7"/>
                                        </p:tgtEl>
                                        <p:attrNameLst>
                                          <p:attrName>style.visibility</p:attrName>
                                        </p:attrNameLst>
                                      </p:cBhvr>
                                      <p:to>
                                        <p:strVal val="visible"/>
                                      </p:to>
                                    </p:set>
                                    <p:anim calcmode="lin" valueType="num">
                                      <p:cBhvr additive="base">
                                        <p:cTn id="38" dur="500" fill="hold"/>
                                        <p:tgtEl>
                                          <p:spTgt spid="37"/>
                                        </p:tgtEl>
                                        <p:attrNameLst>
                                          <p:attrName>ppt_x</p:attrName>
                                        </p:attrNameLst>
                                      </p:cBhvr>
                                      <p:tavLst>
                                        <p:tav tm="0">
                                          <p:val>
                                            <p:strVal val="#ppt_x"/>
                                          </p:val>
                                        </p:tav>
                                        <p:tav tm="100000">
                                          <p:val>
                                            <p:strVal val="#ppt_x"/>
                                          </p:val>
                                        </p:tav>
                                      </p:tavLst>
                                    </p:anim>
                                    <p:anim calcmode="lin" valueType="num">
                                      <p:cBhvr additive="base">
                                        <p:cTn id="3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29"/>
                                        </p:tgtEl>
                                        <p:attrNameLst>
                                          <p:attrName>style.visibility</p:attrName>
                                        </p:attrNameLst>
                                      </p:cBhvr>
                                      <p:to>
                                        <p:strVal val="visible"/>
                                      </p:to>
                                    </p:set>
                                    <p:anim calcmode="lin" valueType="num">
                                      <p:cBhvr additive="base">
                                        <p:cTn id="50" dur="500" fill="hold"/>
                                        <p:tgtEl>
                                          <p:spTgt spid="29"/>
                                        </p:tgtEl>
                                        <p:attrNameLst>
                                          <p:attrName>ppt_x</p:attrName>
                                        </p:attrNameLst>
                                      </p:cBhvr>
                                      <p:tavLst>
                                        <p:tav tm="0">
                                          <p:val>
                                            <p:strVal val="#ppt_x"/>
                                          </p:val>
                                        </p:tav>
                                        <p:tav tm="100000">
                                          <p:val>
                                            <p:strVal val="#ppt_x"/>
                                          </p:val>
                                        </p:tav>
                                      </p:tavLst>
                                    </p:anim>
                                    <p:anim calcmode="lin" valueType="num">
                                      <p:cBhvr additive="base">
                                        <p:cTn id="5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30"/>
                                        </p:tgtEl>
                                        <p:attrNameLst>
                                          <p:attrName>style.visibility</p:attrName>
                                        </p:attrNameLst>
                                      </p:cBhvr>
                                      <p:to>
                                        <p:strVal val="visible"/>
                                      </p:to>
                                    </p:set>
                                    <p:anim calcmode="lin" valueType="num">
                                      <p:cBhvr additive="base">
                                        <p:cTn id="56" dur="500" fill="hold"/>
                                        <p:tgtEl>
                                          <p:spTgt spid="30"/>
                                        </p:tgtEl>
                                        <p:attrNameLst>
                                          <p:attrName>ppt_x</p:attrName>
                                        </p:attrNameLst>
                                      </p:cBhvr>
                                      <p:tavLst>
                                        <p:tav tm="0">
                                          <p:val>
                                            <p:strVal val="#ppt_x"/>
                                          </p:val>
                                        </p:tav>
                                        <p:tav tm="100000">
                                          <p:val>
                                            <p:strVal val="#ppt_x"/>
                                          </p:val>
                                        </p:tav>
                                      </p:tavLst>
                                    </p:anim>
                                    <p:anim calcmode="lin" valueType="num">
                                      <p:cBhvr additive="base">
                                        <p:cTn id="57"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9" grpId="0" animBg="1"/>
      <p:bldP spid="3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nvSpPr>
        <p:spPr>
          <a:xfrm>
            <a:off x="2195739" y="141482"/>
            <a:ext cx="6768877" cy="368300"/>
          </a:xfrm>
          <a:prstGeom prst="rect">
            <a:avLst/>
          </a:prstGeom>
          <a:noFill/>
        </p:spPr>
        <p:txBody>
          <a:bodyPr wrap="square">
            <a:spAutoFit/>
          </a:bodyPr>
          <a:lstStyle>
            <a:lvl1pPr marL="913130" indent="-913130" algn="r" rtl="0" eaLnBrk="0" fontAlgn="base" hangingPunct="0">
              <a:lnSpc>
                <a:spcPct val="90000"/>
              </a:lnSpc>
              <a:spcBef>
                <a:spcPct val="0"/>
              </a:spcBef>
              <a:spcAft>
                <a:spcPct val="0"/>
              </a:spcAft>
              <a:defRPr sz="2000" b="0" kern="1200">
                <a:solidFill>
                  <a:srgbClr val="0070C0"/>
                </a:solidFill>
                <a:latin typeface="+mj-lt"/>
                <a:ea typeface="+mj-ea"/>
                <a:cs typeface="+mj-cs"/>
                <a:sym typeface="Browallia New" panose="020B0604020202020204" charset="0"/>
              </a:defRPr>
            </a:lvl1pPr>
            <a:lvl2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defRPr/>
            </a:pPr>
            <a:r>
              <a:rPr lang="zh-CN" dirty="0"/>
              <a:t>字符串的作用</a:t>
            </a:r>
            <a:endParaRPr lang="zh-CN" dirty="0"/>
          </a:p>
        </p:txBody>
      </p:sp>
      <p:sp>
        <p:nvSpPr>
          <p:cNvPr id="7" name="Chevron 21"/>
          <p:cNvSpPr/>
          <p:nvPr/>
        </p:nvSpPr>
        <p:spPr>
          <a:xfrm>
            <a:off x="1043305" y="3716020"/>
            <a:ext cx="7057390" cy="982980"/>
          </a:xfrm>
          <a:prstGeom prst="chevron">
            <a:avLst/>
          </a:prstGeom>
          <a:gradFill>
            <a:gsLst>
              <a:gs pos="61000">
                <a:srgbClr val="7DA8DF"/>
              </a:gs>
              <a:gs pos="48000">
                <a:schemeClr val="tx2">
                  <a:lumMod val="40000"/>
                  <a:lumOff val="60000"/>
                </a:schemeClr>
              </a:gs>
              <a:gs pos="0">
                <a:schemeClr val="tx2">
                  <a:lumMod val="60000"/>
                  <a:lumOff val="40000"/>
                </a:schemeClr>
              </a:gs>
              <a:gs pos="100000">
                <a:schemeClr val="tx2">
                  <a:lumMod val="60000"/>
                  <a:lumOff val="40000"/>
                </a:schemeClr>
              </a:gs>
            </a:gsLst>
            <a:lin ang="540000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80160" rtlCol="0" anchor="ct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sz="2400">
                <a:ln>
                  <a:noFill/>
                </a:ln>
                <a:solidFill>
                  <a:schemeClr val="tx1"/>
                </a:solidFill>
                <a:effectLst/>
                <a:latin typeface="微软雅黑" panose="020B0503020204020204" pitchFamily="34" charset="-122"/>
                <a:ea typeface="微软雅黑" panose="020B0503020204020204" pitchFamily="34" charset="-122"/>
                <a:sym typeface="+mn-ea"/>
              </a:rPr>
              <a:t>可以表现字符类型的数据</a:t>
            </a:r>
            <a:endParaRPr lang="zh-CN" sz="2400">
              <a:ln>
                <a:noFill/>
              </a:ln>
              <a:solidFill>
                <a:schemeClr val="tx1"/>
              </a:solidFill>
              <a:effectLst/>
              <a:latin typeface="微软雅黑" panose="020B0503020204020204" pitchFamily="34" charset="-122"/>
              <a:ea typeface="微软雅黑" panose="020B0503020204020204" pitchFamily="34" charset="-122"/>
              <a:sym typeface="+mn-ea"/>
            </a:endParaRPr>
          </a:p>
        </p:txBody>
      </p:sp>
      <p:pic>
        <p:nvPicPr>
          <p:cNvPr id="2" name="图片 1" descr="N5DXA~Y7S4L9@WRW]28A~OQ"/>
          <p:cNvPicPr>
            <a:picLocks noChangeAspect="1"/>
          </p:cNvPicPr>
          <p:nvPr/>
        </p:nvPicPr>
        <p:blipFill>
          <a:blip r:embed="rId1"/>
          <a:stretch>
            <a:fillRect/>
          </a:stretch>
        </p:blipFill>
        <p:spPr>
          <a:xfrm>
            <a:off x="3596640" y="927735"/>
            <a:ext cx="1950720" cy="2630805"/>
          </a:xfrm>
          <a:prstGeom prst="rect">
            <a:avLst/>
          </a:prstGeom>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小结</a:t>
            </a:r>
            <a:endParaRPr lang="zh-CN" altLang="en-US" dirty="0"/>
          </a:p>
        </p:txBody>
      </p:sp>
      <p:sp>
        <p:nvSpPr>
          <p:cNvPr id="4" name="内容占位符 3"/>
          <p:cNvSpPr>
            <a:spLocks noGrp="1"/>
          </p:cNvSpPr>
          <p:nvPr>
            <p:ph idx="1"/>
          </p:nvPr>
        </p:nvSpPr>
        <p:spPr>
          <a:xfrm>
            <a:off x="275268" y="865143"/>
            <a:ext cx="8352928" cy="3137572"/>
          </a:xfrm>
        </p:spPr>
        <p:txBody>
          <a:bodyPr/>
          <a:lstStyle/>
          <a:p>
            <a:r>
              <a:rPr lang="zh-CN" altLang="en-US" dirty="0"/>
              <a:t>什么是字符串？</a:t>
            </a:r>
            <a:endParaRPr lang="zh-CN" altLang="en-US" dirty="0"/>
          </a:p>
          <a:p>
            <a:r>
              <a:rPr lang="zh-CN" altLang="en-US" dirty="0"/>
              <a:t>字符串的格式有哪些？</a:t>
            </a:r>
            <a:endParaRPr lang="zh-CN" altLang="en-US" dirty="0"/>
          </a:p>
          <a:p>
            <a:r>
              <a:rPr lang="zh-CN" altLang="en-US" dirty="0"/>
              <a:t>序列的操作有哪些？</a:t>
            </a:r>
            <a:endParaRPr lang="zh-CN" altLang="en-US" dirty="0"/>
          </a:p>
        </p:txBody>
      </p:sp>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第三节课</a:t>
            </a:r>
            <a:endParaRPr lang="zh-CN" altLang="en-US"/>
          </a:p>
        </p:txBody>
      </p:sp>
      <p:sp>
        <p:nvSpPr>
          <p:cNvPr id="3" name="文本框 2"/>
          <p:cNvSpPr txBox="1"/>
          <p:nvPr/>
        </p:nvSpPr>
        <p:spPr>
          <a:xfrm>
            <a:off x="2846070" y="2355850"/>
            <a:ext cx="3554095" cy="645160"/>
          </a:xfrm>
          <a:prstGeom prst="rect">
            <a:avLst/>
          </a:prstGeom>
          <a:noFill/>
        </p:spPr>
        <p:txBody>
          <a:bodyPr wrap="square" rtlCol="0">
            <a:spAutoFit/>
          </a:bodyPr>
          <a:lstStyle/>
          <a:p>
            <a:r>
              <a:rPr lang="zh-CN" altLang="en-US" sz="3600" b="1"/>
              <a:t>字符串格式化</a:t>
            </a:r>
            <a:endParaRPr lang="zh-CN" altLang="en-US" sz="3600" b="1"/>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回顾</a:t>
            </a:r>
            <a:endParaRPr lang="zh-CN" altLang="en-US" dirty="0"/>
          </a:p>
        </p:txBody>
      </p:sp>
      <p:sp>
        <p:nvSpPr>
          <p:cNvPr id="3" name="内容占位符 2"/>
          <p:cNvSpPr>
            <a:spLocks noGrp="1"/>
          </p:cNvSpPr>
          <p:nvPr>
            <p:ph idx="1"/>
          </p:nvPr>
        </p:nvSpPr>
        <p:spPr>
          <a:xfrm>
            <a:off x="467544" y="1275606"/>
            <a:ext cx="8064896" cy="3353596"/>
          </a:xfrm>
        </p:spPr>
        <p:txBody>
          <a:bodyPr/>
          <a:lstStyle/>
          <a:p>
            <a:r>
              <a:rPr lang="zh-CN" altLang="en-US" dirty="0"/>
              <a:t>字符串的概念是什么？</a:t>
            </a:r>
            <a:endParaRPr lang="zh-CN" altLang="en-US" dirty="0"/>
          </a:p>
          <a:p>
            <a:r>
              <a:rPr lang="zh-CN" altLang="en-US" dirty="0"/>
              <a:t>什么是序列？</a:t>
            </a:r>
            <a:endParaRPr lang="zh-CN" altLang="en-US" dirty="0"/>
          </a:p>
          <a:p>
            <a:r>
              <a:rPr lang="zh-CN" altLang="en-US" dirty="0"/>
              <a:t>序列的操作有哪些？</a:t>
            </a:r>
            <a:endParaRPr lang="zh-CN" altLang="en-US" dirty="0"/>
          </a:p>
          <a:p>
            <a:pPr marL="0" indent="0">
              <a:buNone/>
            </a:pPr>
            <a:endParaRPr lang="zh-CN" altLang="en-US" dirty="0">
              <a:sym typeface="+mn-ea"/>
            </a:endParaRPr>
          </a:p>
          <a:p>
            <a:pPr marL="0" indent="0">
              <a:buNone/>
            </a:pPr>
            <a:endParaRPr lang="zh-CN" altLang="en-US" sz="2000" b="0" dirty="0">
              <a:latin typeface="+mn-ea"/>
              <a:ea typeface="+mn-ea"/>
            </a:endParaRPr>
          </a:p>
        </p:txBody>
      </p:sp>
      <p:sp>
        <p:nvSpPr>
          <p:cNvPr id="9" name="TextBox 8"/>
          <p:cNvSpPr txBox="1"/>
          <p:nvPr/>
        </p:nvSpPr>
        <p:spPr>
          <a:xfrm>
            <a:off x="539552" y="771550"/>
            <a:ext cx="1728192" cy="338554"/>
          </a:xfrm>
          <a:prstGeom prst="rect">
            <a:avLst/>
          </a:prstGeom>
          <a:noFill/>
        </p:spPr>
        <p:txBody>
          <a:bodyPr wrap="square" rtlCol="0">
            <a:spAutoFit/>
          </a:bodyPr>
          <a:lstStyle/>
          <a:p>
            <a:pPr algn="l"/>
            <a:r>
              <a:rPr lang="zh-CN" altLang="en-US" sz="1600" b="1" dirty="0">
                <a:solidFill>
                  <a:srgbClr val="0070C0"/>
                </a:solidFill>
                <a:latin typeface="+mj-ea"/>
                <a:ea typeface="+mj-ea"/>
              </a:rPr>
              <a:t>现场提问</a:t>
            </a:r>
            <a:endParaRPr lang="zh-CN" altLang="en-US" sz="1600" b="1" dirty="0">
              <a:solidFill>
                <a:srgbClr val="0070C0"/>
              </a:solidFill>
              <a:latin typeface="+mj-ea"/>
              <a:ea typeface="+mj-ea"/>
            </a:endParaRPr>
          </a:p>
        </p:txBody>
      </p:sp>
      <p:pic>
        <p:nvPicPr>
          <p:cNvPr id="12" name="图片 11" descr="现场提问3.png"/>
          <p:cNvPicPr>
            <a:picLocks noChangeAspect="1"/>
          </p:cNvPicPr>
          <p:nvPr/>
        </p:nvPicPr>
        <p:blipFill>
          <a:blip r:embed="rId1" cstate="print"/>
          <a:stretch>
            <a:fillRect/>
          </a:stretch>
        </p:blipFill>
        <p:spPr>
          <a:xfrm>
            <a:off x="179512" y="723157"/>
            <a:ext cx="405385" cy="408433"/>
          </a:xfrm>
          <a:prstGeom prst="rect">
            <a:avLst/>
          </a:prstGeom>
          <a:noFill/>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195739" y="141482"/>
            <a:ext cx="6768877" cy="368300"/>
          </a:xfrm>
        </p:spPr>
        <p:txBody>
          <a:bodyPr/>
          <a:lstStyle/>
          <a:p>
            <a:r>
              <a:rPr lang="zh-CN" altLang="en-US" dirty="0"/>
              <a:t>为什么使用字符串格式化</a:t>
            </a:r>
            <a:endParaRPr lang="zh-CN" altLang="en-US" dirty="0"/>
          </a:p>
        </p:txBody>
      </p:sp>
      <p:sp>
        <p:nvSpPr>
          <p:cNvPr id="524291" name="AutoShape 3"/>
          <p:cNvSpPr>
            <a:spLocks noChangeArrowheads="1"/>
          </p:cNvSpPr>
          <p:nvPr/>
        </p:nvSpPr>
        <p:spPr bwMode="auto">
          <a:xfrm>
            <a:off x="1000760" y="967105"/>
            <a:ext cx="2912110" cy="970732"/>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sz="1400" dirty="0">
                <a:solidFill>
                  <a:schemeClr val="tx1">
                    <a:lumMod val="75000"/>
                    <a:lumOff val="25000"/>
                  </a:schemeClr>
                </a:solidFill>
                <a:latin typeface="+mn-ea"/>
                <a:ea typeface="+mn-ea"/>
              </a:rPr>
              <a:t>name = input("请输入名字：")</a:t>
            </a:r>
            <a:endParaRPr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sz="1400" dirty="0">
                <a:solidFill>
                  <a:schemeClr val="tx1">
                    <a:lumMod val="75000"/>
                    <a:lumOff val="25000"/>
                  </a:schemeClr>
                </a:solidFill>
                <a:latin typeface="+mn-ea"/>
                <a:ea typeface="+mn-ea"/>
              </a:rPr>
              <a:t>age = input("请输入年龄：")</a:t>
            </a:r>
            <a:endParaRPr sz="14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sz="1400" dirty="0">
                <a:solidFill>
                  <a:schemeClr val="tx1">
                    <a:lumMod val="75000"/>
                    <a:lumOff val="25000"/>
                  </a:schemeClr>
                </a:solidFill>
                <a:latin typeface="+mn-ea"/>
                <a:ea typeface="+mn-ea"/>
              </a:rPr>
              <a:t>print(name, age)</a:t>
            </a:r>
            <a:endParaRPr sz="1400" dirty="0">
              <a:solidFill>
                <a:schemeClr val="tx1">
                  <a:lumMod val="75000"/>
                  <a:lumOff val="25000"/>
                </a:schemeClr>
              </a:solidFill>
              <a:latin typeface="+mn-ea"/>
              <a:ea typeface="+mn-ea"/>
            </a:endParaRPr>
          </a:p>
        </p:txBody>
      </p:sp>
      <p:pic>
        <p:nvPicPr>
          <p:cNvPr id="2" name="图片 1" descr="T_)RAQTOLYU4@YDH6}AZ%S6"/>
          <p:cNvPicPr>
            <a:picLocks noChangeAspect="1"/>
          </p:cNvPicPr>
          <p:nvPr/>
        </p:nvPicPr>
        <p:blipFill>
          <a:blip r:embed="rId1"/>
          <a:stretch>
            <a:fillRect/>
          </a:stretch>
        </p:blipFill>
        <p:spPr>
          <a:xfrm>
            <a:off x="4642485" y="967105"/>
            <a:ext cx="2463165" cy="1000125"/>
          </a:xfrm>
          <a:prstGeom prst="rect">
            <a:avLst/>
          </a:prstGeom>
        </p:spPr>
      </p:pic>
      <p:sp>
        <p:nvSpPr>
          <p:cNvPr id="3" name="文本框 2"/>
          <p:cNvSpPr txBox="1"/>
          <p:nvPr/>
        </p:nvSpPr>
        <p:spPr>
          <a:xfrm>
            <a:off x="1428750" y="2187575"/>
            <a:ext cx="4983480" cy="368300"/>
          </a:xfrm>
          <a:prstGeom prst="rect">
            <a:avLst/>
          </a:prstGeom>
          <a:noFill/>
        </p:spPr>
        <p:txBody>
          <a:bodyPr wrap="none" rtlCol="0">
            <a:spAutoFit/>
          </a:bodyPr>
          <a:lstStyle/>
          <a:p>
            <a:r>
              <a:rPr lang="zh-CN" altLang="en-US">
                <a:latin typeface="+mn-ea"/>
                <a:ea typeface="+mn-ea"/>
              </a:rPr>
              <a:t>这里输出的时候想用特定的格式输出怎么办呢？</a:t>
            </a:r>
            <a:endParaRPr lang="zh-CN" altLang="en-US">
              <a:latin typeface="+mn-ea"/>
              <a:ea typeface="+mn-ea"/>
            </a:endParaRPr>
          </a:p>
        </p:txBody>
      </p:sp>
      <p:pic>
        <p:nvPicPr>
          <p:cNvPr id="31" name="Picture 20" descr="0quav023[1]"/>
          <p:cNvPicPr>
            <a:picLocks noChangeAspect="1" noChangeArrowheads="1"/>
          </p:cNvPicPr>
          <p:nvPr/>
        </p:nvPicPr>
        <p:blipFill>
          <a:blip r:embed="rId2" cstate="print"/>
          <a:srcRect/>
          <a:stretch>
            <a:fillRect/>
          </a:stretch>
        </p:blipFill>
        <p:spPr bwMode="auto">
          <a:xfrm>
            <a:off x="7537282" y="2621598"/>
            <a:ext cx="1719723" cy="2171700"/>
          </a:xfrm>
          <a:prstGeom prst="rect">
            <a:avLst/>
          </a:prstGeom>
          <a:noFill/>
          <a:ln w="9525">
            <a:noFill/>
            <a:miter lim="800000"/>
            <a:headEnd/>
            <a:tailEnd/>
          </a:ln>
        </p:spPr>
      </p:pic>
      <p:pic>
        <p:nvPicPr>
          <p:cNvPr id="4" name="图片 3" descr="7_I3TD%WA`NXH5{TQV92PFU"/>
          <p:cNvPicPr>
            <a:picLocks noChangeAspect="1"/>
          </p:cNvPicPr>
          <p:nvPr/>
        </p:nvPicPr>
        <p:blipFill>
          <a:blip r:embed="rId3"/>
          <a:stretch>
            <a:fillRect/>
          </a:stretch>
        </p:blipFill>
        <p:spPr>
          <a:xfrm>
            <a:off x="2522220" y="2887345"/>
            <a:ext cx="2489835" cy="816610"/>
          </a:xfrm>
          <a:prstGeom prst="rect">
            <a:avLst/>
          </a:prstGeom>
        </p:spPr>
      </p:pic>
      <p:sp>
        <p:nvSpPr>
          <p:cNvPr id="7" name="文本框 6"/>
          <p:cNvSpPr txBox="1"/>
          <p:nvPr/>
        </p:nvSpPr>
        <p:spPr>
          <a:xfrm>
            <a:off x="1508760" y="4267835"/>
            <a:ext cx="5010150" cy="368300"/>
          </a:xfrm>
          <a:prstGeom prst="rect">
            <a:avLst/>
          </a:prstGeom>
          <a:noFill/>
        </p:spPr>
        <p:txBody>
          <a:bodyPr wrap="none" rtlCol="0" anchor="t">
            <a:spAutoFit/>
          </a:bodyPr>
          <a:lstStyle/>
          <a:p>
            <a:r>
              <a:rPr lang="zh-CN" altLang="en-US" b="1">
                <a:sym typeface="+mn-ea"/>
              </a:rPr>
              <a:t>字符串格式化就是以特定的格式来输出字符串。</a:t>
            </a:r>
            <a:endParaRPr lang="zh-CN" altLang="en-US"/>
          </a:p>
        </p:txBody>
      </p:sp>
      <p:sp>
        <p:nvSpPr>
          <p:cNvPr id="8" name="爆炸形 1 7"/>
          <p:cNvSpPr/>
          <p:nvPr/>
        </p:nvSpPr>
        <p:spPr>
          <a:xfrm>
            <a:off x="5391150" y="2336165"/>
            <a:ext cx="2231390" cy="1367790"/>
          </a:xfrm>
          <a:prstGeom prst="irregularSeal1">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用字符串格式化</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24291"/>
                                        </p:tgtEl>
                                        <p:attrNameLst>
                                          <p:attrName>style.visibility</p:attrName>
                                        </p:attrNameLst>
                                      </p:cBhvr>
                                      <p:to>
                                        <p:strVal val="visible"/>
                                      </p:to>
                                    </p:set>
                                    <p:animEffect transition="in" filter="randombar(horizontal)">
                                      <p:cBhvr>
                                        <p:cTn id="7" dur="500"/>
                                        <p:tgtEl>
                                          <p:spTgt spid="52429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checkerboard(across)">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diamond(in)">
                                      <p:cBhvr>
                                        <p:cTn id="23" dur="20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00" fill="hold"/>
                                        <p:tgtEl>
                                          <p:spTgt spid="8"/>
                                        </p:tgtEl>
                                        <p:attrNameLst>
                                          <p:attrName>ppt_x</p:attrName>
                                        </p:attrNameLst>
                                      </p:cBhvr>
                                      <p:tavLst>
                                        <p:tav tm="0">
                                          <p:val>
                                            <p:strVal val="#ppt_x"/>
                                          </p:val>
                                        </p:tav>
                                        <p:tav tm="100000">
                                          <p:val>
                                            <p:strVal val="#ppt_x"/>
                                          </p:val>
                                        </p:tav>
                                      </p:tavLst>
                                    </p:anim>
                                    <p:anim calcmode="lin" valueType="num">
                                      <p:cBhvr additive="base">
                                        <p:cTn id="2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291" grpId="0" bldLvl="0" animBg="1" uiExpand="1"/>
      <p:bldP spid="3" grpId="0"/>
      <p:bldP spid="7" grpId="0"/>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8730670" y="812006"/>
            <a:ext cx="184731"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fontAlgn="b" hangingPunct="1"/>
            <a:endParaRPr lang="zh-CN" altLang="en-US" sz="4400" b="1">
              <a:solidFill>
                <a:schemeClr val="tx2"/>
              </a:solidFill>
              <a:latin typeface="Tahoma" panose="020B0604030504040204" pitchFamily="34" charset="0"/>
              <a:cs typeface="Times New Roman" panose="02020603050405020304" pitchFamily="18" charset="0"/>
            </a:endParaRPr>
          </a:p>
        </p:txBody>
      </p:sp>
      <p:sp>
        <p:nvSpPr>
          <p:cNvPr id="526339" name="AutoShape 3"/>
          <p:cNvSpPr>
            <a:spLocks noChangeArrowheads="1"/>
          </p:cNvSpPr>
          <p:nvPr/>
        </p:nvSpPr>
        <p:spPr bwMode="auto">
          <a:xfrm>
            <a:off x="1344295" y="3624580"/>
            <a:ext cx="6456045" cy="741067"/>
          </a:xfrm>
          <a:prstGeom prst="roundRect">
            <a:avLst>
              <a:gd name="adj" fmla="val 675"/>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lang="zh-CN" altLang="en-GB" sz="1600" dirty="0">
                <a:solidFill>
                  <a:schemeClr val="tx1">
                    <a:lumMod val="75000"/>
                    <a:lumOff val="25000"/>
                  </a:schemeClr>
                </a:solidFill>
                <a:latin typeface="+mn-ea"/>
                <a:ea typeface="+mn-ea"/>
              </a:rPr>
              <a:t>这里的</a:t>
            </a:r>
            <a:r>
              <a:rPr lang="en-US" altLang="zh-CN" sz="1600" dirty="0">
                <a:solidFill>
                  <a:schemeClr val="tx1">
                    <a:lumMod val="75000"/>
                    <a:lumOff val="25000"/>
                  </a:schemeClr>
                </a:solidFill>
                <a:latin typeface="+mn-ea"/>
                <a:ea typeface="+mn-ea"/>
              </a:rPr>
              <a:t>%s </a:t>
            </a:r>
            <a:r>
              <a:rPr lang="zh-CN" altLang="en-US" sz="1600" dirty="0">
                <a:solidFill>
                  <a:schemeClr val="tx1">
                    <a:lumMod val="75000"/>
                    <a:lumOff val="25000"/>
                  </a:schemeClr>
                </a:solidFill>
                <a:latin typeface="+mn-ea"/>
                <a:ea typeface="+mn-ea"/>
              </a:rPr>
              <a:t>是格式化符号，起到了占位的作用。</a:t>
            </a:r>
            <a:endParaRPr lang="zh-CN" altLang="en-US" sz="1600" dirty="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lang="en-US" altLang="zh-CN" sz="1600" dirty="0">
                <a:solidFill>
                  <a:schemeClr val="tx1">
                    <a:lumMod val="75000"/>
                    <a:lumOff val="25000"/>
                  </a:schemeClr>
                </a:solidFill>
                <a:latin typeface="+mn-ea"/>
                <a:ea typeface="+mn-ea"/>
              </a:rPr>
              <a:t>%</a:t>
            </a:r>
            <a:r>
              <a:rPr lang="zh-CN" altLang="en-US" sz="1600" dirty="0">
                <a:solidFill>
                  <a:schemeClr val="tx1">
                    <a:lumMod val="75000"/>
                    <a:lumOff val="25000"/>
                  </a:schemeClr>
                </a:solidFill>
                <a:latin typeface="+mn-ea"/>
                <a:ea typeface="+mn-ea"/>
              </a:rPr>
              <a:t>（</a:t>
            </a:r>
            <a:r>
              <a:rPr lang="en-US" altLang="zh-CN" sz="1600" dirty="0">
                <a:solidFill>
                  <a:schemeClr val="tx1">
                    <a:lumMod val="75000"/>
                    <a:lumOff val="25000"/>
                  </a:schemeClr>
                </a:solidFill>
                <a:latin typeface="+mn-ea"/>
                <a:ea typeface="+mn-ea"/>
              </a:rPr>
              <a:t>name, age </a:t>
            </a:r>
            <a:r>
              <a:rPr lang="zh-CN" altLang="en-US" sz="1600" dirty="0">
                <a:solidFill>
                  <a:schemeClr val="tx1">
                    <a:lumMod val="75000"/>
                    <a:lumOff val="25000"/>
                  </a:schemeClr>
                </a:solidFill>
                <a:latin typeface="+mn-ea"/>
                <a:ea typeface="+mn-ea"/>
              </a:rPr>
              <a:t>）</a:t>
            </a:r>
            <a:r>
              <a:rPr lang="en-US" altLang="zh-CN" sz="1600" dirty="0">
                <a:solidFill>
                  <a:schemeClr val="tx1">
                    <a:lumMod val="75000"/>
                    <a:lumOff val="25000"/>
                  </a:schemeClr>
                </a:solidFill>
                <a:latin typeface="+mn-ea"/>
                <a:ea typeface="+mn-ea"/>
              </a:rPr>
              <a:t>name</a:t>
            </a:r>
            <a:r>
              <a:rPr lang="zh-CN" altLang="en-US" sz="1600" dirty="0">
                <a:solidFill>
                  <a:schemeClr val="tx1">
                    <a:lumMod val="75000"/>
                    <a:lumOff val="25000"/>
                  </a:schemeClr>
                </a:solidFill>
                <a:latin typeface="+mn-ea"/>
                <a:ea typeface="+mn-ea"/>
              </a:rPr>
              <a:t>和</a:t>
            </a:r>
            <a:r>
              <a:rPr lang="en-US" altLang="zh-CN" sz="1600" dirty="0">
                <a:solidFill>
                  <a:schemeClr val="tx1">
                    <a:lumMod val="75000"/>
                    <a:lumOff val="25000"/>
                  </a:schemeClr>
                </a:solidFill>
                <a:latin typeface="+mn-ea"/>
                <a:ea typeface="+mn-ea"/>
              </a:rPr>
              <a:t>age </a:t>
            </a:r>
            <a:r>
              <a:rPr lang="zh-CN" altLang="en-US" sz="1600" dirty="0">
                <a:solidFill>
                  <a:schemeClr val="tx1">
                    <a:lumMod val="75000"/>
                    <a:lumOff val="25000"/>
                  </a:schemeClr>
                </a:solidFill>
                <a:latin typeface="+mn-ea"/>
                <a:ea typeface="+mn-ea"/>
              </a:rPr>
              <a:t>的数据类型要和</a:t>
            </a:r>
            <a:r>
              <a:rPr lang="en-US" altLang="zh-CN" sz="1600" dirty="0">
                <a:solidFill>
                  <a:schemeClr val="tx1">
                    <a:lumMod val="75000"/>
                    <a:lumOff val="25000"/>
                  </a:schemeClr>
                </a:solidFill>
                <a:latin typeface="+mn-ea"/>
                <a:ea typeface="+mn-ea"/>
              </a:rPr>
              <a:t>%</a:t>
            </a:r>
            <a:r>
              <a:rPr lang="zh-CN" altLang="en-US" sz="1600" dirty="0">
                <a:solidFill>
                  <a:schemeClr val="tx1">
                    <a:lumMod val="75000"/>
                    <a:lumOff val="25000"/>
                  </a:schemeClr>
                </a:solidFill>
                <a:latin typeface="+mn-ea"/>
                <a:ea typeface="+mn-ea"/>
              </a:rPr>
              <a:t>后面的格式字符对应</a:t>
            </a:r>
            <a:r>
              <a:rPr lang="zh-CN" altLang="en-US" sz="1400" dirty="0">
                <a:solidFill>
                  <a:schemeClr val="tx1">
                    <a:lumMod val="75000"/>
                    <a:lumOff val="25000"/>
                  </a:schemeClr>
                </a:solidFill>
                <a:latin typeface="+mn-ea"/>
                <a:ea typeface="+mn-ea"/>
              </a:rPr>
              <a:t>。</a:t>
            </a:r>
            <a:endParaRPr lang="zh-CN" altLang="en-US" sz="1400" dirty="0">
              <a:solidFill>
                <a:schemeClr val="tx1">
                  <a:lumMod val="75000"/>
                  <a:lumOff val="25000"/>
                </a:schemeClr>
              </a:solidFill>
              <a:latin typeface="+mn-ea"/>
              <a:ea typeface="+mn-ea"/>
            </a:endParaRPr>
          </a:p>
        </p:txBody>
      </p:sp>
      <p:sp>
        <p:nvSpPr>
          <p:cNvPr id="31750" name="Rectangle 11"/>
          <p:cNvSpPr>
            <a:spLocks noChangeArrowheads="1"/>
          </p:cNvSpPr>
          <p:nvPr/>
        </p:nvSpPr>
        <p:spPr bwMode="auto">
          <a:xfrm>
            <a:off x="0" y="18859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6" name="标题 15"/>
          <p:cNvSpPr>
            <a:spLocks noGrp="1"/>
          </p:cNvSpPr>
          <p:nvPr>
            <p:ph type="title"/>
          </p:nvPr>
        </p:nvSpPr>
        <p:spPr>
          <a:xfrm>
            <a:off x="2195739" y="141482"/>
            <a:ext cx="6768877" cy="368300"/>
          </a:xfrm>
        </p:spPr>
        <p:txBody>
          <a:bodyPr/>
          <a:lstStyle/>
          <a:p>
            <a:pPr>
              <a:defRPr/>
            </a:pPr>
            <a:r>
              <a:rPr lang="zh-CN" dirty="0"/>
              <a:t>如何使用字符串格式化</a:t>
            </a:r>
            <a:endParaRPr lang="zh-CN" dirty="0"/>
          </a:p>
        </p:txBody>
      </p:sp>
      <p:pic>
        <p:nvPicPr>
          <p:cNvPr id="4" name="图片 3" descr="CR7L}0M(4~V02%09954BV4K"/>
          <p:cNvPicPr>
            <a:picLocks noChangeAspect="1"/>
          </p:cNvPicPr>
          <p:nvPr/>
        </p:nvPicPr>
        <p:blipFill>
          <a:blip r:embed="rId1"/>
          <a:stretch>
            <a:fillRect/>
          </a:stretch>
        </p:blipFill>
        <p:spPr>
          <a:xfrm>
            <a:off x="1922145" y="1727835"/>
            <a:ext cx="5009515" cy="1095375"/>
          </a:xfrm>
          <a:prstGeom prst="rect">
            <a:avLst/>
          </a:prstGeom>
        </p:spPr>
      </p:pic>
      <p:sp>
        <p:nvSpPr>
          <p:cNvPr id="2" name="文本框 1"/>
          <p:cNvSpPr txBox="1"/>
          <p:nvPr/>
        </p:nvSpPr>
        <p:spPr>
          <a:xfrm>
            <a:off x="451485" y="812165"/>
            <a:ext cx="2443480" cy="368300"/>
          </a:xfrm>
          <a:prstGeom prst="rect">
            <a:avLst/>
          </a:prstGeom>
          <a:noFill/>
        </p:spPr>
        <p:txBody>
          <a:bodyPr wrap="none" rtlCol="0">
            <a:spAutoFit/>
          </a:bodyPr>
          <a:lstStyle/>
          <a:p>
            <a:r>
              <a:rPr lang="zh-CN" altLang="en-US">
                <a:latin typeface="+mn-ea"/>
                <a:ea typeface="+mn-ea"/>
                <a:cs typeface="+mn-ea"/>
              </a:rPr>
              <a:t>格式化第一种方式：</a:t>
            </a:r>
            <a:r>
              <a:rPr lang="en-US" altLang="zh-CN">
                <a:latin typeface="+mn-ea"/>
                <a:ea typeface="+mn-ea"/>
                <a:cs typeface="+mn-ea"/>
              </a:rPr>
              <a:t>%</a:t>
            </a:r>
            <a:endParaRPr lang="en-US" altLang="zh-CN">
              <a:latin typeface="+mn-ea"/>
              <a:ea typeface="+mn-ea"/>
              <a:cs typeface="+mn-ea"/>
            </a:endParaRPr>
          </a:p>
        </p:txBody>
      </p:sp>
      <p:sp>
        <p:nvSpPr>
          <p:cNvPr id="528390" name="Rectangle 6"/>
          <p:cNvSpPr>
            <a:spLocks noChangeArrowheads="1"/>
          </p:cNvSpPr>
          <p:nvPr/>
        </p:nvSpPr>
        <p:spPr bwMode="auto">
          <a:xfrm>
            <a:off x="1922145" y="2351405"/>
            <a:ext cx="4511040" cy="241300"/>
          </a:xfrm>
          <a:prstGeom prst="rect">
            <a:avLst/>
          </a:prstGeom>
          <a:solidFill>
            <a:srgbClr val="FFDDDD">
              <a:alpha val="10196"/>
            </a:srgbClr>
          </a:solidFill>
          <a:ln w="28575" algn="ctr">
            <a:solidFill>
              <a:srgbClr val="C00000"/>
            </a:solidFill>
            <a:miter lim="800000"/>
          </a:ln>
        </p:spPr>
        <p:txBody>
          <a:bodyPr wrap="none" anchor="ctr"/>
          <a:lstStyle/>
          <a:p>
            <a:endParaRPr lang="zh-CN" altLang="en-US">
              <a:solidFill>
                <a:srgbClr val="FF0000"/>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28390"/>
                                        </p:tgtEl>
                                        <p:attrNameLst>
                                          <p:attrName>style.visibility</p:attrName>
                                        </p:attrNameLst>
                                      </p:cBhvr>
                                      <p:to>
                                        <p:strVal val="visible"/>
                                      </p:to>
                                    </p:set>
                                    <p:animEffect transition="in" filter="fade">
                                      <p:cBhvr>
                                        <p:cTn id="12" dur="1000"/>
                                        <p:tgtEl>
                                          <p:spTgt spid="528390"/>
                                        </p:tgtEl>
                                      </p:cBhvr>
                                    </p:animEffect>
                                    <p:anim calcmode="lin" valueType="num">
                                      <p:cBhvr>
                                        <p:cTn id="13" dur="1000" fill="hold"/>
                                        <p:tgtEl>
                                          <p:spTgt spid="528390"/>
                                        </p:tgtEl>
                                        <p:attrNameLst>
                                          <p:attrName>ppt_x</p:attrName>
                                        </p:attrNameLst>
                                      </p:cBhvr>
                                      <p:tavLst>
                                        <p:tav tm="0">
                                          <p:val>
                                            <p:strVal val="#ppt_x"/>
                                          </p:val>
                                        </p:tav>
                                        <p:tav tm="100000">
                                          <p:val>
                                            <p:strVal val="#ppt_x"/>
                                          </p:val>
                                        </p:tav>
                                      </p:tavLst>
                                    </p:anim>
                                    <p:anim calcmode="lin" valueType="num">
                                      <p:cBhvr>
                                        <p:cTn id="14" dur="1000" fill="hold"/>
                                        <p:tgtEl>
                                          <p:spTgt spid="52839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26339"/>
                                        </p:tgtEl>
                                        <p:attrNameLst>
                                          <p:attrName>style.visibility</p:attrName>
                                        </p:attrNameLst>
                                      </p:cBhvr>
                                      <p:to>
                                        <p:strVal val="visible"/>
                                      </p:to>
                                    </p:set>
                                    <p:anim calcmode="lin" valueType="num">
                                      <p:cBhvr additive="base">
                                        <p:cTn id="19" dur="500" fill="hold"/>
                                        <p:tgtEl>
                                          <p:spTgt spid="526339"/>
                                        </p:tgtEl>
                                        <p:attrNameLst>
                                          <p:attrName>ppt_x</p:attrName>
                                        </p:attrNameLst>
                                      </p:cBhvr>
                                      <p:tavLst>
                                        <p:tav tm="0">
                                          <p:val>
                                            <p:strVal val="#ppt_x"/>
                                          </p:val>
                                        </p:tav>
                                        <p:tav tm="100000">
                                          <p:val>
                                            <p:strVal val="#ppt_x"/>
                                          </p:val>
                                        </p:tav>
                                      </p:tavLst>
                                    </p:anim>
                                    <p:anim calcmode="lin" valueType="num">
                                      <p:cBhvr additive="base">
                                        <p:cTn id="20" dur="500" fill="hold"/>
                                        <p:tgtEl>
                                          <p:spTgt spid="5263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39" grpId="0" bldLvl="0" animBg="1"/>
      <p:bldP spid="528390"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8730670" y="812006"/>
            <a:ext cx="184731"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fontAlgn="b" hangingPunct="1"/>
            <a:endParaRPr lang="zh-CN" altLang="en-US" sz="4400" b="1">
              <a:solidFill>
                <a:schemeClr val="tx2"/>
              </a:solidFill>
              <a:latin typeface="Tahoma" panose="020B0604030504040204" pitchFamily="34" charset="0"/>
              <a:cs typeface="Times New Roman" panose="02020603050405020304" pitchFamily="18" charset="0"/>
            </a:endParaRPr>
          </a:p>
        </p:txBody>
      </p:sp>
      <p:sp>
        <p:nvSpPr>
          <p:cNvPr id="526339" name="AutoShape 3"/>
          <p:cNvSpPr>
            <a:spLocks noChangeArrowheads="1"/>
          </p:cNvSpPr>
          <p:nvPr/>
        </p:nvSpPr>
        <p:spPr bwMode="auto">
          <a:xfrm>
            <a:off x="5267960" y="1581785"/>
            <a:ext cx="2970530" cy="1297353"/>
          </a:xfrm>
          <a:prstGeom prst="roundRect">
            <a:avLst>
              <a:gd name="adj" fmla="val 675"/>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sz="1400">
                <a:solidFill>
                  <a:schemeClr val="tx1">
                    <a:lumMod val="75000"/>
                    <a:lumOff val="25000"/>
                  </a:schemeClr>
                </a:solidFill>
                <a:latin typeface="+mn-ea"/>
                <a:ea typeface="+mn-ea"/>
              </a:rPr>
              <a:t>print("%s"%"hello")</a:t>
            </a:r>
            <a:endParaRPr sz="140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sz="1400">
                <a:solidFill>
                  <a:schemeClr val="tx1">
                    <a:lumMod val="75000"/>
                    <a:lumOff val="25000"/>
                  </a:schemeClr>
                </a:solidFill>
                <a:latin typeface="+mn-ea"/>
                <a:ea typeface="+mn-ea"/>
              </a:rPr>
              <a:t>print("%d"%100)</a:t>
            </a:r>
            <a:endParaRPr sz="140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sz="1400">
                <a:solidFill>
                  <a:schemeClr val="tx1">
                    <a:lumMod val="75000"/>
                    <a:lumOff val="25000"/>
                  </a:schemeClr>
                </a:solidFill>
                <a:latin typeface="+mn-ea"/>
                <a:ea typeface="+mn-ea"/>
              </a:rPr>
              <a:t>print("%c"%100)</a:t>
            </a:r>
            <a:endParaRPr sz="140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tabLst>
                <a:tab pos="444500" algn="l"/>
              </a:tabLst>
              <a:defRPr/>
            </a:pPr>
            <a:r>
              <a:rPr sz="1400">
                <a:solidFill>
                  <a:schemeClr val="tx1">
                    <a:lumMod val="75000"/>
                    <a:lumOff val="25000"/>
                  </a:schemeClr>
                </a:solidFill>
                <a:latin typeface="+mn-ea"/>
                <a:ea typeface="+mn-ea"/>
              </a:rPr>
              <a:t>print("%f"%123.45678)</a:t>
            </a:r>
            <a:endParaRPr sz="1400">
              <a:solidFill>
                <a:schemeClr val="tx1">
                  <a:lumMod val="75000"/>
                  <a:lumOff val="25000"/>
                </a:schemeClr>
              </a:solidFill>
              <a:latin typeface="+mn-ea"/>
              <a:ea typeface="+mn-ea"/>
            </a:endParaRPr>
          </a:p>
        </p:txBody>
      </p:sp>
      <p:sp>
        <p:nvSpPr>
          <p:cNvPr id="31750" name="Rectangle 11"/>
          <p:cNvSpPr>
            <a:spLocks noChangeArrowheads="1"/>
          </p:cNvSpPr>
          <p:nvPr/>
        </p:nvSpPr>
        <p:spPr bwMode="auto">
          <a:xfrm>
            <a:off x="0" y="18859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6" name="标题 15"/>
          <p:cNvSpPr>
            <a:spLocks noGrp="1"/>
          </p:cNvSpPr>
          <p:nvPr>
            <p:ph type="title"/>
          </p:nvPr>
        </p:nvSpPr>
        <p:spPr>
          <a:xfrm>
            <a:off x="2195739" y="141482"/>
            <a:ext cx="6768877" cy="368300"/>
          </a:xfrm>
        </p:spPr>
        <p:txBody>
          <a:bodyPr/>
          <a:lstStyle/>
          <a:p>
            <a:pPr>
              <a:defRPr/>
            </a:pPr>
            <a:r>
              <a:rPr lang="zh-CN" dirty="0">
                <a:sym typeface="+mn-ea"/>
              </a:rPr>
              <a:t>如何使用字符串格式化</a:t>
            </a:r>
            <a:endParaRPr dirty="0"/>
          </a:p>
        </p:txBody>
      </p:sp>
      <p:pic>
        <p:nvPicPr>
          <p:cNvPr id="5" name="图片 4" descr="3Y}RVG2~`}@W95)@6_2FT}H"/>
          <p:cNvPicPr>
            <a:picLocks noChangeAspect="1"/>
          </p:cNvPicPr>
          <p:nvPr/>
        </p:nvPicPr>
        <p:blipFill>
          <a:blip r:embed="rId1"/>
          <a:stretch>
            <a:fillRect/>
          </a:stretch>
        </p:blipFill>
        <p:spPr>
          <a:xfrm>
            <a:off x="502920" y="713740"/>
            <a:ext cx="3956050" cy="3956050"/>
          </a:xfrm>
          <a:prstGeom prst="rect">
            <a:avLst/>
          </a:prstGeom>
        </p:spPr>
      </p:pic>
      <p:pic>
        <p:nvPicPr>
          <p:cNvPr id="3" name="图片 2" descr="`XZG$B912DN23X481HTNJO1"/>
          <p:cNvPicPr>
            <a:picLocks noChangeAspect="1"/>
          </p:cNvPicPr>
          <p:nvPr/>
        </p:nvPicPr>
        <p:blipFill>
          <a:blip r:embed="rId2"/>
          <a:stretch>
            <a:fillRect/>
          </a:stretch>
        </p:blipFill>
        <p:spPr>
          <a:xfrm>
            <a:off x="5438775" y="3402965"/>
            <a:ext cx="2628265" cy="1266825"/>
          </a:xfrm>
          <a:prstGeom prst="rect">
            <a:avLst/>
          </a:prstGeom>
        </p:spPr>
      </p:pic>
      <p:sp>
        <p:nvSpPr>
          <p:cNvPr id="4" name="矩形 3"/>
          <p:cNvSpPr/>
          <p:nvPr/>
        </p:nvSpPr>
        <p:spPr>
          <a:xfrm>
            <a:off x="5672455" y="1012190"/>
            <a:ext cx="2160905" cy="36893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一起说出以下结果：</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26339"/>
                                        </p:tgtEl>
                                        <p:attrNameLst>
                                          <p:attrName>style.visibility</p:attrName>
                                        </p:attrNameLst>
                                      </p:cBhvr>
                                      <p:to>
                                        <p:strVal val="visible"/>
                                      </p:to>
                                    </p:set>
                                    <p:animEffect transition="in" filter="diamond(in)">
                                      <p:cBhvr>
                                        <p:cTn id="7" dur="2000"/>
                                        <p:tgtEl>
                                          <p:spTgt spid="52633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39" grpId="0" bldLvl="0" animBg="1"/>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3"/>
          <p:cNvSpPr txBox="1">
            <a:spLocks noChangeArrowheads="1"/>
          </p:cNvSpPr>
          <p:nvPr/>
        </p:nvSpPr>
        <p:spPr bwMode="auto">
          <a:xfrm>
            <a:off x="603251" y="1863725"/>
            <a:ext cx="7642225" cy="969009"/>
          </a:xfrm>
          <a:prstGeom prst="roundRect">
            <a:avLst>
              <a:gd name="adj" fmla="val 0"/>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buFont typeface="Wingdings" panose="05000000000000000000" pitchFamily="2" charset="2"/>
              <a:buNone/>
              <a:tabLst>
                <a:tab pos="444500" algn="l"/>
              </a:tabLst>
              <a:defRPr/>
            </a:pPr>
            <a:r>
              <a:rPr lang="en-US" altLang="zh-CN" sz="1400">
                <a:solidFill>
                  <a:schemeClr val="tx1">
                    <a:lumMod val="75000"/>
                    <a:lumOff val="25000"/>
                  </a:schemeClr>
                </a:solidFill>
                <a:latin typeface="+mn-ea"/>
                <a:ea typeface="+mn-ea"/>
              </a:rPr>
              <a:t>name = input("请输入名字：")</a:t>
            </a:r>
            <a:endParaRPr lang="en-US" altLang="zh-CN" sz="140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buFont typeface="Wingdings" panose="05000000000000000000" pitchFamily="2" charset="2"/>
              <a:buNone/>
              <a:tabLst>
                <a:tab pos="444500" algn="l"/>
              </a:tabLst>
              <a:defRPr/>
            </a:pPr>
            <a:r>
              <a:rPr lang="en-US" altLang="zh-CN" sz="1400">
                <a:solidFill>
                  <a:schemeClr val="tx1">
                    <a:lumMod val="75000"/>
                    <a:lumOff val="25000"/>
                  </a:schemeClr>
                </a:solidFill>
                <a:latin typeface="+mn-ea"/>
                <a:ea typeface="+mn-ea"/>
              </a:rPr>
              <a:t>age = input("请输入年龄：")</a:t>
            </a:r>
            <a:endParaRPr lang="en-US" altLang="zh-CN" sz="140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buFont typeface="Wingdings" panose="05000000000000000000" pitchFamily="2" charset="2"/>
              <a:buNone/>
              <a:tabLst>
                <a:tab pos="444500" algn="l"/>
              </a:tabLst>
              <a:defRPr/>
            </a:pPr>
            <a:r>
              <a:rPr lang="en-US" altLang="zh-CN" sz="1400">
                <a:solidFill>
                  <a:schemeClr val="tx1">
                    <a:lumMod val="75000"/>
                    <a:lumOff val="25000"/>
                  </a:schemeClr>
                </a:solidFill>
                <a:latin typeface="+mn-ea"/>
                <a:ea typeface="+mn-ea"/>
              </a:rPr>
              <a:t>print("学生的名字是：{}，年龄是{}：". format (name, age))</a:t>
            </a:r>
            <a:endParaRPr lang="en-US" altLang="zh-CN" sz="1400">
              <a:solidFill>
                <a:schemeClr val="tx1">
                  <a:lumMod val="75000"/>
                  <a:lumOff val="25000"/>
                </a:schemeClr>
              </a:solidFill>
              <a:latin typeface="+mn-ea"/>
              <a:ea typeface="+mn-ea"/>
            </a:endParaRPr>
          </a:p>
        </p:txBody>
      </p:sp>
      <p:sp>
        <p:nvSpPr>
          <p:cNvPr id="528393" name="Rectangle 9"/>
          <p:cNvSpPr>
            <a:spLocks noGrp="1" noChangeArrowheads="1"/>
          </p:cNvSpPr>
          <p:nvPr>
            <p:ph type="title"/>
          </p:nvPr>
        </p:nvSpPr>
        <p:spPr>
          <a:xfrm>
            <a:off x="2195739" y="141482"/>
            <a:ext cx="6768877" cy="368300"/>
          </a:xfrm>
        </p:spPr>
        <p:txBody>
          <a:bodyPr/>
          <a:lstStyle/>
          <a:p>
            <a:pPr>
              <a:defRPr/>
            </a:pPr>
            <a:r>
              <a:rPr lang="zh-CN" dirty="0">
                <a:sym typeface="+mn-ea"/>
              </a:rPr>
              <a:t>如何使用字符串格式化</a:t>
            </a:r>
            <a:endParaRPr lang="zh-CN" dirty="0">
              <a:sym typeface="+mn-ea"/>
            </a:endParaRPr>
          </a:p>
        </p:txBody>
      </p:sp>
      <p:sp>
        <p:nvSpPr>
          <p:cNvPr id="528388" name="AutoShape 4"/>
          <p:cNvSpPr>
            <a:spLocks noChangeArrowheads="1"/>
          </p:cNvSpPr>
          <p:nvPr/>
        </p:nvSpPr>
        <p:spPr bwMode="auto">
          <a:xfrm>
            <a:off x="4908550" y="3271285"/>
            <a:ext cx="2584450" cy="909791"/>
          </a:xfrm>
          <a:prstGeom prst="wedgeRoundRectCallout">
            <a:avLst>
              <a:gd name="adj1" fmla="val -50176"/>
              <a:gd name="adj2" fmla="val -1562"/>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dirty="0">
                <a:solidFill>
                  <a:schemeClr val="bg1"/>
                </a:solidFill>
                <a:latin typeface="+mn-ea"/>
                <a:ea typeface="+mn-ea"/>
              </a:rPr>
              <a:t>这里</a:t>
            </a:r>
            <a:r>
              <a:rPr lang="en-US" altLang="zh-CN" sz="1600" dirty="0">
                <a:solidFill>
                  <a:schemeClr val="bg1"/>
                </a:solidFill>
                <a:latin typeface="+mn-ea"/>
                <a:ea typeface="+mn-ea"/>
              </a:rPr>
              <a:t>{}</a:t>
            </a:r>
            <a:r>
              <a:rPr lang="zh-CN" altLang="en-US" sz="1600" dirty="0">
                <a:solidFill>
                  <a:schemeClr val="bg1"/>
                </a:solidFill>
                <a:latin typeface="+mn-ea"/>
                <a:ea typeface="+mn-ea"/>
              </a:rPr>
              <a:t>来代替</a:t>
            </a:r>
            <a:r>
              <a:rPr lang="en-US" altLang="zh-CN" sz="1600" dirty="0">
                <a:solidFill>
                  <a:schemeClr val="bg1"/>
                </a:solidFill>
                <a:latin typeface="+mn-ea"/>
                <a:ea typeface="+mn-ea"/>
              </a:rPr>
              <a:t>%</a:t>
            </a:r>
            <a:r>
              <a:rPr lang="zh-CN" altLang="en-US" sz="1600" dirty="0">
                <a:solidFill>
                  <a:schemeClr val="bg1"/>
                </a:solidFill>
                <a:latin typeface="+mn-ea"/>
                <a:ea typeface="+mn-ea"/>
              </a:rPr>
              <a:t>，起到了占位的作用，后面通过</a:t>
            </a:r>
            <a:r>
              <a:rPr lang="en-US" altLang="zh-CN" sz="1600" dirty="0">
                <a:solidFill>
                  <a:schemeClr val="bg1"/>
                </a:solidFill>
                <a:latin typeface="+mn-ea"/>
                <a:ea typeface="+mn-ea"/>
              </a:rPr>
              <a:t>format</a:t>
            </a:r>
            <a:r>
              <a:rPr lang="zh-CN" altLang="en-US" sz="1600" dirty="0">
                <a:solidFill>
                  <a:schemeClr val="bg1"/>
                </a:solidFill>
                <a:latin typeface="+mn-ea"/>
                <a:ea typeface="+mn-ea"/>
              </a:rPr>
              <a:t>方法进行格式化。</a:t>
            </a:r>
            <a:endParaRPr lang="zh-CN" altLang="en-US" sz="1600" dirty="0">
              <a:solidFill>
                <a:schemeClr val="bg1"/>
              </a:solidFill>
              <a:latin typeface="+mn-ea"/>
              <a:ea typeface="+mn-ea"/>
            </a:endParaRPr>
          </a:p>
        </p:txBody>
      </p:sp>
      <p:sp>
        <p:nvSpPr>
          <p:cNvPr id="528390" name="Rectangle 6"/>
          <p:cNvSpPr>
            <a:spLocks noChangeArrowheads="1"/>
          </p:cNvSpPr>
          <p:nvPr/>
        </p:nvSpPr>
        <p:spPr bwMode="auto">
          <a:xfrm>
            <a:off x="617220" y="2499995"/>
            <a:ext cx="2886710" cy="318135"/>
          </a:xfrm>
          <a:prstGeom prst="rect">
            <a:avLst/>
          </a:prstGeom>
          <a:solidFill>
            <a:srgbClr val="FFDDDD">
              <a:alpha val="10196"/>
            </a:srgbClr>
          </a:solidFill>
          <a:ln w="28575" algn="ctr">
            <a:solidFill>
              <a:srgbClr val="C00000"/>
            </a:solidFill>
            <a:miter lim="800000"/>
          </a:ln>
        </p:spPr>
        <p:txBody>
          <a:bodyPr wrap="none" anchor="ctr"/>
          <a:lstStyle/>
          <a:p>
            <a:endParaRPr lang="zh-CN" altLang="en-US">
              <a:solidFill>
                <a:srgbClr val="FF0000"/>
              </a:solidFill>
            </a:endParaRPr>
          </a:p>
        </p:txBody>
      </p:sp>
      <p:sp>
        <p:nvSpPr>
          <p:cNvPr id="19" name="Line 12"/>
          <p:cNvSpPr>
            <a:spLocks noChangeShapeType="1"/>
          </p:cNvSpPr>
          <p:nvPr/>
        </p:nvSpPr>
        <p:spPr bwMode="auto">
          <a:xfrm>
            <a:off x="4692653" y="2944492"/>
            <a:ext cx="357190" cy="214314"/>
          </a:xfrm>
          <a:prstGeom prst="line">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lstStyle/>
          <a:p>
            <a:pPr>
              <a:defRPr/>
            </a:pPr>
            <a:endParaRPr lang="zh-CN" altLang="en-US"/>
          </a:p>
        </p:txBody>
      </p:sp>
      <p:sp>
        <p:nvSpPr>
          <p:cNvPr id="3" name="文本框 2"/>
          <p:cNvSpPr txBox="1"/>
          <p:nvPr/>
        </p:nvSpPr>
        <p:spPr>
          <a:xfrm>
            <a:off x="476885" y="946150"/>
            <a:ext cx="5491480" cy="368300"/>
          </a:xfrm>
          <a:prstGeom prst="rect">
            <a:avLst/>
          </a:prstGeom>
          <a:noFill/>
        </p:spPr>
        <p:txBody>
          <a:bodyPr wrap="none" rtlCol="0">
            <a:spAutoFit/>
          </a:bodyPr>
          <a:lstStyle/>
          <a:p>
            <a:pPr algn="ctr"/>
            <a:r>
              <a:rPr lang="zh-CN" altLang="en-US">
                <a:latin typeface="+mn-ea"/>
                <a:ea typeface="+mn-ea"/>
                <a:cs typeface="+mn-ea"/>
              </a:rPr>
              <a:t>格式化第二种方式：</a:t>
            </a:r>
            <a:r>
              <a:rPr lang="zh-CN" altLang="en-US" dirty="0">
                <a:latin typeface="+mn-ea"/>
                <a:ea typeface="+mn-ea"/>
                <a:cs typeface="+mn-ea"/>
                <a:sym typeface="+mn-ea"/>
              </a:rPr>
              <a:t>使用format方法进行格式化输出</a:t>
            </a:r>
            <a:endParaRPr lang="zh-CN" altLang="en-US">
              <a:latin typeface="+mn-ea"/>
              <a:ea typeface="+mn-ea"/>
              <a:cs typeface="+mn-ea"/>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in)">
                                      <p:cBhvr>
                                        <p:cTn id="7" dur="2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28390"/>
                                        </p:tgtEl>
                                        <p:attrNameLst>
                                          <p:attrName>style.visibility</p:attrName>
                                        </p:attrNameLst>
                                      </p:cBhvr>
                                      <p:to>
                                        <p:strVal val="visible"/>
                                      </p:to>
                                    </p:set>
                                    <p:anim calcmode="lin" valueType="num">
                                      <p:cBhvr additive="base">
                                        <p:cTn id="12" dur="500" fill="hold"/>
                                        <p:tgtEl>
                                          <p:spTgt spid="528390"/>
                                        </p:tgtEl>
                                        <p:attrNameLst>
                                          <p:attrName>ppt_x</p:attrName>
                                        </p:attrNameLst>
                                      </p:cBhvr>
                                      <p:tavLst>
                                        <p:tav tm="0">
                                          <p:val>
                                            <p:strVal val="#ppt_x"/>
                                          </p:val>
                                        </p:tav>
                                        <p:tav tm="100000">
                                          <p:val>
                                            <p:strVal val="#ppt_x"/>
                                          </p:val>
                                        </p:tav>
                                      </p:tavLst>
                                    </p:anim>
                                    <p:anim calcmode="lin" valueType="num">
                                      <p:cBhvr additive="base">
                                        <p:cTn id="13" dur="500" fill="hold"/>
                                        <p:tgtEl>
                                          <p:spTgt spid="52839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500" fill="hold"/>
                                        <p:tgtEl>
                                          <p:spTgt spid="19"/>
                                        </p:tgtEl>
                                        <p:attrNameLst>
                                          <p:attrName>ppt_x</p:attrName>
                                        </p:attrNameLst>
                                      </p:cBhvr>
                                      <p:tavLst>
                                        <p:tav tm="0">
                                          <p:val>
                                            <p:strVal val="#ppt_x"/>
                                          </p:val>
                                        </p:tav>
                                        <p:tav tm="100000">
                                          <p:val>
                                            <p:strVal val="#ppt_x"/>
                                          </p:val>
                                        </p:tav>
                                      </p:tavLst>
                                    </p:anim>
                                    <p:anim calcmode="lin" valueType="num">
                                      <p:cBhvr additive="base">
                                        <p:cTn id="19" dur="500" fill="hold"/>
                                        <p:tgtEl>
                                          <p:spTgt spid="19"/>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5" presetClass="entr" presetSubtype="10" fill="hold" grpId="0" nodeType="afterEffect">
                                  <p:stCondLst>
                                    <p:cond delay="0"/>
                                  </p:stCondLst>
                                  <p:childTnLst>
                                    <p:set>
                                      <p:cBhvr>
                                        <p:cTn id="22" dur="1" fill="hold">
                                          <p:stCondLst>
                                            <p:cond delay="0"/>
                                          </p:stCondLst>
                                        </p:cTn>
                                        <p:tgtEl>
                                          <p:spTgt spid="528388"/>
                                        </p:tgtEl>
                                        <p:attrNameLst>
                                          <p:attrName>style.visibility</p:attrName>
                                        </p:attrNameLst>
                                      </p:cBhvr>
                                      <p:to>
                                        <p:strVal val="visible"/>
                                      </p:to>
                                    </p:set>
                                    <p:animEffect transition="in" filter="checkerboard(across)">
                                      <p:cBhvr>
                                        <p:cTn id="23" dur="500"/>
                                        <p:tgtEl>
                                          <p:spTgt spid="528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528388" grpId="0" bldLvl="0" animBg="1"/>
      <p:bldP spid="528390"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3"/>
          <p:cNvSpPr txBox="1">
            <a:spLocks noChangeArrowheads="1"/>
          </p:cNvSpPr>
          <p:nvPr/>
        </p:nvSpPr>
        <p:spPr bwMode="auto">
          <a:xfrm>
            <a:off x="603251" y="1514475"/>
            <a:ext cx="7642225" cy="2585084"/>
          </a:xfrm>
          <a:prstGeom prst="roundRect">
            <a:avLst>
              <a:gd name="adj" fmla="val 0"/>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buFont typeface="Wingdings" panose="05000000000000000000" pitchFamily="2" charset="2"/>
              <a:buNone/>
              <a:tabLst>
                <a:tab pos="444500" algn="l"/>
              </a:tabLst>
              <a:defRPr/>
            </a:pPr>
            <a:endParaRPr lang="en-US" altLang="zh-CN" sz="140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buFont typeface="Wingdings" panose="05000000000000000000" pitchFamily="2" charset="2"/>
              <a:buNone/>
              <a:tabLst>
                <a:tab pos="444500" algn="l"/>
              </a:tabLst>
              <a:defRPr/>
            </a:pPr>
            <a:r>
              <a:rPr lang="en-US" altLang="zh-CN" sz="1400">
                <a:solidFill>
                  <a:schemeClr val="tx1">
                    <a:lumMod val="75000"/>
                    <a:lumOff val="25000"/>
                  </a:schemeClr>
                </a:solidFill>
                <a:latin typeface="+mn-ea"/>
                <a:ea typeface="+mn-ea"/>
              </a:rPr>
              <a:t>print("</a:t>
            </a:r>
            <a:r>
              <a:rPr lang="zh-CN" altLang="en-US" sz="1400">
                <a:solidFill>
                  <a:schemeClr val="tx1">
                    <a:lumMod val="75000"/>
                    <a:lumOff val="25000"/>
                  </a:schemeClr>
                </a:solidFill>
                <a:latin typeface="+mn-ea"/>
                <a:ea typeface="+mn-ea"/>
              </a:rPr>
              <a:t>名字</a:t>
            </a:r>
            <a:r>
              <a:rPr lang="en-US" altLang="zh-CN" sz="1400">
                <a:solidFill>
                  <a:schemeClr val="tx1">
                    <a:lumMod val="75000"/>
                    <a:lumOff val="25000"/>
                  </a:schemeClr>
                </a:solidFill>
                <a:latin typeface="+mn-ea"/>
                <a:ea typeface="+mn-ea"/>
              </a:rPr>
              <a:t>是：{}，年龄是{}：". format (“</a:t>
            </a:r>
            <a:r>
              <a:rPr lang="zh-CN" altLang="en-US" sz="1400">
                <a:solidFill>
                  <a:schemeClr val="tx1">
                    <a:lumMod val="75000"/>
                    <a:lumOff val="25000"/>
                  </a:schemeClr>
                </a:solidFill>
                <a:latin typeface="+mn-ea"/>
                <a:ea typeface="+mn-ea"/>
              </a:rPr>
              <a:t>成龙</a:t>
            </a:r>
            <a:r>
              <a:rPr lang="en-US" altLang="zh-CN" sz="1400">
                <a:solidFill>
                  <a:schemeClr val="tx1">
                    <a:lumMod val="75000"/>
                    <a:lumOff val="25000"/>
                  </a:schemeClr>
                </a:solidFill>
                <a:latin typeface="+mn-ea"/>
                <a:ea typeface="+mn-ea"/>
              </a:rPr>
              <a:t>”, 20))</a:t>
            </a:r>
            <a:endParaRPr lang="en-US" altLang="zh-CN" sz="140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buFont typeface="Wingdings" panose="05000000000000000000" pitchFamily="2" charset="2"/>
              <a:buNone/>
              <a:tabLst>
                <a:tab pos="444500" algn="l"/>
              </a:tabLst>
              <a:defRPr/>
            </a:pPr>
            <a:r>
              <a:rPr lang="en-US" altLang="zh-CN" sz="1400">
                <a:solidFill>
                  <a:schemeClr val="tx1">
                    <a:lumMod val="75000"/>
                    <a:lumOff val="25000"/>
                  </a:schemeClr>
                </a:solidFill>
                <a:latin typeface="+mn-ea"/>
                <a:ea typeface="+mn-ea"/>
                <a:sym typeface="+mn-ea"/>
              </a:rPr>
              <a:t>print("</a:t>
            </a:r>
            <a:r>
              <a:rPr lang="zh-CN" altLang="en-US" sz="1400">
                <a:solidFill>
                  <a:schemeClr val="tx1">
                    <a:lumMod val="75000"/>
                    <a:lumOff val="25000"/>
                  </a:schemeClr>
                </a:solidFill>
                <a:latin typeface="+mn-ea"/>
                <a:ea typeface="+mn-ea"/>
                <a:sym typeface="+mn-ea"/>
              </a:rPr>
              <a:t>名字</a:t>
            </a:r>
            <a:r>
              <a:rPr lang="en-US" altLang="zh-CN" sz="1400">
                <a:solidFill>
                  <a:schemeClr val="tx1">
                    <a:lumMod val="75000"/>
                    <a:lumOff val="25000"/>
                  </a:schemeClr>
                </a:solidFill>
                <a:latin typeface="+mn-ea"/>
                <a:ea typeface="+mn-ea"/>
                <a:sym typeface="+mn-ea"/>
              </a:rPr>
              <a:t>是：{0}，年龄是{1}：". format (“</a:t>
            </a:r>
            <a:r>
              <a:rPr lang="zh-CN" altLang="en-US" sz="1400">
                <a:solidFill>
                  <a:schemeClr val="tx1">
                    <a:lumMod val="75000"/>
                    <a:lumOff val="25000"/>
                  </a:schemeClr>
                </a:solidFill>
                <a:latin typeface="+mn-ea"/>
                <a:ea typeface="+mn-ea"/>
                <a:sym typeface="+mn-ea"/>
              </a:rPr>
              <a:t>成龙</a:t>
            </a:r>
            <a:r>
              <a:rPr lang="en-US" altLang="zh-CN" sz="1400">
                <a:solidFill>
                  <a:schemeClr val="tx1">
                    <a:lumMod val="75000"/>
                    <a:lumOff val="25000"/>
                  </a:schemeClr>
                </a:solidFill>
                <a:latin typeface="+mn-ea"/>
                <a:ea typeface="+mn-ea"/>
                <a:sym typeface="+mn-ea"/>
              </a:rPr>
              <a:t>”, 20))</a:t>
            </a:r>
            <a:endParaRPr lang="en-US" altLang="zh-CN" sz="1400">
              <a:solidFill>
                <a:schemeClr val="tx1">
                  <a:lumMod val="75000"/>
                  <a:lumOff val="25000"/>
                </a:schemeClr>
              </a:solidFill>
              <a:latin typeface="+mn-ea"/>
              <a:ea typeface="+mn-ea"/>
              <a:sym typeface="+mn-ea"/>
            </a:endParaRPr>
          </a:p>
          <a:p>
            <a:pPr marL="224155" lvl="1" indent="-224155" algn="l" defTabSz="381000">
              <a:lnSpc>
                <a:spcPct val="150000"/>
              </a:lnSpc>
              <a:buClr>
                <a:schemeClr val="folHlink"/>
              </a:buClr>
              <a:buSzPct val="60000"/>
              <a:buFont typeface="Wingdings" panose="05000000000000000000" pitchFamily="2" charset="2"/>
              <a:buNone/>
              <a:tabLst>
                <a:tab pos="444500" algn="l"/>
              </a:tabLst>
              <a:defRPr/>
            </a:pPr>
            <a:endParaRPr lang="en-US" altLang="zh-CN" sz="1400">
              <a:solidFill>
                <a:schemeClr val="tx1">
                  <a:lumMod val="75000"/>
                  <a:lumOff val="25000"/>
                </a:schemeClr>
              </a:solidFill>
              <a:latin typeface="+mn-ea"/>
              <a:ea typeface="+mn-ea"/>
              <a:sym typeface="+mn-ea"/>
            </a:endParaRPr>
          </a:p>
          <a:p>
            <a:pPr marL="224155" lvl="1" indent="-224155" algn="l" defTabSz="381000">
              <a:lnSpc>
                <a:spcPct val="150000"/>
              </a:lnSpc>
              <a:buClr>
                <a:schemeClr val="folHlink"/>
              </a:buClr>
              <a:buSzPct val="60000"/>
              <a:buFont typeface="Wingdings" panose="05000000000000000000" pitchFamily="2" charset="2"/>
              <a:buNone/>
              <a:tabLst>
                <a:tab pos="444500" algn="l"/>
              </a:tabLst>
              <a:defRPr/>
            </a:pPr>
            <a:r>
              <a:rPr lang="en-US" altLang="zh-CN" sz="1400">
                <a:solidFill>
                  <a:schemeClr val="tx1">
                    <a:lumMod val="75000"/>
                    <a:lumOff val="25000"/>
                  </a:schemeClr>
                </a:solidFill>
                <a:latin typeface="+mn-ea"/>
                <a:ea typeface="+mn-ea"/>
                <a:sym typeface="+mn-ea"/>
              </a:rPr>
              <a:t>print("{1}----</a:t>
            </a:r>
            <a:r>
              <a:rPr lang="zh-CN" altLang="en-US" sz="1400">
                <a:solidFill>
                  <a:schemeClr val="tx1">
                    <a:lumMod val="75000"/>
                    <a:lumOff val="25000"/>
                  </a:schemeClr>
                </a:solidFill>
                <a:latin typeface="+mn-ea"/>
                <a:ea typeface="+mn-ea"/>
                <a:sym typeface="+mn-ea"/>
              </a:rPr>
              <a:t>名字</a:t>
            </a:r>
            <a:r>
              <a:rPr lang="en-US" altLang="zh-CN" sz="1400">
                <a:solidFill>
                  <a:schemeClr val="tx1">
                    <a:lumMod val="75000"/>
                    <a:lumOff val="25000"/>
                  </a:schemeClr>
                </a:solidFill>
                <a:latin typeface="+mn-ea"/>
                <a:ea typeface="+mn-ea"/>
                <a:sym typeface="+mn-ea"/>
              </a:rPr>
              <a:t>是：{0}，年龄是{1}：". format (“</a:t>
            </a:r>
            <a:r>
              <a:rPr lang="zh-CN" altLang="en-US" sz="1400">
                <a:solidFill>
                  <a:schemeClr val="tx1">
                    <a:lumMod val="75000"/>
                    <a:lumOff val="25000"/>
                  </a:schemeClr>
                </a:solidFill>
                <a:latin typeface="+mn-ea"/>
                <a:ea typeface="+mn-ea"/>
                <a:sym typeface="+mn-ea"/>
              </a:rPr>
              <a:t>成龙</a:t>
            </a:r>
            <a:r>
              <a:rPr lang="en-US" altLang="zh-CN" sz="1400">
                <a:solidFill>
                  <a:schemeClr val="tx1">
                    <a:lumMod val="75000"/>
                    <a:lumOff val="25000"/>
                  </a:schemeClr>
                </a:solidFill>
                <a:latin typeface="+mn-ea"/>
                <a:ea typeface="+mn-ea"/>
                <a:sym typeface="+mn-ea"/>
              </a:rPr>
              <a:t>”, 20))</a:t>
            </a:r>
            <a:endParaRPr lang="en-US" altLang="zh-CN" sz="1400">
              <a:solidFill>
                <a:schemeClr val="tx1">
                  <a:lumMod val="75000"/>
                  <a:lumOff val="25000"/>
                </a:schemeClr>
              </a:solidFill>
              <a:latin typeface="+mn-ea"/>
              <a:ea typeface="+mn-ea"/>
              <a:sym typeface="+mn-ea"/>
            </a:endParaRPr>
          </a:p>
          <a:p>
            <a:pPr marL="224155" lvl="1" indent="-224155" algn="l" defTabSz="381000">
              <a:lnSpc>
                <a:spcPct val="150000"/>
              </a:lnSpc>
              <a:buClr>
                <a:schemeClr val="folHlink"/>
              </a:buClr>
              <a:buSzPct val="60000"/>
              <a:buFont typeface="Wingdings" panose="05000000000000000000" pitchFamily="2" charset="2"/>
              <a:buNone/>
              <a:tabLst>
                <a:tab pos="444500" algn="l"/>
              </a:tabLst>
              <a:defRPr/>
            </a:pPr>
            <a:endParaRPr lang="en-US" altLang="zh-CN" sz="140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buFont typeface="Wingdings" panose="05000000000000000000" pitchFamily="2" charset="2"/>
              <a:buNone/>
              <a:tabLst>
                <a:tab pos="444500" algn="l"/>
              </a:tabLst>
              <a:defRPr/>
            </a:pPr>
            <a:r>
              <a:rPr lang="en-US" altLang="zh-CN" sz="1400">
                <a:solidFill>
                  <a:schemeClr val="tx1">
                    <a:lumMod val="75000"/>
                    <a:lumOff val="25000"/>
                  </a:schemeClr>
                </a:solidFill>
                <a:latin typeface="+mn-ea"/>
                <a:ea typeface="+mn-ea"/>
              </a:rPr>
              <a:t>s = "我叫{name}，今年{age}，爱好{hobby}"</a:t>
            </a:r>
            <a:endParaRPr lang="en-US" altLang="zh-CN" sz="140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buFont typeface="Wingdings" panose="05000000000000000000" pitchFamily="2" charset="2"/>
              <a:buNone/>
              <a:tabLst>
                <a:tab pos="444500" algn="l"/>
              </a:tabLst>
              <a:defRPr/>
            </a:pPr>
            <a:r>
              <a:rPr lang="en-US" altLang="zh-CN" sz="1400">
                <a:solidFill>
                  <a:schemeClr val="tx1">
                    <a:lumMod val="75000"/>
                    <a:lumOff val="25000"/>
                  </a:schemeClr>
                </a:solidFill>
                <a:latin typeface="+mn-ea"/>
                <a:ea typeface="+mn-ea"/>
              </a:rPr>
              <a:t>s1= s.format(age=25,hobby='girl',name='</a:t>
            </a:r>
            <a:r>
              <a:rPr lang="zh-CN" altLang="en-US" sz="1400">
                <a:solidFill>
                  <a:schemeClr val="tx1">
                    <a:lumMod val="75000"/>
                    <a:lumOff val="25000"/>
                  </a:schemeClr>
                </a:solidFill>
                <a:latin typeface="+mn-ea"/>
                <a:ea typeface="+mn-ea"/>
              </a:rPr>
              <a:t>雷帝嘎嘎</a:t>
            </a:r>
            <a:r>
              <a:rPr lang="en-US" altLang="zh-CN" sz="1400">
                <a:solidFill>
                  <a:schemeClr val="tx1">
                    <a:lumMod val="75000"/>
                    <a:lumOff val="25000"/>
                  </a:schemeClr>
                </a:solidFill>
                <a:latin typeface="+mn-ea"/>
                <a:ea typeface="+mn-ea"/>
              </a:rPr>
              <a:t>')</a:t>
            </a:r>
            <a:endParaRPr lang="en-US" altLang="zh-CN" sz="1400">
              <a:solidFill>
                <a:schemeClr val="tx1">
                  <a:lumMod val="75000"/>
                  <a:lumOff val="25000"/>
                </a:schemeClr>
              </a:solidFill>
              <a:latin typeface="+mn-ea"/>
              <a:ea typeface="+mn-ea"/>
            </a:endParaRPr>
          </a:p>
        </p:txBody>
      </p:sp>
      <p:sp>
        <p:nvSpPr>
          <p:cNvPr id="528393" name="Rectangle 9"/>
          <p:cNvSpPr>
            <a:spLocks noGrp="1" noChangeArrowheads="1"/>
          </p:cNvSpPr>
          <p:nvPr>
            <p:ph type="title"/>
          </p:nvPr>
        </p:nvSpPr>
        <p:spPr>
          <a:xfrm>
            <a:off x="2195739" y="141482"/>
            <a:ext cx="6768877" cy="368300"/>
          </a:xfrm>
        </p:spPr>
        <p:txBody>
          <a:bodyPr/>
          <a:lstStyle/>
          <a:p>
            <a:pPr>
              <a:defRPr/>
            </a:pPr>
            <a:r>
              <a:rPr lang="zh-CN" dirty="0">
                <a:sym typeface="+mn-ea"/>
              </a:rPr>
              <a:t>如何使用字符串格式化</a:t>
            </a:r>
            <a:endParaRPr lang="zh-CN" dirty="0">
              <a:sym typeface="+mn-ea"/>
            </a:endParaRPr>
          </a:p>
        </p:txBody>
      </p:sp>
      <p:sp>
        <p:nvSpPr>
          <p:cNvPr id="528388" name="AutoShape 4"/>
          <p:cNvSpPr>
            <a:spLocks noChangeArrowheads="1"/>
          </p:cNvSpPr>
          <p:nvPr/>
        </p:nvSpPr>
        <p:spPr bwMode="auto">
          <a:xfrm>
            <a:off x="6039485" y="2069394"/>
            <a:ext cx="2385060" cy="1738136"/>
          </a:xfrm>
          <a:prstGeom prst="wedgeRoundRectCallout">
            <a:avLst>
              <a:gd name="adj1" fmla="val -50176"/>
              <a:gd name="adj2" fmla="val -1562"/>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defRPr/>
            </a:pPr>
            <a:r>
              <a:rPr lang="zh-CN" altLang="en-US" sz="1600" dirty="0">
                <a:solidFill>
                  <a:schemeClr val="bg1"/>
                </a:solidFill>
                <a:latin typeface="+mn-ea"/>
                <a:ea typeface="+mn-ea"/>
              </a:rPr>
              <a:t>这里</a:t>
            </a:r>
            <a:r>
              <a:rPr lang="en-US" altLang="zh-CN" sz="1600" dirty="0">
                <a:solidFill>
                  <a:schemeClr val="bg1"/>
                </a:solidFill>
                <a:latin typeface="+mn-ea"/>
                <a:ea typeface="+mn-ea"/>
              </a:rPr>
              <a:t>{}</a:t>
            </a:r>
            <a:r>
              <a:rPr lang="zh-CN" altLang="en-US" sz="1600" dirty="0">
                <a:solidFill>
                  <a:schemeClr val="bg1"/>
                </a:solidFill>
                <a:latin typeface="+mn-ea"/>
                <a:ea typeface="+mn-ea"/>
              </a:rPr>
              <a:t>里面的</a:t>
            </a:r>
            <a:r>
              <a:rPr lang="en-US" altLang="zh-CN" sz="1600" dirty="0">
                <a:solidFill>
                  <a:schemeClr val="bg1"/>
                </a:solidFill>
                <a:latin typeface="+mn-ea"/>
                <a:ea typeface="+mn-ea"/>
              </a:rPr>
              <a:t>0 </a:t>
            </a:r>
            <a:r>
              <a:rPr lang="zh-CN" altLang="en-US" sz="1600" dirty="0">
                <a:solidFill>
                  <a:schemeClr val="bg1"/>
                </a:solidFill>
                <a:latin typeface="+mn-ea"/>
                <a:ea typeface="+mn-ea"/>
              </a:rPr>
              <a:t>和</a:t>
            </a:r>
            <a:r>
              <a:rPr lang="en-US" altLang="zh-CN" sz="1600" dirty="0">
                <a:solidFill>
                  <a:schemeClr val="bg1"/>
                </a:solidFill>
                <a:latin typeface="+mn-ea"/>
                <a:ea typeface="+mn-ea"/>
              </a:rPr>
              <a:t>1</a:t>
            </a:r>
            <a:r>
              <a:rPr lang="zh-CN" altLang="en-US" sz="1600" dirty="0">
                <a:solidFill>
                  <a:schemeClr val="bg1"/>
                </a:solidFill>
                <a:latin typeface="+mn-ea"/>
                <a:ea typeface="+mn-ea"/>
              </a:rPr>
              <a:t>来表示参数，</a:t>
            </a:r>
            <a:r>
              <a:rPr lang="en-US" altLang="zh-CN" sz="1600" dirty="0">
                <a:solidFill>
                  <a:schemeClr val="bg1"/>
                </a:solidFill>
                <a:latin typeface="+mn-ea"/>
                <a:ea typeface="+mn-ea"/>
              </a:rPr>
              <a:t>0</a:t>
            </a:r>
            <a:r>
              <a:rPr lang="zh-CN" altLang="en-US" sz="1600" dirty="0">
                <a:solidFill>
                  <a:schemeClr val="bg1"/>
                </a:solidFill>
                <a:latin typeface="+mn-ea"/>
                <a:ea typeface="+mn-ea"/>
              </a:rPr>
              <a:t>表示第一个参数，</a:t>
            </a:r>
            <a:r>
              <a:rPr lang="en-US" altLang="zh-CN" sz="1600" dirty="0">
                <a:solidFill>
                  <a:schemeClr val="bg1"/>
                </a:solidFill>
                <a:latin typeface="+mn-ea"/>
                <a:ea typeface="+mn-ea"/>
              </a:rPr>
              <a:t>1</a:t>
            </a:r>
            <a:r>
              <a:rPr lang="zh-CN" altLang="en-US" sz="1600" dirty="0">
                <a:solidFill>
                  <a:schemeClr val="bg1"/>
                </a:solidFill>
                <a:latin typeface="+mn-ea"/>
                <a:ea typeface="+mn-ea"/>
              </a:rPr>
              <a:t>表示第二个参数，与后面</a:t>
            </a:r>
            <a:r>
              <a:rPr lang="en-US" altLang="zh-CN" sz="1600" dirty="0">
                <a:solidFill>
                  <a:schemeClr val="bg1"/>
                </a:solidFill>
                <a:latin typeface="+mn-ea"/>
                <a:ea typeface="+mn-ea"/>
              </a:rPr>
              <a:t>format</a:t>
            </a:r>
            <a:r>
              <a:rPr lang="zh-CN" altLang="en-US" sz="1600" dirty="0">
                <a:solidFill>
                  <a:schemeClr val="bg1"/>
                </a:solidFill>
                <a:latin typeface="+mn-ea"/>
                <a:ea typeface="+mn-ea"/>
              </a:rPr>
              <a:t>方法里面的参数相互对应。</a:t>
            </a:r>
            <a:endParaRPr lang="zh-CN" altLang="en-US" sz="1600" dirty="0">
              <a:solidFill>
                <a:schemeClr val="bg1"/>
              </a:solidFill>
              <a:latin typeface="+mn-ea"/>
              <a:ea typeface="+mn-ea"/>
            </a:endParaRPr>
          </a:p>
        </p:txBody>
      </p:sp>
      <p:sp>
        <p:nvSpPr>
          <p:cNvPr id="528390" name="Rectangle 6"/>
          <p:cNvSpPr>
            <a:spLocks noChangeArrowheads="1"/>
          </p:cNvSpPr>
          <p:nvPr/>
        </p:nvSpPr>
        <p:spPr bwMode="auto">
          <a:xfrm>
            <a:off x="688975" y="1864995"/>
            <a:ext cx="4866640" cy="664845"/>
          </a:xfrm>
          <a:prstGeom prst="rect">
            <a:avLst/>
          </a:prstGeom>
          <a:solidFill>
            <a:srgbClr val="FFDDDD">
              <a:alpha val="10196"/>
            </a:srgbClr>
          </a:solidFill>
          <a:ln w="28575" algn="ctr">
            <a:solidFill>
              <a:srgbClr val="C00000"/>
            </a:solidFill>
            <a:miter lim="800000"/>
          </a:ln>
        </p:spPr>
        <p:txBody>
          <a:bodyPr wrap="none" anchor="ctr"/>
          <a:lstStyle/>
          <a:p>
            <a:endParaRPr lang="zh-CN" altLang="en-US">
              <a:solidFill>
                <a:srgbClr val="FF0000"/>
              </a:solidFill>
            </a:endParaRPr>
          </a:p>
        </p:txBody>
      </p:sp>
      <p:sp>
        <p:nvSpPr>
          <p:cNvPr id="19" name="Line 12"/>
          <p:cNvSpPr>
            <a:spLocks noChangeShapeType="1"/>
          </p:cNvSpPr>
          <p:nvPr/>
        </p:nvSpPr>
        <p:spPr bwMode="auto">
          <a:xfrm>
            <a:off x="5681983" y="2315207"/>
            <a:ext cx="357190" cy="214314"/>
          </a:xfrm>
          <a:prstGeom prst="line">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lstStyle/>
          <a:p>
            <a:pPr>
              <a:defRPr/>
            </a:pPr>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28390"/>
                                        </p:tgtEl>
                                        <p:attrNameLst>
                                          <p:attrName>style.visibility</p:attrName>
                                        </p:attrNameLst>
                                      </p:cBhvr>
                                      <p:to>
                                        <p:strVal val="visible"/>
                                      </p:to>
                                    </p:set>
                                    <p:anim calcmode="lin" valueType="num">
                                      <p:cBhvr additive="base">
                                        <p:cTn id="12" dur="500" fill="hold"/>
                                        <p:tgtEl>
                                          <p:spTgt spid="528390"/>
                                        </p:tgtEl>
                                        <p:attrNameLst>
                                          <p:attrName>ppt_x</p:attrName>
                                        </p:attrNameLst>
                                      </p:cBhvr>
                                      <p:tavLst>
                                        <p:tav tm="0">
                                          <p:val>
                                            <p:strVal val="#ppt_x"/>
                                          </p:val>
                                        </p:tav>
                                        <p:tav tm="100000">
                                          <p:val>
                                            <p:strVal val="#ppt_x"/>
                                          </p:val>
                                        </p:tav>
                                      </p:tavLst>
                                    </p:anim>
                                    <p:anim calcmode="lin" valueType="num">
                                      <p:cBhvr additive="base">
                                        <p:cTn id="13" dur="500" fill="hold"/>
                                        <p:tgtEl>
                                          <p:spTgt spid="52839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500" fill="hold"/>
                                        <p:tgtEl>
                                          <p:spTgt spid="19"/>
                                        </p:tgtEl>
                                        <p:attrNameLst>
                                          <p:attrName>ppt_x</p:attrName>
                                        </p:attrNameLst>
                                      </p:cBhvr>
                                      <p:tavLst>
                                        <p:tav tm="0">
                                          <p:val>
                                            <p:strVal val="#ppt_x"/>
                                          </p:val>
                                        </p:tav>
                                        <p:tav tm="100000">
                                          <p:val>
                                            <p:strVal val="#ppt_x"/>
                                          </p:val>
                                        </p:tav>
                                      </p:tavLst>
                                    </p:anim>
                                    <p:anim calcmode="lin" valueType="num">
                                      <p:cBhvr additive="base">
                                        <p:cTn id="19" dur="500" fill="hold"/>
                                        <p:tgtEl>
                                          <p:spTgt spid="19"/>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5" presetClass="entr" presetSubtype="10" fill="hold" grpId="0" nodeType="afterEffect">
                                  <p:stCondLst>
                                    <p:cond delay="0"/>
                                  </p:stCondLst>
                                  <p:childTnLst>
                                    <p:set>
                                      <p:cBhvr>
                                        <p:cTn id="22" dur="1" fill="hold">
                                          <p:stCondLst>
                                            <p:cond delay="0"/>
                                          </p:stCondLst>
                                        </p:cTn>
                                        <p:tgtEl>
                                          <p:spTgt spid="528388"/>
                                        </p:tgtEl>
                                        <p:attrNameLst>
                                          <p:attrName>style.visibility</p:attrName>
                                        </p:attrNameLst>
                                      </p:cBhvr>
                                      <p:to>
                                        <p:strVal val="visible"/>
                                      </p:to>
                                    </p:set>
                                    <p:animEffect transition="in" filter="checkerboard(across)">
                                      <p:cBhvr>
                                        <p:cTn id="23" dur="500"/>
                                        <p:tgtEl>
                                          <p:spTgt spid="528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528388" grpId="0" bldLvl="0" animBg="1"/>
      <p:bldP spid="52839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3"/>
          <p:cNvSpPr txBox="1">
            <a:spLocks noChangeArrowheads="1"/>
          </p:cNvSpPr>
          <p:nvPr/>
        </p:nvSpPr>
        <p:spPr bwMode="auto">
          <a:xfrm>
            <a:off x="603251" y="1863725"/>
            <a:ext cx="7642225" cy="969009"/>
          </a:xfrm>
          <a:prstGeom prst="roundRect">
            <a:avLst>
              <a:gd name="adj" fmla="val 0"/>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buFont typeface="Wingdings" panose="05000000000000000000" pitchFamily="2" charset="2"/>
              <a:buNone/>
              <a:tabLst>
                <a:tab pos="444500" algn="l"/>
              </a:tabLst>
              <a:defRPr/>
            </a:pPr>
            <a:r>
              <a:rPr lang="en-US" altLang="zh-CN" sz="1400">
                <a:solidFill>
                  <a:schemeClr val="tx1">
                    <a:lumMod val="75000"/>
                    <a:lumOff val="25000"/>
                  </a:schemeClr>
                </a:solidFill>
                <a:latin typeface="+mn-ea"/>
                <a:ea typeface="+mn-ea"/>
              </a:rPr>
              <a:t>name = input("请输入名字：")</a:t>
            </a:r>
            <a:endParaRPr lang="en-US" altLang="zh-CN" sz="140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buFont typeface="Wingdings" panose="05000000000000000000" pitchFamily="2" charset="2"/>
              <a:buNone/>
              <a:tabLst>
                <a:tab pos="444500" algn="l"/>
              </a:tabLst>
              <a:defRPr/>
            </a:pPr>
            <a:r>
              <a:rPr lang="en-US" altLang="zh-CN" sz="1400">
                <a:solidFill>
                  <a:schemeClr val="tx1">
                    <a:lumMod val="75000"/>
                    <a:lumOff val="25000"/>
                  </a:schemeClr>
                </a:solidFill>
                <a:latin typeface="+mn-ea"/>
                <a:ea typeface="+mn-ea"/>
              </a:rPr>
              <a:t>age = input("请输入年龄：")</a:t>
            </a:r>
            <a:endParaRPr lang="en-US" altLang="zh-CN" sz="1400">
              <a:solidFill>
                <a:schemeClr val="tx1">
                  <a:lumMod val="75000"/>
                  <a:lumOff val="25000"/>
                </a:schemeClr>
              </a:solidFill>
              <a:latin typeface="+mn-ea"/>
              <a:ea typeface="+mn-ea"/>
            </a:endParaRPr>
          </a:p>
          <a:p>
            <a:pPr marL="224155" lvl="1" indent="-224155" algn="l" defTabSz="381000">
              <a:lnSpc>
                <a:spcPct val="150000"/>
              </a:lnSpc>
              <a:buClr>
                <a:schemeClr val="folHlink"/>
              </a:buClr>
              <a:buSzPct val="60000"/>
              <a:buFont typeface="Wingdings" panose="05000000000000000000" pitchFamily="2" charset="2"/>
              <a:buNone/>
              <a:tabLst>
                <a:tab pos="444500" algn="l"/>
              </a:tabLst>
              <a:defRPr/>
            </a:pPr>
            <a:r>
              <a:rPr lang="en-US" altLang="zh-CN" sz="1400">
                <a:solidFill>
                  <a:schemeClr val="tx1">
                    <a:lumMod val="75000"/>
                    <a:lumOff val="25000"/>
                  </a:schemeClr>
                </a:solidFill>
                <a:latin typeface="+mn-ea"/>
                <a:ea typeface="+mn-ea"/>
              </a:rPr>
              <a:t>print(f</a:t>
            </a:r>
            <a:r>
              <a:rPr lang="en-US" altLang="zh-CN" sz="1400">
                <a:solidFill>
                  <a:schemeClr val="tx1">
                    <a:lumMod val="75000"/>
                    <a:lumOff val="25000"/>
                  </a:schemeClr>
                </a:solidFill>
                <a:latin typeface="+mn-ea"/>
                <a:ea typeface="+mn-ea"/>
              </a:rPr>
              <a:t>"学生的名字是：{name}，年龄是: {age}"</a:t>
            </a:r>
            <a:endParaRPr lang="en-US" altLang="zh-CN" sz="1400">
              <a:solidFill>
                <a:schemeClr val="tx1">
                  <a:lumMod val="75000"/>
                  <a:lumOff val="25000"/>
                </a:schemeClr>
              </a:solidFill>
              <a:latin typeface="+mn-ea"/>
              <a:ea typeface="+mn-ea"/>
            </a:endParaRPr>
          </a:p>
        </p:txBody>
      </p:sp>
      <p:sp>
        <p:nvSpPr>
          <p:cNvPr id="528393" name="Rectangle 9"/>
          <p:cNvSpPr>
            <a:spLocks noGrp="1" noChangeArrowheads="1"/>
          </p:cNvSpPr>
          <p:nvPr>
            <p:ph type="title"/>
          </p:nvPr>
        </p:nvSpPr>
        <p:spPr>
          <a:xfrm>
            <a:off x="2195739" y="141482"/>
            <a:ext cx="6768877" cy="368300"/>
          </a:xfrm>
        </p:spPr>
        <p:txBody>
          <a:bodyPr/>
          <a:lstStyle/>
          <a:p>
            <a:pPr>
              <a:defRPr/>
            </a:pPr>
            <a:r>
              <a:rPr lang="zh-CN" dirty="0">
                <a:sym typeface="+mn-ea"/>
              </a:rPr>
              <a:t>如何使用字符串格式化</a:t>
            </a:r>
            <a:endParaRPr lang="zh-CN" dirty="0">
              <a:sym typeface="+mn-ea"/>
            </a:endParaRPr>
          </a:p>
        </p:txBody>
      </p:sp>
      <p:sp>
        <p:nvSpPr>
          <p:cNvPr id="528390" name="Rectangle 6"/>
          <p:cNvSpPr>
            <a:spLocks noChangeArrowheads="1"/>
          </p:cNvSpPr>
          <p:nvPr/>
        </p:nvSpPr>
        <p:spPr bwMode="auto">
          <a:xfrm>
            <a:off x="1146175" y="2514600"/>
            <a:ext cx="3266440" cy="318135"/>
          </a:xfrm>
          <a:prstGeom prst="rect">
            <a:avLst/>
          </a:prstGeom>
          <a:solidFill>
            <a:srgbClr val="FFDDDD">
              <a:alpha val="10196"/>
            </a:srgbClr>
          </a:solidFill>
          <a:ln w="28575" algn="ctr">
            <a:solidFill>
              <a:srgbClr val="C00000"/>
            </a:solidFill>
            <a:miter lim="800000"/>
          </a:ln>
        </p:spPr>
        <p:txBody>
          <a:bodyPr wrap="none" anchor="ctr"/>
          <a:lstStyle/>
          <a:p>
            <a:endParaRPr lang="zh-CN" altLang="en-US">
              <a:solidFill>
                <a:srgbClr val="FF0000"/>
              </a:solidFill>
            </a:endParaRPr>
          </a:p>
        </p:txBody>
      </p:sp>
      <p:sp>
        <p:nvSpPr>
          <p:cNvPr id="3" name="文本框 2"/>
          <p:cNvSpPr txBox="1"/>
          <p:nvPr/>
        </p:nvSpPr>
        <p:spPr>
          <a:xfrm>
            <a:off x="603250" y="1002665"/>
            <a:ext cx="6863080" cy="368300"/>
          </a:xfrm>
          <a:prstGeom prst="rect">
            <a:avLst/>
          </a:prstGeom>
          <a:noFill/>
        </p:spPr>
        <p:txBody>
          <a:bodyPr wrap="none" rtlCol="0">
            <a:spAutoFit/>
          </a:bodyPr>
          <a:lstStyle/>
          <a:p>
            <a:pPr algn="ctr"/>
            <a:r>
              <a:rPr lang="zh-CN" altLang="en-US">
                <a:latin typeface="+mn-ea"/>
                <a:ea typeface="+mn-ea"/>
                <a:cs typeface="+mn-ea"/>
              </a:rPr>
              <a:t>格式化第三种方式：是</a:t>
            </a:r>
            <a:r>
              <a:rPr lang="zh-CN" altLang="en-US" dirty="0">
                <a:latin typeface="+mn-ea"/>
                <a:ea typeface="+mn-ea"/>
                <a:cs typeface="+mn-ea"/>
                <a:sym typeface="+mn-ea"/>
              </a:rPr>
              <a:t>format方法进行格式化输出的一种简写方式</a:t>
            </a:r>
            <a:endParaRPr lang="zh-CN" altLang="en-US" dirty="0">
              <a:latin typeface="+mn-ea"/>
              <a:ea typeface="+mn-ea"/>
              <a:cs typeface="+mn-ea"/>
              <a:sym typeface="+mn-ea"/>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in)">
                                      <p:cBhvr>
                                        <p:cTn id="7" dur="2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28390"/>
                                        </p:tgtEl>
                                        <p:attrNameLst>
                                          <p:attrName>style.visibility</p:attrName>
                                        </p:attrNameLst>
                                      </p:cBhvr>
                                      <p:to>
                                        <p:strVal val="visible"/>
                                      </p:to>
                                    </p:set>
                                    <p:anim calcmode="lin" valueType="num">
                                      <p:cBhvr additive="base">
                                        <p:cTn id="12" dur="500" fill="hold"/>
                                        <p:tgtEl>
                                          <p:spTgt spid="528390"/>
                                        </p:tgtEl>
                                        <p:attrNameLst>
                                          <p:attrName>ppt_x</p:attrName>
                                        </p:attrNameLst>
                                      </p:cBhvr>
                                      <p:tavLst>
                                        <p:tav tm="0">
                                          <p:val>
                                            <p:strVal val="#ppt_x"/>
                                          </p:val>
                                        </p:tav>
                                        <p:tav tm="100000">
                                          <p:val>
                                            <p:strVal val="#ppt_x"/>
                                          </p:val>
                                        </p:tav>
                                      </p:tavLst>
                                    </p:anim>
                                    <p:anim calcmode="lin" valueType="num">
                                      <p:cBhvr additive="base">
                                        <p:cTn id="13" dur="500" fill="hold"/>
                                        <p:tgtEl>
                                          <p:spTgt spid="5283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528390"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课堂编程</a:t>
            </a:r>
            <a:endParaRPr lang="zh-CN" altLang="en-US" dirty="0"/>
          </a:p>
        </p:txBody>
      </p:sp>
      <p:sp>
        <p:nvSpPr>
          <p:cNvPr id="7" name="副标题 6"/>
          <p:cNvSpPr>
            <a:spLocks noGrp="1"/>
          </p:cNvSpPr>
          <p:nvPr>
            <p:ph idx="1"/>
          </p:nvPr>
        </p:nvSpPr>
        <p:spPr/>
        <p:txBody>
          <a:bodyPr/>
          <a:lstStyle/>
          <a:p>
            <a:endParaRPr lang="en-US" altLang="zh-CN" b="1" dirty="0"/>
          </a:p>
          <a:p>
            <a:endParaRPr lang="en-US" altLang="zh-CN" b="1" dirty="0"/>
          </a:p>
          <a:p>
            <a:endParaRPr lang="en-US" altLang="zh-CN" b="1" dirty="0"/>
          </a:p>
          <a:p>
            <a:endParaRPr lang="en-US" altLang="zh-CN" b="1" dirty="0"/>
          </a:p>
          <a:p>
            <a:endParaRPr lang="en-US" altLang="zh-CN" b="1" dirty="0"/>
          </a:p>
          <a:p>
            <a:pPr lvl="1">
              <a:buNone/>
            </a:pPr>
            <a:endParaRPr lang="en-US" altLang="zh-CN" b="1" dirty="0"/>
          </a:p>
          <a:p>
            <a:pPr lvl="1"/>
            <a:endParaRPr lang="zh-CN" altLang="en-US" dirty="0"/>
          </a:p>
        </p:txBody>
      </p:sp>
      <p:sp>
        <p:nvSpPr>
          <p:cNvPr id="33" name="AutoShape 9"/>
          <p:cNvSpPr>
            <a:spLocks noChangeArrowheads="1"/>
          </p:cNvSpPr>
          <p:nvPr/>
        </p:nvSpPr>
        <p:spPr bwMode="auto">
          <a:xfrm>
            <a:off x="842645" y="1058545"/>
            <a:ext cx="7833360" cy="613401"/>
          </a:xfrm>
          <a:prstGeom prst="roundRect">
            <a:avLst>
              <a:gd name="adj" fmla="val 16667"/>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24155" indent="-224155" algn="ctr" defTabSz="381000">
              <a:lnSpc>
                <a:spcPct val="150000"/>
              </a:lnSpc>
              <a:buClr>
                <a:schemeClr val="folHlink"/>
              </a:buClr>
              <a:buSzPct val="60000"/>
              <a:tabLst>
                <a:tab pos="444500" algn="l"/>
              </a:tabLst>
              <a:defRPr/>
            </a:pPr>
            <a:r>
              <a:rPr lang="zh-CN" altLang="en-US" sz="2000" b="1">
                <a:solidFill>
                  <a:schemeClr val="tx1">
                    <a:lumMod val="75000"/>
                    <a:lumOff val="25000"/>
                  </a:schemeClr>
                </a:solidFill>
                <a:latin typeface="+mn-ea"/>
                <a:ea typeface="+mn-ea"/>
              </a:rPr>
              <a:t>输入名字，年龄，职业，使用三种格式化输出方式实现。</a:t>
            </a:r>
            <a:endParaRPr lang="zh-CN" altLang="en-US" sz="2000" b="1">
              <a:solidFill>
                <a:schemeClr val="tx1">
                  <a:lumMod val="75000"/>
                  <a:lumOff val="25000"/>
                </a:schemeClr>
              </a:solidFill>
              <a:latin typeface="+mn-ea"/>
              <a:ea typeface="+mn-ea"/>
            </a:endParaRPr>
          </a:p>
        </p:txBody>
      </p:sp>
      <p:sp>
        <p:nvSpPr>
          <p:cNvPr id="5" name="椭圆 1"/>
          <p:cNvSpPr>
            <a:spLocks noChangeArrowheads="1"/>
          </p:cNvSpPr>
          <p:nvPr/>
        </p:nvSpPr>
        <p:spPr bwMode="auto">
          <a:xfrm>
            <a:off x="1057275" y="2454275"/>
            <a:ext cx="1631315" cy="1539240"/>
          </a:xfrm>
          <a:custGeom>
            <a:avLst/>
            <a:gdLst>
              <a:gd name="T0" fmla="*/ 0 w 1751265"/>
              <a:gd name="T1" fmla="*/ 0 h 1872208"/>
              <a:gd name="T2" fmla="*/ 1751265 w 1751265"/>
              <a:gd name="T3" fmla="*/ 1872208 h 1872208"/>
            </a:gdLst>
            <a:ahLst/>
            <a:cxnLst/>
            <a:rect l="T0" t="T1" r="T2" b="T3"/>
            <a:pathLst>
              <a:path w="1751265" h="1872208">
                <a:moveTo>
                  <a:pt x="936104" y="0"/>
                </a:moveTo>
                <a:cubicBezTo>
                  <a:pt x="1286069" y="0"/>
                  <a:pt x="1591179" y="192044"/>
                  <a:pt x="1751265" y="476797"/>
                </a:cubicBezTo>
                <a:cubicBezTo>
                  <a:pt x="1668191" y="615556"/>
                  <a:pt x="1621028" y="777971"/>
                  <a:pt x="1621028" y="951401"/>
                </a:cubicBezTo>
                <a:cubicBezTo>
                  <a:pt x="1621028" y="1118433"/>
                  <a:pt x="1664775" y="1275246"/>
                  <a:pt x="1741972" y="1410708"/>
                </a:cubicBezTo>
                <a:cubicBezTo>
                  <a:pt x="1580006" y="1687123"/>
                  <a:pt x="1279670" y="1872208"/>
                  <a:pt x="936104" y="1872208"/>
                </a:cubicBezTo>
                <a:cubicBezTo>
                  <a:pt x="419108" y="1872208"/>
                  <a:pt x="0" y="1453100"/>
                  <a:pt x="0" y="936104"/>
                </a:cubicBezTo>
                <a:cubicBezTo>
                  <a:pt x="0" y="419108"/>
                  <a:pt x="419108" y="0"/>
                  <a:pt x="936104" y="0"/>
                </a:cubicBezTo>
                <a:close/>
              </a:path>
            </a:pathLst>
          </a:custGeom>
          <a:solidFill>
            <a:srgbClr val="F49022"/>
          </a:solidFill>
          <a:ln>
            <a:noFill/>
          </a:ln>
          <a:extLst>
            <a:ext uri="{91240B29-F687-4F45-9708-019B960494DF}">
              <a14:hiddenLine xmlns:a14="http://schemas.microsoft.com/office/drawing/2010/main" w="25400">
                <a:solidFill>
                  <a:srgbClr val="395E8A"/>
                </a:solidFill>
                <a:bevel/>
              </a14:hiddenLine>
            </a:ext>
          </a:extLst>
        </p:spPr>
        <p:txBody>
          <a:bodyPr anchor="ctr"/>
          <a:lstStyle/>
          <a:p>
            <a:pPr algn="ctr"/>
            <a:r>
              <a:rPr lang="zh-CN" altLang="en-US">
                <a:solidFill>
                  <a:srgbClr val="FFFFFF"/>
                </a:solidFill>
                <a:latin typeface="宋体" panose="02010600030101010101" pitchFamily="2" charset="-122"/>
                <a:sym typeface="宋体" panose="02010600030101010101" pitchFamily="2" charset="-122"/>
              </a:rPr>
              <a:t>思路分析</a:t>
            </a:r>
            <a:endParaRPr lang="zh-CN" altLang="en-US">
              <a:solidFill>
                <a:srgbClr val="FFFFFF"/>
              </a:solidFill>
              <a:latin typeface="宋体" panose="02010600030101010101" pitchFamily="2" charset="-122"/>
              <a:sym typeface="宋体" panose="02010600030101010101" pitchFamily="2" charset="-122"/>
            </a:endParaRPr>
          </a:p>
        </p:txBody>
      </p:sp>
      <p:sp>
        <p:nvSpPr>
          <p:cNvPr id="6" name="椭圆 1"/>
          <p:cNvSpPr>
            <a:spLocks noChangeArrowheads="1"/>
          </p:cNvSpPr>
          <p:nvPr/>
        </p:nvSpPr>
        <p:spPr bwMode="auto">
          <a:xfrm>
            <a:off x="5279390" y="2454275"/>
            <a:ext cx="1693545" cy="1488440"/>
          </a:xfrm>
          <a:custGeom>
            <a:avLst/>
            <a:gdLst>
              <a:gd name="T0" fmla="*/ 0 w 1751265"/>
              <a:gd name="T1" fmla="*/ 0 h 1872208"/>
              <a:gd name="T2" fmla="*/ 1751265 w 1751265"/>
              <a:gd name="T3" fmla="*/ 1872208 h 1872208"/>
            </a:gdLst>
            <a:ahLst/>
            <a:cxnLst/>
            <a:rect l="T0" t="T1" r="T2" b="T3"/>
            <a:pathLst>
              <a:path w="1751265" h="1872208">
                <a:moveTo>
                  <a:pt x="936104" y="0"/>
                </a:moveTo>
                <a:cubicBezTo>
                  <a:pt x="1286069" y="0"/>
                  <a:pt x="1591179" y="192044"/>
                  <a:pt x="1751265" y="476797"/>
                </a:cubicBezTo>
                <a:cubicBezTo>
                  <a:pt x="1668191" y="615556"/>
                  <a:pt x="1621028" y="777971"/>
                  <a:pt x="1621028" y="951401"/>
                </a:cubicBezTo>
                <a:cubicBezTo>
                  <a:pt x="1621028" y="1118433"/>
                  <a:pt x="1664775" y="1275246"/>
                  <a:pt x="1741972" y="1410708"/>
                </a:cubicBezTo>
                <a:cubicBezTo>
                  <a:pt x="1580006" y="1687123"/>
                  <a:pt x="1279670" y="1872208"/>
                  <a:pt x="936104" y="1872208"/>
                </a:cubicBezTo>
                <a:cubicBezTo>
                  <a:pt x="419108" y="1872208"/>
                  <a:pt x="0" y="1453100"/>
                  <a:pt x="0" y="936104"/>
                </a:cubicBezTo>
                <a:cubicBezTo>
                  <a:pt x="0" y="419108"/>
                  <a:pt x="419108" y="0"/>
                  <a:pt x="936104" y="0"/>
                </a:cubicBezTo>
                <a:close/>
              </a:path>
            </a:pathLst>
          </a:custGeom>
          <a:solidFill>
            <a:srgbClr val="EE3636"/>
          </a:solidFill>
          <a:ln>
            <a:noFill/>
          </a:ln>
          <a:extLst>
            <a:ext uri="{91240B29-F687-4F45-9708-019B960494DF}">
              <a14:hiddenLine xmlns:a14="http://schemas.microsoft.com/office/drawing/2010/main" w="25400">
                <a:solidFill>
                  <a:srgbClr val="395E8A"/>
                </a:solidFill>
                <a:bevel/>
              </a14:hiddenLine>
            </a:ext>
          </a:extLst>
        </p:spPr>
        <p:txBody>
          <a:bodyPr anchor="ctr"/>
          <a:lstStyle/>
          <a:p>
            <a:pPr algn="ctr"/>
            <a:r>
              <a:rPr lang="zh-CN" altLang="zh-CN">
                <a:solidFill>
                  <a:srgbClr val="FFFFFF"/>
                </a:solidFill>
                <a:latin typeface="宋体" panose="02010600030101010101" pitchFamily="2" charset="-122"/>
                <a:sym typeface="宋体" panose="02010600030101010101" pitchFamily="2" charset="-122"/>
              </a:rPr>
              <a:t>代码实现</a:t>
            </a:r>
            <a:endParaRPr lang="zh-CN" altLang="zh-CN">
              <a:solidFill>
                <a:srgbClr val="FFFFFF"/>
              </a:solidFill>
              <a:latin typeface="宋体" panose="02010600030101010101" pitchFamily="2" charset="-122"/>
              <a:sym typeface="宋体" panose="02010600030101010101" pitchFamily="2" charset="-122"/>
            </a:endParaRPr>
          </a:p>
        </p:txBody>
      </p:sp>
      <p:cxnSp>
        <p:nvCxnSpPr>
          <p:cNvPr id="19" name="直接箭头连接符 18"/>
          <p:cNvCxnSpPr/>
          <p:nvPr/>
        </p:nvCxnSpPr>
        <p:spPr bwMode="auto">
          <a:xfrm>
            <a:off x="2939415" y="3223895"/>
            <a:ext cx="2088515" cy="0"/>
          </a:xfrm>
          <a:prstGeom prst="straightConnector1">
            <a:avLst/>
          </a:prstGeom>
          <a:ln w="38100">
            <a:headEnd type="none" w="med" len="med"/>
            <a:tailEnd type="triangl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2"/>
          </a:lnRef>
          <a:fillRef idx="0">
            <a:schemeClr val="accent2"/>
          </a:fillRef>
          <a:effectRef idx="2">
            <a:schemeClr val="accent2"/>
          </a:effectRef>
          <a:fontRef idx="minor">
            <a:schemeClr val="tx1"/>
          </a:fontRef>
        </p:style>
      </p:cxn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amond(in)">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checkerboard(across)">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p:bldP spid="5"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第四节课</a:t>
            </a:r>
            <a:endParaRPr lang="zh-CN" altLang="en-US"/>
          </a:p>
        </p:txBody>
      </p:sp>
      <p:sp>
        <p:nvSpPr>
          <p:cNvPr id="3" name="文本框 2"/>
          <p:cNvSpPr txBox="1"/>
          <p:nvPr/>
        </p:nvSpPr>
        <p:spPr>
          <a:xfrm>
            <a:off x="2301240" y="2355850"/>
            <a:ext cx="4622800" cy="645160"/>
          </a:xfrm>
          <a:prstGeom prst="rect">
            <a:avLst/>
          </a:prstGeom>
          <a:noFill/>
        </p:spPr>
        <p:txBody>
          <a:bodyPr wrap="square" rtlCol="0">
            <a:spAutoFit/>
          </a:bodyPr>
          <a:lstStyle/>
          <a:p>
            <a:r>
              <a:rPr lang="zh-CN" altLang="en-US" sz="3600" b="1"/>
              <a:t>字符串常用方法</a:t>
            </a:r>
            <a:endParaRPr lang="zh-CN" altLang="en-US" sz="3600" b="1"/>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6" name="Rectangle 8"/>
          <p:cNvSpPr>
            <a:spLocks noGrp="1" noChangeArrowheads="1"/>
          </p:cNvSpPr>
          <p:nvPr>
            <p:ph type="title"/>
          </p:nvPr>
        </p:nvSpPr>
        <p:spPr>
          <a:xfrm>
            <a:off x="2195739" y="141482"/>
            <a:ext cx="6768877" cy="368300"/>
          </a:xfrm>
        </p:spPr>
        <p:txBody>
          <a:bodyPr/>
          <a:lstStyle/>
          <a:p>
            <a:pPr>
              <a:defRPr/>
            </a:pPr>
            <a:r>
              <a:rPr lang="zh-CN" altLang="en-US" dirty="0"/>
              <a:t>字符串常用方法</a:t>
            </a:r>
            <a:endParaRPr lang="zh-CN" altLang="en-US" dirty="0"/>
          </a:p>
        </p:txBody>
      </p:sp>
      <p:pic>
        <p:nvPicPr>
          <p:cNvPr id="4" name="图片 3" descr="CG$6W(C8~]]@Z}6%}C(GN`F"/>
          <p:cNvPicPr>
            <a:picLocks noChangeAspect="1"/>
          </p:cNvPicPr>
          <p:nvPr/>
        </p:nvPicPr>
        <p:blipFill>
          <a:blip r:embed="rId1">
            <a:clrChange>
              <a:clrFrom>
                <a:srgbClr val="CAEACE">
                  <a:alpha val="100000"/>
                </a:srgbClr>
              </a:clrFrom>
              <a:clrTo>
                <a:srgbClr val="CAEACE">
                  <a:alpha val="100000"/>
                  <a:alpha val="0"/>
                </a:srgbClr>
              </a:clrTo>
            </a:clrChange>
          </a:blip>
          <a:stretch>
            <a:fillRect/>
          </a:stretch>
        </p:blipFill>
        <p:spPr>
          <a:xfrm>
            <a:off x="1012825" y="701675"/>
            <a:ext cx="6953250" cy="4305935"/>
          </a:xfrm>
          <a:prstGeom prst="rect">
            <a:avLst/>
          </a:prstGeom>
          <a:solidFill>
            <a:schemeClr val="accent1">
              <a:lumMod val="60000"/>
              <a:lumOff val="40000"/>
            </a:schemeClr>
          </a:solidFill>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edg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6" name="Rectangle 8"/>
          <p:cNvSpPr>
            <a:spLocks noGrp="1" noChangeArrowheads="1"/>
          </p:cNvSpPr>
          <p:nvPr>
            <p:ph type="title"/>
          </p:nvPr>
        </p:nvSpPr>
        <p:spPr>
          <a:xfrm>
            <a:off x="2195739" y="141482"/>
            <a:ext cx="6768877" cy="368300"/>
          </a:xfrm>
        </p:spPr>
        <p:txBody>
          <a:bodyPr/>
          <a:lstStyle/>
          <a:p>
            <a:pPr>
              <a:defRPr/>
            </a:pPr>
            <a:r>
              <a:rPr lang="zh-CN" altLang="en-US" dirty="0">
                <a:sym typeface="+mn-ea"/>
              </a:rPr>
              <a:t>字符串常用方法</a:t>
            </a:r>
            <a:r>
              <a:rPr lang="en-US" altLang="zh-CN" dirty="0">
                <a:sym typeface="+mn-ea"/>
              </a:rPr>
              <a:t>-</a:t>
            </a:r>
            <a:r>
              <a:rPr lang="en-US" altLang="zh-CN" dirty="0">
                <a:latin typeface="+mn-ea"/>
                <a:ea typeface="+mn-ea"/>
                <a:sym typeface="+mn-ea"/>
              </a:rPr>
              <a:t>strip()</a:t>
            </a:r>
            <a:endParaRPr lang="en-US" altLang="zh-CN" dirty="0">
              <a:latin typeface="+mn-ea"/>
              <a:ea typeface="+mn-ea"/>
              <a:sym typeface="+mn-ea"/>
            </a:endParaRPr>
          </a:p>
        </p:txBody>
      </p:sp>
      <p:sp>
        <p:nvSpPr>
          <p:cNvPr id="12" name="AutoShape 3"/>
          <p:cNvSpPr>
            <a:spLocks noChangeArrowheads="1"/>
          </p:cNvSpPr>
          <p:nvPr/>
        </p:nvSpPr>
        <p:spPr bwMode="auto">
          <a:xfrm>
            <a:off x="1217930" y="1105535"/>
            <a:ext cx="3814445" cy="1942101"/>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cs typeface="+mn-ea"/>
              </a:rPr>
              <a:t># </a:t>
            </a:r>
            <a:r>
              <a:rPr lang="zh-CN" altLang="en-US" sz="1400" dirty="0">
                <a:solidFill>
                  <a:schemeClr val="tx1">
                    <a:lumMod val="75000"/>
                    <a:lumOff val="25000"/>
                  </a:schemeClr>
                </a:solidFill>
                <a:latin typeface="+mn-ea"/>
                <a:ea typeface="+mn-ea"/>
                <a:cs typeface="+mn-ea"/>
              </a:rPr>
              <a:t>删除字符串两边的空格  </a:t>
            </a:r>
            <a:r>
              <a:rPr lang="en-US" altLang="zh-CN" sz="1400" dirty="0">
                <a:solidFill>
                  <a:schemeClr val="tx1">
                    <a:lumMod val="75000"/>
                    <a:lumOff val="25000"/>
                  </a:schemeClr>
                </a:solidFill>
                <a:latin typeface="+mn-ea"/>
                <a:ea typeface="+mn-ea"/>
                <a:cs typeface="+mn-ea"/>
              </a:rPr>
              <a:t>strip()</a:t>
            </a:r>
            <a:endParaRPr lang="en-US" altLang="zh-CN" sz="1400" dirty="0">
              <a:solidFill>
                <a:schemeClr val="tx1">
                  <a:lumMod val="75000"/>
                  <a:lumOff val="25000"/>
                </a:schemeClr>
              </a:solidFill>
              <a:latin typeface="+mn-ea"/>
              <a:ea typeface="+mn-ea"/>
              <a:cs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cs typeface="+mn-ea"/>
              </a:rPr>
              <a:t>         s = “      hello     ”</a:t>
            </a:r>
            <a:endParaRPr lang="en-US" altLang="zh-CN" sz="1400" dirty="0">
              <a:solidFill>
                <a:schemeClr val="tx1">
                  <a:lumMod val="75000"/>
                  <a:lumOff val="25000"/>
                </a:schemeClr>
              </a:solidFill>
              <a:latin typeface="+mn-ea"/>
              <a:ea typeface="+mn-ea"/>
              <a:cs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cs typeface="+mn-ea"/>
              </a:rPr>
              <a:t>         h =s.strip()</a:t>
            </a:r>
            <a:endParaRPr lang="en-US" altLang="zh-CN" sz="1400" dirty="0">
              <a:solidFill>
                <a:schemeClr val="tx1">
                  <a:lumMod val="75000"/>
                  <a:lumOff val="25000"/>
                </a:schemeClr>
              </a:solidFill>
              <a:latin typeface="+mn-ea"/>
              <a:ea typeface="+mn-ea"/>
              <a:cs typeface="+mn-ea"/>
            </a:endParaRPr>
          </a:p>
          <a:p>
            <a:pPr marL="224155" lvl="1" indent="-224155" algn="l" defTabSz="381000">
              <a:lnSpc>
                <a:spcPct val="150000"/>
              </a:lnSpc>
              <a:buClr>
                <a:schemeClr val="folHlink"/>
              </a:buClr>
              <a:buSzPct val="60000"/>
              <a:tabLst>
                <a:tab pos="444500" algn="l"/>
              </a:tabLst>
              <a:defRPr/>
            </a:pPr>
            <a:r>
              <a:rPr lang="en-US" altLang="zh-CN" sz="1400" dirty="0">
                <a:solidFill>
                  <a:schemeClr val="tx1">
                    <a:lumMod val="75000"/>
                    <a:lumOff val="25000"/>
                  </a:schemeClr>
                </a:solidFill>
                <a:latin typeface="+mn-ea"/>
                <a:ea typeface="+mn-ea"/>
                <a:cs typeface="+mn-ea"/>
              </a:rPr>
              <a:t>         print(s)</a:t>
            </a:r>
            <a:endParaRPr lang="en-US" altLang="zh-CN" sz="1400" dirty="0">
              <a:solidFill>
                <a:schemeClr val="tx1">
                  <a:lumMod val="75000"/>
                  <a:lumOff val="25000"/>
                </a:schemeClr>
              </a:solidFill>
              <a:latin typeface="+mn-ea"/>
              <a:ea typeface="+mn-ea"/>
              <a:cs typeface="+mn-ea"/>
            </a:endParaRPr>
          </a:p>
          <a:p>
            <a:pPr marL="224155" lvl="1" indent="-224155" algn="l" defTabSz="381000">
              <a:lnSpc>
                <a:spcPct val="150000"/>
              </a:lnSpc>
              <a:buClr>
                <a:schemeClr val="folHlink"/>
              </a:buClr>
              <a:buSzPct val="60000"/>
              <a:tabLst>
                <a:tab pos="444500" algn="l"/>
              </a:tabLst>
              <a:defRPr/>
            </a:pPr>
            <a:r>
              <a:rPr lang="zh-CN" altLang="en-US" sz="1400" dirty="0">
                <a:solidFill>
                  <a:schemeClr val="tx1">
                    <a:lumMod val="75000"/>
                    <a:lumOff val="25000"/>
                  </a:schemeClr>
                </a:solidFill>
                <a:latin typeface="+mn-ea"/>
                <a:ea typeface="+mn-ea"/>
                <a:cs typeface="+mn-ea"/>
              </a:rPr>
              <a:t>要想去掉做左边的空格，用</a:t>
            </a:r>
            <a:r>
              <a:rPr lang="en-US" altLang="zh-CN" sz="1400" dirty="0">
                <a:solidFill>
                  <a:schemeClr val="tx1">
                    <a:lumMod val="75000"/>
                    <a:lumOff val="25000"/>
                  </a:schemeClr>
                </a:solidFill>
                <a:latin typeface="+mn-ea"/>
                <a:ea typeface="+mn-ea"/>
                <a:cs typeface="+mn-ea"/>
              </a:rPr>
              <a:t>lstrip</a:t>
            </a:r>
            <a:endParaRPr lang="en-US" altLang="zh-CN" sz="1400" dirty="0">
              <a:solidFill>
                <a:schemeClr val="tx1">
                  <a:lumMod val="75000"/>
                  <a:lumOff val="25000"/>
                </a:schemeClr>
              </a:solidFill>
              <a:latin typeface="+mn-ea"/>
              <a:ea typeface="+mn-ea"/>
              <a:cs typeface="+mn-ea"/>
            </a:endParaRPr>
          </a:p>
          <a:p>
            <a:pPr marL="0" lvl="1" indent="-224155" algn="l" defTabSz="381000">
              <a:lnSpc>
                <a:spcPct val="150000"/>
              </a:lnSpc>
              <a:buClr>
                <a:schemeClr val="folHlink"/>
              </a:buClr>
              <a:buSzPct val="60000"/>
              <a:tabLst>
                <a:tab pos="444500" algn="l"/>
              </a:tabLst>
              <a:defRPr/>
            </a:pPr>
            <a:r>
              <a:rPr lang="zh-CN" altLang="en-US" sz="1400" dirty="0">
                <a:solidFill>
                  <a:schemeClr val="tx1">
                    <a:lumMod val="75000"/>
                    <a:lumOff val="25000"/>
                  </a:schemeClr>
                </a:solidFill>
                <a:latin typeface="+mn-ea"/>
                <a:ea typeface="+mn-ea"/>
                <a:cs typeface="+mn-ea"/>
                <a:sym typeface="+mn-ea"/>
              </a:rPr>
              <a:t>要想去掉做右边的空格，用</a:t>
            </a:r>
            <a:r>
              <a:rPr lang="en-US" altLang="zh-CN" sz="1400" dirty="0">
                <a:solidFill>
                  <a:schemeClr val="tx1">
                    <a:lumMod val="75000"/>
                    <a:lumOff val="25000"/>
                  </a:schemeClr>
                </a:solidFill>
                <a:latin typeface="+mn-ea"/>
                <a:ea typeface="+mn-ea"/>
                <a:cs typeface="+mn-ea"/>
                <a:sym typeface="+mn-ea"/>
              </a:rPr>
              <a:t>rstrip</a:t>
            </a:r>
            <a:endParaRPr lang="en-US" altLang="zh-CN" sz="1400" dirty="0">
              <a:solidFill>
                <a:schemeClr val="tx1">
                  <a:lumMod val="75000"/>
                  <a:lumOff val="25000"/>
                </a:schemeClr>
              </a:solidFill>
              <a:latin typeface="+mn-ea"/>
              <a:ea typeface="+mn-ea"/>
              <a:cs typeface="+mn-ea"/>
              <a:sym typeface="+mn-ea"/>
            </a:endParaRPr>
          </a:p>
        </p:txBody>
      </p:sp>
      <p:sp>
        <p:nvSpPr>
          <p:cNvPr id="4" name="Rectangle 6"/>
          <p:cNvSpPr>
            <a:spLocks noChangeArrowheads="1"/>
          </p:cNvSpPr>
          <p:nvPr/>
        </p:nvSpPr>
        <p:spPr bwMode="auto">
          <a:xfrm>
            <a:off x="1585595" y="1438275"/>
            <a:ext cx="2039620" cy="951230"/>
          </a:xfrm>
          <a:prstGeom prst="rect">
            <a:avLst/>
          </a:prstGeom>
          <a:solidFill>
            <a:srgbClr val="FFDDDD">
              <a:alpha val="10196"/>
            </a:srgbClr>
          </a:solidFill>
          <a:ln w="28575" algn="ctr">
            <a:solidFill>
              <a:srgbClr val="C00000"/>
            </a:solidFill>
            <a:miter lim="800000"/>
          </a:ln>
        </p:spPr>
        <p:txBody>
          <a:bodyPr wrap="none" anchor="ctr"/>
          <a:lstStyle/>
          <a:p>
            <a:endParaRPr lang="zh-CN" altLang="en-US">
              <a:solidFill>
                <a:srgbClr val="FF0000"/>
              </a:solidFill>
            </a:endParaRPr>
          </a:p>
        </p:txBody>
      </p:sp>
      <p:sp>
        <p:nvSpPr>
          <p:cNvPr id="5" name="AutoShape 3"/>
          <p:cNvSpPr>
            <a:spLocks noChangeArrowheads="1"/>
          </p:cNvSpPr>
          <p:nvPr/>
        </p:nvSpPr>
        <p:spPr bwMode="auto">
          <a:xfrm>
            <a:off x="1217930" y="3318510"/>
            <a:ext cx="4925695" cy="1479636"/>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lang="zh-CN" sz="1600" dirty="0">
                <a:solidFill>
                  <a:schemeClr val="tx1"/>
                </a:solidFill>
                <a:latin typeface="+mn-ea"/>
                <a:ea typeface="+mn-ea"/>
                <a:cs typeface="+mn-ea"/>
              </a:rPr>
              <a:t>案例：</a:t>
            </a:r>
            <a:endParaRPr lang="zh-CN" sz="1600" dirty="0">
              <a:solidFill>
                <a:schemeClr val="tx1"/>
              </a:solidFill>
              <a:latin typeface="+mn-ea"/>
              <a:ea typeface="+mn-ea"/>
              <a:cs typeface="+mn-ea"/>
            </a:endParaRPr>
          </a:p>
          <a:p>
            <a:pPr marL="224155" lvl="1" indent="-224155" algn="l" defTabSz="381000">
              <a:lnSpc>
                <a:spcPct val="150000"/>
              </a:lnSpc>
              <a:buClr>
                <a:schemeClr val="folHlink"/>
              </a:buClr>
              <a:buSzPct val="60000"/>
              <a:tabLst>
                <a:tab pos="444500" algn="l"/>
              </a:tabLst>
              <a:defRPr/>
            </a:pPr>
            <a:r>
              <a:rPr lang="zh-CN" sz="1600" dirty="0">
                <a:solidFill>
                  <a:schemeClr val="tx1"/>
                </a:solidFill>
                <a:latin typeface="+mn-ea"/>
                <a:ea typeface="+mn-ea"/>
                <a:cs typeface="+mn-ea"/>
              </a:rPr>
              <a:t>输入手机号，验证手机号</a:t>
            </a:r>
            <a:r>
              <a:rPr lang="zh-CN" sz="1600" dirty="0">
                <a:solidFill>
                  <a:schemeClr val="tx1"/>
                </a:solidFill>
                <a:latin typeface="+mn-ea"/>
                <a:ea typeface="+mn-ea"/>
                <a:cs typeface="+mn-ea"/>
              </a:rPr>
              <a:t>是否正确</a:t>
            </a:r>
            <a:endParaRPr lang="zh-CN" sz="1600" dirty="0">
              <a:solidFill>
                <a:schemeClr val="tx1"/>
              </a:solidFill>
              <a:latin typeface="+mn-ea"/>
              <a:ea typeface="+mn-ea"/>
              <a:cs typeface="+mn-ea"/>
            </a:endParaRPr>
          </a:p>
          <a:p>
            <a:pPr marL="224155" lvl="1" indent="-224155" algn="l" defTabSz="381000">
              <a:lnSpc>
                <a:spcPct val="150000"/>
              </a:lnSpc>
              <a:buClr>
                <a:schemeClr val="folHlink"/>
              </a:buClr>
              <a:buSzPct val="60000"/>
              <a:tabLst>
                <a:tab pos="444500" algn="l"/>
              </a:tabLst>
              <a:defRPr/>
            </a:pPr>
            <a:r>
              <a:rPr lang="zh-CN" sz="1600" dirty="0">
                <a:solidFill>
                  <a:schemeClr val="tx1"/>
                </a:solidFill>
                <a:latin typeface="+mn-ea"/>
                <a:ea typeface="+mn-ea"/>
                <a:cs typeface="+mn-ea"/>
              </a:rPr>
              <a:t>正确的手机号：</a:t>
            </a:r>
            <a:r>
              <a:rPr lang="en-US" altLang="zh-CN" sz="1600" dirty="0">
                <a:solidFill>
                  <a:schemeClr val="tx1"/>
                </a:solidFill>
                <a:latin typeface="+mn-ea"/>
                <a:ea typeface="+mn-ea"/>
                <a:cs typeface="+mn-ea"/>
              </a:rPr>
              <a:t>15566668888</a:t>
            </a:r>
            <a:endParaRPr lang="en-US" altLang="zh-CN" sz="1600" dirty="0">
              <a:solidFill>
                <a:schemeClr val="tx1"/>
              </a:solidFill>
              <a:latin typeface="+mn-ea"/>
              <a:ea typeface="+mn-ea"/>
              <a:cs typeface="+mn-ea"/>
            </a:endParaRPr>
          </a:p>
          <a:p>
            <a:pPr marL="224155" lvl="1" indent="-224155" algn="l" defTabSz="381000">
              <a:lnSpc>
                <a:spcPct val="150000"/>
              </a:lnSpc>
              <a:buClr>
                <a:schemeClr val="folHlink"/>
              </a:buClr>
              <a:buSzPct val="60000"/>
              <a:tabLst>
                <a:tab pos="444500" algn="l"/>
              </a:tabLst>
              <a:defRPr/>
            </a:pPr>
            <a:endParaRPr lang="en-US" altLang="zh-CN" sz="1600" dirty="0">
              <a:solidFill>
                <a:schemeClr val="tx1"/>
              </a:solidFill>
              <a:latin typeface="+mn-ea"/>
              <a:ea typeface="+mn-ea"/>
              <a:cs typeface="+mn-ea"/>
              <a:sym typeface="+mn-ea"/>
            </a:endParaRPr>
          </a:p>
        </p:txBody>
      </p:sp>
      <p:pic>
        <p:nvPicPr>
          <p:cNvPr id="6" name="图片 5" descr="BEC9X){J9WYV5KK4NML%A3A"/>
          <p:cNvPicPr>
            <a:picLocks noChangeAspect="1"/>
          </p:cNvPicPr>
          <p:nvPr/>
        </p:nvPicPr>
        <p:blipFill>
          <a:blip r:embed="rId1"/>
          <a:stretch>
            <a:fillRect/>
          </a:stretch>
        </p:blipFill>
        <p:spPr>
          <a:xfrm>
            <a:off x="5633085" y="1438275"/>
            <a:ext cx="1562100" cy="542925"/>
          </a:xfrm>
          <a:prstGeom prst="rect">
            <a:avLst/>
          </a:prstGeom>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diamond(in)">
                                      <p:cBhvr>
                                        <p:cTn id="24"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4" grpId="0" bldLvl="0" animBg="1"/>
      <p:bldP spid="5"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6" name="Rectangle 8"/>
          <p:cNvSpPr>
            <a:spLocks noGrp="1" noChangeArrowheads="1"/>
          </p:cNvSpPr>
          <p:nvPr>
            <p:ph type="title"/>
          </p:nvPr>
        </p:nvSpPr>
        <p:spPr>
          <a:xfrm>
            <a:off x="2195739" y="141482"/>
            <a:ext cx="6768877" cy="368300"/>
          </a:xfrm>
        </p:spPr>
        <p:txBody>
          <a:bodyPr/>
          <a:lstStyle/>
          <a:p>
            <a:pPr>
              <a:defRPr/>
            </a:pPr>
            <a:r>
              <a:rPr lang="zh-CN" altLang="en-US" dirty="0">
                <a:sym typeface="+mn-ea"/>
              </a:rPr>
              <a:t>字符串常用方法</a:t>
            </a:r>
            <a:r>
              <a:rPr lang="en-US" altLang="zh-CN" dirty="0">
                <a:sym typeface="+mn-ea"/>
              </a:rPr>
              <a:t>-</a:t>
            </a:r>
            <a:r>
              <a:rPr lang="en-US" altLang="zh-CN" dirty="0">
                <a:latin typeface="+mj-ea"/>
                <a:sym typeface="+mn-ea"/>
              </a:rPr>
              <a:t>len()</a:t>
            </a:r>
            <a:endParaRPr lang="en-US" altLang="zh-CN" dirty="0">
              <a:latin typeface="+mj-ea"/>
              <a:sym typeface="+mn-ea"/>
            </a:endParaRPr>
          </a:p>
        </p:txBody>
      </p:sp>
      <p:sp>
        <p:nvSpPr>
          <p:cNvPr id="5" name="AutoShape 3"/>
          <p:cNvSpPr>
            <a:spLocks noChangeArrowheads="1"/>
          </p:cNvSpPr>
          <p:nvPr/>
        </p:nvSpPr>
        <p:spPr bwMode="auto">
          <a:xfrm>
            <a:off x="1214755" y="1363345"/>
            <a:ext cx="4673600" cy="1110066"/>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lang="en-US" altLang="zh-CN" sz="1600" dirty="0">
                <a:solidFill>
                  <a:schemeClr val="tx1"/>
                </a:solidFill>
                <a:latin typeface="+mn-ea"/>
                <a:ea typeface="+mn-ea"/>
                <a:cs typeface="+mn-ea"/>
              </a:rPr>
              <a:t># </a:t>
            </a:r>
            <a:r>
              <a:rPr lang="zh-CN" sz="1600" dirty="0">
                <a:solidFill>
                  <a:schemeClr val="tx1"/>
                </a:solidFill>
                <a:latin typeface="+mn-ea"/>
                <a:ea typeface="+mn-ea"/>
                <a:cs typeface="+mn-ea"/>
              </a:rPr>
              <a:t>求字符串的长度：</a:t>
            </a:r>
            <a:r>
              <a:rPr lang="en-US" altLang="zh-CN" sz="1600" dirty="0">
                <a:solidFill>
                  <a:schemeClr val="tx1"/>
                </a:solidFill>
                <a:latin typeface="+mn-ea"/>
                <a:ea typeface="+mn-ea"/>
                <a:cs typeface="+mn-ea"/>
              </a:rPr>
              <a:t>len()</a:t>
            </a:r>
            <a:endParaRPr sz="1600" dirty="0">
              <a:solidFill>
                <a:schemeClr val="tx1"/>
              </a:solidFill>
              <a:latin typeface="+mn-ea"/>
              <a:ea typeface="+mn-ea"/>
              <a:cs typeface="+mn-ea"/>
            </a:endParaRPr>
          </a:p>
          <a:p>
            <a:pPr marL="224155" lvl="1" indent="-224155" algn="l" defTabSz="381000">
              <a:lnSpc>
                <a:spcPct val="150000"/>
              </a:lnSpc>
              <a:buClr>
                <a:schemeClr val="folHlink"/>
              </a:buClr>
              <a:buSzPct val="60000"/>
              <a:tabLst>
                <a:tab pos="444500" algn="l"/>
              </a:tabLst>
              <a:defRPr/>
            </a:pPr>
            <a:r>
              <a:rPr sz="1600" dirty="0">
                <a:solidFill>
                  <a:schemeClr val="tx1"/>
                </a:solidFill>
                <a:latin typeface="+mn-ea"/>
                <a:ea typeface="+mn-ea"/>
                <a:cs typeface="+mn-ea"/>
              </a:rPr>
              <a:t>s = ‘</a:t>
            </a:r>
            <a:r>
              <a:rPr lang="en-US" sz="1600" dirty="0">
                <a:solidFill>
                  <a:schemeClr val="tx1"/>
                </a:solidFill>
                <a:latin typeface="+mn-ea"/>
                <a:ea typeface="+mn-ea"/>
                <a:cs typeface="+mn-ea"/>
              </a:rPr>
              <a:t>hello world</a:t>
            </a:r>
            <a:r>
              <a:rPr sz="1600" dirty="0">
                <a:solidFill>
                  <a:schemeClr val="tx1"/>
                </a:solidFill>
                <a:latin typeface="+mn-ea"/>
                <a:ea typeface="+mn-ea"/>
                <a:cs typeface="+mn-ea"/>
              </a:rPr>
              <a:t>’</a:t>
            </a:r>
            <a:endParaRPr sz="1600" dirty="0">
              <a:solidFill>
                <a:schemeClr val="tx1"/>
              </a:solidFill>
              <a:latin typeface="+mn-ea"/>
              <a:ea typeface="+mn-ea"/>
              <a:cs typeface="+mn-ea"/>
            </a:endParaRPr>
          </a:p>
          <a:p>
            <a:pPr marL="224155" lvl="1" indent="-224155" algn="l" defTabSz="381000">
              <a:lnSpc>
                <a:spcPct val="150000"/>
              </a:lnSpc>
              <a:buClr>
                <a:schemeClr val="folHlink"/>
              </a:buClr>
              <a:buSzPct val="60000"/>
              <a:tabLst>
                <a:tab pos="444500" algn="l"/>
              </a:tabLst>
              <a:defRPr/>
            </a:pPr>
            <a:r>
              <a:rPr lang="en-US" altLang="zh-CN" sz="1600" dirty="0">
                <a:solidFill>
                  <a:schemeClr val="tx1"/>
                </a:solidFill>
                <a:latin typeface="+mn-ea"/>
                <a:ea typeface="+mn-ea"/>
                <a:cs typeface="+mn-ea"/>
                <a:sym typeface="+mn-ea"/>
              </a:rPr>
              <a:t>print(len(s))</a:t>
            </a:r>
            <a:endParaRPr lang="en-US" altLang="zh-CN" sz="1600" dirty="0">
              <a:solidFill>
                <a:schemeClr val="tx1"/>
              </a:solidFill>
              <a:latin typeface="+mn-ea"/>
              <a:ea typeface="+mn-ea"/>
              <a:cs typeface="+mn-ea"/>
            </a:endParaRPr>
          </a:p>
        </p:txBody>
      </p:sp>
      <p:sp>
        <p:nvSpPr>
          <p:cNvPr id="2" name="Rectangle 6"/>
          <p:cNvSpPr>
            <a:spLocks noChangeArrowheads="1"/>
          </p:cNvSpPr>
          <p:nvPr/>
        </p:nvSpPr>
        <p:spPr bwMode="auto">
          <a:xfrm>
            <a:off x="1214755" y="2187575"/>
            <a:ext cx="1202055" cy="285750"/>
          </a:xfrm>
          <a:prstGeom prst="rect">
            <a:avLst/>
          </a:prstGeom>
          <a:solidFill>
            <a:srgbClr val="FFDDDD">
              <a:alpha val="10196"/>
            </a:srgbClr>
          </a:solidFill>
          <a:ln w="28575" algn="ctr">
            <a:solidFill>
              <a:srgbClr val="C00000"/>
            </a:solidFill>
            <a:miter lim="800000"/>
          </a:ln>
        </p:spPr>
        <p:txBody>
          <a:bodyPr wrap="none" anchor="ctr"/>
          <a:lstStyle/>
          <a:p>
            <a:endParaRPr lang="zh-CN" altLang="en-US">
              <a:solidFill>
                <a:srgbClr val="FF0000"/>
              </a:solidFill>
            </a:endParaRPr>
          </a:p>
        </p:txBody>
      </p:sp>
      <p:pic>
        <p:nvPicPr>
          <p:cNvPr id="9" name="图片 8" descr="F5@XC7HT7BI5AGHWHCHI(OT"/>
          <p:cNvPicPr>
            <a:picLocks noChangeAspect="1"/>
          </p:cNvPicPr>
          <p:nvPr/>
        </p:nvPicPr>
        <p:blipFill>
          <a:blip r:embed="rId1"/>
          <a:stretch>
            <a:fillRect/>
          </a:stretch>
        </p:blipFill>
        <p:spPr>
          <a:xfrm>
            <a:off x="6438900" y="1696085"/>
            <a:ext cx="842645" cy="443865"/>
          </a:xfrm>
          <a:prstGeom prst="rect">
            <a:avLst/>
          </a:prstGeom>
        </p:spPr>
      </p:pic>
      <p:sp>
        <p:nvSpPr>
          <p:cNvPr id="4" name="AutoShape 3"/>
          <p:cNvSpPr>
            <a:spLocks noChangeArrowheads="1"/>
          </p:cNvSpPr>
          <p:nvPr/>
        </p:nvSpPr>
        <p:spPr bwMode="auto">
          <a:xfrm>
            <a:off x="1214755" y="3089910"/>
            <a:ext cx="4925695" cy="1849862"/>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p>
            <a:pPr marL="224155" lvl="1" indent="-224155" algn="l" defTabSz="381000">
              <a:lnSpc>
                <a:spcPct val="150000"/>
              </a:lnSpc>
              <a:buClr>
                <a:schemeClr val="folHlink"/>
              </a:buClr>
              <a:buSzPct val="60000"/>
              <a:tabLst>
                <a:tab pos="444500" algn="l"/>
              </a:tabLst>
              <a:defRPr/>
            </a:pPr>
            <a:r>
              <a:rPr lang="zh-CN" sz="1600" dirty="0">
                <a:solidFill>
                  <a:schemeClr val="tx1"/>
                </a:solidFill>
                <a:latin typeface="+mn-ea"/>
                <a:ea typeface="+mn-ea"/>
                <a:cs typeface="+mn-ea"/>
              </a:rPr>
              <a:t>案例：</a:t>
            </a:r>
            <a:endParaRPr lang="zh-CN" sz="1600" dirty="0">
              <a:solidFill>
                <a:schemeClr val="tx1"/>
              </a:solidFill>
              <a:latin typeface="+mn-ea"/>
              <a:ea typeface="+mn-ea"/>
              <a:cs typeface="+mn-ea"/>
            </a:endParaRPr>
          </a:p>
          <a:p>
            <a:pPr marL="224155" lvl="1" indent="-224155" algn="l" defTabSz="381000">
              <a:lnSpc>
                <a:spcPct val="150000"/>
              </a:lnSpc>
              <a:buClr>
                <a:schemeClr val="folHlink"/>
              </a:buClr>
              <a:buSzPct val="60000"/>
              <a:tabLst>
                <a:tab pos="444500" algn="l"/>
              </a:tabLst>
              <a:defRPr/>
            </a:pPr>
            <a:r>
              <a:rPr lang="zh-CN" sz="1600" dirty="0">
                <a:solidFill>
                  <a:schemeClr val="tx1"/>
                </a:solidFill>
                <a:latin typeface="+mn-ea"/>
                <a:ea typeface="+mn-ea"/>
                <a:cs typeface="+mn-ea"/>
              </a:rPr>
              <a:t>输入注册密码，要求密码长度为</a:t>
            </a:r>
            <a:r>
              <a:rPr lang="en-US" altLang="zh-CN" sz="1600" dirty="0">
                <a:solidFill>
                  <a:schemeClr val="tx1"/>
                </a:solidFill>
                <a:latin typeface="+mn-ea"/>
                <a:ea typeface="+mn-ea"/>
                <a:cs typeface="+mn-ea"/>
              </a:rPr>
              <a:t>4-6</a:t>
            </a:r>
            <a:r>
              <a:rPr lang="zh-CN" altLang="en-US" sz="1600" dirty="0">
                <a:solidFill>
                  <a:schemeClr val="tx1"/>
                </a:solidFill>
                <a:latin typeface="+mn-ea"/>
                <a:ea typeface="+mn-ea"/>
                <a:cs typeface="+mn-ea"/>
              </a:rPr>
              <a:t>位</a:t>
            </a:r>
            <a:endParaRPr lang="zh-CN" sz="1600" dirty="0">
              <a:solidFill>
                <a:schemeClr val="tx1"/>
              </a:solidFill>
              <a:latin typeface="+mn-ea"/>
              <a:ea typeface="+mn-ea"/>
              <a:cs typeface="+mn-ea"/>
            </a:endParaRPr>
          </a:p>
          <a:p>
            <a:pPr marL="224155" lvl="1" indent="-224155" algn="l" defTabSz="381000">
              <a:lnSpc>
                <a:spcPct val="150000"/>
              </a:lnSpc>
              <a:buClr>
                <a:schemeClr val="folHlink"/>
              </a:buClr>
              <a:buSzPct val="60000"/>
              <a:tabLst>
                <a:tab pos="444500" algn="l"/>
              </a:tabLst>
              <a:defRPr/>
            </a:pPr>
            <a:r>
              <a:rPr lang="zh-CN" sz="1600" dirty="0">
                <a:solidFill>
                  <a:schemeClr val="tx1"/>
                </a:solidFill>
                <a:latin typeface="+mn-ea"/>
                <a:ea typeface="+mn-ea"/>
                <a:cs typeface="+mn-ea"/>
              </a:rPr>
              <a:t>正确提示：注册成功</a:t>
            </a:r>
            <a:endParaRPr lang="en-US" altLang="zh-CN" sz="1600" dirty="0">
              <a:solidFill>
                <a:schemeClr val="tx1"/>
              </a:solidFill>
              <a:latin typeface="+mn-ea"/>
              <a:ea typeface="+mn-ea"/>
              <a:cs typeface="+mn-ea"/>
            </a:endParaRPr>
          </a:p>
          <a:p>
            <a:pPr marL="224155" lvl="1" indent="-224155" algn="l" defTabSz="381000">
              <a:lnSpc>
                <a:spcPct val="150000"/>
              </a:lnSpc>
              <a:buClr>
                <a:schemeClr val="folHlink"/>
              </a:buClr>
              <a:buSzPct val="60000"/>
              <a:tabLst>
                <a:tab pos="444500" algn="l"/>
              </a:tabLst>
              <a:defRPr/>
            </a:pPr>
            <a:r>
              <a:rPr lang="zh-CN" altLang="en-US" sz="1600" dirty="0">
                <a:solidFill>
                  <a:schemeClr val="tx1"/>
                </a:solidFill>
                <a:latin typeface="+mn-ea"/>
                <a:ea typeface="+mn-ea"/>
                <a:cs typeface="+mn-ea"/>
              </a:rPr>
              <a:t>错误提示：密码要求</a:t>
            </a:r>
            <a:r>
              <a:rPr lang="en-US" altLang="zh-CN" sz="1600" dirty="0">
                <a:solidFill>
                  <a:schemeClr val="tx1"/>
                </a:solidFill>
                <a:latin typeface="+mn-ea"/>
                <a:ea typeface="+mn-ea"/>
                <a:cs typeface="+mn-ea"/>
              </a:rPr>
              <a:t>4-6</a:t>
            </a:r>
            <a:r>
              <a:rPr lang="zh-CN" altLang="en-US" sz="1600" dirty="0">
                <a:solidFill>
                  <a:schemeClr val="tx1"/>
                </a:solidFill>
                <a:latin typeface="+mn-ea"/>
                <a:ea typeface="+mn-ea"/>
                <a:cs typeface="+mn-ea"/>
              </a:rPr>
              <a:t>位，请正确输入注册密码</a:t>
            </a:r>
            <a:endParaRPr lang="en-US" altLang="zh-CN" sz="1600" dirty="0">
              <a:solidFill>
                <a:schemeClr val="tx1"/>
              </a:solidFill>
              <a:latin typeface="+mn-ea"/>
              <a:ea typeface="+mn-ea"/>
              <a:cs typeface="+mn-ea"/>
            </a:endParaRPr>
          </a:p>
          <a:p>
            <a:pPr marL="224155" lvl="1" indent="-224155" algn="l" defTabSz="381000">
              <a:lnSpc>
                <a:spcPct val="150000"/>
              </a:lnSpc>
              <a:buClr>
                <a:schemeClr val="folHlink"/>
              </a:buClr>
              <a:buSzPct val="60000"/>
              <a:tabLst>
                <a:tab pos="444500" algn="l"/>
              </a:tabLst>
              <a:defRPr/>
            </a:pPr>
            <a:endParaRPr lang="en-US" altLang="zh-CN" sz="1600" dirty="0">
              <a:solidFill>
                <a:schemeClr val="tx1"/>
              </a:solidFill>
              <a:latin typeface="+mn-ea"/>
              <a:ea typeface="+mn-ea"/>
              <a:cs typeface="+mn-ea"/>
              <a:sym typeface="+mn-ea"/>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diamond(in)">
                                      <p:cBhvr>
                                        <p:cTn id="2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2" grpId="0" bldLvl="0" animBg="1"/>
      <p:bldP spid="4"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字符串</a:t>
            </a:r>
            <a:r>
              <a:rPr lang="en-US" altLang="zh-CN" dirty="0"/>
              <a:t>-</a:t>
            </a:r>
            <a:r>
              <a:rPr lang="en-US" altLang="zh-CN" dirty="0">
                <a:latin typeface="+mn-ea"/>
                <a:ea typeface="+mn-ea"/>
              </a:rPr>
              <a:t>find()</a:t>
            </a:r>
            <a:endParaRPr lang="en-US" altLang="zh-CN" dirty="0">
              <a:latin typeface="+mn-ea"/>
              <a:ea typeface="+mn-ea"/>
            </a:endParaRPr>
          </a:p>
        </p:txBody>
      </p:sp>
      <p:sp>
        <p:nvSpPr>
          <p:cNvPr id="5" name="矩形 4"/>
          <p:cNvSpPr/>
          <p:nvPr/>
        </p:nvSpPr>
        <p:spPr>
          <a:xfrm>
            <a:off x="251520" y="627534"/>
            <a:ext cx="7632848" cy="400110"/>
          </a:xfrm>
          <a:prstGeom prst="rect">
            <a:avLst/>
          </a:prstGeom>
        </p:spPr>
        <p:txBody>
          <a:bodyPr wrap="square">
            <a:spAutoFit/>
          </a:bodyPr>
          <a:lstStyle/>
          <a:p>
            <a:pPr marL="342900" indent="-342900" algn="l">
              <a:spcAft>
                <a:spcPts val="0"/>
              </a:spcAft>
              <a:buFont typeface="Wingdings" panose="05000000000000000000" charset="0"/>
              <a:buChar char="n"/>
            </a:pPr>
            <a:r>
              <a:rPr lang="en-US" altLang="zh-CN" sz="2000" dirty="0">
                <a:solidFill>
                  <a:srgbClr val="0070C0"/>
                </a:solidFill>
                <a:latin typeface="+mn-ea"/>
              </a:rPr>
              <a:t>find( )  </a:t>
            </a:r>
            <a:r>
              <a:rPr lang="zh-CN" altLang="en-US" sz="2000" dirty="0">
                <a:solidFill>
                  <a:srgbClr val="0070C0"/>
                </a:solidFill>
                <a:latin typeface="+mn-ea"/>
              </a:rPr>
              <a:t>查找一字符串在另一字符串中的位置</a:t>
            </a:r>
            <a:r>
              <a:rPr lang="en-US" altLang="zh-CN" sz="2000" dirty="0">
                <a:solidFill>
                  <a:srgbClr val="0070C0"/>
                </a:solidFill>
                <a:latin typeface="+mn-ea"/>
              </a:rPr>
              <a:t>,</a:t>
            </a:r>
            <a:r>
              <a:rPr lang="zh-CN" altLang="en-US" sz="2000" dirty="0">
                <a:solidFill>
                  <a:srgbClr val="0070C0"/>
                </a:solidFill>
                <a:latin typeface="+mn-ea"/>
              </a:rPr>
              <a:t>返回其所在索引值</a:t>
            </a:r>
            <a:endParaRPr lang="en-US" altLang="zh-CN" sz="2000" dirty="0">
              <a:solidFill>
                <a:srgbClr val="0070C0"/>
              </a:solidFill>
              <a:latin typeface="+mn-ea"/>
            </a:endParaRPr>
          </a:p>
        </p:txBody>
      </p:sp>
      <p:sp>
        <p:nvSpPr>
          <p:cNvPr id="11" name="矩形 10"/>
          <p:cNvSpPr/>
          <p:nvPr/>
        </p:nvSpPr>
        <p:spPr>
          <a:xfrm>
            <a:off x="683568" y="2571750"/>
            <a:ext cx="3168352" cy="1477328"/>
          </a:xfrm>
          <a:prstGeom prst="rect">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name = 'this is apple'</a:t>
            </a:r>
            <a:endParaRPr lang="en-US" altLang="zh-CN" sz="2000" dirty="0">
              <a:solidFill>
                <a:schemeClr val="tx1">
                  <a:lumMod val="75000"/>
                  <a:lumOff val="25000"/>
                </a:schemeClr>
              </a:solidFill>
              <a:latin typeface="+mn-ea"/>
            </a:endParaRP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print(name.find('this'))  </a:t>
            </a:r>
            <a:endParaRPr lang="en-US" altLang="zh-CN" sz="2000" dirty="0">
              <a:solidFill>
                <a:schemeClr val="tx1">
                  <a:lumMod val="75000"/>
                  <a:lumOff val="25000"/>
                </a:schemeClr>
              </a:solidFill>
              <a:latin typeface="+mn-ea"/>
            </a:endParaRPr>
          </a:p>
          <a:p>
            <a:pPr marL="224155" indent="-224155" algn="l" defTabSz="381000">
              <a:lnSpc>
                <a:spcPct val="150000"/>
              </a:lnSpc>
              <a:buClr>
                <a:schemeClr val="folHlink"/>
              </a:buClr>
              <a:buSzPct val="60000"/>
              <a:tabLst>
                <a:tab pos="444500" algn="l"/>
              </a:tabLst>
              <a:defRPr/>
            </a:pPr>
            <a:r>
              <a:rPr lang="en-US" altLang="zh-CN" sz="2000" dirty="0">
                <a:solidFill>
                  <a:schemeClr val="tx1">
                    <a:lumMod val="75000"/>
                    <a:lumOff val="25000"/>
                  </a:schemeClr>
                </a:solidFill>
                <a:latin typeface="+mn-ea"/>
              </a:rPr>
              <a:t>print(name.find('is'))</a:t>
            </a:r>
            <a:endParaRPr lang="en-US" altLang="zh-CN" sz="2000" dirty="0">
              <a:solidFill>
                <a:schemeClr val="tx1">
                  <a:lumMod val="75000"/>
                  <a:lumOff val="25000"/>
                </a:schemeClr>
              </a:solidFill>
              <a:latin typeface="+mn-ea"/>
            </a:endParaRPr>
          </a:p>
        </p:txBody>
      </p:sp>
      <p:sp>
        <p:nvSpPr>
          <p:cNvPr id="12" name="矩形 11"/>
          <p:cNvSpPr/>
          <p:nvPr/>
        </p:nvSpPr>
        <p:spPr>
          <a:xfrm>
            <a:off x="611560" y="1793460"/>
            <a:ext cx="1368152"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buFont typeface="Wingdings" panose="05000000000000000000" pitchFamily="2" charset="2"/>
              <a:buNone/>
            </a:pPr>
            <a:r>
              <a:rPr lang="zh-CN" altLang="en-US" sz="2000" dirty="0">
                <a:solidFill>
                  <a:srgbClr val="0070C0"/>
                </a:solidFill>
                <a:latin typeface="+mn-ea"/>
                <a:ea typeface="+mn-ea"/>
              </a:rPr>
              <a:t>代码举例：</a:t>
            </a:r>
            <a:endParaRPr lang="en-US" sz="2000" dirty="0">
              <a:solidFill>
                <a:srgbClr val="0070C0"/>
              </a:solidFill>
              <a:latin typeface="+mn-ea"/>
              <a:ea typeface="+mn-ea"/>
            </a:endParaRPr>
          </a:p>
        </p:txBody>
      </p:sp>
      <p:sp>
        <p:nvSpPr>
          <p:cNvPr id="13" name="矩形 12"/>
          <p:cNvSpPr/>
          <p:nvPr/>
        </p:nvSpPr>
        <p:spPr>
          <a:xfrm>
            <a:off x="4788024" y="1882279"/>
            <a:ext cx="1611950"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buFont typeface="Wingdings" panose="05000000000000000000" pitchFamily="2" charset="2"/>
              <a:buNone/>
            </a:pPr>
            <a:r>
              <a:rPr lang="zh-CN" altLang="en-US" sz="2000" dirty="0">
                <a:solidFill>
                  <a:srgbClr val="0070C0"/>
                </a:solidFill>
                <a:latin typeface="+mn-ea"/>
                <a:ea typeface="+mn-ea"/>
              </a:rPr>
              <a:t>输出结果：</a:t>
            </a:r>
            <a:endParaRPr lang="en-US" sz="2000" dirty="0">
              <a:solidFill>
                <a:srgbClr val="0070C0"/>
              </a:solidFill>
              <a:latin typeface="+mn-ea"/>
              <a:ea typeface="+mn-ea"/>
            </a:endParaRPr>
          </a:p>
        </p:txBody>
      </p:sp>
      <p:sp>
        <p:nvSpPr>
          <p:cNvPr id="8" name="矩形 17"/>
          <p:cNvSpPr>
            <a:spLocks noChangeArrowheads="1"/>
          </p:cNvSpPr>
          <p:nvPr/>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9" name="矩形 8"/>
          <p:cNvSpPr/>
          <p:nvPr/>
        </p:nvSpPr>
        <p:spPr>
          <a:xfrm>
            <a:off x="611560" y="1131590"/>
            <a:ext cx="5616624" cy="499624"/>
          </a:xfrm>
          <a:prstGeom prst="rect">
            <a:avLst/>
          </a:prstGeom>
          <a:noFill/>
          <a:ln w="28575" cap="flat" cmpd="sng" algn="ctr">
            <a:noFill/>
            <a:prstDash val="solid"/>
            <a:round/>
            <a:headEnd type="none" w="med" len="med"/>
            <a:tailEnd type="none" w="med" len="med"/>
          </a:ln>
          <a:effectLst>
            <a:outerShdw blurRad="38100" sx="101000" sy="101000" algn="ctr" rotWithShape="0">
              <a:prstClr val="black">
                <a:alpha val="10000"/>
              </a:prstClr>
            </a:outerShdw>
          </a:effectLst>
        </p:spPr>
        <p:txBody>
          <a:bodyPr wrap="square" rtlCol="0" anchor="ctr">
            <a:spAutoFit/>
          </a:bodyPr>
          <a:lstStyle/>
          <a:p>
            <a:pPr marL="224155" indent="-224155" algn="l" defTabSz="381000">
              <a:lnSpc>
                <a:spcPct val="150000"/>
              </a:lnSpc>
              <a:buClr>
                <a:schemeClr val="folHlink"/>
              </a:buClr>
              <a:buSzPct val="60000"/>
              <a:tabLst>
                <a:tab pos="444500" algn="l"/>
              </a:tabLst>
              <a:defRPr/>
            </a:pPr>
            <a:r>
              <a:rPr lang="zh-CN" altLang="en-US" sz="2000" dirty="0">
                <a:solidFill>
                  <a:srgbClr val="0070C0"/>
                </a:solidFill>
                <a:latin typeface="+mn-ea"/>
                <a:ea typeface="+mn-ea"/>
              </a:rPr>
              <a:t>语法格式：</a:t>
            </a:r>
            <a:r>
              <a:rPr lang="en-US" altLang="zh-CN" b="1" dirty="0">
                <a:solidFill>
                  <a:schemeClr val="tx1">
                    <a:lumMod val="75000"/>
                    <a:lumOff val="25000"/>
                  </a:schemeClr>
                </a:solidFill>
                <a:latin typeface="+mn-ea"/>
              </a:rPr>
              <a:t>String.find(</a:t>
            </a:r>
            <a:r>
              <a:rPr lang="zh-CN" altLang="en-US" b="1" dirty="0">
                <a:solidFill>
                  <a:schemeClr val="tx1">
                    <a:lumMod val="75000"/>
                    <a:lumOff val="25000"/>
                  </a:schemeClr>
                </a:solidFill>
                <a:latin typeface="+mn-ea"/>
              </a:rPr>
              <a:t>字符</a:t>
            </a:r>
            <a:r>
              <a:rPr lang="en-US" altLang="zh-CN" b="1" dirty="0">
                <a:solidFill>
                  <a:schemeClr val="tx1">
                    <a:lumMod val="75000"/>
                    <a:lumOff val="25000"/>
                  </a:schemeClr>
                </a:solidFill>
                <a:latin typeface="+mn-ea"/>
              </a:rPr>
              <a:t>)</a:t>
            </a:r>
            <a:endParaRPr lang="en-US" altLang="zh-CN" b="1" dirty="0">
              <a:solidFill>
                <a:schemeClr val="tx1">
                  <a:lumMod val="75000"/>
                  <a:lumOff val="25000"/>
                </a:schemeClr>
              </a:solidFill>
              <a:latin typeface="+mn-ea"/>
            </a:endParaRPr>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60032" y="2598937"/>
            <a:ext cx="3960440" cy="1201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600">
        <p:random/>
      </p:transition>
    </mc:Choice>
    <mc:Fallback>
      <p:transition spd="med">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ppt_x"/>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6146"/>
                                        </p:tgtEl>
                                        <p:attrNameLst>
                                          <p:attrName>style.visibility</p:attrName>
                                        </p:attrNameLst>
                                      </p:cBhvr>
                                      <p:to>
                                        <p:strVal val="visible"/>
                                      </p:to>
                                    </p:set>
                                    <p:anim calcmode="lin" valueType="num">
                                      <p:cBhvr additive="base">
                                        <p:cTn id="38" dur="500" fill="hold"/>
                                        <p:tgtEl>
                                          <p:spTgt spid="6146"/>
                                        </p:tgtEl>
                                        <p:attrNameLst>
                                          <p:attrName>ppt_x</p:attrName>
                                        </p:attrNameLst>
                                      </p:cBhvr>
                                      <p:tavLst>
                                        <p:tav tm="0">
                                          <p:val>
                                            <p:strVal val="#ppt_x"/>
                                          </p:val>
                                        </p:tav>
                                        <p:tav tm="100000">
                                          <p:val>
                                            <p:strVal val="#ppt_x"/>
                                          </p:val>
                                        </p:tav>
                                      </p:tavLst>
                                    </p:anim>
                                    <p:anim calcmode="lin" valueType="num">
                                      <p:cBhvr additive="base">
                                        <p:cTn id="39"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bldLvl="0" animBg="1"/>
      <p:bldP spid="12" grpId="0" bldLvl="0" animBg="1"/>
      <p:bldP spid="13" grpId="0" bldLvl="0" animBg="1"/>
      <p:bldP spid="9"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6" name="Rectangle 8"/>
          <p:cNvSpPr>
            <a:spLocks noGrp="1" noChangeArrowheads="1"/>
          </p:cNvSpPr>
          <p:nvPr>
            <p:ph type="title"/>
          </p:nvPr>
        </p:nvSpPr>
        <p:spPr>
          <a:xfrm>
            <a:off x="2195739" y="141482"/>
            <a:ext cx="6768877" cy="368300"/>
          </a:xfrm>
        </p:spPr>
        <p:txBody>
          <a:bodyPr/>
          <a:lstStyle/>
          <a:p>
            <a:pPr>
              <a:defRPr/>
            </a:pPr>
            <a:r>
              <a:rPr lang="zh-CN" altLang="en-US" dirty="0">
                <a:sym typeface="+mn-ea"/>
              </a:rPr>
              <a:t>字符串常用方法</a:t>
            </a:r>
            <a:r>
              <a:rPr lang="en-US" altLang="zh-CN" dirty="0">
                <a:sym typeface="+mn-ea"/>
              </a:rPr>
              <a:t>-</a:t>
            </a:r>
            <a:r>
              <a:rPr lang="en-US" altLang="zh-CN" dirty="0">
                <a:latin typeface="+mj-ea"/>
                <a:sym typeface="+mn-ea"/>
              </a:rPr>
              <a:t>count()</a:t>
            </a:r>
            <a:endParaRPr lang="zh-CN" altLang="en-US" dirty="0">
              <a:latin typeface="+mj-ea"/>
              <a:sym typeface="+mn-ea"/>
            </a:endParaRPr>
          </a:p>
        </p:txBody>
      </p:sp>
      <p:sp>
        <p:nvSpPr>
          <p:cNvPr id="3" name="AutoShape 3"/>
          <p:cNvSpPr>
            <a:spLocks noChangeArrowheads="1"/>
          </p:cNvSpPr>
          <p:nvPr/>
        </p:nvSpPr>
        <p:spPr bwMode="auto">
          <a:xfrm>
            <a:off x="1135380" y="990600"/>
            <a:ext cx="4673600" cy="1110068"/>
          </a:xfrm>
          <a:prstGeom prst="roundRect">
            <a:avLst>
              <a:gd name="adj" fmla="val 303"/>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tIns="0" bIns="0">
            <a:spAutoFit/>
          </a:bodyPr>
          <a:lstStyle/>
          <a:p>
            <a:pPr marL="224155" lvl="1" indent="-224155" algn="l" defTabSz="381000">
              <a:lnSpc>
                <a:spcPct val="150000"/>
              </a:lnSpc>
              <a:buClr>
                <a:schemeClr val="folHlink"/>
              </a:buClr>
              <a:buSzPct val="60000"/>
              <a:tabLst>
                <a:tab pos="444500" algn="l"/>
              </a:tabLst>
              <a:defRPr/>
            </a:pPr>
            <a:r>
              <a:rPr lang="en-US" altLang="zh-CN" sz="1600" dirty="0">
                <a:solidFill>
                  <a:schemeClr val="tx1"/>
                </a:solidFill>
                <a:latin typeface="+mn-ea"/>
                <a:ea typeface="+mn-ea"/>
                <a:cs typeface="+mn-ea"/>
              </a:rPr>
              <a:t># </a:t>
            </a:r>
            <a:r>
              <a:rPr lang="zh-CN" altLang="en-US" sz="1600" dirty="0">
                <a:solidFill>
                  <a:schemeClr val="tx1"/>
                </a:solidFill>
                <a:latin typeface="+mn-ea"/>
                <a:ea typeface="+mn-ea"/>
                <a:cs typeface="+mn-ea"/>
              </a:rPr>
              <a:t>统计字符串中某些字符出现的次数：</a:t>
            </a:r>
            <a:r>
              <a:rPr lang="en-US" altLang="zh-CN" sz="1600" dirty="0">
                <a:solidFill>
                  <a:schemeClr val="tx1"/>
                </a:solidFill>
                <a:latin typeface="+mn-ea"/>
                <a:ea typeface="+mn-ea"/>
                <a:cs typeface="+mn-ea"/>
              </a:rPr>
              <a:t>count()</a:t>
            </a:r>
            <a:endParaRPr lang="en-US" altLang="zh-CN" sz="1600" dirty="0">
              <a:solidFill>
                <a:schemeClr val="tx1"/>
              </a:solidFill>
              <a:latin typeface="+mn-ea"/>
              <a:ea typeface="+mn-ea"/>
              <a:cs typeface="+mn-ea"/>
            </a:endParaRPr>
          </a:p>
          <a:p>
            <a:pPr marL="224155" lvl="1" indent="-224155" algn="l" defTabSz="381000">
              <a:lnSpc>
                <a:spcPct val="150000"/>
              </a:lnSpc>
              <a:buClr>
                <a:schemeClr val="folHlink"/>
              </a:buClr>
              <a:buSzPct val="60000"/>
              <a:tabLst>
                <a:tab pos="444500" algn="l"/>
              </a:tabLst>
              <a:defRPr/>
            </a:pPr>
            <a:r>
              <a:rPr sz="1600" dirty="0">
                <a:solidFill>
                  <a:schemeClr val="tx1"/>
                </a:solidFill>
                <a:latin typeface="+mn-ea"/>
                <a:ea typeface="+mn-ea"/>
                <a:cs typeface="+mn-ea"/>
                <a:sym typeface="+mn-ea"/>
              </a:rPr>
              <a:t>s</a:t>
            </a:r>
            <a:r>
              <a:rPr lang="en-US" sz="1600" dirty="0">
                <a:solidFill>
                  <a:schemeClr val="tx1"/>
                </a:solidFill>
                <a:latin typeface="+mn-ea"/>
                <a:ea typeface="+mn-ea"/>
                <a:cs typeface="+mn-ea"/>
                <a:sym typeface="+mn-ea"/>
              </a:rPr>
              <a:t>3</a:t>
            </a:r>
            <a:r>
              <a:rPr sz="1600" dirty="0">
                <a:solidFill>
                  <a:schemeClr val="tx1"/>
                </a:solidFill>
                <a:latin typeface="+mn-ea"/>
                <a:ea typeface="+mn-ea"/>
                <a:cs typeface="+mn-ea"/>
                <a:sym typeface="+mn-ea"/>
              </a:rPr>
              <a:t>= "apple,peach,banana,peach,pear, apple "</a:t>
            </a:r>
            <a:endParaRPr sz="1600" dirty="0">
              <a:solidFill>
                <a:schemeClr val="tx1"/>
              </a:solidFill>
              <a:latin typeface="+mn-ea"/>
              <a:ea typeface="+mn-ea"/>
              <a:cs typeface="+mn-ea"/>
              <a:sym typeface="+mn-ea"/>
            </a:endParaRPr>
          </a:p>
          <a:p>
            <a:pPr marL="224155" lvl="1" indent="-224155" algn="l" defTabSz="381000">
              <a:lnSpc>
                <a:spcPct val="150000"/>
              </a:lnSpc>
              <a:buClr>
                <a:schemeClr val="folHlink"/>
              </a:buClr>
              <a:buSzPct val="60000"/>
              <a:tabLst>
                <a:tab pos="444500" algn="l"/>
              </a:tabLst>
              <a:defRPr/>
            </a:pPr>
            <a:r>
              <a:rPr lang="en-US" altLang="zh-CN" sz="1600" dirty="0">
                <a:solidFill>
                  <a:schemeClr val="tx1"/>
                </a:solidFill>
                <a:latin typeface="+mn-ea"/>
                <a:ea typeface="+mn-ea"/>
                <a:cs typeface="+mn-ea"/>
              </a:rPr>
              <a:t>print(s3.count(“apple”))</a:t>
            </a:r>
            <a:endParaRPr lang="en-US" altLang="zh-CN" sz="1600" dirty="0">
              <a:solidFill>
                <a:schemeClr val="tx1"/>
              </a:solidFill>
              <a:latin typeface="+mn-ea"/>
              <a:ea typeface="+mn-ea"/>
              <a:cs typeface="+mn-ea"/>
            </a:endParaRPr>
          </a:p>
        </p:txBody>
      </p:sp>
      <p:sp>
        <p:nvSpPr>
          <p:cNvPr id="6" name="Rectangle 6"/>
          <p:cNvSpPr>
            <a:spLocks noChangeArrowheads="1"/>
          </p:cNvSpPr>
          <p:nvPr/>
        </p:nvSpPr>
        <p:spPr bwMode="auto">
          <a:xfrm>
            <a:off x="1135380" y="1795780"/>
            <a:ext cx="2632710" cy="304800"/>
          </a:xfrm>
          <a:prstGeom prst="rect">
            <a:avLst/>
          </a:prstGeom>
          <a:solidFill>
            <a:srgbClr val="FFDDDD">
              <a:alpha val="10196"/>
            </a:srgbClr>
          </a:solidFill>
          <a:ln w="28575" algn="ctr">
            <a:solidFill>
              <a:srgbClr val="C00000"/>
            </a:solidFill>
            <a:miter lim="800000"/>
          </a:ln>
        </p:spPr>
        <p:txBody>
          <a:bodyPr wrap="none" anchor="ctr"/>
          <a:lstStyle/>
          <a:p>
            <a:endParaRPr lang="zh-CN" altLang="en-US">
              <a:solidFill>
                <a:srgbClr val="FF0000"/>
              </a:solidFill>
            </a:endParaRPr>
          </a:p>
        </p:txBody>
      </p:sp>
      <p:pic>
        <p:nvPicPr>
          <p:cNvPr id="8" name="图片 7" descr="PS(FP}YH0}MC9UT`T13QXU9"/>
          <p:cNvPicPr>
            <a:picLocks noChangeAspect="1"/>
          </p:cNvPicPr>
          <p:nvPr/>
        </p:nvPicPr>
        <p:blipFill>
          <a:blip r:embed="rId1"/>
          <a:stretch>
            <a:fillRect/>
          </a:stretch>
        </p:blipFill>
        <p:spPr>
          <a:xfrm>
            <a:off x="6401435" y="1348105"/>
            <a:ext cx="1533525" cy="447675"/>
          </a:xfrm>
          <a:prstGeom prst="rect">
            <a:avLst/>
          </a:prstGeom>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6"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195739" y="141482"/>
            <a:ext cx="6768877" cy="368300"/>
          </a:xfrm>
        </p:spPr>
        <p:txBody>
          <a:bodyPr/>
          <a:lstStyle/>
          <a:p>
            <a:r>
              <a:rPr lang="zh-CN" altLang="en-US" dirty="0"/>
              <a:t>综合案例</a:t>
            </a:r>
            <a:endParaRPr lang="zh-CN" altLang="en-US" dirty="0"/>
          </a:p>
        </p:txBody>
      </p:sp>
      <p:sp>
        <p:nvSpPr>
          <p:cNvPr id="16" name="TextBox 14"/>
          <p:cNvSpPr>
            <a:spLocks noChangeArrowheads="1"/>
          </p:cNvSpPr>
          <p:nvPr/>
        </p:nvSpPr>
        <p:spPr bwMode="auto">
          <a:xfrm>
            <a:off x="4519613" y="746596"/>
            <a:ext cx="566737"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a:solidFill>
                  <a:schemeClr val="bg1"/>
                </a:solidFill>
                <a:latin typeface="方正姚体" panose="02010601030101010101" pitchFamily="2" charset="-122"/>
                <a:ea typeface="方正姚体" panose="02010601030101010101" pitchFamily="2" charset="-122"/>
                <a:sym typeface="方正姚体" panose="02010601030101010101" pitchFamily="2" charset="-122"/>
              </a:rPr>
              <a:t>    1</a:t>
            </a:r>
            <a:endParaRPr lang="zh-CN" altLang="en-US" sz="2800" b="1">
              <a:solidFill>
                <a:schemeClr val="bg1"/>
              </a:solidFill>
              <a:latin typeface="方正姚体" panose="02010601030101010101" pitchFamily="2" charset="-122"/>
              <a:ea typeface="方正姚体" panose="02010601030101010101" pitchFamily="2" charset="-122"/>
              <a:sym typeface="方正姚体" panose="02010601030101010101" pitchFamily="2" charset="-122"/>
            </a:endParaRPr>
          </a:p>
        </p:txBody>
      </p:sp>
      <p:sp>
        <p:nvSpPr>
          <p:cNvPr id="2" name="文本框 1"/>
          <p:cNvSpPr txBox="1"/>
          <p:nvPr/>
        </p:nvSpPr>
        <p:spPr>
          <a:xfrm>
            <a:off x="1262380" y="746760"/>
            <a:ext cx="309880" cy="645160"/>
          </a:xfrm>
          <a:prstGeom prst="rect">
            <a:avLst/>
          </a:prstGeom>
          <a:noFill/>
        </p:spPr>
        <p:txBody>
          <a:bodyPr wrap="none" rtlCol="0">
            <a:spAutoFit/>
          </a:bodyPr>
          <a:lstStyle/>
          <a:p>
            <a:pPr algn="ctr"/>
            <a:endParaRPr lang="zh-CN" altLang="en-US" dirty="0"/>
          </a:p>
          <a:p>
            <a:endParaRPr lang="zh-CN" altLang="en-US"/>
          </a:p>
        </p:txBody>
      </p:sp>
      <p:sp>
        <p:nvSpPr>
          <p:cNvPr id="4" name="AutoShape 9"/>
          <p:cNvSpPr>
            <a:spLocks noChangeArrowheads="1"/>
          </p:cNvSpPr>
          <p:nvPr/>
        </p:nvSpPr>
        <p:spPr bwMode="auto">
          <a:xfrm>
            <a:off x="292735" y="1113155"/>
            <a:ext cx="8493125" cy="3170888"/>
          </a:xfrm>
          <a:prstGeom prst="roundRect">
            <a:avLst>
              <a:gd name="adj" fmla="val 16667"/>
            </a:avLst>
          </a:prstGeom>
          <a:solidFill>
            <a:srgbClr val="E7F4FF"/>
          </a:solidFill>
          <a:ln w="28575" cap="flat" cmpd="sng" algn="ctr">
            <a:solidFill>
              <a:srgbClr val="00B0F0"/>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algn="l"/>
            <a:r>
              <a:rPr lang="en-US" altLang="zh-CN" sz="1800" dirty="0">
                <a:solidFill>
                  <a:schemeClr val="tx1">
                    <a:lumMod val="75000"/>
                    <a:lumOff val="25000"/>
                  </a:schemeClr>
                </a:solidFill>
                <a:latin typeface="+mn-ea"/>
                <a:ea typeface="+mn-ea"/>
                <a:cs typeface="+mn-ea"/>
              </a:rPr>
              <a:t>1．保存如下字符串到变量mstr：</a:t>
            </a:r>
            <a:endParaRPr lang="en-US" altLang="zh-CN" sz="1800" dirty="0">
              <a:solidFill>
                <a:schemeClr val="tx1">
                  <a:lumMod val="75000"/>
                  <a:lumOff val="25000"/>
                </a:schemeClr>
              </a:solidFill>
              <a:latin typeface="+mn-ea"/>
              <a:ea typeface="+mn-ea"/>
              <a:cs typeface="+mn-ea"/>
            </a:endParaRPr>
          </a:p>
          <a:p>
            <a:pPr algn="l"/>
            <a:r>
              <a:rPr lang="en-US" altLang="zh-CN" sz="1800" dirty="0">
                <a:solidFill>
                  <a:schemeClr val="tx1">
                    <a:lumMod val="75000"/>
                    <a:lumOff val="25000"/>
                  </a:schemeClr>
                </a:solidFill>
                <a:latin typeface="+mn-ea"/>
                <a:ea typeface="+mn-ea"/>
                <a:cs typeface="+mn-ea"/>
              </a:rPr>
              <a:t>There are moments in life when you miss someone so much that you just want to pick them from your dreams and hug them for real! Dream what you want to dream;go where you want to go;be what you want to be,because you have only one life and one chance to do all the things you want to do</a:t>
            </a:r>
            <a:endParaRPr lang="en-US" altLang="zh-CN" sz="1800" dirty="0">
              <a:solidFill>
                <a:schemeClr val="tx1">
                  <a:lumMod val="75000"/>
                  <a:lumOff val="25000"/>
                </a:schemeClr>
              </a:solidFill>
              <a:latin typeface="+mn-ea"/>
              <a:ea typeface="+mn-ea"/>
              <a:cs typeface="+mn-ea"/>
            </a:endParaRPr>
          </a:p>
          <a:p>
            <a:pPr algn="l"/>
            <a:r>
              <a:rPr lang="en-US" altLang="zh-CN" sz="1800" dirty="0">
                <a:solidFill>
                  <a:schemeClr val="tx1">
                    <a:lumMod val="75000"/>
                    <a:lumOff val="25000"/>
                  </a:schemeClr>
                </a:solidFill>
                <a:latin typeface="+mn-ea"/>
                <a:ea typeface="+mn-ea"/>
                <a:cs typeface="+mn-ea"/>
              </a:rPr>
              <a:t>2．</a:t>
            </a:r>
            <a:r>
              <a:rPr lang="zh-CN" altLang="en-US" sz="1800" dirty="0">
                <a:solidFill>
                  <a:schemeClr val="tx1">
                    <a:lumMod val="75000"/>
                    <a:lumOff val="25000"/>
                  </a:schemeClr>
                </a:solidFill>
                <a:latin typeface="+mn-ea"/>
                <a:ea typeface="+mn-ea"/>
                <a:cs typeface="+mn-ea"/>
              </a:rPr>
              <a:t>测字符串长度，并输出</a:t>
            </a:r>
            <a:r>
              <a:rPr lang="en-US" altLang="zh-CN" sz="1800" dirty="0">
                <a:solidFill>
                  <a:schemeClr val="tx1">
                    <a:lumMod val="75000"/>
                    <a:lumOff val="25000"/>
                  </a:schemeClr>
                </a:solidFill>
                <a:latin typeface="+mn-ea"/>
                <a:ea typeface="+mn-ea"/>
                <a:cs typeface="+mn-ea"/>
              </a:rPr>
              <a:t>。</a:t>
            </a:r>
            <a:endParaRPr lang="en-US" altLang="zh-CN" sz="1800" dirty="0">
              <a:solidFill>
                <a:schemeClr val="tx1">
                  <a:lumMod val="75000"/>
                  <a:lumOff val="25000"/>
                </a:schemeClr>
              </a:solidFill>
              <a:latin typeface="+mn-ea"/>
              <a:ea typeface="+mn-ea"/>
              <a:cs typeface="+mn-ea"/>
            </a:endParaRPr>
          </a:p>
          <a:p>
            <a:pPr algn="l"/>
            <a:r>
              <a:rPr lang="en-US" altLang="zh-CN" sz="1800" dirty="0">
                <a:solidFill>
                  <a:schemeClr val="tx1">
                    <a:lumMod val="75000"/>
                    <a:lumOff val="25000"/>
                  </a:schemeClr>
                </a:solidFill>
                <a:latin typeface="+mn-ea"/>
                <a:ea typeface="+mn-ea"/>
                <a:cs typeface="+mn-ea"/>
              </a:rPr>
              <a:t>3．</a:t>
            </a:r>
            <a:r>
              <a:rPr lang="en-US" altLang="zh-CN" sz="1800" dirty="0">
                <a:solidFill>
                  <a:schemeClr val="tx1">
                    <a:lumMod val="75000"/>
                    <a:lumOff val="25000"/>
                  </a:schemeClr>
                </a:solidFill>
                <a:latin typeface="+mn-ea"/>
                <a:ea typeface="+mn-ea"/>
                <a:cs typeface="+mn-ea"/>
                <a:sym typeface="+mn-ea"/>
              </a:rPr>
              <a:t>统计字符串中，单词“to”的个数，将结果保存到c中</a:t>
            </a:r>
            <a:r>
              <a:rPr lang="en-US" altLang="zh-CN" sz="1800" dirty="0">
                <a:solidFill>
                  <a:schemeClr val="tx1">
                    <a:lumMod val="75000"/>
                    <a:lumOff val="25000"/>
                  </a:schemeClr>
                </a:solidFill>
                <a:latin typeface="+mn-ea"/>
                <a:ea typeface="+mn-ea"/>
                <a:cs typeface="+mn-ea"/>
              </a:rPr>
              <a:t>。</a:t>
            </a:r>
            <a:endParaRPr lang="en-US" altLang="zh-CN" sz="1800" dirty="0">
              <a:solidFill>
                <a:schemeClr val="tx1">
                  <a:lumMod val="75000"/>
                  <a:lumOff val="25000"/>
                </a:schemeClr>
              </a:solidFill>
              <a:latin typeface="+mn-ea"/>
              <a:ea typeface="+mn-ea"/>
              <a:cs typeface="+mn-ea"/>
            </a:endParaRPr>
          </a:p>
          <a:p>
            <a:pPr algn="l"/>
            <a:r>
              <a:rPr lang="en-US" altLang="zh-CN" sz="1800" dirty="0">
                <a:solidFill>
                  <a:schemeClr val="tx1">
                    <a:lumMod val="75000"/>
                    <a:lumOff val="25000"/>
                  </a:schemeClr>
                </a:solidFill>
                <a:latin typeface="+mn-ea"/>
                <a:ea typeface="+mn-ea"/>
                <a:cs typeface="+mn-ea"/>
              </a:rPr>
              <a:t>4．</a:t>
            </a:r>
            <a:r>
              <a:rPr lang="zh-CN" altLang="en-US" sz="1800" dirty="0">
                <a:solidFill>
                  <a:schemeClr val="tx1">
                    <a:lumMod val="75000"/>
                    <a:lumOff val="25000"/>
                  </a:schemeClr>
                </a:solidFill>
                <a:latin typeface="+mn-ea"/>
                <a:ea typeface="+mn-ea"/>
                <a:cs typeface="+mn-ea"/>
              </a:rPr>
              <a:t>查找单词</a:t>
            </a:r>
            <a:r>
              <a:rPr lang="en-US" altLang="zh-CN" sz="1800" dirty="0">
                <a:solidFill>
                  <a:schemeClr val="tx1">
                    <a:lumMod val="75000"/>
                    <a:lumOff val="25000"/>
                  </a:schemeClr>
                </a:solidFill>
                <a:latin typeface="+mn-ea"/>
                <a:ea typeface="+mn-ea"/>
                <a:cs typeface="+mn-ea"/>
              </a:rPr>
              <a:t>‘you' </a:t>
            </a:r>
            <a:r>
              <a:rPr lang="zh-CN" altLang="en-US" sz="1800" dirty="0">
                <a:solidFill>
                  <a:schemeClr val="tx1">
                    <a:lumMod val="75000"/>
                    <a:lumOff val="25000"/>
                  </a:schemeClr>
                </a:solidFill>
                <a:latin typeface="+mn-ea"/>
                <a:ea typeface="+mn-ea"/>
                <a:cs typeface="+mn-ea"/>
              </a:rPr>
              <a:t>在字符串中的第一次出现的索引</a:t>
            </a:r>
            <a:r>
              <a:rPr lang="zh-CN" altLang="en-US" sz="1800" dirty="0">
                <a:solidFill>
                  <a:schemeClr val="tx1">
                    <a:lumMod val="75000"/>
                    <a:lumOff val="25000"/>
                  </a:schemeClr>
                </a:solidFill>
                <a:latin typeface="+mn-ea"/>
                <a:ea typeface="+mn-ea"/>
                <a:cs typeface="+mn-ea"/>
              </a:rPr>
              <a:t>位置，并输出</a:t>
            </a:r>
            <a:endParaRPr lang="en-US" altLang="zh-CN" sz="1800" dirty="0">
              <a:solidFill>
                <a:schemeClr val="tx1">
                  <a:lumMod val="75000"/>
                  <a:lumOff val="25000"/>
                </a:schemeClr>
              </a:solidFill>
              <a:latin typeface="+mn-ea"/>
              <a:ea typeface="+mn-ea"/>
              <a:cs typeface="+mn-ea"/>
            </a:endParaRPr>
          </a:p>
          <a:p>
            <a:pPr algn="l"/>
            <a:endParaRPr lang="en-US" altLang="zh-CN" sz="1800" dirty="0">
              <a:solidFill>
                <a:schemeClr val="tx1">
                  <a:lumMod val="75000"/>
                  <a:lumOff val="25000"/>
                </a:schemeClr>
              </a:solidFill>
              <a:latin typeface="+mn-ea"/>
              <a:ea typeface="+mn-ea"/>
              <a:cs typeface="+mn-ea"/>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单元小结</a:t>
            </a:r>
            <a:endParaRPr lang="zh-CN" altLang="en-US" dirty="0"/>
          </a:p>
        </p:txBody>
      </p:sp>
      <p:sp>
        <p:nvSpPr>
          <p:cNvPr id="4" name="内容占位符 3"/>
          <p:cNvSpPr>
            <a:spLocks noGrp="1"/>
          </p:cNvSpPr>
          <p:nvPr>
            <p:ph idx="1"/>
          </p:nvPr>
        </p:nvSpPr>
        <p:spPr>
          <a:xfrm>
            <a:off x="395918" y="827678"/>
            <a:ext cx="8352928" cy="3137572"/>
          </a:xfrm>
        </p:spPr>
        <p:txBody>
          <a:bodyPr/>
          <a:lstStyle/>
          <a:p>
            <a:r>
              <a:rPr lang="zh-CN" altLang="en-US" dirty="0"/>
              <a:t>什么是序列？</a:t>
            </a:r>
            <a:endParaRPr lang="zh-CN" altLang="en-US" dirty="0"/>
          </a:p>
          <a:p>
            <a:r>
              <a:rPr lang="zh-CN" altLang="en-US" dirty="0"/>
              <a:t>序列有哪些操作？</a:t>
            </a:r>
            <a:endParaRPr lang="zh-CN" altLang="en-US" dirty="0"/>
          </a:p>
          <a:p>
            <a:r>
              <a:rPr lang="zh-CN" altLang="en-US" dirty="0"/>
              <a:t>什么是字符串？</a:t>
            </a:r>
            <a:endParaRPr lang="zh-CN" altLang="en-US" dirty="0"/>
          </a:p>
          <a:p>
            <a:r>
              <a:rPr lang="zh-CN" altLang="en-US" dirty="0"/>
              <a:t>字符串格式化的两种方式是什么？</a:t>
            </a:r>
            <a:endParaRPr lang="zh-CN" altLang="en-US" dirty="0"/>
          </a:p>
          <a:p>
            <a:r>
              <a:rPr lang="zh-CN" altLang="en-US" dirty="0"/>
              <a:t>字符串的方法有哪些？</a:t>
            </a:r>
            <a:endParaRPr lang="zh-CN" altLang="en-US" dirty="0"/>
          </a:p>
        </p:txBody>
      </p:sp>
    </p:spTree>
  </p:cSld>
  <p:clrMapOvr>
    <a:masterClrMapping/>
  </p:clrMapOvr>
  <p:transition spd="med">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概念图总结</a:t>
            </a:r>
            <a:endParaRPr lang="zh-CN" altLang="en-US" dirty="0"/>
          </a:p>
        </p:txBody>
      </p:sp>
      <p:pic>
        <p:nvPicPr>
          <p:cNvPr id="5" name="图片 4" descr="_6B_5EFDGWP[7$M}$V(YU]C"/>
          <p:cNvPicPr>
            <a:picLocks noChangeAspect="1"/>
          </p:cNvPicPr>
          <p:nvPr/>
        </p:nvPicPr>
        <p:blipFill>
          <a:blip r:embed="rId1"/>
          <a:stretch>
            <a:fillRect/>
          </a:stretch>
        </p:blipFill>
        <p:spPr>
          <a:xfrm>
            <a:off x="892810" y="674370"/>
            <a:ext cx="7512685" cy="4149725"/>
          </a:xfrm>
          <a:prstGeom prst="rect">
            <a:avLst/>
          </a:prstGeom>
        </p:spPr>
      </p:pic>
    </p:spTree>
  </p:cSld>
  <p:clrMapOvr>
    <a:masterClrMapping/>
  </p:clrMapOvr>
  <p:transition spd="med">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t>作业</a:t>
            </a:r>
            <a:endParaRPr dirty="0"/>
          </a:p>
        </p:txBody>
      </p:sp>
      <p:sp>
        <p:nvSpPr>
          <p:cNvPr id="3" name="内容占位符 2"/>
          <p:cNvSpPr>
            <a:spLocks noGrp="1"/>
          </p:cNvSpPr>
          <p:nvPr>
            <p:ph idx="1"/>
          </p:nvPr>
        </p:nvSpPr>
        <p:spPr/>
        <p:txBody>
          <a:bodyPr/>
          <a:lstStyle/>
          <a:p>
            <a:pPr>
              <a:defRPr/>
            </a:pPr>
            <a:r>
              <a:rPr lang="zh-CN" altLang="en-US" dirty="0"/>
              <a:t>课后作业</a:t>
            </a:r>
            <a:endParaRPr lang="en-US" dirty="0"/>
          </a:p>
          <a:p>
            <a:pPr lvl="1">
              <a:defRPr/>
            </a:pPr>
            <a:r>
              <a:rPr lang="zh-CN" dirty="0"/>
              <a:t>完成</a:t>
            </a:r>
            <a:r>
              <a:rPr lang="zh-CN" altLang="en-US" dirty="0"/>
              <a:t>练习手册</a:t>
            </a:r>
            <a:r>
              <a:rPr lang="zh-CN" dirty="0"/>
              <a:t>中简答题和编程题</a:t>
            </a:r>
            <a:endParaRPr lang="zh-CN" dirty="0"/>
          </a:p>
          <a:p>
            <a:pPr>
              <a:defRPr/>
            </a:pPr>
            <a:r>
              <a:rPr lang="zh-CN" altLang="en-US" dirty="0"/>
              <a:t>复习指引</a:t>
            </a:r>
            <a:endParaRPr lang="zh-CN" altLang="en-US" dirty="0"/>
          </a:p>
          <a:p>
            <a:pPr lvl="1"/>
            <a:r>
              <a:rPr lang="zh-CN" altLang="en-US" dirty="0"/>
              <a:t>复习字符串概念和格式化方法</a:t>
            </a:r>
            <a:endParaRPr lang="zh-CN" altLang="en-US" dirty="0"/>
          </a:p>
          <a:p>
            <a:pPr lvl="1"/>
            <a:r>
              <a:rPr lang="zh-CN" altLang="en-US" dirty="0"/>
              <a:t>复习序列的概念和操作</a:t>
            </a:r>
            <a:endParaRPr lang="en-US" altLang="zh-CN" dirty="0"/>
          </a:p>
          <a:p>
            <a:pPr lvl="1"/>
            <a:r>
              <a:rPr lang="zh-CN" altLang="en-US" dirty="0"/>
              <a:t>复习字符串的方法</a:t>
            </a:r>
            <a:endParaRPr lang="en-US" altLang="zh-CN" dirty="0"/>
          </a:p>
          <a:p>
            <a:pPr>
              <a:defRPr/>
            </a:pPr>
            <a:r>
              <a:rPr lang="zh-CN" altLang="en-US" dirty="0"/>
              <a:t>预习作业</a:t>
            </a:r>
            <a:endParaRPr lang="zh-CN" altLang="en-US" dirty="0"/>
          </a:p>
          <a:p>
            <a:pPr lvl="1">
              <a:defRPr/>
            </a:pPr>
            <a:r>
              <a:rPr lang="zh-CN" altLang="en-US" dirty="0"/>
              <a:t>字符串的方法还有哪些？</a:t>
            </a:r>
            <a:endParaRPr lang="en-US" altLang="zh-CN" dirty="0"/>
          </a:p>
          <a:p>
            <a:pPr lvl="1">
              <a:defRPr/>
            </a:pPr>
            <a:r>
              <a:rPr lang="zh-CN" altLang="en-US" dirty="0"/>
              <a:t>什么是验证码</a:t>
            </a:r>
            <a:endParaRPr lang="zh-CN" altLang="en-US" dirty="0"/>
          </a:p>
          <a:p>
            <a:pPr lvl="1">
              <a:defRPr/>
            </a:pPr>
            <a:r>
              <a:rPr lang="zh-CN" altLang="en-US" dirty="0"/>
              <a:t>理解登录注册</a:t>
            </a:r>
            <a:endParaRPr lang="zh-CN" altLang="en-US" dirty="0"/>
          </a:p>
        </p:txBody>
      </p:sp>
      <p:sp>
        <p:nvSpPr>
          <p:cNvPr id="5" name="灯片编号占位符 4"/>
          <p:cNvSpPr>
            <a:spLocks noGrp="1"/>
          </p:cNvSpPr>
          <p:nvPr>
            <p:ph type="sldNum" sz="quarter" idx="4294967295"/>
          </p:nvPr>
        </p:nvSpPr>
        <p:spPr>
          <a:xfrm>
            <a:off x="7010400" y="4816475"/>
            <a:ext cx="2133600" cy="274638"/>
          </a:xfrm>
        </p:spPr>
        <p:txBody>
          <a:bodyPr/>
          <a:lstStyle/>
          <a:p>
            <a:pPr>
              <a:defRPr/>
            </a:pPr>
            <a:fld id="{20A3C244-A2EA-421B-AA84-7941BACD046B}" type="slidenum">
              <a:rPr lang="zh-CN" altLang="en-US" sz="180" smtClean="0"/>
            </a:fld>
            <a:r>
              <a:rPr lang="en-US" altLang="zh-CN" sz="180"/>
              <a:t>/47</a:t>
            </a:r>
            <a:endParaRPr lang="zh-CN" altLang="en-US" sz="180" dirty="0"/>
          </a:p>
        </p:txBody>
      </p:sp>
    </p:spTree>
  </p:cSld>
  <p:clrMapOvr>
    <a:masterClrMapping/>
  </p:clrMapOvr>
  <p:transition spd="med">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6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07" y="3102770"/>
            <a:ext cx="9144001"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p:cNvGrpSpPr/>
          <p:nvPr/>
        </p:nvGrpSpPr>
        <p:grpSpPr bwMode="auto">
          <a:xfrm>
            <a:off x="0" y="-204696"/>
            <a:ext cx="9151144" cy="3852068"/>
            <a:chOff x="0" y="107177"/>
            <a:chExt cx="9151144" cy="3852791"/>
          </a:xfrm>
        </p:grpSpPr>
        <p:sp>
          <p:nvSpPr>
            <p:cNvPr id="5" name="矩形 254"/>
            <p:cNvSpPr>
              <a:spLocks noChangeArrowheads="1"/>
            </p:cNvSpPr>
            <p:nvPr/>
          </p:nvSpPr>
          <p:spPr bwMode="auto">
            <a:xfrm>
              <a:off x="0" y="113953"/>
              <a:ext cx="9144000" cy="3846015"/>
            </a:xfrm>
            <a:custGeom>
              <a:avLst/>
              <a:gdLst>
                <a:gd name="T0" fmla="*/ 0 w 9144000"/>
                <a:gd name="T1" fmla="*/ 0 h 3846015"/>
                <a:gd name="T2" fmla="*/ 9144000 w 9144000"/>
                <a:gd name="T3" fmla="*/ 3846015 h 3846015"/>
              </a:gdLst>
              <a:ahLst/>
              <a:cxnLst/>
              <a:rect l="T0" t="T1" r="T2" b="T3"/>
              <a:pathLst>
                <a:path w="9144000" h="3846015">
                  <a:moveTo>
                    <a:pt x="0" y="0"/>
                  </a:moveTo>
                  <a:lnTo>
                    <a:pt x="9144000" y="0"/>
                  </a:lnTo>
                  <a:lnTo>
                    <a:pt x="9144000" y="3651870"/>
                  </a:lnTo>
                  <a:lnTo>
                    <a:pt x="4766144" y="3651870"/>
                  </a:lnTo>
                  <a:lnTo>
                    <a:pt x="4571999" y="3846015"/>
                  </a:lnTo>
                  <a:lnTo>
                    <a:pt x="4377855" y="3651870"/>
                  </a:lnTo>
                  <a:lnTo>
                    <a:pt x="0" y="3651870"/>
                  </a:lnTo>
                  <a:close/>
                </a:path>
              </a:pathLst>
            </a:custGeom>
            <a:solidFill>
              <a:srgbClr val="292929">
                <a:alpha val="2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矩形 254"/>
            <p:cNvSpPr>
              <a:spLocks noChangeArrowheads="1"/>
            </p:cNvSpPr>
            <p:nvPr/>
          </p:nvSpPr>
          <p:spPr bwMode="auto">
            <a:xfrm>
              <a:off x="0" y="107177"/>
              <a:ext cx="9151144" cy="3738838"/>
            </a:xfrm>
            <a:custGeom>
              <a:avLst/>
              <a:gdLst>
                <a:gd name="T0" fmla="*/ 0 w 9144000"/>
                <a:gd name="T1" fmla="*/ 0 h 3846015"/>
                <a:gd name="T2" fmla="*/ 9144000 w 9144000"/>
                <a:gd name="T3" fmla="*/ 3846015 h 3846015"/>
                <a:gd name="connsiteX0" fmla="*/ 42863 w 9144000"/>
                <a:gd name="connsiteY0" fmla="*/ 643058 h 3846015"/>
                <a:gd name="connsiteX1" fmla="*/ 9144000 w 9144000"/>
                <a:gd name="connsiteY1" fmla="*/ 0 h 3846015"/>
                <a:gd name="connsiteX2" fmla="*/ 9144000 w 9144000"/>
                <a:gd name="connsiteY2" fmla="*/ 3651870 h 3846015"/>
                <a:gd name="connsiteX3" fmla="*/ 4766144 w 9144000"/>
                <a:gd name="connsiteY3" fmla="*/ 3651870 h 3846015"/>
                <a:gd name="connsiteX4" fmla="*/ 4571999 w 9144000"/>
                <a:gd name="connsiteY4" fmla="*/ 3846015 h 3846015"/>
                <a:gd name="connsiteX5" fmla="*/ 4377855 w 9144000"/>
                <a:gd name="connsiteY5" fmla="*/ 3651870 h 3846015"/>
                <a:gd name="connsiteX6" fmla="*/ 0 w 9144000"/>
                <a:gd name="connsiteY6" fmla="*/ 3651870 h 3846015"/>
                <a:gd name="connsiteX7" fmla="*/ 42863 w 9144000"/>
                <a:gd name="connsiteY7" fmla="*/ 643058 h 3846015"/>
                <a:gd name="connsiteX0-1" fmla="*/ 7145 w 9144000"/>
                <a:gd name="connsiteY0-2" fmla="*/ 121467 h 3846015"/>
                <a:gd name="connsiteX1-3" fmla="*/ 9144000 w 9144000"/>
                <a:gd name="connsiteY1-4" fmla="*/ 0 h 3846015"/>
                <a:gd name="connsiteX2-5" fmla="*/ 9144000 w 9144000"/>
                <a:gd name="connsiteY2-6" fmla="*/ 3651870 h 3846015"/>
                <a:gd name="connsiteX3-7" fmla="*/ 4766144 w 9144000"/>
                <a:gd name="connsiteY3-8" fmla="*/ 3651870 h 3846015"/>
                <a:gd name="connsiteX4-9" fmla="*/ 4571999 w 9144000"/>
                <a:gd name="connsiteY4-10" fmla="*/ 3846015 h 3846015"/>
                <a:gd name="connsiteX5-11" fmla="*/ 4377855 w 9144000"/>
                <a:gd name="connsiteY5-12" fmla="*/ 3651870 h 3846015"/>
                <a:gd name="connsiteX6-13" fmla="*/ 0 w 9144000"/>
                <a:gd name="connsiteY6-14" fmla="*/ 3651870 h 3846015"/>
                <a:gd name="connsiteX7-15" fmla="*/ 7145 w 9144000"/>
                <a:gd name="connsiteY7-16" fmla="*/ 121467 h 3846015"/>
                <a:gd name="connsiteX0-17" fmla="*/ 7145 w 9144000"/>
                <a:gd name="connsiteY0-18" fmla="*/ 0 h 3724548"/>
                <a:gd name="connsiteX1-19" fmla="*/ 8851106 w 9144000"/>
                <a:gd name="connsiteY1-20" fmla="*/ 392980 h 3724548"/>
                <a:gd name="connsiteX2-21" fmla="*/ 9144000 w 9144000"/>
                <a:gd name="connsiteY2-22" fmla="*/ 3530403 h 3724548"/>
                <a:gd name="connsiteX3-23" fmla="*/ 4766144 w 9144000"/>
                <a:gd name="connsiteY3-24" fmla="*/ 3530403 h 3724548"/>
                <a:gd name="connsiteX4-25" fmla="*/ 4571999 w 9144000"/>
                <a:gd name="connsiteY4-26" fmla="*/ 3724548 h 3724548"/>
                <a:gd name="connsiteX5-27" fmla="*/ 4377855 w 9144000"/>
                <a:gd name="connsiteY5-28" fmla="*/ 3530403 h 3724548"/>
                <a:gd name="connsiteX6-29" fmla="*/ 0 w 9144000"/>
                <a:gd name="connsiteY6-30" fmla="*/ 3530403 h 3724548"/>
                <a:gd name="connsiteX7-31" fmla="*/ 7145 w 9144000"/>
                <a:gd name="connsiteY7-32" fmla="*/ 0 h 3724548"/>
                <a:gd name="connsiteX0-33" fmla="*/ 7145 w 9151144"/>
                <a:gd name="connsiteY0-34" fmla="*/ 14290 h 3738838"/>
                <a:gd name="connsiteX1-35" fmla="*/ 9151144 w 9151144"/>
                <a:gd name="connsiteY1-36" fmla="*/ 0 h 3738838"/>
                <a:gd name="connsiteX2-37" fmla="*/ 9144000 w 9151144"/>
                <a:gd name="connsiteY2-38" fmla="*/ 3544693 h 3738838"/>
                <a:gd name="connsiteX3-39" fmla="*/ 4766144 w 9151144"/>
                <a:gd name="connsiteY3-40" fmla="*/ 3544693 h 3738838"/>
                <a:gd name="connsiteX4-41" fmla="*/ 4571999 w 9151144"/>
                <a:gd name="connsiteY4-42" fmla="*/ 3738838 h 3738838"/>
                <a:gd name="connsiteX5-43" fmla="*/ 4377855 w 9151144"/>
                <a:gd name="connsiteY5-44" fmla="*/ 3544693 h 3738838"/>
                <a:gd name="connsiteX6-45" fmla="*/ 0 w 9151144"/>
                <a:gd name="connsiteY6-46" fmla="*/ 3544693 h 3738838"/>
                <a:gd name="connsiteX7-47" fmla="*/ 7145 w 9151144"/>
                <a:gd name="connsiteY7-48" fmla="*/ 14290 h 3738838"/>
                <a:gd name="connsiteX0-49" fmla="*/ 7145 w 9151144"/>
                <a:gd name="connsiteY0-50" fmla="*/ 7145 h 3738838"/>
                <a:gd name="connsiteX1-51" fmla="*/ 9151144 w 9151144"/>
                <a:gd name="connsiteY1-52" fmla="*/ 0 h 3738838"/>
                <a:gd name="connsiteX2-53" fmla="*/ 9144000 w 9151144"/>
                <a:gd name="connsiteY2-54" fmla="*/ 3544693 h 3738838"/>
                <a:gd name="connsiteX3-55" fmla="*/ 4766144 w 9151144"/>
                <a:gd name="connsiteY3-56" fmla="*/ 3544693 h 3738838"/>
                <a:gd name="connsiteX4-57" fmla="*/ 4571999 w 9151144"/>
                <a:gd name="connsiteY4-58" fmla="*/ 3738838 h 3738838"/>
                <a:gd name="connsiteX5-59" fmla="*/ 4377855 w 9151144"/>
                <a:gd name="connsiteY5-60" fmla="*/ 3544693 h 3738838"/>
                <a:gd name="connsiteX6-61" fmla="*/ 0 w 9151144"/>
                <a:gd name="connsiteY6-62" fmla="*/ 3544693 h 3738838"/>
                <a:gd name="connsiteX7-63" fmla="*/ 7145 w 9151144"/>
                <a:gd name="connsiteY7-64" fmla="*/ 7145 h 37388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9151144" h="3738838">
                  <a:moveTo>
                    <a:pt x="7145" y="7145"/>
                  </a:moveTo>
                  <a:lnTo>
                    <a:pt x="9151144" y="0"/>
                  </a:lnTo>
                  <a:cubicBezTo>
                    <a:pt x="9148763" y="1181564"/>
                    <a:pt x="9146381" y="2363129"/>
                    <a:pt x="9144000" y="3544693"/>
                  </a:cubicBezTo>
                  <a:lnTo>
                    <a:pt x="4766144" y="3544693"/>
                  </a:lnTo>
                  <a:lnTo>
                    <a:pt x="4571999" y="3738838"/>
                  </a:lnTo>
                  <a:lnTo>
                    <a:pt x="4377855" y="3544693"/>
                  </a:lnTo>
                  <a:lnTo>
                    <a:pt x="0" y="3544693"/>
                  </a:lnTo>
                  <a:cubicBezTo>
                    <a:pt x="0" y="2327403"/>
                    <a:pt x="7145" y="1224435"/>
                    <a:pt x="7145" y="7145"/>
                  </a:cubicBezTo>
                  <a:close/>
                </a:path>
              </a:pathLst>
            </a:cu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矩形 259"/>
          <p:cNvSpPr>
            <a:spLocks noChangeArrowheads="1"/>
          </p:cNvSpPr>
          <p:nvPr/>
        </p:nvSpPr>
        <p:spPr bwMode="auto">
          <a:xfrm>
            <a:off x="16723" y="3983478"/>
            <a:ext cx="914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lvl="2" algn="ctr"/>
            <a:r>
              <a:rPr lang="zh-CN" altLang="en-US" sz="4800" b="1" dirty="0">
                <a:solidFill>
                  <a:schemeClr val="bg1"/>
                </a:solidFill>
                <a:latin typeface="+mn-ea"/>
                <a:ea typeface="+mn-ea"/>
              </a:rPr>
              <a:t>创新教育</a:t>
            </a:r>
            <a:r>
              <a:rPr lang="en-US" altLang="zh-CN" sz="4800" b="1" dirty="0">
                <a:solidFill>
                  <a:schemeClr val="bg1"/>
                </a:solidFill>
                <a:latin typeface="+mn-ea"/>
                <a:ea typeface="+mn-ea"/>
              </a:rPr>
              <a:t>  </a:t>
            </a:r>
            <a:r>
              <a:rPr lang="zh-CN" altLang="en-US" sz="4800" b="1" dirty="0">
                <a:solidFill>
                  <a:schemeClr val="bg1"/>
                </a:solidFill>
                <a:latin typeface="+mn-ea"/>
                <a:ea typeface="+mn-ea"/>
              </a:rPr>
              <a:t>引领未来</a:t>
            </a:r>
            <a:endParaRPr lang="zh-CN" altLang="en-US" sz="4800" b="1" dirty="0">
              <a:solidFill>
                <a:schemeClr val="bg1"/>
              </a:solidFill>
              <a:latin typeface="+mn-ea"/>
              <a:ea typeface="+mn-ea"/>
              <a:sym typeface="Impact" panose="020B0806030902050204" pitchFamily="34" charset="0"/>
            </a:endParaRPr>
          </a:p>
        </p:txBody>
      </p:sp>
      <p:grpSp>
        <p:nvGrpSpPr>
          <p:cNvPr id="14" name="组合 46"/>
          <p:cNvGrpSpPr/>
          <p:nvPr/>
        </p:nvGrpSpPr>
        <p:grpSpPr bwMode="auto">
          <a:xfrm>
            <a:off x="3795175" y="970438"/>
            <a:ext cx="1587103" cy="1587103"/>
            <a:chOff x="0" y="0"/>
            <a:chExt cx="2116920" cy="2116920"/>
          </a:xfrm>
        </p:grpSpPr>
        <p:sp>
          <p:nvSpPr>
            <p:cNvPr id="15" name="椭圆 47"/>
            <p:cNvSpPr>
              <a:spLocks noChangeArrowheads="1"/>
            </p:cNvSpPr>
            <p:nvPr/>
          </p:nvSpPr>
          <p:spPr bwMode="auto">
            <a:xfrm>
              <a:off x="0" y="0"/>
              <a:ext cx="2116920" cy="2116920"/>
            </a:xfrm>
            <a:prstGeom prst="ellipse">
              <a:avLst/>
            </a:prstGeom>
            <a:solidFill>
              <a:srgbClr val="F2F2F2"/>
            </a:solidFill>
            <a:ln w="57150">
              <a:solidFill>
                <a:srgbClr val="1D8DE5"/>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endParaRPr>
            </a:p>
          </p:txBody>
        </p:sp>
        <p:grpSp>
          <p:nvGrpSpPr>
            <p:cNvPr id="16" name="组合 48"/>
            <p:cNvGrpSpPr/>
            <p:nvPr/>
          </p:nvGrpSpPr>
          <p:grpSpPr bwMode="auto">
            <a:xfrm>
              <a:off x="461855" y="280091"/>
              <a:ext cx="1193210" cy="1836829"/>
              <a:chOff x="0" y="0"/>
              <a:chExt cx="2598738" cy="4000499"/>
            </a:xfrm>
          </p:grpSpPr>
          <p:sp>
            <p:nvSpPr>
              <p:cNvPr id="17" name="Freeform 1281"/>
              <p:cNvSpPr>
                <a:spLocks noChangeArrowheads="1"/>
              </p:cNvSpPr>
              <p:nvPr/>
            </p:nvSpPr>
            <p:spPr bwMode="auto">
              <a:xfrm>
                <a:off x="1435100" y="3543299"/>
                <a:ext cx="327025" cy="457200"/>
              </a:xfrm>
              <a:custGeom>
                <a:avLst/>
                <a:gdLst>
                  <a:gd name="T0" fmla="*/ 519152188 w 206"/>
                  <a:gd name="T1" fmla="*/ 0 h 288"/>
                  <a:gd name="T2" fmla="*/ 367942813 w 206"/>
                  <a:gd name="T3" fmla="*/ 0 h 288"/>
                  <a:gd name="T4" fmla="*/ 153730325 w 206"/>
                  <a:gd name="T5" fmla="*/ 0 h 288"/>
                  <a:gd name="T6" fmla="*/ 0 w 206"/>
                  <a:gd name="T7" fmla="*/ 0 h 288"/>
                  <a:gd name="T8" fmla="*/ 0 w 206"/>
                  <a:gd name="T9" fmla="*/ 20161250 h 288"/>
                  <a:gd name="T10" fmla="*/ 153730325 w 206"/>
                  <a:gd name="T11" fmla="*/ 20161250 h 288"/>
                  <a:gd name="T12" fmla="*/ 153730325 w 206"/>
                  <a:gd name="T13" fmla="*/ 725805000 h 288"/>
                  <a:gd name="T14" fmla="*/ 153730325 w 206"/>
                  <a:gd name="T15" fmla="*/ 725805000 h 288"/>
                  <a:gd name="T16" fmla="*/ 367942813 w 206"/>
                  <a:gd name="T17" fmla="*/ 725805000 h 288"/>
                  <a:gd name="T18" fmla="*/ 367942813 w 206"/>
                  <a:gd name="T19" fmla="*/ 725805000 h 288"/>
                  <a:gd name="T20" fmla="*/ 367942813 w 206"/>
                  <a:gd name="T21" fmla="*/ 20161250 h 288"/>
                  <a:gd name="T22" fmla="*/ 519152188 w 206"/>
                  <a:gd name="T23" fmla="*/ 20161250 h 288"/>
                  <a:gd name="T24" fmla="*/ 519152188 w 206"/>
                  <a:gd name="T25" fmla="*/ 0 h 2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6"/>
                  <a:gd name="T40" fmla="*/ 0 h 288"/>
                  <a:gd name="T41" fmla="*/ 206 w 206"/>
                  <a:gd name="T42" fmla="*/ 288 h 2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6" h="288">
                    <a:moveTo>
                      <a:pt x="206" y="0"/>
                    </a:moveTo>
                    <a:lnTo>
                      <a:pt x="146" y="0"/>
                    </a:lnTo>
                    <a:lnTo>
                      <a:pt x="61" y="0"/>
                    </a:lnTo>
                    <a:lnTo>
                      <a:pt x="0" y="0"/>
                    </a:lnTo>
                    <a:lnTo>
                      <a:pt x="0" y="8"/>
                    </a:lnTo>
                    <a:lnTo>
                      <a:pt x="61" y="8"/>
                    </a:lnTo>
                    <a:lnTo>
                      <a:pt x="61" y="288"/>
                    </a:lnTo>
                    <a:lnTo>
                      <a:pt x="146" y="288"/>
                    </a:lnTo>
                    <a:lnTo>
                      <a:pt x="146" y="8"/>
                    </a:lnTo>
                    <a:lnTo>
                      <a:pt x="206" y="8"/>
                    </a:lnTo>
                    <a:lnTo>
                      <a:pt x="20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8" name="Freeform 1283"/>
              <p:cNvSpPr>
                <a:spLocks noChangeArrowheads="1"/>
              </p:cNvSpPr>
              <p:nvPr/>
            </p:nvSpPr>
            <p:spPr bwMode="auto">
              <a:xfrm>
                <a:off x="1820863" y="3541712"/>
                <a:ext cx="328613" cy="458787"/>
              </a:xfrm>
              <a:custGeom>
                <a:avLst/>
                <a:gdLst>
                  <a:gd name="T0" fmla="*/ 521673931 w 207"/>
                  <a:gd name="T1" fmla="*/ 0 h 289"/>
                  <a:gd name="T2" fmla="*/ 214214401 w 207"/>
                  <a:gd name="T3" fmla="*/ 0 h 289"/>
                  <a:gd name="T4" fmla="*/ 138609598 w 207"/>
                  <a:gd name="T5" fmla="*/ 0 h 289"/>
                  <a:gd name="T6" fmla="*/ 0 w 207"/>
                  <a:gd name="T7" fmla="*/ 0 h 289"/>
                  <a:gd name="T8" fmla="*/ 0 w 207"/>
                  <a:gd name="T9" fmla="*/ 728323569 h 289"/>
                  <a:gd name="T10" fmla="*/ 138609598 w 207"/>
                  <a:gd name="T11" fmla="*/ 728323569 h 289"/>
                  <a:gd name="T12" fmla="*/ 214214401 w 207"/>
                  <a:gd name="T13" fmla="*/ 728323569 h 289"/>
                  <a:gd name="T14" fmla="*/ 521673931 w 207"/>
                  <a:gd name="T15" fmla="*/ 728323569 h 289"/>
                  <a:gd name="T16" fmla="*/ 521673931 w 207"/>
                  <a:gd name="T17" fmla="*/ 708162341 h 289"/>
                  <a:gd name="T18" fmla="*/ 214214401 w 207"/>
                  <a:gd name="T19" fmla="*/ 708162341 h 289"/>
                  <a:gd name="T20" fmla="*/ 214214401 w 207"/>
                  <a:gd name="T21" fmla="*/ 161289824 h 289"/>
                  <a:gd name="T22" fmla="*/ 405746567 w 207"/>
                  <a:gd name="T23" fmla="*/ 161289824 h 289"/>
                  <a:gd name="T24" fmla="*/ 405746567 w 207"/>
                  <a:gd name="T25" fmla="*/ 141128596 h 289"/>
                  <a:gd name="T26" fmla="*/ 214214401 w 207"/>
                  <a:gd name="T27" fmla="*/ 141128596 h 289"/>
                  <a:gd name="T28" fmla="*/ 214214401 w 207"/>
                  <a:gd name="T29" fmla="*/ 20161228 h 289"/>
                  <a:gd name="T30" fmla="*/ 521673931 w 207"/>
                  <a:gd name="T31" fmla="*/ 20161228 h 289"/>
                  <a:gd name="T32" fmla="*/ 521673931 w 207"/>
                  <a:gd name="T33" fmla="*/ 0 h 289"/>
                  <a:gd name="T34" fmla="*/ 521673931 w 207"/>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7"/>
                  <a:gd name="T55" fmla="*/ 0 h 289"/>
                  <a:gd name="T56" fmla="*/ 207 w 207"/>
                  <a:gd name="T57" fmla="*/ 289 h 2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7" h="289">
                    <a:moveTo>
                      <a:pt x="207" y="0"/>
                    </a:moveTo>
                    <a:lnTo>
                      <a:pt x="85" y="0"/>
                    </a:lnTo>
                    <a:lnTo>
                      <a:pt x="55" y="0"/>
                    </a:lnTo>
                    <a:lnTo>
                      <a:pt x="0" y="0"/>
                    </a:lnTo>
                    <a:lnTo>
                      <a:pt x="0" y="289"/>
                    </a:lnTo>
                    <a:lnTo>
                      <a:pt x="55" y="289"/>
                    </a:lnTo>
                    <a:lnTo>
                      <a:pt x="85" y="289"/>
                    </a:lnTo>
                    <a:lnTo>
                      <a:pt x="207" y="289"/>
                    </a:lnTo>
                    <a:lnTo>
                      <a:pt x="207" y="281"/>
                    </a:lnTo>
                    <a:lnTo>
                      <a:pt x="85" y="281"/>
                    </a:lnTo>
                    <a:lnTo>
                      <a:pt x="85" y="64"/>
                    </a:lnTo>
                    <a:lnTo>
                      <a:pt x="161" y="64"/>
                    </a:lnTo>
                    <a:lnTo>
                      <a:pt x="161" y="56"/>
                    </a:lnTo>
                    <a:lnTo>
                      <a:pt x="85" y="56"/>
                    </a:lnTo>
                    <a:lnTo>
                      <a:pt x="85" y="8"/>
                    </a:lnTo>
                    <a:lnTo>
                      <a:pt x="207" y="8"/>
                    </a:lnTo>
                    <a:lnTo>
                      <a:pt x="20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9" name="Freeform 1284"/>
              <p:cNvSpPr>
                <a:spLocks noChangeArrowheads="1"/>
              </p:cNvSpPr>
              <p:nvPr/>
            </p:nvSpPr>
            <p:spPr bwMode="auto">
              <a:xfrm>
                <a:off x="2598738" y="3733799"/>
                <a:ext cx="1" cy="3175"/>
              </a:xfrm>
              <a:custGeom>
                <a:avLst/>
                <a:gdLst>
                  <a:gd name="T0" fmla="*/ 0 w 1"/>
                  <a:gd name="T1" fmla="*/ 0 h 2"/>
                  <a:gd name="T2" fmla="*/ 0 w 1"/>
                  <a:gd name="T3" fmla="*/ 2520950 h 2"/>
                  <a:gd name="T4" fmla="*/ 0 w 1"/>
                  <a:gd name="T5" fmla="*/ 5040313 h 2"/>
                  <a:gd name="T6" fmla="*/ 0 w 1"/>
                  <a:gd name="T7" fmla="*/ 0 h 2"/>
                  <a:gd name="T8" fmla="*/ 0 60000 65536"/>
                  <a:gd name="T9" fmla="*/ 0 60000 65536"/>
                  <a:gd name="T10" fmla="*/ 0 60000 65536"/>
                  <a:gd name="T11" fmla="*/ 0 60000 65536"/>
                  <a:gd name="T12" fmla="*/ 0 w 1"/>
                  <a:gd name="T13" fmla="*/ 0 h 2"/>
                  <a:gd name="T14" fmla="*/ 1 w 1"/>
                  <a:gd name="T15" fmla="*/ 2 h 2"/>
                </a:gdLst>
                <a:ahLst/>
                <a:cxnLst>
                  <a:cxn ang="T8">
                    <a:pos x="T0" y="T1"/>
                  </a:cxn>
                  <a:cxn ang="T9">
                    <a:pos x="T2" y="T3"/>
                  </a:cxn>
                  <a:cxn ang="T10">
                    <a:pos x="T4" y="T5"/>
                  </a:cxn>
                  <a:cxn ang="T11">
                    <a:pos x="T6" y="T7"/>
                  </a:cxn>
                </a:cxnLst>
                <a:rect l="T12" t="T13" r="T14" b="T15"/>
                <a:pathLst>
                  <a:path w="1" h="2">
                    <a:moveTo>
                      <a:pt x="0" y="0"/>
                    </a:moveTo>
                    <a:cubicBezTo>
                      <a:pt x="0" y="0"/>
                      <a:pt x="0" y="1"/>
                      <a:pt x="0" y="1"/>
                    </a:cubicBezTo>
                    <a:cubicBezTo>
                      <a:pt x="0" y="2"/>
                      <a:pt x="0" y="2"/>
                      <a:pt x="0" y="2"/>
                    </a:cubicBezTo>
                    <a:cubicBezTo>
                      <a:pt x="0" y="0"/>
                      <a:pt x="0" y="0"/>
                      <a:pt x="0" y="0"/>
                    </a:cubicBezTo>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0" name="Freeform 1289"/>
              <p:cNvSpPr>
                <a:spLocks noChangeArrowheads="1"/>
              </p:cNvSpPr>
              <p:nvPr/>
            </p:nvSpPr>
            <p:spPr bwMode="auto">
              <a:xfrm>
                <a:off x="1112838" y="3733799"/>
                <a:ext cx="1" cy="3175"/>
              </a:xfrm>
              <a:custGeom>
                <a:avLst/>
                <a:gdLst>
                  <a:gd name="T0" fmla="*/ 0 w 1"/>
                  <a:gd name="T1" fmla="*/ 0 h 3"/>
                  <a:gd name="T2" fmla="*/ 0 w 1"/>
                  <a:gd name="T3" fmla="*/ 2240492 h 3"/>
                  <a:gd name="T4" fmla="*/ 0 w 1"/>
                  <a:gd name="T5" fmla="*/ 3360208 h 3"/>
                  <a:gd name="T6" fmla="*/ 0 w 1"/>
                  <a:gd name="T7" fmla="*/ 0 h 3"/>
                  <a:gd name="T8" fmla="*/ 0 60000 65536"/>
                  <a:gd name="T9" fmla="*/ 0 60000 65536"/>
                  <a:gd name="T10" fmla="*/ 0 60000 65536"/>
                  <a:gd name="T11" fmla="*/ 0 60000 65536"/>
                  <a:gd name="T12" fmla="*/ 0 w 1"/>
                  <a:gd name="T13" fmla="*/ 0 h 3"/>
                  <a:gd name="T14" fmla="*/ 1 w 1"/>
                  <a:gd name="T15" fmla="*/ 3 h 3"/>
                </a:gdLst>
                <a:ahLst/>
                <a:cxnLst>
                  <a:cxn ang="T8">
                    <a:pos x="T0" y="T1"/>
                  </a:cxn>
                  <a:cxn ang="T9">
                    <a:pos x="T2" y="T3"/>
                  </a:cxn>
                  <a:cxn ang="T10">
                    <a:pos x="T4" y="T5"/>
                  </a:cxn>
                  <a:cxn ang="T11">
                    <a:pos x="T6" y="T7"/>
                  </a:cxn>
                </a:cxnLst>
                <a:rect l="T12" t="T13" r="T14" b="T15"/>
                <a:pathLst>
                  <a:path w="1" h="3">
                    <a:moveTo>
                      <a:pt x="0" y="0"/>
                    </a:moveTo>
                    <a:cubicBezTo>
                      <a:pt x="0" y="1"/>
                      <a:pt x="0" y="1"/>
                      <a:pt x="0" y="2"/>
                    </a:cubicBezTo>
                    <a:cubicBezTo>
                      <a:pt x="0" y="2"/>
                      <a:pt x="0" y="3"/>
                      <a:pt x="0" y="3"/>
                    </a:cubicBezTo>
                    <a:cubicBezTo>
                      <a:pt x="0" y="0"/>
                      <a:pt x="0" y="0"/>
                      <a:pt x="0" y="0"/>
                    </a:cubicBezTo>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1" name="Freeform 1292"/>
              <p:cNvSpPr>
                <a:spLocks noChangeArrowheads="1"/>
              </p:cNvSpPr>
              <p:nvPr/>
            </p:nvSpPr>
            <p:spPr bwMode="auto">
              <a:xfrm>
                <a:off x="0" y="3543299"/>
                <a:ext cx="395288" cy="457200"/>
              </a:xfrm>
              <a:custGeom>
                <a:avLst/>
                <a:gdLst>
                  <a:gd name="T0" fmla="*/ 627520494 w 249"/>
                  <a:gd name="T1" fmla="*/ 0 h 288"/>
                  <a:gd name="T2" fmla="*/ 521673797 w 249"/>
                  <a:gd name="T3" fmla="*/ 0 h 288"/>
                  <a:gd name="T4" fmla="*/ 413306148 w 249"/>
                  <a:gd name="T5" fmla="*/ 0 h 288"/>
                  <a:gd name="T6" fmla="*/ 413306148 w 249"/>
                  <a:gd name="T7" fmla="*/ 138609388 h 288"/>
                  <a:gd name="T8" fmla="*/ 214214346 w 249"/>
                  <a:gd name="T9" fmla="*/ 138609388 h 288"/>
                  <a:gd name="T10" fmla="*/ 214214346 w 249"/>
                  <a:gd name="T11" fmla="*/ 0 h 288"/>
                  <a:gd name="T12" fmla="*/ 0 w 249"/>
                  <a:gd name="T13" fmla="*/ 0 h 288"/>
                  <a:gd name="T14" fmla="*/ 0 w 249"/>
                  <a:gd name="T15" fmla="*/ 725805000 h 288"/>
                  <a:gd name="T16" fmla="*/ 214214346 w 249"/>
                  <a:gd name="T17" fmla="*/ 725805000 h 288"/>
                  <a:gd name="T18" fmla="*/ 214214346 w 249"/>
                  <a:gd name="T19" fmla="*/ 161290000 h 288"/>
                  <a:gd name="T20" fmla="*/ 413306148 w 249"/>
                  <a:gd name="T21" fmla="*/ 161290000 h 288"/>
                  <a:gd name="T22" fmla="*/ 413306148 w 249"/>
                  <a:gd name="T23" fmla="*/ 725805000 h 288"/>
                  <a:gd name="T24" fmla="*/ 521673797 w 249"/>
                  <a:gd name="T25" fmla="*/ 725805000 h 288"/>
                  <a:gd name="T26" fmla="*/ 627520494 w 249"/>
                  <a:gd name="T27" fmla="*/ 725805000 h 288"/>
                  <a:gd name="T28" fmla="*/ 627520494 w 249"/>
                  <a:gd name="T29" fmla="*/ 725805000 h 288"/>
                  <a:gd name="T30" fmla="*/ 627520494 w 249"/>
                  <a:gd name="T31" fmla="*/ 0 h 2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9"/>
                  <a:gd name="T49" fmla="*/ 0 h 288"/>
                  <a:gd name="T50" fmla="*/ 249 w 249"/>
                  <a:gd name="T51" fmla="*/ 288 h 28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9" h="288">
                    <a:moveTo>
                      <a:pt x="249" y="0"/>
                    </a:moveTo>
                    <a:lnTo>
                      <a:pt x="207" y="0"/>
                    </a:lnTo>
                    <a:lnTo>
                      <a:pt x="164" y="0"/>
                    </a:lnTo>
                    <a:lnTo>
                      <a:pt x="164" y="55"/>
                    </a:lnTo>
                    <a:lnTo>
                      <a:pt x="85" y="55"/>
                    </a:lnTo>
                    <a:lnTo>
                      <a:pt x="85" y="0"/>
                    </a:lnTo>
                    <a:lnTo>
                      <a:pt x="0" y="0"/>
                    </a:lnTo>
                    <a:lnTo>
                      <a:pt x="0" y="288"/>
                    </a:lnTo>
                    <a:lnTo>
                      <a:pt x="85" y="288"/>
                    </a:lnTo>
                    <a:lnTo>
                      <a:pt x="85" y="64"/>
                    </a:lnTo>
                    <a:lnTo>
                      <a:pt x="164" y="64"/>
                    </a:lnTo>
                    <a:lnTo>
                      <a:pt x="164" y="288"/>
                    </a:lnTo>
                    <a:lnTo>
                      <a:pt x="207" y="288"/>
                    </a:lnTo>
                    <a:lnTo>
                      <a:pt x="249" y="288"/>
                    </a:lnTo>
                    <a:lnTo>
                      <a:pt x="24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2" name="Freeform 1293"/>
              <p:cNvSpPr>
                <a:spLocks noEditPoints="1" noChangeArrowheads="1"/>
              </p:cNvSpPr>
              <p:nvPr/>
            </p:nvSpPr>
            <p:spPr bwMode="auto">
              <a:xfrm>
                <a:off x="319088" y="1646237"/>
                <a:ext cx="1916113" cy="677862"/>
              </a:xfrm>
              <a:custGeom>
                <a:avLst/>
                <a:gdLst>
                  <a:gd name="T0" fmla="*/ 2147483646 w 1660"/>
                  <a:gd name="T1" fmla="*/ 137354242 h 587"/>
                  <a:gd name="T2" fmla="*/ 2126468733 w 1660"/>
                  <a:gd name="T3" fmla="*/ 90681076 h 587"/>
                  <a:gd name="T4" fmla="*/ 1460281260 w 1660"/>
                  <a:gd name="T5" fmla="*/ 52008298 h 587"/>
                  <a:gd name="T6" fmla="*/ 1115196235 w 1660"/>
                  <a:gd name="T7" fmla="*/ 198697866 h 587"/>
                  <a:gd name="T8" fmla="*/ 1096544144 w 1660"/>
                  <a:gd name="T9" fmla="*/ 198697866 h 587"/>
                  <a:gd name="T10" fmla="*/ 751459119 w 1660"/>
                  <a:gd name="T11" fmla="*/ 52008298 h 587"/>
                  <a:gd name="T12" fmla="*/ 85271646 w 1660"/>
                  <a:gd name="T13" fmla="*/ 90681076 h 587"/>
                  <a:gd name="T14" fmla="*/ 2665244 w 1660"/>
                  <a:gd name="T15" fmla="*/ 137354242 h 587"/>
                  <a:gd name="T16" fmla="*/ 35974444 w 1660"/>
                  <a:gd name="T17" fmla="*/ 214699797 h 587"/>
                  <a:gd name="T18" fmla="*/ 130572712 w 1660"/>
                  <a:gd name="T19" fmla="*/ 394728165 h 587"/>
                  <a:gd name="T20" fmla="*/ 285128003 w 1660"/>
                  <a:gd name="T21" fmla="*/ 721446102 h 587"/>
                  <a:gd name="T22" fmla="*/ 818077520 w 1660"/>
                  <a:gd name="T23" fmla="*/ 716110970 h 587"/>
                  <a:gd name="T24" fmla="*/ 1103205523 w 1660"/>
                  <a:gd name="T25" fmla="*/ 317382610 h 587"/>
                  <a:gd name="T26" fmla="*/ 1108534856 w 1660"/>
                  <a:gd name="T27" fmla="*/ 317382610 h 587"/>
                  <a:gd name="T28" fmla="*/ 1393662859 w 1660"/>
                  <a:gd name="T29" fmla="*/ 716110970 h 587"/>
                  <a:gd name="T30" fmla="*/ 1926612376 w 1660"/>
                  <a:gd name="T31" fmla="*/ 721446102 h 587"/>
                  <a:gd name="T32" fmla="*/ 2081167666 w 1660"/>
                  <a:gd name="T33" fmla="*/ 394728165 h 587"/>
                  <a:gd name="T34" fmla="*/ 2147483646 w 1660"/>
                  <a:gd name="T35" fmla="*/ 214699797 h 587"/>
                  <a:gd name="T36" fmla="*/ 2147483646 w 1660"/>
                  <a:gd name="T37" fmla="*/ 137354242 h 587"/>
                  <a:gd name="T38" fmla="*/ 892690498 w 1660"/>
                  <a:gd name="T39" fmla="*/ 454738006 h 587"/>
                  <a:gd name="T40" fmla="*/ 783436274 w 1660"/>
                  <a:gd name="T41" fmla="*/ 652102089 h 587"/>
                  <a:gd name="T42" fmla="*/ 547605473 w 1660"/>
                  <a:gd name="T43" fmla="*/ 692107495 h 587"/>
                  <a:gd name="T44" fmla="*/ 311775825 w 1660"/>
                  <a:gd name="T45" fmla="*/ 653434717 h 587"/>
                  <a:gd name="T46" fmla="*/ 213180268 w 1660"/>
                  <a:gd name="T47" fmla="*/ 421399206 h 587"/>
                  <a:gd name="T48" fmla="*/ 194527024 w 1660"/>
                  <a:gd name="T49" fmla="*/ 176027019 h 587"/>
                  <a:gd name="T50" fmla="*/ 539610895 w 1660"/>
                  <a:gd name="T51" fmla="*/ 118684744 h 587"/>
                  <a:gd name="T52" fmla="*/ 935326321 w 1660"/>
                  <a:gd name="T53" fmla="*/ 226701534 h 587"/>
                  <a:gd name="T54" fmla="*/ 892690498 w 1660"/>
                  <a:gd name="T55" fmla="*/ 454738006 h 587"/>
                  <a:gd name="T56" fmla="*/ 1998560110 w 1660"/>
                  <a:gd name="T57" fmla="*/ 421399206 h 587"/>
                  <a:gd name="T58" fmla="*/ 1899964554 w 1660"/>
                  <a:gd name="T59" fmla="*/ 653434717 h 587"/>
                  <a:gd name="T60" fmla="*/ 1664134906 w 1660"/>
                  <a:gd name="T61" fmla="*/ 692107495 h 587"/>
                  <a:gd name="T62" fmla="*/ 1428304104 w 1660"/>
                  <a:gd name="T63" fmla="*/ 652102089 h 587"/>
                  <a:gd name="T64" fmla="*/ 1319049881 w 1660"/>
                  <a:gd name="T65" fmla="*/ 454738006 h 587"/>
                  <a:gd name="T66" fmla="*/ 1276414058 w 1660"/>
                  <a:gd name="T67" fmla="*/ 226701534 h 587"/>
                  <a:gd name="T68" fmla="*/ 1672129484 w 1660"/>
                  <a:gd name="T69" fmla="*/ 118684744 h 587"/>
                  <a:gd name="T70" fmla="*/ 2017213355 w 1660"/>
                  <a:gd name="T71" fmla="*/ 176027019 h 587"/>
                  <a:gd name="T72" fmla="*/ 1998560110 w 1660"/>
                  <a:gd name="T73" fmla="*/ 421399206 h 58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60"/>
                  <a:gd name="T112" fmla="*/ 0 h 587"/>
                  <a:gd name="T113" fmla="*/ 1660 w 1660"/>
                  <a:gd name="T114" fmla="*/ 587 h 58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60" h="587">
                    <a:moveTo>
                      <a:pt x="1658" y="103"/>
                    </a:moveTo>
                    <a:cubicBezTo>
                      <a:pt x="1658" y="71"/>
                      <a:pt x="1653" y="83"/>
                      <a:pt x="1596" y="68"/>
                    </a:cubicBezTo>
                    <a:cubicBezTo>
                      <a:pt x="1539" y="52"/>
                      <a:pt x="1364" y="0"/>
                      <a:pt x="1096" y="39"/>
                    </a:cubicBezTo>
                    <a:cubicBezTo>
                      <a:pt x="872" y="72"/>
                      <a:pt x="929" y="146"/>
                      <a:pt x="837" y="149"/>
                    </a:cubicBezTo>
                    <a:cubicBezTo>
                      <a:pt x="823" y="149"/>
                      <a:pt x="823" y="149"/>
                      <a:pt x="823" y="149"/>
                    </a:cubicBezTo>
                    <a:cubicBezTo>
                      <a:pt x="731" y="146"/>
                      <a:pt x="788" y="72"/>
                      <a:pt x="564" y="39"/>
                    </a:cubicBezTo>
                    <a:cubicBezTo>
                      <a:pt x="296" y="0"/>
                      <a:pt x="121" y="52"/>
                      <a:pt x="64" y="68"/>
                    </a:cubicBezTo>
                    <a:cubicBezTo>
                      <a:pt x="7" y="83"/>
                      <a:pt x="2" y="71"/>
                      <a:pt x="2" y="103"/>
                    </a:cubicBezTo>
                    <a:cubicBezTo>
                      <a:pt x="3" y="135"/>
                      <a:pt x="0" y="161"/>
                      <a:pt x="27" y="161"/>
                    </a:cubicBezTo>
                    <a:cubicBezTo>
                      <a:pt x="55" y="161"/>
                      <a:pt x="55" y="161"/>
                      <a:pt x="98" y="296"/>
                    </a:cubicBezTo>
                    <a:cubicBezTo>
                      <a:pt x="150" y="458"/>
                      <a:pt x="164" y="504"/>
                      <a:pt x="214" y="541"/>
                    </a:cubicBezTo>
                    <a:cubicBezTo>
                      <a:pt x="275" y="587"/>
                      <a:pt x="531" y="587"/>
                      <a:pt x="614" y="537"/>
                    </a:cubicBezTo>
                    <a:cubicBezTo>
                      <a:pt x="717" y="475"/>
                      <a:pt x="704" y="241"/>
                      <a:pt x="828" y="238"/>
                    </a:cubicBezTo>
                    <a:cubicBezTo>
                      <a:pt x="829" y="238"/>
                      <a:pt x="831" y="238"/>
                      <a:pt x="832" y="238"/>
                    </a:cubicBezTo>
                    <a:cubicBezTo>
                      <a:pt x="956" y="241"/>
                      <a:pt x="943" y="475"/>
                      <a:pt x="1046" y="537"/>
                    </a:cubicBezTo>
                    <a:cubicBezTo>
                      <a:pt x="1129" y="587"/>
                      <a:pt x="1385" y="587"/>
                      <a:pt x="1446" y="541"/>
                    </a:cubicBezTo>
                    <a:cubicBezTo>
                      <a:pt x="1496" y="504"/>
                      <a:pt x="1510" y="458"/>
                      <a:pt x="1562" y="296"/>
                    </a:cubicBezTo>
                    <a:cubicBezTo>
                      <a:pt x="1605" y="161"/>
                      <a:pt x="1605" y="161"/>
                      <a:pt x="1633" y="161"/>
                    </a:cubicBezTo>
                    <a:cubicBezTo>
                      <a:pt x="1660" y="161"/>
                      <a:pt x="1657" y="135"/>
                      <a:pt x="1658" y="103"/>
                    </a:cubicBezTo>
                    <a:close/>
                    <a:moveTo>
                      <a:pt x="670" y="341"/>
                    </a:moveTo>
                    <a:cubicBezTo>
                      <a:pt x="644" y="407"/>
                      <a:pt x="624" y="465"/>
                      <a:pt x="588" y="489"/>
                    </a:cubicBezTo>
                    <a:cubicBezTo>
                      <a:pt x="550" y="515"/>
                      <a:pt x="494" y="520"/>
                      <a:pt x="411" y="519"/>
                    </a:cubicBezTo>
                    <a:cubicBezTo>
                      <a:pt x="341" y="517"/>
                      <a:pt x="266" y="520"/>
                      <a:pt x="234" y="490"/>
                    </a:cubicBezTo>
                    <a:cubicBezTo>
                      <a:pt x="208" y="465"/>
                      <a:pt x="182" y="386"/>
                      <a:pt x="160" y="316"/>
                    </a:cubicBezTo>
                    <a:cubicBezTo>
                      <a:pt x="129" y="219"/>
                      <a:pt x="115" y="161"/>
                      <a:pt x="146" y="132"/>
                    </a:cubicBezTo>
                    <a:cubicBezTo>
                      <a:pt x="185" y="97"/>
                      <a:pt x="286" y="91"/>
                      <a:pt x="405" y="89"/>
                    </a:cubicBezTo>
                    <a:cubicBezTo>
                      <a:pt x="524" y="88"/>
                      <a:pt x="682" y="123"/>
                      <a:pt x="702" y="170"/>
                    </a:cubicBezTo>
                    <a:cubicBezTo>
                      <a:pt x="718" y="205"/>
                      <a:pt x="693" y="282"/>
                      <a:pt x="670" y="341"/>
                    </a:cubicBezTo>
                    <a:close/>
                    <a:moveTo>
                      <a:pt x="1500" y="316"/>
                    </a:moveTo>
                    <a:cubicBezTo>
                      <a:pt x="1478" y="386"/>
                      <a:pt x="1452" y="465"/>
                      <a:pt x="1426" y="490"/>
                    </a:cubicBezTo>
                    <a:cubicBezTo>
                      <a:pt x="1394" y="520"/>
                      <a:pt x="1319" y="517"/>
                      <a:pt x="1249" y="519"/>
                    </a:cubicBezTo>
                    <a:cubicBezTo>
                      <a:pt x="1166" y="520"/>
                      <a:pt x="1110" y="515"/>
                      <a:pt x="1072" y="489"/>
                    </a:cubicBezTo>
                    <a:cubicBezTo>
                      <a:pt x="1036" y="465"/>
                      <a:pt x="1016" y="407"/>
                      <a:pt x="990" y="341"/>
                    </a:cubicBezTo>
                    <a:cubicBezTo>
                      <a:pt x="967" y="282"/>
                      <a:pt x="942" y="205"/>
                      <a:pt x="958" y="170"/>
                    </a:cubicBezTo>
                    <a:cubicBezTo>
                      <a:pt x="978" y="123"/>
                      <a:pt x="1136" y="88"/>
                      <a:pt x="1255" y="89"/>
                    </a:cubicBezTo>
                    <a:cubicBezTo>
                      <a:pt x="1374" y="91"/>
                      <a:pt x="1475" y="97"/>
                      <a:pt x="1514" y="132"/>
                    </a:cubicBezTo>
                    <a:cubicBezTo>
                      <a:pt x="1546" y="161"/>
                      <a:pt x="1531" y="219"/>
                      <a:pt x="1500" y="316"/>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3" name="Freeform 1294"/>
              <p:cNvSpPr>
                <a:spLocks noChangeArrowheads="1"/>
              </p:cNvSpPr>
              <p:nvPr/>
            </p:nvSpPr>
            <p:spPr bwMode="auto">
              <a:xfrm>
                <a:off x="663575" y="2454274"/>
                <a:ext cx="622300" cy="488950"/>
              </a:xfrm>
              <a:custGeom>
                <a:avLst/>
                <a:gdLst>
                  <a:gd name="T0" fmla="*/ 0 w 538"/>
                  <a:gd name="T1" fmla="*/ 461452328 h 424"/>
                  <a:gd name="T2" fmla="*/ 204704313 w 538"/>
                  <a:gd name="T3" fmla="*/ 398949758 h 424"/>
                  <a:gd name="T4" fmla="*/ 457573257 w 538"/>
                  <a:gd name="T5" fmla="*/ 216762836 h 424"/>
                  <a:gd name="T6" fmla="*/ 709105067 w 538"/>
                  <a:gd name="T7" fmla="*/ 115695487 h 424"/>
                  <a:gd name="T8" fmla="*/ 544539104 w 538"/>
                  <a:gd name="T9" fmla="*/ 2659242 h 424"/>
                  <a:gd name="T10" fmla="*/ 198014009 w 538"/>
                  <a:gd name="T11" fmla="*/ 239369855 h 424"/>
                  <a:gd name="T12" fmla="*/ 109711027 w 538"/>
                  <a:gd name="T13" fmla="*/ 433525672 h 424"/>
                  <a:gd name="T14" fmla="*/ 0 w 538"/>
                  <a:gd name="T15" fmla="*/ 461452328 h 424"/>
                  <a:gd name="T16" fmla="*/ 0 60000 65536"/>
                  <a:gd name="T17" fmla="*/ 0 60000 65536"/>
                  <a:gd name="T18" fmla="*/ 0 60000 65536"/>
                  <a:gd name="T19" fmla="*/ 0 60000 65536"/>
                  <a:gd name="T20" fmla="*/ 0 60000 65536"/>
                  <a:gd name="T21" fmla="*/ 0 60000 65536"/>
                  <a:gd name="T22" fmla="*/ 0 60000 65536"/>
                  <a:gd name="T23" fmla="*/ 0 60000 65536"/>
                  <a:gd name="T24" fmla="*/ 0 w 538"/>
                  <a:gd name="T25" fmla="*/ 0 h 424"/>
                  <a:gd name="T26" fmla="*/ 538 w 538"/>
                  <a:gd name="T27" fmla="*/ 424 h 4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8" h="424">
                    <a:moveTo>
                      <a:pt x="0" y="347"/>
                    </a:moveTo>
                    <a:cubicBezTo>
                      <a:pt x="0" y="347"/>
                      <a:pt x="82" y="424"/>
                      <a:pt x="153" y="300"/>
                    </a:cubicBezTo>
                    <a:cubicBezTo>
                      <a:pt x="209" y="203"/>
                      <a:pt x="220" y="166"/>
                      <a:pt x="342" y="163"/>
                    </a:cubicBezTo>
                    <a:cubicBezTo>
                      <a:pt x="465" y="160"/>
                      <a:pt x="522" y="141"/>
                      <a:pt x="530" y="87"/>
                    </a:cubicBezTo>
                    <a:cubicBezTo>
                      <a:pt x="538" y="33"/>
                      <a:pt x="492" y="0"/>
                      <a:pt x="407" y="2"/>
                    </a:cubicBezTo>
                    <a:cubicBezTo>
                      <a:pt x="323" y="4"/>
                      <a:pt x="210" y="54"/>
                      <a:pt x="148" y="180"/>
                    </a:cubicBezTo>
                    <a:cubicBezTo>
                      <a:pt x="104" y="269"/>
                      <a:pt x="108" y="298"/>
                      <a:pt x="82" y="326"/>
                    </a:cubicBezTo>
                    <a:cubicBezTo>
                      <a:pt x="56" y="354"/>
                      <a:pt x="0" y="347"/>
                      <a:pt x="0" y="347"/>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4" name="Freeform 1295"/>
              <p:cNvSpPr>
                <a:spLocks noChangeArrowheads="1"/>
              </p:cNvSpPr>
              <p:nvPr/>
            </p:nvSpPr>
            <p:spPr bwMode="auto">
              <a:xfrm>
                <a:off x="1268413" y="2454274"/>
                <a:ext cx="622300" cy="488950"/>
              </a:xfrm>
              <a:custGeom>
                <a:avLst/>
                <a:gdLst>
                  <a:gd name="T0" fmla="*/ 719809089 w 538"/>
                  <a:gd name="T1" fmla="*/ 461452328 h 424"/>
                  <a:gd name="T2" fmla="*/ 515104777 w 538"/>
                  <a:gd name="T3" fmla="*/ 398949758 h 424"/>
                  <a:gd name="T4" fmla="*/ 262235832 w 538"/>
                  <a:gd name="T5" fmla="*/ 216762836 h 424"/>
                  <a:gd name="T6" fmla="*/ 10704023 w 538"/>
                  <a:gd name="T7" fmla="*/ 115695487 h 424"/>
                  <a:gd name="T8" fmla="*/ 175269985 w 538"/>
                  <a:gd name="T9" fmla="*/ 2659242 h 424"/>
                  <a:gd name="T10" fmla="*/ 521795080 w 538"/>
                  <a:gd name="T11" fmla="*/ 239369855 h 424"/>
                  <a:gd name="T12" fmla="*/ 610098062 w 538"/>
                  <a:gd name="T13" fmla="*/ 433525672 h 424"/>
                  <a:gd name="T14" fmla="*/ 719809089 w 538"/>
                  <a:gd name="T15" fmla="*/ 461452328 h 424"/>
                  <a:gd name="T16" fmla="*/ 0 60000 65536"/>
                  <a:gd name="T17" fmla="*/ 0 60000 65536"/>
                  <a:gd name="T18" fmla="*/ 0 60000 65536"/>
                  <a:gd name="T19" fmla="*/ 0 60000 65536"/>
                  <a:gd name="T20" fmla="*/ 0 60000 65536"/>
                  <a:gd name="T21" fmla="*/ 0 60000 65536"/>
                  <a:gd name="T22" fmla="*/ 0 60000 65536"/>
                  <a:gd name="T23" fmla="*/ 0 60000 65536"/>
                  <a:gd name="T24" fmla="*/ 0 w 538"/>
                  <a:gd name="T25" fmla="*/ 0 h 424"/>
                  <a:gd name="T26" fmla="*/ 538 w 538"/>
                  <a:gd name="T27" fmla="*/ 424 h 4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8" h="424">
                    <a:moveTo>
                      <a:pt x="538" y="347"/>
                    </a:moveTo>
                    <a:cubicBezTo>
                      <a:pt x="538" y="347"/>
                      <a:pt x="456" y="424"/>
                      <a:pt x="385" y="300"/>
                    </a:cubicBezTo>
                    <a:cubicBezTo>
                      <a:pt x="329" y="203"/>
                      <a:pt x="318" y="166"/>
                      <a:pt x="196" y="163"/>
                    </a:cubicBezTo>
                    <a:cubicBezTo>
                      <a:pt x="74" y="160"/>
                      <a:pt x="16" y="141"/>
                      <a:pt x="8" y="87"/>
                    </a:cubicBezTo>
                    <a:cubicBezTo>
                      <a:pt x="0" y="33"/>
                      <a:pt x="46" y="0"/>
                      <a:pt x="131" y="2"/>
                    </a:cubicBezTo>
                    <a:cubicBezTo>
                      <a:pt x="215" y="4"/>
                      <a:pt x="328" y="54"/>
                      <a:pt x="390" y="180"/>
                    </a:cubicBezTo>
                    <a:cubicBezTo>
                      <a:pt x="434" y="269"/>
                      <a:pt x="430" y="298"/>
                      <a:pt x="456" y="326"/>
                    </a:cubicBezTo>
                    <a:cubicBezTo>
                      <a:pt x="482" y="354"/>
                      <a:pt x="538" y="347"/>
                      <a:pt x="538" y="347"/>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5" name="Freeform 1296"/>
              <p:cNvSpPr>
                <a:spLocks noChangeArrowheads="1"/>
              </p:cNvSpPr>
              <p:nvPr/>
            </p:nvSpPr>
            <p:spPr bwMode="auto">
              <a:xfrm>
                <a:off x="454025" y="2387599"/>
                <a:ext cx="1647825" cy="1027112"/>
              </a:xfrm>
              <a:custGeom>
                <a:avLst/>
                <a:gdLst>
                  <a:gd name="T0" fmla="*/ 1680137151 w 1427"/>
                  <a:gd name="T1" fmla="*/ 299666273 h 890"/>
                  <a:gd name="T2" fmla="*/ 1357444054 w 1427"/>
                  <a:gd name="T3" fmla="*/ 728522463 h 890"/>
                  <a:gd name="T4" fmla="*/ 1056086077 w 1427"/>
                  <a:gd name="T5" fmla="*/ 554049602 h 890"/>
                  <a:gd name="T6" fmla="*/ 950744216 w 1427"/>
                  <a:gd name="T7" fmla="*/ 499444174 h 890"/>
                  <a:gd name="T8" fmla="*/ 845402355 w 1427"/>
                  <a:gd name="T9" fmla="*/ 554049602 h 890"/>
                  <a:gd name="T10" fmla="*/ 544044378 w 1427"/>
                  <a:gd name="T11" fmla="*/ 728522463 h 890"/>
                  <a:gd name="T12" fmla="*/ 221351281 w 1427"/>
                  <a:gd name="T13" fmla="*/ 299666273 h 890"/>
                  <a:gd name="T14" fmla="*/ 0 w 1427"/>
                  <a:gd name="T15" fmla="*/ 0 h 890"/>
                  <a:gd name="T16" fmla="*/ 120009467 w 1427"/>
                  <a:gd name="T17" fmla="*/ 594005413 h 890"/>
                  <a:gd name="T18" fmla="*/ 616049827 w 1427"/>
                  <a:gd name="T19" fmla="*/ 1049498425 h 890"/>
                  <a:gd name="T20" fmla="*/ 950744216 w 1427"/>
                  <a:gd name="T21" fmla="*/ 1172028271 h 890"/>
                  <a:gd name="T22" fmla="*/ 1285438605 w 1427"/>
                  <a:gd name="T23" fmla="*/ 1049498425 h 890"/>
                  <a:gd name="T24" fmla="*/ 1781478966 w 1427"/>
                  <a:gd name="T25" fmla="*/ 594005413 h 890"/>
                  <a:gd name="T26" fmla="*/ 1902822166 w 1427"/>
                  <a:gd name="T27" fmla="*/ 0 h 890"/>
                  <a:gd name="T28" fmla="*/ 1680137151 w 1427"/>
                  <a:gd name="T29" fmla="*/ 299666273 h 89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27"/>
                  <a:gd name="T46" fmla="*/ 0 h 890"/>
                  <a:gd name="T47" fmla="*/ 1427 w 1427"/>
                  <a:gd name="T48" fmla="*/ 890 h 89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27" h="890">
                    <a:moveTo>
                      <a:pt x="1260" y="225"/>
                    </a:moveTo>
                    <a:cubicBezTo>
                      <a:pt x="1249" y="317"/>
                      <a:pt x="1157" y="492"/>
                      <a:pt x="1018" y="547"/>
                    </a:cubicBezTo>
                    <a:cubicBezTo>
                      <a:pt x="879" y="602"/>
                      <a:pt x="841" y="467"/>
                      <a:pt x="792" y="416"/>
                    </a:cubicBezTo>
                    <a:cubicBezTo>
                      <a:pt x="753" y="376"/>
                      <a:pt x="724" y="374"/>
                      <a:pt x="713" y="375"/>
                    </a:cubicBezTo>
                    <a:cubicBezTo>
                      <a:pt x="702" y="374"/>
                      <a:pt x="673" y="376"/>
                      <a:pt x="634" y="416"/>
                    </a:cubicBezTo>
                    <a:cubicBezTo>
                      <a:pt x="585" y="467"/>
                      <a:pt x="547" y="602"/>
                      <a:pt x="408" y="547"/>
                    </a:cubicBezTo>
                    <a:cubicBezTo>
                      <a:pt x="269" y="492"/>
                      <a:pt x="177" y="317"/>
                      <a:pt x="166" y="225"/>
                    </a:cubicBezTo>
                    <a:cubicBezTo>
                      <a:pt x="143" y="32"/>
                      <a:pt x="0" y="0"/>
                      <a:pt x="0" y="0"/>
                    </a:cubicBezTo>
                    <a:cubicBezTo>
                      <a:pt x="0" y="0"/>
                      <a:pt x="41" y="368"/>
                      <a:pt x="90" y="446"/>
                    </a:cubicBezTo>
                    <a:cubicBezTo>
                      <a:pt x="139" y="523"/>
                      <a:pt x="332" y="684"/>
                      <a:pt x="462" y="788"/>
                    </a:cubicBezTo>
                    <a:cubicBezTo>
                      <a:pt x="590" y="890"/>
                      <a:pt x="643" y="880"/>
                      <a:pt x="713" y="880"/>
                    </a:cubicBezTo>
                    <a:cubicBezTo>
                      <a:pt x="783" y="880"/>
                      <a:pt x="836" y="890"/>
                      <a:pt x="964" y="788"/>
                    </a:cubicBezTo>
                    <a:cubicBezTo>
                      <a:pt x="1095" y="684"/>
                      <a:pt x="1287" y="523"/>
                      <a:pt x="1336" y="446"/>
                    </a:cubicBezTo>
                    <a:cubicBezTo>
                      <a:pt x="1385" y="368"/>
                      <a:pt x="1427" y="0"/>
                      <a:pt x="1427" y="0"/>
                    </a:cubicBezTo>
                    <a:cubicBezTo>
                      <a:pt x="1427" y="0"/>
                      <a:pt x="1284" y="32"/>
                      <a:pt x="1260" y="225"/>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6" name="Oval 1297"/>
              <p:cNvSpPr>
                <a:spLocks noChangeArrowheads="1"/>
              </p:cNvSpPr>
              <p:nvPr/>
            </p:nvSpPr>
            <p:spPr bwMode="auto">
              <a:xfrm>
                <a:off x="19050" y="719137"/>
                <a:ext cx="2516188" cy="909637"/>
              </a:xfrm>
              <a:prstGeom prst="ellipse">
                <a:avLst/>
              </a:pr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27" name="Freeform 1298"/>
              <p:cNvSpPr>
                <a:spLocks noChangeArrowheads="1"/>
              </p:cNvSpPr>
              <p:nvPr/>
            </p:nvSpPr>
            <p:spPr bwMode="auto">
              <a:xfrm>
                <a:off x="449263" y="0"/>
                <a:ext cx="1655763" cy="1004887"/>
              </a:xfrm>
              <a:custGeom>
                <a:avLst/>
                <a:gdLst>
                  <a:gd name="T0" fmla="*/ 1906487547 w 1434"/>
                  <a:gd name="T1" fmla="*/ 897865379 h 870"/>
                  <a:gd name="T2" fmla="*/ 1906487547 w 1434"/>
                  <a:gd name="T3" fmla="*/ 896531305 h 870"/>
                  <a:gd name="T4" fmla="*/ 1905155085 w 1434"/>
                  <a:gd name="T5" fmla="*/ 895197231 h 870"/>
                  <a:gd name="T6" fmla="*/ 1541188588 w 1434"/>
                  <a:gd name="T7" fmla="*/ 126741662 h 870"/>
                  <a:gd name="T8" fmla="*/ 990573493 w 1434"/>
                  <a:gd name="T9" fmla="*/ 269493368 h 870"/>
                  <a:gd name="T10" fmla="*/ 525284461 w 1434"/>
                  <a:gd name="T11" fmla="*/ 69374164 h 870"/>
                  <a:gd name="T12" fmla="*/ 5333312 w 1434"/>
                  <a:gd name="T13" fmla="*/ 896531305 h 870"/>
                  <a:gd name="T14" fmla="*/ 5333312 w 1434"/>
                  <a:gd name="T15" fmla="*/ 896531305 h 870"/>
                  <a:gd name="T16" fmla="*/ 0 w 1434"/>
                  <a:gd name="T17" fmla="*/ 921878714 h 870"/>
                  <a:gd name="T18" fmla="*/ 79992751 w 1434"/>
                  <a:gd name="T19" fmla="*/ 1016601441 h 870"/>
                  <a:gd name="T20" fmla="*/ 955909852 w 1434"/>
                  <a:gd name="T21" fmla="*/ 1160687222 h 870"/>
                  <a:gd name="T22" fmla="*/ 1831828108 w 1434"/>
                  <a:gd name="T23" fmla="*/ 1016601441 h 870"/>
                  <a:gd name="T24" fmla="*/ 1911820859 w 1434"/>
                  <a:gd name="T25" fmla="*/ 921878714 h 870"/>
                  <a:gd name="T26" fmla="*/ 1906487547 w 1434"/>
                  <a:gd name="T27" fmla="*/ 897865379 h 87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34"/>
                  <a:gd name="T43" fmla="*/ 0 h 870"/>
                  <a:gd name="T44" fmla="*/ 1434 w 1434"/>
                  <a:gd name="T45" fmla="*/ 870 h 87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34" h="870">
                    <a:moveTo>
                      <a:pt x="1430" y="673"/>
                    </a:moveTo>
                    <a:cubicBezTo>
                      <a:pt x="1430" y="672"/>
                      <a:pt x="1430" y="672"/>
                      <a:pt x="1430" y="672"/>
                    </a:cubicBezTo>
                    <a:cubicBezTo>
                      <a:pt x="1429" y="671"/>
                      <a:pt x="1429" y="671"/>
                      <a:pt x="1429" y="671"/>
                    </a:cubicBezTo>
                    <a:cubicBezTo>
                      <a:pt x="1429" y="671"/>
                      <a:pt x="1245" y="189"/>
                      <a:pt x="1156" y="95"/>
                    </a:cubicBezTo>
                    <a:cubicBezTo>
                      <a:pt x="1067" y="0"/>
                      <a:pt x="934" y="156"/>
                      <a:pt x="743" y="202"/>
                    </a:cubicBezTo>
                    <a:cubicBezTo>
                      <a:pt x="606" y="234"/>
                      <a:pt x="550" y="74"/>
                      <a:pt x="394" y="52"/>
                    </a:cubicBezTo>
                    <a:cubicBezTo>
                      <a:pt x="262" y="34"/>
                      <a:pt x="14" y="646"/>
                      <a:pt x="4" y="672"/>
                    </a:cubicBezTo>
                    <a:cubicBezTo>
                      <a:pt x="4" y="672"/>
                      <a:pt x="4" y="672"/>
                      <a:pt x="4" y="672"/>
                    </a:cubicBezTo>
                    <a:cubicBezTo>
                      <a:pt x="1" y="678"/>
                      <a:pt x="0" y="684"/>
                      <a:pt x="0" y="691"/>
                    </a:cubicBezTo>
                    <a:cubicBezTo>
                      <a:pt x="0" y="716"/>
                      <a:pt x="22" y="740"/>
                      <a:pt x="60" y="762"/>
                    </a:cubicBezTo>
                    <a:cubicBezTo>
                      <a:pt x="171" y="826"/>
                      <a:pt x="423" y="870"/>
                      <a:pt x="717" y="870"/>
                    </a:cubicBezTo>
                    <a:cubicBezTo>
                      <a:pt x="1011" y="870"/>
                      <a:pt x="1263" y="826"/>
                      <a:pt x="1374" y="762"/>
                    </a:cubicBezTo>
                    <a:cubicBezTo>
                      <a:pt x="1412" y="740"/>
                      <a:pt x="1434" y="716"/>
                      <a:pt x="1434" y="691"/>
                    </a:cubicBezTo>
                    <a:cubicBezTo>
                      <a:pt x="1434" y="685"/>
                      <a:pt x="1433" y="679"/>
                      <a:pt x="1430" y="673"/>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8" name="Freeform 1299"/>
              <p:cNvSpPr>
                <a:spLocks noChangeArrowheads="1"/>
              </p:cNvSpPr>
              <p:nvPr/>
            </p:nvSpPr>
            <p:spPr bwMode="auto">
              <a:xfrm>
                <a:off x="433388" y="785812"/>
                <a:ext cx="25400" cy="44450"/>
              </a:xfrm>
              <a:custGeom>
                <a:avLst/>
                <a:gdLst>
                  <a:gd name="T0" fmla="*/ 17328573 w 22"/>
                  <a:gd name="T1" fmla="*/ 14288965 h 39"/>
                  <a:gd name="T2" fmla="*/ 18662073 w 22"/>
                  <a:gd name="T3" fmla="*/ 0 h 39"/>
                  <a:gd name="T4" fmla="*/ 18662073 w 22"/>
                  <a:gd name="T5" fmla="*/ 0 h 39"/>
                  <a:gd name="T6" fmla="*/ 0 w 22"/>
                  <a:gd name="T7" fmla="*/ 48064127 h 39"/>
                  <a:gd name="T8" fmla="*/ 29325455 w 22"/>
                  <a:gd name="T9" fmla="*/ 50661603 h 39"/>
                  <a:gd name="T10" fmla="*/ 17328573 w 22"/>
                  <a:gd name="T11" fmla="*/ 14288965 h 39"/>
                  <a:gd name="T12" fmla="*/ 0 60000 65536"/>
                  <a:gd name="T13" fmla="*/ 0 60000 65536"/>
                  <a:gd name="T14" fmla="*/ 0 60000 65536"/>
                  <a:gd name="T15" fmla="*/ 0 60000 65536"/>
                  <a:gd name="T16" fmla="*/ 0 60000 65536"/>
                  <a:gd name="T17" fmla="*/ 0 60000 65536"/>
                  <a:gd name="T18" fmla="*/ 0 w 22"/>
                  <a:gd name="T19" fmla="*/ 0 h 39"/>
                  <a:gd name="T20" fmla="*/ 22 w 22"/>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22" h="39">
                    <a:moveTo>
                      <a:pt x="13" y="11"/>
                    </a:moveTo>
                    <a:cubicBezTo>
                      <a:pt x="13" y="7"/>
                      <a:pt x="14" y="3"/>
                      <a:pt x="14" y="0"/>
                    </a:cubicBezTo>
                    <a:cubicBezTo>
                      <a:pt x="14" y="0"/>
                      <a:pt x="14" y="0"/>
                      <a:pt x="14" y="0"/>
                    </a:cubicBezTo>
                    <a:cubicBezTo>
                      <a:pt x="0" y="37"/>
                      <a:pt x="0" y="37"/>
                      <a:pt x="0" y="37"/>
                    </a:cubicBezTo>
                    <a:cubicBezTo>
                      <a:pt x="22" y="39"/>
                      <a:pt x="22" y="39"/>
                      <a:pt x="22" y="39"/>
                    </a:cubicBezTo>
                    <a:cubicBezTo>
                      <a:pt x="16" y="30"/>
                      <a:pt x="13" y="20"/>
                      <a:pt x="13" y="11"/>
                    </a:cubicBez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9" name="Freeform 1300"/>
              <p:cNvSpPr>
                <a:spLocks noChangeArrowheads="1"/>
              </p:cNvSpPr>
              <p:nvPr/>
            </p:nvSpPr>
            <p:spPr bwMode="auto">
              <a:xfrm>
                <a:off x="760413" y="1246187"/>
                <a:ext cx="411163" cy="38100"/>
              </a:xfrm>
              <a:custGeom>
                <a:avLst/>
                <a:gdLst>
                  <a:gd name="T0" fmla="*/ 0 w 355"/>
                  <a:gd name="T1" fmla="*/ 1333500 h 33"/>
                  <a:gd name="T2" fmla="*/ 335359599 w 355"/>
                  <a:gd name="T3" fmla="*/ 43988182 h 33"/>
                  <a:gd name="T4" fmla="*/ 476211303 w 355"/>
                  <a:gd name="T5" fmla="*/ 0 h 33"/>
                  <a:gd name="T6" fmla="*/ 0 w 355"/>
                  <a:gd name="T7" fmla="*/ 1333500 h 33"/>
                  <a:gd name="T8" fmla="*/ 0 60000 65536"/>
                  <a:gd name="T9" fmla="*/ 0 60000 65536"/>
                  <a:gd name="T10" fmla="*/ 0 60000 65536"/>
                  <a:gd name="T11" fmla="*/ 0 60000 65536"/>
                  <a:gd name="T12" fmla="*/ 0 w 355"/>
                  <a:gd name="T13" fmla="*/ 0 h 33"/>
                  <a:gd name="T14" fmla="*/ 355 w 355"/>
                  <a:gd name="T15" fmla="*/ 33 h 33"/>
                </a:gdLst>
                <a:ahLst/>
                <a:cxnLst>
                  <a:cxn ang="T8">
                    <a:pos x="T0" y="T1"/>
                  </a:cxn>
                  <a:cxn ang="T9">
                    <a:pos x="T2" y="T3"/>
                  </a:cxn>
                  <a:cxn ang="T10">
                    <a:pos x="T4" y="T5"/>
                  </a:cxn>
                  <a:cxn ang="T11">
                    <a:pos x="T6" y="T7"/>
                  </a:cxn>
                </a:cxnLst>
                <a:rect l="T12" t="T13" r="T14" b="T15"/>
                <a:pathLst>
                  <a:path w="355" h="33">
                    <a:moveTo>
                      <a:pt x="0" y="1"/>
                    </a:moveTo>
                    <a:cubicBezTo>
                      <a:pt x="75" y="16"/>
                      <a:pt x="159" y="27"/>
                      <a:pt x="250" y="33"/>
                    </a:cubicBezTo>
                    <a:cubicBezTo>
                      <a:pt x="355" y="0"/>
                      <a:pt x="355" y="0"/>
                      <a:pt x="355" y="0"/>
                    </a:cubicBezTo>
                    <a:lnTo>
                      <a:pt x="0" y="1"/>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0" name="Freeform 1301"/>
              <p:cNvSpPr>
                <a:spLocks noChangeArrowheads="1"/>
              </p:cNvSpPr>
              <p:nvPr/>
            </p:nvSpPr>
            <p:spPr bwMode="auto">
              <a:xfrm>
                <a:off x="450850" y="776287"/>
                <a:ext cx="3175" cy="9525"/>
              </a:xfrm>
              <a:custGeom>
                <a:avLst/>
                <a:gdLst>
                  <a:gd name="T0" fmla="*/ 3360208 w 3"/>
                  <a:gd name="T1" fmla="*/ 0 h 8"/>
                  <a:gd name="T2" fmla="*/ 3360208 w 3"/>
                  <a:gd name="T3" fmla="*/ 1418034 h 8"/>
                  <a:gd name="T4" fmla="*/ 0 w 3"/>
                  <a:gd name="T5" fmla="*/ 11340703 h 8"/>
                  <a:gd name="T6" fmla="*/ 0 w 3"/>
                  <a:gd name="T7" fmla="*/ 11340703 h 8"/>
                  <a:gd name="T8" fmla="*/ 3360208 w 3"/>
                  <a:gd name="T9" fmla="*/ 0 h 8"/>
                  <a:gd name="T10" fmla="*/ 0 60000 65536"/>
                  <a:gd name="T11" fmla="*/ 0 60000 65536"/>
                  <a:gd name="T12" fmla="*/ 0 60000 65536"/>
                  <a:gd name="T13" fmla="*/ 0 60000 65536"/>
                  <a:gd name="T14" fmla="*/ 0 60000 65536"/>
                  <a:gd name="T15" fmla="*/ 0 w 3"/>
                  <a:gd name="T16" fmla="*/ 0 h 8"/>
                  <a:gd name="T17" fmla="*/ 3 w 3"/>
                  <a:gd name="T18" fmla="*/ 8 h 8"/>
                </a:gdLst>
                <a:ahLst/>
                <a:cxnLst>
                  <a:cxn ang="T10">
                    <a:pos x="T0" y="T1"/>
                  </a:cxn>
                  <a:cxn ang="T11">
                    <a:pos x="T2" y="T3"/>
                  </a:cxn>
                  <a:cxn ang="T12">
                    <a:pos x="T4" y="T5"/>
                  </a:cxn>
                  <a:cxn ang="T13">
                    <a:pos x="T6" y="T7"/>
                  </a:cxn>
                  <a:cxn ang="T14">
                    <a:pos x="T8" y="T9"/>
                  </a:cxn>
                </a:cxnLst>
                <a:rect l="T15" t="T16" r="T17" b="T18"/>
                <a:pathLst>
                  <a:path w="3" h="8">
                    <a:moveTo>
                      <a:pt x="3" y="0"/>
                    </a:moveTo>
                    <a:cubicBezTo>
                      <a:pt x="3" y="1"/>
                      <a:pt x="3" y="1"/>
                      <a:pt x="3" y="1"/>
                    </a:cubicBezTo>
                    <a:cubicBezTo>
                      <a:pt x="0" y="8"/>
                      <a:pt x="0" y="8"/>
                      <a:pt x="0" y="8"/>
                    </a:cubicBezTo>
                    <a:cubicBezTo>
                      <a:pt x="0" y="8"/>
                      <a:pt x="0" y="8"/>
                      <a:pt x="0" y="8"/>
                    </a:cubicBezTo>
                    <a:cubicBezTo>
                      <a:pt x="1" y="5"/>
                      <a:pt x="2" y="3"/>
                      <a:pt x="3" y="0"/>
                    </a:cubicBez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1" name="Freeform 1302"/>
              <p:cNvSpPr>
                <a:spLocks noChangeArrowheads="1"/>
              </p:cNvSpPr>
              <p:nvPr/>
            </p:nvSpPr>
            <p:spPr bwMode="auto">
              <a:xfrm>
                <a:off x="1355725" y="1117599"/>
                <a:ext cx="485775" cy="128587"/>
              </a:xfrm>
              <a:custGeom>
                <a:avLst/>
                <a:gdLst>
                  <a:gd name="T0" fmla="*/ 0 w 421"/>
                  <a:gd name="T1" fmla="*/ 113358625 h 112"/>
                  <a:gd name="T2" fmla="*/ 508591425 w 421"/>
                  <a:gd name="T3" fmla="*/ 147630505 h 112"/>
                  <a:gd name="T4" fmla="*/ 560516272 w 421"/>
                  <a:gd name="T5" fmla="*/ 137085223 h 112"/>
                  <a:gd name="T6" fmla="*/ 426045444 w 421"/>
                  <a:gd name="T7" fmla="*/ 0 h 112"/>
                  <a:gd name="T8" fmla="*/ 0 w 421"/>
                  <a:gd name="T9" fmla="*/ 113358625 h 112"/>
                  <a:gd name="T10" fmla="*/ 0 60000 65536"/>
                  <a:gd name="T11" fmla="*/ 0 60000 65536"/>
                  <a:gd name="T12" fmla="*/ 0 60000 65536"/>
                  <a:gd name="T13" fmla="*/ 0 60000 65536"/>
                  <a:gd name="T14" fmla="*/ 0 60000 65536"/>
                  <a:gd name="T15" fmla="*/ 0 w 421"/>
                  <a:gd name="T16" fmla="*/ 0 h 112"/>
                  <a:gd name="T17" fmla="*/ 421 w 421"/>
                  <a:gd name="T18" fmla="*/ 112 h 112"/>
                </a:gdLst>
                <a:ahLst/>
                <a:cxnLst>
                  <a:cxn ang="T10">
                    <a:pos x="T0" y="T1"/>
                  </a:cxn>
                  <a:cxn ang="T11">
                    <a:pos x="T2" y="T3"/>
                  </a:cxn>
                  <a:cxn ang="T12">
                    <a:pos x="T4" y="T5"/>
                  </a:cxn>
                  <a:cxn ang="T13">
                    <a:pos x="T6" y="T7"/>
                  </a:cxn>
                  <a:cxn ang="T14">
                    <a:pos x="T8" y="T9"/>
                  </a:cxn>
                </a:cxnLst>
                <a:rect l="T15" t="T16" r="T17" b="T18"/>
                <a:pathLst>
                  <a:path w="421" h="112">
                    <a:moveTo>
                      <a:pt x="0" y="86"/>
                    </a:moveTo>
                    <a:cubicBezTo>
                      <a:pt x="382" y="112"/>
                      <a:pt x="382" y="112"/>
                      <a:pt x="382" y="112"/>
                    </a:cubicBezTo>
                    <a:cubicBezTo>
                      <a:pt x="395" y="109"/>
                      <a:pt x="408" y="107"/>
                      <a:pt x="421" y="104"/>
                    </a:cubicBezTo>
                    <a:cubicBezTo>
                      <a:pt x="320" y="0"/>
                      <a:pt x="320" y="0"/>
                      <a:pt x="320" y="0"/>
                    </a:cubicBezTo>
                    <a:lnTo>
                      <a:pt x="0" y="86"/>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2" name="Freeform 1303"/>
              <p:cNvSpPr>
                <a:spLocks noChangeArrowheads="1"/>
              </p:cNvSpPr>
              <p:nvPr/>
            </p:nvSpPr>
            <p:spPr bwMode="auto">
              <a:xfrm>
                <a:off x="1065213" y="998537"/>
                <a:ext cx="180975" cy="47625"/>
              </a:xfrm>
              <a:custGeom>
                <a:avLst/>
                <a:gdLst>
                  <a:gd name="T0" fmla="*/ 209948401 w 156"/>
                  <a:gd name="T1" fmla="*/ 7715250 h 42"/>
                  <a:gd name="T2" fmla="*/ 0 w 156"/>
                  <a:gd name="T3" fmla="*/ 0 h 42"/>
                  <a:gd name="T4" fmla="*/ 14803987 w 156"/>
                  <a:gd name="T5" fmla="*/ 54003348 h 42"/>
                  <a:gd name="T6" fmla="*/ 209948401 w 156"/>
                  <a:gd name="T7" fmla="*/ 7715250 h 42"/>
                  <a:gd name="T8" fmla="*/ 0 60000 65536"/>
                  <a:gd name="T9" fmla="*/ 0 60000 65536"/>
                  <a:gd name="T10" fmla="*/ 0 60000 65536"/>
                  <a:gd name="T11" fmla="*/ 0 60000 65536"/>
                  <a:gd name="T12" fmla="*/ 0 w 156"/>
                  <a:gd name="T13" fmla="*/ 0 h 42"/>
                  <a:gd name="T14" fmla="*/ 156 w 156"/>
                  <a:gd name="T15" fmla="*/ 42 h 42"/>
                </a:gdLst>
                <a:ahLst/>
                <a:cxnLst>
                  <a:cxn ang="T8">
                    <a:pos x="T0" y="T1"/>
                  </a:cxn>
                  <a:cxn ang="T9">
                    <a:pos x="T2" y="T3"/>
                  </a:cxn>
                  <a:cxn ang="T10">
                    <a:pos x="T4" y="T5"/>
                  </a:cxn>
                  <a:cxn ang="T11">
                    <a:pos x="T6" y="T7"/>
                  </a:cxn>
                </a:cxnLst>
                <a:rect l="T12" t="T13" r="T14" b="T15"/>
                <a:pathLst>
                  <a:path w="156" h="42">
                    <a:moveTo>
                      <a:pt x="156" y="6"/>
                    </a:moveTo>
                    <a:cubicBezTo>
                      <a:pt x="102" y="5"/>
                      <a:pt x="50" y="3"/>
                      <a:pt x="0" y="0"/>
                    </a:cubicBezTo>
                    <a:cubicBezTo>
                      <a:pt x="11" y="42"/>
                      <a:pt x="11" y="42"/>
                      <a:pt x="11" y="42"/>
                    </a:cubicBezTo>
                    <a:lnTo>
                      <a:pt x="156" y="6"/>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3" name="Freeform 1304"/>
              <p:cNvSpPr>
                <a:spLocks noChangeArrowheads="1"/>
              </p:cNvSpPr>
              <p:nvPr/>
            </p:nvSpPr>
            <p:spPr bwMode="auto">
              <a:xfrm>
                <a:off x="1077913" y="1004887"/>
                <a:ext cx="244475" cy="60325"/>
              </a:xfrm>
              <a:custGeom>
                <a:avLst/>
                <a:gdLst>
                  <a:gd name="T0" fmla="*/ 193314841 w 211"/>
                  <a:gd name="T1" fmla="*/ 69982800 h 52"/>
                  <a:gd name="T2" fmla="*/ 283260785 w 211"/>
                  <a:gd name="T3" fmla="*/ 0 h 52"/>
                  <a:gd name="T4" fmla="*/ 230904900 w 211"/>
                  <a:gd name="T5" fmla="*/ 0 h 52"/>
                  <a:gd name="T6" fmla="*/ 194657715 w 211"/>
                  <a:gd name="T7" fmla="*/ 0 h 52"/>
                  <a:gd name="T8" fmla="*/ 0 w 211"/>
                  <a:gd name="T9" fmla="*/ 48449096 h 52"/>
                  <a:gd name="T10" fmla="*/ 193314841 w 211"/>
                  <a:gd name="T11" fmla="*/ 69982800 h 52"/>
                  <a:gd name="T12" fmla="*/ 0 60000 65536"/>
                  <a:gd name="T13" fmla="*/ 0 60000 65536"/>
                  <a:gd name="T14" fmla="*/ 0 60000 65536"/>
                  <a:gd name="T15" fmla="*/ 0 60000 65536"/>
                  <a:gd name="T16" fmla="*/ 0 60000 65536"/>
                  <a:gd name="T17" fmla="*/ 0 60000 65536"/>
                  <a:gd name="T18" fmla="*/ 0 w 211"/>
                  <a:gd name="T19" fmla="*/ 0 h 52"/>
                  <a:gd name="T20" fmla="*/ 211 w 211"/>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1" h="52">
                    <a:moveTo>
                      <a:pt x="144" y="52"/>
                    </a:moveTo>
                    <a:cubicBezTo>
                      <a:pt x="211" y="0"/>
                      <a:pt x="211" y="0"/>
                      <a:pt x="211" y="0"/>
                    </a:cubicBezTo>
                    <a:cubicBezTo>
                      <a:pt x="198" y="0"/>
                      <a:pt x="185" y="0"/>
                      <a:pt x="172" y="0"/>
                    </a:cubicBezTo>
                    <a:cubicBezTo>
                      <a:pt x="163" y="0"/>
                      <a:pt x="154" y="0"/>
                      <a:pt x="145" y="0"/>
                    </a:cubicBezTo>
                    <a:cubicBezTo>
                      <a:pt x="0" y="36"/>
                      <a:pt x="0" y="36"/>
                      <a:pt x="0" y="36"/>
                    </a:cubicBezTo>
                    <a:lnTo>
                      <a:pt x="144" y="52"/>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4" name="Freeform 1305"/>
              <p:cNvSpPr>
                <a:spLocks noChangeArrowheads="1"/>
              </p:cNvSpPr>
              <p:nvPr/>
            </p:nvSpPr>
            <p:spPr bwMode="auto">
              <a:xfrm>
                <a:off x="633413" y="927099"/>
                <a:ext cx="1588" cy="1587"/>
              </a:xfrm>
              <a:custGeom>
                <a:avLst/>
                <a:gdLst>
                  <a:gd name="T0" fmla="*/ 1260872 w 2"/>
                  <a:gd name="T1" fmla="*/ 2518569 h 1"/>
                  <a:gd name="T2" fmla="*/ 0 w 2"/>
                  <a:gd name="T3" fmla="*/ 0 h 1"/>
                  <a:gd name="T4" fmla="*/ 1260872 w 2"/>
                  <a:gd name="T5" fmla="*/ 2518569 h 1"/>
                  <a:gd name="T6" fmla="*/ 0 60000 65536"/>
                  <a:gd name="T7" fmla="*/ 0 60000 65536"/>
                  <a:gd name="T8" fmla="*/ 0 60000 65536"/>
                  <a:gd name="T9" fmla="*/ 0 w 2"/>
                  <a:gd name="T10" fmla="*/ 0 h 1"/>
                  <a:gd name="T11" fmla="*/ 2 w 2"/>
                  <a:gd name="T12" fmla="*/ 1 h 1"/>
                </a:gdLst>
                <a:ahLst/>
                <a:cxnLst>
                  <a:cxn ang="T6">
                    <a:pos x="T0" y="T1"/>
                  </a:cxn>
                  <a:cxn ang="T7">
                    <a:pos x="T2" y="T3"/>
                  </a:cxn>
                  <a:cxn ang="T8">
                    <a:pos x="T4" y="T5"/>
                  </a:cxn>
                </a:cxnLst>
                <a:rect l="T9" t="T10" r="T11" b="T12"/>
                <a:pathLst>
                  <a:path w="2" h="1">
                    <a:moveTo>
                      <a:pt x="2" y="1"/>
                    </a:moveTo>
                    <a:cubicBezTo>
                      <a:pt x="1" y="1"/>
                      <a:pt x="1" y="0"/>
                      <a:pt x="0" y="0"/>
                    </a:cubicBezTo>
                    <a:cubicBezTo>
                      <a:pt x="2" y="1"/>
                      <a:pt x="2" y="1"/>
                      <a:pt x="2" y="1"/>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5" name="Freeform 1306"/>
              <p:cNvSpPr>
                <a:spLocks noChangeArrowheads="1"/>
              </p:cNvSpPr>
              <p:nvPr/>
            </p:nvSpPr>
            <p:spPr bwMode="auto">
              <a:xfrm>
                <a:off x="423863" y="828674"/>
                <a:ext cx="158750" cy="80962"/>
              </a:xfrm>
              <a:custGeom>
                <a:avLst/>
                <a:gdLst>
                  <a:gd name="T0" fmla="*/ 110102974 w 137"/>
                  <a:gd name="T1" fmla="*/ 58513860 h 71"/>
                  <a:gd name="T2" fmla="*/ 41624945 w 137"/>
                  <a:gd name="T3" fmla="*/ 2601047 h 71"/>
                  <a:gd name="T4" fmla="*/ 12084699 w 137"/>
                  <a:gd name="T5" fmla="*/ 0 h 71"/>
                  <a:gd name="T6" fmla="*/ 0 w 137"/>
                  <a:gd name="T7" fmla="*/ 29906907 h 71"/>
                  <a:gd name="T8" fmla="*/ 183953011 w 137"/>
                  <a:gd name="T9" fmla="*/ 92321767 h 71"/>
                  <a:gd name="T10" fmla="*/ 110102974 w 137"/>
                  <a:gd name="T11" fmla="*/ 58513860 h 71"/>
                  <a:gd name="T12" fmla="*/ 0 60000 65536"/>
                  <a:gd name="T13" fmla="*/ 0 60000 65536"/>
                  <a:gd name="T14" fmla="*/ 0 60000 65536"/>
                  <a:gd name="T15" fmla="*/ 0 60000 65536"/>
                  <a:gd name="T16" fmla="*/ 0 60000 65536"/>
                  <a:gd name="T17" fmla="*/ 0 60000 65536"/>
                  <a:gd name="T18" fmla="*/ 0 w 137"/>
                  <a:gd name="T19" fmla="*/ 0 h 71"/>
                  <a:gd name="T20" fmla="*/ 137 w 13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37" h="71">
                    <a:moveTo>
                      <a:pt x="82" y="45"/>
                    </a:moveTo>
                    <a:cubicBezTo>
                      <a:pt x="58" y="32"/>
                      <a:pt x="41" y="17"/>
                      <a:pt x="31" y="2"/>
                    </a:cubicBezTo>
                    <a:cubicBezTo>
                      <a:pt x="9" y="0"/>
                      <a:pt x="9" y="0"/>
                      <a:pt x="9" y="0"/>
                    </a:cubicBezTo>
                    <a:cubicBezTo>
                      <a:pt x="0" y="23"/>
                      <a:pt x="0" y="23"/>
                      <a:pt x="0" y="23"/>
                    </a:cubicBezTo>
                    <a:cubicBezTo>
                      <a:pt x="137" y="71"/>
                      <a:pt x="137" y="71"/>
                      <a:pt x="137" y="71"/>
                    </a:cubicBezTo>
                    <a:cubicBezTo>
                      <a:pt x="116" y="63"/>
                      <a:pt x="98" y="54"/>
                      <a:pt x="82" y="45"/>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6" name="Freeform 1307"/>
              <p:cNvSpPr>
                <a:spLocks noChangeArrowheads="1"/>
              </p:cNvSpPr>
              <p:nvPr/>
            </p:nvSpPr>
            <p:spPr bwMode="auto">
              <a:xfrm>
                <a:off x="361950" y="855662"/>
                <a:ext cx="273050" cy="247650"/>
              </a:xfrm>
              <a:custGeom>
                <a:avLst/>
                <a:gdLst>
                  <a:gd name="T0" fmla="*/ 313239258 w 236"/>
                  <a:gd name="T1" fmla="*/ 83587058 h 215"/>
                  <a:gd name="T2" fmla="*/ 254339133 w 236"/>
                  <a:gd name="T3" fmla="*/ 63685213 h 215"/>
                  <a:gd name="T4" fmla="*/ 70947877 w 236"/>
                  <a:gd name="T5" fmla="*/ 0 h 215"/>
                  <a:gd name="T6" fmla="*/ 6693196 w 236"/>
                  <a:gd name="T7" fmla="*/ 164521382 h 215"/>
                  <a:gd name="T8" fmla="*/ 5354557 w 236"/>
                  <a:gd name="T9" fmla="*/ 169828003 h 215"/>
                  <a:gd name="T10" fmla="*/ 4015918 w 236"/>
                  <a:gd name="T11" fmla="*/ 172481890 h 215"/>
                  <a:gd name="T12" fmla="*/ 4015918 w 236"/>
                  <a:gd name="T13" fmla="*/ 172481890 h 215"/>
                  <a:gd name="T14" fmla="*/ 0 w 236"/>
                  <a:gd name="T15" fmla="*/ 199017299 h 215"/>
                  <a:gd name="T16" fmla="*/ 42836454 w 236"/>
                  <a:gd name="T17" fmla="*/ 285258244 h 215"/>
                  <a:gd name="T18" fmla="*/ 315916536 w 236"/>
                  <a:gd name="T19" fmla="*/ 84914002 h 215"/>
                  <a:gd name="T20" fmla="*/ 313239258 w 236"/>
                  <a:gd name="T21" fmla="*/ 83587058 h 2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6"/>
                  <a:gd name="T34" fmla="*/ 0 h 215"/>
                  <a:gd name="T35" fmla="*/ 236 w 236"/>
                  <a:gd name="T36" fmla="*/ 215 h 2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6" h="215">
                    <a:moveTo>
                      <a:pt x="234" y="63"/>
                    </a:moveTo>
                    <a:cubicBezTo>
                      <a:pt x="218" y="58"/>
                      <a:pt x="204" y="53"/>
                      <a:pt x="190" y="48"/>
                    </a:cubicBezTo>
                    <a:cubicBezTo>
                      <a:pt x="53" y="0"/>
                      <a:pt x="53" y="0"/>
                      <a:pt x="53" y="0"/>
                    </a:cubicBezTo>
                    <a:cubicBezTo>
                      <a:pt x="5" y="124"/>
                      <a:pt x="5" y="124"/>
                      <a:pt x="5" y="124"/>
                    </a:cubicBezTo>
                    <a:cubicBezTo>
                      <a:pt x="4" y="128"/>
                      <a:pt x="4" y="128"/>
                      <a:pt x="4" y="128"/>
                    </a:cubicBezTo>
                    <a:cubicBezTo>
                      <a:pt x="3" y="130"/>
                      <a:pt x="3" y="130"/>
                      <a:pt x="3" y="130"/>
                    </a:cubicBezTo>
                    <a:cubicBezTo>
                      <a:pt x="3" y="130"/>
                      <a:pt x="3" y="130"/>
                      <a:pt x="3" y="130"/>
                    </a:cubicBezTo>
                    <a:cubicBezTo>
                      <a:pt x="1" y="137"/>
                      <a:pt x="0" y="144"/>
                      <a:pt x="0" y="150"/>
                    </a:cubicBezTo>
                    <a:cubicBezTo>
                      <a:pt x="0" y="173"/>
                      <a:pt x="11" y="194"/>
                      <a:pt x="32" y="215"/>
                    </a:cubicBezTo>
                    <a:cubicBezTo>
                      <a:pt x="236" y="64"/>
                      <a:pt x="236" y="64"/>
                      <a:pt x="236" y="64"/>
                    </a:cubicBezTo>
                    <a:lnTo>
                      <a:pt x="234" y="63"/>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7" name="Freeform 1308"/>
              <p:cNvSpPr>
                <a:spLocks noChangeArrowheads="1"/>
              </p:cNvSpPr>
              <p:nvPr/>
            </p:nvSpPr>
            <p:spPr bwMode="auto">
              <a:xfrm>
                <a:off x="1355725" y="1216024"/>
                <a:ext cx="441325" cy="58737"/>
              </a:xfrm>
              <a:custGeom>
                <a:avLst/>
                <a:gdLst>
                  <a:gd name="T0" fmla="*/ 289633973 w 382"/>
                  <a:gd name="T1" fmla="*/ 67647748 h 51"/>
                  <a:gd name="T2" fmla="*/ 509863235 w 382"/>
                  <a:gd name="T3" fmla="*/ 34486681 h 51"/>
                  <a:gd name="T4" fmla="*/ 0 w 382"/>
                  <a:gd name="T5" fmla="*/ 0 h 51"/>
                  <a:gd name="T6" fmla="*/ 289633973 w 382"/>
                  <a:gd name="T7" fmla="*/ 67647748 h 51"/>
                  <a:gd name="T8" fmla="*/ 0 60000 65536"/>
                  <a:gd name="T9" fmla="*/ 0 60000 65536"/>
                  <a:gd name="T10" fmla="*/ 0 60000 65536"/>
                  <a:gd name="T11" fmla="*/ 0 60000 65536"/>
                  <a:gd name="T12" fmla="*/ 0 w 382"/>
                  <a:gd name="T13" fmla="*/ 0 h 51"/>
                  <a:gd name="T14" fmla="*/ 382 w 382"/>
                  <a:gd name="T15" fmla="*/ 51 h 51"/>
                </a:gdLst>
                <a:ahLst/>
                <a:cxnLst>
                  <a:cxn ang="T8">
                    <a:pos x="T0" y="T1"/>
                  </a:cxn>
                  <a:cxn ang="T9">
                    <a:pos x="T2" y="T3"/>
                  </a:cxn>
                  <a:cxn ang="T10">
                    <a:pos x="T4" y="T5"/>
                  </a:cxn>
                  <a:cxn ang="T11">
                    <a:pos x="T6" y="T7"/>
                  </a:cxn>
                </a:cxnLst>
                <a:rect l="T12" t="T13" r="T14" b="T15"/>
                <a:pathLst>
                  <a:path w="382" h="51">
                    <a:moveTo>
                      <a:pt x="217" y="51"/>
                    </a:moveTo>
                    <a:cubicBezTo>
                      <a:pt x="276" y="45"/>
                      <a:pt x="331" y="36"/>
                      <a:pt x="382" y="26"/>
                    </a:cubicBezTo>
                    <a:cubicBezTo>
                      <a:pt x="0" y="0"/>
                      <a:pt x="0" y="0"/>
                      <a:pt x="0" y="0"/>
                    </a:cubicBezTo>
                    <a:lnTo>
                      <a:pt x="217" y="51"/>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8" name="Freeform 1309"/>
              <p:cNvSpPr>
                <a:spLocks noChangeArrowheads="1"/>
              </p:cNvSpPr>
              <p:nvPr/>
            </p:nvSpPr>
            <p:spPr bwMode="auto">
              <a:xfrm>
                <a:off x="1077913" y="1046162"/>
                <a:ext cx="166688" cy="38100"/>
              </a:xfrm>
              <a:custGeom>
                <a:avLst/>
                <a:gdLst>
                  <a:gd name="T0" fmla="*/ 264617994 w 105"/>
                  <a:gd name="T1" fmla="*/ 30241875 h 24"/>
                  <a:gd name="T2" fmla="*/ 0 w 105"/>
                  <a:gd name="T3" fmla="*/ 0 h 24"/>
                  <a:gd name="T4" fmla="*/ 206653432 w 105"/>
                  <a:gd name="T5" fmla="*/ 60483750 h 24"/>
                  <a:gd name="T6" fmla="*/ 264617994 w 105"/>
                  <a:gd name="T7" fmla="*/ 30241875 h 24"/>
                  <a:gd name="T8" fmla="*/ 0 60000 65536"/>
                  <a:gd name="T9" fmla="*/ 0 60000 65536"/>
                  <a:gd name="T10" fmla="*/ 0 60000 65536"/>
                  <a:gd name="T11" fmla="*/ 0 60000 65536"/>
                  <a:gd name="T12" fmla="*/ 0 w 105"/>
                  <a:gd name="T13" fmla="*/ 0 h 24"/>
                  <a:gd name="T14" fmla="*/ 105 w 105"/>
                  <a:gd name="T15" fmla="*/ 24 h 24"/>
                </a:gdLst>
                <a:ahLst/>
                <a:cxnLst>
                  <a:cxn ang="T8">
                    <a:pos x="T0" y="T1"/>
                  </a:cxn>
                  <a:cxn ang="T9">
                    <a:pos x="T2" y="T3"/>
                  </a:cxn>
                  <a:cxn ang="T10">
                    <a:pos x="T4" y="T5"/>
                  </a:cxn>
                  <a:cxn ang="T11">
                    <a:pos x="T6" y="T7"/>
                  </a:cxn>
                </a:cxnLst>
                <a:rect l="T12" t="T13" r="T14" b="T15"/>
                <a:pathLst>
                  <a:path w="105" h="24">
                    <a:moveTo>
                      <a:pt x="105" y="12"/>
                    </a:moveTo>
                    <a:lnTo>
                      <a:pt x="0" y="0"/>
                    </a:lnTo>
                    <a:lnTo>
                      <a:pt x="82" y="24"/>
                    </a:lnTo>
                    <a:lnTo>
                      <a:pt x="105" y="12"/>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9" name="Freeform 1310"/>
              <p:cNvSpPr>
                <a:spLocks noChangeArrowheads="1"/>
              </p:cNvSpPr>
              <p:nvPr/>
            </p:nvSpPr>
            <p:spPr bwMode="auto">
              <a:xfrm>
                <a:off x="1171575" y="1084262"/>
                <a:ext cx="184150" cy="161925"/>
              </a:xfrm>
              <a:custGeom>
                <a:avLst/>
                <a:gdLst>
                  <a:gd name="T0" fmla="*/ 0 w 116"/>
                  <a:gd name="T1" fmla="*/ 257055938 h 102"/>
                  <a:gd name="T2" fmla="*/ 292338125 w 116"/>
                  <a:gd name="T3" fmla="*/ 209173763 h 102"/>
                  <a:gd name="T4" fmla="*/ 57964388 w 116"/>
                  <a:gd name="T5" fmla="*/ 0 h 102"/>
                  <a:gd name="T6" fmla="*/ 0 w 116"/>
                  <a:gd name="T7" fmla="*/ 257055938 h 102"/>
                  <a:gd name="T8" fmla="*/ 0 60000 65536"/>
                  <a:gd name="T9" fmla="*/ 0 60000 65536"/>
                  <a:gd name="T10" fmla="*/ 0 60000 65536"/>
                  <a:gd name="T11" fmla="*/ 0 60000 65536"/>
                  <a:gd name="T12" fmla="*/ 0 w 116"/>
                  <a:gd name="T13" fmla="*/ 0 h 102"/>
                  <a:gd name="T14" fmla="*/ 116 w 116"/>
                  <a:gd name="T15" fmla="*/ 102 h 102"/>
                </a:gdLst>
                <a:ahLst/>
                <a:cxnLst>
                  <a:cxn ang="T8">
                    <a:pos x="T0" y="T1"/>
                  </a:cxn>
                  <a:cxn ang="T9">
                    <a:pos x="T2" y="T3"/>
                  </a:cxn>
                  <a:cxn ang="T10">
                    <a:pos x="T4" y="T5"/>
                  </a:cxn>
                  <a:cxn ang="T11">
                    <a:pos x="T6" y="T7"/>
                  </a:cxn>
                </a:cxnLst>
                <a:rect l="T12" t="T13" r="T14" b="T15"/>
                <a:pathLst>
                  <a:path w="116" h="102">
                    <a:moveTo>
                      <a:pt x="0" y="102"/>
                    </a:moveTo>
                    <a:lnTo>
                      <a:pt x="116" y="83"/>
                    </a:lnTo>
                    <a:lnTo>
                      <a:pt x="23" y="0"/>
                    </a:lnTo>
                    <a:lnTo>
                      <a:pt x="0" y="102"/>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0" name="Freeform 1311"/>
              <p:cNvSpPr>
                <a:spLocks noChangeArrowheads="1"/>
              </p:cNvSpPr>
              <p:nvPr/>
            </p:nvSpPr>
            <p:spPr bwMode="auto">
              <a:xfrm>
                <a:off x="1208088" y="1065212"/>
                <a:ext cx="147638" cy="150812"/>
              </a:xfrm>
              <a:custGeom>
                <a:avLst/>
                <a:gdLst>
                  <a:gd name="T0" fmla="*/ 0 w 93"/>
                  <a:gd name="T1" fmla="*/ 30241775 h 95"/>
                  <a:gd name="T2" fmla="*/ 234376119 w 93"/>
                  <a:gd name="T3" fmla="*/ 239413256 h 95"/>
                  <a:gd name="T4" fmla="*/ 57964584 w 93"/>
                  <a:gd name="T5" fmla="*/ 0 h 95"/>
                  <a:gd name="T6" fmla="*/ 0 w 93"/>
                  <a:gd name="T7" fmla="*/ 30241775 h 95"/>
                  <a:gd name="T8" fmla="*/ 0 60000 65536"/>
                  <a:gd name="T9" fmla="*/ 0 60000 65536"/>
                  <a:gd name="T10" fmla="*/ 0 60000 65536"/>
                  <a:gd name="T11" fmla="*/ 0 60000 65536"/>
                  <a:gd name="T12" fmla="*/ 0 w 93"/>
                  <a:gd name="T13" fmla="*/ 0 h 95"/>
                  <a:gd name="T14" fmla="*/ 93 w 93"/>
                  <a:gd name="T15" fmla="*/ 95 h 95"/>
                </a:gdLst>
                <a:ahLst/>
                <a:cxnLst>
                  <a:cxn ang="T8">
                    <a:pos x="T0" y="T1"/>
                  </a:cxn>
                  <a:cxn ang="T9">
                    <a:pos x="T2" y="T3"/>
                  </a:cxn>
                  <a:cxn ang="T10">
                    <a:pos x="T4" y="T5"/>
                  </a:cxn>
                  <a:cxn ang="T11">
                    <a:pos x="T6" y="T7"/>
                  </a:cxn>
                </a:cxnLst>
                <a:rect l="T12" t="T13" r="T14" b="T15"/>
                <a:pathLst>
                  <a:path w="93" h="95">
                    <a:moveTo>
                      <a:pt x="0" y="12"/>
                    </a:moveTo>
                    <a:lnTo>
                      <a:pt x="93" y="95"/>
                    </a:lnTo>
                    <a:lnTo>
                      <a:pt x="23" y="0"/>
                    </a:lnTo>
                    <a:lnTo>
                      <a:pt x="0" y="12"/>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1" name="Rectangle 1312"/>
              <p:cNvSpPr>
                <a:spLocks noChangeArrowheads="1"/>
              </p:cNvSpPr>
              <p:nvPr/>
            </p:nvSpPr>
            <p:spPr bwMode="auto">
              <a:xfrm>
                <a:off x="635000" y="928687"/>
                <a:ext cx="1588" cy="1587"/>
              </a:xfrm>
              <a:prstGeom prst="rect">
                <a:avLst/>
              </a:pr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42" name="Freeform 1313"/>
              <p:cNvSpPr>
                <a:spLocks noChangeArrowheads="1"/>
              </p:cNvSpPr>
              <p:nvPr/>
            </p:nvSpPr>
            <p:spPr bwMode="auto">
              <a:xfrm>
                <a:off x="661988" y="1065212"/>
                <a:ext cx="509588" cy="182562"/>
              </a:xfrm>
              <a:custGeom>
                <a:avLst/>
                <a:gdLst>
                  <a:gd name="T0" fmla="*/ 204292789 w 441"/>
                  <a:gd name="T1" fmla="*/ 0 h 158"/>
                  <a:gd name="T2" fmla="*/ 0 w 441"/>
                  <a:gd name="T3" fmla="*/ 184240877 h 158"/>
                  <a:gd name="T4" fmla="*/ 114830629 w 441"/>
                  <a:gd name="T5" fmla="*/ 210942303 h 158"/>
                  <a:gd name="T6" fmla="*/ 588843378 w 441"/>
                  <a:gd name="T7" fmla="*/ 209607751 h 158"/>
                  <a:gd name="T8" fmla="*/ 204292789 w 441"/>
                  <a:gd name="T9" fmla="*/ 0 h 158"/>
                  <a:gd name="T10" fmla="*/ 0 60000 65536"/>
                  <a:gd name="T11" fmla="*/ 0 60000 65536"/>
                  <a:gd name="T12" fmla="*/ 0 60000 65536"/>
                  <a:gd name="T13" fmla="*/ 0 60000 65536"/>
                  <a:gd name="T14" fmla="*/ 0 60000 65536"/>
                  <a:gd name="T15" fmla="*/ 0 w 441"/>
                  <a:gd name="T16" fmla="*/ 0 h 158"/>
                  <a:gd name="T17" fmla="*/ 441 w 441"/>
                  <a:gd name="T18" fmla="*/ 158 h 158"/>
                </a:gdLst>
                <a:ahLst/>
                <a:cxnLst>
                  <a:cxn ang="T10">
                    <a:pos x="T0" y="T1"/>
                  </a:cxn>
                  <a:cxn ang="T11">
                    <a:pos x="T2" y="T3"/>
                  </a:cxn>
                  <a:cxn ang="T12">
                    <a:pos x="T4" y="T5"/>
                  </a:cxn>
                  <a:cxn ang="T13">
                    <a:pos x="T6" y="T7"/>
                  </a:cxn>
                  <a:cxn ang="T14">
                    <a:pos x="T8" y="T9"/>
                  </a:cxn>
                </a:cxnLst>
                <a:rect l="T15" t="T16" r="T17" b="T18"/>
                <a:pathLst>
                  <a:path w="441" h="158">
                    <a:moveTo>
                      <a:pt x="153" y="0"/>
                    </a:moveTo>
                    <a:cubicBezTo>
                      <a:pt x="0" y="138"/>
                      <a:pt x="0" y="138"/>
                      <a:pt x="0" y="138"/>
                    </a:cubicBezTo>
                    <a:cubicBezTo>
                      <a:pt x="27" y="145"/>
                      <a:pt x="56" y="152"/>
                      <a:pt x="86" y="158"/>
                    </a:cubicBezTo>
                    <a:cubicBezTo>
                      <a:pt x="441" y="157"/>
                      <a:pt x="441" y="157"/>
                      <a:pt x="441" y="157"/>
                    </a:cubicBezTo>
                    <a:lnTo>
                      <a:pt x="153" y="0"/>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3" name="Freeform 1314"/>
              <p:cNvSpPr>
                <a:spLocks noChangeArrowheads="1"/>
              </p:cNvSpPr>
              <p:nvPr/>
            </p:nvSpPr>
            <p:spPr bwMode="auto">
              <a:xfrm>
                <a:off x="635000" y="928687"/>
                <a:ext cx="307975" cy="136525"/>
              </a:xfrm>
              <a:custGeom>
                <a:avLst/>
                <a:gdLst>
                  <a:gd name="T0" fmla="*/ 234164812 w 267"/>
                  <a:gd name="T1" fmla="*/ 157958268 h 118"/>
                  <a:gd name="T2" fmla="*/ 355238205 w 267"/>
                  <a:gd name="T3" fmla="*/ 68270599 h 118"/>
                  <a:gd name="T4" fmla="*/ 1329944 w 267"/>
                  <a:gd name="T5" fmla="*/ 0 h 118"/>
                  <a:gd name="T6" fmla="*/ 0 w 267"/>
                  <a:gd name="T7" fmla="*/ 0 h 118"/>
                  <a:gd name="T8" fmla="*/ 234164812 w 267"/>
                  <a:gd name="T9" fmla="*/ 157958268 h 118"/>
                  <a:gd name="T10" fmla="*/ 0 60000 65536"/>
                  <a:gd name="T11" fmla="*/ 0 60000 65536"/>
                  <a:gd name="T12" fmla="*/ 0 60000 65536"/>
                  <a:gd name="T13" fmla="*/ 0 60000 65536"/>
                  <a:gd name="T14" fmla="*/ 0 60000 65536"/>
                  <a:gd name="T15" fmla="*/ 0 w 267"/>
                  <a:gd name="T16" fmla="*/ 0 h 118"/>
                  <a:gd name="T17" fmla="*/ 267 w 267"/>
                  <a:gd name="T18" fmla="*/ 118 h 118"/>
                </a:gdLst>
                <a:ahLst/>
                <a:cxnLst>
                  <a:cxn ang="T10">
                    <a:pos x="T0" y="T1"/>
                  </a:cxn>
                  <a:cxn ang="T11">
                    <a:pos x="T2" y="T3"/>
                  </a:cxn>
                  <a:cxn ang="T12">
                    <a:pos x="T4" y="T5"/>
                  </a:cxn>
                  <a:cxn ang="T13">
                    <a:pos x="T6" y="T7"/>
                  </a:cxn>
                  <a:cxn ang="T14">
                    <a:pos x="T8" y="T9"/>
                  </a:cxn>
                </a:cxnLst>
                <a:rect l="T15" t="T16" r="T17" b="T18"/>
                <a:pathLst>
                  <a:path w="267" h="118">
                    <a:moveTo>
                      <a:pt x="176" y="118"/>
                    </a:moveTo>
                    <a:cubicBezTo>
                      <a:pt x="267" y="51"/>
                      <a:pt x="267" y="51"/>
                      <a:pt x="267" y="51"/>
                    </a:cubicBezTo>
                    <a:cubicBezTo>
                      <a:pt x="163" y="39"/>
                      <a:pt x="72" y="22"/>
                      <a:pt x="1" y="0"/>
                    </a:cubicBezTo>
                    <a:cubicBezTo>
                      <a:pt x="0" y="0"/>
                      <a:pt x="0" y="0"/>
                      <a:pt x="0" y="0"/>
                    </a:cubicBezTo>
                    <a:lnTo>
                      <a:pt x="176" y="118"/>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4" name="Freeform 1315"/>
              <p:cNvSpPr>
                <a:spLocks noChangeArrowheads="1"/>
              </p:cNvSpPr>
              <p:nvPr/>
            </p:nvSpPr>
            <p:spPr bwMode="auto">
              <a:xfrm>
                <a:off x="838200" y="987424"/>
                <a:ext cx="239713" cy="77787"/>
              </a:xfrm>
              <a:custGeom>
                <a:avLst/>
                <a:gdLst>
                  <a:gd name="T0" fmla="*/ 276261165 w 208"/>
                  <a:gd name="T1" fmla="*/ 68743971 h 67"/>
                  <a:gd name="T2" fmla="*/ 261651349 w 208"/>
                  <a:gd name="T3" fmla="*/ 12131289 h 67"/>
                  <a:gd name="T4" fmla="*/ 120863756 w 208"/>
                  <a:gd name="T5" fmla="*/ 0 h 67"/>
                  <a:gd name="T6" fmla="*/ 0 w 208"/>
                  <a:gd name="T7" fmla="*/ 90310707 h 67"/>
                  <a:gd name="T8" fmla="*/ 276261165 w 208"/>
                  <a:gd name="T9" fmla="*/ 68743971 h 67"/>
                  <a:gd name="T10" fmla="*/ 0 60000 65536"/>
                  <a:gd name="T11" fmla="*/ 0 60000 65536"/>
                  <a:gd name="T12" fmla="*/ 0 60000 65536"/>
                  <a:gd name="T13" fmla="*/ 0 60000 65536"/>
                  <a:gd name="T14" fmla="*/ 0 60000 65536"/>
                  <a:gd name="T15" fmla="*/ 0 w 208"/>
                  <a:gd name="T16" fmla="*/ 0 h 67"/>
                  <a:gd name="T17" fmla="*/ 208 w 208"/>
                  <a:gd name="T18" fmla="*/ 67 h 67"/>
                </a:gdLst>
                <a:ahLst/>
                <a:cxnLst>
                  <a:cxn ang="T10">
                    <a:pos x="T0" y="T1"/>
                  </a:cxn>
                  <a:cxn ang="T11">
                    <a:pos x="T2" y="T3"/>
                  </a:cxn>
                  <a:cxn ang="T12">
                    <a:pos x="T4" y="T5"/>
                  </a:cxn>
                  <a:cxn ang="T13">
                    <a:pos x="T6" y="T7"/>
                  </a:cxn>
                  <a:cxn ang="T14">
                    <a:pos x="T8" y="T9"/>
                  </a:cxn>
                </a:cxnLst>
                <a:rect l="T15" t="T16" r="T17" b="T18"/>
                <a:pathLst>
                  <a:path w="208" h="67">
                    <a:moveTo>
                      <a:pt x="208" y="51"/>
                    </a:moveTo>
                    <a:cubicBezTo>
                      <a:pt x="197" y="9"/>
                      <a:pt x="197" y="9"/>
                      <a:pt x="197" y="9"/>
                    </a:cubicBezTo>
                    <a:cubicBezTo>
                      <a:pt x="160" y="7"/>
                      <a:pt x="125" y="4"/>
                      <a:pt x="91" y="0"/>
                    </a:cubicBezTo>
                    <a:cubicBezTo>
                      <a:pt x="0" y="67"/>
                      <a:pt x="0" y="67"/>
                      <a:pt x="0" y="67"/>
                    </a:cubicBezTo>
                    <a:lnTo>
                      <a:pt x="208" y="51"/>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5" name="Freeform 1316"/>
              <p:cNvSpPr>
                <a:spLocks noChangeArrowheads="1"/>
              </p:cNvSpPr>
              <p:nvPr/>
            </p:nvSpPr>
            <p:spPr bwMode="auto">
              <a:xfrm>
                <a:off x="838200" y="1046162"/>
                <a:ext cx="369888" cy="38100"/>
              </a:xfrm>
              <a:custGeom>
                <a:avLst/>
                <a:gdLst>
                  <a:gd name="T0" fmla="*/ 380544902 w 233"/>
                  <a:gd name="T1" fmla="*/ 0 h 24"/>
                  <a:gd name="T2" fmla="*/ 0 w 233"/>
                  <a:gd name="T3" fmla="*/ 30241875 h 24"/>
                  <a:gd name="T4" fmla="*/ 587197994 w 233"/>
                  <a:gd name="T5" fmla="*/ 60483750 h 24"/>
                  <a:gd name="T6" fmla="*/ 380544902 w 233"/>
                  <a:gd name="T7" fmla="*/ 0 h 24"/>
                  <a:gd name="T8" fmla="*/ 0 60000 65536"/>
                  <a:gd name="T9" fmla="*/ 0 60000 65536"/>
                  <a:gd name="T10" fmla="*/ 0 60000 65536"/>
                  <a:gd name="T11" fmla="*/ 0 60000 65536"/>
                  <a:gd name="T12" fmla="*/ 0 w 233"/>
                  <a:gd name="T13" fmla="*/ 0 h 24"/>
                  <a:gd name="T14" fmla="*/ 233 w 233"/>
                  <a:gd name="T15" fmla="*/ 24 h 24"/>
                </a:gdLst>
                <a:ahLst/>
                <a:cxnLst>
                  <a:cxn ang="T8">
                    <a:pos x="T0" y="T1"/>
                  </a:cxn>
                  <a:cxn ang="T9">
                    <a:pos x="T2" y="T3"/>
                  </a:cxn>
                  <a:cxn ang="T10">
                    <a:pos x="T4" y="T5"/>
                  </a:cxn>
                  <a:cxn ang="T11">
                    <a:pos x="T6" y="T7"/>
                  </a:cxn>
                </a:cxnLst>
                <a:rect l="T12" t="T13" r="T14" b="T15"/>
                <a:pathLst>
                  <a:path w="233" h="24">
                    <a:moveTo>
                      <a:pt x="151" y="0"/>
                    </a:moveTo>
                    <a:lnTo>
                      <a:pt x="0" y="12"/>
                    </a:lnTo>
                    <a:lnTo>
                      <a:pt x="233" y="24"/>
                    </a:lnTo>
                    <a:lnTo>
                      <a:pt x="151"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6" name="Freeform 1317"/>
              <p:cNvSpPr>
                <a:spLocks noChangeArrowheads="1"/>
              </p:cNvSpPr>
              <p:nvPr/>
            </p:nvSpPr>
            <p:spPr bwMode="auto">
              <a:xfrm>
                <a:off x="838200" y="1065212"/>
                <a:ext cx="369888" cy="180975"/>
              </a:xfrm>
              <a:custGeom>
                <a:avLst/>
                <a:gdLst>
                  <a:gd name="T0" fmla="*/ 0 w 233"/>
                  <a:gd name="T1" fmla="*/ 0 h 114"/>
                  <a:gd name="T2" fmla="*/ 529233528 w 233"/>
                  <a:gd name="T3" fmla="*/ 287297813 h 114"/>
                  <a:gd name="T4" fmla="*/ 587197994 w 233"/>
                  <a:gd name="T5" fmla="*/ 30241875 h 114"/>
                  <a:gd name="T6" fmla="*/ 0 w 233"/>
                  <a:gd name="T7" fmla="*/ 0 h 114"/>
                  <a:gd name="T8" fmla="*/ 0 60000 65536"/>
                  <a:gd name="T9" fmla="*/ 0 60000 65536"/>
                  <a:gd name="T10" fmla="*/ 0 60000 65536"/>
                  <a:gd name="T11" fmla="*/ 0 60000 65536"/>
                  <a:gd name="T12" fmla="*/ 0 w 233"/>
                  <a:gd name="T13" fmla="*/ 0 h 114"/>
                  <a:gd name="T14" fmla="*/ 233 w 233"/>
                  <a:gd name="T15" fmla="*/ 114 h 114"/>
                </a:gdLst>
                <a:ahLst/>
                <a:cxnLst>
                  <a:cxn ang="T8">
                    <a:pos x="T0" y="T1"/>
                  </a:cxn>
                  <a:cxn ang="T9">
                    <a:pos x="T2" y="T3"/>
                  </a:cxn>
                  <a:cxn ang="T10">
                    <a:pos x="T4" y="T5"/>
                  </a:cxn>
                  <a:cxn ang="T11">
                    <a:pos x="T6" y="T7"/>
                  </a:cxn>
                </a:cxnLst>
                <a:rect l="T12" t="T13" r="T14" b="T15"/>
                <a:pathLst>
                  <a:path w="233" h="114">
                    <a:moveTo>
                      <a:pt x="0" y="0"/>
                    </a:moveTo>
                    <a:lnTo>
                      <a:pt x="210" y="114"/>
                    </a:lnTo>
                    <a:lnTo>
                      <a:pt x="233" y="12"/>
                    </a:lnTo>
                    <a:lnTo>
                      <a:pt x="0" y="0"/>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7" name="Freeform 1318"/>
              <p:cNvSpPr>
                <a:spLocks noChangeArrowheads="1"/>
              </p:cNvSpPr>
              <p:nvPr/>
            </p:nvSpPr>
            <p:spPr bwMode="auto">
              <a:xfrm>
                <a:off x="642938" y="1065212"/>
                <a:ext cx="195263" cy="158750"/>
              </a:xfrm>
              <a:custGeom>
                <a:avLst/>
                <a:gdLst>
                  <a:gd name="T0" fmla="*/ 33373797 w 169"/>
                  <a:gd name="T1" fmla="*/ 59549656 h 138"/>
                  <a:gd name="T2" fmla="*/ 0 w 169"/>
                  <a:gd name="T3" fmla="*/ 177327201 h 138"/>
                  <a:gd name="T4" fmla="*/ 21358768 w 169"/>
                  <a:gd name="T5" fmla="*/ 182620018 h 138"/>
                  <a:gd name="T6" fmla="*/ 225607332 w 169"/>
                  <a:gd name="T7" fmla="*/ 0 h 138"/>
                  <a:gd name="T8" fmla="*/ 33373797 w 169"/>
                  <a:gd name="T9" fmla="*/ 59549656 h 138"/>
                  <a:gd name="T10" fmla="*/ 0 60000 65536"/>
                  <a:gd name="T11" fmla="*/ 0 60000 65536"/>
                  <a:gd name="T12" fmla="*/ 0 60000 65536"/>
                  <a:gd name="T13" fmla="*/ 0 60000 65536"/>
                  <a:gd name="T14" fmla="*/ 0 60000 65536"/>
                  <a:gd name="T15" fmla="*/ 0 w 169"/>
                  <a:gd name="T16" fmla="*/ 0 h 138"/>
                  <a:gd name="T17" fmla="*/ 169 w 169"/>
                  <a:gd name="T18" fmla="*/ 138 h 138"/>
                </a:gdLst>
                <a:ahLst/>
                <a:cxnLst>
                  <a:cxn ang="T10">
                    <a:pos x="T0" y="T1"/>
                  </a:cxn>
                  <a:cxn ang="T11">
                    <a:pos x="T2" y="T3"/>
                  </a:cxn>
                  <a:cxn ang="T12">
                    <a:pos x="T4" y="T5"/>
                  </a:cxn>
                  <a:cxn ang="T13">
                    <a:pos x="T6" y="T7"/>
                  </a:cxn>
                  <a:cxn ang="T14">
                    <a:pos x="T8" y="T9"/>
                  </a:cxn>
                </a:cxnLst>
                <a:rect l="T15" t="T16" r="T17" b="T18"/>
                <a:pathLst>
                  <a:path w="169" h="138">
                    <a:moveTo>
                      <a:pt x="25" y="45"/>
                    </a:moveTo>
                    <a:cubicBezTo>
                      <a:pt x="0" y="134"/>
                      <a:pt x="0" y="134"/>
                      <a:pt x="0" y="134"/>
                    </a:cubicBezTo>
                    <a:cubicBezTo>
                      <a:pt x="5" y="135"/>
                      <a:pt x="11" y="136"/>
                      <a:pt x="16" y="138"/>
                    </a:cubicBezTo>
                    <a:cubicBezTo>
                      <a:pt x="169" y="0"/>
                      <a:pt x="169" y="0"/>
                      <a:pt x="169" y="0"/>
                    </a:cubicBezTo>
                    <a:lnTo>
                      <a:pt x="25" y="45"/>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8" name="Freeform 1319"/>
              <p:cNvSpPr>
                <a:spLocks noChangeArrowheads="1"/>
              </p:cNvSpPr>
              <p:nvPr/>
            </p:nvSpPr>
            <p:spPr bwMode="auto">
              <a:xfrm>
                <a:off x="635000" y="928687"/>
                <a:ext cx="203200" cy="188912"/>
              </a:xfrm>
              <a:custGeom>
                <a:avLst/>
                <a:gdLst>
                  <a:gd name="T0" fmla="*/ 57964388 w 128"/>
                  <a:gd name="T1" fmla="*/ 299897006 h 119"/>
                  <a:gd name="T2" fmla="*/ 322580000 w 128"/>
                  <a:gd name="T3" fmla="*/ 216732864 h 119"/>
                  <a:gd name="T4" fmla="*/ 0 w 128"/>
                  <a:gd name="T5" fmla="*/ 0 h 119"/>
                  <a:gd name="T6" fmla="*/ 57964388 w 128"/>
                  <a:gd name="T7" fmla="*/ 299897006 h 119"/>
                  <a:gd name="T8" fmla="*/ 0 60000 65536"/>
                  <a:gd name="T9" fmla="*/ 0 60000 65536"/>
                  <a:gd name="T10" fmla="*/ 0 60000 65536"/>
                  <a:gd name="T11" fmla="*/ 0 60000 65536"/>
                  <a:gd name="T12" fmla="*/ 0 w 128"/>
                  <a:gd name="T13" fmla="*/ 0 h 119"/>
                  <a:gd name="T14" fmla="*/ 128 w 128"/>
                  <a:gd name="T15" fmla="*/ 119 h 119"/>
                </a:gdLst>
                <a:ahLst/>
                <a:cxnLst>
                  <a:cxn ang="T8">
                    <a:pos x="T0" y="T1"/>
                  </a:cxn>
                  <a:cxn ang="T9">
                    <a:pos x="T2" y="T3"/>
                  </a:cxn>
                  <a:cxn ang="T10">
                    <a:pos x="T4" y="T5"/>
                  </a:cxn>
                  <a:cxn ang="T11">
                    <a:pos x="T6" y="T7"/>
                  </a:cxn>
                </a:cxnLst>
                <a:rect l="T12" t="T13" r="T14" b="T15"/>
                <a:pathLst>
                  <a:path w="128" h="119">
                    <a:moveTo>
                      <a:pt x="23" y="119"/>
                    </a:moveTo>
                    <a:lnTo>
                      <a:pt x="128" y="86"/>
                    </a:lnTo>
                    <a:lnTo>
                      <a:pt x="0" y="0"/>
                    </a:lnTo>
                    <a:lnTo>
                      <a:pt x="23" y="119"/>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9" name="Freeform 1320"/>
              <p:cNvSpPr>
                <a:spLocks noChangeArrowheads="1"/>
              </p:cNvSpPr>
              <p:nvPr/>
            </p:nvSpPr>
            <p:spPr bwMode="auto">
              <a:xfrm>
                <a:off x="463550" y="1117599"/>
                <a:ext cx="207963" cy="103187"/>
              </a:xfrm>
              <a:custGeom>
                <a:avLst/>
                <a:gdLst>
                  <a:gd name="T0" fmla="*/ 0 w 181"/>
                  <a:gd name="T1" fmla="*/ 37637748 h 89"/>
                  <a:gd name="T2" fmla="*/ 205939669 w 181"/>
                  <a:gd name="T3" fmla="*/ 119635472 h 89"/>
                  <a:gd name="T4" fmla="*/ 238942593 w 181"/>
                  <a:gd name="T5" fmla="*/ 0 h 89"/>
                  <a:gd name="T6" fmla="*/ 0 w 181"/>
                  <a:gd name="T7" fmla="*/ 37637748 h 89"/>
                  <a:gd name="T8" fmla="*/ 0 60000 65536"/>
                  <a:gd name="T9" fmla="*/ 0 60000 65536"/>
                  <a:gd name="T10" fmla="*/ 0 60000 65536"/>
                  <a:gd name="T11" fmla="*/ 0 60000 65536"/>
                  <a:gd name="T12" fmla="*/ 0 w 181"/>
                  <a:gd name="T13" fmla="*/ 0 h 89"/>
                  <a:gd name="T14" fmla="*/ 181 w 181"/>
                  <a:gd name="T15" fmla="*/ 89 h 89"/>
                </a:gdLst>
                <a:ahLst/>
                <a:cxnLst>
                  <a:cxn ang="T8">
                    <a:pos x="T0" y="T1"/>
                  </a:cxn>
                  <a:cxn ang="T9">
                    <a:pos x="T2" y="T3"/>
                  </a:cxn>
                  <a:cxn ang="T10">
                    <a:pos x="T4" y="T5"/>
                  </a:cxn>
                  <a:cxn ang="T11">
                    <a:pos x="T6" y="T7"/>
                  </a:cxn>
                </a:cxnLst>
                <a:rect l="T12" t="T13" r="T14" b="T15"/>
                <a:pathLst>
                  <a:path w="181" h="89">
                    <a:moveTo>
                      <a:pt x="0" y="28"/>
                    </a:moveTo>
                    <a:cubicBezTo>
                      <a:pt x="41" y="51"/>
                      <a:pt x="93" y="71"/>
                      <a:pt x="156" y="89"/>
                    </a:cubicBezTo>
                    <a:cubicBezTo>
                      <a:pt x="181" y="0"/>
                      <a:pt x="181" y="0"/>
                      <a:pt x="181" y="0"/>
                    </a:cubicBezTo>
                    <a:lnTo>
                      <a:pt x="0" y="28"/>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0" name="Freeform 1321"/>
              <p:cNvSpPr>
                <a:spLocks noChangeArrowheads="1"/>
              </p:cNvSpPr>
              <p:nvPr/>
            </p:nvSpPr>
            <p:spPr bwMode="auto">
              <a:xfrm>
                <a:off x="400050" y="928687"/>
                <a:ext cx="271463" cy="220662"/>
              </a:xfrm>
              <a:custGeom>
                <a:avLst/>
                <a:gdLst>
                  <a:gd name="T0" fmla="*/ 269914741 w 236"/>
                  <a:gd name="T1" fmla="*/ 0 h 191"/>
                  <a:gd name="T2" fmla="*/ 0 w 236"/>
                  <a:gd name="T3" fmla="*/ 201541811 h 191"/>
                  <a:gd name="T4" fmla="*/ 72771639 w 236"/>
                  <a:gd name="T5" fmla="*/ 254930462 h 191"/>
                  <a:gd name="T6" fmla="*/ 312254917 w 236"/>
                  <a:gd name="T7" fmla="*/ 217558868 h 191"/>
                  <a:gd name="T8" fmla="*/ 269914741 w 236"/>
                  <a:gd name="T9" fmla="*/ 0 h 191"/>
                  <a:gd name="T10" fmla="*/ 0 60000 65536"/>
                  <a:gd name="T11" fmla="*/ 0 60000 65536"/>
                  <a:gd name="T12" fmla="*/ 0 60000 65536"/>
                  <a:gd name="T13" fmla="*/ 0 60000 65536"/>
                  <a:gd name="T14" fmla="*/ 0 60000 65536"/>
                  <a:gd name="T15" fmla="*/ 0 w 236"/>
                  <a:gd name="T16" fmla="*/ 0 h 191"/>
                  <a:gd name="T17" fmla="*/ 236 w 236"/>
                  <a:gd name="T18" fmla="*/ 191 h 191"/>
                </a:gdLst>
                <a:ahLst/>
                <a:cxnLst>
                  <a:cxn ang="T10">
                    <a:pos x="T0" y="T1"/>
                  </a:cxn>
                  <a:cxn ang="T11">
                    <a:pos x="T2" y="T3"/>
                  </a:cxn>
                  <a:cxn ang="T12">
                    <a:pos x="T4" y="T5"/>
                  </a:cxn>
                  <a:cxn ang="T13">
                    <a:pos x="T6" y="T7"/>
                  </a:cxn>
                  <a:cxn ang="T14">
                    <a:pos x="T8" y="T9"/>
                  </a:cxn>
                </a:cxnLst>
                <a:rect l="T15" t="T16" r="T17" b="T18"/>
                <a:pathLst>
                  <a:path w="236" h="191">
                    <a:moveTo>
                      <a:pt x="204" y="0"/>
                    </a:moveTo>
                    <a:cubicBezTo>
                      <a:pt x="0" y="151"/>
                      <a:pt x="0" y="151"/>
                      <a:pt x="0" y="151"/>
                    </a:cubicBezTo>
                    <a:cubicBezTo>
                      <a:pt x="14" y="165"/>
                      <a:pt x="33" y="178"/>
                      <a:pt x="55" y="191"/>
                    </a:cubicBezTo>
                    <a:cubicBezTo>
                      <a:pt x="236" y="163"/>
                      <a:pt x="236" y="163"/>
                      <a:pt x="236" y="163"/>
                    </a:cubicBezTo>
                    <a:lnTo>
                      <a:pt x="204" y="0"/>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1" name="Freeform 1322"/>
              <p:cNvSpPr>
                <a:spLocks noChangeArrowheads="1"/>
              </p:cNvSpPr>
              <p:nvPr/>
            </p:nvSpPr>
            <p:spPr bwMode="auto">
              <a:xfrm>
                <a:off x="1049338" y="1246187"/>
                <a:ext cx="220663" cy="47625"/>
              </a:xfrm>
              <a:custGeom>
                <a:avLst/>
                <a:gdLst>
                  <a:gd name="T0" fmla="*/ 0 w 191"/>
                  <a:gd name="T1" fmla="*/ 44525890 h 41"/>
                  <a:gd name="T2" fmla="*/ 254932773 w 191"/>
                  <a:gd name="T3" fmla="*/ 55320503 h 41"/>
                  <a:gd name="T4" fmla="*/ 140146422 w 191"/>
                  <a:gd name="T5" fmla="*/ 0 h 41"/>
                  <a:gd name="T6" fmla="*/ 0 w 191"/>
                  <a:gd name="T7" fmla="*/ 44525890 h 41"/>
                  <a:gd name="T8" fmla="*/ 0 60000 65536"/>
                  <a:gd name="T9" fmla="*/ 0 60000 65536"/>
                  <a:gd name="T10" fmla="*/ 0 60000 65536"/>
                  <a:gd name="T11" fmla="*/ 0 60000 65536"/>
                  <a:gd name="T12" fmla="*/ 0 w 191"/>
                  <a:gd name="T13" fmla="*/ 0 h 41"/>
                  <a:gd name="T14" fmla="*/ 191 w 191"/>
                  <a:gd name="T15" fmla="*/ 41 h 41"/>
                </a:gdLst>
                <a:ahLst/>
                <a:cxnLst>
                  <a:cxn ang="T8">
                    <a:pos x="T0" y="T1"/>
                  </a:cxn>
                  <a:cxn ang="T9">
                    <a:pos x="T2" y="T3"/>
                  </a:cxn>
                  <a:cxn ang="T10">
                    <a:pos x="T4" y="T5"/>
                  </a:cxn>
                  <a:cxn ang="T11">
                    <a:pos x="T6" y="T7"/>
                  </a:cxn>
                </a:cxnLst>
                <a:rect l="T12" t="T13" r="T14" b="T15"/>
                <a:pathLst>
                  <a:path w="191" h="41">
                    <a:moveTo>
                      <a:pt x="0" y="33"/>
                    </a:moveTo>
                    <a:cubicBezTo>
                      <a:pt x="61" y="38"/>
                      <a:pt x="125" y="40"/>
                      <a:pt x="191" y="41"/>
                    </a:cubicBezTo>
                    <a:cubicBezTo>
                      <a:pt x="105" y="0"/>
                      <a:pt x="105" y="0"/>
                      <a:pt x="105" y="0"/>
                    </a:cubicBezTo>
                    <a:lnTo>
                      <a:pt x="0" y="33"/>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2" name="Freeform 1323"/>
              <p:cNvSpPr>
                <a:spLocks noChangeArrowheads="1"/>
              </p:cNvSpPr>
              <p:nvPr/>
            </p:nvSpPr>
            <p:spPr bwMode="auto">
              <a:xfrm>
                <a:off x="1171575" y="1216024"/>
                <a:ext cx="184150" cy="77787"/>
              </a:xfrm>
              <a:custGeom>
                <a:avLst/>
                <a:gdLst>
                  <a:gd name="T0" fmla="*/ 0 w 160"/>
                  <a:gd name="T1" fmla="*/ 35045946 h 67"/>
                  <a:gd name="T2" fmla="*/ 113920945 w 160"/>
                  <a:gd name="T3" fmla="*/ 90310707 h 67"/>
                  <a:gd name="T4" fmla="*/ 121868168 w 160"/>
                  <a:gd name="T5" fmla="*/ 90310707 h 67"/>
                  <a:gd name="T6" fmla="*/ 180153945 w 160"/>
                  <a:gd name="T7" fmla="*/ 88962786 h 67"/>
                  <a:gd name="T8" fmla="*/ 211945141 w 160"/>
                  <a:gd name="T9" fmla="*/ 0 h 67"/>
                  <a:gd name="T10" fmla="*/ 0 w 160"/>
                  <a:gd name="T11" fmla="*/ 35045946 h 67"/>
                  <a:gd name="T12" fmla="*/ 0 60000 65536"/>
                  <a:gd name="T13" fmla="*/ 0 60000 65536"/>
                  <a:gd name="T14" fmla="*/ 0 60000 65536"/>
                  <a:gd name="T15" fmla="*/ 0 60000 65536"/>
                  <a:gd name="T16" fmla="*/ 0 60000 65536"/>
                  <a:gd name="T17" fmla="*/ 0 60000 65536"/>
                  <a:gd name="T18" fmla="*/ 0 w 160"/>
                  <a:gd name="T19" fmla="*/ 0 h 67"/>
                  <a:gd name="T20" fmla="*/ 160 w 160"/>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60" h="67">
                    <a:moveTo>
                      <a:pt x="0" y="26"/>
                    </a:moveTo>
                    <a:cubicBezTo>
                      <a:pt x="86" y="67"/>
                      <a:pt x="86" y="67"/>
                      <a:pt x="86" y="67"/>
                    </a:cubicBezTo>
                    <a:cubicBezTo>
                      <a:pt x="88" y="67"/>
                      <a:pt x="90" y="67"/>
                      <a:pt x="92" y="67"/>
                    </a:cubicBezTo>
                    <a:cubicBezTo>
                      <a:pt x="107" y="67"/>
                      <a:pt x="121" y="66"/>
                      <a:pt x="136" y="66"/>
                    </a:cubicBezTo>
                    <a:cubicBezTo>
                      <a:pt x="160" y="0"/>
                      <a:pt x="160" y="0"/>
                      <a:pt x="160" y="0"/>
                    </a:cubicBezTo>
                    <a:lnTo>
                      <a:pt x="0" y="26"/>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3" name="Freeform 1324"/>
              <p:cNvSpPr>
                <a:spLocks noChangeArrowheads="1"/>
              </p:cNvSpPr>
              <p:nvPr/>
            </p:nvSpPr>
            <p:spPr bwMode="auto">
              <a:xfrm>
                <a:off x="1328738" y="1216024"/>
                <a:ext cx="277813" cy="76200"/>
              </a:xfrm>
              <a:custGeom>
                <a:avLst/>
                <a:gdLst>
                  <a:gd name="T0" fmla="*/ 0 w 241"/>
                  <a:gd name="T1" fmla="*/ 87976364 h 66"/>
                  <a:gd name="T2" fmla="*/ 320249224 w 241"/>
                  <a:gd name="T3" fmla="*/ 67981945 h 66"/>
                  <a:gd name="T4" fmla="*/ 31892010 w 241"/>
                  <a:gd name="T5" fmla="*/ 0 h 66"/>
                  <a:gd name="T6" fmla="*/ 0 w 241"/>
                  <a:gd name="T7" fmla="*/ 87976364 h 66"/>
                  <a:gd name="T8" fmla="*/ 0 60000 65536"/>
                  <a:gd name="T9" fmla="*/ 0 60000 65536"/>
                  <a:gd name="T10" fmla="*/ 0 60000 65536"/>
                  <a:gd name="T11" fmla="*/ 0 60000 65536"/>
                  <a:gd name="T12" fmla="*/ 0 w 241"/>
                  <a:gd name="T13" fmla="*/ 0 h 66"/>
                  <a:gd name="T14" fmla="*/ 241 w 241"/>
                  <a:gd name="T15" fmla="*/ 66 h 66"/>
                </a:gdLst>
                <a:ahLst/>
                <a:cxnLst>
                  <a:cxn ang="T8">
                    <a:pos x="T0" y="T1"/>
                  </a:cxn>
                  <a:cxn ang="T9">
                    <a:pos x="T2" y="T3"/>
                  </a:cxn>
                  <a:cxn ang="T10">
                    <a:pos x="T4" y="T5"/>
                  </a:cxn>
                  <a:cxn ang="T11">
                    <a:pos x="T6" y="T7"/>
                  </a:cxn>
                </a:cxnLst>
                <a:rect l="T12" t="T13" r="T14" b="T15"/>
                <a:pathLst>
                  <a:path w="241" h="66">
                    <a:moveTo>
                      <a:pt x="0" y="66"/>
                    </a:moveTo>
                    <a:cubicBezTo>
                      <a:pt x="84" y="65"/>
                      <a:pt x="165" y="60"/>
                      <a:pt x="241" y="51"/>
                    </a:cubicBezTo>
                    <a:cubicBezTo>
                      <a:pt x="24" y="0"/>
                      <a:pt x="24" y="0"/>
                      <a:pt x="24" y="0"/>
                    </a:cubicBezTo>
                    <a:lnTo>
                      <a:pt x="0" y="66"/>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4" name="Freeform 1325"/>
              <p:cNvSpPr>
                <a:spLocks noChangeArrowheads="1"/>
              </p:cNvSpPr>
              <p:nvPr/>
            </p:nvSpPr>
            <p:spPr bwMode="auto">
              <a:xfrm>
                <a:off x="1725613" y="1117599"/>
                <a:ext cx="358775" cy="119062"/>
              </a:xfrm>
              <a:custGeom>
                <a:avLst/>
                <a:gdLst>
                  <a:gd name="T0" fmla="*/ 134413727 w 311"/>
                  <a:gd name="T1" fmla="*/ 136305383 h 104"/>
                  <a:gd name="T2" fmla="*/ 413889070 w 311"/>
                  <a:gd name="T3" fmla="*/ 40629908 h 104"/>
                  <a:gd name="T4" fmla="*/ 0 w 311"/>
                  <a:gd name="T5" fmla="*/ 0 h 104"/>
                  <a:gd name="T6" fmla="*/ 134413727 w 311"/>
                  <a:gd name="T7" fmla="*/ 136305383 h 104"/>
                  <a:gd name="T8" fmla="*/ 0 60000 65536"/>
                  <a:gd name="T9" fmla="*/ 0 60000 65536"/>
                  <a:gd name="T10" fmla="*/ 0 60000 65536"/>
                  <a:gd name="T11" fmla="*/ 0 60000 65536"/>
                  <a:gd name="T12" fmla="*/ 0 w 311"/>
                  <a:gd name="T13" fmla="*/ 0 h 104"/>
                  <a:gd name="T14" fmla="*/ 311 w 311"/>
                  <a:gd name="T15" fmla="*/ 104 h 104"/>
                </a:gdLst>
                <a:ahLst/>
                <a:cxnLst>
                  <a:cxn ang="T8">
                    <a:pos x="T0" y="T1"/>
                  </a:cxn>
                  <a:cxn ang="T9">
                    <a:pos x="T2" y="T3"/>
                  </a:cxn>
                  <a:cxn ang="T10">
                    <a:pos x="T4" y="T5"/>
                  </a:cxn>
                  <a:cxn ang="T11">
                    <a:pos x="T6" y="T7"/>
                  </a:cxn>
                </a:cxnLst>
                <a:rect l="T12" t="T13" r="T14" b="T15"/>
                <a:pathLst>
                  <a:path w="311" h="104">
                    <a:moveTo>
                      <a:pt x="101" y="104"/>
                    </a:moveTo>
                    <a:cubicBezTo>
                      <a:pt x="188" y="84"/>
                      <a:pt x="259" y="59"/>
                      <a:pt x="311" y="31"/>
                    </a:cubicBezTo>
                    <a:cubicBezTo>
                      <a:pt x="0" y="0"/>
                      <a:pt x="0" y="0"/>
                      <a:pt x="0" y="0"/>
                    </a:cubicBezTo>
                    <a:lnTo>
                      <a:pt x="101" y="104"/>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5" name="Freeform 1326"/>
              <p:cNvSpPr>
                <a:spLocks noChangeArrowheads="1"/>
              </p:cNvSpPr>
              <p:nvPr/>
            </p:nvSpPr>
            <p:spPr bwMode="auto">
              <a:xfrm>
                <a:off x="2085975" y="811212"/>
                <a:ext cx="106363" cy="315912"/>
              </a:xfrm>
              <a:custGeom>
                <a:avLst/>
                <a:gdLst>
                  <a:gd name="T0" fmla="*/ 0 w 91"/>
                  <a:gd name="T1" fmla="*/ 34816280 h 273"/>
                  <a:gd name="T2" fmla="*/ 49181784 w 91"/>
                  <a:gd name="T3" fmla="*/ 365569201 h 273"/>
                  <a:gd name="T4" fmla="*/ 124319646 w 91"/>
                  <a:gd name="T5" fmla="*/ 251747148 h 273"/>
                  <a:gd name="T6" fmla="*/ 117489037 w 91"/>
                  <a:gd name="T7" fmla="*/ 216930869 h 273"/>
                  <a:gd name="T8" fmla="*/ 117489037 w 91"/>
                  <a:gd name="T9" fmla="*/ 216930869 h 273"/>
                  <a:gd name="T10" fmla="*/ 49181784 w 91"/>
                  <a:gd name="T11" fmla="*/ 44189493 h 273"/>
                  <a:gd name="T12" fmla="*/ 19126639 w 91"/>
                  <a:gd name="T13" fmla="*/ 0 h 273"/>
                  <a:gd name="T14" fmla="*/ 0 w 91"/>
                  <a:gd name="T15" fmla="*/ 34816280 h 273"/>
                  <a:gd name="T16" fmla="*/ 0 60000 65536"/>
                  <a:gd name="T17" fmla="*/ 0 60000 65536"/>
                  <a:gd name="T18" fmla="*/ 0 60000 65536"/>
                  <a:gd name="T19" fmla="*/ 0 60000 65536"/>
                  <a:gd name="T20" fmla="*/ 0 60000 65536"/>
                  <a:gd name="T21" fmla="*/ 0 60000 65536"/>
                  <a:gd name="T22" fmla="*/ 0 60000 65536"/>
                  <a:gd name="T23" fmla="*/ 0 60000 65536"/>
                  <a:gd name="T24" fmla="*/ 0 w 91"/>
                  <a:gd name="T25" fmla="*/ 0 h 273"/>
                  <a:gd name="T26" fmla="*/ 91 w 91"/>
                  <a:gd name="T27" fmla="*/ 273 h 27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1" h="273">
                    <a:moveTo>
                      <a:pt x="0" y="26"/>
                    </a:moveTo>
                    <a:cubicBezTo>
                      <a:pt x="36" y="273"/>
                      <a:pt x="36" y="273"/>
                      <a:pt x="36" y="273"/>
                    </a:cubicBezTo>
                    <a:cubicBezTo>
                      <a:pt x="71" y="247"/>
                      <a:pt x="91" y="218"/>
                      <a:pt x="91" y="188"/>
                    </a:cubicBezTo>
                    <a:cubicBezTo>
                      <a:pt x="91" y="179"/>
                      <a:pt x="89" y="171"/>
                      <a:pt x="86" y="162"/>
                    </a:cubicBezTo>
                    <a:cubicBezTo>
                      <a:pt x="86" y="162"/>
                      <a:pt x="86" y="162"/>
                      <a:pt x="86" y="162"/>
                    </a:cubicBezTo>
                    <a:cubicBezTo>
                      <a:pt x="36" y="33"/>
                      <a:pt x="36" y="33"/>
                      <a:pt x="36" y="33"/>
                    </a:cubicBezTo>
                    <a:cubicBezTo>
                      <a:pt x="14" y="0"/>
                      <a:pt x="14" y="0"/>
                      <a:pt x="14" y="0"/>
                    </a:cubicBezTo>
                    <a:cubicBezTo>
                      <a:pt x="12" y="9"/>
                      <a:pt x="7" y="18"/>
                      <a:pt x="0" y="26"/>
                    </a:cubicBez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6" name="Freeform 1327"/>
              <p:cNvSpPr>
                <a:spLocks noChangeArrowheads="1"/>
              </p:cNvSpPr>
              <p:nvPr/>
            </p:nvSpPr>
            <p:spPr bwMode="auto">
              <a:xfrm>
                <a:off x="1725613" y="841374"/>
                <a:ext cx="403225" cy="311150"/>
              </a:xfrm>
              <a:custGeom>
                <a:avLst/>
                <a:gdLst>
                  <a:gd name="T0" fmla="*/ 359083994 w 349"/>
                  <a:gd name="T1" fmla="*/ 45153627 h 270"/>
                  <a:gd name="T2" fmla="*/ 220255591 w 349"/>
                  <a:gd name="T3" fmla="*/ 102258871 h 270"/>
                  <a:gd name="T4" fmla="*/ 0 w 349"/>
                  <a:gd name="T5" fmla="*/ 317401810 h 270"/>
                  <a:gd name="T6" fmla="*/ 415149599 w 349"/>
                  <a:gd name="T7" fmla="*/ 358571565 h 270"/>
                  <a:gd name="T8" fmla="*/ 465875073 w 349"/>
                  <a:gd name="T9" fmla="*/ 328027006 h 270"/>
                  <a:gd name="T10" fmla="*/ 417819665 w 349"/>
                  <a:gd name="T11" fmla="*/ 0 h 270"/>
                  <a:gd name="T12" fmla="*/ 359083994 w 349"/>
                  <a:gd name="T13" fmla="*/ 45153627 h 270"/>
                  <a:gd name="T14" fmla="*/ 0 60000 65536"/>
                  <a:gd name="T15" fmla="*/ 0 60000 65536"/>
                  <a:gd name="T16" fmla="*/ 0 60000 65536"/>
                  <a:gd name="T17" fmla="*/ 0 60000 65536"/>
                  <a:gd name="T18" fmla="*/ 0 60000 65536"/>
                  <a:gd name="T19" fmla="*/ 0 60000 65536"/>
                  <a:gd name="T20" fmla="*/ 0 60000 65536"/>
                  <a:gd name="T21" fmla="*/ 0 w 349"/>
                  <a:gd name="T22" fmla="*/ 0 h 270"/>
                  <a:gd name="T23" fmla="*/ 349 w 349"/>
                  <a:gd name="T24" fmla="*/ 270 h 2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9" h="270">
                    <a:moveTo>
                      <a:pt x="269" y="34"/>
                    </a:moveTo>
                    <a:cubicBezTo>
                      <a:pt x="242" y="50"/>
                      <a:pt x="207" y="64"/>
                      <a:pt x="165" y="77"/>
                    </a:cubicBezTo>
                    <a:cubicBezTo>
                      <a:pt x="0" y="239"/>
                      <a:pt x="0" y="239"/>
                      <a:pt x="0" y="239"/>
                    </a:cubicBezTo>
                    <a:cubicBezTo>
                      <a:pt x="311" y="270"/>
                      <a:pt x="311" y="270"/>
                      <a:pt x="311" y="270"/>
                    </a:cubicBezTo>
                    <a:cubicBezTo>
                      <a:pt x="325" y="262"/>
                      <a:pt x="338" y="255"/>
                      <a:pt x="349" y="247"/>
                    </a:cubicBezTo>
                    <a:cubicBezTo>
                      <a:pt x="313" y="0"/>
                      <a:pt x="313" y="0"/>
                      <a:pt x="313" y="0"/>
                    </a:cubicBezTo>
                    <a:cubicBezTo>
                      <a:pt x="303" y="12"/>
                      <a:pt x="288" y="23"/>
                      <a:pt x="269" y="34"/>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7" name="Rectangle 1328"/>
              <p:cNvSpPr>
                <a:spLocks noChangeArrowheads="1"/>
              </p:cNvSpPr>
              <p:nvPr/>
            </p:nvSpPr>
            <p:spPr bwMode="auto">
              <a:xfrm>
                <a:off x="635000" y="928687"/>
                <a:ext cx="1588" cy="1587"/>
              </a:xfrm>
              <a:prstGeom prst="rect">
                <a:avLst/>
              </a:pr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58" name="Freeform 1329"/>
              <p:cNvSpPr>
                <a:spLocks noChangeArrowheads="1"/>
              </p:cNvSpPr>
              <p:nvPr/>
            </p:nvSpPr>
            <p:spPr bwMode="auto">
              <a:xfrm>
                <a:off x="635000" y="928687"/>
                <a:ext cx="1588" cy="1"/>
              </a:xfrm>
              <a:custGeom>
                <a:avLst/>
                <a:gdLst>
                  <a:gd name="T0" fmla="*/ 2521744 w 1"/>
                  <a:gd name="T1" fmla="*/ 0 h 1"/>
                  <a:gd name="T2" fmla="*/ 2521744 w 1"/>
                  <a:gd name="T3" fmla="*/ 0 h 1"/>
                  <a:gd name="T4" fmla="*/ 0 w 1"/>
                  <a:gd name="T5" fmla="*/ 0 h 1"/>
                  <a:gd name="T6" fmla="*/ 2521744 w 1"/>
                  <a:gd name="T7" fmla="*/ 0 h 1"/>
                  <a:gd name="T8" fmla="*/ 0 60000 65536"/>
                  <a:gd name="T9" fmla="*/ 0 60000 65536"/>
                  <a:gd name="T10" fmla="*/ 0 60000 65536"/>
                  <a:gd name="T11" fmla="*/ 0 60000 65536"/>
                  <a:gd name="T12" fmla="*/ 0 w 1"/>
                  <a:gd name="T13" fmla="*/ 0 h 1"/>
                  <a:gd name="T14" fmla="*/ 1 w 1"/>
                  <a:gd name="T15" fmla="*/ 1 h 1"/>
                </a:gdLst>
                <a:ahLst/>
                <a:cxnLst>
                  <a:cxn ang="T8">
                    <a:pos x="T0" y="T1"/>
                  </a:cxn>
                  <a:cxn ang="T9">
                    <a:pos x="T2" y="T3"/>
                  </a:cxn>
                  <a:cxn ang="T10">
                    <a:pos x="T4" y="T5"/>
                  </a:cxn>
                  <a:cxn ang="T11">
                    <a:pos x="T6" y="T7"/>
                  </a:cxn>
                </a:cxnLst>
                <a:rect l="T12" t="T13" r="T14" b="T15"/>
                <a:pathLst>
                  <a:path w="1" h="1">
                    <a:moveTo>
                      <a:pt x="1" y="0"/>
                    </a:moveTo>
                    <a:lnTo>
                      <a:pt x="1" y="0"/>
                    </a:lnTo>
                    <a:lnTo>
                      <a:pt x="0" y="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9" name="Freeform 1330"/>
              <p:cNvSpPr>
                <a:spLocks noChangeArrowheads="1"/>
              </p:cNvSpPr>
              <p:nvPr/>
            </p:nvSpPr>
            <p:spPr bwMode="auto">
              <a:xfrm>
                <a:off x="1244600" y="1065212"/>
                <a:ext cx="369888" cy="150812"/>
              </a:xfrm>
              <a:custGeom>
                <a:avLst/>
                <a:gdLst>
                  <a:gd name="T0" fmla="*/ 0 w 233"/>
                  <a:gd name="T1" fmla="*/ 0 h 95"/>
                  <a:gd name="T2" fmla="*/ 176411176 w 233"/>
                  <a:gd name="T3" fmla="*/ 239413256 h 95"/>
                  <a:gd name="T4" fmla="*/ 587197994 w 233"/>
                  <a:gd name="T5" fmla="*/ 32761129 h 95"/>
                  <a:gd name="T6" fmla="*/ 0 w 233"/>
                  <a:gd name="T7" fmla="*/ 0 h 95"/>
                  <a:gd name="T8" fmla="*/ 0 60000 65536"/>
                  <a:gd name="T9" fmla="*/ 0 60000 65536"/>
                  <a:gd name="T10" fmla="*/ 0 60000 65536"/>
                  <a:gd name="T11" fmla="*/ 0 60000 65536"/>
                  <a:gd name="T12" fmla="*/ 0 w 233"/>
                  <a:gd name="T13" fmla="*/ 0 h 95"/>
                  <a:gd name="T14" fmla="*/ 233 w 233"/>
                  <a:gd name="T15" fmla="*/ 95 h 95"/>
                </a:gdLst>
                <a:ahLst/>
                <a:cxnLst>
                  <a:cxn ang="T8">
                    <a:pos x="T0" y="T1"/>
                  </a:cxn>
                  <a:cxn ang="T9">
                    <a:pos x="T2" y="T3"/>
                  </a:cxn>
                  <a:cxn ang="T10">
                    <a:pos x="T4" y="T5"/>
                  </a:cxn>
                  <a:cxn ang="T11">
                    <a:pos x="T6" y="T7"/>
                  </a:cxn>
                </a:cxnLst>
                <a:rect l="T12" t="T13" r="T14" b="T15"/>
                <a:pathLst>
                  <a:path w="233" h="95">
                    <a:moveTo>
                      <a:pt x="0" y="0"/>
                    </a:moveTo>
                    <a:lnTo>
                      <a:pt x="70" y="95"/>
                    </a:lnTo>
                    <a:lnTo>
                      <a:pt x="233" y="1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0" name="Freeform 1331"/>
              <p:cNvSpPr>
                <a:spLocks noChangeArrowheads="1"/>
              </p:cNvSpPr>
              <p:nvPr/>
            </p:nvSpPr>
            <p:spPr bwMode="auto">
              <a:xfrm>
                <a:off x="1244600" y="1003299"/>
                <a:ext cx="369888" cy="82550"/>
              </a:xfrm>
              <a:custGeom>
                <a:avLst/>
                <a:gdLst>
                  <a:gd name="T0" fmla="*/ 427553539 w 320"/>
                  <a:gd name="T1" fmla="*/ 94645868 h 72"/>
                  <a:gd name="T2" fmla="*/ 197743281 w 320"/>
                  <a:gd name="T3" fmla="*/ 0 h 72"/>
                  <a:gd name="T4" fmla="*/ 89518676 w 320"/>
                  <a:gd name="T5" fmla="*/ 2628988 h 72"/>
                  <a:gd name="T6" fmla="*/ 0 w 320"/>
                  <a:gd name="T7" fmla="*/ 70984974 h 72"/>
                  <a:gd name="T8" fmla="*/ 427553539 w 320"/>
                  <a:gd name="T9" fmla="*/ 94645868 h 72"/>
                  <a:gd name="T10" fmla="*/ 0 60000 65536"/>
                  <a:gd name="T11" fmla="*/ 0 60000 65536"/>
                  <a:gd name="T12" fmla="*/ 0 60000 65536"/>
                  <a:gd name="T13" fmla="*/ 0 60000 65536"/>
                  <a:gd name="T14" fmla="*/ 0 60000 65536"/>
                  <a:gd name="T15" fmla="*/ 0 w 320"/>
                  <a:gd name="T16" fmla="*/ 0 h 72"/>
                  <a:gd name="T17" fmla="*/ 320 w 320"/>
                  <a:gd name="T18" fmla="*/ 72 h 72"/>
                </a:gdLst>
                <a:ahLst/>
                <a:cxnLst>
                  <a:cxn ang="T10">
                    <a:pos x="T0" y="T1"/>
                  </a:cxn>
                  <a:cxn ang="T11">
                    <a:pos x="T2" y="T3"/>
                  </a:cxn>
                  <a:cxn ang="T12">
                    <a:pos x="T4" y="T5"/>
                  </a:cxn>
                  <a:cxn ang="T13">
                    <a:pos x="T6" y="T7"/>
                  </a:cxn>
                  <a:cxn ang="T14">
                    <a:pos x="T8" y="T9"/>
                  </a:cxn>
                </a:cxnLst>
                <a:rect l="T15" t="T16" r="T17" b="T18"/>
                <a:pathLst>
                  <a:path w="320" h="72">
                    <a:moveTo>
                      <a:pt x="320" y="72"/>
                    </a:moveTo>
                    <a:cubicBezTo>
                      <a:pt x="148" y="0"/>
                      <a:pt x="148" y="0"/>
                      <a:pt x="148" y="0"/>
                    </a:cubicBezTo>
                    <a:cubicBezTo>
                      <a:pt x="121" y="1"/>
                      <a:pt x="94" y="1"/>
                      <a:pt x="67" y="2"/>
                    </a:cubicBezTo>
                    <a:cubicBezTo>
                      <a:pt x="0" y="54"/>
                      <a:pt x="0" y="54"/>
                      <a:pt x="0" y="54"/>
                    </a:cubicBezTo>
                    <a:lnTo>
                      <a:pt x="320" y="72"/>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1" name="Freeform 1332"/>
              <p:cNvSpPr>
                <a:spLocks noChangeArrowheads="1"/>
              </p:cNvSpPr>
              <p:nvPr/>
            </p:nvSpPr>
            <p:spPr bwMode="auto">
              <a:xfrm>
                <a:off x="1355725" y="1085849"/>
                <a:ext cx="369888" cy="130175"/>
              </a:xfrm>
              <a:custGeom>
                <a:avLst/>
                <a:gdLst>
                  <a:gd name="T0" fmla="*/ 0 w 233"/>
                  <a:gd name="T1" fmla="*/ 206652813 h 82"/>
                  <a:gd name="T2" fmla="*/ 587197994 w 233"/>
                  <a:gd name="T3" fmla="*/ 50403125 h 82"/>
                  <a:gd name="T4" fmla="*/ 410786818 w 233"/>
                  <a:gd name="T5" fmla="*/ 0 h 82"/>
                  <a:gd name="T6" fmla="*/ 0 w 233"/>
                  <a:gd name="T7" fmla="*/ 206652813 h 82"/>
                  <a:gd name="T8" fmla="*/ 0 60000 65536"/>
                  <a:gd name="T9" fmla="*/ 0 60000 65536"/>
                  <a:gd name="T10" fmla="*/ 0 60000 65536"/>
                  <a:gd name="T11" fmla="*/ 0 60000 65536"/>
                  <a:gd name="T12" fmla="*/ 0 w 233"/>
                  <a:gd name="T13" fmla="*/ 0 h 82"/>
                  <a:gd name="T14" fmla="*/ 233 w 233"/>
                  <a:gd name="T15" fmla="*/ 82 h 82"/>
                </a:gdLst>
                <a:ahLst/>
                <a:cxnLst>
                  <a:cxn ang="T8">
                    <a:pos x="T0" y="T1"/>
                  </a:cxn>
                  <a:cxn ang="T9">
                    <a:pos x="T2" y="T3"/>
                  </a:cxn>
                  <a:cxn ang="T10">
                    <a:pos x="T4" y="T5"/>
                  </a:cxn>
                  <a:cxn ang="T11">
                    <a:pos x="T6" y="T7"/>
                  </a:cxn>
                </a:cxnLst>
                <a:rect l="T12" t="T13" r="T14" b="T15"/>
                <a:pathLst>
                  <a:path w="233" h="82">
                    <a:moveTo>
                      <a:pt x="0" y="82"/>
                    </a:moveTo>
                    <a:lnTo>
                      <a:pt x="233" y="20"/>
                    </a:lnTo>
                    <a:lnTo>
                      <a:pt x="163" y="0"/>
                    </a:lnTo>
                    <a:lnTo>
                      <a:pt x="0" y="82"/>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2" name="Freeform 1333"/>
              <p:cNvSpPr>
                <a:spLocks noChangeArrowheads="1"/>
              </p:cNvSpPr>
              <p:nvPr/>
            </p:nvSpPr>
            <p:spPr bwMode="auto">
              <a:xfrm>
                <a:off x="1416050" y="985837"/>
                <a:ext cx="206375" cy="100012"/>
              </a:xfrm>
              <a:custGeom>
                <a:avLst/>
                <a:gdLst>
                  <a:gd name="T0" fmla="*/ 237936540 w 179"/>
                  <a:gd name="T1" fmla="*/ 0 h 86"/>
                  <a:gd name="T2" fmla="*/ 0 w 179"/>
                  <a:gd name="T3" fmla="*/ 18933667 h 86"/>
                  <a:gd name="T4" fmla="*/ 228631218 w 179"/>
                  <a:gd name="T5" fmla="*/ 116306978 h 86"/>
                  <a:gd name="T6" fmla="*/ 237936540 w 179"/>
                  <a:gd name="T7" fmla="*/ 0 h 86"/>
                  <a:gd name="T8" fmla="*/ 0 60000 65536"/>
                  <a:gd name="T9" fmla="*/ 0 60000 65536"/>
                  <a:gd name="T10" fmla="*/ 0 60000 65536"/>
                  <a:gd name="T11" fmla="*/ 0 60000 65536"/>
                  <a:gd name="T12" fmla="*/ 0 w 179"/>
                  <a:gd name="T13" fmla="*/ 0 h 86"/>
                  <a:gd name="T14" fmla="*/ 179 w 179"/>
                  <a:gd name="T15" fmla="*/ 86 h 86"/>
                </a:gdLst>
                <a:ahLst/>
                <a:cxnLst>
                  <a:cxn ang="T8">
                    <a:pos x="T0" y="T1"/>
                  </a:cxn>
                  <a:cxn ang="T9">
                    <a:pos x="T2" y="T3"/>
                  </a:cxn>
                  <a:cxn ang="T10">
                    <a:pos x="T4" y="T5"/>
                  </a:cxn>
                  <a:cxn ang="T11">
                    <a:pos x="T6" y="T7"/>
                  </a:cxn>
                </a:cxnLst>
                <a:rect l="T12" t="T13" r="T14" b="T15"/>
                <a:pathLst>
                  <a:path w="179" h="86">
                    <a:moveTo>
                      <a:pt x="179" y="0"/>
                    </a:moveTo>
                    <a:cubicBezTo>
                      <a:pt x="123" y="6"/>
                      <a:pt x="63" y="11"/>
                      <a:pt x="0" y="14"/>
                    </a:cubicBezTo>
                    <a:cubicBezTo>
                      <a:pt x="172" y="86"/>
                      <a:pt x="172" y="86"/>
                      <a:pt x="172" y="86"/>
                    </a:cubicBezTo>
                    <a:lnTo>
                      <a:pt x="179" y="0"/>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3" name="Freeform 1334"/>
              <p:cNvSpPr>
                <a:spLocks noChangeArrowheads="1"/>
              </p:cNvSpPr>
              <p:nvPr/>
            </p:nvSpPr>
            <p:spPr bwMode="auto">
              <a:xfrm>
                <a:off x="1614488" y="957262"/>
                <a:ext cx="188913" cy="128587"/>
              </a:xfrm>
              <a:custGeom>
                <a:avLst/>
                <a:gdLst>
                  <a:gd name="T0" fmla="*/ 218945531 w 163"/>
                  <a:gd name="T1" fmla="*/ 0 h 111"/>
                  <a:gd name="T2" fmla="*/ 9402768 w 163"/>
                  <a:gd name="T3" fmla="*/ 33549623 h 111"/>
                  <a:gd name="T4" fmla="*/ 0 w 163"/>
                  <a:gd name="T5" fmla="*/ 148960510 h 111"/>
                  <a:gd name="T6" fmla="*/ 218945531 w 163"/>
                  <a:gd name="T7" fmla="*/ 0 h 111"/>
                  <a:gd name="T8" fmla="*/ 0 60000 65536"/>
                  <a:gd name="T9" fmla="*/ 0 60000 65536"/>
                  <a:gd name="T10" fmla="*/ 0 60000 65536"/>
                  <a:gd name="T11" fmla="*/ 0 60000 65536"/>
                  <a:gd name="T12" fmla="*/ 0 w 163"/>
                  <a:gd name="T13" fmla="*/ 0 h 111"/>
                  <a:gd name="T14" fmla="*/ 163 w 163"/>
                  <a:gd name="T15" fmla="*/ 111 h 111"/>
                </a:gdLst>
                <a:ahLst/>
                <a:cxnLst>
                  <a:cxn ang="T8">
                    <a:pos x="T0" y="T1"/>
                  </a:cxn>
                  <a:cxn ang="T9">
                    <a:pos x="T2" y="T3"/>
                  </a:cxn>
                  <a:cxn ang="T10">
                    <a:pos x="T4" y="T5"/>
                  </a:cxn>
                  <a:cxn ang="T11">
                    <a:pos x="T6" y="T7"/>
                  </a:cxn>
                </a:cxnLst>
                <a:rect l="T12" t="T13" r="T14" b="T15"/>
                <a:pathLst>
                  <a:path w="163" h="111">
                    <a:moveTo>
                      <a:pt x="163" y="0"/>
                    </a:moveTo>
                    <a:cubicBezTo>
                      <a:pt x="116" y="10"/>
                      <a:pt x="63" y="18"/>
                      <a:pt x="7" y="25"/>
                    </a:cubicBezTo>
                    <a:cubicBezTo>
                      <a:pt x="0" y="111"/>
                      <a:pt x="0" y="111"/>
                      <a:pt x="0" y="111"/>
                    </a:cubicBezTo>
                    <a:lnTo>
                      <a:pt x="163" y="0"/>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4" name="Freeform 1335"/>
              <p:cNvSpPr>
                <a:spLocks noChangeArrowheads="1"/>
              </p:cNvSpPr>
              <p:nvPr/>
            </p:nvSpPr>
            <p:spPr bwMode="auto">
              <a:xfrm>
                <a:off x="1614488" y="930274"/>
                <a:ext cx="301625" cy="187325"/>
              </a:xfrm>
              <a:custGeom>
                <a:avLst/>
                <a:gdLst>
                  <a:gd name="T0" fmla="*/ 128211427 w 261"/>
                  <a:gd name="T1" fmla="*/ 216608985 h 162"/>
                  <a:gd name="T2" fmla="*/ 348573336 w 261"/>
                  <a:gd name="T3" fmla="*/ 0 h 162"/>
                  <a:gd name="T4" fmla="*/ 217691199 w 261"/>
                  <a:gd name="T5" fmla="*/ 32090391 h 162"/>
                  <a:gd name="T6" fmla="*/ 0 w 261"/>
                  <a:gd name="T7" fmla="*/ 180507295 h 162"/>
                  <a:gd name="T8" fmla="*/ 128211427 w 261"/>
                  <a:gd name="T9" fmla="*/ 216608985 h 162"/>
                  <a:gd name="T10" fmla="*/ 0 60000 65536"/>
                  <a:gd name="T11" fmla="*/ 0 60000 65536"/>
                  <a:gd name="T12" fmla="*/ 0 60000 65536"/>
                  <a:gd name="T13" fmla="*/ 0 60000 65536"/>
                  <a:gd name="T14" fmla="*/ 0 60000 65536"/>
                  <a:gd name="T15" fmla="*/ 0 w 261"/>
                  <a:gd name="T16" fmla="*/ 0 h 162"/>
                  <a:gd name="T17" fmla="*/ 261 w 261"/>
                  <a:gd name="T18" fmla="*/ 162 h 162"/>
                </a:gdLst>
                <a:ahLst/>
                <a:cxnLst>
                  <a:cxn ang="T10">
                    <a:pos x="T0" y="T1"/>
                  </a:cxn>
                  <a:cxn ang="T11">
                    <a:pos x="T2" y="T3"/>
                  </a:cxn>
                  <a:cxn ang="T12">
                    <a:pos x="T4" y="T5"/>
                  </a:cxn>
                  <a:cxn ang="T13">
                    <a:pos x="T6" y="T7"/>
                  </a:cxn>
                  <a:cxn ang="T14">
                    <a:pos x="T8" y="T9"/>
                  </a:cxn>
                </a:cxnLst>
                <a:rect l="T15" t="T16" r="T17" b="T18"/>
                <a:pathLst>
                  <a:path w="261" h="162">
                    <a:moveTo>
                      <a:pt x="96" y="162"/>
                    </a:moveTo>
                    <a:cubicBezTo>
                      <a:pt x="261" y="0"/>
                      <a:pt x="261" y="0"/>
                      <a:pt x="261" y="0"/>
                    </a:cubicBezTo>
                    <a:cubicBezTo>
                      <a:pt x="232" y="9"/>
                      <a:pt x="199" y="17"/>
                      <a:pt x="163" y="24"/>
                    </a:cubicBezTo>
                    <a:cubicBezTo>
                      <a:pt x="0" y="135"/>
                      <a:pt x="0" y="135"/>
                      <a:pt x="0" y="135"/>
                    </a:cubicBezTo>
                    <a:lnTo>
                      <a:pt x="96" y="162"/>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5" name="Freeform 1336"/>
              <p:cNvSpPr>
                <a:spLocks noChangeArrowheads="1"/>
              </p:cNvSpPr>
              <p:nvPr/>
            </p:nvSpPr>
            <p:spPr bwMode="auto">
              <a:xfrm>
                <a:off x="2100263" y="777874"/>
                <a:ext cx="28575" cy="71437"/>
              </a:xfrm>
              <a:custGeom>
                <a:avLst/>
                <a:gdLst>
                  <a:gd name="T0" fmla="*/ 5670947 w 24"/>
                  <a:gd name="T1" fmla="*/ 23896829 h 62"/>
                  <a:gd name="T2" fmla="*/ 2834878 w 24"/>
                  <a:gd name="T3" fmla="*/ 38499934 h 62"/>
                  <a:gd name="T4" fmla="*/ 34022109 w 24"/>
                  <a:gd name="T5" fmla="*/ 82310403 h 62"/>
                  <a:gd name="T6" fmla="*/ 0 w 24"/>
                  <a:gd name="T7" fmla="*/ 0 h 62"/>
                  <a:gd name="T8" fmla="*/ 5670947 w 24"/>
                  <a:gd name="T9" fmla="*/ 23896829 h 62"/>
                  <a:gd name="T10" fmla="*/ 0 60000 65536"/>
                  <a:gd name="T11" fmla="*/ 0 60000 65536"/>
                  <a:gd name="T12" fmla="*/ 0 60000 65536"/>
                  <a:gd name="T13" fmla="*/ 0 60000 65536"/>
                  <a:gd name="T14" fmla="*/ 0 60000 65536"/>
                  <a:gd name="T15" fmla="*/ 0 w 24"/>
                  <a:gd name="T16" fmla="*/ 0 h 62"/>
                  <a:gd name="T17" fmla="*/ 24 w 24"/>
                  <a:gd name="T18" fmla="*/ 62 h 62"/>
                </a:gdLst>
                <a:ahLst/>
                <a:cxnLst>
                  <a:cxn ang="T10">
                    <a:pos x="T0" y="T1"/>
                  </a:cxn>
                  <a:cxn ang="T11">
                    <a:pos x="T2" y="T3"/>
                  </a:cxn>
                  <a:cxn ang="T12">
                    <a:pos x="T4" y="T5"/>
                  </a:cxn>
                  <a:cxn ang="T13">
                    <a:pos x="T6" y="T7"/>
                  </a:cxn>
                  <a:cxn ang="T14">
                    <a:pos x="T8" y="T9"/>
                  </a:cxn>
                </a:cxnLst>
                <a:rect l="T15" t="T16" r="T17" b="T18"/>
                <a:pathLst>
                  <a:path w="24" h="62">
                    <a:moveTo>
                      <a:pt x="4" y="18"/>
                    </a:moveTo>
                    <a:cubicBezTo>
                      <a:pt x="4" y="21"/>
                      <a:pt x="3" y="25"/>
                      <a:pt x="2" y="29"/>
                    </a:cubicBezTo>
                    <a:cubicBezTo>
                      <a:pt x="24" y="62"/>
                      <a:pt x="24" y="62"/>
                      <a:pt x="24" y="62"/>
                    </a:cubicBezTo>
                    <a:cubicBezTo>
                      <a:pt x="0" y="0"/>
                      <a:pt x="0" y="0"/>
                      <a:pt x="0" y="0"/>
                    </a:cubicBezTo>
                    <a:cubicBezTo>
                      <a:pt x="3" y="6"/>
                      <a:pt x="4" y="12"/>
                      <a:pt x="4" y="18"/>
                    </a:cubicBez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grpSp>
      </p:grpSp>
      <p:sp>
        <p:nvSpPr>
          <p:cNvPr id="66" name="任意多边形 98"/>
          <p:cNvSpPr>
            <a:spLocks noChangeArrowheads="1"/>
          </p:cNvSpPr>
          <p:nvPr/>
        </p:nvSpPr>
        <p:spPr bwMode="auto">
          <a:xfrm>
            <a:off x="3715403" y="2356325"/>
            <a:ext cx="1746647" cy="360759"/>
          </a:xfrm>
          <a:custGeom>
            <a:avLst/>
            <a:gdLst>
              <a:gd name="T0" fmla="*/ 0 w 2541974"/>
              <a:gd name="T1" fmla="*/ 0 h 636814"/>
              <a:gd name="T2" fmla="*/ 2133619 w 2541974"/>
              <a:gd name="T3" fmla="*/ 0 h 636814"/>
              <a:gd name="T4" fmla="*/ 1991723 w 2541974"/>
              <a:gd name="T5" fmla="*/ 181664 h 636814"/>
              <a:gd name="T6" fmla="*/ 2133619 w 2541974"/>
              <a:gd name="T7" fmla="*/ 363328 h 636814"/>
              <a:gd name="T8" fmla="*/ 0 w 2541974"/>
              <a:gd name="T9" fmla="*/ 363328 h 636814"/>
              <a:gd name="T10" fmla="*/ 141809 w 2541974"/>
              <a:gd name="T11" fmla="*/ 181664 h 636814"/>
              <a:gd name="T12" fmla="*/ 0 60000 65536"/>
              <a:gd name="T13" fmla="*/ 0 60000 65536"/>
              <a:gd name="T14" fmla="*/ 0 60000 65536"/>
              <a:gd name="T15" fmla="*/ 0 60000 65536"/>
              <a:gd name="T16" fmla="*/ 0 60000 65536"/>
              <a:gd name="T17" fmla="*/ 0 60000 65536"/>
              <a:gd name="T18" fmla="*/ 0 w 2541974"/>
              <a:gd name="T19" fmla="*/ 0 h 636814"/>
              <a:gd name="T20" fmla="*/ 2541974 w 2541974"/>
              <a:gd name="T21" fmla="*/ 636814 h 636814"/>
            </a:gdLst>
            <a:ahLst/>
            <a:cxnLst>
              <a:cxn ang="T12">
                <a:pos x="T0" y="T1"/>
              </a:cxn>
              <a:cxn ang="T13">
                <a:pos x="T2" y="T3"/>
              </a:cxn>
              <a:cxn ang="T14">
                <a:pos x="T4" y="T5"/>
              </a:cxn>
              <a:cxn ang="T15">
                <a:pos x="T6" y="T7"/>
              </a:cxn>
              <a:cxn ang="T16">
                <a:pos x="T8" y="T9"/>
              </a:cxn>
              <a:cxn ang="T17">
                <a:pos x="T10" y="T11"/>
              </a:cxn>
            </a:cxnLst>
            <a:rect l="T18" t="T19" r="T20" b="T21"/>
            <a:pathLst>
              <a:path w="2541974" h="636814">
                <a:moveTo>
                  <a:pt x="0" y="0"/>
                </a:moveTo>
                <a:lnTo>
                  <a:pt x="2541974" y="0"/>
                </a:lnTo>
                <a:lnTo>
                  <a:pt x="2372921" y="318407"/>
                </a:lnTo>
                <a:lnTo>
                  <a:pt x="2541974" y="636814"/>
                </a:lnTo>
                <a:lnTo>
                  <a:pt x="0" y="636814"/>
                </a:lnTo>
                <a:lnTo>
                  <a:pt x="168950" y="318407"/>
                </a:lnTo>
                <a:lnTo>
                  <a:pt x="0" y="0"/>
                </a:lnTo>
                <a:close/>
              </a:path>
            </a:pathLst>
          </a:custGeom>
          <a:blipFill dpi="0" rotWithShape="1">
            <a:blip r:embed="rId2" cstate="print"/>
            <a:srcRect/>
            <a:tile tx="0" ty="0" sx="100000" sy="100000" flip="none" algn="tl"/>
          </a:blipFill>
          <a:ln>
            <a:noFill/>
          </a:ln>
          <a:extLst>
            <a:ext uri="{91240B29-F687-4F45-9708-019B960494DF}">
              <a14:hiddenLine xmlns:a14="http://schemas.microsoft.com/office/drawing/2010/main" w="12700">
                <a:solidFill>
                  <a:srgbClr val="42719B"/>
                </a:solidFill>
                <a:bevel/>
              </a14:hiddenLine>
            </a:ext>
          </a:extLst>
        </p:spPr>
        <p:txBody>
          <a:bodyPr anchor="ctr"/>
          <a:lstStyle/>
          <a:p>
            <a:r>
              <a:rPr lang="zh-CN" altLang="en-US" dirty="0">
                <a:solidFill>
                  <a:schemeClr val="bg1"/>
                </a:solidFill>
                <a:latin typeface="+mn-ea"/>
                <a:ea typeface="+mn-ea"/>
              </a:rPr>
              <a:t>谢谢聆听</a:t>
            </a:r>
            <a:endParaRPr lang="zh-CN" altLang="en-US" dirty="0">
              <a:solidFill>
                <a:schemeClr val="bg1"/>
              </a:solidFill>
              <a:latin typeface="+mn-ea"/>
              <a:ea typeface="+mn-ea"/>
            </a:endParaRPr>
          </a:p>
        </p:txBody>
      </p:sp>
      <p:pic>
        <p:nvPicPr>
          <p:cNvPr id="67" name="图片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04" y="88438"/>
            <a:ext cx="1547664" cy="395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tags/tag1.xml><?xml version="1.0" encoding="utf-8"?>
<p:tagLst xmlns:p="http://schemas.openxmlformats.org/presentationml/2006/main">
  <p:tag name="KSO_WM_DOC_GUID" val="{c1d1cde8-5208-42cf-b4a9-902f27d600cf}"/>
</p:tagLst>
</file>

<file path=ppt/theme/theme1.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Browallia New"/>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4349</Words>
  <Application>WPS 演示</Application>
  <PresentationFormat>全屏显示(16:9)</PresentationFormat>
  <Paragraphs>496</Paragraphs>
  <Slides>45</Slides>
  <Notes>27</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45</vt:i4>
      </vt:variant>
    </vt:vector>
  </HeadingPairs>
  <TitlesOfParts>
    <vt:vector size="63" baseType="lpstr">
      <vt:lpstr>Arial</vt:lpstr>
      <vt:lpstr>宋体</vt:lpstr>
      <vt:lpstr>Wingdings</vt:lpstr>
      <vt:lpstr>黑体</vt:lpstr>
      <vt:lpstr>Calibri</vt:lpstr>
      <vt:lpstr>微软雅黑</vt:lpstr>
      <vt:lpstr>Browallia New</vt:lpstr>
      <vt:lpstr>Tahoma</vt:lpstr>
      <vt:lpstr>Times New Roman</vt:lpstr>
      <vt:lpstr>Segoe Print</vt:lpstr>
      <vt:lpstr>楷体_GB2312</vt:lpstr>
      <vt:lpstr>Arial Unicode MS</vt:lpstr>
      <vt:lpstr>Corbel</vt:lpstr>
      <vt:lpstr>Wingdings</vt:lpstr>
      <vt:lpstr>方正姚体</vt:lpstr>
      <vt:lpstr>Impact</vt:lpstr>
      <vt:lpstr>新宋体</vt:lpstr>
      <vt:lpstr>Office 主题</vt:lpstr>
      <vt:lpstr>第四单元 </vt:lpstr>
      <vt:lpstr>第一节课</vt:lpstr>
      <vt:lpstr>回顾</vt:lpstr>
      <vt:lpstr>回顾</vt:lpstr>
      <vt:lpstr>贯穿案例</vt:lpstr>
      <vt:lpstr>知识目标</vt:lpstr>
      <vt:lpstr>为什么使用序列</vt:lpstr>
      <vt:lpstr>为什么使用序列</vt:lpstr>
      <vt:lpstr>什么是序列</vt:lpstr>
      <vt:lpstr>序列</vt:lpstr>
      <vt:lpstr>如何使用序列 </vt:lpstr>
      <vt:lpstr>序列的+、*</vt:lpstr>
      <vt:lpstr>序列求最大值，最小值、求和</vt:lpstr>
      <vt:lpstr>序列的索引、长度</vt:lpstr>
      <vt:lpstr>序列的成员资格判断</vt:lpstr>
      <vt:lpstr>序列的遍历</vt:lpstr>
      <vt:lpstr>第二节课</vt:lpstr>
      <vt:lpstr>序列的分片</vt:lpstr>
      <vt:lpstr>序列的分片</vt:lpstr>
      <vt:lpstr>PowerPoint 演示文稿</vt:lpstr>
      <vt:lpstr>什么是字符串</vt:lpstr>
      <vt:lpstr>PowerPoint 演示文稿</vt:lpstr>
      <vt:lpstr>如何使用字符串</vt:lpstr>
      <vt:lpstr>PowerPoint 演示文稿</vt:lpstr>
      <vt:lpstr>小结</vt:lpstr>
      <vt:lpstr>第三节课</vt:lpstr>
      <vt:lpstr>回顾</vt:lpstr>
      <vt:lpstr>为什么使用字符串格式化</vt:lpstr>
      <vt:lpstr>如何使用字符串格式化</vt:lpstr>
      <vt:lpstr>如何使用字符串格式化</vt:lpstr>
      <vt:lpstr>如何使用字符串格式化</vt:lpstr>
      <vt:lpstr>如何使用字符串格式化</vt:lpstr>
      <vt:lpstr>如何使用字符串格式化</vt:lpstr>
      <vt:lpstr>课堂编程</vt:lpstr>
      <vt:lpstr>第四节课</vt:lpstr>
      <vt:lpstr>字符串常用方法</vt:lpstr>
      <vt:lpstr>字符串常用方法-strip()</vt:lpstr>
      <vt:lpstr>字符串常用方法-len()</vt:lpstr>
      <vt:lpstr>如何使用字符串</vt:lpstr>
      <vt:lpstr>字符串常用方法-count()</vt:lpstr>
      <vt:lpstr>综合案例</vt:lpstr>
      <vt:lpstr>单元小结</vt:lpstr>
      <vt:lpstr>概念图总结</vt:lpstr>
      <vt:lpstr>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第1章内容回顾</dc:title>
  <dc:creator>xiaojing.dai</dc:creator>
  <cp:lastModifiedBy>姚慧</cp:lastModifiedBy>
  <cp:revision>2461</cp:revision>
  <dcterms:created xsi:type="dcterms:W3CDTF">2006-03-08T06:55:00Z</dcterms:created>
  <dcterms:modified xsi:type="dcterms:W3CDTF">2020-11-11T01:42:43Z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