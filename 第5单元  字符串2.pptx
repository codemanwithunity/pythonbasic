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handoutMasterIdLst>
    <p:handoutMasterId r:id="rId41"/>
  </p:handoutMasterIdLst>
  <p:sldIdLst>
    <p:sldId id="516" r:id="rId2"/>
    <p:sldId id="1606" r:id="rId3"/>
    <p:sldId id="520" r:id="rId4"/>
    <p:sldId id="1610" r:id="rId5"/>
    <p:sldId id="1795" r:id="rId6"/>
    <p:sldId id="1673" r:id="rId7"/>
    <p:sldId id="1719" r:id="rId8"/>
    <p:sldId id="1720" r:id="rId9"/>
    <p:sldId id="1717" r:id="rId10"/>
    <p:sldId id="1718" r:id="rId11"/>
    <p:sldId id="1791" r:id="rId12"/>
    <p:sldId id="1792" r:id="rId13"/>
    <p:sldId id="1565" r:id="rId14"/>
    <p:sldId id="1880" r:id="rId15"/>
    <p:sldId id="1607" r:id="rId16"/>
    <p:sldId id="1632" r:id="rId17"/>
    <p:sldId id="1846" r:id="rId18"/>
    <p:sldId id="1847" r:id="rId19"/>
    <p:sldId id="1848" r:id="rId20"/>
    <p:sldId id="1849" r:id="rId21"/>
    <p:sldId id="1850" r:id="rId22"/>
    <p:sldId id="1851" r:id="rId23"/>
    <p:sldId id="1608" r:id="rId24"/>
    <p:sldId id="1615" r:id="rId25"/>
    <p:sldId id="1881" r:id="rId26"/>
    <p:sldId id="1882" r:id="rId27"/>
    <p:sldId id="1885" r:id="rId28"/>
    <p:sldId id="1886" r:id="rId29"/>
    <p:sldId id="1884" r:id="rId30"/>
    <p:sldId id="1616" r:id="rId31"/>
    <p:sldId id="1609" r:id="rId32"/>
    <p:sldId id="1887" r:id="rId33"/>
    <p:sldId id="1888" r:id="rId34"/>
    <p:sldId id="1889" r:id="rId35"/>
    <p:sldId id="1629" r:id="rId36"/>
    <p:sldId id="1049" r:id="rId37"/>
    <p:sldId id="1628" r:id="rId38"/>
    <p:sldId id="515" r:id="rId39"/>
  </p:sldIdLst>
  <p:sldSz cx="9144000" cy="5143500" type="screen16x9"/>
  <p:notesSz cx="6858000" cy="9144000"/>
  <p:defaultTextStyle>
    <a:defPPr>
      <a:defRPr lang="en-US"/>
    </a:defPPr>
    <a:lvl1pPr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1pPr>
    <a:lvl2pPr marL="4572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2pPr>
    <a:lvl3pPr marL="9144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9pPr>
  </p:defaultTextStyle>
  <p:extLst>
    <p:ext uri="{EFAFB233-063F-42B5-8137-9DF3F51BA10A}">
      <p15:sldGuideLst xmlns:p15="http://schemas.microsoft.com/office/powerpoint/2012/main">
        <p15:guide id="1" orient="horz" pos="1354">
          <p15:clr>
            <a:srgbClr val="A4A3A4"/>
          </p15:clr>
        </p15:guide>
        <p15:guide id="2" orient="horz" pos="2572">
          <p15:clr>
            <a:srgbClr val="A4A3A4"/>
          </p15:clr>
        </p15:guide>
        <p15:guide id="3" pos="2814">
          <p15:clr>
            <a:srgbClr val="A4A3A4"/>
          </p15:clr>
        </p15:guide>
      </p15:sldGuideLst>
    </p:ext>
    <p:ext uri="{2D200454-40CA-4A62-9FC3-DE9A4176ACB9}">
      <p15:notesGuideLst xmlns:p15="http://schemas.microsoft.com/office/powerpoint/2012/main">
        <p15:guide id="1" orient="horz" pos="2408">
          <p15:clr>
            <a:srgbClr val="A4A3A4"/>
          </p15:clr>
        </p15:guide>
        <p15:guide id="2" pos="2111">
          <p15:clr>
            <a:srgbClr val="A4A3A4"/>
          </p15:clr>
        </p15:guide>
      </p15:notesGuideLst>
    </p:ext>
    <p:ext uri="{505F2C04-C923-438B-8C0F-E0CD2BADF298}">
      <wppc:fontMiss xmlns:wppc="http://www.wps.cn/officeDocument/PresentationCustomData" xmlns="" type="true"/>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作"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ECECEC"/>
    <a:srgbClr val="FFFFFF"/>
    <a:srgbClr val="E1FEFF"/>
    <a:srgbClr val="E7F4FF"/>
    <a:srgbClr val="5AADD6"/>
    <a:srgbClr val="D5EBFF"/>
    <a:srgbClr val="FEF6F0"/>
    <a:srgbClr val="FDF0E7"/>
    <a:srgbClr val="FD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55" autoAdjust="0"/>
    <p:restoredTop sz="89299" autoAdjust="0"/>
  </p:normalViewPr>
  <p:slideViewPr>
    <p:cSldViewPr>
      <p:cViewPr varScale="1">
        <p:scale>
          <a:sx n="88" d="100"/>
          <a:sy n="88" d="100"/>
        </p:scale>
        <p:origin x="1110" y="72"/>
      </p:cViewPr>
      <p:guideLst>
        <p:guide orient="horz" pos="1354"/>
        <p:guide orient="horz" pos="2572"/>
        <p:guide pos="2814"/>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222"/>
    </p:cViewPr>
  </p:sorterViewPr>
  <p:notesViewPr>
    <p:cSldViewPr>
      <p:cViewPr varScale="1">
        <p:scale>
          <a:sx n="54" d="100"/>
          <a:sy n="54" d="100"/>
        </p:scale>
        <p:origin x="-2610" y="-84"/>
      </p:cViewPr>
      <p:guideLst>
        <p:guide orient="horz" pos="2408"/>
        <p:guide pos="211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Tahoma" panose="020B0604030504040204" pitchFamily="34" charset="0"/>
                <a:ea typeface="+mn-ea"/>
              </a:defRPr>
            </a:lvl1pPr>
          </a:lstStyle>
          <a:p>
            <a:pPr>
              <a:defRPr/>
            </a:pPr>
            <a:endParaRPr lang="zh-CN" altLang="en-US"/>
          </a:p>
        </p:txBody>
      </p:sp>
      <p:sp>
        <p:nvSpPr>
          <p:cNvPr id="46083"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mn-ea"/>
              </a:defRPr>
            </a:lvl1pPr>
          </a:lstStyle>
          <a:p>
            <a:pPr>
              <a:defRPr/>
            </a:pPr>
            <a:endParaRPr lang="en-US" altLang="zh-CN" dirty="0"/>
          </a:p>
        </p:txBody>
      </p:sp>
      <p:sp>
        <p:nvSpPr>
          <p:cNvPr id="46084"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Tahoma" panose="020B0604030504040204" pitchFamily="34" charset="0"/>
                <a:ea typeface="+mn-ea"/>
              </a:defRPr>
            </a:lvl1pPr>
          </a:lstStyle>
          <a:p>
            <a:pPr>
              <a:defRPr/>
            </a:pPr>
            <a:endParaRPr lang="en-US" altLang="zh-CN" dirty="0"/>
          </a:p>
        </p:txBody>
      </p:sp>
      <p:sp>
        <p:nvSpPr>
          <p:cNvPr id="46085"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mn-ea"/>
              </a:defRPr>
            </a:lvl1pPr>
          </a:lstStyle>
          <a:p>
            <a:pPr>
              <a:defRPr/>
            </a:pPr>
            <a:fld id="{DB3C531B-D83C-493A-84AD-316F78881EC3}" type="slidenum">
              <a:rPr lang="zh-CN" altLang="en-US"/>
              <a:t>‹#›</a:t>
            </a:fld>
            <a:endParaRPr lang="en-US" altLang="zh-CN" dirty="0"/>
          </a:p>
        </p:txBody>
      </p:sp>
    </p:spTree>
    <p:extLst>
      <p:ext uri="{BB962C8B-B14F-4D97-AF65-F5344CB8AC3E}">
        <p14:creationId xmlns:p14="http://schemas.microsoft.com/office/powerpoint/2010/main" val="1202583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Tahoma" panose="020B0604030504040204" pitchFamily="34" charset="0"/>
                <a:ea typeface="+mn-ea"/>
              </a:defRPr>
            </a:lvl1pPr>
          </a:lstStyle>
          <a:p>
            <a:pPr>
              <a:defRPr/>
            </a:pPr>
            <a:endParaRPr lang="zh-CN" alt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mn-ea"/>
              </a:defRPr>
            </a:lvl1pPr>
          </a:lstStyle>
          <a:p>
            <a:pPr>
              <a:defRPr/>
            </a:pPr>
            <a:endParaRPr lang="en-US" altLang="zh-CN" dirty="0"/>
          </a:p>
        </p:txBody>
      </p:sp>
      <p:sp>
        <p:nvSpPr>
          <p:cNvPr id="4813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Tahoma" panose="020B0604030504040204" pitchFamily="34" charset="0"/>
                <a:ea typeface="+mn-ea"/>
              </a:defRPr>
            </a:lvl1pPr>
          </a:lstStyle>
          <a:p>
            <a:pPr>
              <a:defRPr/>
            </a:pPr>
            <a:endParaRPr lang="en-US" altLang="zh-CN" dirty="0"/>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mn-ea"/>
              </a:defRPr>
            </a:lvl1pPr>
          </a:lstStyle>
          <a:p>
            <a:pPr>
              <a:defRPr/>
            </a:pPr>
            <a:fld id="{CB801823-96DB-4EC2-991A-2DEE593AD1DA}" type="slidenum">
              <a:rPr lang="zh-CN" altLang="en-US"/>
              <a:t>‹#›</a:t>
            </a:fld>
            <a:endParaRPr lang="en-US" altLang="zh-CN" dirty="0"/>
          </a:p>
        </p:txBody>
      </p:sp>
    </p:spTree>
    <p:extLst>
      <p:ext uri="{BB962C8B-B14F-4D97-AF65-F5344CB8AC3E}">
        <p14:creationId xmlns:p14="http://schemas.microsoft.com/office/powerpoint/2010/main" val="12301266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  </a:t>
            </a:r>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1</a:t>
            </a:fld>
            <a:endParaRPr lang="en-US" altLang="zh-CN" dirty="0"/>
          </a:p>
        </p:txBody>
      </p:sp>
    </p:spTree>
    <p:extLst>
      <p:ext uri="{BB962C8B-B14F-4D97-AF65-F5344CB8AC3E}">
        <p14:creationId xmlns:p14="http://schemas.microsoft.com/office/powerpoint/2010/main" val="4040530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noTextEdit="1"/>
          </p:cNvSpPr>
          <p:nvPr>
            <p:ph type="sldImg"/>
          </p:nvPr>
        </p:nvSpPr>
        <p:spPr/>
      </p:sp>
      <p:sp>
        <p:nvSpPr>
          <p:cNvPr id="91138" name="文本占位符 2"/>
          <p:cNvSpPr>
            <a:spLocks noGrp="1"/>
          </p:cNvSpPr>
          <p:nvPr>
            <p:ph type="body"/>
          </p:nvPr>
        </p:nvSpPr>
        <p:spPr/>
        <p:txBody>
          <a:bodyPr wrap="square" lIns="91440" tIns="45720" rIns="91440" bIns="45720" anchor="t"/>
          <a:lstStyle/>
          <a:p>
            <a:pPr lvl="0"/>
            <a:endParaRPr lang="en-US" altLang="zh-CN" dirty="0"/>
          </a:p>
        </p:txBody>
      </p:sp>
    </p:spTree>
    <p:extLst>
      <p:ext uri="{BB962C8B-B14F-4D97-AF65-F5344CB8AC3E}">
        <p14:creationId xmlns:p14="http://schemas.microsoft.com/office/powerpoint/2010/main" val="548677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7</a:t>
            </a:fld>
            <a:endParaRPr lang="en-US" altLang="zh-CN" dirty="0"/>
          </a:p>
        </p:txBody>
      </p:sp>
    </p:spTree>
    <p:extLst>
      <p:ext uri="{BB962C8B-B14F-4D97-AF65-F5344CB8AC3E}">
        <p14:creationId xmlns:p14="http://schemas.microsoft.com/office/powerpoint/2010/main" val="390162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8</a:t>
            </a:fld>
            <a:endParaRPr lang="en-US" altLang="zh-CN" dirty="0"/>
          </a:p>
        </p:txBody>
      </p:sp>
    </p:spTree>
    <p:extLst>
      <p:ext uri="{BB962C8B-B14F-4D97-AF65-F5344CB8AC3E}">
        <p14:creationId xmlns:p14="http://schemas.microsoft.com/office/powerpoint/2010/main" val="2471053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9</a:t>
            </a:fld>
            <a:endParaRPr lang="en-US" altLang="zh-CN" dirty="0"/>
          </a:p>
        </p:txBody>
      </p:sp>
    </p:spTree>
    <p:extLst>
      <p:ext uri="{BB962C8B-B14F-4D97-AF65-F5344CB8AC3E}">
        <p14:creationId xmlns:p14="http://schemas.microsoft.com/office/powerpoint/2010/main" val="2207425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10</a:t>
            </a:fld>
            <a:endParaRPr lang="en-US" altLang="zh-CN" dirty="0"/>
          </a:p>
        </p:txBody>
      </p:sp>
    </p:spTree>
    <p:extLst>
      <p:ext uri="{BB962C8B-B14F-4D97-AF65-F5344CB8AC3E}">
        <p14:creationId xmlns:p14="http://schemas.microsoft.com/office/powerpoint/2010/main" val="839704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86AF6BF-FFFC-4E9D-96B5-CEDA40342436}" type="slidenum">
              <a:rPr lang="zh-CN" altLang="en-US"/>
              <a:t>14</a:t>
            </a:fld>
            <a:endParaRPr lang="en-US" altLang="zh-CN" dirty="0"/>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046771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noTextEdit="1"/>
          </p:cNvSpPr>
          <p:nvPr>
            <p:ph type="sldImg"/>
          </p:nvPr>
        </p:nvSpPr>
        <p:spPr/>
      </p:sp>
      <p:sp>
        <p:nvSpPr>
          <p:cNvPr id="91138" name="文本占位符 2"/>
          <p:cNvSpPr>
            <a:spLocks noGrp="1"/>
          </p:cNvSpPr>
          <p:nvPr>
            <p:ph type="body"/>
          </p:nvPr>
        </p:nvSpPr>
        <p:spPr/>
        <p:txBody>
          <a:bodyPr wrap="square" lIns="91440" tIns="45720" rIns="91440" bIns="45720" anchor="t"/>
          <a:lstStyle/>
          <a:p>
            <a:pPr lvl="0"/>
            <a:endParaRPr lang="en-US" altLang="zh-CN" dirty="0"/>
          </a:p>
        </p:txBody>
      </p:sp>
    </p:spTree>
    <p:extLst>
      <p:ext uri="{BB962C8B-B14F-4D97-AF65-F5344CB8AC3E}">
        <p14:creationId xmlns:p14="http://schemas.microsoft.com/office/powerpoint/2010/main" val="22701139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16</a:t>
            </a:fld>
            <a:endParaRPr lang="en-US" altLang="zh-CN" dirty="0"/>
          </a:p>
        </p:txBody>
      </p:sp>
    </p:spTree>
    <p:extLst>
      <p:ext uri="{BB962C8B-B14F-4D97-AF65-F5344CB8AC3E}">
        <p14:creationId xmlns:p14="http://schemas.microsoft.com/office/powerpoint/2010/main" val="639630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a:t>本质性的特征</a:t>
            </a:r>
            <a:r>
              <a:rPr lang="en-US" altLang="zh-CN" dirty="0"/>
              <a:t>(</a:t>
            </a:r>
            <a:r>
              <a:rPr lang="zh-CN" altLang="en-US"/>
              <a:t>能把一类事物与他类事物区分开的特性</a:t>
            </a:r>
            <a:r>
              <a:rPr lang="en-US" altLang="zh-CN" dirty="0"/>
              <a:t>)</a:t>
            </a:r>
          </a:p>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17</a:t>
            </a:fld>
            <a:endParaRPr lang="en-US" altLang="zh-CN" dirty="0"/>
          </a:p>
        </p:txBody>
      </p:sp>
    </p:spTree>
    <p:extLst>
      <p:ext uri="{BB962C8B-B14F-4D97-AF65-F5344CB8AC3E}">
        <p14:creationId xmlns:p14="http://schemas.microsoft.com/office/powerpoint/2010/main" val="4061066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a:t>本质性的特征</a:t>
            </a:r>
            <a:r>
              <a:rPr lang="en-US" altLang="zh-CN" dirty="0"/>
              <a:t>(</a:t>
            </a:r>
            <a:r>
              <a:rPr lang="zh-CN" altLang="en-US"/>
              <a:t>能把一类事物与他类事物区分开的特性</a:t>
            </a:r>
            <a:r>
              <a:rPr lang="en-US" altLang="zh-CN" dirty="0"/>
              <a:t>)</a:t>
            </a:r>
          </a:p>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18</a:t>
            </a:fld>
            <a:endParaRPr lang="en-US" altLang="zh-CN" dirty="0"/>
          </a:p>
        </p:txBody>
      </p:sp>
    </p:spTree>
    <p:extLst>
      <p:ext uri="{BB962C8B-B14F-4D97-AF65-F5344CB8AC3E}">
        <p14:creationId xmlns:p14="http://schemas.microsoft.com/office/powerpoint/2010/main" val="3442756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a:t>本质性的特征</a:t>
            </a:r>
            <a:r>
              <a:rPr lang="en-US" altLang="zh-CN" dirty="0"/>
              <a:t>(</a:t>
            </a:r>
            <a:r>
              <a:rPr lang="zh-CN" altLang="en-US"/>
              <a:t>能把一类事物与他类事物区分开的特性</a:t>
            </a:r>
            <a:r>
              <a:rPr lang="en-US" altLang="zh-CN" dirty="0"/>
              <a:t>)</a:t>
            </a:r>
          </a:p>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19</a:t>
            </a:fld>
            <a:endParaRPr lang="en-US" altLang="zh-CN" dirty="0"/>
          </a:p>
        </p:txBody>
      </p:sp>
    </p:spTree>
    <p:extLst>
      <p:ext uri="{BB962C8B-B14F-4D97-AF65-F5344CB8AC3E}">
        <p14:creationId xmlns:p14="http://schemas.microsoft.com/office/powerpoint/2010/main" val="2564934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20</a:t>
            </a:fld>
            <a:endParaRPr lang="en-US" altLang="zh-CN" dirty="0"/>
          </a:p>
        </p:txBody>
      </p:sp>
    </p:spTree>
    <p:extLst>
      <p:ext uri="{BB962C8B-B14F-4D97-AF65-F5344CB8AC3E}">
        <p14:creationId xmlns:p14="http://schemas.microsoft.com/office/powerpoint/2010/main" val="2837597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21</a:t>
            </a:fld>
            <a:endParaRPr lang="en-US" altLang="zh-CN" dirty="0"/>
          </a:p>
        </p:txBody>
      </p:sp>
    </p:spTree>
    <p:extLst>
      <p:ext uri="{BB962C8B-B14F-4D97-AF65-F5344CB8AC3E}">
        <p14:creationId xmlns:p14="http://schemas.microsoft.com/office/powerpoint/2010/main" val="3423051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22</a:t>
            </a:fld>
            <a:endParaRPr lang="en-US" altLang="zh-CN" dirty="0"/>
          </a:p>
        </p:txBody>
      </p:sp>
    </p:spTree>
    <p:extLst>
      <p:ext uri="{BB962C8B-B14F-4D97-AF65-F5344CB8AC3E}">
        <p14:creationId xmlns:p14="http://schemas.microsoft.com/office/powerpoint/2010/main" val="2047856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noTextEdit="1"/>
          </p:cNvSpPr>
          <p:nvPr>
            <p:ph type="sldImg"/>
          </p:nvPr>
        </p:nvSpPr>
        <p:spPr/>
      </p:sp>
      <p:sp>
        <p:nvSpPr>
          <p:cNvPr id="91138" name="文本占位符 2"/>
          <p:cNvSpPr>
            <a:spLocks noGrp="1"/>
          </p:cNvSpPr>
          <p:nvPr>
            <p:ph type="body"/>
          </p:nvPr>
        </p:nvSpPr>
        <p:spPr/>
        <p:txBody>
          <a:bodyPr wrap="square" lIns="91440" tIns="45720" rIns="91440" bIns="45720" anchor="t"/>
          <a:lstStyle/>
          <a:p>
            <a:pPr lvl="0"/>
            <a:endParaRPr lang="en-US" altLang="zh-CN" dirty="0"/>
          </a:p>
        </p:txBody>
      </p:sp>
    </p:spTree>
    <p:extLst>
      <p:ext uri="{BB962C8B-B14F-4D97-AF65-F5344CB8AC3E}">
        <p14:creationId xmlns:p14="http://schemas.microsoft.com/office/powerpoint/2010/main" val="3121590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28</a:t>
            </a:fld>
            <a:endParaRPr lang="en-US" altLang="zh-CN" dirty="0"/>
          </a:p>
        </p:txBody>
      </p:sp>
    </p:spTree>
    <p:extLst>
      <p:ext uri="{BB962C8B-B14F-4D97-AF65-F5344CB8AC3E}">
        <p14:creationId xmlns:p14="http://schemas.microsoft.com/office/powerpoint/2010/main" val="2366857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29</a:t>
            </a:fld>
            <a:endParaRPr lang="en-US" altLang="zh-CN" dirty="0"/>
          </a:p>
        </p:txBody>
      </p:sp>
    </p:spTree>
    <p:extLst>
      <p:ext uri="{BB962C8B-B14F-4D97-AF65-F5344CB8AC3E}">
        <p14:creationId xmlns:p14="http://schemas.microsoft.com/office/powerpoint/2010/main" val="2338412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ch</a:t>
            </a:r>
            <a:r>
              <a:rPr lang="en-US" altLang="zh-CN" dirty="0" smtClean="0"/>
              <a:t>=</a:t>
            </a:r>
            <a:r>
              <a:rPr lang="en-US" altLang="zh-CN" dirty="0" err="1" smtClean="0"/>
              <a:t>random.choices</a:t>
            </a:r>
            <a:r>
              <a:rPr lang="en-US" altLang="zh-CN" dirty="0" smtClean="0"/>
              <a:t>(</a:t>
            </a:r>
            <a:r>
              <a:rPr lang="en-US" altLang="zh-CN" dirty="0" err="1" smtClean="0"/>
              <a:t>s_str,k</a:t>
            </a:r>
            <a:r>
              <a:rPr lang="en-US" altLang="zh-CN" dirty="0" smtClean="0"/>
              <a:t>=6)  #</a:t>
            </a:r>
            <a:r>
              <a:rPr lang="zh-CN" altLang="en-US" dirty="0" smtClean="0"/>
              <a:t>用</a:t>
            </a:r>
            <a:r>
              <a:rPr lang="en-US" altLang="zh-CN" dirty="0" smtClean="0"/>
              <a:t>random</a:t>
            </a:r>
            <a:r>
              <a:rPr lang="zh-CN" altLang="en-US" dirty="0" smtClean="0"/>
              <a:t>方法随机抽取多次（从哪里抽，抽几次）</a:t>
            </a:r>
          </a:p>
          <a:p>
            <a:r>
              <a:rPr lang="en-US" altLang="zh-CN" dirty="0" smtClean="0"/>
              <a:t>print(</a:t>
            </a:r>
            <a:r>
              <a:rPr lang="en-US" altLang="zh-CN" dirty="0" err="1" smtClean="0"/>
              <a:t>ch</a:t>
            </a:r>
            <a:r>
              <a:rPr lang="en-US" altLang="zh-CN" dirty="0" smtClean="0"/>
              <a:t>)# </a:t>
            </a:r>
            <a:r>
              <a:rPr lang="en-US" altLang="zh-CN" dirty="0" err="1" smtClean="0"/>
              <a:t>new_str</a:t>
            </a:r>
            <a:r>
              <a:rPr lang="en-US" altLang="zh-CN" dirty="0" smtClean="0"/>
              <a:t>=                      #</a:t>
            </a:r>
            <a:r>
              <a:rPr lang="zh-CN" altLang="en-US" dirty="0" smtClean="0"/>
              <a:t>得到一个列表，每个元素是抽取的单个字符</a:t>
            </a:r>
          </a:p>
          <a:p>
            <a:r>
              <a:rPr lang="en-US" altLang="zh-CN" dirty="0" smtClean="0"/>
              <a:t>print(''.join(</a:t>
            </a:r>
            <a:r>
              <a:rPr lang="en-US" altLang="zh-CN" dirty="0" err="1" smtClean="0"/>
              <a:t>ch</a:t>
            </a:r>
            <a:r>
              <a:rPr lang="en-US" altLang="zh-CN" dirty="0" smtClean="0"/>
              <a:t>))              #</a:t>
            </a:r>
            <a:r>
              <a:rPr lang="zh-CN" altLang="en-US" dirty="0" smtClean="0"/>
              <a:t>用</a:t>
            </a:r>
            <a:r>
              <a:rPr lang="en-US" altLang="zh-CN" dirty="0" smtClean="0"/>
              <a:t>join(</a:t>
            </a:r>
            <a:r>
              <a:rPr lang="zh-CN" altLang="en-US" dirty="0" smtClean="0"/>
              <a:t>列表名称</a:t>
            </a:r>
            <a:r>
              <a:rPr lang="en-US" altLang="zh-CN" dirty="0" smtClean="0"/>
              <a:t>)</a:t>
            </a:r>
            <a:r>
              <a:rPr lang="zh-CN" altLang="en-US" dirty="0" smtClean="0"/>
              <a:t>方法把一个序列中的元素拼接起来</a:t>
            </a:r>
          </a:p>
          <a:p>
            <a:r>
              <a:rPr lang="zh-CN" altLang="en-US" dirty="0" smtClean="0"/>
              <a:t>                                </a:t>
            </a:r>
            <a:r>
              <a:rPr lang="en-US" altLang="zh-CN" dirty="0" smtClean="0"/>
              <a:t>#</a:t>
            </a:r>
            <a:r>
              <a:rPr lang="zh-CN" altLang="en-US" dirty="0" smtClean="0"/>
              <a:t>有重复的抽取方法，抽取的元素可能会重复</a:t>
            </a:r>
          </a:p>
          <a:p>
            <a:r>
              <a:rPr lang="en-US" altLang="zh-CN" dirty="0" smtClean="0"/>
              <a:t>print('------------------------way3-----------------')</a:t>
            </a:r>
          </a:p>
          <a:p>
            <a:r>
              <a:rPr lang="en-US" altLang="zh-CN" dirty="0" smtClean="0"/>
              <a:t>ch3=</a:t>
            </a:r>
            <a:r>
              <a:rPr lang="en-US" altLang="zh-CN" dirty="0" err="1" smtClean="0"/>
              <a:t>random.sample</a:t>
            </a:r>
            <a:r>
              <a:rPr lang="en-US" altLang="zh-CN" dirty="0" smtClean="0"/>
              <a:t>(s_str,6)    #</a:t>
            </a:r>
            <a:r>
              <a:rPr lang="zh-CN" altLang="en-US" dirty="0" smtClean="0"/>
              <a:t>无重复的抽取方法，抽取的元素不会重复</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30</a:t>
            </a:fld>
            <a:endParaRPr lang="en-US" altLang="zh-CN" dirty="0"/>
          </a:p>
        </p:txBody>
      </p:sp>
    </p:spTree>
    <p:extLst>
      <p:ext uri="{BB962C8B-B14F-4D97-AF65-F5344CB8AC3E}">
        <p14:creationId xmlns:p14="http://schemas.microsoft.com/office/powerpoint/2010/main" val="2725216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noTextEdit="1"/>
          </p:cNvSpPr>
          <p:nvPr>
            <p:ph type="sldImg"/>
          </p:nvPr>
        </p:nvSpPr>
        <p:spPr/>
      </p:sp>
      <p:sp>
        <p:nvSpPr>
          <p:cNvPr id="91138" name="文本占位符 2"/>
          <p:cNvSpPr>
            <a:spLocks noGrp="1"/>
          </p:cNvSpPr>
          <p:nvPr>
            <p:ph type="body"/>
          </p:nvPr>
        </p:nvSpPr>
        <p:spPr/>
        <p:txBody>
          <a:bodyPr wrap="square" lIns="91440" tIns="45720" rIns="91440" bIns="45720" anchor="t"/>
          <a:lstStyle/>
          <a:p>
            <a:pPr lvl="0"/>
            <a:endParaRPr lang="en-US" altLang="zh-CN" dirty="0"/>
          </a:p>
        </p:txBody>
      </p:sp>
    </p:spTree>
    <p:extLst>
      <p:ext uri="{BB962C8B-B14F-4D97-AF65-F5344CB8AC3E}">
        <p14:creationId xmlns:p14="http://schemas.microsoft.com/office/powerpoint/2010/main" val="40308527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34</a:t>
            </a:fld>
            <a:endParaRPr lang="en-US" altLang="zh-CN" dirty="0"/>
          </a:p>
        </p:txBody>
      </p:sp>
    </p:spTree>
    <p:extLst>
      <p:ext uri="{BB962C8B-B14F-4D97-AF65-F5344CB8AC3E}">
        <p14:creationId xmlns:p14="http://schemas.microsoft.com/office/powerpoint/2010/main" val="3047082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35</a:t>
            </a:fld>
            <a:endParaRPr lang="en-US" altLang="zh-CN" dirty="0"/>
          </a:p>
        </p:txBody>
      </p:sp>
    </p:spTree>
    <p:extLst>
      <p:ext uri="{BB962C8B-B14F-4D97-AF65-F5344CB8AC3E}">
        <p14:creationId xmlns:p14="http://schemas.microsoft.com/office/powerpoint/2010/main" val="38934365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t>36</a:t>
            </a:fld>
            <a:endParaRPr lang="en-US" altLang="zh-CN" dirty="0"/>
          </a:p>
        </p:txBody>
      </p:sp>
    </p:spTree>
    <p:extLst>
      <p:ext uri="{BB962C8B-B14F-4D97-AF65-F5344CB8AC3E}">
        <p14:creationId xmlns:p14="http://schemas.microsoft.com/office/powerpoint/2010/main" val="14736294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idx="1"/>
          </p:nvPr>
        </p:nvSpPr>
        <p:spPr>
          <a:noFill/>
        </p:spPr>
        <p:txBody>
          <a:bodyPr/>
          <a:lstStyle/>
          <a:p>
            <a:pPr marL="0" marR="0" lvl="1" indent="0" algn="l" defTabSz="914400" rtl="0" eaLnBrk="0" fontAlgn="base" latinLnBrk="0" hangingPunct="0">
              <a:lnSpc>
                <a:spcPct val="100000"/>
              </a:lnSpc>
              <a:spcBef>
                <a:spcPct val="30000"/>
              </a:spcBef>
              <a:spcAft>
                <a:spcPct val="0"/>
              </a:spcAft>
              <a:buClrTx/>
              <a:buSzTx/>
              <a:buFontTx/>
              <a:buNone/>
              <a:defRPr/>
            </a:pPr>
            <a:r>
              <a:rPr lang="zh-CN" altLang="en-US" dirty="0"/>
              <a:t>借助书籍和</a:t>
            </a:r>
            <a:r>
              <a:rPr lang="en-US" altLang="zh-CN" dirty="0"/>
              <a:t>PPT</a:t>
            </a:r>
            <a:r>
              <a:rPr lang="zh-CN" altLang="en-US"/>
              <a:t>完成下一单元类和对象的预习</a:t>
            </a:r>
          </a:p>
          <a:p>
            <a:endParaRPr lang="zh-CN" altLang="en-US" dirty="0"/>
          </a:p>
        </p:txBody>
      </p:sp>
      <p:sp>
        <p:nvSpPr>
          <p:cNvPr id="4" name="灯片编号占位符 3"/>
          <p:cNvSpPr>
            <a:spLocks noGrp="1"/>
          </p:cNvSpPr>
          <p:nvPr>
            <p:ph type="sldNum" sz="quarter" idx="5"/>
          </p:nvPr>
        </p:nvSpPr>
        <p:spPr/>
        <p:txBody>
          <a:bodyPr/>
          <a:lstStyle/>
          <a:p>
            <a:pPr>
              <a:defRPr/>
            </a:pPr>
            <a:fld id="{7904090E-D64E-40C3-B961-86ECD9067041}" type="slidenum">
              <a:rPr lang="zh-CN" altLang="en-US" smtClean="0"/>
              <a:t>37</a:t>
            </a:fld>
            <a:endParaRPr lang="en-US" altLang="zh-CN" dirty="0"/>
          </a:p>
        </p:txBody>
      </p:sp>
    </p:spTree>
    <p:extLst>
      <p:ext uri="{BB962C8B-B14F-4D97-AF65-F5344CB8AC3E}">
        <p14:creationId xmlns:p14="http://schemas.microsoft.com/office/powerpoint/2010/main" val="27156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Ref idx="1001">
        <a:schemeClr val="bg1"/>
      </p:bgRef>
    </p:bg>
    <p:spTree>
      <p:nvGrpSpPr>
        <p:cNvPr id="1" name=""/>
        <p:cNvGrpSpPr/>
        <p:nvPr/>
      </p:nvGrpSpPr>
      <p:grpSpPr>
        <a:xfrm>
          <a:off x="0" y="0"/>
          <a:ext cx="0" cy="0"/>
          <a:chOff x="0" y="0"/>
          <a:chExt cx="0" cy="0"/>
        </a:xfrm>
      </p:grpSpPr>
      <p:sp>
        <p:nvSpPr>
          <p:cNvPr id="2" name="直接连接符 14"/>
          <p:cNvSpPr>
            <a:spLocks noChangeShapeType="1"/>
          </p:cNvSpPr>
          <p:nvPr userDrawn="1"/>
        </p:nvSpPr>
        <p:spPr bwMode="auto">
          <a:xfrm>
            <a:off x="1671638" y="951313"/>
            <a:ext cx="0" cy="4192190"/>
          </a:xfrm>
          <a:prstGeom prst="line">
            <a:avLst/>
          </a:prstGeom>
          <a:noFill/>
          <a:ln w="9525">
            <a:solidFill>
              <a:schemeClr val="accent1"/>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 name="标题 1"/>
          <p:cNvSpPr>
            <a:spLocks noGrp="1"/>
          </p:cNvSpPr>
          <p:nvPr>
            <p:ph type="title"/>
          </p:nvPr>
        </p:nvSpPr>
        <p:spPr>
          <a:xfrm>
            <a:off x="2195739" y="141482"/>
            <a:ext cx="6768877" cy="369332"/>
          </a:xfrm>
          <a:prstGeom prst="rect">
            <a:avLst/>
          </a:prstGeom>
          <a:noFill/>
        </p:spPr>
        <p:txBody>
          <a:bodyPr wrap="square">
            <a:spAutoFit/>
          </a:bodyPr>
          <a:lstStyle>
            <a:lvl1pPr>
              <a:defRPr lang="zh-CN" altLang="en-US" sz="2000" b="0" dirty="0">
                <a:solidFill>
                  <a:srgbClr val="0070C0"/>
                </a:solidFill>
              </a:defRPr>
            </a:lvl1pPr>
          </a:lstStyle>
          <a:p>
            <a:pPr lvl="0" algn="r"/>
            <a:r>
              <a:rPr lang="zh-CN" altLang="en-US" dirty="0"/>
              <a:t>单击此处编辑母版标题样式</a:t>
            </a:r>
          </a:p>
        </p:txBody>
      </p:sp>
      <p:sp>
        <p:nvSpPr>
          <p:cNvPr id="4" name="内容占位符 2"/>
          <p:cNvSpPr>
            <a:spLocks noGrp="1"/>
          </p:cNvSpPr>
          <p:nvPr>
            <p:ph idx="1"/>
          </p:nvPr>
        </p:nvSpPr>
        <p:spPr>
          <a:xfrm>
            <a:off x="1835696" y="843559"/>
            <a:ext cx="6984776" cy="3744416"/>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5" name="内容占位符 2"/>
          <p:cNvSpPr>
            <a:spLocks noGrp="1"/>
          </p:cNvSpPr>
          <p:nvPr>
            <p:ph idx="10" hasCustomPrompt="1"/>
          </p:nvPr>
        </p:nvSpPr>
        <p:spPr>
          <a:xfrm>
            <a:off x="107504" y="843558"/>
            <a:ext cx="1440160" cy="3744416"/>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单击此处编辑式</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标题 1"/>
          <p:cNvSpPr>
            <a:spLocks noGrp="1"/>
          </p:cNvSpPr>
          <p:nvPr>
            <p:ph type="title"/>
          </p:nvPr>
        </p:nvSpPr>
        <p:spPr>
          <a:xfrm>
            <a:off x="2195739" y="141482"/>
            <a:ext cx="6768877" cy="369332"/>
          </a:xfrm>
          <a:prstGeom prst="rect">
            <a:avLst/>
          </a:prstGeom>
          <a:noFill/>
        </p:spPr>
        <p:txBody>
          <a:bodyPr wrap="square">
            <a:spAutoFit/>
          </a:bodyPr>
          <a:lstStyle>
            <a:lvl1pPr>
              <a:defRPr lang="zh-CN" altLang="en-US" sz="2000" b="0" dirty="0">
                <a:solidFill>
                  <a:srgbClr val="0070C0"/>
                </a:solidFill>
              </a:defRPr>
            </a:lvl1pPr>
          </a:lstStyle>
          <a:p>
            <a:pPr lvl="0" algn="r"/>
            <a:r>
              <a:rPr lang="zh-CN" altLang="en-US" dirty="0"/>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幻灯片">
    <p:bg>
      <p:bgPr>
        <a:blipFill>
          <a:blip r:embed="rId2" cstate="print"/>
          <a:tile tx="0" ty="0" sx="100000" sy="100000" flip="none" algn="tl"/>
        </a:blipFill>
        <a:effectLst/>
      </p:bgPr>
    </p:bg>
    <p:spTree>
      <p:nvGrpSpPr>
        <p:cNvPr id="1" name=""/>
        <p:cNvGrpSpPr/>
        <p:nvPr/>
      </p:nvGrpSpPr>
      <p:grpSpPr>
        <a:xfrm>
          <a:off x="0" y="0"/>
          <a:ext cx="0" cy="0"/>
          <a:chOff x="0" y="0"/>
          <a:chExt cx="0" cy="0"/>
        </a:xfrm>
      </p:grpSpPr>
      <p:sp>
        <p:nvSpPr>
          <p:cNvPr id="13" name="标题 1"/>
          <p:cNvSpPr>
            <a:spLocks noGrp="1"/>
          </p:cNvSpPr>
          <p:nvPr>
            <p:ph type="ctrTitle"/>
          </p:nvPr>
        </p:nvSpPr>
        <p:spPr>
          <a:xfrm>
            <a:off x="685800" y="1253209"/>
            <a:ext cx="7772400" cy="1102519"/>
          </a:xfrm>
          <a:prstGeom prst="rect">
            <a:avLst/>
          </a:prstGeom>
          <a:noFill/>
        </p:spPr>
        <p:txBody>
          <a:bodyPr anchor="ctr">
            <a:normAutofit/>
          </a:bodyPr>
          <a:lstStyle>
            <a:lvl1pPr algn="ctr">
              <a:defRPr sz="4000" b="1">
                <a:solidFill>
                  <a:schemeClr val="accent5">
                    <a:lumMod val="50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4" name="副标题 2"/>
          <p:cNvSpPr>
            <a:spLocks noGrp="1"/>
          </p:cNvSpPr>
          <p:nvPr>
            <p:ph type="subTitle" idx="1"/>
          </p:nvPr>
        </p:nvSpPr>
        <p:spPr>
          <a:xfrm>
            <a:off x="683568" y="2283718"/>
            <a:ext cx="7776864" cy="594066"/>
          </a:xfrm>
          <a:prstGeom prst="rect">
            <a:avLst/>
          </a:prstGeom>
        </p:spPr>
        <p:txBody>
          <a:bodyPr/>
          <a:lstStyle>
            <a:lvl1pPr marL="0" indent="0" algn="ctr">
              <a:buNone/>
              <a:defRPr sz="2800" b="1">
                <a:solidFill>
                  <a:schemeClr val="tx1">
                    <a:lumMod val="65000"/>
                    <a:lumOff val="35000"/>
                  </a:schemeClr>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pic>
        <p:nvPicPr>
          <p:cNvPr id="23" name="图片 6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113" y="3082826"/>
            <a:ext cx="9155113"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圆角矩形 4"/>
          <p:cNvSpPr>
            <a:spLocks noChangeArrowheads="1"/>
          </p:cNvSpPr>
          <p:nvPr userDrawn="1"/>
        </p:nvSpPr>
        <p:spPr bwMode="auto">
          <a:xfrm>
            <a:off x="2442815" y="3962401"/>
            <a:ext cx="4289425" cy="359569"/>
          </a:xfrm>
          <a:prstGeom prst="roundRect">
            <a:avLst>
              <a:gd name="adj" fmla="val 7292"/>
            </a:avLst>
          </a:prstGeom>
          <a:solidFill>
            <a:srgbClr val="FFFFFF">
              <a:alpha val="32156"/>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知识很简单  学习很快乐</a:t>
            </a:r>
            <a:endParaRPr lang="zh-CN" altLang="zh-CN"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p>
        </p:txBody>
      </p:sp>
      <p:sp>
        <p:nvSpPr>
          <p:cNvPr id="10"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p>
        </p:txBody>
      </p:sp>
      <p:sp>
        <p:nvSpPr>
          <p:cNvPr id="3" name="内容占位符 2"/>
          <p:cNvSpPr>
            <a:spLocks noGrp="1"/>
          </p:cNvSpPr>
          <p:nvPr>
            <p:ph idx="1"/>
          </p:nvPr>
        </p:nvSpPr>
        <p:spPr>
          <a:xfrm>
            <a:off x="323528" y="843558"/>
            <a:ext cx="8352928" cy="3600400"/>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p>
          <a:p>
            <a:pPr lvl="1"/>
            <a:r>
              <a:rPr lang="zh-CN" altLang="en-US" dirty="0"/>
              <a:t>第二级</a:t>
            </a:r>
          </a:p>
          <a:p>
            <a:pPr lvl="2"/>
            <a:r>
              <a:rPr lang="zh-CN" altLang="en-US" dirty="0"/>
              <a:t>第三级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357686" y="214296"/>
            <a:ext cx="4606927" cy="480131"/>
          </a:xfrm>
          <a:prstGeom prst="rect">
            <a:avLst/>
          </a:prstGeom>
          <a:solidFill>
            <a:schemeClr val="bg1"/>
          </a:solidFill>
        </p:spPr>
        <p:txBody>
          <a:bodyPr>
            <a:spAutoFit/>
          </a:bodyPr>
          <a:lstStyle>
            <a:lvl1pPr>
              <a:defRPr sz="2800" b="1">
                <a:solidFill>
                  <a:schemeClr val="tx2">
                    <a:lumMod val="50000"/>
                  </a:schemeClr>
                </a:solidFill>
              </a:defRPr>
            </a:lvl1pPr>
          </a:lstStyle>
          <a:p>
            <a:r>
              <a:rPr lang="zh-CN" altLang="en-US" dirty="0"/>
              <a:t>单击此处编辑母版标题样式</a:t>
            </a:r>
          </a:p>
        </p:txBody>
      </p:sp>
      <p:sp>
        <p:nvSpPr>
          <p:cNvPr id="3" name="内容占位符 2"/>
          <p:cNvSpPr>
            <a:spLocks noGrp="1"/>
          </p:cNvSpPr>
          <p:nvPr>
            <p:ph idx="1"/>
          </p:nvPr>
        </p:nvSpPr>
        <p:spPr>
          <a:xfrm>
            <a:off x="784254" y="910817"/>
            <a:ext cx="7645398" cy="3857652"/>
          </a:xfrm>
          <a:prstGeom prst="rect">
            <a:avLst/>
          </a:prstGeom>
        </p:spPr>
        <p:txBody>
          <a:bodyPr/>
          <a:lstStyle>
            <a:lvl1pPr>
              <a:buSzPct val="100000"/>
              <a:buFont typeface="Wingdings" panose="05000000000000000000" pitchFamily="2" charset="2"/>
              <a:buChar char="n"/>
              <a:defRPr b="1">
                <a:latin typeface="+mn-lt"/>
              </a:defRPr>
            </a:lvl1pPr>
            <a:lvl2pPr>
              <a:buSzPct val="100000"/>
              <a:buFont typeface="Wingdings" panose="05000000000000000000" pitchFamily="2" charset="2"/>
              <a:buChar char="u"/>
              <a:defRPr b="1">
                <a:latin typeface="+mn-lt"/>
              </a:defRPr>
            </a:lvl2pPr>
            <a:lvl3pPr>
              <a:buClr>
                <a:srgbClr val="0E9CDE"/>
              </a:buClr>
              <a:buSzPct val="85000"/>
              <a:buFont typeface="Wingdings" panose="05000000000000000000" pitchFamily="2" charset="2"/>
              <a:buChar char="Ø"/>
              <a:defRPr b="1">
                <a:latin typeface="+mn-lt"/>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灯片编号占位符 5"/>
          <p:cNvSpPr>
            <a:spLocks noGrp="1"/>
          </p:cNvSpPr>
          <p:nvPr>
            <p:ph type="sldNum" sz="quarter" idx="10"/>
          </p:nvPr>
        </p:nvSpPr>
        <p:spPr>
          <a:xfrm>
            <a:off x="6938963" y="4816079"/>
            <a:ext cx="2133600" cy="273844"/>
          </a:xfrm>
          <a:prstGeom prst="rect">
            <a:avLst/>
          </a:prstGeom>
        </p:spPr>
        <p:txBody>
          <a:bodyPr/>
          <a:lstStyle>
            <a:lvl1pPr>
              <a:defRPr/>
            </a:lvl1pPr>
          </a:lstStyle>
          <a:p>
            <a:pPr>
              <a:defRPr/>
            </a:pPr>
            <a:fld id="{B6F2B5F8-CE0A-4CE3-86F1-76C2246F4BA3}" type="slidenum">
              <a:rPr lang="zh-CN" altLang="en-US" smtClean="0"/>
              <a:t>‹#›</a:t>
            </a:fld>
            <a:r>
              <a:rPr lang="en-US" altLang="zh-CN" dirty="0"/>
              <a:t>/39</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不带方块的">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p>
        </p:txBody>
      </p:sp>
      <p:sp>
        <p:nvSpPr>
          <p:cNvPr id="3" name="内容占位符 2"/>
          <p:cNvSpPr>
            <a:spLocks noGrp="1"/>
          </p:cNvSpPr>
          <p:nvPr>
            <p:ph idx="1"/>
          </p:nvPr>
        </p:nvSpPr>
        <p:spPr>
          <a:xfrm>
            <a:off x="179512" y="771550"/>
            <a:ext cx="8640960" cy="3744416"/>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p>
          <a:p>
            <a:pPr lvl="1"/>
            <a:r>
              <a:rPr lang="zh-CN" altLang="en-US" dirty="0"/>
              <a:t>第二级</a:t>
            </a:r>
          </a:p>
          <a:p>
            <a:pPr lvl="2"/>
            <a:r>
              <a:rPr lang="zh-CN" altLang="en-US" dirty="0"/>
              <a:t>第三级</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首页">
    <p:bg>
      <p:bgPr>
        <a:blipFill rotWithShape="0">
          <a:blip r:embed="rId2"/>
        </a:blipFill>
        <a:effectLst/>
      </p:bgPr>
    </p:bg>
    <p:spTree>
      <p:nvGrpSpPr>
        <p:cNvPr id="1" name=""/>
        <p:cNvGrpSpPr/>
        <p:nvPr/>
      </p:nvGrpSpPr>
      <p:grpSpPr>
        <a:xfrm>
          <a:off x="0" y="0"/>
          <a:ext cx="0" cy="0"/>
          <a:chOff x="0" y="0"/>
          <a:chExt cx="0" cy="0"/>
        </a:xfrm>
      </p:grpSpPr>
      <p:pic>
        <p:nvPicPr>
          <p:cNvPr id="16391" name="图片 61"/>
          <p:cNvPicPr>
            <a:picLocks noChangeAspect="1"/>
          </p:cNvPicPr>
          <p:nvPr userDrawn="1"/>
        </p:nvPicPr>
        <p:blipFill>
          <a:blip r:embed="rId3"/>
          <a:stretch>
            <a:fillRect/>
          </a:stretch>
        </p:blipFill>
        <p:spPr>
          <a:xfrm>
            <a:off x="-6350" y="3101975"/>
            <a:ext cx="9155113" cy="2081213"/>
          </a:xfrm>
          <a:prstGeom prst="rect">
            <a:avLst/>
          </a:prstGeom>
          <a:noFill/>
          <a:ln w="9525">
            <a:noFill/>
          </a:ln>
        </p:spPr>
      </p:pic>
      <p:sp>
        <p:nvSpPr>
          <p:cNvPr id="16392" name="圆角矩形 4"/>
          <p:cNvSpPr/>
          <p:nvPr userDrawn="1"/>
        </p:nvSpPr>
        <p:spPr>
          <a:xfrm>
            <a:off x="2443163" y="3962400"/>
            <a:ext cx="4289425" cy="360363"/>
          </a:xfrm>
          <a:prstGeom prst="roundRect">
            <a:avLst>
              <a:gd name="adj" fmla="val 7292"/>
            </a:avLst>
          </a:prstGeom>
          <a:solidFill>
            <a:srgbClr val="FFFFFF">
              <a:alpha val="32155"/>
            </a:srgbClr>
          </a:solidFill>
          <a:ln w="9525">
            <a:noFill/>
          </a:ln>
        </p:spPr>
        <p:txBody>
          <a:bodyPr anchor="ctr"/>
          <a:lstStyle/>
          <a:p>
            <a:pPr lvl="0" indent="0" algn="ct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知识很简单  学习很快乐</a:t>
            </a:r>
            <a:endParaRPr lang="zh-CN" altLang="zh-CN"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标题 1"/>
          <p:cNvSpPr>
            <a:spLocks noGrp="1"/>
          </p:cNvSpPr>
          <p:nvPr>
            <p:ph type="ctrTitle"/>
          </p:nvPr>
        </p:nvSpPr>
        <p:spPr>
          <a:xfrm>
            <a:off x="685800" y="1253209"/>
            <a:ext cx="7772400" cy="1102519"/>
          </a:xfrm>
          <a:prstGeom prst="rect">
            <a:avLst/>
          </a:prstGeom>
          <a:noFill/>
        </p:spPr>
        <p:txBody>
          <a:bodyPr anchor="ctr">
            <a:normAutofit/>
          </a:bodyPr>
          <a:lstStyle>
            <a:lvl1pPr algn="ctr">
              <a:defRPr sz="4000" b="1">
                <a:solidFill>
                  <a:schemeClr val="accent5">
                    <a:lumMod val="50000"/>
                  </a:schemeClr>
                </a:solidFill>
                <a:latin typeface="微软雅黑" panose="020B0503020204020204" pitchFamily="34" charset="-122"/>
                <a:ea typeface="微软雅黑" panose="020B0503020204020204" pitchFamily="34" charset="-122"/>
              </a:defRPr>
            </a:lvl1pPr>
          </a:lstStyle>
          <a:p>
            <a:pPr fontAlgn="base"/>
            <a:r>
              <a:rPr lang="zh-CN" altLang="en-US" strike="noStrike" noProof="1"/>
              <a:t>单击此处编辑母版标题样式</a:t>
            </a:r>
          </a:p>
        </p:txBody>
      </p:sp>
      <p:sp>
        <p:nvSpPr>
          <p:cNvPr id="14" name="副标题 2"/>
          <p:cNvSpPr>
            <a:spLocks noGrp="1"/>
          </p:cNvSpPr>
          <p:nvPr>
            <p:ph type="subTitle" idx="1"/>
          </p:nvPr>
        </p:nvSpPr>
        <p:spPr>
          <a:xfrm>
            <a:off x="683568" y="2283718"/>
            <a:ext cx="7776864" cy="594066"/>
          </a:xfrm>
          <a:prstGeom prst="rect">
            <a:avLst/>
          </a:prstGeom>
        </p:spPr>
        <p:txBody>
          <a:bodyPr/>
          <a:lstStyle>
            <a:lvl1pPr marL="0" indent="0" algn="ctr">
              <a:buNone/>
              <a:defRPr sz="2800" b="1">
                <a:solidFill>
                  <a:schemeClr val="tx1">
                    <a:lumMod val="65000"/>
                    <a:lumOff val="35000"/>
                  </a:schemeClr>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a:t>单击此处编辑母版副标题样式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microsoft.com/office/2007/relationships/hdphoto" Target="../media/hdphoto1.wdp"/><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图片 3"/>
          <p:cNvPicPr>
            <a:picLocks noChangeAspect="1" noChangeArrowheads="1"/>
          </p:cNvPicPr>
          <p:nvPr/>
        </p:nvPicPr>
        <p:blipFill>
          <a:blip r:embed="rId10" cstate="print">
            <a:extLst>
              <a:ext uri="{BEBA8EAE-BF5A-486C-A8C5-ECC9F3942E4B}">
                <a14:imgProps xmlns:a14="http://schemas.microsoft.com/office/drawing/2010/main">
                  <a14:imgLayer r:embed="rId11">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矩形 17"/>
          <p:cNvSpPr>
            <a:spLocks noChangeArrowheads="1"/>
          </p:cNvSpPr>
          <p:nvPr/>
        </p:nvSpPr>
        <p:spPr bwMode="auto">
          <a:xfrm>
            <a:off x="8623697" y="4693446"/>
            <a:ext cx="52268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28" name="矩形 31"/>
          <p:cNvSpPr>
            <a:spLocks noChangeArrowheads="1"/>
          </p:cNvSpPr>
          <p:nvPr/>
        </p:nvSpPr>
        <p:spPr bwMode="auto">
          <a:xfrm flipV="1">
            <a:off x="3" y="555526"/>
            <a:ext cx="9146381" cy="41126"/>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29" name="TextBox 15"/>
          <p:cNvSpPr>
            <a:spLocks noChangeArrowheads="1"/>
          </p:cNvSpPr>
          <p:nvPr/>
        </p:nvSpPr>
        <p:spPr bwMode="auto">
          <a:xfrm>
            <a:off x="8792769" y="4731544"/>
            <a:ext cx="4716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0D41CE8-2465-49E5-8469-C528E9CDFDF7}" type="slidenum">
              <a:rPr lang="zh-CN" altLang="en-US" sz="1600">
                <a:solidFill>
                  <a:schemeClr val="bg1"/>
                </a:solidFill>
                <a:latin typeface="Calibri" panose="020F0502020204030204" pitchFamily="34" charset="0"/>
                <a:sym typeface="宋体" panose="02010600030101010101" pitchFamily="2" charset="-122"/>
              </a:rPr>
              <a:t>‹#›</a:t>
            </a:fld>
            <a:r>
              <a:rPr lang="zh-CN" altLang="en-US" sz="1600">
                <a:solidFill>
                  <a:schemeClr val="bg1"/>
                </a:solidFill>
                <a:latin typeface="Calibri" panose="020F0502020204030204" pitchFamily="34" charset="0"/>
                <a:sym typeface="宋体" panose="02010600030101010101" pitchFamily="2" charset="-122"/>
              </a:rPr>
              <a:t> </a:t>
            </a:r>
            <a:endParaRPr lang="zh-CN" altLang="en-US"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9" name="图片 3"/>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7504" y="88438"/>
            <a:ext cx="1547664" cy="39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marL="913130" indent="-913130" algn="l" rtl="0" eaLnBrk="0" fontAlgn="base" hangingPunct="0">
        <a:lnSpc>
          <a:spcPct val="90000"/>
        </a:lnSpc>
        <a:spcBef>
          <a:spcPct val="0"/>
        </a:spcBef>
        <a:spcAft>
          <a:spcPct val="0"/>
        </a:spcAft>
        <a:defRPr sz="4400" kern="1200">
          <a:solidFill>
            <a:schemeClr val="tx1"/>
          </a:solidFill>
          <a:latin typeface="+mj-lt"/>
          <a:ea typeface="+mj-ea"/>
          <a:cs typeface="+mj-cs"/>
          <a:sym typeface="Browallia New" panose="020B0604020202020204" charset="0"/>
        </a:defRPr>
      </a:lvl1pPr>
      <a:lvl2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p:titleStyle>
    <p:bodyStyle>
      <a:lvl1pPr marL="22733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1pPr>
      <a:lvl2pPr marL="68453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2pPr>
      <a:lvl3pPr marL="11417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第五单元</a:t>
            </a:r>
          </a:p>
        </p:txBody>
      </p:sp>
      <p:sp>
        <p:nvSpPr>
          <p:cNvPr id="3" name="副标题 2"/>
          <p:cNvSpPr>
            <a:spLocks noGrp="1"/>
          </p:cNvSpPr>
          <p:nvPr>
            <p:ph type="subTitle" idx="1"/>
          </p:nvPr>
        </p:nvSpPr>
        <p:spPr/>
        <p:txBody>
          <a:bodyPr/>
          <a:lstStyle/>
          <a:p>
            <a:r>
              <a:rPr lang="zh-CN" altLang="en-US" dirty="0"/>
              <a:t>字符串</a:t>
            </a:r>
            <a:r>
              <a:rPr lang="en-US" altLang="zh-CN" dirty="0"/>
              <a:t>2</a:t>
            </a:r>
          </a:p>
        </p:txBody>
      </p:sp>
    </p:spTree>
  </p:cSld>
  <p:clrMapOvr>
    <a:masterClrMapping/>
  </p:clrMapOvr>
  <mc:AlternateContent xmlns:mc="http://schemas.openxmlformats.org/markup-compatibility/2006" xmlns:p14="http://schemas.microsoft.com/office/powerpoint/2010/main">
    <mc:Choice Requires="p14">
      <p:transition spd="slow" p14:dur="2000" advTm="964"/>
    </mc:Choice>
    <mc:Fallback xmlns="">
      <p:transition spd="slow" advTm="96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252538"/>
            <a:ext cx="7772400" cy="1103313"/>
          </a:xfrm>
        </p:spPr>
        <p:txBody>
          <a:bodyPr anchor="ctr">
            <a:normAutofit/>
          </a:bodyPr>
          <a:lstStyle/>
          <a:p>
            <a:pPr fontAlgn="base"/>
            <a:r>
              <a:rPr lang="zh-CN" altLang="en-US" strike="noStrike" noProof="1"/>
              <a:t>第一课时</a:t>
            </a:r>
          </a:p>
        </p:txBody>
      </p:sp>
      <p:sp>
        <p:nvSpPr>
          <p:cNvPr id="3" name="副标题 2"/>
          <p:cNvSpPr>
            <a:spLocks noGrp="1"/>
          </p:cNvSpPr>
          <p:nvPr>
            <p:ph type="subTitle" idx="1"/>
          </p:nvPr>
        </p:nvSpPr>
        <p:spPr/>
        <p:txBody>
          <a:bodyPr/>
          <a:lstStyle/>
          <a:p>
            <a:r>
              <a:rPr lang="zh-CN" altLang="en-US" dirty="0"/>
              <a:t>字符串常用方法二</a:t>
            </a:r>
          </a:p>
        </p:txBody>
      </p:sp>
    </p:spTree>
  </p:cSld>
  <p:clrMapOvr>
    <a:masterClrMapping/>
  </p:clrMapOvr>
  <p:transition spd="slow" advTm="964"/>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知识回顾</a:t>
            </a:r>
          </a:p>
        </p:txBody>
      </p:sp>
      <p:sp>
        <p:nvSpPr>
          <p:cNvPr id="3" name="内容占位符 2"/>
          <p:cNvSpPr>
            <a:spLocks noGrp="1"/>
          </p:cNvSpPr>
          <p:nvPr>
            <p:ph idx="1"/>
          </p:nvPr>
        </p:nvSpPr>
        <p:spPr>
          <a:xfrm>
            <a:off x="467544" y="1275606"/>
            <a:ext cx="8064896" cy="3353596"/>
          </a:xfrm>
        </p:spPr>
        <p:txBody>
          <a:bodyPr/>
          <a:lstStyle/>
          <a:p>
            <a:r>
              <a:rPr lang="zh-CN" altLang="en-US" dirty="0"/>
              <a:t>请简述什么是序列</a:t>
            </a:r>
          </a:p>
          <a:p>
            <a:r>
              <a:rPr lang="zh-CN" altLang="en-US" dirty="0"/>
              <a:t>请简述序列常用的操作有哪些？</a:t>
            </a:r>
          </a:p>
          <a:p>
            <a:r>
              <a:rPr lang="zh-CN" altLang="en-US" dirty="0">
                <a:sym typeface="+mn-ea"/>
              </a:rPr>
              <a:t>请简述什么是字符串以及字符串的格式</a:t>
            </a:r>
          </a:p>
          <a:p>
            <a:r>
              <a:rPr lang="zh-CN" altLang="en-US" dirty="0">
                <a:sym typeface="+mn-ea"/>
              </a:rPr>
              <a:t>请简述格式化的两种方式以及字符串的方法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知识目标</a:t>
            </a:r>
          </a:p>
        </p:txBody>
      </p:sp>
      <p:sp>
        <p:nvSpPr>
          <p:cNvPr id="5"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0500" y="309563"/>
            <a:ext cx="8761413"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sym typeface="+mn-ea"/>
              </a:rPr>
              <a:t>字符串常用方法</a:t>
            </a:r>
            <a:endParaRPr lang="en-US" altLang="zh-CN" dirty="0"/>
          </a:p>
        </p:txBody>
      </p:sp>
      <p:sp>
        <p:nvSpPr>
          <p:cNvPr id="5" name="AutoShape 3"/>
          <p:cNvSpPr>
            <a:spLocks noChangeArrowheads="1"/>
          </p:cNvSpPr>
          <p:nvPr/>
        </p:nvSpPr>
        <p:spPr bwMode="auto">
          <a:xfrm>
            <a:off x="680085" y="2253615"/>
            <a:ext cx="7903845" cy="1387397"/>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 = "this is string example....wow!!! this is really string"</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print (str.replace("is", "was"))</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print (str.replace("is", "was", 3))</a:t>
            </a:r>
          </a:p>
        </p:txBody>
      </p:sp>
      <p:sp>
        <p:nvSpPr>
          <p:cNvPr id="4" name="矩形 3"/>
          <p:cNvSpPr/>
          <p:nvPr/>
        </p:nvSpPr>
        <p:spPr>
          <a:xfrm>
            <a:off x="251460" y="751205"/>
            <a:ext cx="8713470" cy="706755"/>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ea typeface="+mn-ea"/>
              </a:rPr>
              <a:t>replace() </a:t>
            </a:r>
            <a:r>
              <a:rPr lang="zh-CN" altLang="en-US" sz="2000" dirty="0">
                <a:solidFill>
                  <a:srgbClr val="0070C0"/>
                </a:solidFill>
                <a:latin typeface="+mn-ea"/>
                <a:ea typeface="+mn-ea"/>
              </a:rPr>
              <a:t>把字符串中的 old（旧字符串） 替换成 new(新字符串)，如果指定第三个参数max，则替换不超过 max 次。</a:t>
            </a:r>
          </a:p>
        </p:txBody>
      </p:sp>
      <p:sp>
        <p:nvSpPr>
          <p:cNvPr id="2" name="文本框 1"/>
          <p:cNvSpPr txBox="1"/>
          <p:nvPr/>
        </p:nvSpPr>
        <p:spPr>
          <a:xfrm>
            <a:off x="680085" y="1681480"/>
            <a:ext cx="5747385" cy="398780"/>
          </a:xfrm>
          <a:prstGeom prst="rect">
            <a:avLst/>
          </a:prstGeom>
          <a:noFill/>
        </p:spPr>
        <p:txBody>
          <a:bodyPr wrap="square" rtlCol="0" anchor="t">
            <a:spAutoFit/>
            <a:scene3d>
              <a:camera prst="orthographicFront"/>
              <a:lightRig rig="threePt" dir="t"/>
            </a:scene3d>
          </a:bodyPr>
          <a:lstStyle/>
          <a:p>
            <a:pPr algn="l"/>
            <a:r>
              <a:rPr lang="zh-CN" altLang="en-US" sz="2000">
                <a:solidFill>
                  <a:schemeClr val="accent1"/>
                </a:solidFill>
                <a:effectLst>
                  <a:outerShdw blurRad="38100" dist="25400" dir="5400000" algn="ctr" rotWithShape="0">
                    <a:srgbClr val="6E747A">
                      <a:alpha val="43000"/>
                    </a:srgbClr>
                  </a:outerShdw>
                </a:effectLst>
                <a:latin typeface="+mn-ea"/>
                <a:ea typeface="+mn-ea"/>
                <a:cs typeface="+mn-ea"/>
              </a:rPr>
              <a:t>语法：str.replace(old, new[, max])</a:t>
            </a:r>
          </a:p>
        </p:txBody>
      </p:sp>
      <p:sp>
        <p:nvSpPr>
          <p:cNvPr id="3" name="AutoShape 3"/>
          <p:cNvSpPr>
            <a:spLocks noChangeArrowheads="1"/>
          </p:cNvSpPr>
          <p:nvPr/>
        </p:nvSpPr>
        <p:spPr bwMode="auto">
          <a:xfrm>
            <a:off x="1370965" y="3884295"/>
            <a:ext cx="7212965" cy="924930"/>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 = "this is string example....wow!!! this is really string";</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print (str.replace("is", "was"))</a:t>
            </a:r>
          </a:p>
        </p:txBody>
      </p:sp>
      <p:sp>
        <p:nvSpPr>
          <p:cNvPr id="6" name="文本框 5"/>
          <p:cNvSpPr txBox="1"/>
          <p:nvPr/>
        </p:nvSpPr>
        <p:spPr>
          <a:xfrm>
            <a:off x="375920" y="4023995"/>
            <a:ext cx="737870" cy="645160"/>
          </a:xfrm>
          <a:prstGeom prst="rect">
            <a:avLst/>
          </a:prstGeom>
          <a:noFill/>
        </p:spPr>
        <p:txBody>
          <a:bodyPr wrap="square" rtlCol="0">
            <a:spAutoFit/>
          </a:bodyPr>
          <a:lstStyle/>
          <a:p>
            <a:r>
              <a:rPr lang="zh-CN" altLang="en-US"/>
              <a:t>运行结果</a:t>
            </a:r>
          </a:p>
        </p:txBody>
      </p:sp>
    </p:spTree>
  </p:cSld>
  <p:clrMapOvr>
    <a:masterClrMapping/>
  </p:clrMapOvr>
  <p:transition spd="med">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sym typeface="+mn-ea"/>
              </a:rPr>
              <a:t>字符串常用方法</a:t>
            </a:r>
            <a:endParaRPr lang="en-US" altLang="zh-CN" dirty="0"/>
          </a:p>
        </p:txBody>
      </p:sp>
      <p:sp>
        <p:nvSpPr>
          <p:cNvPr id="5" name="AutoShape 3"/>
          <p:cNvSpPr>
            <a:spLocks noChangeArrowheads="1"/>
          </p:cNvSpPr>
          <p:nvPr/>
        </p:nvSpPr>
        <p:spPr bwMode="auto">
          <a:xfrm>
            <a:off x="915670" y="1563370"/>
            <a:ext cx="4146550" cy="1110066"/>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1600" dirty="0">
                <a:latin typeface="+mn-ea"/>
                <a:ea typeface="+mn-ea"/>
                <a:sym typeface="+mn-ea"/>
              </a:rPr>
              <a:t># </a:t>
            </a:r>
            <a:r>
              <a:rPr lang="zh-CN" altLang="en-US" sz="1600" dirty="0">
                <a:latin typeface="+mn-ea"/>
                <a:ea typeface="+mn-ea"/>
                <a:sym typeface="+mn-ea"/>
              </a:rPr>
              <a:t>字符串所有大写转小写</a:t>
            </a:r>
            <a:endParaRPr lang="en-US" altLang="zh-CN" sz="1600" dirty="0">
              <a:latin typeface="+mn-ea"/>
              <a:ea typeface="+mn-ea"/>
            </a:endParaRPr>
          </a:p>
          <a:p>
            <a:pPr marL="224155" lvl="1" indent="-224155" algn="l" defTabSz="381000">
              <a:lnSpc>
                <a:spcPct val="150000"/>
              </a:lnSpc>
              <a:buClr>
                <a:schemeClr val="folHlink"/>
              </a:buClr>
              <a:buSzPct val="60000"/>
              <a:tabLst>
                <a:tab pos="444500" algn="l"/>
              </a:tabLst>
              <a:defRPr/>
            </a:pPr>
            <a:r>
              <a:rPr sz="1600" dirty="0">
                <a:latin typeface="+mn-ea"/>
                <a:ea typeface="+mn-ea"/>
                <a:sym typeface="+mn-ea"/>
              </a:rPr>
              <a:t>s</a:t>
            </a:r>
            <a:r>
              <a:rPr lang="en-US" sz="1600" dirty="0">
                <a:latin typeface="+mn-ea"/>
                <a:ea typeface="+mn-ea"/>
                <a:sym typeface="+mn-ea"/>
              </a:rPr>
              <a:t>3</a:t>
            </a:r>
            <a:r>
              <a:rPr sz="1600" dirty="0">
                <a:latin typeface="+mn-ea"/>
                <a:ea typeface="+mn-ea"/>
                <a:sym typeface="+mn-ea"/>
              </a:rPr>
              <a:t>= ‘</a:t>
            </a:r>
            <a:r>
              <a:rPr lang="en-US" sz="1600" dirty="0">
                <a:latin typeface="+mn-ea"/>
                <a:ea typeface="+mn-ea"/>
                <a:sym typeface="+mn-ea"/>
              </a:rPr>
              <a:t>HELLO world</a:t>
            </a:r>
            <a:r>
              <a:rPr sz="1600" dirty="0">
                <a:latin typeface="+mn-ea"/>
                <a:ea typeface="+mn-ea"/>
                <a:sym typeface="+mn-ea"/>
              </a:rPr>
              <a:t>’</a:t>
            </a:r>
          </a:p>
          <a:p>
            <a:pPr marL="224155" lvl="1" indent="-224155" algn="l" defTabSz="381000">
              <a:lnSpc>
                <a:spcPct val="150000"/>
              </a:lnSpc>
              <a:buClr>
                <a:schemeClr val="folHlink"/>
              </a:buClr>
              <a:buSzPct val="60000"/>
              <a:tabLst>
                <a:tab pos="444500" algn="l"/>
              </a:tabLst>
              <a:defRPr/>
            </a:pPr>
            <a:r>
              <a:rPr lang="en-US" altLang="zh-CN" sz="1600" dirty="0">
                <a:latin typeface="+mn-ea"/>
                <a:ea typeface="+mn-ea"/>
                <a:sym typeface="+mn-ea"/>
              </a:rPr>
              <a:t>print(s3.lower())</a:t>
            </a:r>
            <a:endParaRPr lang="en-US" altLang="zh-CN" sz="1600" dirty="0">
              <a:latin typeface="+mn-ea"/>
              <a:ea typeface="+mn-ea"/>
            </a:endParaRPr>
          </a:p>
        </p:txBody>
      </p:sp>
      <p:sp>
        <p:nvSpPr>
          <p:cNvPr id="2" name="Rectangle 6"/>
          <p:cNvSpPr>
            <a:spLocks noChangeArrowheads="1"/>
          </p:cNvSpPr>
          <p:nvPr/>
        </p:nvSpPr>
        <p:spPr bwMode="auto">
          <a:xfrm>
            <a:off x="915670" y="2368550"/>
            <a:ext cx="1724025" cy="304800"/>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ndParaRPr>
          </a:p>
        </p:txBody>
      </p:sp>
      <p:sp>
        <p:nvSpPr>
          <p:cNvPr id="3" name="AutoShape 3"/>
          <p:cNvSpPr>
            <a:spLocks noChangeArrowheads="1"/>
          </p:cNvSpPr>
          <p:nvPr/>
        </p:nvSpPr>
        <p:spPr bwMode="auto">
          <a:xfrm>
            <a:off x="3177540" y="3101340"/>
            <a:ext cx="4146550" cy="1480296"/>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1600" dirty="0">
                <a:latin typeface="+mn-ea"/>
                <a:ea typeface="+mn-ea"/>
              </a:rPr>
              <a:t># </a:t>
            </a:r>
            <a:r>
              <a:rPr lang="zh-CN" sz="1600" dirty="0">
                <a:latin typeface="+mn-ea"/>
                <a:ea typeface="+mn-ea"/>
              </a:rPr>
              <a:t>字符串所有小写转大写：</a:t>
            </a:r>
            <a:r>
              <a:rPr lang="en-US" altLang="zh-CN" sz="1600" dirty="0">
                <a:latin typeface="+mn-ea"/>
                <a:ea typeface="+mn-ea"/>
              </a:rPr>
              <a:t>upper()</a:t>
            </a:r>
            <a:endParaRPr sz="1600" dirty="0">
              <a:latin typeface="+mn-ea"/>
              <a:ea typeface="+mn-ea"/>
            </a:endParaRPr>
          </a:p>
          <a:p>
            <a:pPr marL="224155" lvl="1" indent="-224155" algn="l" defTabSz="381000">
              <a:lnSpc>
                <a:spcPct val="150000"/>
              </a:lnSpc>
              <a:buClr>
                <a:schemeClr val="folHlink"/>
              </a:buClr>
              <a:buSzPct val="60000"/>
              <a:tabLst>
                <a:tab pos="444500" algn="l"/>
              </a:tabLst>
              <a:defRPr/>
            </a:pPr>
            <a:r>
              <a:rPr sz="1600" dirty="0">
                <a:latin typeface="+mn-ea"/>
                <a:ea typeface="+mn-ea"/>
              </a:rPr>
              <a:t>s = ‘</a:t>
            </a:r>
            <a:r>
              <a:rPr lang="en-US" sz="1600" dirty="0">
                <a:latin typeface="+mn-ea"/>
                <a:ea typeface="+mn-ea"/>
              </a:rPr>
              <a:t>hello world</a:t>
            </a:r>
            <a:r>
              <a:rPr sz="1600" dirty="0">
                <a:latin typeface="+mn-ea"/>
                <a:ea typeface="+mn-ea"/>
              </a:rPr>
              <a:t>’</a:t>
            </a:r>
          </a:p>
          <a:p>
            <a:pPr marL="224155" lvl="1" indent="-224155" algn="l" defTabSz="381000">
              <a:lnSpc>
                <a:spcPct val="150000"/>
              </a:lnSpc>
              <a:buClr>
                <a:schemeClr val="folHlink"/>
              </a:buClr>
              <a:buSzPct val="60000"/>
              <a:tabLst>
                <a:tab pos="444500" algn="l"/>
              </a:tabLst>
              <a:defRPr/>
            </a:pPr>
            <a:r>
              <a:rPr lang="en-US" altLang="zh-CN" sz="1600" dirty="0">
                <a:latin typeface="+mn-ea"/>
                <a:ea typeface="+mn-ea"/>
                <a:sym typeface="+mn-ea"/>
              </a:rPr>
              <a:t>h = s.upper()</a:t>
            </a:r>
          </a:p>
          <a:p>
            <a:pPr marL="224155" lvl="1" indent="-224155" algn="l" defTabSz="381000">
              <a:lnSpc>
                <a:spcPct val="150000"/>
              </a:lnSpc>
              <a:buClr>
                <a:schemeClr val="folHlink"/>
              </a:buClr>
              <a:buSzPct val="60000"/>
              <a:tabLst>
                <a:tab pos="444500" algn="l"/>
              </a:tabLst>
              <a:defRPr/>
            </a:pPr>
            <a:r>
              <a:rPr lang="en-US" altLang="zh-CN" sz="1600" dirty="0">
                <a:latin typeface="+mn-ea"/>
                <a:ea typeface="+mn-ea"/>
                <a:sym typeface="+mn-ea"/>
              </a:rPr>
              <a:t>print(h)</a:t>
            </a:r>
            <a:endParaRPr lang="en-US" altLang="zh-CN" sz="1600" dirty="0">
              <a:latin typeface="+mn-ea"/>
              <a:ea typeface="+mn-ea"/>
            </a:endParaRPr>
          </a:p>
        </p:txBody>
      </p:sp>
      <p:sp>
        <p:nvSpPr>
          <p:cNvPr id="6" name="Rectangle 6"/>
          <p:cNvSpPr>
            <a:spLocks noChangeArrowheads="1"/>
          </p:cNvSpPr>
          <p:nvPr/>
        </p:nvSpPr>
        <p:spPr bwMode="auto">
          <a:xfrm>
            <a:off x="3177540" y="3903345"/>
            <a:ext cx="1537970" cy="304800"/>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ndParaRPr>
          </a:p>
        </p:txBody>
      </p:sp>
      <p:pic>
        <p:nvPicPr>
          <p:cNvPr id="7" name="图片 6"/>
          <p:cNvPicPr>
            <a:picLocks noChangeAspect="1"/>
          </p:cNvPicPr>
          <p:nvPr/>
        </p:nvPicPr>
        <p:blipFill>
          <a:blip r:embed="rId2"/>
          <a:stretch>
            <a:fillRect/>
          </a:stretch>
        </p:blipFill>
        <p:spPr>
          <a:xfrm>
            <a:off x="3557270" y="2368550"/>
            <a:ext cx="1504950" cy="495300"/>
          </a:xfrm>
          <a:prstGeom prst="rect">
            <a:avLst/>
          </a:prstGeom>
        </p:spPr>
      </p:pic>
      <p:pic>
        <p:nvPicPr>
          <p:cNvPr id="8" name="图片 7" descr="GOJ7}7]IM}5%91O347(YR]D"/>
          <p:cNvPicPr>
            <a:picLocks noChangeAspect="1"/>
          </p:cNvPicPr>
          <p:nvPr/>
        </p:nvPicPr>
        <p:blipFill>
          <a:blip r:embed="rId3"/>
          <a:stretch>
            <a:fillRect/>
          </a:stretch>
        </p:blipFill>
        <p:spPr>
          <a:xfrm>
            <a:off x="5445760" y="4208145"/>
            <a:ext cx="1562100" cy="466725"/>
          </a:xfrm>
          <a:prstGeom prst="rect">
            <a:avLst/>
          </a:prstGeom>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2000"/>
                                        <p:tgtEl>
                                          <p:spTgt spid="2"/>
                                        </p:tgtEl>
                                      </p:cBhvr>
                                    </p:animEffect>
                                  </p:childTnLst>
                                </p:cTn>
                              </p:par>
                            </p:childTnLst>
                          </p:cTn>
                        </p:par>
                        <p:par>
                          <p:cTn id="13" fill="hold">
                            <p:stCondLst>
                              <p:cond delay="2000"/>
                            </p:stCondLst>
                            <p:childTnLst>
                              <p:par>
                                <p:cTn id="14" presetID="6" presetClass="entr" presetSubtype="16"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in)">
                                      <p:cBhvr>
                                        <p:cTn id="16" dur="2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ox(in)">
                                      <p:cBhvr>
                                        <p:cTn id="21" dur="20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2" grpId="0" bldLvl="0" animBg="1"/>
      <p:bldP spid="3" grpId="0" bldLvl="0" animBg="1"/>
      <p:bldP spid="6"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如何使用字符串</a:t>
            </a:r>
          </a:p>
        </p:txBody>
      </p:sp>
      <p:sp>
        <p:nvSpPr>
          <p:cNvPr id="5" name="矩形 4"/>
          <p:cNvSpPr/>
          <p:nvPr/>
        </p:nvSpPr>
        <p:spPr>
          <a:xfrm>
            <a:off x="251520" y="627534"/>
            <a:ext cx="7200800" cy="400110"/>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rPr>
              <a:t>islower()  </a:t>
            </a:r>
            <a:r>
              <a:rPr lang="zh-CN" altLang="en-US" sz="2000" dirty="0">
                <a:solidFill>
                  <a:srgbClr val="0070C0"/>
                </a:solidFill>
                <a:latin typeface="+mn-ea"/>
              </a:rPr>
              <a:t>判断字符串是否全部为小写</a:t>
            </a:r>
            <a:endParaRPr lang="en-US" altLang="zh-CN" sz="2000" dirty="0">
              <a:solidFill>
                <a:srgbClr val="0070C0"/>
              </a:solidFill>
              <a:latin typeface="+mn-ea"/>
            </a:endParaRPr>
          </a:p>
        </p:txBody>
      </p:sp>
      <p:sp>
        <p:nvSpPr>
          <p:cNvPr id="11" name="矩形 10"/>
          <p:cNvSpPr/>
          <p:nvPr/>
        </p:nvSpPr>
        <p:spPr>
          <a:xfrm>
            <a:off x="704129" y="2538454"/>
            <a:ext cx="3672408" cy="1477328"/>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"hello".islower()) </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 world".islower())</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"Hello".islower()) </a:t>
            </a:r>
          </a:p>
        </p:txBody>
      </p:sp>
      <p:sp>
        <p:nvSpPr>
          <p:cNvPr id="12" name="矩形 11"/>
          <p:cNvSpPr/>
          <p:nvPr/>
        </p:nvSpPr>
        <p:spPr>
          <a:xfrm>
            <a:off x="632121" y="1779662"/>
            <a:ext cx="1368152"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代码举例：</a:t>
            </a:r>
            <a:endParaRPr lang="en-US" sz="2000" dirty="0">
              <a:solidFill>
                <a:srgbClr val="0070C0"/>
              </a:solidFill>
              <a:latin typeface="+mn-ea"/>
              <a:ea typeface="+mn-ea"/>
            </a:endParaRPr>
          </a:p>
        </p:txBody>
      </p:sp>
      <p:sp>
        <p:nvSpPr>
          <p:cNvPr id="13" name="矩形 12"/>
          <p:cNvSpPr/>
          <p:nvPr/>
        </p:nvSpPr>
        <p:spPr>
          <a:xfrm>
            <a:off x="4932040" y="1779662"/>
            <a:ext cx="1611950"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输出结果：</a:t>
            </a:r>
            <a:endParaRPr lang="en-US" sz="2000" dirty="0">
              <a:solidFill>
                <a:srgbClr val="0070C0"/>
              </a:solidFill>
              <a:latin typeface="+mn-ea"/>
              <a:ea typeface="+mn-ea"/>
            </a:endParaRPr>
          </a:p>
        </p:txBody>
      </p:sp>
      <p:sp>
        <p:nvSpPr>
          <p:cNvPr id="8"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9" name="矩形 8"/>
          <p:cNvSpPr/>
          <p:nvPr/>
        </p:nvSpPr>
        <p:spPr>
          <a:xfrm>
            <a:off x="611560" y="1131590"/>
            <a:ext cx="5616624"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zh-CN" altLang="en-US" sz="2000" dirty="0">
                <a:solidFill>
                  <a:srgbClr val="0070C0"/>
                </a:solidFill>
                <a:latin typeface="+mn-ea"/>
                <a:ea typeface="+mn-ea"/>
              </a:rPr>
              <a:t>语法格式：</a:t>
            </a:r>
            <a:r>
              <a:rPr lang="en-US" altLang="zh-CN" b="1" dirty="0">
                <a:solidFill>
                  <a:schemeClr val="tx1">
                    <a:lumMod val="75000"/>
                    <a:lumOff val="25000"/>
                  </a:schemeClr>
                </a:solidFill>
                <a:latin typeface="+mn-ea"/>
              </a:rPr>
              <a:t>String.islower()</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4609" y="2538454"/>
            <a:ext cx="3718697" cy="176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5122"/>
                                        </p:tgtEl>
                                        <p:attrNameLst>
                                          <p:attrName>style.visibility</p:attrName>
                                        </p:attrNameLst>
                                      </p:cBhvr>
                                      <p:to>
                                        <p:strVal val="visible"/>
                                      </p:to>
                                    </p:set>
                                    <p:anim calcmode="lin" valueType="num">
                                      <p:cBhvr additive="base">
                                        <p:cTn id="38" dur="500" fill="hold"/>
                                        <p:tgtEl>
                                          <p:spTgt spid="5122"/>
                                        </p:tgtEl>
                                        <p:attrNameLst>
                                          <p:attrName>ppt_x</p:attrName>
                                        </p:attrNameLst>
                                      </p:cBhvr>
                                      <p:tavLst>
                                        <p:tav tm="0">
                                          <p:val>
                                            <p:strVal val="#ppt_x"/>
                                          </p:val>
                                        </p:tav>
                                        <p:tav tm="100000">
                                          <p:val>
                                            <p:strVal val="#ppt_x"/>
                                          </p:val>
                                        </p:tav>
                                      </p:tavLst>
                                    </p:anim>
                                    <p:anim calcmode="lin" valueType="num">
                                      <p:cBhvr additive="base">
                                        <p:cTn id="39"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bldLvl="0" animBg="1"/>
      <p:bldP spid="12" grpId="0" bldLvl="0" animBg="1"/>
      <p:bldP spid="13" grpId="0" bldLvl="0" animBg="1"/>
      <p:bldP spid="9"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如何使用字符串</a:t>
            </a:r>
          </a:p>
        </p:txBody>
      </p:sp>
      <p:sp>
        <p:nvSpPr>
          <p:cNvPr id="5" name="矩形 4"/>
          <p:cNvSpPr/>
          <p:nvPr/>
        </p:nvSpPr>
        <p:spPr>
          <a:xfrm>
            <a:off x="251520" y="627534"/>
            <a:ext cx="7200800" cy="400110"/>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rPr>
              <a:t>isupper()  </a:t>
            </a:r>
            <a:r>
              <a:rPr lang="zh-CN" altLang="en-US" sz="2000" dirty="0">
                <a:solidFill>
                  <a:srgbClr val="0070C0"/>
                </a:solidFill>
                <a:latin typeface="+mn-ea"/>
              </a:rPr>
              <a:t>判断字符串是否全部为大写</a:t>
            </a:r>
            <a:endParaRPr lang="en-US" altLang="zh-CN" sz="2000" dirty="0">
              <a:solidFill>
                <a:srgbClr val="0070C0"/>
              </a:solidFill>
              <a:latin typeface="+mn-ea"/>
            </a:endParaRPr>
          </a:p>
        </p:txBody>
      </p:sp>
      <p:sp>
        <p:nvSpPr>
          <p:cNvPr id="11" name="矩形 10"/>
          <p:cNvSpPr/>
          <p:nvPr/>
        </p:nvSpPr>
        <p:spPr>
          <a:xfrm>
            <a:off x="683568" y="2647534"/>
            <a:ext cx="4392488" cy="1422954"/>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"HELLO".isupper()) </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 WORLD".isupper())</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"Hello".isupper())</a:t>
            </a:r>
          </a:p>
        </p:txBody>
      </p:sp>
      <p:sp>
        <p:nvSpPr>
          <p:cNvPr id="12" name="矩形 11"/>
          <p:cNvSpPr/>
          <p:nvPr/>
        </p:nvSpPr>
        <p:spPr>
          <a:xfrm>
            <a:off x="611560" y="1823002"/>
            <a:ext cx="1368152"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代码举例：</a:t>
            </a:r>
            <a:endParaRPr lang="en-US" sz="2000" dirty="0">
              <a:solidFill>
                <a:srgbClr val="0070C0"/>
              </a:solidFill>
              <a:latin typeface="+mn-ea"/>
              <a:ea typeface="+mn-ea"/>
            </a:endParaRPr>
          </a:p>
        </p:txBody>
      </p:sp>
      <p:sp>
        <p:nvSpPr>
          <p:cNvPr id="13" name="矩形 12"/>
          <p:cNvSpPr/>
          <p:nvPr/>
        </p:nvSpPr>
        <p:spPr>
          <a:xfrm>
            <a:off x="5220072" y="1823002"/>
            <a:ext cx="1611950"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输出结果：</a:t>
            </a:r>
            <a:endParaRPr lang="en-US" sz="2000" dirty="0">
              <a:solidFill>
                <a:srgbClr val="0070C0"/>
              </a:solidFill>
              <a:latin typeface="+mn-ea"/>
              <a:ea typeface="+mn-ea"/>
            </a:endParaRPr>
          </a:p>
        </p:txBody>
      </p:sp>
      <p:sp>
        <p:nvSpPr>
          <p:cNvPr id="8"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9" name="矩形 8"/>
          <p:cNvSpPr/>
          <p:nvPr/>
        </p:nvSpPr>
        <p:spPr>
          <a:xfrm>
            <a:off x="595119" y="1109859"/>
            <a:ext cx="5616624"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zh-CN" altLang="en-US" sz="2000" dirty="0">
                <a:solidFill>
                  <a:srgbClr val="0070C0"/>
                </a:solidFill>
                <a:latin typeface="+mn-ea"/>
                <a:ea typeface="+mn-ea"/>
              </a:rPr>
              <a:t>语法格式：</a:t>
            </a:r>
            <a:r>
              <a:rPr lang="en-US" altLang="zh-CN" b="1" dirty="0">
                <a:solidFill>
                  <a:schemeClr val="tx1">
                    <a:lumMod val="75000"/>
                    <a:lumOff val="25000"/>
                  </a:schemeClr>
                </a:solidFill>
                <a:latin typeface="+mn-ea"/>
              </a:rPr>
              <a:t>String.isupper()</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2647534"/>
            <a:ext cx="3456384" cy="1365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5122"/>
                                        </p:tgtEl>
                                        <p:attrNameLst>
                                          <p:attrName>style.visibility</p:attrName>
                                        </p:attrNameLst>
                                      </p:cBhvr>
                                      <p:to>
                                        <p:strVal val="visible"/>
                                      </p:to>
                                    </p:set>
                                    <p:anim calcmode="lin" valueType="num">
                                      <p:cBhvr additive="base">
                                        <p:cTn id="38" dur="500" fill="hold"/>
                                        <p:tgtEl>
                                          <p:spTgt spid="5122"/>
                                        </p:tgtEl>
                                        <p:attrNameLst>
                                          <p:attrName>ppt_x</p:attrName>
                                        </p:attrNameLst>
                                      </p:cBhvr>
                                      <p:tavLst>
                                        <p:tav tm="0">
                                          <p:val>
                                            <p:strVal val="#ppt_x"/>
                                          </p:val>
                                        </p:tav>
                                        <p:tav tm="100000">
                                          <p:val>
                                            <p:strVal val="#ppt_x"/>
                                          </p:val>
                                        </p:tav>
                                      </p:tavLst>
                                    </p:anim>
                                    <p:anim calcmode="lin" valueType="num">
                                      <p:cBhvr additive="base">
                                        <p:cTn id="39"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bldLvl="0" animBg="1"/>
      <p:bldP spid="12" grpId="0" bldLvl="0" animBg="1"/>
      <p:bldP spid="13" grpId="0" bldLvl="0" animBg="1"/>
      <p:bldP spid="9"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如何使用字符串</a:t>
            </a:r>
          </a:p>
        </p:txBody>
      </p:sp>
      <p:sp>
        <p:nvSpPr>
          <p:cNvPr id="5" name="矩形 4"/>
          <p:cNvSpPr/>
          <p:nvPr/>
        </p:nvSpPr>
        <p:spPr>
          <a:xfrm>
            <a:off x="251520" y="627534"/>
            <a:ext cx="7200800" cy="400110"/>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ea typeface="+mn-ea"/>
              </a:rPr>
              <a:t>isdigit( )  </a:t>
            </a:r>
            <a:r>
              <a:rPr lang="zh-CN" altLang="en-US" sz="2000" dirty="0">
                <a:solidFill>
                  <a:srgbClr val="0070C0"/>
                </a:solidFill>
                <a:latin typeface="+mn-ea"/>
                <a:ea typeface="+mn-ea"/>
              </a:rPr>
              <a:t>判断字符串中是否全部为整数</a:t>
            </a:r>
            <a:endParaRPr lang="en-US" altLang="zh-CN" sz="2800" dirty="0">
              <a:solidFill>
                <a:srgbClr val="0070C0"/>
              </a:solidFill>
              <a:latin typeface="+mn-ea"/>
              <a:ea typeface="+mn-ea"/>
            </a:endParaRPr>
          </a:p>
        </p:txBody>
      </p:sp>
      <p:sp>
        <p:nvSpPr>
          <p:cNvPr id="11" name="矩形 10"/>
          <p:cNvSpPr/>
          <p:nvPr/>
        </p:nvSpPr>
        <p:spPr>
          <a:xfrm>
            <a:off x="683568" y="2368105"/>
            <a:ext cx="3312368" cy="1422954"/>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"123".isdigit()) </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"hello".isdigit())</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"hello123".isdigit())</a:t>
            </a:r>
          </a:p>
        </p:txBody>
      </p:sp>
      <p:sp>
        <p:nvSpPr>
          <p:cNvPr id="12" name="矩形 11"/>
          <p:cNvSpPr/>
          <p:nvPr/>
        </p:nvSpPr>
        <p:spPr>
          <a:xfrm>
            <a:off x="611560" y="1707654"/>
            <a:ext cx="1368152"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代码举例：</a:t>
            </a:r>
            <a:endParaRPr lang="en-US" sz="2000" dirty="0">
              <a:solidFill>
                <a:srgbClr val="0070C0"/>
              </a:solidFill>
              <a:latin typeface="+mn-ea"/>
              <a:ea typeface="+mn-ea"/>
            </a:endParaRPr>
          </a:p>
        </p:txBody>
      </p:sp>
      <p:sp>
        <p:nvSpPr>
          <p:cNvPr id="13" name="矩形 12"/>
          <p:cNvSpPr/>
          <p:nvPr/>
        </p:nvSpPr>
        <p:spPr>
          <a:xfrm>
            <a:off x="4932040" y="1707654"/>
            <a:ext cx="1611950"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输出结果：</a:t>
            </a:r>
            <a:endParaRPr lang="en-US" sz="2000" dirty="0">
              <a:solidFill>
                <a:srgbClr val="0070C0"/>
              </a:solidFill>
              <a:latin typeface="+mn-ea"/>
              <a:ea typeface="+mn-ea"/>
            </a:endParaRPr>
          </a:p>
        </p:txBody>
      </p:sp>
      <p:sp>
        <p:nvSpPr>
          <p:cNvPr id="8"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9" name="矩形 8"/>
          <p:cNvSpPr/>
          <p:nvPr/>
        </p:nvSpPr>
        <p:spPr>
          <a:xfrm>
            <a:off x="611560" y="1136022"/>
            <a:ext cx="5616624"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zh-CN" altLang="en-US" sz="2000" dirty="0">
                <a:solidFill>
                  <a:srgbClr val="0070C0"/>
                </a:solidFill>
                <a:latin typeface="+mn-ea"/>
                <a:ea typeface="+mn-ea"/>
              </a:rPr>
              <a:t>语法格式：</a:t>
            </a:r>
            <a:r>
              <a:rPr lang="en-US" altLang="zh-CN" b="1" dirty="0">
                <a:solidFill>
                  <a:schemeClr val="tx1">
                    <a:lumMod val="75000"/>
                    <a:lumOff val="25000"/>
                  </a:schemeClr>
                </a:solidFill>
                <a:latin typeface="+mn-ea"/>
              </a:rPr>
              <a:t>String.isdigit( )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2368105"/>
            <a:ext cx="3312368" cy="141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074"/>
                                        </p:tgtEl>
                                        <p:attrNameLst>
                                          <p:attrName>style.visibility</p:attrName>
                                        </p:attrNameLst>
                                      </p:cBhvr>
                                      <p:to>
                                        <p:strVal val="visible"/>
                                      </p:to>
                                    </p:set>
                                    <p:anim calcmode="lin" valueType="num">
                                      <p:cBhvr additive="base">
                                        <p:cTn id="38" dur="500" fill="hold"/>
                                        <p:tgtEl>
                                          <p:spTgt spid="3074"/>
                                        </p:tgtEl>
                                        <p:attrNameLst>
                                          <p:attrName>ppt_x</p:attrName>
                                        </p:attrNameLst>
                                      </p:cBhvr>
                                      <p:tavLst>
                                        <p:tav tm="0">
                                          <p:val>
                                            <p:strVal val="#ppt_x"/>
                                          </p:val>
                                        </p:tav>
                                        <p:tav tm="100000">
                                          <p:val>
                                            <p:strVal val="#ppt_x"/>
                                          </p:val>
                                        </p:tav>
                                      </p:tavLst>
                                    </p:anim>
                                    <p:anim calcmode="lin" valueType="num">
                                      <p:cBhvr additive="base">
                                        <p:cTn id="39"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bldLvl="0" animBg="1"/>
      <p:bldP spid="12" grpId="0" bldLvl="0" animBg="1"/>
      <p:bldP spid="13" grpId="0" bldLvl="0" animBg="1"/>
      <p:bldP spid="9"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如何使用字符串</a:t>
            </a:r>
          </a:p>
        </p:txBody>
      </p:sp>
      <p:sp>
        <p:nvSpPr>
          <p:cNvPr id="5" name="矩形 4"/>
          <p:cNvSpPr/>
          <p:nvPr/>
        </p:nvSpPr>
        <p:spPr>
          <a:xfrm>
            <a:off x="251520" y="627534"/>
            <a:ext cx="7200800" cy="400110"/>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ea typeface="+mn-ea"/>
              </a:rPr>
              <a:t>Isalpha() </a:t>
            </a:r>
            <a:r>
              <a:rPr lang="zh-CN" altLang="en-US" sz="2000" dirty="0">
                <a:solidFill>
                  <a:srgbClr val="0070C0"/>
                </a:solidFill>
                <a:latin typeface="+mn-ea"/>
                <a:ea typeface="+mn-ea"/>
              </a:rPr>
              <a:t>判断字符串中是否全部为纯英文字符</a:t>
            </a:r>
            <a:endParaRPr lang="en-US" altLang="zh-CN" sz="2000" dirty="0">
              <a:solidFill>
                <a:srgbClr val="0070C0"/>
              </a:solidFill>
              <a:latin typeface="+mn-ea"/>
              <a:ea typeface="+mn-ea"/>
            </a:endParaRPr>
          </a:p>
        </p:txBody>
      </p:sp>
      <p:sp>
        <p:nvSpPr>
          <p:cNvPr id="11" name="矩形 10"/>
          <p:cNvSpPr/>
          <p:nvPr/>
        </p:nvSpPr>
        <p:spPr>
          <a:xfrm>
            <a:off x="683569" y="2509435"/>
            <a:ext cx="3672408" cy="1477328"/>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"hello".isalpha()) </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 world".isalpha())</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"hello123".isalpha()) </a:t>
            </a:r>
          </a:p>
        </p:txBody>
      </p:sp>
      <p:sp>
        <p:nvSpPr>
          <p:cNvPr id="12" name="矩形 11"/>
          <p:cNvSpPr/>
          <p:nvPr/>
        </p:nvSpPr>
        <p:spPr>
          <a:xfrm>
            <a:off x="615280" y="1784094"/>
            <a:ext cx="1368152"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代码举例：</a:t>
            </a:r>
            <a:endParaRPr lang="en-US" sz="2000" dirty="0">
              <a:solidFill>
                <a:srgbClr val="0070C0"/>
              </a:solidFill>
              <a:latin typeface="+mn-ea"/>
              <a:ea typeface="+mn-ea"/>
            </a:endParaRPr>
          </a:p>
        </p:txBody>
      </p:sp>
      <p:sp>
        <p:nvSpPr>
          <p:cNvPr id="13" name="矩形 12"/>
          <p:cNvSpPr/>
          <p:nvPr/>
        </p:nvSpPr>
        <p:spPr>
          <a:xfrm>
            <a:off x="5220072" y="1784094"/>
            <a:ext cx="1611950"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输出结果：</a:t>
            </a:r>
            <a:endParaRPr lang="en-US" sz="2000" dirty="0">
              <a:solidFill>
                <a:srgbClr val="0070C0"/>
              </a:solidFill>
              <a:latin typeface="+mn-ea"/>
              <a:ea typeface="+mn-ea"/>
            </a:endParaRPr>
          </a:p>
        </p:txBody>
      </p:sp>
      <p:sp>
        <p:nvSpPr>
          <p:cNvPr id="8"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9" name="矩形 8"/>
          <p:cNvSpPr/>
          <p:nvPr/>
        </p:nvSpPr>
        <p:spPr>
          <a:xfrm>
            <a:off x="611560" y="1104403"/>
            <a:ext cx="5616624" cy="553998"/>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zh-CN" altLang="en-US" sz="2000" dirty="0">
                <a:solidFill>
                  <a:srgbClr val="0070C0"/>
                </a:solidFill>
                <a:latin typeface="+mn-ea"/>
                <a:ea typeface="+mn-ea"/>
              </a:rPr>
              <a:t>语法格式：</a:t>
            </a:r>
            <a:r>
              <a:rPr lang="en-US" altLang="zh-CN" b="1" dirty="0" err="1">
                <a:solidFill>
                  <a:schemeClr val="tx1">
                    <a:lumMod val="75000"/>
                    <a:lumOff val="25000"/>
                  </a:schemeClr>
                </a:solidFill>
                <a:latin typeface="+mn-ea"/>
              </a:rPr>
              <a:t>String.isalpha</a:t>
            </a:r>
            <a:r>
              <a:rPr lang="en-US" altLang="zh-CN" b="1" dirty="0">
                <a:solidFill>
                  <a:schemeClr val="tx1">
                    <a:lumMod val="75000"/>
                    <a:lumOff val="25000"/>
                  </a:schemeClr>
                </a:solidFill>
                <a:latin typeface="+mn-ea"/>
              </a:rPr>
              <a:t>()</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2509434"/>
            <a:ext cx="3672408" cy="171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additive="base">
                                        <p:cTn id="38" dur="500" fill="hold"/>
                                        <p:tgtEl>
                                          <p:spTgt spid="3"/>
                                        </p:tgtEl>
                                        <p:attrNameLst>
                                          <p:attrName>ppt_x</p:attrName>
                                        </p:attrNameLst>
                                      </p:cBhvr>
                                      <p:tavLst>
                                        <p:tav tm="0">
                                          <p:val>
                                            <p:strVal val="#ppt_x"/>
                                          </p:val>
                                        </p:tav>
                                        <p:tav tm="100000">
                                          <p:val>
                                            <p:strVal val="#ppt_x"/>
                                          </p:val>
                                        </p:tav>
                                      </p:tavLst>
                                    </p:anim>
                                    <p:anim calcmode="lin" valueType="num">
                                      <p:cBhvr additive="base">
                                        <p:cTn id="3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bldLvl="0" animBg="1"/>
      <p:bldP spid="12" grpId="0" bldLvl="0" animBg="1"/>
      <p:bldP spid="13" grpId="0" bldLvl="0" animBg="1"/>
      <p:bldP spid="9"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sym typeface="+mn-ea"/>
              </a:rPr>
              <a:t>字符串常用方法</a:t>
            </a:r>
            <a:endParaRPr lang="en-US" altLang="zh-CN" dirty="0"/>
          </a:p>
        </p:txBody>
      </p:sp>
      <p:sp>
        <p:nvSpPr>
          <p:cNvPr id="5" name="AutoShape 3"/>
          <p:cNvSpPr>
            <a:spLocks noChangeArrowheads="1"/>
          </p:cNvSpPr>
          <p:nvPr/>
        </p:nvSpPr>
        <p:spPr bwMode="auto">
          <a:xfrm>
            <a:off x="537845" y="1646555"/>
            <a:ext cx="6628130" cy="1850520"/>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strOne="a123"</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strTwo="a 456"</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strOne.isalnum() # 返回trun</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strTwo.isalnum() # 返回false ，因为包含空格</a:t>
            </a:r>
            <a:endParaRPr lang="en-US" altLang="zh-CN" sz="1600" dirty="0">
              <a:latin typeface="+mn-ea"/>
              <a:ea typeface="+mn-ea"/>
            </a:endParaRPr>
          </a:p>
        </p:txBody>
      </p:sp>
      <p:sp>
        <p:nvSpPr>
          <p:cNvPr id="4" name="矩形 3"/>
          <p:cNvSpPr/>
          <p:nvPr/>
        </p:nvSpPr>
        <p:spPr>
          <a:xfrm>
            <a:off x="251520" y="751359"/>
            <a:ext cx="7200800" cy="398780"/>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ea typeface="+mn-ea"/>
              </a:rPr>
              <a:t>Isalnum() </a:t>
            </a:r>
            <a:r>
              <a:rPr lang="zh-CN" altLang="en-US" sz="2000" dirty="0">
                <a:solidFill>
                  <a:srgbClr val="0070C0"/>
                </a:solidFill>
                <a:latin typeface="+mn-ea"/>
                <a:ea typeface="+mn-ea"/>
              </a:rPr>
              <a:t>判断字符串中是否只包含数字或字母</a:t>
            </a:r>
            <a:endParaRPr lang="en-US" altLang="zh-CN" sz="2000" dirty="0">
              <a:solidFill>
                <a:srgbClr val="0070C0"/>
              </a:solidFill>
              <a:latin typeface="+mn-ea"/>
              <a:ea typeface="+mn-ea"/>
            </a:endParaRPr>
          </a:p>
        </p:txBody>
      </p:sp>
      <p:sp>
        <p:nvSpPr>
          <p:cNvPr id="9" name="矩形 8"/>
          <p:cNvSpPr/>
          <p:nvPr/>
        </p:nvSpPr>
        <p:spPr>
          <a:xfrm>
            <a:off x="251520" y="3908579"/>
            <a:ext cx="7200800" cy="706755"/>
          </a:xfrm>
          <a:prstGeom prst="rect">
            <a:avLst/>
          </a:prstGeom>
        </p:spPr>
        <p:txBody>
          <a:bodyPr wrap="square">
            <a:spAutoFit/>
          </a:bodyPr>
          <a:lstStyle/>
          <a:p>
            <a:pPr marL="342900" indent="-342900" algn="l">
              <a:spcAft>
                <a:spcPts val="0"/>
              </a:spcAft>
              <a:buFont typeface="Wingdings" panose="05000000000000000000" charset="0"/>
              <a:buChar char="n"/>
            </a:pPr>
            <a:r>
              <a:rPr sz="2000" dirty="0">
                <a:solidFill>
                  <a:srgbClr val="0070C0"/>
                </a:solidFill>
                <a:latin typeface="+mn-ea"/>
                <a:ea typeface="+mn-ea"/>
              </a:rPr>
              <a:t>用处：可以用于判断密码，一般情况下密码不能输入汉字或空格。</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4"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sym typeface="+mn-ea"/>
              </a:rPr>
              <a:t>字符串常用方法</a:t>
            </a:r>
            <a:endParaRPr lang="en-US" altLang="zh-CN" dirty="0"/>
          </a:p>
        </p:txBody>
      </p:sp>
      <p:sp>
        <p:nvSpPr>
          <p:cNvPr id="5" name="AutoShape 3"/>
          <p:cNvSpPr>
            <a:spLocks noChangeArrowheads="1"/>
          </p:cNvSpPr>
          <p:nvPr/>
        </p:nvSpPr>
        <p:spPr bwMode="auto">
          <a:xfrm>
            <a:off x="537845" y="1646555"/>
            <a:ext cx="6628130" cy="1847240"/>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 "</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strOne="早上好！"</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str.isspace() # 返回trun</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strOne.isspace #返回false</a:t>
            </a:r>
          </a:p>
        </p:txBody>
      </p:sp>
      <p:sp>
        <p:nvSpPr>
          <p:cNvPr id="4" name="矩形 3"/>
          <p:cNvSpPr/>
          <p:nvPr/>
        </p:nvSpPr>
        <p:spPr>
          <a:xfrm>
            <a:off x="251460" y="751205"/>
            <a:ext cx="8713470" cy="398780"/>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ea typeface="+mn-ea"/>
              </a:rPr>
              <a:t>isspace() </a:t>
            </a:r>
            <a:r>
              <a:rPr lang="zh-CN" altLang="en-US" sz="2000" dirty="0">
                <a:solidFill>
                  <a:srgbClr val="0070C0"/>
                </a:solidFill>
                <a:latin typeface="+mn-ea"/>
                <a:ea typeface="+mn-ea"/>
              </a:rPr>
              <a:t>判断字符串中是否只包含空格，如果有返回Trun反之返回False</a:t>
            </a:r>
          </a:p>
        </p:txBody>
      </p:sp>
      <p:sp>
        <p:nvSpPr>
          <p:cNvPr id="9" name="矩形 8"/>
          <p:cNvSpPr/>
          <p:nvPr/>
        </p:nvSpPr>
        <p:spPr>
          <a:xfrm>
            <a:off x="251460" y="3908425"/>
            <a:ext cx="8583295" cy="398780"/>
          </a:xfrm>
          <a:prstGeom prst="rect">
            <a:avLst/>
          </a:prstGeom>
        </p:spPr>
        <p:txBody>
          <a:bodyPr wrap="square">
            <a:spAutoFit/>
          </a:bodyPr>
          <a:lstStyle/>
          <a:p>
            <a:pPr marL="342900" indent="-342900" algn="l">
              <a:spcAft>
                <a:spcPts val="0"/>
              </a:spcAft>
              <a:buFont typeface="Wingdings" panose="05000000000000000000" charset="0"/>
              <a:buChar char="n"/>
            </a:pPr>
            <a:r>
              <a:rPr sz="2000" dirty="0">
                <a:solidFill>
                  <a:srgbClr val="0070C0"/>
                </a:solidFill>
                <a:latin typeface="+mn-ea"/>
                <a:ea typeface="+mn-ea"/>
              </a:rPr>
              <a:t>用处：判断非空验证。</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4"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课堂编程</a:t>
            </a:r>
          </a:p>
        </p:txBody>
      </p:sp>
      <p:sp>
        <p:nvSpPr>
          <p:cNvPr id="12" name="AutoShape 17"/>
          <p:cNvSpPr>
            <a:spLocks noChangeArrowheads="1"/>
          </p:cNvSpPr>
          <p:nvPr/>
        </p:nvSpPr>
        <p:spPr bwMode="auto">
          <a:xfrm>
            <a:off x="3231573" y="4227934"/>
            <a:ext cx="2733607" cy="373663"/>
          </a:xfrm>
          <a:prstGeom prst="wedgeRoundRectCallout">
            <a:avLst>
              <a:gd name="adj1" fmla="val -30079"/>
              <a:gd name="adj2" fmla="val -52764"/>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ctr">
            <a:spAutoFit/>
          </a:bodyPr>
          <a:lstStyle/>
          <a:p>
            <a:pPr marL="0" lvl="1" indent="457200" eaLnBrk="0" hangingPunct="0">
              <a:buClr>
                <a:srgbClr val="233DA9"/>
              </a:buClr>
              <a:buSzPct val="80000"/>
            </a:pPr>
            <a:r>
              <a:rPr lang="zh-CN" altLang="en-US" sz="1600" dirty="0">
                <a:solidFill>
                  <a:schemeClr val="bg1"/>
                </a:solidFill>
              </a:rPr>
              <a:t>完成时间</a:t>
            </a:r>
            <a:r>
              <a:rPr lang="zh-CN" altLang="en-US" sz="1600" dirty="0">
                <a:solidFill>
                  <a:schemeClr val="bg1"/>
                </a:solidFill>
                <a:latin typeface="Arial" panose="020B0604020202020204" pitchFamily="34" charset="0"/>
                <a:ea typeface="黑体" panose="02010609060101010101" pitchFamily="2" charset="-122"/>
              </a:rPr>
              <a:t>：</a:t>
            </a:r>
            <a:r>
              <a:rPr lang="en-US" altLang="zh-CN" sz="1600" dirty="0">
                <a:solidFill>
                  <a:schemeClr val="bg1"/>
                </a:solidFill>
                <a:latin typeface="Arial" panose="020B0604020202020204" pitchFamily="34" charset="0"/>
                <a:ea typeface="黑体" panose="02010609060101010101" pitchFamily="2" charset="-122"/>
              </a:rPr>
              <a:t>10</a:t>
            </a:r>
            <a:r>
              <a:rPr lang="zh-CN" altLang="en-US" sz="1600" dirty="0">
                <a:solidFill>
                  <a:schemeClr val="bg1"/>
                </a:solidFill>
              </a:rPr>
              <a:t>分钟</a:t>
            </a:r>
            <a:endParaRPr lang="zh-CN" altLang="en-US" sz="1600" dirty="0">
              <a:solidFill>
                <a:schemeClr val="bg1"/>
              </a:solidFill>
              <a:latin typeface="Arial" panose="020B0604020202020204" pitchFamily="34" charset="0"/>
              <a:ea typeface="黑体" panose="02010609060101010101" pitchFamily="2" charset="-122"/>
            </a:endParaRPr>
          </a:p>
        </p:txBody>
      </p:sp>
      <p:sp>
        <p:nvSpPr>
          <p:cNvPr id="11" name="内容占位符 5"/>
          <p:cNvSpPr txBox="1"/>
          <p:nvPr/>
        </p:nvSpPr>
        <p:spPr>
          <a:xfrm>
            <a:off x="529824" y="912267"/>
            <a:ext cx="8138253" cy="1872208"/>
          </a:xfrm>
          <a:prstGeom prst="rect">
            <a:avLst/>
          </a:prstGeom>
        </p:spPr>
        <p:txBody>
          <a:bodyPr/>
          <a:lstStyle>
            <a:lvl1pPr marL="227330" indent="-227330" algn="l" rtl="0" eaLnBrk="0" fontAlgn="base" hangingPunct="0">
              <a:lnSpc>
                <a:spcPts val="2500"/>
              </a:lnSpc>
              <a:spcBef>
                <a:spcPts val="1000"/>
              </a:spcBef>
              <a:spcAft>
                <a:spcPct val="0"/>
              </a:spcAft>
              <a:buSzPct val="100000"/>
              <a:buFont typeface="Wingdings" panose="05000000000000000000" pitchFamily="2" charset="2"/>
              <a:buChar char="n"/>
              <a:defRPr sz="2000" b="0" kern="1200">
                <a:solidFill>
                  <a:schemeClr val="tx1">
                    <a:lumMod val="75000"/>
                    <a:lumOff val="25000"/>
                  </a:schemeClr>
                </a:solidFill>
                <a:latin typeface="+mn-ea"/>
                <a:ea typeface="+mn-ea"/>
                <a:cs typeface="+mn-cs"/>
                <a:sym typeface="Calibri" panose="020F0502020204030204" pitchFamily="34" charset="0"/>
              </a:defRPr>
            </a:lvl1pPr>
            <a:lvl2pPr marL="684530" indent="-227330" algn="l" rtl="0" eaLnBrk="0" fontAlgn="base" hangingPunct="0">
              <a:lnSpc>
                <a:spcPts val="2500"/>
              </a:lnSpc>
              <a:spcBef>
                <a:spcPts val="500"/>
              </a:spcBef>
              <a:spcAft>
                <a:spcPct val="0"/>
              </a:spcAft>
              <a:buSzPct val="100000"/>
              <a:buFont typeface="Wingdings" panose="05000000000000000000" pitchFamily="2" charset="2"/>
              <a:buChar char="u"/>
              <a:defRPr sz="1600" b="0" kern="1200">
                <a:solidFill>
                  <a:schemeClr val="tx1">
                    <a:lumMod val="75000"/>
                    <a:lumOff val="25000"/>
                  </a:schemeClr>
                </a:solidFill>
                <a:latin typeface="+mn-ea"/>
                <a:ea typeface="+mn-ea"/>
                <a:cs typeface="+mn-cs"/>
                <a:sym typeface="Calibri" panose="020F0502020204030204" pitchFamily="34" charset="0"/>
              </a:defRPr>
            </a:lvl2pPr>
            <a:lvl3pPr marL="1141730" indent="-227330" algn="l" rtl="0" eaLnBrk="0" fontAlgn="base" hangingPunct="0">
              <a:lnSpc>
                <a:spcPts val="2500"/>
              </a:lnSpc>
              <a:spcBef>
                <a:spcPts val="500"/>
              </a:spcBef>
              <a:spcAft>
                <a:spcPct val="0"/>
              </a:spcAft>
              <a:buClr>
                <a:srgbClr val="0E9CDE"/>
              </a:buClr>
              <a:buSzPct val="85000"/>
              <a:buFont typeface="Wingdings" panose="05000000000000000000" pitchFamily="2" charset="2"/>
              <a:buChar char="Ø"/>
              <a:defRPr sz="1400" b="0" kern="1200">
                <a:solidFill>
                  <a:schemeClr val="tx1">
                    <a:lumMod val="75000"/>
                    <a:lumOff val="25000"/>
                  </a:schemeClr>
                </a:solidFill>
                <a:latin typeface="+mn-ea"/>
                <a:ea typeface="+mn-ea"/>
                <a:cs typeface="+mn-cs"/>
                <a:sym typeface="Calibri" panose="020F0502020204030204" pitchFamily="34" charset="0"/>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sz="1800" b="1" kern="1200">
                <a:solidFill>
                  <a:schemeClr val="tx1"/>
                </a:solidFill>
                <a:latin typeface="+mn-lt"/>
                <a:ea typeface="+mn-ea"/>
                <a:cs typeface="+mn-cs"/>
                <a:sym typeface="Calibri" panose="020F0502020204030204" pitchFamily="34" charset="0"/>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sz="1600" b="1" kern="1200">
                <a:solidFill>
                  <a:schemeClr val="tx1"/>
                </a:solidFill>
                <a:latin typeface="+mn-lt"/>
                <a:ea typeface="+mn-ea"/>
                <a:cs typeface="+mn-cs"/>
                <a:sym typeface="Calibri" panose="020F0502020204030204" pitchFamily="34" charset="0"/>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solidFill>
                  <a:srgbClr val="0070C0"/>
                </a:solidFill>
              </a:rPr>
              <a:t>输入两个字符串，从第一个字符串中删除第二个字符串中所有字符。</a:t>
            </a:r>
          </a:p>
          <a:p>
            <a:pPr marL="0" indent="0">
              <a:buNone/>
            </a:pPr>
            <a:r>
              <a:rPr lang="en-US" altLang="zh-CN" dirty="0">
                <a:solidFill>
                  <a:srgbClr val="0070C0"/>
                </a:solidFill>
              </a:rPr>
              <a:t>例如：输入"abcde"和"be"</a:t>
            </a:r>
          </a:p>
          <a:p>
            <a:pPr marL="0" indent="0">
              <a:buNone/>
            </a:pPr>
            <a:r>
              <a:rPr lang="en-US" altLang="zh-CN" dirty="0">
                <a:solidFill>
                  <a:srgbClr val="0070C0"/>
                </a:solidFill>
              </a:rPr>
              <a:t>字符串变为“acd”</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标题 17"/>
          <p:cNvSpPr>
            <a:spLocks noGrp="1"/>
          </p:cNvSpPr>
          <p:nvPr>
            <p:ph type="title"/>
          </p:nvPr>
        </p:nvSpPr>
        <p:spPr>
          <a:xfrm>
            <a:off x="2195739" y="141482"/>
            <a:ext cx="6768877" cy="368300"/>
          </a:xfrm>
        </p:spPr>
        <p:txBody>
          <a:bodyPr/>
          <a:lstStyle/>
          <a:p>
            <a:pPr>
              <a:defRPr/>
            </a:pPr>
            <a:r>
              <a:rPr lang="zh-CN" altLang="en-US" dirty="0"/>
              <a:t>课堂</a:t>
            </a:r>
            <a:r>
              <a:rPr lang="zh-CN" dirty="0"/>
              <a:t>小结</a:t>
            </a:r>
          </a:p>
        </p:txBody>
      </p:sp>
      <p:sp>
        <p:nvSpPr>
          <p:cNvPr id="24578" name="Text Box 2"/>
          <p:cNvSpPr txBox="1">
            <a:spLocks noChangeArrowheads="1"/>
          </p:cNvSpPr>
          <p:nvPr/>
        </p:nvSpPr>
        <p:spPr bwMode="auto">
          <a:xfrm>
            <a:off x="8605521" y="812006"/>
            <a:ext cx="30988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fontAlgn="b" hangingPunct="1"/>
            <a:endParaRPr lang="zh-CN" altLang="en-US" sz="4400" b="1">
              <a:solidFill>
                <a:schemeClr val="tx2"/>
              </a:solidFill>
              <a:latin typeface="Tahoma" panose="020B0604030504040204" pitchFamily="34" charset="0"/>
              <a:cs typeface="Times New Roman" panose="02020603050405020304" pitchFamily="18" charset="0"/>
            </a:endParaRPr>
          </a:p>
        </p:txBody>
      </p:sp>
      <p:sp>
        <p:nvSpPr>
          <p:cNvPr id="5"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 name="内容占位符 5"/>
          <p:cNvSpPr>
            <a:spLocks noGrp="1"/>
          </p:cNvSpPr>
          <p:nvPr>
            <p:ph idx="1"/>
          </p:nvPr>
        </p:nvSpPr>
        <p:spPr>
          <a:xfrm>
            <a:off x="322179" y="699542"/>
            <a:ext cx="6986125" cy="2592288"/>
          </a:xfrm>
        </p:spPr>
        <p:txBody>
          <a:bodyPr/>
          <a:lstStyle/>
          <a:p>
            <a:pPr marL="0" indent="0">
              <a:buNone/>
            </a:pPr>
            <a:endParaRPr lang="en-US" altLang="zh-CN" b="1" dirty="0">
              <a:solidFill>
                <a:srgbClr val="0070C0"/>
              </a:solidFill>
            </a:endParaRPr>
          </a:p>
          <a:p>
            <a:r>
              <a:rPr lang="zh-CN" altLang="en-US" dirty="0">
                <a:solidFill>
                  <a:schemeClr val="tx1"/>
                </a:solidFill>
              </a:rPr>
              <a:t>替换的功能的方法？</a:t>
            </a:r>
            <a:endParaRPr lang="en-US" altLang="zh-CN" b="1" dirty="0">
              <a:solidFill>
                <a:srgbClr val="0070C0"/>
              </a:solidFill>
            </a:endParaRPr>
          </a:p>
          <a:p>
            <a:r>
              <a:rPr lang="zh-CN" altLang="zh-CN" dirty="0">
                <a:solidFill>
                  <a:schemeClr val="tx1"/>
                </a:solidFill>
              </a:rPr>
              <a:t>实现统计字符串</a:t>
            </a:r>
            <a:r>
              <a:rPr lang="zh-CN" altLang="en-US" dirty="0">
                <a:solidFill>
                  <a:schemeClr val="tx1"/>
                </a:solidFill>
              </a:rPr>
              <a:t>中</a:t>
            </a:r>
            <a:r>
              <a:rPr lang="zh-CN" altLang="zh-CN" dirty="0">
                <a:solidFill>
                  <a:schemeClr val="tx1"/>
                </a:solidFill>
              </a:rPr>
              <a:t>单词个数用到的方法？</a:t>
            </a:r>
            <a:endParaRPr lang="en-US" altLang="zh-CN" dirty="0">
              <a:solidFill>
                <a:schemeClr val="tx1"/>
              </a:solidFill>
            </a:endParaRPr>
          </a:p>
          <a:p>
            <a:r>
              <a:rPr lang="zh-CN" altLang="en-US" dirty="0">
                <a:solidFill>
                  <a:schemeClr val="tx1"/>
                </a:solidFill>
              </a:rPr>
              <a:t>如何判断字符串是否为纯英文或是数字</a:t>
            </a:r>
            <a:endParaRPr lang="en-US" altLang="zh-CN" dirty="0">
              <a:solidFill>
                <a:schemeClr val="tx1"/>
              </a:solidFill>
            </a:endParaRPr>
          </a:p>
          <a:p>
            <a:r>
              <a:rPr lang="zh-CN" altLang="en-US" dirty="0">
                <a:solidFill>
                  <a:schemeClr val="tx1"/>
                </a:solidFill>
              </a:rPr>
              <a:t>如何判断字符串是否全部为大写或是小写</a:t>
            </a:r>
            <a:endParaRPr lang="zh-CN" altLang="zh-CN" dirty="0">
              <a:solidFill>
                <a:schemeClr val="tx1"/>
              </a:solidFill>
            </a:endParaRPr>
          </a:p>
          <a:p>
            <a:endParaRPr lang="en-US" altLang="zh-CN"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252538"/>
            <a:ext cx="7772400" cy="1103313"/>
          </a:xfrm>
        </p:spPr>
        <p:txBody>
          <a:bodyPr anchor="ctr">
            <a:normAutofit/>
          </a:bodyPr>
          <a:lstStyle/>
          <a:p>
            <a:pPr fontAlgn="base"/>
            <a:r>
              <a:rPr lang="zh-CN" altLang="en-US" strike="noStrike" noProof="1"/>
              <a:t>第</a:t>
            </a:r>
            <a:r>
              <a:rPr lang="zh-CN" altLang="en-US" noProof="1"/>
              <a:t>二</a:t>
            </a:r>
            <a:r>
              <a:rPr lang="zh-CN" altLang="en-US" strike="noStrike" noProof="1"/>
              <a:t>课时</a:t>
            </a:r>
          </a:p>
        </p:txBody>
      </p:sp>
      <p:sp>
        <p:nvSpPr>
          <p:cNvPr id="3" name="副标题 2"/>
          <p:cNvSpPr>
            <a:spLocks noGrp="1"/>
          </p:cNvSpPr>
          <p:nvPr>
            <p:ph type="subTitle" idx="1"/>
          </p:nvPr>
        </p:nvSpPr>
        <p:spPr/>
        <p:txBody>
          <a:bodyPr/>
          <a:lstStyle/>
          <a:p>
            <a:r>
              <a:rPr lang="zh-CN" altLang="en-US" dirty="0"/>
              <a:t>字符串案例一</a:t>
            </a:r>
          </a:p>
        </p:txBody>
      </p:sp>
    </p:spTree>
  </p:cSld>
  <p:clrMapOvr>
    <a:masterClrMapping/>
  </p:clrMapOvr>
  <p:transition spd="slow" advTm="964"/>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latin typeface="+mn-ea"/>
                <a:ea typeface="+mn-ea"/>
              </a:rPr>
              <a:t>贯穿案例</a:t>
            </a:r>
          </a:p>
        </p:txBody>
      </p:sp>
      <p:sp>
        <p:nvSpPr>
          <p:cNvPr id="3" name="内容占位符 2"/>
          <p:cNvSpPr>
            <a:spLocks noGrp="1"/>
          </p:cNvSpPr>
          <p:nvPr>
            <p:ph idx="1"/>
          </p:nvPr>
        </p:nvSpPr>
        <p:spPr/>
        <p:txBody>
          <a:bodyPr/>
          <a:lstStyle/>
          <a:p>
            <a:r>
              <a:rPr lang="zh-CN" altLang="en-US" dirty="0">
                <a:solidFill>
                  <a:srgbClr val="0070C0"/>
                </a:solidFill>
              </a:rPr>
              <a:t>需求说明</a:t>
            </a:r>
            <a:endParaRPr lang="en-US" altLang="zh-CN" dirty="0">
              <a:solidFill>
                <a:srgbClr val="0070C0"/>
              </a:solidFill>
            </a:endParaRPr>
          </a:p>
          <a:p>
            <a:pPr lvl="1"/>
            <a:r>
              <a:rPr lang="zh-CN" altLang="en-US" dirty="0">
                <a:solidFill>
                  <a:schemeClr val="tx1"/>
                </a:solidFill>
              </a:rPr>
              <a:t>设计字符分类系统</a:t>
            </a:r>
            <a:endParaRPr lang="en-US" altLang="zh-CN" dirty="0">
              <a:solidFill>
                <a:schemeClr val="tx1"/>
              </a:solidFill>
            </a:endParaRPr>
          </a:p>
          <a:p>
            <a:pPr lvl="1"/>
            <a:r>
              <a:rPr lang="zh-CN" altLang="en-US" dirty="0">
                <a:solidFill>
                  <a:schemeClr val="tx1"/>
                </a:solidFill>
              </a:rPr>
              <a:t>将该字符中的数字、大写、小写以及其他字</a:t>
            </a:r>
            <a:endParaRPr lang="en-US" altLang="zh-CN" dirty="0">
              <a:solidFill>
                <a:schemeClr val="tx1"/>
              </a:solidFill>
            </a:endParaRPr>
          </a:p>
          <a:p>
            <a:pPr marL="457200" lvl="1" indent="0">
              <a:buNone/>
            </a:pPr>
            <a:r>
              <a:rPr lang="en-US" altLang="zh-CN" dirty="0">
                <a:solidFill>
                  <a:schemeClr val="tx1"/>
                </a:solidFill>
              </a:rPr>
              <a:t>    </a:t>
            </a:r>
            <a:r>
              <a:rPr lang="zh-CN" altLang="en-US" dirty="0">
                <a:solidFill>
                  <a:schemeClr val="tx1"/>
                </a:solidFill>
              </a:rPr>
              <a:t>符分类</a:t>
            </a:r>
            <a:endParaRPr lang="en-US" altLang="zh-CN" dirty="0">
              <a:solidFill>
                <a:srgbClr val="FF0000"/>
              </a:solidFill>
            </a:endParaRPr>
          </a:p>
          <a:p>
            <a:pPr marL="0" indent="0">
              <a:buNone/>
            </a:pPr>
            <a:r>
              <a:rPr lang="zh-CN" altLang="en-US" dirty="0"/>
              <a:t>   </a:t>
            </a:r>
          </a:p>
        </p:txBody>
      </p:sp>
      <p:sp>
        <p:nvSpPr>
          <p:cNvPr id="5"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 name="AutoShape 3"/>
          <p:cNvSpPr>
            <a:spLocks noChangeArrowheads="1"/>
          </p:cNvSpPr>
          <p:nvPr/>
        </p:nvSpPr>
        <p:spPr bwMode="auto">
          <a:xfrm>
            <a:off x="971600" y="2355726"/>
            <a:ext cx="3888432" cy="2585323"/>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str = 'We always knew our daughter Kendall was going be a performer of some sort. She entertained people in our small town by putting on shows on our front porch when she was only three or four. Blonde-haired, blue-eyed, and beautiful, she sang like a little angel and mesmerized1 everyone.‘</a:t>
            </a:r>
          </a:p>
        </p:txBody>
      </p:sp>
      <p:pic>
        <p:nvPicPr>
          <p:cNvPr id="7"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36096" y="1419622"/>
            <a:ext cx="3532250"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5076056" y="771550"/>
            <a:ext cx="2079848" cy="495672"/>
          </a:xfrm>
          <a:prstGeom prst="rect">
            <a:avLst/>
          </a:prstGeom>
        </p:spPr>
        <p:txBody>
          <a:bodyPr/>
          <a:lstStyle>
            <a:lvl1pPr marL="227330" indent="-227330" algn="l" rtl="0" eaLnBrk="0" fontAlgn="base" hangingPunct="0">
              <a:lnSpc>
                <a:spcPts val="2500"/>
              </a:lnSpc>
              <a:spcBef>
                <a:spcPts val="1000"/>
              </a:spcBef>
              <a:spcAft>
                <a:spcPct val="0"/>
              </a:spcAft>
              <a:buSzPct val="100000"/>
              <a:buFont typeface="Wingdings" panose="05000000000000000000" pitchFamily="2" charset="2"/>
              <a:buChar char="n"/>
              <a:defRPr sz="2000" b="0" kern="1200">
                <a:solidFill>
                  <a:schemeClr val="tx1">
                    <a:lumMod val="75000"/>
                    <a:lumOff val="25000"/>
                  </a:schemeClr>
                </a:solidFill>
                <a:latin typeface="+mn-ea"/>
                <a:ea typeface="+mn-ea"/>
                <a:cs typeface="+mn-cs"/>
                <a:sym typeface="Calibri" panose="020F0502020204030204" pitchFamily="34" charset="0"/>
              </a:defRPr>
            </a:lvl1pPr>
            <a:lvl2pPr marL="684530" indent="-227330" algn="l" rtl="0" eaLnBrk="0" fontAlgn="base" hangingPunct="0">
              <a:lnSpc>
                <a:spcPts val="2500"/>
              </a:lnSpc>
              <a:spcBef>
                <a:spcPts val="500"/>
              </a:spcBef>
              <a:spcAft>
                <a:spcPct val="0"/>
              </a:spcAft>
              <a:buSzPct val="100000"/>
              <a:buFont typeface="Wingdings" panose="05000000000000000000" pitchFamily="2" charset="2"/>
              <a:buChar char="u"/>
              <a:defRPr sz="1600" b="0" kern="1200">
                <a:solidFill>
                  <a:schemeClr val="tx1">
                    <a:lumMod val="75000"/>
                    <a:lumOff val="25000"/>
                  </a:schemeClr>
                </a:solidFill>
                <a:latin typeface="+mn-ea"/>
                <a:ea typeface="+mn-ea"/>
                <a:cs typeface="+mn-cs"/>
                <a:sym typeface="Calibri" panose="020F0502020204030204" pitchFamily="34" charset="0"/>
              </a:defRPr>
            </a:lvl2pPr>
            <a:lvl3pPr marL="1141730" indent="-227330" algn="l" rtl="0" eaLnBrk="0" fontAlgn="base" hangingPunct="0">
              <a:lnSpc>
                <a:spcPts val="2500"/>
              </a:lnSpc>
              <a:spcBef>
                <a:spcPts val="500"/>
              </a:spcBef>
              <a:spcAft>
                <a:spcPct val="0"/>
              </a:spcAft>
              <a:buClr>
                <a:srgbClr val="0E9CDE"/>
              </a:buClr>
              <a:buSzPct val="85000"/>
              <a:buFont typeface="Wingdings" panose="05000000000000000000" pitchFamily="2" charset="2"/>
              <a:buChar char="Ø"/>
              <a:defRPr sz="1400" b="0" kern="1200">
                <a:solidFill>
                  <a:schemeClr val="tx1">
                    <a:lumMod val="75000"/>
                    <a:lumOff val="25000"/>
                  </a:schemeClr>
                </a:solidFill>
                <a:latin typeface="+mn-ea"/>
                <a:ea typeface="+mn-ea"/>
                <a:cs typeface="+mn-cs"/>
                <a:sym typeface="Calibri" panose="020F0502020204030204" pitchFamily="34" charset="0"/>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sz="1800" b="1" kern="1200">
                <a:solidFill>
                  <a:schemeClr val="tx1"/>
                </a:solidFill>
                <a:latin typeface="+mn-lt"/>
                <a:ea typeface="+mn-ea"/>
                <a:cs typeface="+mn-cs"/>
                <a:sym typeface="Calibri" panose="020F0502020204030204" pitchFamily="34" charset="0"/>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sz="1600" b="1" kern="1200">
                <a:solidFill>
                  <a:schemeClr val="tx1"/>
                </a:solidFill>
                <a:latin typeface="+mn-lt"/>
                <a:ea typeface="+mn-ea"/>
                <a:cs typeface="+mn-cs"/>
                <a:sym typeface="Calibri" panose="020F0502020204030204" pitchFamily="34" charset="0"/>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0070C0"/>
                </a:solidFill>
              </a:rPr>
              <a:t>运行效果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 calcmode="lin" valueType="num">
                                      <p:cBhvr additive="base">
                                        <p:cTn id="35"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1000"/>
                                        <p:tgtEl>
                                          <p:spTgt spid="7"/>
                                        </p:tgtEl>
                                      </p:cBhvr>
                                    </p:animEffect>
                                    <p:anim calcmode="lin" valueType="num">
                                      <p:cBhvr>
                                        <p:cTn id="42" dur="1000" fill="hold"/>
                                        <p:tgtEl>
                                          <p:spTgt spid="7"/>
                                        </p:tgtEl>
                                        <p:attrNameLst>
                                          <p:attrName>ppt_x</p:attrName>
                                        </p:attrNameLst>
                                      </p:cBhvr>
                                      <p:tavLst>
                                        <p:tav tm="0">
                                          <p:val>
                                            <p:strVal val="#ppt_x"/>
                                          </p:val>
                                        </p:tav>
                                        <p:tav tm="100000">
                                          <p:val>
                                            <p:strVal val="#ppt_x"/>
                                          </p:val>
                                        </p:tav>
                                      </p:tavLst>
                                    </p:anim>
                                    <p:anim calcmode="lin" valueType="num">
                                      <p:cBhvr>
                                        <p:cTn id="4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2250349" y="133227"/>
            <a:ext cx="6768877" cy="369332"/>
          </a:xfrm>
        </p:spPr>
        <p:txBody>
          <a:bodyPr/>
          <a:lstStyle/>
          <a:p>
            <a:r>
              <a:rPr lang="zh-CN" altLang="en-US" dirty="0">
                <a:latin typeface="+mn-ea"/>
                <a:ea typeface="+mn-ea"/>
              </a:rPr>
              <a:t>贯穿案例</a:t>
            </a:r>
          </a:p>
        </p:txBody>
      </p:sp>
      <p:sp>
        <p:nvSpPr>
          <p:cNvPr id="5" name="椭圆 1"/>
          <p:cNvSpPr>
            <a:spLocks noChangeArrowheads="1"/>
          </p:cNvSpPr>
          <p:nvPr/>
        </p:nvSpPr>
        <p:spPr bwMode="auto">
          <a:xfrm>
            <a:off x="304800" y="1498590"/>
            <a:ext cx="1631315" cy="1539240"/>
          </a:xfrm>
          <a:custGeom>
            <a:avLst/>
            <a:gdLst>
              <a:gd name="T0" fmla="*/ 0 w 1751265"/>
              <a:gd name="T1" fmla="*/ 0 h 1872208"/>
              <a:gd name="T2" fmla="*/ 1751265 w 1751265"/>
              <a:gd name="T3" fmla="*/ 1872208 h 1872208"/>
            </a:gdLst>
            <a:ahLst/>
            <a:cxnLst/>
            <a:rect l="T0" t="T1" r="T2" b="T3"/>
            <a:pathLst>
              <a:path w="1751265" h="1872208">
                <a:moveTo>
                  <a:pt x="936104" y="0"/>
                </a:moveTo>
                <a:cubicBezTo>
                  <a:pt x="1286069" y="0"/>
                  <a:pt x="1591179" y="192044"/>
                  <a:pt x="1751265" y="476797"/>
                </a:cubicBezTo>
                <a:cubicBezTo>
                  <a:pt x="1668191" y="615556"/>
                  <a:pt x="1621028" y="777971"/>
                  <a:pt x="1621028" y="951401"/>
                </a:cubicBezTo>
                <a:cubicBezTo>
                  <a:pt x="1621028" y="1118433"/>
                  <a:pt x="1664775" y="1275246"/>
                  <a:pt x="1741972" y="1410708"/>
                </a:cubicBezTo>
                <a:cubicBezTo>
                  <a:pt x="1580006" y="1687123"/>
                  <a:pt x="1279670" y="1872208"/>
                  <a:pt x="936104" y="1872208"/>
                </a:cubicBezTo>
                <a:cubicBezTo>
                  <a:pt x="419108" y="1872208"/>
                  <a:pt x="0" y="1453100"/>
                  <a:pt x="0" y="936104"/>
                </a:cubicBezTo>
                <a:cubicBezTo>
                  <a:pt x="0" y="419108"/>
                  <a:pt x="419108" y="0"/>
                  <a:pt x="936104" y="0"/>
                </a:cubicBezTo>
                <a:close/>
              </a:path>
            </a:pathLst>
          </a:custGeom>
          <a:solidFill>
            <a:srgbClr val="C00000"/>
          </a:solidFill>
          <a:ln w="25400">
            <a:solidFill>
              <a:srgbClr val="FF0000"/>
            </a:solidFill>
            <a:bevel/>
          </a:ln>
        </p:spPr>
        <p:txBody>
          <a:bodyPr anchor="ctr"/>
          <a:lstStyle/>
          <a:p>
            <a:pPr algn="ctr"/>
            <a:endParaRPr lang="zh-CN" altLang="zh-CN">
              <a:solidFill>
                <a:srgbClr val="FFFFFF"/>
              </a:solidFill>
              <a:latin typeface="+mn-ea"/>
              <a:ea typeface="+mn-ea"/>
              <a:sym typeface="宋体" panose="02010600030101010101" pitchFamily="2" charset="-122"/>
            </a:endParaRPr>
          </a:p>
        </p:txBody>
      </p:sp>
      <p:sp>
        <p:nvSpPr>
          <p:cNvPr id="3" name="TextBox 14"/>
          <p:cNvSpPr>
            <a:spLocks noChangeArrowheads="1"/>
          </p:cNvSpPr>
          <p:nvPr/>
        </p:nvSpPr>
        <p:spPr bwMode="auto">
          <a:xfrm>
            <a:off x="334645" y="1976110"/>
            <a:ext cx="160147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3200" b="1" dirty="0">
                <a:solidFill>
                  <a:schemeClr val="bg1"/>
                </a:solidFill>
                <a:latin typeface="+mn-ea"/>
                <a:ea typeface="+mn-ea"/>
                <a:sym typeface="方正兰亭粗黑_GBK" charset="-122"/>
              </a:rPr>
              <a:t>01</a:t>
            </a:r>
          </a:p>
        </p:txBody>
      </p:sp>
      <p:sp>
        <p:nvSpPr>
          <p:cNvPr id="4" name="文本框 3"/>
          <p:cNvSpPr txBox="1"/>
          <p:nvPr/>
        </p:nvSpPr>
        <p:spPr>
          <a:xfrm>
            <a:off x="2294538" y="2058402"/>
            <a:ext cx="4831720" cy="369332"/>
          </a:xfrm>
          <a:prstGeom prst="rect">
            <a:avLst/>
          </a:prstGeom>
          <a:noFill/>
        </p:spPr>
        <p:txBody>
          <a:bodyPr wrap="square" rtlCol="0">
            <a:spAutoFit/>
          </a:bodyPr>
          <a:lstStyle/>
          <a:p>
            <a:pPr algn="l"/>
            <a:r>
              <a:rPr lang="zh-CN" altLang="en-US" dirty="0">
                <a:latin typeface="+mn-ea"/>
                <a:ea typeface="+mn-ea"/>
              </a:rPr>
              <a:t>本案例是字符分类系统，不同字符分开存放</a:t>
            </a:r>
          </a:p>
        </p:txBody>
      </p:sp>
      <p:sp>
        <p:nvSpPr>
          <p:cNvPr id="10" name="椭圆 1"/>
          <p:cNvSpPr>
            <a:spLocks noChangeArrowheads="1"/>
          </p:cNvSpPr>
          <p:nvPr/>
        </p:nvSpPr>
        <p:spPr bwMode="auto">
          <a:xfrm>
            <a:off x="270129" y="3264758"/>
            <a:ext cx="1631315" cy="1539240"/>
          </a:xfrm>
          <a:custGeom>
            <a:avLst/>
            <a:gdLst>
              <a:gd name="T0" fmla="*/ 0 w 1751265"/>
              <a:gd name="T1" fmla="*/ 0 h 1872208"/>
              <a:gd name="T2" fmla="*/ 1751265 w 1751265"/>
              <a:gd name="T3" fmla="*/ 1872208 h 1872208"/>
            </a:gdLst>
            <a:ahLst/>
            <a:cxnLst/>
            <a:rect l="T0" t="T1" r="T2" b="T3"/>
            <a:pathLst>
              <a:path w="1751265" h="1872208">
                <a:moveTo>
                  <a:pt x="936104" y="0"/>
                </a:moveTo>
                <a:cubicBezTo>
                  <a:pt x="1286069" y="0"/>
                  <a:pt x="1591179" y="192044"/>
                  <a:pt x="1751265" y="476797"/>
                </a:cubicBezTo>
                <a:cubicBezTo>
                  <a:pt x="1668191" y="615556"/>
                  <a:pt x="1621028" y="777971"/>
                  <a:pt x="1621028" y="951401"/>
                </a:cubicBezTo>
                <a:cubicBezTo>
                  <a:pt x="1621028" y="1118433"/>
                  <a:pt x="1664775" y="1275246"/>
                  <a:pt x="1741972" y="1410708"/>
                </a:cubicBezTo>
                <a:cubicBezTo>
                  <a:pt x="1580006" y="1687123"/>
                  <a:pt x="1279670" y="1872208"/>
                  <a:pt x="936104" y="1872208"/>
                </a:cubicBezTo>
                <a:cubicBezTo>
                  <a:pt x="419108" y="1872208"/>
                  <a:pt x="0" y="1453100"/>
                  <a:pt x="0" y="936104"/>
                </a:cubicBezTo>
                <a:cubicBezTo>
                  <a:pt x="0" y="419108"/>
                  <a:pt x="419108" y="0"/>
                  <a:pt x="936104" y="0"/>
                </a:cubicBezTo>
                <a:close/>
              </a:path>
            </a:pathLst>
          </a:custGeom>
          <a:solidFill>
            <a:srgbClr val="F49022"/>
          </a:solidFill>
          <a:ln>
            <a:noFill/>
          </a:ln>
          <a:extLst>
            <a:ext uri="{91240B29-F687-4F45-9708-019B960494DF}">
              <a14:hiddenLine xmlns:a14="http://schemas.microsoft.com/office/drawing/2010/main" w="25400">
                <a:solidFill>
                  <a:srgbClr val="395E8A"/>
                </a:solidFill>
                <a:bevel/>
              </a14:hiddenLine>
            </a:ext>
          </a:extLst>
        </p:spPr>
        <p:txBody>
          <a:bodyPr anchor="ctr"/>
          <a:lstStyle/>
          <a:p>
            <a:pPr algn="ctr"/>
            <a:endParaRPr lang="zh-CN" altLang="zh-CN">
              <a:solidFill>
                <a:srgbClr val="FFFFFF"/>
              </a:solidFill>
              <a:latin typeface="+mn-ea"/>
              <a:ea typeface="+mn-ea"/>
              <a:sym typeface="宋体" panose="02010600030101010101" pitchFamily="2" charset="-122"/>
            </a:endParaRPr>
          </a:p>
        </p:txBody>
      </p:sp>
      <p:sp>
        <p:nvSpPr>
          <p:cNvPr id="11" name="AutoShape 9"/>
          <p:cNvSpPr>
            <a:spLocks noChangeArrowheads="1"/>
          </p:cNvSpPr>
          <p:nvPr/>
        </p:nvSpPr>
        <p:spPr bwMode="auto">
          <a:xfrm>
            <a:off x="4865167" y="3783077"/>
            <a:ext cx="3811289" cy="417561"/>
          </a:xfrm>
          <a:prstGeom prst="roundRect">
            <a:avLst>
              <a:gd name="adj" fmla="val 16667"/>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indent="-224155" algn="l" defTabSz="381000">
              <a:lnSpc>
                <a:spcPct val="15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rPr>
              <a:t>将给定的字符串使用字符串方法分开</a:t>
            </a:r>
          </a:p>
        </p:txBody>
      </p:sp>
      <p:sp>
        <p:nvSpPr>
          <p:cNvPr id="12" name="下箭头 11"/>
          <p:cNvSpPr/>
          <p:nvPr/>
        </p:nvSpPr>
        <p:spPr bwMode="auto">
          <a:xfrm rot="16020000">
            <a:off x="4227226" y="3829732"/>
            <a:ext cx="360040" cy="396715"/>
          </a:xfrm>
          <a:prstGeom prst="downArrow">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endParaRPr lang="zh-CN" altLang="en-US" sz="1400">
              <a:solidFill>
                <a:schemeClr val="bg1"/>
              </a:solidFill>
              <a:latin typeface="+mn-ea"/>
              <a:ea typeface="+mn-ea"/>
            </a:endParaRPr>
          </a:p>
        </p:txBody>
      </p:sp>
      <p:sp>
        <p:nvSpPr>
          <p:cNvPr id="13" name="TextBox 14"/>
          <p:cNvSpPr>
            <a:spLocks noChangeArrowheads="1"/>
          </p:cNvSpPr>
          <p:nvPr/>
        </p:nvSpPr>
        <p:spPr bwMode="auto">
          <a:xfrm>
            <a:off x="357759" y="3736563"/>
            <a:ext cx="160147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3200" b="1" dirty="0">
                <a:solidFill>
                  <a:schemeClr val="bg1"/>
                </a:solidFill>
                <a:latin typeface="+mn-ea"/>
                <a:ea typeface="+mn-ea"/>
                <a:sym typeface="方正兰亭粗黑_GBK" charset="-122"/>
              </a:rPr>
              <a:t>02</a:t>
            </a:r>
          </a:p>
        </p:txBody>
      </p:sp>
      <p:sp>
        <p:nvSpPr>
          <p:cNvPr id="14" name="文本框 3"/>
          <p:cNvSpPr txBox="1"/>
          <p:nvPr/>
        </p:nvSpPr>
        <p:spPr>
          <a:xfrm>
            <a:off x="2294538" y="3850228"/>
            <a:ext cx="1569661" cy="369332"/>
          </a:xfrm>
          <a:prstGeom prst="rect">
            <a:avLst/>
          </a:prstGeom>
          <a:noFill/>
        </p:spPr>
        <p:txBody>
          <a:bodyPr wrap="none" rtlCol="0">
            <a:spAutoFit/>
          </a:bodyPr>
          <a:lstStyle/>
          <a:p>
            <a:r>
              <a:rPr lang="zh-CN" altLang="en-US" dirty="0">
                <a:latin typeface="+mn-ea"/>
                <a:ea typeface="+mn-ea"/>
              </a:rPr>
              <a:t>案例如何实现</a:t>
            </a:r>
          </a:p>
        </p:txBody>
      </p:sp>
      <p:sp>
        <p:nvSpPr>
          <p:cNvPr id="16" name="内容占位符 5"/>
          <p:cNvSpPr>
            <a:spLocks noGrp="1"/>
          </p:cNvSpPr>
          <p:nvPr>
            <p:ph idx="1"/>
          </p:nvPr>
        </p:nvSpPr>
        <p:spPr>
          <a:xfrm>
            <a:off x="251520" y="854959"/>
            <a:ext cx="2577907" cy="635671"/>
          </a:xfrm>
        </p:spPr>
        <p:txBody>
          <a:bodyPr/>
          <a:lstStyle/>
          <a:p>
            <a:r>
              <a:rPr lang="zh-CN" altLang="en-US" dirty="0">
                <a:solidFill>
                  <a:srgbClr val="0070C0"/>
                </a:solidFill>
              </a:rPr>
              <a:t>案例需求分析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3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250" fill="hold"/>
                                        <p:tgtEl>
                                          <p:spTgt spid="5"/>
                                        </p:tgtEl>
                                        <p:attrNameLst>
                                          <p:attrName>ppt_w</p:attrName>
                                        </p:attrNameLst>
                                      </p:cBhvr>
                                      <p:tavLst>
                                        <p:tav tm="0">
                                          <p:val>
                                            <p:strVal val="4*#ppt_w"/>
                                          </p:val>
                                        </p:tav>
                                        <p:tav tm="100000">
                                          <p:val>
                                            <p:strVal val="#ppt_w"/>
                                          </p:val>
                                        </p:tav>
                                      </p:tavLst>
                                    </p:anim>
                                    <p:anim calcmode="lin" valueType="num">
                                      <p:cBhvr>
                                        <p:cTn id="14" dur="250" fill="hold"/>
                                        <p:tgtEl>
                                          <p:spTgt spid="5"/>
                                        </p:tgtEl>
                                        <p:attrNameLst>
                                          <p:attrName>ppt_h</p:attrName>
                                        </p:attrNameLst>
                                      </p:cBhvr>
                                      <p:tavLst>
                                        <p:tav tm="0">
                                          <p:val>
                                            <p:strVal val="4*#ppt_h"/>
                                          </p:val>
                                        </p:tav>
                                        <p:tav tm="100000">
                                          <p:val>
                                            <p:strVal val="#ppt_h"/>
                                          </p:val>
                                        </p:tav>
                                      </p:tavLst>
                                    </p:anim>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arn(inVertical)">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32"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250" fill="hold"/>
                                        <p:tgtEl>
                                          <p:spTgt spid="10"/>
                                        </p:tgtEl>
                                        <p:attrNameLst>
                                          <p:attrName>ppt_w</p:attrName>
                                        </p:attrNameLst>
                                      </p:cBhvr>
                                      <p:tavLst>
                                        <p:tav tm="0">
                                          <p:val>
                                            <p:strVal val="4*#ppt_w"/>
                                          </p:val>
                                        </p:tav>
                                        <p:tav tm="100000">
                                          <p:val>
                                            <p:strVal val="#ppt_w"/>
                                          </p:val>
                                        </p:tav>
                                      </p:tavLst>
                                    </p:anim>
                                    <p:anim calcmode="lin" valueType="num">
                                      <p:cBhvr>
                                        <p:cTn id="29" dur="250" fill="hold"/>
                                        <p:tgtEl>
                                          <p:spTgt spid="10"/>
                                        </p:tgtEl>
                                        <p:attrNameLst>
                                          <p:attrName>ppt_h</p:attrName>
                                        </p:attrNameLst>
                                      </p:cBhvr>
                                      <p:tavLst>
                                        <p:tav tm="0">
                                          <p:val>
                                            <p:strVal val="4*#ppt_h"/>
                                          </p:val>
                                        </p:tav>
                                        <p:tav tm="100000">
                                          <p:val>
                                            <p:strVal val="#ppt_h"/>
                                          </p:val>
                                        </p:tav>
                                      </p:tavLst>
                                    </p:anim>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ppt_x"/>
                                          </p:val>
                                        </p:tav>
                                        <p:tav tm="100000">
                                          <p:val>
                                            <p:strVal val="#ppt_x"/>
                                          </p:val>
                                        </p:tav>
                                      </p:tavLst>
                                    </p:anim>
                                    <p:anim calcmode="lin" valueType="num">
                                      <p:cBhvr additive="base">
                                        <p:cTn id="3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up)">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up)">
                                      <p:cBhvr>
                                        <p:cTn id="4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3" grpId="0" bldLvl="0" autoUpdateAnimBg="0"/>
      <p:bldP spid="4" grpId="0"/>
      <p:bldP spid="10" grpId="0" bldLvl="0" animBg="1" autoUpdateAnimBg="0"/>
      <p:bldP spid="11" grpId="0" bldLvl="0" animBg="1"/>
      <p:bldP spid="12" grpId="0" bldLvl="0" animBg="1"/>
      <p:bldP spid="13" grpId="0" bldLvl="0" autoUpdateAnimBg="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2250349" y="133227"/>
            <a:ext cx="6768877" cy="369332"/>
          </a:xfrm>
        </p:spPr>
        <p:txBody>
          <a:bodyPr/>
          <a:lstStyle/>
          <a:p>
            <a:r>
              <a:rPr lang="zh-CN" altLang="en-US" dirty="0">
                <a:latin typeface="+mn-ea"/>
              </a:rPr>
              <a:t>贯穿案例</a:t>
            </a:r>
            <a:endParaRPr lang="zh-CN" altLang="en-US" dirty="0">
              <a:latin typeface="+mn-ea"/>
              <a:ea typeface="+mn-ea"/>
            </a:endParaRPr>
          </a:p>
        </p:txBody>
      </p:sp>
      <p:sp>
        <p:nvSpPr>
          <p:cNvPr id="2" name="流程图: 资料带 1"/>
          <p:cNvSpPr/>
          <p:nvPr/>
        </p:nvSpPr>
        <p:spPr>
          <a:xfrm>
            <a:off x="3869055" y="2329934"/>
            <a:ext cx="1657350" cy="817880"/>
          </a:xfrm>
          <a:prstGeom prst="flowChartPunchedTap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dirty="0">
                <a:ln>
                  <a:noFill/>
                </a:ln>
                <a:solidFill>
                  <a:schemeClr val="tx1"/>
                </a:solidFill>
                <a:effectLst/>
                <a:latin typeface="+mn-ea"/>
                <a:ea typeface="+mn-ea"/>
              </a:rPr>
              <a:t>进行逻辑判断</a:t>
            </a:r>
          </a:p>
        </p:txBody>
      </p:sp>
      <p:sp>
        <p:nvSpPr>
          <p:cNvPr id="3" name="流程图: 过程 2"/>
          <p:cNvSpPr/>
          <p:nvPr/>
        </p:nvSpPr>
        <p:spPr>
          <a:xfrm>
            <a:off x="588645" y="2599814"/>
            <a:ext cx="1588770" cy="409575"/>
          </a:xfrm>
          <a:prstGeom prst="flowChartProcess">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dirty="0">
                <a:ln>
                  <a:noFill/>
                </a:ln>
                <a:solidFill>
                  <a:schemeClr val="tx1"/>
                </a:solidFill>
                <a:effectLst/>
                <a:latin typeface="+mn-ea"/>
                <a:ea typeface="+mn-ea"/>
              </a:rPr>
              <a:t>输入</a:t>
            </a:r>
            <a:r>
              <a:rPr lang="zh-CN" altLang="en-US" dirty="0">
                <a:latin typeface="+mn-ea"/>
                <a:ea typeface="+mn-ea"/>
              </a:rPr>
              <a:t>选项</a:t>
            </a:r>
            <a:endParaRPr kumimoji="0" lang="zh-CN" altLang="zh-CN" sz="1800" b="0" i="0" u="none" strike="noStrike" cap="none" normalizeH="0" baseline="0" dirty="0">
              <a:ln>
                <a:noFill/>
              </a:ln>
              <a:solidFill>
                <a:schemeClr val="tx1"/>
              </a:solidFill>
              <a:effectLst/>
              <a:latin typeface="+mn-ea"/>
              <a:ea typeface="+mn-ea"/>
            </a:endParaRPr>
          </a:p>
        </p:txBody>
      </p:sp>
      <p:sp>
        <p:nvSpPr>
          <p:cNvPr id="4" name="右箭头 3"/>
          <p:cNvSpPr/>
          <p:nvPr/>
        </p:nvSpPr>
        <p:spPr>
          <a:xfrm>
            <a:off x="2313305" y="2553454"/>
            <a:ext cx="1310005" cy="45148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mn-ea"/>
              <a:ea typeface="+mn-ea"/>
            </a:endParaRPr>
          </a:p>
        </p:txBody>
      </p:sp>
      <p:sp>
        <p:nvSpPr>
          <p:cNvPr id="5" name="右箭头 4"/>
          <p:cNvSpPr/>
          <p:nvPr/>
        </p:nvSpPr>
        <p:spPr>
          <a:xfrm rot="2098778">
            <a:off x="5537498" y="3139325"/>
            <a:ext cx="1310005" cy="45148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mn-ea"/>
              <a:ea typeface="+mn-ea"/>
            </a:endParaRPr>
          </a:p>
        </p:txBody>
      </p:sp>
      <p:sp>
        <p:nvSpPr>
          <p:cNvPr id="7" name="流程图: 过程 6"/>
          <p:cNvSpPr/>
          <p:nvPr/>
        </p:nvSpPr>
        <p:spPr>
          <a:xfrm>
            <a:off x="3802173" y="4515966"/>
            <a:ext cx="1559089" cy="346075"/>
          </a:xfrm>
          <a:prstGeom prst="flowChartProcess">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dirty="0">
                <a:latin typeface="+mn-ea"/>
                <a:ea typeface="+mn-ea"/>
              </a:rPr>
              <a:t>收集</a:t>
            </a:r>
            <a:r>
              <a:rPr kumimoji="0" lang="zh-CN" altLang="en-US" sz="1800" b="0" i="0" u="none" strike="noStrike" cap="none" normalizeH="0" baseline="0" dirty="0">
                <a:ln>
                  <a:noFill/>
                </a:ln>
                <a:solidFill>
                  <a:schemeClr val="tx1"/>
                </a:solidFill>
                <a:effectLst/>
                <a:latin typeface="+mn-ea"/>
                <a:ea typeface="+mn-ea"/>
              </a:rPr>
              <a:t>大写字符</a:t>
            </a:r>
            <a:endParaRPr kumimoji="0" lang="zh-CN" altLang="zh-CN" sz="1800" b="0" i="0" u="none" strike="noStrike" cap="none" normalizeH="0" baseline="0" dirty="0">
              <a:ln>
                <a:noFill/>
              </a:ln>
              <a:solidFill>
                <a:schemeClr val="tx1"/>
              </a:solidFill>
              <a:effectLst/>
              <a:latin typeface="+mn-ea"/>
              <a:ea typeface="+mn-ea"/>
            </a:endParaRPr>
          </a:p>
        </p:txBody>
      </p:sp>
      <p:sp>
        <p:nvSpPr>
          <p:cNvPr id="9" name="右箭头 8"/>
          <p:cNvSpPr/>
          <p:nvPr/>
        </p:nvSpPr>
        <p:spPr>
          <a:xfrm rot="16200000">
            <a:off x="4041657" y="1517914"/>
            <a:ext cx="1080120" cy="45148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mn-ea"/>
              <a:ea typeface="+mn-ea"/>
            </a:endParaRPr>
          </a:p>
        </p:txBody>
      </p:sp>
      <p:sp>
        <p:nvSpPr>
          <p:cNvPr id="10" name="右箭头 9"/>
          <p:cNvSpPr/>
          <p:nvPr/>
        </p:nvSpPr>
        <p:spPr>
          <a:xfrm rot="5400000">
            <a:off x="4070731" y="3577074"/>
            <a:ext cx="1021973" cy="45148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mn-ea"/>
              <a:ea typeface="+mn-ea"/>
            </a:endParaRPr>
          </a:p>
        </p:txBody>
      </p:sp>
      <p:sp>
        <p:nvSpPr>
          <p:cNvPr id="11" name="流程图: 过程 10"/>
          <p:cNvSpPr/>
          <p:nvPr/>
        </p:nvSpPr>
        <p:spPr>
          <a:xfrm>
            <a:off x="6807612" y="1212315"/>
            <a:ext cx="1559089" cy="346075"/>
          </a:xfrm>
          <a:prstGeom prst="flowChartProcess">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dirty="0">
                <a:latin typeface="+mn-ea"/>
                <a:ea typeface="+mn-ea"/>
              </a:rPr>
              <a:t>收集数字</a:t>
            </a:r>
            <a:r>
              <a:rPr kumimoji="0" lang="zh-CN" altLang="en-US" sz="1800" b="0" i="0" u="none" strike="noStrike" cap="none" normalizeH="0" baseline="0" dirty="0">
                <a:ln>
                  <a:noFill/>
                </a:ln>
                <a:solidFill>
                  <a:schemeClr val="tx1"/>
                </a:solidFill>
                <a:effectLst/>
                <a:latin typeface="+mn-ea"/>
                <a:ea typeface="+mn-ea"/>
              </a:rPr>
              <a:t>字符</a:t>
            </a:r>
            <a:endParaRPr kumimoji="0" lang="zh-CN" altLang="zh-CN" sz="1800" b="0" i="0" u="none" strike="noStrike" cap="none" normalizeH="0" baseline="0" dirty="0">
              <a:ln>
                <a:noFill/>
              </a:ln>
              <a:solidFill>
                <a:schemeClr val="tx1"/>
              </a:solidFill>
              <a:effectLst/>
              <a:latin typeface="+mn-ea"/>
              <a:ea typeface="+mn-ea"/>
            </a:endParaRPr>
          </a:p>
        </p:txBody>
      </p:sp>
      <p:sp>
        <p:nvSpPr>
          <p:cNvPr id="12" name="流程图: 过程 11"/>
          <p:cNvSpPr/>
          <p:nvPr/>
        </p:nvSpPr>
        <p:spPr>
          <a:xfrm>
            <a:off x="3802172" y="699542"/>
            <a:ext cx="1559089" cy="346075"/>
          </a:xfrm>
          <a:prstGeom prst="flowChartProcess">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dirty="0">
                <a:latin typeface="+mn-ea"/>
                <a:ea typeface="+mn-ea"/>
              </a:rPr>
              <a:t>收集小</a:t>
            </a:r>
            <a:r>
              <a:rPr kumimoji="0" lang="zh-CN" altLang="en-US" sz="1800" b="0" i="0" u="none" strike="noStrike" cap="none" normalizeH="0" baseline="0" dirty="0">
                <a:ln>
                  <a:noFill/>
                </a:ln>
                <a:solidFill>
                  <a:schemeClr val="tx1"/>
                </a:solidFill>
                <a:effectLst/>
                <a:latin typeface="+mn-ea"/>
                <a:ea typeface="+mn-ea"/>
              </a:rPr>
              <a:t>写字符</a:t>
            </a:r>
            <a:endParaRPr kumimoji="0" lang="zh-CN" altLang="zh-CN" sz="1800" b="0" i="0" u="none" strike="noStrike" cap="none" normalizeH="0" baseline="0" dirty="0">
              <a:ln>
                <a:noFill/>
              </a:ln>
              <a:solidFill>
                <a:schemeClr val="tx1"/>
              </a:solidFill>
              <a:effectLst/>
              <a:latin typeface="+mn-ea"/>
              <a:ea typeface="+mn-ea"/>
            </a:endParaRPr>
          </a:p>
        </p:txBody>
      </p:sp>
      <p:sp>
        <p:nvSpPr>
          <p:cNvPr id="13" name="右箭头 12"/>
          <p:cNvSpPr/>
          <p:nvPr/>
        </p:nvSpPr>
        <p:spPr>
          <a:xfrm rot="19115904">
            <a:off x="5512006" y="1725209"/>
            <a:ext cx="1310005" cy="45148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mn-ea"/>
              <a:ea typeface="+mn-ea"/>
            </a:endParaRPr>
          </a:p>
        </p:txBody>
      </p:sp>
      <p:sp>
        <p:nvSpPr>
          <p:cNvPr id="14" name="流程图: 过程 13"/>
          <p:cNvSpPr/>
          <p:nvPr/>
        </p:nvSpPr>
        <p:spPr>
          <a:xfrm>
            <a:off x="6807612" y="3802816"/>
            <a:ext cx="1559089" cy="346075"/>
          </a:xfrm>
          <a:prstGeom prst="flowChartProcess">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dirty="0">
                <a:latin typeface="+mn-ea"/>
                <a:ea typeface="+mn-ea"/>
              </a:rPr>
              <a:t>收集其他</a:t>
            </a:r>
            <a:r>
              <a:rPr kumimoji="0" lang="zh-CN" altLang="en-US" sz="1800" b="0" i="0" u="none" strike="noStrike" cap="none" normalizeH="0" baseline="0" dirty="0">
                <a:ln>
                  <a:noFill/>
                </a:ln>
                <a:solidFill>
                  <a:schemeClr val="tx1"/>
                </a:solidFill>
                <a:effectLst/>
                <a:latin typeface="+mn-ea"/>
                <a:ea typeface="+mn-ea"/>
              </a:rPr>
              <a:t>字符</a:t>
            </a:r>
            <a:endParaRPr kumimoji="0" lang="zh-CN" altLang="zh-CN" sz="1800" b="0" i="0" u="none" strike="noStrike" cap="none" normalizeH="0" baseline="0" dirty="0">
              <a:ln>
                <a:noFill/>
              </a:ln>
              <a:solidFill>
                <a:schemeClr val="tx1"/>
              </a:solidFill>
              <a:effectLst/>
              <a:latin typeface="+mn-ea"/>
              <a:ea typeface="+mn-ea"/>
            </a:endParaRPr>
          </a:p>
        </p:txBody>
      </p:sp>
      <p:sp>
        <p:nvSpPr>
          <p:cNvPr id="16" name="内容占位符 5"/>
          <p:cNvSpPr>
            <a:spLocks noGrp="1"/>
          </p:cNvSpPr>
          <p:nvPr>
            <p:ph idx="1"/>
          </p:nvPr>
        </p:nvSpPr>
        <p:spPr>
          <a:xfrm>
            <a:off x="265901" y="843558"/>
            <a:ext cx="2577907" cy="635671"/>
          </a:xfrm>
        </p:spPr>
        <p:txBody>
          <a:bodyPr/>
          <a:lstStyle/>
          <a:p>
            <a:r>
              <a:rPr lang="zh-CN" altLang="en-US" dirty="0">
                <a:solidFill>
                  <a:srgbClr val="0070C0"/>
                </a:solidFill>
              </a:rPr>
              <a:t>案例功能讲解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1"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ppt_x"/>
                                          </p:val>
                                        </p:tav>
                                        <p:tav tm="100000">
                                          <p:val>
                                            <p:strVal val="#ppt_x"/>
                                          </p:val>
                                        </p:tav>
                                      </p:tavLst>
                                    </p:anim>
                                    <p:anim calcmode="lin" valueType="num">
                                      <p:cBhvr additive="base">
                                        <p:cTn id="42" dur="500" fill="hold"/>
                                        <p:tgtEl>
                                          <p:spTgt spid="5"/>
                                        </p:tgtEl>
                                        <p:attrNameLst>
                                          <p:attrName>ppt_y</p:attrName>
                                        </p:attrNameLst>
                                      </p:cBhvr>
                                      <p:tavLst>
                                        <p:tav tm="0">
                                          <p:val>
                                            <p:strVal val="0-#ppt_h/2"/>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1+#ppt_w/2"/>
                                          </p:val>
                                        </p:tav>
                                        <p:tav tm="100000">
                                          <p:val>
                                            <p:strVal val="#ppt_x"/>
                                          </p:val>
                                        </p:tav>
                                      </p:tavLst>
                                    </p:anim>
                                    <p:anim calcmode="lin" valueType="num">
                                      <p:cBhvr additive="base">
                                        <p:cTn id="46"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additive="base">
                                        <p:cTn id="51" dur="500" fill="hold"/>
                                        <p:tgtEl>
                                          <p:spTgt spid="9"/>
                                        </p:tgtEl>
                                        <p:attrNameLst>
                                          <p:attrName>ppt_x</p:attrName>
                                        </p:attrNameLst>
                                      </p:cBhvr>
                                      <p:tavLst>
                                        <p:tav tm="0">
                                          <p:val>
                                            <p:strVal val="#ppt_x"/>
                                          </p:val>
                                        </p:tav>
                                        <p:tav tm="100000">
                                          <p:val>
                                            <p:strVal val="#ppt_x"/>
                                          </p:val>
                                        </p:tav>
                                      </p:tavLst>
                                    </p:anim>
                                    <p:anim calcmode="lin" valueType="num">
                                      <p:cBhvr additive="base">
                                        <p:cTn id="52" dur="500" fill="hold"/>
                                        <p:tgtEl>
                                          <p:spTgt spid="9"/>
                                        </p:tgtEl>
                                        <p:attrNameLst>
                                          <p:attrName>ppt_y</p:attrName>
                                        </p:attrNameLst>
                                      </p:cBhvr>
                                      <p:tavLst>
                                        <p:tav tm="0">
                                          <p:val>
                                            <p:strVal val="1+#ppt_h/2"/>
                                          </p:val>
                                        </p:tav>
                                        <p:tav tm="100000">
                                          <p:val>
                                            <p:strVal val="#ppt_y"/>
                                          </p:val>
                                        </p:tav>
                                      </p:tavLst>
                                    </p:anim>
                                  </p:childTnLst>
                                </p:cTn>
                              </p:par>
                              <p:par>
                                <p:cTn id="53" presetID="2" presetClass="entr" presetSubtype="1"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ppt_x"/>
                                          </p:val>
                                        </p:tav>
                                        <p:tav tm="100000">
                                          <p:val>
                                            <p:strVal val="#ppt_x"/>
                                          </p:val>
                                        </p:tav>
                                      </p:tavLst>
                                    </p:anim>
                                    <p:anim calcmode="lin" valueType="num">
                                      <p:cBhvr additive="base">
                                        <p:cTn id="62" dur="500" fill="hold"/>
                                        <p:tgtEl>
                                          <p:spTgt spid="13"/>
                                        </p:tgtEl>
                                        <p:attrNameLst>
                                          <p:attrName>ppt_y</p:attrName>
                                        </p:attrNameLst>
                                      </p:cBhvr>
                                      <p:tavLst>
                                        <p:tav tm="0">
                                          <p:val>
                                            <p:strVal val="1+#ppt_h/2"/>
                                          </p:val>
                                        </p:tav>
                                        <p:tav tm="100000">
                                          <p:val>
                                            <p:strVal val="#ppt_y"/>
                                          </p:val>
                                        </p:tav>
                                      </p:tavLst>
                                    </p:anim>
                                  </p:childTnLst>
                                </p:cTn>
                              </p:par>
                              <p:par>
                                <p:cTn id="63" presetID="2" presetClass="entr" presetSubtype="2" fill="hold" grpId="0" nodeType="with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additive="base">
                                        <p:cTn id="65" dur="500" fill="hold"/>
                                        <p:tgtEl>
                                          <p:spTgt spid="11"/>
                                        </p:tgtEl>
                                        <p:attrNameLst>
                                          <p:attrName>ppt_x</p:attrName>
                                        </p:attrNameLst>
                                      </p:cBhvr>
                                      <p:tavLst>
                                        <p:tav tm="0">
                                          <p:val>
                                            <p:strVal val="1+#ppt_w/2"/>
                                          </p:val>
                                        </p:tav>
                                        <p:tav tm="100000">
                                          <p:val>
                                            <p:strVal val="#ppt_x"/>
                                          </p:val>
                                        </p:tav>
                                      </p:tavLst>
                                    </p:anim>
                                    <p:anim calcmode="lin" valueType="num">
                                      <p:cBhvr additive="base">
                                        <p:cTn id="66"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P spid="7" grpId="0" bldLvl="0" animBg="1"/>
      <p:bldP spid="9" grpId="0" bldLvl="0" animBg="1"/>
      <p:bldP spid="10" grpId="0" bldLvl="0" animBg="1"/>
      <p:bldP spid="11" grpId="0" bldLvl="0" animBg="1"/>
      <p:bldP spid="12" grpId="0" bldLvl="0" animBg="1"/>
      <p:bldP spid="13" grpId="0" bldLvl="0" animBg="1"/>
      <p:bldP spid="14"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2250349" y="133227"/>
            <a:ext cx="6768877" cy="369332"/>
          </a:xfrm>
        </p:spPr>
        <p:txBody>
          <a:bodyPr/>
          <a:lstStyle/>
          <a:p>
            <a:r>
              <a:rPr lang="zh-CN" altLang="en-US" dirty="0">
                <a:latin typeface="+mn-ea"/>
              </a:rPr>
              <a:t>贯穿案例</a:t>
            </a:r>
            <a:endParaRPr lang="zh-CN" altLang="en-US" dirty="0">
              <a:latin typeface="+mn-ea"/>
              <a:ea typeface="+mn-ea"/>
            </a:endParaRPr>
          </a:p>
        </p:txBody>
      </p:sp>
      <p:sp>
        <p:nvSpPr>
          <p:cNvPr id="16" name="内容占位符 5"/>
          <p:cNvSpPr>
            <a:spLocks noGrp="1"/>
          </p:cNvSpPr>
          <p:nvPr>
            <p:ph idx="1"/>
          </p:nvPr>
        </p:nvSpPr>
        <p:spPr>
          <a:xfrm>
            <a:off x="265901" y="843558"/>
            <a:ext cx="8122523" cy="4032448"/>
          </a:xfrm>
        </p:spPr>
        <p:txBody>
          <a:bodyPr/>
          <a:lstStyle/>
          <a:p>
            <a:r>
              <a:rPr lang="zh-CN" altLang="en-US" dirty="0">
                <a:solidFill>
                  <a:srgbClr val="0070C0"/>
                </a:solidFill>
              </a:rPr>
              <a:t>案例步骤：</a:t>
            </a:r>
            <a:endParaRPr lang="en-US" altLang="zh-CN" dirty="0">
              <a:solidFill>
                <a:srgbClr val="0070C0"/>
              </a:solidFill>
            </a:endParaRPr>
          </a:p>
          <a:p>
            <a:pPr lvl="1"/>
            <a:r>
              <a:rPr lang="zh-CN" altLang="en-US" dirty="0">
                <a:solidFill>
                  <a:srgbClr val="0070C0"/>
                </a:solidFill>
              </a:rPr>
              <a:t>指定要查询的字符串</a:t>
            </a:r>
            <a:endParaRPr lang="en-US" altLang="zh-CN" dirty="0">
              <a:solidFill>
                <a:srgbClr val="0070C0"/>
              </a:solidFill>
            </a:endParaRPr>
          </a:p>
          <a:p>
            <a:pPr lvl="1"/>
            <a:r>
              <a:rPr lang="zh-CN" altLang="en-US" dirty="0">
                <a:solidFill>
                  <a:srgbClr val="0070C0"/>
                </a:solidFill>
              </a:rPr>
              <a:t>打印界面，提升观感</a:t>
            </a:r>
            <a:endParaRPr lang="en-US" altLang="zh-CN" dirty="0">
              <a:solidFill>
                <a:srgbClr val="0070C0"/>
              </a:solidFill>
            </a:endParaRPr>
          </a:p>
          <a:p>
            <a:pPr lvl="1"/>
            <a:r>
              <a:rPr lang="zh-CN" altLang="en-US" dirty="0">
                <a:solidFill>
                  <a:srgbClr val="0070C0"/>
                </a:solidFill>
              </a:rPr>
              <a:t>定义接收相应字符串的变量</a:t>
            </a:r>
            <a:endParaRPr lang="en-US" altLang="zh-CN" dirty="0">
              <a:solidFill>
                <a:srgbClr val="0070C0"/>
              </a:solidFill>
            </a:endParaRPr>
          </a:p>
          <a:p>
            <a:pPr lvl="1"/>
            <a:r>
              <a:rPr lang="zh-CN" altLang="en-US">
                <a:solidFill>
                  <a:srgbClr val="0070C0"/>
                </a:solidFill>
              </a:rPr>
              <a:t>遍历字符串，判断</a:t>
            </a:r>
            <a:r>
              <a:rPr lang="zh-CN" altLang="en-US" dirty="0">
                <a:solidFill>
                  <a:srgbClr val="0070C0"/>
                </a:solidFill>
              </a:rPr>
              <a:t>归属并添加</a:t>
            </a:r>
            <a:endParaRPr lang="en-US" altLang="zh-CN" dirty="0">
              <a:solidFill>
                <a:srgbClr val="0070C0"/>
              </a:solidFill>
            </a:endParaRPr>
          </a:p>
          <a:p>
            <a:pPr lvl="1"/>
            <a:r>
              <a:rPr lang="zh-CN" altLang="en-US" dirty="0">
                <a:solidFill>
                  <a:srgbClr val="0070C0"/>
                </a:solidFill>
              </a:rPr>
              <a:t>判断用户输入的选项，并打印该选项</a:t>
            </a:r>
          </a:p>
        </p:txBody>
      </p:sp>
      <p:pic>
        <p:nvPicPr>
          <p:cNvPr id="3074" name="Picture 2" descr="C:\Users\Administrator\Desktop\剪贴画\下载.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20" y="1275606"/>
            <a:ext cx="2965226" cy="24670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 calcmode="lin" valueType="num">
                                      <p:cBhvr additive="base">
                                        <p:cTn id="13"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xEl>
                                              <p:pRg st="2" end="2"/>
                                            </p:txEl>
                                          </p:spTgt>
                                        </p:tgtEl>
                                        <p:attrNameLst>
                                          <p:attrName>style.visibility</p:attrName>
                                        </p:attrNameLst>
                                      </p:cBhvr>
                                      <p:to>
                                        <p:strVal val="visible"/>
                                      </p:to>
                                    </p:set>
                                    <p:anim calcmode="lin" valueType="num">
                                      <p:cBhvr additive="base">
                                        <p:cTn id="19"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
                                            <p:txEl>
                                              <p:pRg st="3" end="3"/>
                                            </p:txEl>
                                          </p:spTgt>
                                        </p:tgtEl>
                                        <p:attrNameLst>
                                          <p:attrName>style.visibility</p:attrName>
                                        </p:attrNameLst>
                                      </p:cBhvr>
                                      <p:to>
                                        <p:strVal val="visible"/>
                                      </p:to>
                                    </p:set>
                                    <p:anim calcmode="lin" valueType="num">
                                      <p:cBhvr additive="base">
                                        <p:cTn id="25"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
                                            <p:txEl>
                                              <p:pRg st="4" end="4"/>
                                            </p:txEl>
                                          </p:spTgt>
                                        </p:tgtEl>
                                        <p:attrNameLst>
                                          <p:attrName>style.visibility</p:attrName>
                                        </p:attrNameLst>
                                      </p:cBhvr>
                                      <p:to>
                                        <p:strVal val="visible"/>
                                      </p:to>
                                    </p:set>
                                    <p:anim calcmode="lin" valueType="num">
                                      <p:cBhvr additive="base">
                                        <p:cTn id="3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xEl>
                                              <p:pRg st="5" end="5"/>
                                            </p:txEl>
                                          </p:spTgt>
                                        </p:tgtEl>
                                        <p:attrNameLst>
                                          <p:attrName>style.visibility</p:attrName>
                                        </p:attrNameLst>
                                      </p:cBhvr>
                                      <p:to>
                                        <p:strVal val="visible"/>
                                      </p:to>
                                    </p:set>
                                    <p:anim calcmode="lin" valueType="num">
                                      <p:cBhvr additive="base">
                                        <p:cTn id="3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nodeType="clickEffect">
                                  <p:stCondLst>
                                    <p:cond delay="0"/>
                                  </p:stCondLst>
                                  <p:childTnLst>
                                    <p:set>
                                      <p:cBhvr>
                                        <p:cTn id="42" dur="1" fill="hold">
                                          <p:stCondLst>
                                            <p:cond delay="0"/>
                                          </p:stCondLst>
                                        </p:cTn>
                                        <p:tgtEl>
                                          <p:spTgt spid="3074"/>
                                        </p:tgtEl>
                                        <p:attrNameLst>
                                          <p:attrName>style.visibility</p:attrName>
                                        </p:attrNameLst>
                                      </p:cBhvr>
                                      <p:to>
                                        <p:strVal val="visible"/>
                                      </p:to>
                                    </p:set>
                                    <p:animEffect transition="in" filter="wheel(1)">
                                      <p:cBhvr>
                                        <p:cTn id="43" dur="2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195739" y="141482"/>
            <a:ext cx="6768877" cy="369332"/>
          </a:xfrm>
        </p:spPr>
        <p:txBody>
          <a:bodyPr/>
          <a:lstStyle/>
          <a:p>
            <a:r>
              <a:rPr lang="zh-CN" altLang="en-US" dirty="0">
                <a:latin typeface="+mn-ea"/>
              </a:rPr>
              <a:t>贯穿案例</a:t>
            </a:r>
            <a:endParaRPr lang="zh-CN" altLang="en-US" dirty="0">
              <a:latin typeface="+mn-ea"/>
              <a:ea typeface="+mn-ea"/>
            </a:endParaRPr>
          </a:p>
        </p:txBody>
      </p:sp>
      <p:sp>
        <p:nvSpPr>
          <p:cNvPr id="6" name="内容占位符 5"/>
          <p:cNvSpPr>
            <a:spLocks noGrp="1"/>
          </p:cNvSpPr>
          <p:nvPr>
            <p:ph idx="1"/>
          </p:nvPr>
        </p:nvSpPr>
        <p:spPr>
          <a:xfrm>
            <a:off x="323528" y="843558"/>
            <a:ext cx="8352928" cy="635671"/>
          </a:xfrm>
        </p:spPr>
        <p:txBody>
          <a:bodyPr/>
          <a:lstStyle/>
          <a:p>
            <a:r>
              <a:rPr lang="zh-CN" altLang="en-US" dirty="0">
                <a:solidFill>
                  <a:srgbClr val="0070C0"/>
                </a:solidFill>
              </a:rPr>
              <a:t>代码实现：</a:t>
            </a:r>
          </a:p>
        </p:txBody>
      </p:sp>
      <p:sp>
        <p:nvSpPr>
          <p:cNvPr id="12"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8" name="AutoShape 3"/>
          <p:cNvSpPr>
            <a:spLocks noChangeArrowheads="1"/>
          </p:cNvSpPr>
          <p:nvPr/>
        </p:nvSpPr>
        <p:spPr bwMode="auto">
          <a:xfrm>
            <a:off x="539552" y="2108051"/>
            <a:ext cx="6912768" cy="1615827"/>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str = 'We always knew our daughter Kendall was going be a performer of some sort. She entertained people in our small town by putting on shows on our front porch when she was only three or four. Blonde-haired, blue-eyed, and beautiful, she sang like a little angel and mesmerized1 everyone.‘</a:t>
            </a:r>
          </a:p>
        </p:txBody>
      </p:sp>
      <p:sp>
        <p:nvSpPr>
          <p:cNvPr id="2" name="椭圆形标注 1"/>
          <p:cNvSpPr/>
          <p:nvPr/>
        </p:nvSpPr>
        <p:spPr bwMode="auto">
          <a:xfrm>
            <a:off x="6408204" y="771550"/>
            <a:ext cx="2088232" cy="1116704"/>
          </a:xfrm>
          <a:prstGeom prst="wedgeEllipseCallou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我们要查询的字符串</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2"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p:cNvSpPr>
            <a:spLocks noChangeArrowheads="1"/>
          </p:cNvSpPr>
          <p:nvPr/>
        </p:nvSpPr>
        <p:spPr bwMode="auto">
          <a:xfrm>
            <a:off x="2051720" y="793590"/>
            <a:ext cx="5400600" cy="4201150"/>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print('</a:t>
            </a:r>
            <a:r>
              <a:rPr lang="zh-CN" altLang="en-US" sz="1400" dirty="0">
                <a:solidFill>
                  <a:schemeClr val="tx1">
                    <a:lumMod val="75000"/>
                    <a:lumOff val="25000"/>
                  </a:schemeClr>
                </a:solidFill>
                <a:latin typeface="+mn-ea"/>
                <a:ea typeface="+mn-ea"/>
              </a:rPr>
              <a:t>欢迎使用字符分类系统</a:t>
            </a:r>
            <a:r>
              <a:rPr lang="en-US" altLang="zh-CN" sz="1400" dirty="0">
                <a:solidFill>
                  <a:schemeClr val="tx1">
                    <a:lumMod val="75000"/>
                    <a:lumOff val="25000"/>
                  </a:schemeClr>
                </a:solidFill>
                <a:latin typeface="+mn-ea"/>
                <a:ea typeface="+mn-ea"/>
              </a:rPr>
              <a:t>')</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print('+---------------------+')</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print('+ 1</a:t>
            </a:r>
            <a:r>
              <a:rPr lang="zh-CN" altLang="en-US" sz="1400" dirty="0">
                <a:solidFill>
                  <a:schemeClr val="tx1">
                    <a:lumMod val="75000"/>
                    <a:lumOff val="25000"/>
                  </a:schemeClr>
                </a:solidFill>
                <a:latin typeface="+mn-ea"/>
                <a:ea typeface="+mn-ea"/>
              </a:rPr>
              <a:t>、小写英文字符     </a:t>
            </a:r>
            <a:r>
              <a:rPr lang="en-US" altLang="zh-CN" sz="1400" dirty="0">
                <a:solidFill>
                  <a:schemeClr val="tx1">
                    <a:lumMod val="75000"/>
                    <a:lumOff val="25000"/>
                  </a:schemeClr>
                </a:solidFill>
                <a:latin typeface="+mn-ea"/>
                <a:ea typeface="+mn-ea"/>
              </a:rPr>
              <a:t>+')</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print('+ 2</a:t>
            </a:r>
            <a:r>
              <a:rPr lang="zh-CN" altLang="en-US" sz="1400" dirty="0">
                <a:solidFill>
                  <a:schemeClr val="tx1">
                    <a:lumMod val="75000"/>
                    <a:lumOff val="25000"/>
                  </a:schemeClr>
                </a:solidFill>
                <a:latin typeface="+mn-ea"/>
                <a:ea typeface="+mn-ea"/>
              </a:rPr>
              <a:t>、大写英文字符     </a:t>
            </a:r>
            <a:r>
              <a:rPr lang="en-US" altLang="zh-CN" sz="1400" dirty="0">
                <a:solidFill>
                  <a:schemeClr val="tx1">
                    <a:lumMod val="75000"/>
                    <a:lumOff val="25000"/>
                  </a:schemeClr>
                </a:solidFill>
                <a:latin typeface="+mn-ea"/>
                <a:ea typeface="+mn-ea"/>
              </a:rPr>
              <a:t>+')</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print('+ 3</a:t>
            </a:r>
            <a:r>
              <a:rPr lang="zh-CN" altLang="en-US" sz="1400" dirty="0">
                <a:solidFill>
                  <a:schemeClr val="tx1">
                    <a:lumMod val="75000"/>
                    <a:lumOff val="25000"/>
                  </a:schemeClr>
                </a:solidFill>
                <a:latin typeface="+mn-ea"/>
                <a:ea typeface="+mn-ea"/>
              </a:rPr>
              <a:t>、数字字符         </a:t>
            </a:r>
            <a:r>
              <a:rPr lang="en-US" altLang="zh-CN" sz="1400" dirty="0">
                <a:solidFill>
                  <a:schemeClr val="tx1">
                    <a:lumMod val="75000"/>
                    <a:lumOff val="25000"/>
                  </a:schemeClr>
                </a:solidFill>
                <a:latin typeface="+mn-ea"/>
                <a:ea typeface="+mn-ea"/>
              </a:rPr>
              <a:t>+')</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print('+ 4</a:t>
            </a:r>
            <a:r>
              <a:rPr lang="zh-CN" altLang="en-US" sz="1400" dirty="0">
                <a:solidFill>
                  <a:schemeClr val="tx1">
                    <a:lumMod val="75000"/>
                    <a:lumOff val="25000"/>
                  </a:schemeClr>
                </a:solidFill>
                <a:latin typeface="+mn-ea"/>
                <a:ea typeface="+mn-ea"/>
              </a:rPr>
              <a:t>、其他字符         </a:t>
            </a:r>
            <a:r>
              <a:rPr lang="en-US" altLang="zh-CN" sz="1400" dirty="0">
                <a:solidFill>
                  <a:schemeClr val="tx1">
                    <a:lumMod val="75000"/>
                    <a:lumOff val="25000"/>
                  </a:schemeClr>
                </a:solidFill>
                <a:latin typeface="+mn-ea"/>
                <a:ea typeface="+mn-ea"/>
              </a:rPr>
              <a:t>+')</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print('+ exit </a:t>
            </a:r>
            <a:r>
              <a:rPr lang="zh-CN" altLang="en-US" sz="1400" dirty="0">
                <a:solidFill>
                  <a:schemeClr val="tx1">
                    <a:lumMod val="75000"/>
                    <a:lumOff val="25000"/>
                  </a:schemeClr>
                </a:solidFill>
                <a:latin typeface="+mn-ea"/>
                <a:ea typeface="+mn-ea"/>
              </a:rPr>
              <a:t>退出系统       </a:t>
            </a:r>
            <a:r>
              <a:rPr lang="en-US" altLang="zh-CN" sz="1400" dirty="0">
                <a:solidFill>
                  <a:schemeClr val="tx1">
                    <a:lumMod val="75000"/>
                    <a:lumOff val="25000"/>
                  </a:schemeClr>
                </a:solidFill>
                <a:latin typeface="+mn-ea"/>
                <a:ea typeface="+mn-ea"/>
              </a:rPr>
              <a:t>+')</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print('+---------------------+')</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sel = int(input('</a:t>
            </a:r>
            <a:r>
              <a:rPr lang="zh-CN" altLang="en-US" sz="1400" dirty="0">
                <a:solidFill>
                  <a:schemeClr val="tx1">
                    <a:lumMod val="75000"/>
                    <a:lumOff val="25000"/>
                  </a:schemeClr>
                </a:solidFill>
                <a:latin typeface="+mn-ea"/>
                <a:ea typeface="+mn-ea"/>
              </a:rPr>
              <a:t>请输入要查询的选项</a:t>
            </a:r>
            <a:r>
              <a:rPr lang="en-US" altLang="zh-CN" sz="1400" dirty="0">
                <a:solidFill>
                  <a:schemeClr val="tx1">
                    <a:lumMod val="75000"/>
                    <a:lumOff val="25000"/>
                  </a:schemeClr>
                </a:solidFill>
                <a:latin typeface="+mn-ea"/>
                <a:ea typeface="+mn-ea"/>
              </a:rPr>
              <a:t>'))</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stra = ''  #</a:t>
            </a:r>
            <a:r>
              <a:rPr lang="zh-CN" altLang="en-US" sz="1400" dirty="0">
                <a:solidFill>
                  <a:srgbClr val="FF0000"/>
                </a:solidFill>
                <a:latin typeface="+mn-ea"/>
                <a:ea typeface="+mn-ea"/>
              </a:rPr>
              <a:t>创建三个空字符串，分别用于存放大写、小写、数字</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strb = ''</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strc = ''</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strd = ''</a:t>
            </a:r>
          </a:p>
        </p:txBody>
      </p:sp>
      <p:sp>
        <p:nvSpPr>
          <p:cNvPr id="5" name="标题 4"/>
          <p:cNvSpPr>
            <a:spLocks noGrp="1"/>
          </p:cNvSpPr>
          <p:nvPr>
            <p:ph type="title"/>
          </p:nvPr>
        </p:nvSpPr>
        <p:spPr>
          <a:xfrm>
            <a:off x="2195739" y="141482"/>
            <a:ext cx="6768877" cy="369332"/>
          </a:xfrm>
        </p:spPr>
        <p:txBody>
          <a:bodyPr/>
          <a:lstStyle/>
          <a:p>
            <a:r>
              <a:rPr lang="zh-CN" altLang="en-US" dirty="0">
                <a:latin typeface="+mn-ea"/>
              </a:rPr>
              <a:t>贯穿案例</a:t>
            </a:r>
            <a:endParaRPr lang="zh-CN" altLang="en-US" dirty="0">
              <a:latin typeface="+mn-ea"/>
              <a:ea typeface="+mn-ea"/>
            </a:endParaRPr>
          </a:p>
        </p:txBody>
      </p:sp>
      <p:sp>
        <p:nvSpPr>
          <p:cNvPr id="6" name="内容占位符 5"/>
          <p:cNvSpPr>
            <a:spLocks noGrp="1"/>
          </p:cNvSpPr>
          <p:nvPr>
            <p:ph idx="1"/>
          </p:nvPr>
        </p:nvSpPr>
        <p:spPr>
          <a:xfrm>
            <a:off x="323528" y="843558"/>
            <a:ext cx="8352928" cy="635671"/>
          </a:xfrm>
        </p:spPr>
        <p:txBody>
          <a:bodyPr/>
          <a:lstStyle/>
          <a:p>
            <a:r>
              <a:rPr lang="zh-CN" altLang="en-US" dirty="0">
                <a:solidFill>
                  <a:srgbClr val="0070C0"/>
                </a:solidFill>
              </a:rPr>
              <a:t>代码实现：</a:t>
            </a:r>
          </a:p>
        </p:txBody>
      </p:sp>
      <p:sp>
        <p:nvSpPr>
          <p:cNvPr id="12"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2" name="矩形 1"/>
          <p:cNvSpPr/>
          <p:nvPr/>
        </p:nvSpPr>
        <p:spPr bwMode="auto">
          <a:xfrm>
            <a:off x="2051720" y="793590"/>
            <a:ext cx="2808312" cy="2570248"/>
          </a:xfrm>
          <a:prstGeom prst="rect">
            <a:avLst/>
          </a:prstGeom>
          <a:noFill/>
          <a:ln w="38100" cap="flat" cmpd="sng" algn="ctr">
            <a:solidFill>
              <a:srgbClr val="C00000"/>
            </a:solidFill>
            <a:prstDash val="sys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3" name="椭圆形标注 2"/>
          <p:cNvSpPr/>
          <p:nvPr/>
        </p:nvSpPr>
        <p:spPr bwMode="auto">
          <a:xfrm>
            <a:off x="6300192" y="793590"/>
            <a:ext cx="1706488" cy="921602"/>
          </a:xfrm>
          <a:prstGeom prst="wedgeEllipseCallout">
            <a:avLst>
              <a:gd name="adj1" fmla="val -131803"/>
              <a:gd name="adj2" fmla="val 73636"/>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界面设置</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heel(1)">
                                      <p:cBhvr>
                                        <p:cTn id="19" dur="2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2" grpId="0" bldLvl="0" animBg="1"/>
      <p:bldP spid="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195739" y="141482"/>
            <a:ext cx="6768877" cy="369332"/>
          </a:xfrm>
        </p:spPr>
        <p:txBody>
          <a:bodyPr/>
          <a:lstStyle/>
          <a:p>
            <a:r>
              <a:rPr lang="zh-CN" altLang="en-US" dirty="0">
                <a:latin typeface="+mn-ea"/>
              </a:rPr>
              <a:t>贯穿案例</a:t>
            </a:r>
            <a:endParaRPr lang="zh-CN" altLang="en-US" dirty="0">
              <a:latin typeface="+mn-ea"/>
              <a:ea typeface="+mn-ea"/>
            </a:endParaRPr>
          </a:p>
        </p:txBody>
      </p:sp>
      <p:sp>
        <p:nvSpPr>
          <p:cNvPr id="6" name="内容占位符 5"/>
          <p:cNvSpPr>
            <a:spLocks noGrp="1"/>
          </p:cNvSpPr>
          <p:nvPr>
            <p:ph idx="1"/>
          </p:nvPr>
        </p:nvSpPr>
        <p:spPr>
          <a:xfrm>
            <a:off x="323528" y="843558"/>
            <a:ext cx="8352928" cy="635671"/>
          </a:xfrm>
        </p:spPr>
        <p:txBody>
          <a:bodyPr/>
          <a:lstStyle/>
          <a:p>
            <a:r>
              <a:rPr lang="zh-CN" altLang="en-US" dirty="0">
                <a:solidFill>
                  <a:srgbClr val="0070C0"/>
                </a:solidFill>
              </a:rPr>
              <a:t>代码实现：</a:t>
            </a:r>
          </a:p>
        </p:txBody>
      </p:sp>
      <p:sp>
        <p:nvSpPr>
          <p:cNvPr id="12"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8" name="AutoShape 3"/>
          <p:cNvSpPr>
            <a:spLocks noChangeArrowheads="1"/>
          </p:cNvSpPr>
          <p:nvPr/>
        </p:nvSpPr>
        <p:spPr bwMode="auto">
          <a:xfrm>
            <a:off x="1043608" y="1635646"/>
            <a:ext cx="2448272" cy="3231654"/>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for i in str:  </a:t>
            </a:r>
          </a:p>
          <a:p>
            <a:pPr marL="224155" indent="-224155" algn="l" defTabSz="381000">
              <a:lnSpc>
                <a:spcPct val="150000"/>
              </a:lnSpc>
              <a:buClr>
                <a:schemeClr val="folHlink"/>
              </a:buClr>
              <a:buSzPct val="60000"/>
              <a:tabLst>
                <a:tab pos="444500" algn="l"/>
              </a:tabLst>
              <a:defRPr/>
            </a:pPr>
            <a:r>
              <a:rPr lang="en-US" altLang="zh-CN" sz="1400" dirty="0">
                <a:solidFill>
                  <a:srgbClr val="FF0000"/>
                </a:solidFill>
                <a:latin typeface="+mn-ea"/>
                <a:ea typeface="+mn-ea"/>
              </a:rPr>
              <a:t>#</a:t>
            </a:r>
            <a:r>
              <a:rPr lang="zh-CN" altLang="en-US" sz="1400" dirty="0">
                <a:solidFill>
                  <a:srgbClr val="FF0000"/>
                </a:solidFill>
                <a:latin typeface="+mn-ea"/>
                <a:ea typeface="+mn-ea"/>
              </a:rPr>
              <a:t>将</a:t>
            </a:r>
            <a:r>
              <a:rPr lang="en-US" altLang="zh-CN" sz="1400" dirty="0">
                <a:solidFill>
                  <a:srgbClr val="FF0000"/>
                </a:solidFill>
                <a:latin typeface="+mn-ea"/>
                <a:ea typeface="+mn-ea"/>
              </a:rPr>
              <a:t>str</a:t>
            </a:r>
            <a:r>
              <a:rPr lang="zh-CN" altLang="en-US" sz="1400" dirty="0">
                <a:solidFill>
                  <a:srgbClr val="FF0000"/>
                </a:solidFill>
                <a:latin typeface="+mn-ea"/>
                <a:ea typeface="+mn-ea"/>
              </a:rPr>
              <a:t>中的字符分类</a:t>
            </a:r>
          </a:p>
          <a:p>
            <a:pPr marL="224155" indent="-224155" algn="l" defTabSz="381000">
              <a:lnSpc>
                <a:spcPct val="15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if i.islower():</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stra += i</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elif i.isupper():</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strb += i</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elif i.isdigit():</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strc += i</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else:</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strd += i</a:t>
            </a:r>
          </a:p>
        </p:txBody>
      </p:sp>
      <p:sp>
        <p:nvSpPr>
          <p:cNvPr id="7" name="AutoShape 3"/>
          <p:cNvSpPr>
            <a:spLocks noChangeArrowheads="1"/>
          </p:cNvSpPr>
          <p:nvPr/>
        </p:nvSpPr>
        <p:spPr bwMode="auto">
          <a:xfrm>
            <a:off x="4355976" y="1635646"/>
            <a:ext cx="1944216" cy="3231654"/>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if sel == 1:</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print(stra)</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elif sel == 2:</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print(strb)</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elif sel == 3:</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print(strc)</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elif sel == 4:</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print(strd)</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else:</a:t>
            </a: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print('</a:t>
            </a:r>
            <a:r>
              <a:rPr lang="zh-CN" altLang="en-US" sz="1400" dirty="0">
                <a:solidFill>
                  <a:schemeClr val="tx1">
                    <a:lumMod val="75000"/>
                    <a:lumOff val="25000"/>
                  </a:schemeClr>
                </a:solidFill>
                <a:latin typeface="+mn-ea"/>
                <a:ea typeface="+mn-ea"/>
              </a:rPr>
              <a:t>退出系统</a:t>
            </a:r>
            <a:r>
              <a:rPr lang="en-US" altLang="zh-CN" sz="1400" dirty="0">
                <a:solidFill>
                  <a:schemeClr val="tx1">
                    <a:lumMod val="75000"/>
                    <a:lumOff val="25000"/>
                  </a:schemeClr>
                </a:solidFill>
                <a:latin typeface="+mn-ea"/>
                <a:ea typeface="+mn-ea"/>
              </a:rPr>
              <a:t>')</a:t>
            </a:r>
          </a:p>
        </p:txBody>
      </p:sp>
      <p:sp>
        <p:nvSpPr>
          <p:cNvPr id="2" name="椭圆形标注 1"/>
          <p:cNvSpPr/>
          <p:nvPr/>
        </p:nvSpPr>
        <p:spPr bwMode="auto">
          <a:xfrm>
            <a:off x="2447764" y="627534"/>
            <a:ext cx="2088232" cy="1116704"/>
          </a:xfrm>
          <a:prstGeom prst="wedgeEllipseCallout">
            <a:avLst>
              <a:gd name="adj1" fmla="val -40999"/>
              <a:gd name="adj2" fmla="val 71119"/>
            </a:avLst>
          </a:prstGeom>
          <a:solidFill>
            <a:srgbClr val="0070C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dirty="0">
                <a:ea typeface="宋体" panose="02010600030101010101" pitchFamily="2" charset="-122"/>
              </a:rPr>
              <a:t>遍历字符串，将字符分类</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9" name="椭圆形标注 8"/>
          <p:cNvSpPr/>
          <p:nvPr/>
        </p:nvSpPr>
        <p:spPr bwMode="auto">
          <a:xfrm>
            <a:off x="6372200" y="627534"/>
            <a:ext cx="2088232" cy="1063918"/>
          </a:xfrm>
          <a:prstGeom prst="wedgeEllipseCallout">
            <a:avLst>
              <a:gd name="adj1" fmla="val -72112"/>
              <a:gd name="adj2" fmla="val 85125"/>
            </a:avLst>
          </a:prstGeom>
          <a:solidFill>
            <a:srgbClr val="0070C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确认选项，打印相应的内容</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7" grpId="0" bldLvl="0" animBg="1"/>
      <p:bldP spid="2" grpId="0" bldLvl="0" animBg="1"/>
      <p:bldP spid="9"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252538"/>
            <a:ext cx="7772400" cy="1103313"/>
          </a:xfrm>
        </p:spPr>
        <p:txBody>
          <a:bodyPr anchor="ctr">
            <a:normAutofit/>
          </a:bodyPr>
          <a:lstStyle/>
          <a:p>
            <a:pPr fontAlgn="base"/>
            <a:r>
              <a:rPr lang="zh-CN" altLang="en-US" strike="noStrike" noProof="1"/>
              <a:t>第</a:t>
            </a:r>
            <a:r>
              <a:rPr lang="zh-CN" altLang="en-US" noProof="1"/>
              <a:t>三</a:t>
            </a:r>
            <a:r>
              <a:rPr lang="zh-CN" altLang="en-US" strike="noStrike" noProof="1"/>
              <a:t>课时</a:t>
            </a:r>
          </a:p>
        </p:txBody>
      </p:sp>
      <p:sp>
        <p:nvSpPr>
          <p:cNvPr id="3" name="副标题 2"/>
          <p:cNvSpPr>
            <a:spLocks noGrp="1"/>
          </p:cNvSpPr>
          <p:nvPr>
            <p:ph type="subTitle" idx="1"/>
          </p:nvPr>
        </p:nvSpPr>
        <p:spPr/>
        <p:txBody>
          <a:bodyPr/>
          <a:lstStyle/>
          <a:p>
            <a:r>
              <a:rPr lang="zh-CN" altLang="en-US" dirty="0"/>
              <a:t>字符串常用函数</a:t>
            </a:r>
          </a:p>
        </p:txBody>
      </p:sp>
    </p:spTree>
  </p:cSld>
  <p:clrMapOvr>
    <a:masterClrMapping/>
  </p:clrMapOvr>
  <p:transition spd="slow" advTm="964"/>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知识回顾</a:t>
            </a:r>
          </a:p>
        </p:txBody>
      </p:sp>
      <p:sp>
        <p:nvSpPr>
          <p:cNvPr id="4" name="内容占位符 5"/>
          <p:cNvSpPr>
            <a:spLocks noGrp="1"/>
          </p:cNvSpPr>
          <p:nvPr>
            <p:ph idx="1"/>
          </p:nvPr>
        </p:nvSpPr>
        <p:spPr>
          <a:xfrm>
            <a:off x="322179" y="699542"/>
            <a:ext cx="6986125" cy="2592288"/>
          </a:xfrm>
        </p:spPr>
        <p:txBody>
          <a:bodyPr/>
          <a:lstStyle/>
          <a:p>
            <a:r>
              <a:rPr lang="zh-CN" altLang="zh-CN" dirty="0">
                <a:solidFill>
                  <a:schemeClr val="tx1"/>
                </a:solidFill>
              </a:rPr>
              <a:t>实现统计字符串</a:t>
            </a:r>
            <a:r>
              <a:rPr lang="zh-CN" altLang="en-US" dirty="0">
                <a:solidFill>
                  <a:schemeClr val="tx1"/>
                </a:solidFill>
              </a:rPr>
              <a:t>中</a:t>
            </a:r>
            <a:r>
              <a:rPr lang="zh-CN" altLang="zh-CN" dirty="0">
                <a:solidFill>
                  <a:schemeClr val="tx1"/>
                </a:solidFill>
              </a:rPr>
              <a:t>单词个数用到的方法？</a:t>
            </a:r>
            <a:endParaRPr lang="en-US" altLang="zh-CN" dirty="0">
              <a:solidFill>
                <a:schemeClr val="tx1"/>
              </a:solidFill>
            </a:endParaRPr>
          </a:p>
          <a:p>
            <a:r>
              <a:rPr lang="zh-CN" altLang="en-US" dirty="0">
                <a:solidFill>
                  <a:schemeClr val="tx1"/>
                </a:solidFill>
              </a:rPr>
              <a:t>如何判断字符串是否为纯英文或是数字</a:t>
            </a:r>
            <a:endParaRPr lang="en-US" altLang="zh-CN" dirty="0">
              <a:solidFill>
                <a:schemeClr val="tx1"/>
              </a:solidFill>
            </a:endParaRPr>
          </a:p>
          <a:p>
            <a:r>
              <a:rPr lang="zh-CN" altLang="en-US" dirty="0">
                <a:solidFill>
                  <a:schemeClr val="tx1"/>
                </a:solidFill>
              </a:rPr>
              <a:t>如何判断字符串是否全部为大写或是小写</a:t>
            </a:r>
            <a:endParaRPr lang="zh-CN" altLang="zh-CN" dirty="0">
              <a:solidFill>
                <a:schemeClr val="tx1"/>
              </a:solidFill>
            </a:endParaRPr>
          </a:p>
          <a:p>
            <a:endParaRPr lang="en-US" altLang="zh-CN"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sym typeface="+mn-ea"/>
              </a:rPr>
              <a:t>字符串常用方法</a:t>
            </a:r>
            <a:endParaRPr lang="en-US" altLang="zh-CN" dirty="0"/>
          </a:p>
        </p:txBody>
      </p:sp>
      <p:sp>
        <p:nvSpPr>
          <p:cNvPr id="5" name="AutoShape 3"/>
          <p:cNvSpPr>
            <a:spLocks noChangeArrowheads="1"/>
          </p:cNvSpPr>
          <p:nvPr/>
        </p:nvSpPr>
        <p:spPr bwMode="auto">
          <a:xfrm>
            <a:off x="537845" y="1646555"/>
            <a:ext cx="7833360" cy="1850684"/>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str.index("Hello") # 返回值：0</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str.index("o") # 返回值：4</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str.index("W") # 返回值：6</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str.index("R") # 返回值：报错信息 ，因为R并不包含其中。</a:t>
            </a:r>
          </a:p>
        </p:txBody>
      </p:sp>
      <p:sp>
        <p:nvSpPr>
          <p:cNvPr id="4" name="矩形 3"/>
          <p:cNvSpPr/>
          <p:nvPr/>
        </p:nvSpPr>
        <p:spPr>
          <a:xfrm>
            <a:off x="251460" y="751205"/>
            <a:ext cx="8713470" cy="706755"/>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ea typeface="+mn-ea"/>
              </a:rPr>
              <a:t>index() </a:t>
            </a:r>
            <a:r>
              <a:rPr lang="zh-CN" altLang="en-US" sz="2000" dirty="0">
                <a:solidFill>
                  <a:srgbClr val="0070C0"/>
                </a:solidFill>
                <a:latin typeface="+mn-ea"/>
                <a:ea typeface="+mn-ea"/>
              </a:rPr>
              <a:t>判断字符串是否包含指定的字符，并返回开始的索引值，如果不包含会报错</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sym typeface="+mn-ea"/>
              </a:rPr>
              <a:t>字符串常用方法</a:t>
            </a:r>
            <a:endParaRPr lang="en-US" altLang="zh-CN" dirty="0"/>
          </a:p>
        </p:txBody>
      </p:sp>
      <p:sp>
        <p:nvSpPr>
          <p:cNvPr id="4" name="矩形 3"/>
          <p:cNvSpPr/>
          <p:nvPr/>
        </p:nvSpPr>
        <p:spPr>
          <a:xfrm>
            <a:off x="251460" y="751205"/>
            <a:ext cx="8713470" cy="398780"/>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ea typeface="+mn-ea"/>
              </a:rPr>
              <a:t>title() </a:t>
            </a:r>
            <a:r>
              <a:rPr lang="zh-CN" altLang="en-US" sz="2000" dirty="0">
                <a:solidFill>
                  <a:srgbClr val="0070C0"/>
                </a:solidFill>
                <a:latin typeface="+mn-ea"/>
                <a:ea typeface="+mn-ea"/>
              </a:rPr>
              <a:t>将字符串转化为标题，即所有单词的首字母大写，其他字母小写</a:t>
            </a:r>
          </a:p>
        </p:txBody>
      </p:sp>
      <p:sp>
        <p:nvSpPr>
          <p:cNvPr id="6" name="AutoShape 3"/>
          <p:cNvSpPr>
            <a:spLocks noChangeArrowheads="1"/>
          </p:cNvSpPr>
          <p:nvPr/>
        </p:nvSpPr>
        <p:spPr bwMode="auto">
          <a:xfrm>
            <a:off x="537845" y="1988820"/>
            <a:ext cx="7833360" cy="1387397"/>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a="hello World CHINA"</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b=a.title()</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#b为Hello </a:t>
            </a:r>
            <a:r>
              <a:rPr lang="en-US" altLang="zh-CN" sz="2000" dirty="0" smtClean="0">
                <a:latin typeface="+mn-ea"/>
                <a:ea typeface="+mn-ea"/>
                <a:sym typeface="+mn-ea"/>
              </a:rPr>
              <a:t>World China</a:t>
            </a:r>
            <a:endParaRPr lang="en-US" altLang="zh-CN" sz="2000" dirty="0">
              <a:latin typeface="+mn-ea"/>
              <a:ea typeface="+mn-ea"/>
              <a:sym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6"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sym typeface="+mn-ea"/>
              </a:rPr>
              <a:t>字符串常用方法</a:t>
            </a:r>
            <a:endParaRPr lang="en-US" altLang="zh-CN" dirty="0"/>
          </a:p>
        </p:txBody>
      </p:sp>
      <p:sp>
        <p:nvSpPr>
          <p:cNvPr id="2" name="矩形 1"/>
          <p:cNvSpPr/>
          <p:nvPr/>
        </p:nvSpPr>
        <p:spPr>
          <a:xfrm>
            <a:off x="215265" y="744855"/>
            <a:ext cx="8713470" cy="398780"/>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ea typeface="+mn-ea"/>
              </a:rPr>
              <a:t>capitalize() </a:t>
            </a:r>
            <a:r>
              <a:rPr lang="zh-CN" altLang="en-US" sz="2000" dirty="0">
                <a:solidFill>
                  <a:srgbClr val="0070C0"/>
                </a:solidFill>
                <a:latin typeface="+mn-ea"/>
                <a:ea typeface="+mn-ea"/>
              </a:rPr>
              <a:t>将字符串的第一个字母转换成大写其他字母为小写</a:t>
            </a:r>
          </a:p>
        </p:txBody>
      </p:sp>
      <p:sp>
        <p:nvSpPr>
          <p:cNvPr id="3" name="AutoShape 3"/>
          <p:cNvSpPr>
            <a:spLocks noChangeArrowheads="1"/>
          </p:cNvSpPr>
          <p:nvPr/>
        </p:nvSpPr>
        <p:spPr bwMode="auto">
          <a:xfrm>
            <a:off x="360045" y="1525270"/>
            <a:ext cx="7833360" cy="1387397"/>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a="gege"</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b=a.capitilize()，</a:t>
            </a:r>
          </a:p>
          <a:p>
            <a:pPr marL="224155" lvl="1" indent="-224155" algn="l" defTabSz="381000">
              <a:lnSpc>
                <a:spcPct val="150000"/>
              </a:lnSpc>
              <a:buClr>
                <a:schemeClr val="folHlink"/>
              </a:buClr>
              <a:buSzPct val="60000"/>
              <a:tabLst>
                <a:tab pos="444500" algn="l"/>
              </a:tabLst>
              <a:defRPr/>
            </a:pPr>
            <a:r>
              <a:rPr lang="en-US" altLang="zh-CN" sz="2000" dirty="0">
                <a:latin typeface="+mn-ea"/>
                <a:ea typeface="+mn-ea"/>
                <a:sym typeface="+mn-ea"/>
              </a:rPr>
              <a:t>#b为Gege</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6"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如何使用字符串</a:t>
            </a:r>
          </a:p>
        </p:txBody>
      </p:sp>
      <p:sp>
        <p:nvSpPr>
          <p:cNvPr id="5" name="矩形 4"/>
          <p:cNvSpPr/>
          <p:nvPr/>
        </p:nvSpPr>
        <p:spPr>
          <a:xfrm>
            <a:off x="251460" y="627380"/>
            <a:ext cx="8298815" cy="706755"/>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ea typeface="+mn-ea"/>
              </a:rPr>
              <a:t>split()  </a:t>
            </a:r>
            <a:r>
              <a:rPr lang="zh-CN" altLang="en-US" sz="2000" dirty="0">
                <a:solidFill>
                  <a:srgbClr val="0070C0"/>
                </a:solidFill>
                <a:latin typeface="+mn-ea"/>
                <a:ea typeface="+mn-ea"/>
              </a:rPr>
              <a:t>通过指定分隔符对字符串进行切片，如果参数num 有指定值，则仅分隔 num 个子字符串</a:t>
            </a:r>
            <a:r>
              <a:rPr lang="en-US" altLang="zh-CN" sz="2000" dirty="0">
                <a:solidFill>
                  <a:srgbClr val="0070C0"/>
                </a:solidFill>
                <a:latin typeface="+mn-ea"/>
                <a:ea typeface="+mn-ea"/>
              </a:rPr>
              <a:t>,</a:t>
            </a:r>
            <a:r>
              <a:rPr lang="zh-CN" altLang="en-US" sz="2000" dirty="0">
                <a:solidFill>
                  <a:srgbClr val="0070C0"/>
                </a:solidFill>
                <a:latin typeface="+mn-ea"/>
                <a:ea typeface="+mn-ea"/>
              </a:rPr>
              <a:t>返回列表</a:t>
            </a:r>
          </a:p>
        </p:txBody>
      </p:sp>
      <p:sp>
        <p:nvSpPr>
          <p:cNvPr id="11" name="矩形 10"/>
          <p:cNvSpPr/>
          <p:nvPr/>
        </p:nvSpPr>
        <p:spPr>
          <a:xfrm>
            <a:off x="615315" y="2710815"/>
            <a:ext cx="6028055" cy="1938020"/>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str = "Line1-abcdef   Line2-abc    Line4-abcd   "</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(str.split( '  '  ))</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sym typeface="+mn-ea"/>
              </a:rPr>
              <a:t>print( str.split( ))</a:t>
            </a:r>
            <a:endParaRPr lang="en-US" altLang="zh-CN" sz="2000" dirty="0">
              <a:solidFill>
                <a:schemeClr val="tx1">
                  <a:lumMod val="75000"/>
                  <a:lumOff val="25000"/>
                </a:schemeClr>
              </a:solidFill>
              <a:latin typeface="+mn-ea"/>
            </a:endParaRP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(str.split(' ', 1 ))</a:t>
            </a:r>
          </a:p>
        </p:txBody>
      </p:sp>
      <p:sp>
        <p:nvSpPr>
          <p:cNvPr id="12" name="矩形 11"/>
          <p:cNvSpPr/>
          <p:nvPr/>
        </p:nvSpPr>
        <p:spPr>
          <a:xfrm>
            <a:off x="615280" y="2049524"/>
            <a:ext cx="1368152"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代码举例：</a:t>
            </a:r>
            <a:endParaRPr lang="en-US" sz="2000" dirty="0">
              <a:solidFill>
                <a:srgbClr val="0070C0"/>
              </a:solidFill>
              <a:latin typeface="+mn-ea"/>
              <a:ea typeface="+mn-ea"/>
            </a:endParaRPr>
          </a:p>
        </p:txBody>
      </p:sp>
      <p:sp>
        <p:nvSpPr>
          <p:cNvPr id="8"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9" name="矩形 8"/>
          <p:cNvSpPr/>
          <p:nvPr/>
        </p:nvSpPr>
        <p:spPr>
          <a:xfrm>
            <a:off x="615315" y="1334770"/>
            <a:ext cx="7086600" cy="553085"/>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zh-CN" altLang="en-US" sz="2000" dirty="0">
                <a:solidFill>
                  <a:srgbClr val="0070C0"/>
                </a:solidFill>
                <a:latin typeface="+mn-ea"/>
                <a:ea typeface="+mn-ea"/>
                <a:cs typeface="+mn-ea"/>
              </a:rPr>
              <a:t>语法格式：</a:t>
            </a:r>
            <a:r>
              <a:rPr lang="en-US" altLang="zh-CN" sz="2000" b="1" dirty="0" err="1">
                <a:solidFill>
                  <a:schemeClr val="tx1">
                    <a:lumMod val="75000"/>
                    <a:lumOff val="25000"/>
                  </a:schemeClr>
                </a:solidFill>
                <a:latin typeface="+mn-ea"/>
                <a:ea typeface="+mn-ea"/>
                <a:cs typeface="+mn-ea"/>
              </a:rPr>
              <a:t>str.split</a:t>
            </a:r>
            <a:r>
              <a:rPr lang="en-US" altLang="zh-CN" sz="2000" b="1" dirty="0">
                <a:solidFill>
                  <a:schemeClr val="tx1">
                    <a:lumMod val="75000"/>
                    <a:lumOff val="25000"/>
                  </a:schemeClr>
                </a:solidFill>
                <a:latin typeface="+mn-ea"/>
                <a:ea typeface="+mn-ea"/>
                <a:cs typeface="+mn-ea"/>
              </a:rPr>
              <a:t>(</a:t>
            </a:r>
            <a:r>
              <a:rPr lang="en-US" altLang="zh-CN" sz="2000" b="1" dirty="0" err="1">
                <a:solidFill>
                  <a:schemeClr val="tx1">
                    <a:lumMod val="75000"/>
                    <a:lumOff val="25000"/>
                  </a:schemeClr>
                </a:solidFill>
                <a:latin typeface="+mn-ea"/>
                <a:ea typeface="+mn-ea"/>
                <a:cs typeface="+mn-ea"/>
              </a:rPr>
              <a:t>str</a:t>
            </a:r>
            <a:r>
              <a:rPr lang="en-US" altLang="zh-CN" sz="2000" b="1" dirty="0">
                <a:solidFill>
                  <a:schemeClr val="tx1">
                    <a:lumMod val="75000"/>
                    <a:lumOff val="25000"/>
                  </a:schemeClr>
                </a:solidFill>
                <a:latin typeface="+mn-ea"/>
                <a:ea typeface="+mn-ea"/>
                <a:cs typeface="+mn-ea"/>
              </a:rPr>
              <a:t>="</a:t>
            </a:r>
            <a:r>
              <a:rPr lang="zh-CN" altLang="en-US" sz="2000" b="1" dirty="0">
                <a:solidFill>
                  <a:schemeClr val="tx1">
                    <a:lumMod val="75000"/>
                    <a:lumOff val="25000"/>
                  </a:schemeClr>
                </a:solidFill>
                <a:latin typeface="+mn-ea"/>
                <a:ea typeface="+mn-ea"/>
                <a:cs typeface="+mn-ea"/>
              </a:rPr>
              <a:t>分隔符</a:t>
            </a:r>
            <a:r>
              <a:rPr lang="en-US" altLang="zh-CN" sz="2000" b="1" dirty="0">
                <a:solidFill>
                  <a:schemeClr val="tx1">
                    <a:lumMod val="75000"/>
                    <a:lumOff val="25000"/>
                  </a:schemeClr>
                </a:solidFill>
                <a:latin typeface="+mn-ea"/>
                <a:ea typeface="+mn-ea"/>
                <a:cs typeface="+mn-ea"/>
              </a:rPr>
              <a:t>", </a:t>
            </a:r>
            <a:r>
              <a:rPr lang="en-US" altLang="zh-CN" sz="2000" b="1" dirty="0" err="1">
                <a:solidFill>
                  <a:schemeClr val="tx1">
                    <a:lumMod val="75000"/>
                    <a:lumOff val="25000"/>
                  </a:schemeClr>
                </a:solidFill>
                <a:latin typeface="+mn-ea"/>
                <a:ea typeface="+mn-ea"/>
                <a:cs typeface="+mn-ea"/>
              </a:rPr>
              <a:t>num</a:t>
            </a:r>
            <a:r>
              <a:rPr lang="en-US" altLang="zh-CN" sz="2000" b="1" dirty="0">
                <a:solidFill>
                  <a:schemeClr val="tx1">
                    <a:lumMod val="75000"/>
                    <a:lumOff val="25000"/>
                  </a:schemeClr>
                </a:solidFill>
                <a:latin typeface="+mn-ea"/>
                <a:ea typeface="+mn-ea"/>
                <a:cs typeface="+mn-ea"/>
              </a:rPr>
              <a:t>=</a:t>
            </a:r>
            <a:r>
              <a:rPr lang="zh-CN" altLang="en-US" sz="2000" b="1" dirty="0">
                <a:solidFill>
                  <a:schemeClr val="tx1">
                    <a:lumMod val="75000"/>
                    <a:lumOff val="25000"/>
                  </a:schemeClr>
                </a:solidFill>
                <a:latin typeface="+mn-ea"/>
                <a:ea typeface="+mn-ea"/>
                <a:cs typeface="+mn-ea"/>
              </a:rPr>
              <a:t>分割次数</a:t>
            </a:r>
            <a:r>
              <a:rPr lang="en-US" altLang="zh-CN" sz="2000" b="1" dirty="0">
                <a:solidFill>
                  <a:schemeClr val="tx1">
                    <a:lumMod val="75000"/>
                    <a:lumOff val="25000"/>
                  </a:schemeClr>
                </a:solidFill>
                <a:latin typeface="+mn-ea"/>
                <a:ea typeface="+mn-ea"/>
                <a:cs typeface="+mn-ea"/>
              </a:rPr>
              <a:t>)</a:t>
            </a:r>
          </a:p>
        </p:txBody>
      </p:sp>
      <p:sp>
        <p:nvSpPr>
          <p:cNvPr id="4" name="文本框 3"/>
          <p:cNvSpPr txBox="1"/>
          <p:nvPr/>
        </p:nvSpPr>
        <p:spPr>
          <a:xfrm>
            <a:off x="7052945" y="3080385"/>
            <a:ext cx="1690370" cy="1198880"/>
          </a:xfrm>
          <a:prstGeom prst="rect">
            <a:avLst/>
          </a:prstGeom>
          <a:noFill/>
          <a:ln>
            <a:solidFill>
              <a:srgbClr val="00B0F0"/>
            </a:solidFill>
          </a:ln>
        </p:spPr>
        <p:txBody>
          <a:bodyPr wrap="square" rtlCol="0" anchor="t">
            <a:spAutoFit/>
          </a:bodyPr>
          <a:lstStyle/>
          <a:p>
            <a:pPr algn="l"/>
            <a:r>
              <a:rPr lang="zh-CN" altLang="en-US">
                <a:solidFill>
                  <a:srgbClr val="FF0000"/>
                </a:solidFill>
              </a:rPr>
              <a:t>返回值</a:t>
            </a:r>
          </a:p>
          <a:p>
            <a:pPr algn="l"/>
            <a:endParaRPr lang="zh-CN" altLang="en-US">
              <a:solidFill>
                <a:srgbClr val="FF0000"/>
              </a:solidFill>
            </a:endParaRPr>
          </a:p>
          <a:p>
            <a:pPr algn="l"/>
            <a:r>
              <a:rPr lang="zh-CN" altLang="en-US">
                <a:solidFill>
                  <a:srgbClr val="FF0000"/>
                </a:solidFill>
              </a:rPr>
              <a:t>返回分割后的字符串列表</a:t>
            </a:r>
            <a:r>
              <a:rPr lang="zh-CN" altLang="en-US"/>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如何使用字符串</a:t>
            </a:r>
          </a:p>
        </p:txBody>
      </p:sp>
      <p:sp>
        <p:nvSpPr>
          <p:cNvPr id="5" name="矩形 4"/>
          <p:cNvSpPr/>
          <p:nvPr/>
        </p:nvSpPr>
        <p:spPr>
          <a:xfrm>
            <a:off x="251460" y="627380"/>
            <a:ext cx="8714105" cy="706755"/>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ea typeface="+mn-ea"/>
              </a:rPr>
              <a:t>join </a:t>
            </a:r>
            <a:r>
              <a:rPr lang="zh-CN" altLang="en-US" sz="2000" dirty="0">
                <a:solidFill>
                  <a:srgbClr val="0070C0"/>
                </a:solidFill>
                <a:latin typeface="+mn-ea"/>
                <a:ea typeface="+mn-ea"/>
              </a:rPr>
              <a:t> 连接字符串数组。将字符串、元组、列表中的元素以指定的字符(分隔符)连接生成一个新的字符串</a:t>
            </a:r>
          </a:p>
        </p:txBody>
      </p:sp>
      <p:sp>
        <p:nvSpPr>
          <p:cNvPr id="11" name="矩形 10"/>
          <p:cNvSpPr/>
          <p:nvPr/>
        </p:nvSpPr>
        <p:spPr>
          <a:xfrm>
            <a:off x="615624" y="3320807"/>
            <a:ext cx="3672408" cy="1476375"/>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seq = ['1','2','3','4','5']</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sep = '+'</a:t>
            </a: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 (sep.join(seq))</a:t>
            </a:r>
          </a:p>
        </p:txBody>
      </p:sp>
      <p:sp>
        <p:nvSpPr>
          <p:cNvPr id="12" name="矩形 11"/>
          <p:cNvSpPr/>
          <p:nvPr/>
        </p:nvSpPr>
        <p:spPr>
          <a:xfrm>
            <a:off x="615280" y="2700399"/>
            <a:ext cx="1368152"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代码举例：</a:t>
            </a:r>
            <a:endParaRPr lang="en-US" sz="2000" dirty="0">
              <a:solidFill>
                <a:srgbClr val="0070C0"/>
              </a:solidFill>
              <a:latin typeface="+mn-ea"/>
              <a:ea typeface="+mn-ea"/>
            </a:endParaRPr>
          </a:p>
        </p:txBody>
      </p:sp>
      <p:sp>
        <p:nvSpPr>
          <p:cNvPr id="13" name="矩形 12"/>
          <p:cNvSpPr/>
          <p:nvPr/>
        </p:nvSpPr>
        <p:spPr>
          <a:xfrm>
            <a:off x="5474072" y="2700399"/>
            <a:ext cx="1611950"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输出结果：</a:t>
            </a:r>
            <a:endParaRPr lang="en-US" sz="2000" dirty="0">
              <a:solidFill>
                <a:srgbClr val="0070C0"/>
              </a:solidFill>
              <a:latin typeface="+mn-ea"/>
              <a:ea typeface="+mn-ea"/>
            </a:endParaRPr>
          </a:p>
        </p:txBody>
      </p:sp>
      <p:sp>
        <p:nvSpPr>
          <p:cNvPr id="8"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9" name="矩形 8"/>
          <p:cNvSpPr/>
          <p:nvPr/>
        </p:nvSpPr>
        <p:spPr>
          <a:xfrm>
            <a:off x="615370" y="1231225"/>
            <a:ext cx="5616624" cy="553085"/>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zh-CN" altLang="en-US" sz="2000" dirty="0">
                <a:solidFill>
                  <a:srgbClr val="0070C0"/>
                </a:solidFill>
                <a:latin typeface="+mn-ea"/>
                <a:ea typeface="+mn-ea"/>
              </a:rPr>
              <a:t>语法格式：</a:t>
            </a:r>
            <a:r>
              <a:rPr lang="en-US" altLang="zh-CN" sz="2000" b="1" dirty="0">
                <a:solidFill>
                  <a:schemeClr val="tx1">
                    <a:lumMod val="75000"/>
                    <a:lumOff val="25000"/>
                  </a:schemeClr>
                </a:solidFill>
                <a:latin typeface="+mn-ea"/>
              </a:rPr>
              <a:t>'</a:t>
            </a:r>
            <a:r>
              <a:rPr lang="en-US" altLang="zh-CN" sz="2000" b="1" dirty="0" err="1">
                <a:solidFill>
                  <a:schemeClr val="tx1">
                    <a:lumMod val="75000"/>
                    <a:lumOff val="25000"/>
                  </a:schemeClr>
                </a:solidFill>
                <a:latin typeface="+mn-ea"/>
              </a:rPr>
              <a:t>sep</a:t>
            </a:r>
            <a:r>
              <a:rPr lang="en-US" altLang="zh-CN" sz="2000" b="1" dirty="0">
                <a:solidFill>
                  <a:schemeClr val="tx1">
                    <a:lumMod val="75000"/>
                    <a:lumOff val="25000"/>
                  </a:schemeClr>
                </a:solidFill>
                <a:latin typeface="+mn-ea"/>
              </a:rPr>
              <a:t>'.join(</a:t>
            </a:r>
            <a:r>
              <a:rPr lang="en-US" altLang="zh-CN" sz="2000" b="1" dirty="0" err="1">
                <a:solidFill>
                  <a:schemeClr val="tx1">
                    <a:lumMod val="75000"/>
                    <a:lumOff val="25000"/>
                  </a:schemeClr>
                </a:solidFill>
                <a:latin typeface="+mn-ea"/>
              </a:rPr>
              <a:t>seq</a:t>
            </a:r>
            <a:r>
              <a:rPr lang="en-US" altLang="zh-CN" sz="2000" b="1" dirty="0">
                <a:solidFill>
                  <a:schemeClr val="tx1">
                    <a:lumMod val="75000"/>
                    <a:lumOff val="25000"/>
                  </a:schemeClr>
                </a:solidFill>
                <a:latin typeface="+mn-ea"/>
              </a:rPr>
              <a:t>)</a:t>
            </a:r>
          </a:p>
        </p:txBody>
      </p:sp>
      <p:sp>
        <p:nvSpPr>
          <p:cNvPr id="4" name="文本框 3"/>
          <p:cNvSpPr txBox="1"/>
          <p:nvPr/>
        </p:nvSpPr>
        <p:spPr>
          <a:xfrm>
            <a:off x="615315" y="1784350"/>
            <a:ext cx="6934835" cy="706755"/>
          </a:xfrm>
          <a:prstGeom prst="rect">
            <a:avLst/>
          </a:prstGeom>
          <a:noFill/>
        </p:spPr>
        <p:txBody>
          <a:bodyPr wrap="square" rtlCol="0" anchor="t">
            <a:spAutoFit/>
            <a:scene3d>
              <a:camera prst="orthographicFront"/>
              <a:lightRig rig="threePt" dir="t"/>
            </a:scene3d>
          </a:bodyPr>
          <a:lstStyle/>
          <a:p>
            <a:pPr algn="l"/>
            <a:r>
              <a:rPr lang="zh-CN" altLang="en-US" sz="2000" dirty="0">
                <a:ln/>
                <a:solidFill>
                  <a:schemeClr val="accent1"/>
                </a:solidFill>
                <a:effectLst>
                  <a:outerShdw blurRad="38100" dist="25400" dir="5400000" algn="ctr" rotWithShape="0">
                    <a:srgbClr val="6E747A">
                      <a:alpha val="43000"/>
                    </a:srgbClr>
                  </a:outerShdw>
                </a:effectLst>
                <a:latin typeface="+mn-ea"/>
                <a:ea typeface="+mn-ea"/>
                <a:cs typeface="+mn-ea"/>
              </a:rPr>
              <a:t>sep：分隔符。可以为空</a:t>
            </a:r>
          </a:p>
          <a:p>
            <a:pPr algn="l"/>
            <a:r>
              <a:rPr lang="zh-CN" altLang="en-US" sz="2000" dirty="0">
                <a:ln/>
                <a:solidFill>
                  <a:schemeClr val="accent1"/>
                </a:solidFill>
                <a:effectLst>
                  <a:outerShdw blurRad="38100" dist="25400" dir="5400000" algn="ctr" rotWithShape="0">
                    <a:srgbClr val="6E747A">
                      <a:alpha val="43000"/>
                    </a:srgbClr>
                  </a:outerShdw>
                </a:effectLst>
                <a:latin typeface="+mn-ea"/>
                <a:ea typeface="+mn-ea"/>
                <a:cs typeface="+mn-ea"/>
              </a:rPr>
              <a:t>seq：要连接的元素序列、字符串、元组、字典</a:t>
            </a:r>
          </a:p>
        </p:txBody>
      </p:sp>
      <p:sp>
        <p:nvSpPr>
          <p:cNvPr id="6" name="文本框 5"/>
          <p:cNvSpPr txBox="1"/>
          <p:nvPr/>
        </p:nvSpPr>
        <p:spPr>
          <a:xfrm>
            <a:off x="5010150" y="3875405"/>
            <a:ext cx="2540000" cy="398780"/>
          </a:xfrm>
          <a:prstGeom prst="rect">
            <a:avLst/>
          </a:prstGeom>
          <a:noFill/>
          <a:ln>
            <a:solidFill>
              <a:srgbClr val="5AADD6"/>
            </a:solidFill>
          </a:ln>
        </p:spPr>
        <p:txBody>
          <a:bodyPr wrap="square" rtlCol="0" anchor="t">
            <a:spAutoFit/>
          </a:bodyPr>
          <a:lstStyle/>
          <a:p>
            <a:r>
              <a:rPr lang="zh-CN" altLang="en-US" sz="2000">
                <a:latin typeface="+mn-ea"/>
                <a:ea typeface="+mn-ea"/>
              </a:rPr>
              <a:t>1+2+3+4+5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P spid="12" grpId="1" animBg="1"/>
      <p:bldP spid="13" grpId="0" animBg="1"/>
      <p:bldP spid="13" grpId="1" animBg="1"/>
      <p:bldP spid="6" grpId="0" animBg="1"/>
      <p:bldP spid="6"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课堂编程</a:t>
            </a:r>
          </a:p>
        </p:txBody>
      </p:sp>
      <p:sp>
        <p:nvSpPr>
          <p:cNvPr id="4" name="内容占位符 3"/>
          <p:cNvSpPr>
            <a:spLocks noGrp="1"/>
          </p:cNvSpPr>
          <p:nvPr>
            <p:ph idx="1"/>
          </p:nvPr>
        </p:nvSpPr>
        <p:spPr/>
        <p:txBody>
          <a:bodyPr/>
          <a:lstStyle/>
          <a:p>
            <a:r>
              <a:rPr lang="zh-CN" altLang="en-US" dirty="0"/>
              <a:t>生成四位验证码，其中包含大写、小写或数字。</a:t>
            </a:r>
            <a:endParaRPr lang="en-US" altLang="zh-CN" dirty="0"/>
          </a:p>
          <a:p>
            <a:r>
              <a:rPr lang="zh-CN" altLang="en-US" dirty="0"/>
              <a:t>思路提示</a:t>
            </a:r>
            <a:endParaRPr lang="en-US" altLang="zh-CN" dirty="0"/>
          </a:p>
          <a:p>
            <a:pPr lvl="1"/>
            <a:r>
              <a:rPr lang="zh-CN" altLang="en-US" dirty="0"/>
              <a:t>分析需求，根据需求展开思路</a:t>
            </a:r>
            <a:endParaRPr lang="en-US" altLang="zh-CN" dirty="0"/>
          </a:p>
          <a:p>
            <a:pPr lvl="1"/>
            <a:r>
              <a:rPr lang="zh-CN" altLang="en-US" dirty="0"/>
              <a:t>首先生成字母和数字</a:t>
            </a:r>
            <a:r>
              <a:rPr lang="en-US" altLang="zh-CN" dirty="0"/>
              <a:t>,</a:t>
            </a:r>
            <a:r>
              <a:rPr lang="zh-CN" altLang="en-US" dirty="0"/>
              <a:t>并连接成一个字符串</a:t>
            </a:r>
            <a:endParaRPr lang="en-US" altLang="zh-CN" dirty="0"/>
          </a:p>
          <a:p>
            <a:pPr lvl="1"/>
            <a:r>
              <a:rPr lang="zh-CN" altLang="en-US" dirty="0"/>
              <a:t>从中连续随机抽取</a:t>
            </a:r>
            <a:r>
              <a:rPr lang="en-US" altLang="zh-CN" dirty="0"/>
              <a:t>4</a:t>
            </a:r>
            <a:r>
              <a:rPr lang="zh-CN" altLang="en-US" dirty="0"/>
              <a:t>个字符，并连接成字符串</a:t>
            </a:r>
          </a:p>
        </p:txBody>
      </p:sp>
      <p:sp>
        <p:nvSpPr>
          <p:cNvPr id="11" name="AutoShape 17"/>
          <p:cNvSpPr>
            <a:spLocks noChangeArrowheads="1"/>
          </p:cNvSpPr>
          <p:nvPr/>
        </p:nvSpPr>
        <p:spPr bwMode="auto">
          <a:xfrm>
            <a:off x="3231573" y="4227934"/>
            <a:ext cx="2733607" cy="373663"/>
          </a:xfrm>
          <a:prstGeom prst="wedgeRoundRectCallout">
            <a:avLst>
              <a:gd name="adj1" fmla="val -30079"/>
              <a:gd name="adj2" fmla="val -52764"/>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ctr">
            <a:spAutoFit/>
          </a:bodyPr>
          <a:lstStyle/>
          <a:p>
            <a:pPr marL="0" lvl="1" indent="457200" eaLnBrk="0" hangingPunct="0">
              <a:buClr>
                <a:srgbClr val="233DA9"/>
              </a:buClr>
              <a:buSzPct val="80000"/>
            </a:pPr>
            <a:r>
              <a:rPr lang="zh-CN" altLang="en-US" sz="1600" dirty="0">
                <a:solidFill>
                  <a:schemeClr val="bg1"/>
                </a:solidFill>
              </a:rPr>
              <a:t>完成时间</a:t>
            </a:r>
            <a:r>
              <a:rPr lang="zh-CN" altLang="en-US" sz="1600" dirty="0">
                <a:solidFill>
                  <a:schemeClr val="bg1"/>
                </a:solidFill>
                <a:latin typeface="Arial" panose="020B0604020202020204" pitchFamily="34" charset="0"/>
                <a:ea typeface="黑体" panose="02010609060101010101" pitchFamily="2" charset="-122"/>
              </a:rPr>
              <a:t>：</a:t>
            </a:r>
            <a:r>
              <a:rPr lang="en-US" altLang="zh-CN" sz="1600" dirty="0">
                <a:solidFill>
                  <a:schemeClr val="bg1"/>
                </a:solidFill>
              </a:rPr>
              <a:t>1</a:t>
            </a:r>
            <a:r>
              <a:rPr lang="en-US" altLang="zh-CN" sz="1600" dirty="0">
                <a:solidFill>
                  <a:schemeClr val="bg1"/>
                </a:solidFill>
                <a:latin typeface="Arial" panose="020B0604020202020204" pitchFamily="34" charset="0"/>
                <a:ea typeface="黑体" panose="02010609060101010101" pitchFamily="2" charset="-122"/>
              </a:rPr>
              <a:t>0</a:t>
            </a:r>
            <a:r>
              <a:rPr lang="zh-CN" altLang="en-US" sz="1600" dirty="0">
                <a:solidFill>
                  <a:schemeClr val="bg1"/>
                </a:solidFill>
              </a:rPr>
              <a:t>分钟</a:t>
            </a:r>
            <a:endParaRPr lang="zh-CN" altLang="en-US" sz="1600" dirty="0">
              <a:solidFill>
                <a:schemeClr val="bg1"/>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1"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252538"/>
            <a:ext cx="7772400" cy="1103313"/>
          </a:xfrm>
        </p:spPr>
        <p:txBody>
          <a:bodyPr anchor="ctr">
            <a:normAutofit/>
          </a:bodyPr>
          <a:lstStyle/>
          <a:p>
            <a:pPr fontAlgn="base"/>
            <a:r>
              <a:rPr lang="zh-CN" altLang="en-US" strike="noStrike" noProof="1"/>
              <a:t>第</a:t>
            </a:r>
            <a:r>
              <a:rPr lang="zh-CN" altLang="en-US" noProof="1"/>
              <a:t>四</a:t>
            </a:r>
            <a:r>
              <a:rPr lang="zh-CN" altLang="en-US" strike="noStrike" noProof="1"/>
              <a:t>课时</a:t>
            </a:r>
          </a:p>
        </p:txBody>
      </p:sp>
      <p:sp>
        <p:nvSpPr>
          <p:cNvPr id="3" name="副标题 2"/>
          <p:cNvSpPr>
            <a:spLocks noGrp="1"/>
          </p:cNvSpPr>
          <p:nvPr>
            <p:ph type="subTitle" idx="1"/>
          </p:nvPr>
        </p:nvSpPr>
        <p:spPr/>
        <p:txBody>
          <a:bodyPr/>
          <a:lstStyle/>
          <a:p>
            <a:r>
              <a:rPr lang="zh-CN" altLang="en-US" dirty="0"/>
              <a:t>字符串案例二</a:t>
            </a:r>
          </a:p>
        </p:txBody>
      </p:sp>
    </p:spTree>
  </p:cSld>
  <p:clrMapOvr>
    <a:masterClrMapping/>
  </p:clrMapOvr>
  <p:transition spd="slow" advTm="964"/>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latin typeface="+mn-ea"/>
                <a:ea typeface="+mn-ea"/>
              </a:rPr>
              <a:t>课堂案例</a:t>
            </a:r>
          </a:p>
        </p:txBody>
      </p:sp>
      <p:sp>
        <p:nvSpPr>
          <p:cNvPr id="4" name="内容占位符 3"/>
          <p:cNvSpPr>
            <a:spLocks noGrp="1"/>
          </p:cNvSpPr>
          <p:nvPr>
            <p:ph idx="1"/>
          </p:nvPr>
        </p:nvSpPr>
        <p:spPr>
          <a:xfrm>
            <a:off x="179512" y="800372"/>
            <a:ext cx="8569334" cy="4147641"/>
          </a:xfrm>
        </p:spPr>
        <p:txBody>
          <a:bodyPr/>
          <a:lstStyle/>
          <a:p>
            <a:r>
              <a:rPr lang="zh-CN" altLang="en-US" dirty="0"/>
              <a:t>文章内容如下：</a:t>
            </a:r>
          </a:p>
          <a:p>
            <a:pPr marL="0" indent="0">
              <a:buNone/>
            </a:pPr>
            <a:r>
              <a:rPr lang="en-US" altLang="zh-CN" dirty="0"/>
              <a:t>There are moments in life when you miss someone so much that you just want to pick them from your dreams and hug them for real! Dream what you want to dream;go where you want to go;be what you want to be,because you have only one life and one chance to do all the things you want to do.</a:t>
            </a:r>
          </a:p>
          <a:p>
            <a:r>
              <a:rPr lang="zh-CN" altLang="en-US" dirty="0"/>
              <a:t>要求：</a:t>
            </a:r>
            <a:endParaRPr lang="en-US" altLang="zh-CN" dirty="0"/>
          </a:p>
          <a:p>
            <a:pPr lvl="1"/>
            <a:r>
              <a:rPr lang="zh-CN" altLang="en-US" dirty="0"/>
              <a:t>将字符串中所有的符号替换成空格</a:t>
            </a:r>
            <a:r>
              <a:rPr lang="en-US" altLang="zh-CN" dirty="0"/>
              <a:t>, </a:t>
            </a:r>
            <a:r>
              <a:rPr lang="zh-CN" altLang="en-US" dirty="0"/>
              <a:t>保存到变量</a:t>
            </a:r>
            <a:r>
              <a:rPr lang="en-US" altLang="zh-CN" dirty="0"/>
              <a:t>A</a:t>
            </a:r>
            <a:endParaRPr lang="zh-CN" altLang="en-US" dirty="0"/>
          </a:p>
          <a:p>
            <a:pPr lvl="1"/>
            <a:r>
              <a:rPr lang="zh-CN" altLang="en-US" dirty="0"/>
              <a:t>将字符串</a:t>
            </a:r>
            <a:r>
              <a:rPr lang="en-US" altLang="zh-CN" dirty="0"/>
              <a:t>A</a:t>
            </a:r>
            <a:r>
              <a:rPr lang="zh-CN" altLang="en-US" dirty="0"/>
              <a:t>转换成小写</a:t>
            </a:r>
            <a:r>
              <a:rPr lang="en-US" altLang="zh-CN" dirty="0"/>
              <a:t>,</a:t>
            </a:r>
            <a:r>
              <a:rPr lang="zh-CN" altLang="en-US" dirty="0"/>
              <a:t>保存到变量</a:t>
            </a:r>
            <a:r>
              <a:rPr lang="en-US" altLang="zh-CN" dirty="0"/>
              <a:t>lowA</a:t>
            </a:r>
          </a:p>
          <a:p>
            <a:pPr lvl="1"/>
            <a:r>
              <a:rPr lang="zh-CN" altLang="en-US" dirty="0">
                <a:sym typeface="+mn-ea"/>
              </a:rPr>
              <a:t>将字符串</a:t>
            </a:r>
            <a:r>
              <a:rPr lang="en-US" altLang="zh-CN" dirty="0">
                <a:sym typeface="+mn-ea"/>
              </a:rPr>
              <a:t>A</a:t>
            </a:r>
            <a:r>
              <a:rPr lang="zh-CN" altLang="en-US" dirty="0">
                <a:sym typeface="+mn-ea"/>
              </a:rPr>
              <a:t>转换成大写</a:t>
            </a:r>
            <a:r>
              <a:rPr lang="en-US" altLang="zh-CN" dirty="0">
                <a:sym typeface="+mn-ea"/>
              </a:rPr>
              <a:t>,</a:t>
            </a:r>
            <a:r>
              <a:rPr lang="zh-CN" altLang="en-US" dirty="0">
                <a:sym typeface="+mn-ea"/>
              </a:rPr>
              <a:t>保存到变量</a:t>
            </a:r>
            <a:r>
              <a:rPr lang="en-US" altLang="zh-CN" dirty="0">
                <a:sym typeface="+mn-ea"/>
              </a:rPr>
              <a:t>upA</a:t>
            </a:r>
            <a:endParaRPr lang="zh-CN" altLang="en-US" dirty="0">
              <a:sym typeface="+mn-ea"/>
            </a:endParaRPr>
          </a:p>
          <a:p>
            <a:pPr marL="457200" lvl="1" indent="0">
              <a:buNone/>
            </a:pPr>
            <a:endParaRPr lang="zh-CN" altLang="en-US" dirty="0"/>
          </a:p>
          <a:p>
            <a:pPr lvl="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 calcmode="lin" valueType="num">
                                      <p:cBhvr additive="base">
                                        <p:cTn id="3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latin typeface="+mn-ea"/>
                <a:ea typeface="+mn-ea"/>
              </a:rPr>
              <a:t>课堂案例</a:t>
            </a:r>
          </a:p>
        </p:txBody>
      </p:sp>
      <p:sp>
        <p:nvSpPr>
          <p:cNvPr id="4" name="内容占位符 3"/>
          <p:cNvSpPr>
            <a:spLocks noGrp="1"/>
          </p:cNvSpPr>
          <p:nvPr>
            <p:ph idx="1"/>
          </p:nvPr>
        </p:nvSpPr>
        <p:spPr>
          <a:xfrm>
            <a:off x="395918" y="1367428"/>
            <a:ext cx="8352928" cy="3137572"/>
          </a:xfrm>
        </p:spPr>
        <p:txBody>
          <a:bodyPr/>
          <a:lstStyle/>
          <a:p>
            <a:r>
              <a:rPr lang="zh-CN" altLang="en-US" dirty="0"/>
              <a:t>要求：</a:t>
            </a:r>
            <a:endParaRPr lang="en-US" altLang="zh-CN" dirty="0"/>
          </a:p>
          <a:p>
            <a:pPr lvl="1"/>
            <a:r>
              <a:rPr lang="zh-CN" altLang="en-US" dirty="0">
                <a:sym typeface="+mn-ea"/>
              </a:rPr>
              <a:t>将字符串</a:t>
            </a:r>
            <a:r>
              <a:rPr lang="en-US" altLang="zh-CN" dirty="0">
                <a:sym typeface="+mn-ea"/>
              </a:rPr>
              <a:t>A</a:t>
            </a:r>
            <a:r>
              <a:rPr lang="zh-CN" altLang="en-US" dirty="0">
                <a:sym typeface="+mn-ea"/>
              </a:rPr>
              <a:t>所有单词首字母大写，</a:t>
            </a:r>
            <a:r>
              <a:rPr lang="en-US" altLang="zh-CN" dirty="0">
                <a:sym typeface="+mn-ea"/>
              </a:rPr>
              <a:t>,</a:t>
            </a:r>
            <a:r>
              <a:rPr lang="zh-CN" altLang="en-US" dirty="0">
                <a:sym typeface="+mn-ea"/>
              </a:rPr>
              <a:t>保存到变量</a:t>
            </a:r>
            <a:r>
              <a:rPr lang="en-US" altLang="zh-CN" dirty="0">
                <a:sym typeface="+mn-ea"/>
              </a:rPr>
              <a:t>tiA</a:t>
            </a:r>
            <a:endParaRPr lang="zh-CN" altLang="en-US" dirty="0">
              <a:sym typeface="+mn-ea"/>
            </a:endParaRPr>
          </a:p>
          <a:p>
            <a:pPr lvl="1"/>
            <a:r>
              <a:rPr lang="zh-CN" altLang="en-US" dirty="0">
                <a:sym typeface="+mn-ea"/>
              </a:rPr>
              <a:t>将字符串</a:t>
            </a:r>
            <a:r>
              <a:rPr lang="en-US" altLang="zh-CN" dirty="0">
                <a:sym typeface="+mn-ea"/>
              </a:rPr>
              <a:t>A</a:t>
            </a:r>
            <a:r>
              <a:rPr lang="zh-CN" altLang="en-US" dirty="0">
                <a:sym typeface="+mn-ea"/>
              </a:rPr>
              <a:t>第一个单词首字母大写</a:t>
            </a:r>
            <a:r>
              <a:rPr lang="en-US" altLang="zh-CN" dirty="0">
                <a:sym typeface="+mn-ea"/>
              </a:rPr>
              <a:t>,</a:t>
            </a:r>
            <a:r>
              <a:rPr lang="zh-CN" altLang="en-US" dirty="0">
                <a:sym typeface="+mn-ea"/>
              </a:rPr>
              <a:t>保存到变量</a:t>
            </a:r>
            <a:r>
              <a:rPr lang="en-US" altLang="zh-CN" dirty="0">
                <a:sym typeface="+mn-ea"/>
              </a:rPr>
              <a:t>caA</a:t>
            </a:r>
          </a:p>
          <a:p>
            <a:pPr lvl="1"/>
            <a:r>
              <a:rPr lang="zh-CN" altLang="en-US" dirty="0">
                <a:sym typeface="+mn-ea"/>
              </a:rPr>
              <a:t>统计字符串</a:t>
            </a:r>
            <a:r>
              <a:rPr lang="en-US" altLang="zh-CN" dirty="0">
                <a:sym typeface="+mn-ea"/>
              </a:rPr>
              <a:t>A</a:t>
            </a:r>
            <a:r>
              <a:rPr lang="zh-CN" altLang="en-US" dirty="0">
                <a:sym typeface="+mn-ea"/>
              </a:rPr>
              <a:t>中单词</a:t>
            </a:r>
            <a:r>
              <a:rPr lang="en-US" altLang="zh-CN" dirty="0">
                <a:sym typeface="+mn-ea"/>
              </a:rPr>
              <a:t>‘to'</a:t>
            </a:r>
            <a:r>
              <a:rPr lang="zh-CN" altLang="en-US" dirty="0">
                <a:sym typeface="+mn-ea"/>
              </a:rPr>
              <a:t>的个数，</a:t>
            </a:r>
            <a:r>
              <a:rPr lang="en-US" altLang="zh-CN" dirty="0">
                <a:sym typeface="+mn-ea"/>
              </a:rPr>
              <a:t>,</a:t>
            </a:r>
            <a:r>
              <a:rPr lang="zh-CN" altLang="en-US" dirty="0">
                <a:sym typeface="+mn-ea"/>
              </a:rPr>
              <a:t>保存到变量</a:t>
            </a:r>
            <a:r>
              <a:rPr lang="en-US" altLang="zh-CN" dirty="0">
                <a:sym typeface="+mn-ea"/>
              </a:rPr>
              <a:t>c</a:t>
            </a:r>
          </a:p>
          <a:p>
            <a:pPr lvl="1"/>
            <a:endParaRPr lang="zh-CN" altLang="en-US" dirty="0"/>
          </a:p>
          <a:p>
            <a:pPr lvl="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latin typeface="+mn-ea"/>
                <a:ea typeface="+mn-ea"/>
              </a:rPr>
              <a:t>课堂案例</a:t>
            </a:r>
          </a:p>
        </p:txBody>
      </p:sp>
      <p:sp>
        <p:nvSpPr>
          <p:cNvPr id="4" name="内容占位符 3"/>
          <p:cNvSpPr>
            <a:spLocks noGrp="1"/>
          </p:cNvSpPr>
          <p:nvPr>
            <p:ph idx="1"/>
          </p:nvPr>
        </p:nvSpPr>
        <p:spPr>
          <a:xfrm>
            <a:off x="395605" y="764540"/>
            <a:ext cx="8352790" cy="1152525"/>
          </a:xfrm>
        </p:spPr>
        <p:txBody>
          <a:bodyPr/>
          <a:lstStyle/>
          <a:p>
            <a:r>
              <a:rPr lang="zh-CN" altLang="en-US" dirty="0"/>
              <a:t>要求：</a:t>
            </a:r>
            <a:endParaRPr lang="en-US" altLang="zh-CN" dirty="0"/>
          </a:p>
          <a:p>
            <a:pPr lvl="1"/>
            <a:r>
              <a:rPr lang="zh-CN" altLang="en-US" dirty="0">
                <a:sym typeface="+mn-ea"/>
              </a:rPr>
              <a:t>使用格式化函数，显示上面所有的变量值</a:t>
            </a:r>
          </a:p>
          <a:p>
            <a:pPr lvl="1"/>
            <a:endParaRPr lang="zh-CN" altLang="en-US" dirty="0"/>
          </a:p>
          <a:p>
            <a:pPr lvl="1"/>
            <a:endParaRPr lang="zh-CN" altLang="en-US" dirty="0"/>
          </a:p>
        </p:txBody>
      </p:sp>
      <p:sp>
        <p:nvSpPr>
          <p:cNvPr id="3" name="内容占位符 3"/>
          <p:cNvSpPr>
            <a:spLocks noGrp="1"/>
          </p:cNvSpPr>
          <p:nvPr/>
        </p:nvSpPr>
        <p:spPr>
          <a:xfrm>
            <a:off x="395605" y="2220595"/>
            <a:ext cx="8352790" cy="1152525"/>
          </a:xfrm>
          <a:prstGeom prst="rect">
            <a:avLst/>
          </a:prstGeom>
        </p:spPr>
        <p:txBody>
          <a:bodyPr/>
          <a:lstStyle>
            <a:lvl1pPr marL="227330" indent="-227330" algn="l" rtl="0" eaLnBrk="0" fontAlgn="base" hangingPunct="0">
              <a:lnSpc>
                <a:spcPts val="2500"/>
              </a:lnSpc>
              <a:spcBef>
                <a:spcPts val="1000"/>
              </a:spcBef>
              <a:spcAft>
                <a:spcPct val="0"/>
              </a:spcAft>
              <a:buSzPct val="100000"/>
              <a:buFont typeface="Wingdings" panose="05000000000000000000" pitchFamily="2" charset="2"/>
              <a:buChar char="n"/>
              <a:defRPr sz="2000" b="0" kern="1200">
                <a:solidFill>
                  <a:schemeClr val="tx1">
                    <a:lumMod val="75000"/>
                    <a:lumOff val="25000"/>
                  </a:schemeClr>
                </a:solidFill>
                <a:latin typeface="+mn-ea"/>
                <a:ea typeface="+mn-ea"/>
                <a:cs typeface="+mn-cs"/>
                <a:sym typeface="Calibri" panose="020F0502020204030204" pitchFamily="34" charset="0"/>
              </a:defRPr>
            </a:lvl1pPr>
            <a:lvl2pPr marL="684530" indent="-227330" algn="l" rtl="0" eaLnBrk="0" fontAlgn="base" hangingPunct="0">
              <a:lnSpc>
                <a:spcPts val="2500"/>
              </a:lnSpc>
              <a:spcBef>
                <a:spcPts val="500"/>
              </a:spcBef>
              <a:spcAft>
                <a:spcPct val="0"/>
              </a:spcAft>
              <a:buSzPct val="100000"/>
              <a:buFont typeface="Wingdings" panose="05000000000000000000" pitchFamily="2" charset="2"/>
              <a:buChar char="u"/>
              <a:defRPr sz="1600" b="0" kern="1200">
                <a:solidFill>
                  <a:schemeClr val="tx1">
                    <a:lumMod val="75000"/>
                    <a:lumOff val="25000"/>
                  </a:schemeClr>
                </a:solidFill>
                <a:latin typeface="+mn-ea"/>
                <a:ea typeface="+mn-ea"/>
                <a:cs typeface="+mn-cs"/>
                <a:sym typeface="Calibri" panose="020F0502020204030204" pitchFamily="34" charset="0"/>
              </a:defRPr>
            </a:lvl2pPr>
            <a:lvl3pPr marL="1141730" indent="-227330" algn="l" rtl="0" eaLnBrk="0" fontAlgn="base" hangingPunct="0">
              <a:lnSpc>
                <a:spcPts val="2500"/>
              </a:lnSpc>
              <a:spcBef>
                <a:spcPts val="500"/>
              </a:spcBef>
              <a:spcAft>
                <a:spcPct val="0"/>
              </a:spcAft>
              <a:buClr>
                <a:srgbClr val="0E9CDE"/>
              </a:buClr>
              <a:buSzPct val="85000"/>
              <a:buFont typeface="Wingdings" panose="05000000000000000000" pitchFamily="2" charset="2"/>
              <a:buChar char="Ø"/>
              <a:defRPr sz="1400" b="0" kern="1200">
                <a:solidFill>
                  <a:schemeClr val="tx1">
                    <a:lumMod val="75000"/>
                    <a:lumOff val="25000"/>
                  </a:schemeClr>
                </a:solidFill>
                <a:latin typeface="+mn-ea"/>
                <a:ea typeface="+mn-ea"/>
                <a:cs typeface="+mn-cs"/>
                <a:sym typeface="Calibri" panose="020F0502020204030204" pitchFamily="34" charset="0"/>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sz="1800" b="1" kern="1200">
                <a:solidFill>
                  <a:schemeClr val="tx1"/>
                </a:solidFill>
                <a:latin typeface="+mn-lt"/>
                <a:ea typeface="+mn-ea"/>
                <a:cs typeface="+mn-cs"/>
                <a:sym typeface="Calibri" panose="020F0502020204030204" pitchFamily="34" charset="0"/>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sz="1600" b="1" kern="1200">
                <a:solidFill>
                  <a:schemeClr val="tx1"/>
                </a:solidFill>
                <a:latin typeface="+mn-lt"/>
                <a:ea typeface="+mn-ea"/>
                <a:cs typeface="+mn-cs"/>
                <a:sym typeface="Calibri" panose="020F0502020204030204" pitchFamily="34" charset="0"/>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效果如下：</a:t>
            </a:r>
            <a:endParaRPr lang="en-US" altLang="zh-CN" dirty="0"/>
          </a:p>
          <a:p>
            <a:pPr marL="457200" lvl="1" indent="0">
              <a:buNone/>
            </a:pPr>
            <a:r>
              <a:rPr lang="zh-CN" altLang="en-US" dirty="0"/>
              <a:t>去掉所有标点符号后：</a:t>
            </a:r>
          </a:p>
          <a:p>
            <a:pPr marL="457200" lvl="1" indent="0">
              <a:buNone/>
            </a:pPr>
            <a:r>
              <a:rPr lang="zh-CN" altLang="en-US" dirty="0"/>
              <a:t>There are moments in life when you miss someone so much </a:t>
            </a:r>
          </a:p>
          <a:p>
            <a:pPr marL="457200" lvl="1" indent="0">
              <a:buNone/>
            </a:pPr>
            <a:r>
              <a:rPr lang="zh-CN" altLang="en-US" dirty="0"/>
              <a:t>that you just want to pick them from your dreams and hug </a:t>
            </a:r>
          </a:p>
          <a:p>
            <a:pPr marL="457200" lvl="1" indent="0">
              <a:buNone/>
            </a:pPr>
            <a:r>
              <a:rPr lang="zh-CN" altLang="en-US" dirty="0"/>
              <a:t>want to go be what you want to be,because you have only </a:t>
            </a:r>
          </a:p>
          <a:p>
            <a:pPr marL="457200" lvl="1" indent="0">
              <a:buNone/>
            </a:pPr>
            <a:r>
              <a:rPr lang="zh-CN" altLang="en-US" dirty="0"/>
              <a:t>one life and one chance to do all the things you want to do</a:t>
            </a:r>
          </a:p>
          <a:p>
            <a:pPr lvl="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 calcmode="lin" valueType="num">
                                      <p:cBhvr additive="base">
                                        <p:cTn id="1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additive="base">
                                        <p:cTn id="2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additive="base">
                                        <p:cTn id="3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单元总结</a:t>
            </a:r>
          </a:p>
        </p:txBody>
      </p:sp>
      <p:graphicFrame>
        <p:nvGraphicFramePr>
          <p:cNvPr id="5" name="表格 4"/>
          <p:cNvGraphicFramePr>
            <a:graphicFrameLocks noGrp="1"/>
          </p:cNvGraphicFramePr>
          <p:nvPr>
            <p:extLst>
              <p:ext uri="{D42A27DB-BD31-4B8C-83A1-F6EECF244321}">
                <p14:modId xmlns:p14="http://schemas.microsoft.com/office/powerpoint/2010/main" val="2269015420"/>
              </p:ext>
            </p:extLst>
          </p:nvPr>
        </p:nvGraphicFramePr>
        <p:xfrm>
          <a:off x="628650" y="1203602"/>
          <a:ext cx="7886700" cy="3672405"/>
        </p:xfrm>
        <a:graphic>
          <a:graphicData uri="http://schemas.openxmlformats.org/drawingml/2006/table">
            <a:tbl>
              <a:tblPr/>
              <a:tblGrid>
                <a:gridCol w="2671585">
                  <a:extLst>
                    <a:ext uri="{9D8B030D-6E8A-4147-A177-3AD203B41FA5}">
                      <a16:colId xmlns:a16="http://schemas.microsoft.com/office/drawing/2014/main" val="20000"/>
                    </a:ext>
                  </a:extLst>
                </a:gridCol>
                <a:gridCol w="1589392">
                  <a:extLst>
                    <a:ext uri="{9D8B030D-6E8A-4147-A177-3AD203B41FA5}">
                      <a16:colId xmlns:a16="http://schemas.microsoft.com/office/drawing/2014/main" val="20001"/>
                    </a:ext>
                  </a:extLst>
                </a:gridCol>
                <a:gridCol w="3625723">
                  <a:extLst>
                    <a:ext uri="{9D8B030D-6E8A-4147-A177-3AD203B41FA5}">
                      <a16:colId xmlns:a16="http://schemas.microsoft.com/office/drawing/2014/main" val="20002"/>
                    </a:ext>
                  </a:extLst>
                </a:gridCol>
              </a:tblGrid>
              <a:tr h="409619">
                <a:tc>
                  <a:txBody>
                    <a:bodyPr/>
                    <a:lstStyle/>
                    <a:p>
                      <a:pPr algn="l" fontAlgn="ctr"/>
                      <a:r>
                        <a:rPr lang="en-US" sz="1600" b="0" i="0" u="none" strike="noStrike" dirty="0">
                          <a:solidFill>
                            <a:srgbClr val="0070C0"/>
                          </a:solidFill>
                          <a:effectLst/>
                          <a:latin typeface="微软雅黑" panose="020B0503020204020204" pitchFamily="34" charset="-122"/>
                          <a:ea typeface="微软雅黑" panose="020B0503020204020204" pitchFamily="34" charset="-122"/>
                        </a:rPr>
                        <a:t>replace()</a:t>
                      </a:r>
                    </a:p>
                  </a:txBody>
                  <a:tcPr marL="0" marR="0" marT="0" marB="0" anchor="ctr">
                    <a:lnL>
                      <a:noFill/>
                    </a:lnL>
                    <a:lnR>
                      <a:noFill/>
                    </a:lnR>
                    <a:lnT>
                      <a:noFill/>
                    </a:lnT>
                    <a:lnB>
                      <a:noFill/>
                    </a:lnB>
                  </a:tcPr>
                </a:tc>
                <a:tc>
                  <a:txBody>
                    <a:bodyPr/>
                    <a:lstStyle/>
                    <a:p>
                      <a:pPr algn="l" fontAlgn="ctr"/>
                      <a:endParaRPr lang="zh-CN" altLang="en-US" sz="900" b="0" i="0" u="none" strike="noStrike">
                        <a:effectLst/>
                        <a:latin typeface="宋体" panose="02010600030101010101" pitchFamily="2" charset="-122"/>
                        <a:ea typeface="宋体" panose="02010600030101010101" pitchFamily="2" charset="-122"/>
                      </a:endParaRPr>
                    </a:p>
                  </a:txBody>
                  <a:tcPr marL="0" marR="0" marT="0" marB="0" anchor="ctr">
                    <a:lnL>
                      <a:noFill/>
                    </a:lnL>
                    <a:lnR>
                      <a:noFill/>
                    </a:lnR>
                    <a:lnT>
                      <a:noFill/>
                    </a:lnT>
                    <a:lnB>
                      <a:noFill/>
                    </a:lnB>
                  </a:tcPr>
                </a:tc>
                <a:tc>
                  <a:txBody>
                    <a:bodyPr/>
                    <a:lstStyle/>
                    <a:p>
                      <a:pPr algn="l" rtl="0"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替换的功能的方法</a:t>
                      </a:r>
                    </a:p>
                  </a:txBody>
                  <a:tcPr marL="180842" marR="0" marT="0" marB="0" anchor="ctr">
                    <a:lnL>
                      <a:noFill/>
                    </a:lnL>
                    <a:lnR>
                      <a:noFill/>
                    </a:lnR>
                    <a:lnT>
                      <a:noFill/>
                    </a:lnT>
                    <a:lnB>
                      <a:noFill/>
                    </a:lnB>
                  </a:tcPr>
                </a:tc>
                <a:extLst>
                  <a:ext uri="{0D108BD9-81ED-4DB2-BD59-A6C34878D82A}">
                    <a16:rowId xmlns:a16="http://schemas.microsoft.com/office/drawing/2014/main" val="10000"/>
                  </a:ext>
                </a:extLst>
              </a:tr>
              <a:tr h="334671">
                <a:tc>
                  <a:txBody>
                    <a:bodyPr/>
                    <a:lstStyle/>
                    <a:p>
                      <a:pPr algn="l" fontAlgn="ctr"/>
                      <a:r>
                        <a:rPr lang="en-US" sz="1600" b="0" i="0" u="none" strike="noStrike">
                          <a:solidFill>
                            <a:srgbClr val="0070C0"/>
                          </a:solidFill>
                          <a:effectLst/>
                          <a:latin typeface="微软雅黑" panose="020B0503020204020204" pitchFamily="34" charset="-122"/>
                          <a:ea typeface="微软雅黑" panose="020B0503020204020204" pitchFamily="34" charset="-122"/>
                        </a:rPr>
                        <a:t>count()</a:t>
                      </a:r>
                    </a:p>
                  </a:txBody>
                  <a:tcPr marL="0" marR="0" marT="0" marB="0" anchor="ctr">
                    <a:lnL>
                      <a:noFill/>
                    </a:lnL>
                    <a:lnR>
                      <a:noFill/>
                    </a:lnR>
                    <a:lnT>
                      <a:noFill/>
                    </a:lnT>
                    <a:lnB>
                      <a:noFill/>
                    </a:lnB>
                  </a:tcPr>
                </a:tc>
                <a:tc>
                  <a:txBody>
                    <a:bodyPr/>
                    <a:lstStyle/>
                    <a:p>
                      <a:pPr algn="l" fontAlgn="ctr"/>
                      <a:endParaRPr lang="zh-CN" altLang="en-US" sz="900" b="0" i="0" u="none" strike="noStrike" dirty="0">
                        <a:effectLst/>
                        <a:latin typeface="宋体" panose="02010600030101010101" pitchFamily="2" charset="-122"/>
                        <a:ea typeface="宋体" panose="02010600030101010101" pitchFamily="2" charset="-122"/>
                      </a:endParaRPr>
                    </a:p>
                  </a:txBody>
                  <a:tcPr marL="0" marR="0" marT="0" marB="0" anchor="ctr">
                    <a:lnL>
                      <a:noFill/>
                    </a:lnL>
                    <a:lnR>
                      <a:noFill/>
                    </a:lnR>
                    <a:lnT>
                      <a:noFill/>
                    </a:lnT>
                    <a:lnB>
                      <a:noFill/>
                    </a:lnB>
                  </a:tcPr>
                </a:tc>
                <a:tc>
                  <a:txBody>
                    <a:bodyPr/>
                    <a:lstStyle/>
                    <a:p>
                      <a:pPr algn="l" rtl="0"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统计字符串中单词个数</a:t>
                      </a:r>
                    </a:p>
                  </a:txBody>
                  <a:tcPr marL="180842" marR="0" marT="0" marB="0" anchor="ctr">
                    <a:lnL>
                      <a:noFill/>
                    </a:lnL>
                    <a:lnR>
                      <a:noFill/>
                    </a:lnR>
                    <a:lnT>
                      <a:noFill/>
                    </a:lnT>
                    <a:lnB>
                      <a:noFill/>
                    </a:lnB>
                  </a:tcPr>
                </a:tc>
                <a:extLst>
                  <a:ext uri="{0D108BD9-81ED-4DB2-BD59-A6C34878D82A}">
                    <a16:rowId xmlns:a16="http://schemas.microsoft.com/office/drawing/2014/main" val="10001"/>
                  </a:ext>
                </a:extLst>
              </a:tr>
              <a:tr h="334671">
                <a:tc>
                  <a:txBody>
                    <a:bodyPr/>
                    <a:lstStyle/>
                    <a:p>
                      <a:pPr algn="l" fontAlgn="ctr"/>
                      <a:r>
                        <a:rPr lang="en-US" sz="1600" b="0" i="0" u="none" strike="noStrike">
                          <a:solidFill>
                            <a:srgbClr val="0070C0"/>
                          </a:solidFill>
                          <a:effectLst/>
                          <a:latin typeface="微软雅黑" panose="020B0503020204020204" pitchFamily="34" charset="-122"/>
                          <a:ea typeface="微软雅黑" panose="020B0503020204020204" pitchFamily="34" charset="-122"/>
                        </a:rPr>
                        <a:t>isalnum()/isascii()</a:t>
                      </a:r>
                    </a:p>
                  </a:txBody>
                  <a:tcPr marL="0" marR="0" marT="0" marB="0" anchor="ctr">
                    <a:lnL>
                      <a:noFill/>
                    </a:lnL>
                    <a:lnR>
                      <a:noFill/>
                    </a:lnR>
                    <a:lnT>
                      <a:noFill/>
                    </a:lnT>
                    <a:lnB>
                      <a:noFill/>
                    </a:lnB>
                  </a:tcPr>
                </a:tc>
                <a:tc>
                  <a:txBody>
                    <a:bodyPr/>
                    <a:lstStyle/>
                    <a:p>
                      <a:pPr algn="l" fontAlgn="ctr"/>
                      <a:endParaRPr lang="zh-CN" altLang="en-US" sz="900" b="0" i="0" u="none" strike="noStrike" dirty="0">
                        <a:effectLst/>
                        <a:latin typeface="宋体" panose="02010600030101010101" pitchFamily="2" charset="-122"/>
                        <a:ea typeface="宋体" panose="02010600030101010101" pitchFamily="2" charset="-122"/>
                      </a:endParaRPr>
                    </a:p>
                  </a:txBody>
                  <a:tcPr marL="0" marR="0" marT="0" marB="0" anchor="ctr">
                    <a:lnL>
                      <a:noFill/>
                    </a:lnL>
                    <a:lnR>
                      <a:noFill/>
                    </a:lnR>
                    <a:lnT>
                      <a:noFill/>
                    </a:lnT>
                    <a:lnB>
                      <a:noFill/>
                    </a:lnB>
                  </a:tcPr>
                </a:tc>
                <a:tc>
                  <a:txBody>
                    <a:bodyPr/>
                    <a:lstStyle/>
                    <a:p>
                      <a:pPr algn="l" rtl="0"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判断字符串是否为纯英文或是数字</a:t>
                      </a:r>
                    </a:p>
                  </a:txBody>
                  <a:tcPr marL="180842" marR="0" marT="0" marB="0" anchor="ctr">
                    <a:lnL>
                      <a:noFill/>
                    </a:lnL>
                    <a:lnR>
                      <a:noFill/>
                    </a:lnR>
                    <a:lnT>
                      <a:noFill/>
                    </a:lnT>
                    <a:lnB>
                      <a:noFill/>
                    </a:lnB>
                  </a:tcPr>
                </a:tc>
                <a:extLst>
                  <a:ext uri="{0D108BD9-81ED-4DB2-BD59-A6C34878D82A}">
                    <a16:rowId xmlns:a16="http://schemas.microsoft.com/office/drawing/2014/main" val="10002"/>
                  </a:ext>
                </a:extLst>
              </a:tr>
              <a:tr h="334671">
                <a:tc>
                  <a:txBody>
                    <a:bodyPr/>
                    <a:lstStyle/>
                    <a:p>
                      <a:pPr algn="l" fontAlgn="ctr"/>
                      <a:r>
                        <a:rPr lang="en-US" sz="1600" b="0" i="0" u="none" strike="noStrike">
                          <a:solidFill>
                            <a:srgbClr val="0070C0"/>
                          </a:solidFill>
                          <a:effectLst/>
                          <a:latin typeface="微软雅黑" panose="020B0503020204020204" pitchFamily="34" charset="-122"/>
                          <a:ea typeface="微软雅黑" panose="020B0503020204020204" pitchFamily="34" charset="-122"/>
                        </a:rPr>
                        <a:t>isupper() /is.lower()</a:t>
                      </a:r>
                    </a:p>
                  </a:txBody>
                  <a:tcPr marL="0" marR="0" marT="0" marB="0" anchor="ctr">
                    <a:lnL>
                      <a:noFill/>
                    </a:lnL>
                    <a:lnR>
                      <a:noFill/>
                    </a:lnR>
                    <a:lnT>
                      <a:noFill/>
                    </a:lnT>
                    <a:lnB>
                      <a:noFill/>
                    </a:lnB>
                  </a:tcPr>
                </a:tc>
                <a:tc>
                  <a:txBody>
                    <a:bodyPr/>
                    <a:lstStyle/>
                    <a:p>
                      <a:pPr algn="l" fontAlgn="ctr"/>
                      <a:endParaRPr lang="zh-CN" altLang="en-US" sz="900" b="0" i="0" u="none" strike="noStrike" dirty="0">
                        <a:effectLst/>
                        <a:latin typeface="宋体" panose="02010600030101010101" pitchFamily="2" charset="-122"/>
                        <a:ea typeface="宋体" panose="02010600030101010101" pitchFamily="2" charset="-122"/>
                      </a:endParaRPr>
                    </a:p>
                  </a:txBody>
                  <a:tcPr marL="0" marR="0" marT="0" marB="0" anchor="ctr">
                    <a:lnL>
                      <a:noFill/>
                    </a:lnL>
                    <a:lnR>
                      <a:noFill/>
                    </a:lnR>
                    <a:lnT>
                      <a:noFill/>
                    </a:lnT>
                    <a:lnB>
                      <a:noFill/>
                    </a:lnB>
                  </a:tcPr>
                </a:tc>
                <a:tc>
                  <a:txBody>
                    <a:bodyPr/>
                    <a:lstStyle/>
                    <a:p>
                      <a:pPr algn="l" rtl="0"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判断字符串是否全部为大写或是小写</a:t>
                      </a:r>
                    </a:p>
                  </a:txBody>
                  <a:tcPr marL="180842" marR="0" marT="0" marB="0" anchor="ctr">
                    <a:lnL>
                      <a:noFill/>
                    </a:lnL>
                    <a:lnR>
                      <a:noFill/>
                    </a:lnR>
                    <a:lnT>
                      <a:noFill/>
                    </a:lnT>
                    <a:lnB>
                      <a:noFill/>
                    </a:lnB>
                  </a:tcPr>
                </a:tc>
                <a:extLst>
                  <a:ext uri="{0D108BD9-81ED-4DB2-BD59-A6C34878D82A}">
                    <a16:rowId xmlns:a16="http://schemas.microsoft.com/office/drawing/2014/main" val="10003"/>
                  </a:ext>
                </a:extLst>
              </a:tr>
              <a:tr h="585418">
                <a:tc>
                  <a:txBody>
                    <a:bodyPr/>
                    <a:lstStyle/>
                    <a:p>
                      <a:pPr algn="l" fontAlgn="ctr"/>
                      <a:r>
                        <a:rPr lang="en-US" sz="1600" b="0" i="0" u="none" strike="noStrike">
                          <a:solidFill>
                            <a:srgbClr val="0070C0"/>
                          </a:solidFill>
                          <a:effectLst/>
                          <a:latin typeface="微软雅黑" panose="020B0503020204020204" pitchFamily="34" charset="-122"/>
                          <a:ea typeface="微软雅黑" panose="020B0503020204020204" pitchFamily="34" charset="-122"/>
                        </a:rPr>
                        <a:t>split()  </a:t>
                      </a:r>
                    </a:p>
                  </a:txBody>
                  <a:tcPr marL="0" marR="0" marT="0" marB="0" anchor="ctr">
                    <a:lnL>
                      <a:noFill/>
                    </a:lnL>
                    <a:lnR>
                      <a:noFill/>
                    </a:lnR>
                    <a:lnT>
                      <a:noFill/>
                    </a:lnT>
                    <a:lnB>
                      <a:noFill/>
                    </a:lnB>
                  </a:tcPr>
                </a:tc>
                <a:tc>
                  <a:txBody>
                    <a:bodyPr/>
                    <a:lstStyle/>
                    <a:p>
                      <a:pPr algn="l" fontAlgn="ctr"/>
                      <a:endParaRPr lang="zh-CN" altLang="en-US" sz="900" b="0" i="0" u="none" strike="noStrike">
                        <a:effectLst/>
                        <a:latin typeface="宋体" panose="02010600030101010101" pitchFamily="2" charset="-122"/>
                        <a:ea typeface="宋体" panose="02010600030101010101" pitchFamily="2" charset="-122"/>
                      </a:endParaRPr>
                    </a:p>
                  </a:txBody>
                  <a:tcPr marL="0" marR="0" marT="0" marB="0" anchor="ctr">
                    <a:lnL>
                      <a:noFill/>
                    </a:lnL>
                    <a:lnR>
                      <a:noFill/>
                    </a:lnR>
                    <a:lnT>
                      <a:noFill/>
                    </a:lnT>
                    <a:lnB>
                      <a:noFill/>
                    </a:lnB>
                  </a:tcPr>
                </a:tc>
                <a:tc>
                  <a:txBody>
                    <a:bodyPr/>
                    <a:lstStyle/>
                    <a:p>
                      <a:pPr algn="l" rtl="0"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查找某一字符串在另一字符串中的位置</a:t>
                      </a:r>
                    </a:p>
                  </a:txBody>
                  <a:tcPr marL="180842" marR="0" marT="0" marB="0" anchor="ctr">
                    <a:lnL>
                      <a:noFill/>
                    </a:lnL>
                    <a:lnR>
                      <a:noFill/>
                    </a:lnR>
                    <a:lnT>
                      <a:noFill/>
                    </a:lnT>
                    <a:lnB>
                      <a:noFill/>
                    </a:lnB>
                  </a:tcPr>
                </a:tc>
                <a:extLst>
                  <a:ext uri="{0D108BD9-81ED-4DB2-BD59-A6C34878D82A}">
                    <a16:rowId xmlns:a16="http://schemas.microsoft.com/office/drawing/2014/main" val="10004"/>
                  </a:ext>
                </a:extLst>
              </a:tr>
              <a:tr h="334671">
                <a:tc>
                  <a:txBody>
                    <a:bodyPr/>
                    <a:lstStyle/>
                    <a:p>
                      <a:pPr algn="l" fontAlgn="ctr"/>
                      <a:r>
                        <a:rPr lang="en-US" sz="1600" b="0" i="0" u="none" strike="noStrike">
                          <a:solidFill>
                            <a:srgbClr val="0070C0"/>
                          </a:solidFill>
                          <a:effectLst/>
                          <a:latin typeface="微软雅黑" panose="020B0503020204020204" pitchFamily="34" charset="-122"/>
                          <a:ea typeface="微软雅黑" panose="020B0503020204020204" pitchFamily="34" charset="-122"/>
                        </a:rPr>
                        <a:t>“”.join （）</a:t>
                      </a:r>
                    </a:p>
                  </a:txBody>
                  <a:tcPr marL="0" marR="0" marT="0" marB="0" anchor="ctr">
                    <a:lnL>
                      <a:noFill/>
                    </a:lnL>
                    <a:lnR>
                      <a:noFill/>
                    </a:lnR>
                    <a:lnT>
                      <a:noFill/>
                    </a:lnT>
                    <a:lnB>
                      <a:noFill/>
                    </a:lnB>
                  </a:tcPr>
                </a:tc>
                <a:tc>
                  <a:txBody>
                    <a:bodyPr/>
                    <a:lstStyle/>
                    <a:p>
                      <a:pPr algn="l" fontAlgn="ctr"/>
                      <a:endParaRPr lang="zh-CN" altLang="en-US" sz="900" b="0" i="0" u="none" strike="noStrike">
                        <a:effectLst/>
                        <a:latin typeface="宋体" panose="02010600030101010101" pitchFamily="2" charset="-122"/>
                        <a:ea typeface="宋体" panose="02010600030101010101" pitchFamily="2" charset="-122"/>
                      </a:endParaRPr>
                    </a:p>
                  </a:txBody>
                  <a:tcPr marL="0" marR="0" marT="0" marB="0" anchor="ctr">
                    <a:lnL>
                      <a:noFill/>
                    </a:lnL>
                    <a:lnR>
                      <a:noFill/>
                    </a:lnR>
                    <a:lnT>
                      <a:noFill/>
                    </a:lnT>
                    <a:lnB>
                      <a:noFill/>
                    </a:lnB>
                  </a:tcPr>
                </a:tc>
                <a:tc>
                  <a:txBody>
                    <a:bodyPr/>
                    <a:lstStyle/>
                    <a:p>
                      <a:pPr algn="l" rtl="0"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连接字符串数组</a:t>
                      </a:r>
                    </a:p>
                  </a:txBody>
                  <a:tcPr marL="180842" marR="0" marT="0" marB="0" anchor="ctr">
                    <a:lnL>
                      <a:noFill/>
                    </a:lnL>
                    <a:lnR>
                      <a:noFill/>
                    </a:lnR>
                    <a:lnT>
                      <a:noFill/>
                    </a:lnT>
                    <a:lnB>
                      <a:noFill/>
                    </a:lnB>
                  </a:tcPr>
                </a:tc>
                <a:extLst>
                  <a:ext uri="{0D108BD9-81ED-4DB2-BD59-A6C34878D82A}">
                    <a16:rowId xmlns:a16="http://schemas.microsoft.com/office/drawing/2014/main" val="10005"/>
                  </a:ext>
                </a:extLst>
              </a:tr>
              <a:tr h="334671">
                <a:tc gridSpan="2">
                  <a:txBody>
                    <a:bodyPr/>
                    <a:lstStyle/>
                    <a:p>
                      <a:pPr algn="l" fontAlgn="ctr"/>
                      <a:r>
                        <a:rPr lang="en-US" sz="1600" b="0" i="0" u="none" strike="noStrike">
                          <a:solidFill>
                            <a:srgbClr val="0070C0"/>
                          </a:solidFill>
                          <a:effectLst/>
                          <a:latin typeface="微软雅黑" panose="020B0503020204020204" pitchFamily="34" charset="-122"/>
                          <a:ea typeface="微软雅黑" panose="020B0503020204020204" pitchFamily="34" charset="-122"/>
                        </a:rPr>
                        <a:t>str.split(str="</a:t>
                      </a:r>
                      <a:r>
                        <a:rPr lang="zh-CN" altLang="en-US" sz="1600" b="0" i="0" u="none" strike="noStrike">
                          <a:solidFill>
                            <a:srgbClr val="0070C0"/>
                          </a:solidFill>
                          <a:effectLst/>
                          <a:latin typeface="微软雅黑" panose="020B0503020204020204" pitchFamily="34" charset="-122"/>
                          <a:ea typeface="微软雅黑" panose="020B0503020204020204" pitchFamily="34" charset="-122"/>
                        </a:rPr>
                        <a:t>分隔符</a:t>
                      </a:r>
                      <a:r>
                        <a:rPr lang="en-US" altLang="zh-CN" sz="1600" b="0" i="0" u="none" strike="noStrike">
                          <a:solidFill>
                            <a:srgbClr val="0070C0"/>
                          </a:solidFill>
                          <a:effectLst/>
                          <a:latin typeface="微软雅黑" panose="020B0503020204020204" pitchFamily="34" charset="-122"/>
                          <a:ea typeface="微软雅黑" panose="020B0503020204020204" pitchFamily="34" charset="-122"/>
                        </a:rPr>
                        <a:t>", </a:t>
                      </a:r>
                      <a:r>
                        <a:rPr lang="en-US" sz="1600" b="0" i="0" u="none" strike="noStrike">
                          <a:solidFill>
                            <a:srgbClr val="0070C0"/>
                          </a:solidFill>
                          <a:effectLst/>
                          <a:latin typeface="微软雅黑" panose="020B0503020204020204" pitchFamily="34" charset="-122"/>
                          <a:ea typeface="微软雅黑" panose="020B0503020204020204" pitchFamily="34" charset="-122"/>
                        </a:rPr>
                        <a:t>num=</a:t>
                      </a:r>
                      <a:r>
                        <a:rPr lang="zh-CN" altLang="en-US" sz="1600" b="0" i="0" u="none" strike="noStrike">
                          <a:solidFill>
                            <a:srgbClr val="0070C0"/>
                          </a:solidFill>
                          <a:effectLst/>
                          <a:latin typeface="微软雅黑" panose="020B0503020204020204" pitchFamily="34" charset="-122"/>
                          <a:ea typeface="微软雅黑" panose="020B0503020204020204" pitchFamily="34" charset="-122"/>
                        </a:rPr>
                        <a:t>分割次数</a:t>
                      </a:r>
                      <a:r>
                        <a:rPr lang="en-US" altLang="zh-CN" sz="1600" b="0" i="0" u="none" strike="noStrike">
                          <a:solidFill>
                            <a:srgbClr val="0070C0"/>
                          </a:solidFill>
                          <a:effectLst/>
                          <a:latin typeface="微软雅黑" panose="020B0503020204020204" pitchFamily="34" charset="-122"/>
                          <a:ea typeface="微软雅黑" panose="020B0503020204020204" pitchFamily="34" charset="-122"/>
                        </a:rPr>
                        <a:t>)</a:t>
                      </a:r>
                    </a:p>
                  </a:txBody>
                  <a:tcPr marL="0" marR="0" marT="0" marB="0" anchor="ctr">
                    <a:lnL>
                      <a:noFill/>
                    </a:lnL>
                    <a:lnR>
                      <a:noFill/>
                    </a:lnR>
                    <a:lnT>
                      <a:noFill/>
                    </a:lnT>
                    <a:lnB>
                      <a:noFill/>
                    </a:lnB>
                  </a:tcPr>
                </a:tc>
                <a:tc hMerge="1">
                  <a:txBody>
                    <a:bodyPr/>
                    <a:lstStyle/>
                    <a:p>
                      <a:endParaRPr lang="zh-CN" altLang="en-US"/>
                    </a:p>
                  </a:txBody>
                  <a:tcPr/>
                </a:tc>
                <a:tc>
                  <a:txBody>
                    <a:bodyPr/>
                    <a:lstStyle/>
                    <a:p>
                      <a:pPr algn="l" rtl="0"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指定分隔符对字符串进行切片</a:t>
                      </a:r>
                    </a:p>
                  </a:txBody>
                  <a:tcPr marL="180842" marR="0" marT="0" marB="0" anchor="ctr">
                    <a:lnL>
                      <a:noFill/>
                    </a:lnL>
                    <a:lnR>
                      <a:noFill/>
                    </a:lnR>
                    <a:lnT>
                      <a:noFill/>
                    </a:lnT>
                    <a:lnB>
                      <a:noFill/>
                    </a:lnB>
                  </a:tcPr>
                </a:tc>
                <a:extLst>
                  <a:ext uri="{0D108BD9-81ED-4DB2-BD59-A6C34878D82A}">
                    <a16:rowId xmlns:a16="http://schemas.microsoft.com/office/drawing/2014/main" val="10006"/>
                  </a:ext>
                </a:extLst>
              </a:tr>
              <a:tr h="334671">
                <a:tc>
                  <a:txBody>
                    <a:bodyPr/>
                    <a:lstStyle/>
                    <a:p>
                      <a:pPr algn="l" fontAlgn="ctr"/>
                      <a:r>
                        <a:rPr lang="en-US" sz="1600" b="0" i="0" u="none" strike="noStrike">
                          <a:solidFill>
                            <a:srgbClr val="0070C0"/>
                          </a:solidFill>
                          <a:effectLst/>
                          <a:latin typeface="微软雅黑" panose="020B0503020204020204" pitchFamily="34" charset="-122"/>
                          <a:ea typeface="微软雅黑" panose="020B0503020204020204" pitchFamily="34" charset="-122"/>
                        </a:rPr>
                        <a:t>index() </a:t>
                      </a:r>
                    </a:p>
                  </a:txBody>
                  <a:tcPr marL="0" marR="0" marT="0" marB="0" anchor="ctr">
                    <a:lnL>
                      <a:noFill/>
                    </a:lnL>
                    <a:lnR>
                      <a:noFill/>
                    </a:lnR>
                    <a:lnT>
                      <a:noFill/>
                    </a:lnT>
                    <a:lnB>
                      <a:noFill/>
                    </a:lnB>
                  </a:tcPr>
                </a:tc>
                <a:tc>
                  <a:txBody>
                    <a:bodyPr/>
                    <a:lstStyle/>
                    <a:p>
                      <a:pPr algn="l" fontAlgn="ctr"/>
                      <a:endParaRPr lang="zh-CN" altLang="en-US" sz="900" b="0" i="0" u="none" strike="noStrike">
                        <a:effectLst/>
                        <a:latin typeface="宋体" panose="02010600030101010101" pitchFamily="2" charset="-122"/>
                        <a:ea typeface="宋体" panose="02010600030101010101" pitchFamily="2" charset="-122"/>
                      </a:endParaRPr>
                    </a:p>
                  </a:txBody>
                  <a:tcPr marL="0" marR="0" marT="0" marB="0" anchor="ctr">
                    <a:lnL>
                      <a:noFill/>
                    </a:lnL>
                    <a:lnR>
                      <a:noFill/>
                    </a:lnR>
                    <a:lnT>
                      <a:noFill/>
                    </a:lnT>
                    <a:lnB>
                      <a:noFill/>
                    </a:lnB>
                  </a:tcPr>
                </a:tc>
                <a:tc>
                  <a:txBody>
                    <a:bodyPr/>
                    <a:lstStyle/>
                    <a:p>
                      <a:pPr algn="l" rtl="0"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是否包含指定的字符</a:t>
                      </a:r>
                    </a:p>
                  </a:txBody>
                  <a:tcPr marL="180842" marR="0" marT="0" marB="0" anchor="ctr">
                    <a:lnL>
                      <a:noFill/>
                    </a:lnL>
                    <a:lnR>
                      <a:noFill/>
                    </a:lnR>
                    <a:lnT>
                      <a:noFill/>
                    </a:lnT>
                    <a:lnB>
                      <a:noFill/>
                    </a:lnB>
                  </a:tcPr>
                </a:tc>
                <a:extLst>
                  <a:ext uri="{0D108BD9-81ED-4DB2-BD59-A6C34878D82A}">
                    <a16:rowId xmlns:a16="http://schemas.microsoft.com/office/drawing/2014/main" val="10007"/>
                  </a:ext>
                </a:extLst>
              </a:tr>
              <a:tr h="334671">
                <a:tc>
                  <a:txBody>
                    <a:bodyPr/>
                    <a:lstStyle/>
                    <a:p>
                      <a:pPr algn="l" fontAlgn="ctr"/>
                      <a:r>
                        <a:rPr lang="en-US" sz="1600" b="0" i="0" u="none" strike="noStrike">
                          <a:solidFill>
                            <a:srgbClr val="0070C0"/>
                          </a:solidFill>
                          <a:effectLst/>
                          <a:latin typeface="微软雅黑" panose="020B0503020204020204" pitchFamily="34" charset="-122"/>
                          <a:ea typeface="微软雅黑" panose="020B0503020204020204" pitchFamily="34" charset="-122"/>
                        </a:rPr>
                        <a:t>title() </a:t>
                      </a:r>
                    </a:p>
                  </a:txBody>
                  <a:tcPr marL="0" marR="0" marT="0" marB="0" anchor="ctr">
                    <a:lnL>
                      <a:noFill/>
                    </a:lnL>
                    <a:lnR>
                      <a:noFill/>
                    </a:lnR>
                    <a:lnT>
                      <a:noFill/>
                    </a:lnT>
                    <a:lnB>
                      <a:noFill/>
                    </a:lnB>
                  </a:tcPr>
                </a:tc>
                <a:tc>
                  <a:txBody>
                    <a:bodyPr/>
                    <a:lstStyle/>
                    <a:p>
                      <a:pPr algn="l" fontAlgn="ctr"/>
                      <a:endParaRPr lang="zh-CN" altLang="en-US" sz="900" b="0" i="0" u="none" strike="noStrike">
                        <a:effectLst/>
                        <a:latin typeface="宋体" panose="02010600030101010101" pitchFamily="2" charset="-122"/>
                        <a:ea typeface="宋体" panose="02010600030101010101" pitchFamily="2" charset="-122"/>
                      </a:endParaRPr>
                    </a:p>
                  </a:txBody>
                  <a:tcPr marL="0" marR="0" marT="0" marB="0" anchor="ctr">
                    <a:lnL>
                      <a:noFill/>
                    </a:lnL>
                    <a:lnR>
                      <a:noFill/>
                    </a:lnR>
                    <a:lnT>
                      <a:noFill/>
                    </a:lnT>
                    <a:lnB>
                      <a:noFill/>
                    </a:lnB>
                  </a:tcPr>
                </a:tc>
                <a:tc>
                  <a:txBody>
                    <a:bodyPr/>
                    <a:lstStyle/>
                    <a:p>
                      <a:pPr algn="l" rtl="0"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所有单词的首字母大写</a:t>
                      </a:r>
                    </a:p>
                  </a:txBody>
                  <a:tcPr marL="180842" marR="0" marT="0" marB="0" anchor="ctr">
                    <a:lnL>
                      <a:noFill/>
                    </a:lnL>
                    <a:lnR>
                      <a:noFill/>
                    </a:lnR>
                    <a:lnT>
                      <a:noFill/>
                    </a:lnT>
                    <a:lnB>
                      <a:noFill/>
                    </a:lnB>
                  </a:tcPr>
                </a:tc>
                <a:extLst>
                  <a:ext uri="{0D108BD9-81ED-4DB2-BD59-A6C34878D82A}">
                    <a16:rowId xmlns:a16="http://schemas.microsoft.com/office/drawing/2014/main" val="10008"/>
                  </a:ext>
                </a:extLst>
              </a:tr>
              <a:tr h="334671">
                <a:tc>
                  <a:txBody>
                    <a:bodyPr/>
                    <a:lstStyle/>
                    <a:p>
                      <a:pPr algn="l" fontAlgn="ctr"/>
                      <a:r>
                        <a:rPr lang="en-US" sz="1600" b="0" i="0" u="none" strike="noStrike">
                          <a:solidFill>
                            <a:srgbClr val="0070C0"/>
                          </a:solidFill>
                          <a:effectLst/>
                          <a:latin typeface="微软雅黑" panose="020B0503020204020204" pitchFamily="34" charset="-122"/>
                          <a:ea typeface="微软雅黑" panose="020B0503020204020204" pitchFamily="34" charset="-122"/>
                        </a:rPr>
                        <a:t>capitalize() </a:t>
                      </a:r>
                    </a:p>
                  </a:txBody>
                  <a:tcPr marL="0" marR="0" marT="0" marB="0" anchor="ctr">
                    <a:lnL>
                      <a:noFill/>
                    </a:lnL>
                    <a:lnR>
                      <a:noFill/>
                    </a:lnR>
                    <a:lnT>
                      <a:noFill/>
                    </a:lnT>
                    <a:lnB>
                      <a:noFill/>
                    </a:lnB>
                  </a:tcPr>
                </a:tc>
                <a:tc>
                  <a:txBody>
                    <a:bodyPr/>
                    <a:lstStyle/>
                    <a:p>
                      <a:pPr algn="l" fontAlgn="ctr"/>
                      <a:endParaRPr lang="zh-CN" altLang="en-US" sz="900" b="0" i="0" u="none" strike="noStrike">
                        <a:effectLst/>
                        <a:latin typeface="宋体" panose="02010600030101010101" pitchFamily="2" charset="-122"/>
                        <a:ea typeface="宋体" panose="02010600030101010101" pitchFamily="2" charset="-122"/>
                      </a:endParaRPr>
                    </a:p>
                  </a:txBody>
                  <a:tcPr marL="0" marR="0" marT="0" marB="0" anchor="ctr">
                    <a:lnL>
                      <a:noFill/>
                    </a:lnL>
                    <a:lnR>
                      <a:noFill/>
                    </a:lnR>
                    <a:lnT>
                      <a:noFill/>
                    </a:lnT>
                    <a:lnB>
                      <a:noFill/>
                    </a:lnB>
                  </a:tcPr>
                </a:tc>
                <a:tc>
                  <a:txBody>
                    <a:bodyPr/>
                    <a:lstStyle/>
                    <a:p>
                      <a:pPr algn="l" rtl="0"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第一个字母转换成大写</a:t>
                      </a:r>
                    </a:p>
                  </a:txBody>
                  <a:tcPr marL="180842" marR="0" marT="0" marB="0" anchor="ctr">
                    <a:lnL>
                      <a:noFill/>
                    </a:lnL>
                    <a:lnR>
                      <a:noFill/>
                    </a:lnR>
                    <a:lnT>
                      <a:noFill/>
                    </a:lnT>
                    <a:lnB>
                      <a:noFill/>
                    </a:lnB>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概念图</a:t>
            </a:r>
          </a:p>
        </p:txBody>
      </p:sp>
      <p:pic>
        <p:nvPicPr>
          <p:cNvPr id="5"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0500" y="309563"/>
            <a:ext cx="8761413"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dirty="0">
                <a:latin typeface="+mn-ea"/>
                <a:ea typeface="+mn-ea"/>
              </a:rPr>
              <a:t>作业</a:t>
            </a:r>
          </a:p>
        </p:txBody>
      </p:sp>
      <p:sp>
        <p:nvSpPr>
          <p:cNvPr id="3" name="内容占位符 2"/>
          <p:cNvSpPr>
            <a:spLocks noGrp="1"/>
          </p:cNvSpPr>
          <p:nvPr>
            <p:ph idx="1"/>
          </p:nvPr>
        </p:nvSpPr>
        <p:spPr/>
        <p:txBody>
          <a:bodyPr/>
          <a:lstStyle/>
          <a:p>
            <a:pPr>
              <a:defRPr/>
            </a:pPr>
            <a:r>
              <a:rPr lang="zh-CN" altLang="en-US" dirty="0"/>
              <a:t>课后作业</a:t>
            </a:r>
            <a:endParaRPr lang="en-US" dirty="0"/>
          </a:p>
          <a:p>
            <a:pPr lvl="1">
              <a:defRPr/>
            </a:pPr>
            <a:r>
              <a:rPr lang="zh-CN" dirty="0"/>
              <a:t>完成</a:t>
            </a:r>
            <a:r>
              <a:rPr lang="zh-CN" altLang="en-US" dirty="0"/>
              <a:t>练习手册</a:t>
            </a:r>
            <a:r>
              <a:rPr lang="zh-CN" dirty="0"/>
              <a:t>中简答题和编程题</a:t>
            </a:r>
          </a:p>
          <a:p>
            <a:pPr>
              <a:defRPr/>
            </a:pPr>
            <a:r>
              <a:rPr lang="zh-CN" altLang="en-US" dirty="0"/>
              <a:t>复习指引</a:t>
            </a:r>
          </a:p>
          <a:p>
            <a:pPr lvl="1"/>
            <a:r>
              <a:rPr lang="zh-CN" altLang="en-US" dirty="0"/>
              <a:t>复习字符串的方法</a:t>
            </a:r>
          </a:p>
          <a:p>
            <a:pPr lvl="1"/>
            <a:r>
              <a:rPr lang="zh-CN" altLang="en-US" dirty="0"/>
              <a:t>复习验证码的生成</a:t>
            </a:r>
            <a:endParaRPr lang="en-US" altLang="zh-CN" dirty="0"/>
          </a:p>
          <a:p>
            <a:pPr lvl="1"/>
            <a:r>
              <a:rPr lang="zh-CN" altLang="en-US" dirty="0"/>
              <a:t>复习注册登录功能</a:t>
            </a:r>
            <a:endParaRPr lang="en-US" altLang="zh-CN" dirty="0"/>
          </a:p>
          <a:p>
            <a:pPr>
              <a:defRPr/>
            </a:pPr>
            <a:r>
              <a:rPr lang="zh-CN" altLang="en-US" dirty="0"/>
              <a:t>预习作业</a:t>
            </a:r>
          </a:p>
          <a:p>
            <a:pPr lvl="1">
              <a:defRPr/>
            </a:pPr>
            <a:r>
              <a:rPr lang="zh-CN" altLang="en-US" dirty="0"/>
              <a:t>什么是列表</a:t>
            </a:r>
            <a:endParaRPr lang="en-US" altLang="zh-CN" dirty="0"/>
          </a:p>
          <a:p>
            <a:pPr lvl="1">
              <a:defRPr/>
            </a:pPr>
            <a:r>
              <a:rPr lang="zh-CN" altLang="en-US" dirty="0"/>
              <a:t>列表的特征是什么？</a:t>
            </a:r>
          </a:p>
          <a:p>
            <a:pPr lvl="1">
              <a:defRPr/>
            </a:pPr>
            <a:r>
              <a:rPr lang="zh-CN" altLang="en-US" dirty="0"/>
              <a:t>列表有哪些操作？</a:t>
            </a:r>
          </a:p>
        </p:txBody>
      </p:sp>
      <p:sp>
        <p:nvSpPr>
          <p:cNvPr id="5" name="灯片编号占位符 4"/>
          <p:cNvSpPr>
            <a:spLocks noGrp="1"/>
          </p:cNvSpPr>
          <p:nvPr>
            <p:ph type="sldNum" sz="quarter" idx="4294967295"/>
          </p:nvPr>
        </p:nvSpPr>
        <p:spPr>
          <a:xfrm>
            <a:off x="7010400" y="4816475"/>
            <a:ext cx="2133600" cy="274638"/>
          </a:xfrm>
        </p:spPr>
        <p:txBody>
          <a:bodyPr/>
          <a:lstStyle/>
          <a:p>
            <a:pPr>
              <a:defRPr/>
            </a:pPr>
            <a:fld id="{20A3C244-A2EA-421B-AA84-7941BACD046B}" type="slidenum">
              <a:rPr lang="zh-CN" altLang="en-US" sz="180" smtClean="0">
                <a:latin typeface="+mn-ea"/>
                <a:ea typeface="+mn-ea"/>
              </a:rPr>
              <a:t>37</a:t>
            </a:fld>
            <a:r>
              <a:rPr lang="en-US" altLang="zh-CN" sz="180" dirty="0">
                <a:latin typeface="+mn-ea"/>
                <a:ea typeface="+mn-ea"/>
              </a:rPr>
              <a:t>/47</a:t>
            </a:r>
            <a:endParaRPr lang="zh-CN" altLang="en-US" sz="18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6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7" y="3102770"/>
            <a:ext cx="9144001"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p:cNvGrpSpPr/>
          <p:nvPr/>
        </p:nvGrpSpPr>
        <p:grpSpPr bwMode="auto">
          <a:xfrm>
            <a:off x="0" y="-204696"/>
            <a:ext cx="9151144" cy="3852068"/>
            <a:chOff x="0" y="107177"/>
            <a:chExt cx="9151144" cy="3852791"/>
          </a:xfrm>
        </p:grpSpPr>
        <p:sp>
          <p:nvSpPr>
            <p:cNvPr id="5" name="矩形 254"/>
            <p:cNvSpPr>
              <a:spLocks noChangeArrowheads="1"/>
            </p:cNvSpPr>
            <p:nvPr/>
          </p:nvSpPr>
          <p:spPr bwMode="auto">
            <a:xfrm>
              <a:off x="0" y="113953"/>
              <a:ext cx="9144000" cy="3846015"/>
            </a:xfrm>
            <a:custGeom>
              <a:avLst/>
              <a:gdLst>
                <a:gd name="T0" fmla="*/ 0 w 9144000"/>
                <a:gd name="T1" fmla="*/ 0 h 3846015"/>
                <a:gd name="T2" fmla="*/ 9144000 w 9144000"/>
                <a:gd name="T3" fmla="*/ 3846015 h 3846015"/>
              </a:gdLst>
              <a:ahLst/>
              <a:cxnLst/>
              <a:rect l="T0" t="T1" r="T2" b="T3"/>
              <a:pathLst>
                <a:path w="9144000" h="3846015">
                  <a:moveTo>
                    <a:pt x="0" y="0"/>
                  </a:moveTo>
                  <a:lnTo>
                    <a:pt x="9144000" y="0"/>
                  </a:lnTo>
                  <a:lnTo>
                    <a:pt x="9144000" y="3651870"/>
                  </a:lnTo>
                  <a:lnTo>
                    <a:pt x="4766144" y="3651870"/>
                  </a:lnTo>
                  <a:lnTo>
                    <a:pt x="4571999" y="3846015"/>
                  </a:lnTo>
                  <a:lnTo>
                    <a:pt x="4377855" y="3651870"/>
                  </a:lnTo>
                  <a:lnTo>
                    <a:pt x="0" y="3651870"/>
                  </a:lnTo>
                  <a:close/>
                </a:path>
              </a:pathLst>
            </a:custGeom>
            <a:solidFill>
              <a:srgbClr val="292929">
                <a:alpha val="2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254"/>
            <p:cNvSpPr>
              <a:spLocks noChangeArrowheads="1"/>
            </p:cNvSpPr>
            <p:nvPr/>
          </p:nvSpPr>
          <p:spPr bwMode="auto">
            <a:xfrm>
              <a:off x="0" y="107177"/>
              <a:ext cx="9151144" cy="3738838"/>
            </a:xfrm>
            <a:custGeom>
              <a:avLst/>
              <a:gdLst>
                <a:gd name="T0" fmla="*/ 0 w 9144000"/>
                <a:gd name="T1" fmla="*/ 0 h 3846015"/>
                <a:gd name="T2" fmla="*/ 9144000 w 9144000"/>
                <a:gd name="T3" fmla="*/ 3846015 h 3846015"/>
                <a:gd name="connsiteX0" fmla="*/ 42863 w 9144000"/>
                <a:gd name="connsiteY0" fmla="*/ 643058 h 3846015"/>
                <a:gd name="connsiteX1" fmla="*/ 9144000 w 9144000"/>
                <a:gd name="connsiteY1" fmla="*/ 0 h 3846015"/>
                <a:gd name="connsiteX2" fmla="*/ 9144000 w 9144000"/>
                <a:gd name="connsiteY2" fmla="*/ 3651870 h 3846015"/>
                <a:gd name="connsiteX3" fmla="*/ 4766144 w 9144000"/>
                <a:gd name="connsiteY3" fmla="*/ 3651870 h 3846015"/>
                <a:gd name="connsiteX4" fmla="*/ 4571999 w 9144000"/>
                <a:gd name="connsiteY4" fmla="*/ 3846015 h 3846015"/>
                <a:gd name="connsiteX5" fmla="*/ 4377855 w 9144000"/>
                <a:gd name="connsiteY5" fmla="*/ 3651870 h 3846015"/>
                <a:gd name="connsiteX6" fmla="*/ 0 w 9144000"/>
                <a:gd name="connsiteY6" fmla="*/ 3651870 h 3846015"/>
                <a:gd name="connsiteX7" fmla="*/ 42863 w 9144000"/>
                <a:gd name="connsiteY7" fmla="*/ 643058 h 3846015"/>
                <a:gd name="connsiteX0-1" fmla="*/ 7145 w 9144000"/>
                <a:gd name="connsiteY0-2" fmla="*/ 121467 h 3846015"/>
                <a:gd name="connsiteX1-3" fmla="*/ 9144000 w 9144000"/>
                <a:gd name="connsiteY1-4" fmla="*/ 0 h 3846015"/>
                <a:gd name="connsiteX2-5" fmla="*/ 9144000 w 9144000"/>
                <a:gd name="connsiteY2-6" fmla="*/ 3651870 h 3846015"/>
                <a:gd name="connsiteX3-7" fmla="*/ 4766144 w 9144000"/>
                <a:gd name="connsiteY3-8" fmla="*/ 3651870 h 3846015"/>
                <a:gd name="connsiteX4-9" fmla="*/ 4571999 w 9144000"/>
                <a:gd name="connsiteY4-10" fmla="*/ 3846015 h 3846015"/>
                <a:gd name="connsiteX5-11" fmla="*/ 4377855 w 9144000"/>
                <a:gd name="connsiteY5-12" fmla="*/ 3651870 h 3846015"/>
                <a:gd name="connsiteX6-13" fmla="*/ 0 w 9144000"/>
                <a:gd name="connsiteY6-14" fmla="*/ 3651870 h 3846015"/>
                <a:gd name="connsiteX7-15" fmla="*/ 7145 w 9144000"/>
                <a:gd name="connsiteY7-16" fmla="*/ 121467 h 3846015"/>
                <a:gd name="connsiteX0-17" fmla="*/ 7145 w 9144000"/>
                <a:gd name="connsiteY0-18" fmla="*/ 0 h 3724548"/>
                <a:gd name="connsiteX1-19" fmla="*/ 8851106 w 9144000"/>
                <a:gd name="connsiteY1-20" fmla="*/ 392980 h 3724548"/>
                <a:gd name="connsiteX2-21" fmla="*/ 9144000 w 9144000"/>
                <a:gd name="connsiteY2-22" fmla="*/ 3530403 h 3724548"/>
                <a:gd name="connsiteX3-23" fmla="*/ 4766144 w 9144000"/>
                <a:gd name="connsiteY3-24" fmla="*/ 3530403 h 3724548"/>
                <a:gd name="connsiteX4-25" fmla="*/ 4571999 w 9144000"/>
                <a:gd name="connsiteY4-26" fmla="*/ 3724548 h 3724548"/>
                <a:gd name="connsiteX5-27" fmla="*/ 4377855 w 9144000"/>
                <a:gd name="connsiteY5-28" fmla="*/ 3530403 h 3724548"/>
                <a:gd name="connsiteX6-29" fmla="*/ 0 w 9144000"/>
                <a:gd name="connsiteY6-30" fmla="*/ 3530403 h 3724548"/>
                <a:gd name="connsiteX7-31" fmla="*/ 7145 w 9144000"/>
                <a:gd name="connsiteY7-32" fmla="*/ 0 h 3724548"/>
                <a:gd name="connsiteX0-33" fmla="*/ 7145 w 9151144"/>
                <a:gd name="connsiteY0-34" fmla="*/ 14290 h 3738838"/>
                <a:gd name="connsiteX1-35" fmla="*/ 9151144 w 9151144"/>
                <a:gd name="connsiteY1-36" fmla="*/ 0 h 3738838"/>
                <a:gd name="connsiteX2-37" fmla="*/ 9144000 w 9151144"/>
                <a:gd name="connsiteY2-38" fmla="*/ 3544693 h 3738838"/>
                <a:gd name="connsiteX3-39" fmla="*/ 4766144 w 9151144"/>
                <a:gd name="connsiteY3-40" fmla="*/ 3544693 h 3738838"/>
                <a:gd name="connsiteX4-41" fmla="*/ 4571999 w 9151144"/>
                <a:gd name="connsiteY4-42" fmla="*/ 3738838 h 3738838"/>
                <a:gd name="connsiteX5-43" fmla="*/ 4377855 w 9151144"/>
                <a:gd name="connsiteY5-44" fmla="*/ 3544693 h 3738838"/>
                <a:gd name="connsiteX6-45" fmla="*/ 0 w 9151144"/>
                <a:gd name="connsiteY6-46" fmla="*/ 3544693 h 3738838"/>
                <a:gd name="connsiteX7-47" fmla="*/ 7145 w 9151144"/>
                <a:gd name="connsiteY7-48" fmla="*/ 14290 h 3738838"/>
                <a:gd name="connsiteX0-49" fmla="*/ 7145 w 9151144"/>
                <a:gd name="connsiteY0-50" fmla="*/ 7145 h 3738838"/>
                <a:gd name="connsiteX1-51" fmla="*/ 9151144 w 9151144"/>
                <a:gd name="connsiteY1-52" fmla="*/ 0 h 3738838"/>
                <a:gd name="connsiteX2-53" fmla="*/ 9144000 w 9151144"/>
                <a:gd name="connsiteY2-54" fmla="*/ 3544693 h 3738838"/>
                <a:gd name="connsiteX3-55" fmla="*/ 4766144 w 9151144"/>
                <a:gd name="connsiteY3-56" fmla="*/ 3544693 h 3738838"/>
                <a:gd name="connsiteX4-57" fmla="*/ 4571999 w 9151144"/>
                <a:gd name="connsiteY4-58" fmla="*/ 3738838 h 3738838"/>
                <a:gd name="connsiteX5-59" fmla="*/ 4377855 w 9151144"/>
                <a:gd name="connsiteY5-60" fmla="*/ 3544693 h 3738838"/>
                <a:gd name="connsiteX6-61" fmla="*/ 0 w 9151144"/>
                <a:gd name="connsiteY6-62" fmla="*/ 3544693 h 3738838"/>
                <a:gd name="connsiteX7-63" fmla="*/ 7145 w 9151144"/>
                <a:gd name="connsiteY7-64" fmla="*/ 7145 h 37388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9151144" h="3738838">
                  <a:moveTo>
                    <a:pt x="7145" y="7145"/>
                  </a:moveTo>
                  <a:lnTo>
                    <a:pt x="9151144" y="0"/>
                  </a:lnTo>
                  <a:cubicBezTo>
                    <a:pt x="9148763" y="1181564"/>
                    <a:pt x="9146381" y="2363129"/>
                    <a:pt x="9144000" y="3544693"/>
                  </a:cubicBezTo>
                  <a:lnTo>
                    <a:pt x="4766144" y="3544693"/>
                  </a:lnTo>
                  <a:lnTo>
                    <a:pt x="4571999" y="3738838"/>
                  </a:lnTo>
                  <a:lnTo>
                    <a:pt x="4377855" y="3544693"/>
                  </a:lnTo>
                  <a:lnTo>
                    <a:pt x="0" y="3544693"/>
                  </a:lnTo>
                  <a:cubicBezTo>
                    <a:pt x="0" y="2327403"/>
                    <a:pt x="7145" y="1224435"/>
                    <a:pt x="7145" y="7145"/>
                  </a:cubicBezTo>
                  <a:close/>
                </a:path>
              </a:pathLst>
            </a:cu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矩形 259"/>
          <p:cNvSpPr>
            <a:spLocks noChangeArrowheads="1"/>
          </p:cNvSpPr>
          <p:nvPr/>
        </p:nvSpPr>
        <p:spPr bwMode="auto">
          <a:xfrm>
            <a:off x="16723" y="3983478"/>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lvl="2" algn="ctr"/>
            <a:r>
              <a:rPr lang="zh-CN" altLang="en-US" sz="4800" b="1" dirty="0">
                <a:solidFill>
                  <a:schemeClr val="bg1"/>
                </a:solidFill>
                <a:latin typeface="+mn-ea"/>
                <a:ea typeface="+mn-ea"/>
              </a:rPr>
              <a:t>创新教育</a:t>
            </a:r>
            <a:r>
              <a:rPr lang="en-US" altLang="zh-CN" sz="4800" b="1" dirty="0">
                <a:solidFill>
                  <a:schemeClr val="bg1"/>
                </a:solidFill>
                <a:latin typeface="+mn-ea"/>
                <a:ea typeface="+mn-ea"/>
              </a:rPr>
              <a:t>  </a:t>
            </a:r>
            <a:r>
              <a:rPr lang="zh-CN" altLang="en-US" sz="4800" b="1" dirty="0">
                <a:solidFill>
                  <a:schemeClr val="bg1"/>
                </a:solidFill>
                <a:latin typeface="+mn-ea"/>
                <a:ea typeface="+mn-ea"/>
              </a:rPr>
              <a:t>引领未来</a:t>
            </a:r>
            <a:endParaRPr lang="zh-CN" altLang="en-US" sz="4800" b="1" dirty="0">
              <a:solidFill>
                <a:schemeClr val="bg1"/>
              </a:solidFill>
              <a:latin typeface="+mn-ea"/>
              <a:ea typeface="+mn-ea"/>
              <a:sym typeface="Impact" panose="020B0806030902050204" pitchFamily="34" charset="0"/>
            </a:endParaRPr>
          </a:p>
        </p:txBody>
      </p:sp>
      <p:grpSp>
        <p:nvGrpSpPr>
          <p:cNvPr id="14" name="组合 46"/>
          <p:cNvGrpSpPr/>
          <p:nvPr/>
        </p:nvGrpSpPr>
        <p:grpSpPr bwMode="auto">
          <a:xfrm>
            <a:off x="3795175" y="970438"/>
            <a:ext cx="1587103" cy="1587103"/>
            <a:chOff x="0" y="0"/>
            <a:chExt cx="2116920" cy="2116920"/>
          </a:xfrm>
        </p:grpSpPr>
        <p:sp>
          <p:nvSpPr>
            <p:cNvPr id="15" name="椭圆 47"/>
            <p:cNvSpPr>
              <a:spLocks noChangeArrowheads="1"/>
            </p:cNvSpPr>
            <p:nvPr/>
          </p:nvSpPr>
          <p:spPr bwMode="auto">
            <a:xfrm>
              <a:off x="0" y="0"/>
              <a:ext cx="2116920" cy="2116920"/>
            </a:xfrm>
            <a:prstGeom prst="ellipse">
              <a:avLst/>
            </a:prstGeom>
            <a:solidFill>
              <a:srgbClr val="F2F2F2"/>
            </a:solidFill>
            <a:ln w="57150">
              <a:solidFill>
                <a:srgbClr val="1D8DE5"/>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endParaRPr>
            </a:p>
          </p:txBody>
        </p:sp>
        <p:grpSp>
          <p:nvGrpSpPr>
            <p:cNvPr id="16" name="组合 48"/>
            <p:cNvGrpSpPr/>
            <p:nvPr/>
          </p:nvGrpSpPr>
          <p:grpSpPr bwMode="auto">
            <a:xfrm>
              <a:off x="461855" y="280091"/>
              <a:ext cx="1193210" cy="1836829"/>
              <a:chOff x="0" y="0"/>
              <a:chExt cx="2598738" cy="4000499"/>
            </a:xfrm>
          </p:grpSpPr>
          <p:sp>
            <p:nvSpPr>
              <p:cNvPr id="17" name="Freeform 1281"/>
              <p:cNvSpPr>
                <a:spLocks noChangeArrowheads="1"/>
              </p:cNvSpPr>
              <p:nvPr/>
            </p:nvSpPr>
            <p:spPr bwMode="auto">
              <a:xfrm>
                <a:off x="1435100" y="3543299"/>
                <a:ext cx="327025" cy="457200"/>
              </a:xfrm>
              <a:custGeom>
                <a:avLst/>
                <a:gdLst>
                  <a:gd name="T0" fmla="*/ 519152188 w 206"/>
                  <a:gd name="T1" fmla="*/ 0 h 288"/>
                  <a:gd name="T2" fmla="*/ 367942813 w 206"/>
                  <a:gd name="T3" fmla="*/ 0 h 288"/>
                  <a:gd name="T4" fmla="*/ 153730325 w 206"/>
                  <a:gd name="T5" fmla="*/ 0 h 288"/>
                  <a:gd name="T6" fmla="*/ 0 w 206"/>
                  <a:gd name="T7" fmla="*/ 0 h 288"/>
                  <a:gd name="T8" fmla="*/ 0 w 206"/>
                  <a:gd name="T9" fmla="*/ 20161250 h 288"/>
                  <a:gd name="T10" fmla="*/ 153730325 w 206"/>
                  <a:gd name="T11" fmla="*/ 20161250 h 288"/>
                  <a:gd name="T12" fmla="*/ 153730325 w 206"/>
                  <a:gd name="T13" fmla="*/ 725805000 h 288"/>
                  <a:gd name="T14" fmla="*/ 153730325 w 206"/>
                  <a:gd name="T15" fmla="*/ 725805000 h 288"/>
                  <a:gd name="T16" fmla="*/ 367942813 w 206"/>
                  <a:gd name="T17" fmla="*/ 725805000 h 288"/>
                  <a:gd name="T18" fmla="*/ 367942813 w 206"/>
                  <a:gd name="T19" fmla="*/ 725805000 h 288"/>
                  <a:gd name="T20" fmla="*/ 367942813 w 206"/>
                  <a:gd name="T21" fmla="*/ 20161250 h 288"/>
                  <a:gd name="T22" fmla="*/ 519152188 w 206"/>
                  <a:gd name="T23" fmla="*/ 20161250 h 288"/>
                  <a:gd name="T24" fmla="*/ 519152188 w 206"/>
                  <a:gd name="T25" fmla="*/ 0 h 2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6"/>
                  <a:gd name="T40" fmla="*/ 0 h 288"/>
                  <a:gd name="T41" fmla="*/ 206 w 206"/>
                  <a:gd name="T42" fmla="*/ 288 h 2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6" h="288">
                    <a:moveTo>
                      <a:pt x="206" y="0"/>
                    </a:moveTo>
                    <a:lnTo>
                      <a:pt x="146" y="0"/>
                    </a:lnTo>
                    <a:lnTo>
                      <a:pt x="61" y="0"/>
                    </a:lnTo>
                    <a:lnTo>
                      <a:pt x="0" y="0"/>
                    </a:lnTo>
                    <a:lnTo>
                      <a:pt x="0" y="8"/>
                    </a:lnTo>
                    <a:lnTo>
                      <a:pt x="61" y="8"/>
                    </a:lnTo>
                    <a:lnTo>
                      <a:pt x="61" y="288"/>
                    </a:lnTo>
                    <a:lnTo>
                      <a:pt x="146" y="288"/>
                    </a:lnTo>
                    <a:lnTo>
                      <a:pt x="146" y="8"/>
                    </a:lnTo>
                    <a:lnTo>
                      <a:pt x="206" y="8"/>
                    </a:lnTo>
                    <a:lnTo>
                      <a:pt x="20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8" name="Freeform 1283"/>
              <p:cNvSpPr>
                <a:spLocks noChangeArrowheads="1"/>
              </p:cNvSpPr>
              <p:nvPr/>
            </p:nvSpPr>
            <p:spPr bwMode="auto">
              <a:xfrm>
                <a:off x="1820863" y="3541712"/>
                <a:ext cx="328613" cy="458787"/>
              </a:xfrm>
              <a:custGeom>
                <a:avLst/>
                <a:gdLst>
                  <a:gd name="T0" fmla="*/ 521673931 w 207"/>
                  <a:gd name="T1" fmla="*/ 0 h 289"/>
                  <a:gd name="T2" fmla="*/ 214214401 w 207"/>
                  <a:gd name="T3" fmla="*/ 0 h 289"/>
                  <a:gd name="T4" fmla="*/ 138609598 w 207"/>
                  <a:gd name="T5" fmla="*/ 0 h 289"/>
                  <a:gd name="T6" fmla="*/ 0 w 207"/>
                  <a:gd name="T7" fmla="*/ 0 h 289"/>
                  <a:gd name="T8" fmla="*/ 0 w 207"/>
                  <a:gd name="T9" fmla="*/ 728323569 h 289"/>
                  <a:gd name="T10" fmla="*/ 138609598 w 207"/>
                  <a:gd name="T11" fmla="*/ 728323569 h 289"/>
                  <a:gd name="T12" fmla="*/ 214214401 w 207"/>
                  <a:gd name="T13" fmla="*/ 728323569 h 289"/>
                  <a:gd name="T14" fmla="*/ 521673931 w 207"/>
                  <a:gd name="T15" fmla="*/ 728323569 h 289"/>
                  <a:gd name="T16" fmla="*/ 521673931 w 207"/>
                  <a:gd name="T17" fmla="*/ 708162341 h 289"/>
                  <a:gd name="T18" fmla="*/ 214214401 w 207"/>
                  <a:gd name="T19" fmla="*/ 708162341 h 289"/>
                  <a:gd name="T20" fmla="*/ 214214401 w 207"/>
                  <a:gd name="T21" fmla="*/ 161289824 h 289"/>
                  <a:gd name="T22" fmla="*/ 405746567 w 207"/>
                  <a:gd name="T23" fmla="*/ 161289824 h 289"/>
                  <a:gd name="T24" fmla="*/ 405746567 w 207"/>
                  <a:gd name="T25" fmla="*/ 141128596 h 289"/>
                  <a:gd name="T26" fmla="*/ 214214401 w 207"/>
                  <a:gd name="T27" fmla="*/ 141128596 h 289"/>
                  <a:gd name="T28" fmla="*/ 214214401 w 207"/>
                  <a:gd name="T29" fmla="*/ 20161228 h 289"/>
                  <a:gd name="T30" fmla="*/ 521673931 w 207"/>
                  <a:gd name="T31" fmla="*/ 20161228 h 289"/>
                  <a:gd name="T32" fmla="*/ 521673931 w 207"/>
                  <a:gd name="T33" fmla="*/ 0 h 289"/>
                  <a:gd name="T34" fmla="*/ 521673931 w 207"/>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7"/>
                  <a:gd name="T55" fmla="*/ 0 h 289"/>
                  <a:gd name="T56" fmla="*/ 207 w 207"/>
                  <a:gd name="T57" fmla="*/ 289 h 2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7" h="289">
                    <a:moveTo>
                      <a:pt x="207" y="0"/>
                    </a:moveTo>
                    <a:lnTo>
                      <a:pt x="85" y="0"/>
                    </a:lnTo>
                    <a:lnTo>
                      <a:pt x="55" y="0"/>
                    </a:lnTo>
                    <a:lnTo>
                      <a:pt x="0" y="0"/>
                    </a:lnTo>
                    <a:lnTo>
                      <a:pt x="0" y="289"/>
                    </a:lnTo>
                    <a:lnTo>
                      <a:pt x="55" y="289"/>
                    </a:lnTo>
                    <a:lnTo>
                      <a:pt x="85" y="289"/>
                    </a:lnTo>
                    <a:lnTo>
                      <a:pt x="207" y="289"/>
                    </a:lnTo>
                    <a:lnTo>
                      <a:pt x="207" y="281"/>
                    </a:lnTo>
                    <a:lnTo>
                      <a:pt x="85" y="281"/>
                    </a:lnTo>
                    <a:lnTo>
                      <a:pt x="85" y="64"/>
                    </a:lnTo>
                    <a:lnTo>
                      <a:pt x="161" y="64"/>
                    </a:lnTo>
                    <a:lnTo>
                      <a:pt x="161" y="56"/>
                    </a:lnTo>
                    <a:lnTo>
                      <a:pt x="85" y="56"/>
                    </a:lnTo>
                    <a:lnTo>
                      <a:pt x="85" y="8"/>
                    </a:lnTo>
                    <a:lnTo>
                      <a:pt x="207" y="8"/>
                    </a:lnTo>
                    <a:lnTo>
                      <a:pt x="20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9" name="Freeform 1284"/>
              <p:cNvSpPr>
                <a:spLocks noChangeArrowheads="1"/>
              </p:cNvSpPr>
              <p:nvPr/>
            </p:nvSpPr>
            <p:spPr bwMode="auto">
              <a:xfrm>
                <a:off x="2598738" y="3733799"/>
                <a:ext cx="1" cy="3175"/>
              </a:xfrm>
              <a:custGeom>
                <a:avLst/>
                <a:gdLst>
                  <a:gd name="T0" fmla="*/ 0 w 1"/>
                  <a:gd name="T1" fmla="*/ 0 h 2"/>
                  <a:gd name="T2" fmla="*/ 0 w 1"/>
                  <a:gd name="T3" fmla="*/ 2520950 h 2"/>
                  <a:gd name="T4" fmla="*/ 0 w 1"/>
                  <a:gd name="T5" fmla="*/ 5040313 h 2"/>
                  <a:gd name="T6" fmla="*/ 0 w 1"/>
                  <a:gd name="T7" fmla="*/ 0 h 2"/>
                  <a:gd name="T8" fmla="*/ 0 60000 65536"/>
                  <a:gd name="T9" fmla="*/ 0 60000 65536"/>
                  <a:gd name="T10" fmla="*/ 0 60000 65536"/>
                  <a:gd name="T11" fmla="*/ 0 60000 65536"/>
                  <a:gd name="T12" fmla="*/ 0 w 1"/>
                  <a:gd name="T13" fmla="*/ 0 h 2"/>
                  <a:gd name="T14" fmla="*/ 1 w 1"/>
                  <a:gd name="T15" fmla="*/ 2 h 2"/>
                </a:gdLst>
                <a:ahLst/>
                <a:cxnLst>
                  <a:cxn ang="T8">
                    <a:pos x="T0" y="T1"/>
                  </a:cxn>
                  <a:cxn ang="T9">
                    <a:pos x="T2" y="T3"/>
                  </a:cxn>
                  <a:cxn ang="T10">
                    <a:pos x="T4" y="T5"/>
                  </a:cxn>
                  <a:cxn ang="T11">
                    <a:pos x="T6" y="T7"/>
                  </a:cxn>
                </a:cxnLst>
                <a:rect l="T12" t="T13" r="T14" b="T15"/>
                <a:pathLst>
                  <a:path w="1" h="2">
                    <a:moveTo>
                      <a:pt x="0" y="0"/>
                    </a:moveTo>
                    <a:cubicBezTo>
                      <a:pt x="0" y="0"/>
                      <a:pt x="0" y="1"/>
                      <a:pt x="0" y="1"/>
                    </a:cubicBezTo>
                    <a:cubicBezTo>
                      <a:pt x="0" y="2"/>
                      <a:pt x="0" y="2"/>
                      <a:pt x="0" y="2"/>
                    </a:cubicBezTo>
                    <a:cubicBezTo>
                      <a:pt x="0" y="0"/>
                      <a:pt x="0" y="0"/>
                      <a:pt x="0" y="0"/>
                    </a:cubicBezTo>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0" name="Freeform 1289"/>
              <p:cNvSpPr>
                <a:spLocks noChangeArrowheads="1"/>
              </p:cNvSpPr>
              <p:nvPr/>
            </p:nvSpPr>
            <p:spPr bwMode="auto">
              <a:xfrm>
                <a:off x="1112838" y="3733799"/>
                <a:ext cx="1" cy="3175"/>
              </a:xfrm>
              <a:custGeom>
                <a:avLst/>
                <a:gdLst>
                  <a:gd name="T0" fmla="*/ 0 w 1"/>
                  <a:gd name="T1" fmla="*/ 0 h 3"/>
                  <a:gd name="T2" fmla="*/ 0 w 1"/>
                  <a:gd name="T3" fmla="*/ 2240492 h 3"/>
                  <a:gd name="T4" fmla="*/ 0 w 1"/>
                  <a:gd name="T5" fmla="*/ 3360208 h 3"/>
                  <a:gd name="T6" fmla="*/ 0 w 1"/>
                  <a:gd name="T7" fmla="*/ 0 h 3"/>
                  <a:gd name="T8" fmla="*/ 0 60000 65536"/>
                  <a:gd name="T9" fmla="*/ 0 60000 65536"/>
                  <a:gd name="T10" fmla="*/ 0 60000 65536"/>
                  <a:gd name="T11" fmla="*/ 0 60000 65536"/>
                  <a:gd name="T12" fmla="*/ 0 w 1"/>
                  <a:gd name="T13" fmla="*/ 0 h 3"/>
                  <a:gd name="T14" fmla="*/ 1 w 1"/>
                  <a:gd name="T15" fmla="*/ 3 h 3"/>
                </a:gdLst>
                <a:ahLst/>
                <a:cxnLst>
                  <a:cxn ang="T8">
                    <a:pos x="T0" y="T1"/>
                  </a:cxn>
                  <a:cxn ang="T9">
                    <a:pos x="T2" y="T3"/>
                  </a:cxn>
                  <a:cxn ang="T10">
                    <a:pos x="T4" y="T5"/>
                  </a:cxn>
                  <a:cxn ang="T11">
                    <a:pos x="T6" y="T7"/>
                  </a:cxn>
                </a:cxnLst>
                <a:rect l="T12" t="T13" r="T14" b="T15"/>
                <a:pathLst>
                  <a:path w="1" h="3">
                    <a:moveTo>
                      <a:pt x="0" y="0"/>
                    </a:moveTo>
                    <a:cubicBezTo>
                      <a:pt x="0" y="1"/>
                      <a:pt x="0" y="1"/>
                      <a:pt x="0" y="2"/>
                    </a:cubicBezTo>
                    <a:cubicBezTo>
                      <a:pt x="0" y="2"/>
                      <a:pt x="0" y="3"/>
                      <a:pt x="0" y="3"/>
                    </a:cubicBezTo>
                    <a:cubicBezTo>
                      <a:pt x="0" y="0"/>
                      <a:pt x="0" y="0"/>
                      <a:pt x="0" y="0"/>
                    </a:cubicBezTo>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1" name="Freeform 1292"/>
              <p:cNvSpPr>
                <a:spLocks noChangeArrowheads="1"/>
              </p:cNvSpPr>
              <p:nvPr/>
            </p:nvSpPr>
            <p:spPr bwMode="auto">
              <a:xfrm>
                <a:off x="0" y="3543299"/>
                <a:ext cx="395288" cy="457200"/>
              </a:xfrm>
              <a:custGeom>
                <a:avLst/>
                <a:gdLst>
                  <a:gd name="T0" fmla="*/ 627520494 w 249"/>
                  <a:gd name="T1" fmla="*/ 0 h 288"/>
                  <a:gd name="T2" fmla="*/ 521673797 w 249"/>
                  <a:gd name="T3" fmla="*/ 0 h 288"/>
                  <a:gd name="T4" fmla="*/ 413306148 w 249"/>
                  <a:gd name="T5" fmla="*/ 0 h 288"/>
                  <a:gd name="T6" fmla="*/ 413306148 w 249"/>
                  <a:gd name="T7" fmla="*/ 138609388 h 288"/>
                  <a:gd name="T8" fmla="*/ 214214346 w 249"/>
                  <a:gd name="T9" fmla="*/ 138609388 h 288"/>
                  <a:gd name="T10" fmla="*/ 214214346 w 249"/>
                  <a:gd name="T11" fmla="*/ 0 h 288"/>
                  <a:gd name="T12" fmla="*/ 0 w 249"/>
                  <a:gd name="T13" fmla="*/ 0 h 288"/>
                  <a:gd name="T14" fmla="*/ 0 w 249"/>
                  <a:gd name="T15" fmla="*/ 725805000 h 288"/>
                  <a:gd name="T16" fmla="*/ 214214346 w 249"/>
                  <a:gd name="T17" fmla="*/ 725805000 h 288"/>
                  <a:gd name="T18" fmla="*/ 214214346 w 249"/>
                  <a:gd name="T19" fmla="*/ 161290000 h 288"/>
                  <a:gd name="T20" fmla="*/ 413306148 w 249"/>
                  <a:gd name="T21" fmla="*/ 161290000 h 288"/>
                  <a:gd name="T22" fmla="*/ 413306148 w 249"/>
                  <a:gd name="T23" fmla="*/ 725805000 h 288"/>
                  <a:gd name="T24" fmla="*/ 521673797 w 249"/>
                  <a:gd name="T25" fmla="*/ 725805000 h 288"/>
                  <a:gd name="T26" fmla="*/ 627520494 w 249"/>
                  <a:gd name="T27" fmla="*/ 725805000 h 288"/>
                  <a:gd name="T28" fmla="*/ 627520494 w 249"/>
                  <a:gd name="T29" fmla="*/ 725805000 h 288"/>
                  <a:gd name="T30" fmla="*/ 627520494 w 249"/>
                  <a:gd name="T31" fmla="*/ 0 h 2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9"/>
                  <a:gd name="T49" fmla="*/ 0 h 288"/>
                  <a:gd name="T50" fmla="*/ 249 w 249"/>
                  <a:gd name="T51" fmla="*/ 288 h 28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9" h="288">
                    <a:moveTo>
                      <a:pt x="249" y="0"/>
                    </a:moveTo>
                    <a:lnTo>
                      <a:pt x="207" y="0"/>
                    </a:lnTo>
                    <a:lnTo>
                      <a:pt x="164" y="0"/>
                    </a:lnTo>
                    <a:lnTo>
                      <a:pt x="164" y="55"/>
                    </a:lnTo>
                    <a:lnTo>
                      <a:pt x="85" y="55"/>
                    </a:lnTo>
                    <a:lnTo>
                      <a:pt x="85" y="0"/>
                    </a:lnTo>
                    <a:lnTo>
                      <a:pt x="0" y="0"/>
                    </a:lnTo>
                    <a:lnTo>
                      <a:pt x="0" y="288"/>
                    </a:lnTo>
                    <a:lnTo>
                      <a:pt x="85" y="288"/>
                    </a:lnTo>
                    <a:lnTo>
                      <a:pt x="85" y="64"/>
                    </a:lnTo>
                    <a:lnTo>
                      <a:pt x="164" y="64"/>
                    </a:lnTo>
                    <a:lnTo>
                      <a:pt x="164" y="288"/>
                    </a:lnTo>
                    <a:lnTo>
                      <a:pt x="207" y="288"/>
                    </a:lnTo>
                    <a:lnTo>
                      <a:pt x="249" y="288"/>
                    </a:lnTo>
                    <a:lnTo>
                      <a:pt x="24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2" name="Freeform 1293"/>
              <p:cNvSpPr>
                <a:spLocks noEditPoints="1" noChangeArrowheads="1"/>
              </p:cNvSpPr>
              <p:nvPr/>
            </p:nvSpPr>
            <p:spPr bwMode="auto">
              <a:xfrm>
                <a:off x="319088" y="1646237"/>
                <a:ext cx="1916113" cy="677862"/>
              </a:xfrm>
              <a:custGeom>
                <a:avLst/>
                <a:gdLst>
                  <a:gd name="T0" fmla="*/ 2147483646 w 1660"/>
                  <a:gd name="T1" fmla="*/ 137354242 h 587"/>
                  <a:gd name="T2" fmla="*/ 2126468733 w 1660"/>
                  <a:gd name="T3" fmla="*/ 90681076 h 587"/>
                  <a:gd name="T4" fmla="*/ 1460281260 w 1660"/>
                  <a:gd name="T5" fmla="*/ 52008298 h 587"/>
                  <a:gd name="T6" fmla="*/ 1115196235 w 1660"/>
                  <a:gd name="T7" fmla="*/ 198697866 h 587"/>
                  <a:gd name="T8" fmla="*/ 1096544144 w 1660"/>
                  <a:gd name="T9" fmla="*/ 198697866 h 587"/>
                  <a:gd name="T10" fmla="*/ 751459119 w 1660"/>
                  <a:gd name="T11" fmla="*/ 52008298 h 587"/>
                  <a:gd name="T12" fmla="*/ 85271646 w 1660"/>
                  <a:gd name="T13" fmla="*/ 90681076 h 587"/>
                  <a:gd name="T14" fmla="*/ 2665244 w 1660"/>
                  <a:gd name="T15" fmla="*/ 137354242 h 587"/>
                  <a:gd name="T16" fmla="*/ 35974444 w 1660"/>
                  <a:gd name="T17" fmla="*/ 214699797 h 587"/>
                  <a:gd name="T18" fmla="*/ 130572712 w 1660"/>
                  <a:gd name="T19" fmla="*/ 394728165 h 587"/>
                  <a:gd name="T20" fmla="*/ 285128003 w 1660"/>
                  <a:gd name="T21" fmla="*/ 721446102 h 587"/>
                  <a:gd name="T22" fmla="*/ 818077520 w 1660"/>
                  <a:gd name="T23" fmla="*/ 716110970 h 587"/>
                  <a:gd name="T24" fmla="*/ 1103205523 w 1660"/>
                  <a:gd name="T25" fmla="*/ 317382610 h 587"/>
                  <a:gd name="T26" fmla="*/ 1108534856 w 1660"/>
                  <a:gd name="T27" fmla="*/ 317382610 h 587"/>
                  <a:gd name="T28" fmla="*/ 1393662859 w 1660"/>
                  <a:gd name="T29" fmla="*/ 716110970 h 587"/>
                  <a:gd name="T30" fmla="*/ 1926612376 w 1660"/>
                  <a:gd name="T31" fmla="*/ 721446102 h 587"/>
                  <a:gd name="T32" fmla="*/ 2081167666 w 1660"/>
                  <a:gd name="T33" fmla="*/ 394728165 h 587"/>
                  <a:gd name="T34" fmla="*/ 2147483646 w 1660"/>
                  <a:gd name="T35" fmla="*/ 214699797 h 587"/>
                  <a:gd name="T36" fmla="*/ 2147483646 w 1660"/>
                  <a:gd name="T37" fmla="*/ 137354242 h 587"/>
                  <a:gd name="T38" fmla="*/ 892690498 w 1660"/>
                  <a:gd name="T39" fmla="*/ 454738006 h 587"/>
                  <a:gd name="T40" fmla="*/ 783436274 w 1660"/>
                  <a:gd name="T41" fmla="*/ 652102089 h 587"/>
                  <a:gd name="T42" fmla="*/ 547605473 w 1660"/>
                  <a:gd name="T43" fmla="*/ 692107495 h 587"/>
                  <a:gd name="T44" fmla="*/ 311775825 w 1660"/>
                  <a:gd name="T45" fmla="*/ 653434717 h 587"/>
                  <a:gd name="T46" fmla="*/ 213180268 w 1660"/>
                  <a:gd name="T47" fmla="*/ 421399206 h 587"/>
                  <a:gd name="T48" fmla="*/ 194527024 w 1660"/>
                  <a:gd name="T49" fmla="*/ 176027019 h 587"/>
                  <a:gd name="T50" fmla="*/ 539610895 w 1660"/>
                  <a:gd name="T51" fmla="*/ 118684744 h 587"/>
                  <a:gd name="T52" fmla="*/ 935326321 w 1660"/>
                  <a:gd name="T53" fmla="*/ 226701534 h 587"/>
                  <a:gd name="T54" fmla="*/ 892690498 w 1660"/>
                  <a:gd name="T55" fmla="*/ 454738006 h 587"/>
                  <a:gd name="T56" fmla="*/ 1998560110 w 1660"/>
                  <a:gd name="T57" fmla="*/ 421399206 h 587"/>
                  <a:gd name="T58" fmla="*/ 1899964554 w 1660"/>
                  <a:gd name="T59" fmla="*/ 653434717 h 587"/>
                  <a:gd name="T60" fmla="*/ 1664134906 w 1660"/>
                  <a:gd name="T61" fmla="*/ 692107495 h 587"/>
                  <a:gd name="T62" fmla="*/ 1428304104 w 1660"/>
                  <a:gd name="T63" fmla="*/ 652102089 h 587"/>
                  <a:gd name="T64" fmla="*/ 1319049881 w 1660"/>
                  <a:gd name="T65" fmla="*/ 454738006 h 587"/>
                  <a:gd name="T66" fmla="*/ 1276414058 w 1660"/>
                  <a:gd name="T67" fmla="*/ 226701534 h 587"/>
                  <a:gd name="T68" fmla="*/ 1672129484 w 1660"/>
                  <a:gd name="T69" fmla="*/ 118684744 h 587"/>
                  <a:gd name="T70" fmla="*/ 2017213355 w 1660"/>
                  <a:gd name="T71" fmla="*/ 176027019 h 587"/>
                  <a:gd name="T72" fmla="*/ 1998560110 w 1660"/>
                  <a:gd name="T73" fmla="*/ 421399206 h 58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60"/>
                  <a:gd name="T112" fmla="*/ 0 h 587"/>
                  <a:gd name="T113" fmla="*/ 1660 w 1660"/>
                  <a:gd name="T114" fmla="*/ 587 h 58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60" h="587">
                    <a:moveTo>
                      <a:pt x="1658" y="103"/>
                    </a:moveTo>
                    <a:cubicBezTo>
                      <a:pt x="1658" y="71"/>
                      <a:pt x="1653" y="83"/>
                      <a:pt x="1596" y="68"/>
                    </a:cubicBezTo>
                    <a:cubicBezTo>
                      <a:pt x="1539" y="52"/>
                      <a:pt x="1364" y="0"/>
                      <a:pt x="1096" y="39"/>
                    </a:cubicBezTo>
                    <a:cubicBezTo>
                      <a:pt x="872" y="72"/>
                      <a:pt x="929" y="146"/>
                      <a:pt x="837" y="149"/>
                    </a:cubicBezTo>
                    <a:cubicBezTo>
                      <a:pt x="823" y="149"/>
                      <a:pt x="823" y="149"/>
                      <a:pt x="823" y="149"/>
                    </a:cubicBezTo>
                    <a:cubicBezTo>
                      <a:pt x="731" y="146"/>
                      <a:pt x="788" y="72"/>
                      <a:pt x="564" y="39"/>
                    </a:cubicBezTo>
                    <a:cubicBezTo>
                      <a:pt x="296" y="0"/>
                      <a:pt x="121" y="52"/>
                      <a:pt x="64" y="68"/>
                    </a:cubicBezTo>
                    <a:cubicBezTo>
                      <a:pt x="7" y="83"/>
                      <a:pt x="2" y="71"/>
                      <a:pt x="2" y="103"/>
                    </a:cubicBezTo>
                    <a:cubicBezTo>
                      <a:pt x="3" y="135"/>
                      <a:pt x="0" y="161"/>
                      <a:pt x="27" y="161"/>
                    </a:cubicBezTo>
                    <a:cubicBezTo>
                      <a:pt x="55" y="161"/>
                      <a:pt x="55" y="161"/>
                      <a:pt x="98" y="296"/>
                    </a:cubicBezTo>
                    <a:cubicBezTo>
                      <a:pt x="150" y="458"/>
                      <a:pt x="164" y="504"/>
                      <a:pt x="214" y="541"/>
                    </a:cubicBezTo>
                    <a:cubicBezTo>
                      <a:pt x="275" y="587"/>
                      <a:pt x="531" y="587"/>
                      <a:pt x="614" y="537"/>
                    </a:cubicBezTo>
                    <a:cubicBezTo>
                      <a:pt x="717" y="475"/>
                      <a:pt x="704" y="241"/>
                      <a:pt x="828" y="238"/>
                    </a:cubicBezTo>
                    <a:cubicBezTo>
                      <a:pt x="829" y="238"/>
                      <a:pt x="831" y="238"/>
                      <a:pt x="832" y="238"/>
                    </a:cubicBezTo>
                    <a:cubicBezTo>
                      <a:pt x="956" y="241"/>
                      <a:pt x="943" y="475"/>
                      <a:pt x="1046" y="537"/>
                    </a:cubicBezTo>
                    <a:cubicBezTo>
                      <a:pt x="1129" y="587"/>
                      <a:pt x="1385" y="587"/>
                      <a:pt x="1446" y="541"/>
                    </a:cubicBezTo>
                    <a:cubicBezTo>
                      <a:pt x="1496" y="504"/>
                      <a:pt x="1510" y="458"/>
                      <a:pt x="1562" y="296"/>
                    </a:cubicBezTo>
                    <a:cubicBezTo>
                      <a:pt x="1605" y="161"/>
                      <a:pt x="1605" y="161"/>
                      <a:pt x="1633" y="161"/>
                    </a:cubicBezTo>
                    <a:cubicBezTo>
                      <a:pt x="1660" y="161"/>
                      <a:pt x="1657" y="135"/>
                      <a:pt x="1658" y="103"/>
                    </a:cubicBezTo>
                    <a:close/>
                    <a:moveTo>
                      <a:pt x="670" y="341"/>
                    </a:moveTo>
                    <a:cubicBezTo>
                      <a:pt x="644" y="407"/>
                      <a:pt x="624" y="465"/>
                      <a:pt x="588" y="489"/>
                    </a:cubicBezTo>
                    <a:cubicBezTo>
                      <a:pt x="550" y="515"/>
                      <a:pt x="494" y="520"/>
                      <a:pt x="411" y="519"/>
                    </a:cubicBezTo>
                    <a:cubicBezTo>
                      <a:pt x="341" y="517"/>
                      <a:pt x="266" y="520"/>
                      <a:pt x="234" y="490"/>
                    </a:cubicBezTo>
                    <a:cubicBezTo>
                      <a:pt x="208" y="465"/>
                      <a:pt x="182" y="386"/>
                      <a:pt x="160" y="316"/>
                    </a:cubicBezTo>
                    <a:cubicBezTo>
                      <a:pt x="129" y="219"/>
                      <a:pt x="115" y="161"/>
                      <a:pt x="146" y="132"/>
                    </a:cubicBezTo>
                    <a:cubicBezTo>
                      <a:pt x="185" y="97"/>
                      <a:pt x="286" y="91"/>
                      <a:pt x="405" y="89"/>
                    </a:cubicBezTo>
                    <a:cubicBezTo>
                      <a:pt x="524" y="88"/>
                      <a:pt x="682" y="123"/>
                      <a:pt x="702" y="170"/>
                    </a:cubicBezTo>
                    <a:cubicBezTo>
                      <a:pt x="718" y="205"/>
                      <a:pt x="693" y="282"/>
                      <a:pt x="670" y="341"/>
                    </a:cubicBezTo>
                    <a:close/>
                    <a:moveTo>
                      <a:pt x="1500" y="316"/>
                    </a:moveTo>
                    <a:cubicBezTo>
                      <a:pt x="1478" y="386"/>
                      <a:pt x="1452" y="465"/>
                      <a:pt x="1426" y="490"/>
                    </a:cubicBezTo>
                    <a:cubicBezTo>
                      <a:pt x="1394" y="520"/>
                      <a:pt x="1319" y="517"/>
                      <a:pt x="1249" y="519"/>
                    </a:cubicBezTo>
                    <a:cubicBezTo>
                      <a:pt x="1166" y="520"/>
                      <a:pt x="1110" y="515"/>
                      <a:pt x="1072" y="489"/>
                    </a:cubicBezTo>
                    <a:cubicBezTo>
                      <a:pt x="1036" y="465"/>
                      <a:pt x="1016" y="407"/>
                      <a:pt x="990" y="341"/>
                    </a:cubicBezTo>
                    <a:cubicBezTo>
                      <a:pt x="967" y="282"/>
                      <a:pt x="942" y="205"/>
                      <a:pt x="958" y="170"/>
                    </a:cubicBezTo>
                    <a:cubicBezTo>
                      <a:pt x="978" y="123"/>
                      <a:pt x="1136" y="88"/>
                      <a:pt x="1255" y="89"/>
                    </a:cubicBezTo>
                    <a:cubicBezTo>
                      <a:pt x="1374" y="91"/>
                      <a:pt x="1475" y="97"/>
                      <a:pt x="1514" y="132"/>
                    </a:cubicBezTo>
                    <a:cubicBezTo>
                      <a:pt x="1546" y="161"/>
                      <a:pt x="1531" y="219"/>
                      <a:pt x="1500" y="316"/>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3" name="Freeform 1294"/>
              <p:cNvSpPr>
                <a:spLocks noChangeArrowheads="1"/>
              </p:cNvSpPr>
              <p:nvPr/>
            </p:nvSpPr>
            <p:spPr bwMode="auto">
              <a:xfrm>
                <a:off x="663575" y="2454274"/>
                <a:ext cx="622300" cy="488950"/>
              </a:xfrm>
              <a:custGeom>
                <a:avLst/>
                <a:gdLst>
                  <a:gd name="T0" fmla="*/ 0 w 538"/>
                  <a:gd name="T1" fmla="*/ 461452328 h 424"/>
                  <a:gd name="T2" fmla="*/ 204704313 w 538"/>
                  <a:gd name="T3" fmla="*/ 398949758 h 424"/>
                  <a:gd name="T4" fmla="*/ 457573257 w 538"/>
                  <a:gd name="T5" fmla="*/ 216762836 h 424"/>
                  <a:gd name="T6" fmla="*/ 709105067 w 538"/>
                  <a:gd name="T7" fmla="*/ 115695487 h 424"/>
                  <a:gd name="T8" fmla="*/ 544539104 w 538"/>
                  <a:gd name="T9" fmla="*/ 2659242 h 424"/>
                  <a:gd name="T10" fmla="*/ 198014009 w 538"/>
                  <a:gd name="T11" fmla="*/ 239369855 h 424"/>
                  <a:gd name="T12" fmla="*/ 109711027 w 538"/>
                  <a:gd name="T13" fmla="*/ 433525672 h 424"/>
                  <a:gd name="T14" fmla="*/ 0 w 538"/>
                  <a:gd name="T15" fmla="*/ 461452328 h 424"/>
                  <a:gd name="T16" fmla="*/ 0 60000 65536"/>
                  <a:gd name="T17" fmla="*/ 0 60000 65536"/>
                  <a:gd name="T18" fmla="*/ 0 60000 65536"/>
                  <a:gd name="T19" fmla="*/ 0 60000 65536"/>
                  <a:gd name="T20" fmla="*/ 0 60000 65536"/>
                  <a:gd name="T21" fmla="*/ 0 60000 65536"/>
                  <a:gd name="T22" fmla="*/ 0 60000 65536"/>
                  <a:gd name="T23" fmla="*/ 0 60000 65536"/>
                  <a:gd name="T24" fmla="*/ 0 w 538"/>
                  <a:gd name="T25" fmla="*/ 0 h 424"/>
                  <a:gd name="T26" fmla="*/ 538 w 538"/>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8" h="424">
                    <a:moveTo>
                      <a:pt x="0" y="347"/>
                    </a:moveTo>
                    <a:cubicBezTo>
                      <a:pt x="0" y="347"/>
                      <a:pt x="82" y="424"/>
                      <a:pt x="153" y="300"/>
                    </a:cubicBezTo>
                    <a:cubicBezTo>
                      <a:pt x="209" y="203"/>
                      <a:pt x="220" y="166"/>
                      <a:pt x="342" y="163"/>
                    </a:cubicBezTo>
                    <a:cubicBezTo>
                      <a:pt x="465" y="160"/>
                      <a:pt x="522" y="141"/>
                      <a:pt x="530" y="87"/>
                    </a:cubicBezTo>
                    <a:cubicBezTo>
                      <a:pt x="538" y="33"/>
                      <a:pt x="492" y="0"/>
                      <a:pt x="407" y="2"/>
                    </a:cubicBezTo>
                    <a:cubicBezTo>
                      <a:pt x="323" y="4"/>
                      <a:pt x="210" y="54"/>
                      <a:pt x="148" y="180"/>
                    </a:cubicBezTo>
                    <a:cubicBezTo>
                      <a:pt x="104" y="269"/>
                      <a:pt x="108" y="298"/>
                      <a:pt x="82" y="326"/>
                    </a:cubicBezTo>
                    <a:cubicBezTo>
                      <a:pt x="56" y="354"/>
                      <a:pt x="0" y="347"/>
                      <a:pt x="0" y="347"/>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4" name="Freeform 1295"/>
              <p:cNvSpPr>
                <a:spLocks noChangeArrowheads="1"/>
              </p:cNvSpPr>
              <p:nvPr/>
            </p:nvSpPr>
            <p:spPr bwMode="auto">
              <a:xfrm>
                <a:off x="1268413" y="2454274"/>
                <a:ext cx="622300" cy="488950"/>
              </a:xfrm>
              <a:custGeom>
                <a:avLst/>
                <a:gdLst>
                  <a:gd name="T0" fmla="*/ 719809089 w 538"/>
                  <a:gd name="T1" fmla="*/ 461452328 h 424"/>
                  <a:gd name="T2" fmla="*/ 515104777 w 538"/>
                  <a:gd name="T3" fmla="*/ 398949758 h 424"/>
                  <a:gd name="T4" fmla="*/ 262235832 w 538"/>
                  <a:gd name="T5" fmla="*/ 216762836 h 424"/>
                  <a:gd name="T6" fmla="*/ 10704023 w 538"/>
                  <a:gd name="T7" fmla="*/ 115695487 h 424"/>
                  <a:gd name="T8" fmla="*/ 175269985 w 538"/>
                  <a:gd name="T9" fmla="*/ 2659242 h 424"/>
                  <a:gd name="T10" fmla="*/ 521795080 w 538"/>
                  <a:gd name="T11" fmla="*/ 239369855 h 424"/>
                  <a:gd name="T12" fmla="*/ 610098062 w 538"/>
                  <a:gd name="T13" fmla="*/ 433525672 h 424"/>
                  <a:gd name="T14" fmla="*/ 719809089 w 538"/>
                  <a:gd name="T15" fmla="*/ 461452328 h 424"/>
                  <a:gd name="T16" fmla="*/ 0 60000 65536"/>
                  <a:gd name="T17" fmla="*/ 0 60000 65536"/>
                  <a:gd name="T18" fmla="*/ 0 60000 65536"/>
                  <a:gd name="T19" fmla="*/ 0 60000 65536"/>
                  <a:gd name="T20" fmla="*/ 0 60000 65536"/>
                  <a:gd name="T21" fmla="*/ 0 60000 65536"/>
                  <a:gd name="T22" fmla="*/ 0 60000 65536"/>
                  <a:gd name="T23" fmla="*/ 0 60000 65536"/>
                  <a:gd name="T24" fmla="*/ 0 w 538"/>
                  <a:gd name="T25" fmla="*/ 0 h 424"/>
                  <a:gd name="T26" fmla="*/ 538 w 538"/>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8" h="424">
                    <a:moveTo>
                      <a:pt x="538" y="347"/>
                    </a:moveTo>
                    <a:cubicBezTo>
                      <a:pt x="538" y="347"/>
                      <a:pt x="456" y="424"/>
                      <a:pt x="385" y="300"/>
                    </a:cubicBezTo>
                    <a:cubicBezTo>
                      <a:pt x="329" y="203"/>
                      <a:pt x="318" y="166"/>
                      <a:pt x="196" y="163"/>
                    </a:cubicBezTo>
                    <a:cubicBezTo>
                      <a:pt x="74" y="160"/>
                      <a:pt x="16" y="141"/>
                      <a:pt x="8" y="87"/>
                    </a:cubicBezTo>
                    <a:cubicBezTo>
                      <a:pt x="0" y="33"/>
                      <a:pt x="46" y="0"/>
                      <a:pt x="131" y="2"/>
                    </a:cubicBezTo>
                    <a:cubicBezTo>
                      <a:pt x="215" y="4"/>
                      <a:pt x="328" y="54"/>
                      <a:pt x="390" y="180"/>
                    </a:cubicBezTo>
                    <a:cubicBezTo>
                      <a:pt x="434" y="269"/>
                      <a:pt x="430" y="298"/>
                      <a:pt x="456" y="326"/>
                    </a:cubicBezTo>
                    <a:cubicBezTo>
                      <a:pt x="482" y="354"/>
                      <a:pt x="538" y="347"/>
                      <a:pt x="538" y="347"/>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5" name="Freeform 1296"/>
              <p:cNvSpPr>
                <a:spLocks noChangeArrowheads="1"/>
              </p:cNvSpPr>
              <p:nvPr/>
            </p:nvSpPr>
            <p:spPr bwMode="auto">
              <a:xfrm>
                <a:off x="454025" y="2387599"/>
                <a:ext cx="1647825" cy="1027112"/>
              </a:xfrm>
              <a:custGeom>
                <a:avLst/>
                <a:gdLst>
                  <a:gd name="T0" fmla="*/ 1680137151 w 1427"/>
                  <a:gd name="T1" fmla="*/ 299666273 h 890"/>
                  <a:gd name="T2" fmla="*/ 1357444054 w 1427"/>
                  <a:gd name="T3" fmla="*/ 728522463 h 890"/>
                  <a:gd name="T4" fmla="*/ 1056086077 w 1427"/>
                  <a:gd name="T5" fmla="*/ 554049602 h 890"/>
                  <a:gd name="T6" fmla="*/ 950744216 w 1427"/>
                  <a:gd name="T7" fmla="*/ 499444174 h 890"/>
                  <a:gd name="T8" fmla="*/ 845402355 w 1427"/>
                  <a:gd name="T9" fmla="*/ 554049602 h 890"/>
                  <a:gd name="T10" fmla="*/ 544044378 w 1427"/>
                  <a:gd name="T11" fmla="*/ 728522463 h 890"/>
                  <a:gd name="T12" fmla="*/ 221351281 w 1427"/>
                  <a:gd name="T13" fmla="*/ 299666273 h 890"/>
                  <a:gd name="T14" fmla="*/ 0 w 1427"/>
                  <a:gd name="T15" fmla="*/ 0 h 890"/>
                  <a:gd name="T16" fmla="*/ 120009467 w 1427"/>
                  <a:gd name="T17" fmla="*/ 594005413 h 890"/>
                  <a:gd name="T18" fmla="*/ 616049827 w 1427"/>
                  <a:gd name="T19" fmla="*/ 1049498425 h 890"/>
                  <a:gd name="T20" fmla="*/ 950744216 w 1427"/>
                  <a:gd name="T21" fmla="*/ 1172028271 h 890"/>
                  <a:gd name="T22" fmla="*/ 1285438605 w 1427"/>
                  <a:gd name="T23" fmla="*/ 1049498425 h 890"/>
                  <a:gd name="T24" fmla="*/ 1781478966 w 1427"/>
                  <a:gd name="T25" fmla="*/ 594005413 h 890"/>
                  <a:gd name="T26" fmla="*/ 1902822166 w 1427"/>
                  <a:gd name="T27" fmla="*/ 0 h 890"/>
                  <a:gd name="T28" fmla="*/ 1680137151 w 1427"/>
                  <a:gd name="T29" fmla="*/ 299666273 h 8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27"/>
                  <a:gd name="T46" fmla="*/ 0 h 890"/>
                  <a:gd name="T47" fmla="*/ 1427 w 1427"/>
                  <a:gd name="T48" fmla="*/ 890 h 89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27" h="890">
                    <a:moveTo>
                      <a:pt x="1260" y="225"/>
                    </a:moveTo>
                    <a:cubicBezTo>
                      <a:pt x="1249" y="317"/>
                      <a:pt x="1157" y="492"/>
                      <a:pt x="1018" y="547"/>
                    </a:cubicBezTo>
                    <a:cubicBezTo>
                      <a:pt x="879" y="602"/>
                      <a:pt x="841" y="467"/>
                      <a:pt x="792" y="416"/>
                    </a:cubicBezTo>
                    <a:cubicBezTo>
                      <a:pt x="753" y="376"/>
                      <a:pt x="724" y="374"/>
                      <a:pt x="713" y="375"/>
                    </a:cubicBezTo>
                    <a:cubicBezTo>
                      <a:pt x="702" y="374"/>
                      <a:pt x="673" y="376"/>
                      <a:pt x="634" y="416"/>
                    </a:cubicBezTo>
                    <a:cubicBezTo>
                      <a:pt x="585" y="467"/>
                      <a:pt x="547" y="602"/>
                      <a:pt x="408" y="547"/>
                    </a:cubicBezTo>
                    <a:cubicBezTo>
                      <a:pt x="269" y="492"/>
                      <a:pt x="177" y="317"/>
                      <a:pt x="166" y="225"/>
                    </a:cubicBezTo>
                    <a:cubicBezTo>
                      <a:pt x="143" y="32"/>
                      <a:pt x="0" y="0"/>
                      <a:pt x="0" y="0"/>
                    </a:cubicBezTo>
                    <a:cubicBezTo>
                      <a:pt x="0" y="0"/>
                      <a:pt x="41" y="368"/>
                      <a:pt x="90" y="446"/>
                    </a:cubicBezTo>
                    <a:cubicBezTo>
                      <a:pt x="139" y="523"/>
                      <a:pt x="332" y="684"/>
                      <a:pt x="462" y="788"/>
                    </a:cubicBezTo>
                    <a:cubicBezTo>
                      <a:pt x="590" y="890"/>
                      <a:pt x="643" y="880"/>
                      <a:pt x="713" y="880"/>
                    </a:cubicBezTo>
                    <a:cubicBezTo>
                      <a:pt x="783" y="880"/>
                      <a:pt x="836" y="890"/>
                      <a:pt x="964" y="788"/>
                    </a:cubicBezTo>
                    <a:cubicBezTo>
                      <a:pt x="1095" y="684"/>
                      <a:pt x="1287" y="523"/>
                      <a:pt x="1336" y="446"/>
                    </a:cubicBezTo>
                    <a:cubicBezTo>
                      <a:pt x="1385" y="368"/>
                      <a:pt x="1427" y="0"/>
                      <a:pt x="1427" y="0"/>
                    </a:cubicBezTo>
                    <a:cubicBezTo>
                      <a:pt x="1427" y="0"/>
                      <a:pt x="1284" y="32"/>
                      <a:pt x="1260" y="225"/>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6" name="Oval 1297"/>
              <p:cNvSpPr>
                <a:spLocks noChangeArrowheads="1"/>
              </p:cNvSpPr>
              <p:nvPr/>
            </p:nvSpPr>
            <p:spPr bwMode="auto">
              <a:xfrm>
                <a:off x="19050" y="719137"/>
                <a:ext cx="2516188" cy="909637"/>
              </a:xfrm>
              <a:prstGeom prst="ellipse">
                <a:avLst/>
              </a:pr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27" name="Freeform 1298"/>
              <p:cNvSpPr>
                <a:spLocks noChangeArrowheads="1"/>
              </p:cNvSpPr>
              <p:nvPr/>
            </p:nvSpPr>
            <p:spPr bwMode="auto">
              <a:xfrm>
                <a:off x="449263" y="0"/>
                <a:ext cx="1655763" cy="1004887"/>
              </a:xfrm>
              <a:custGeom>
                <a:avLst/>
                <a:gdLst>
                  <a:gd name="T0" fmla="*/ 1906487547 w 1434"/>
                  <a:gd name="T1" fmla="*/ 897865379 h 870"/>
                  <a:gd name="T2" fmla="*/ 1906487547 w 1434"/>
                  <a:gd name="T3" fmla="*/ 896531305 h 870"/>
                  <a:gd name="T4" fmla="*/ 1905155085 w 1434"/>
                  <a:gd name="T5" fmla="*/ 895197231 h 870"/>
                  <a:gd name="T6" fmla="*/ 1541188588 w 1434"/>
                  <a:gd name="T7" fmla="*/ 126741662 h 870"/>
                  <a:gd name="T8" fmla="*/ 990573493 w 1434"/>
                  <a:gd name="T9" fmla="*/ 269493368 h 870"/>
                  <a:gd name="T10" fmla="*/ 525284461 w 1434"/>
                  <a:gd name="T11" fmla="*/ 69374164 h 870"/>
                  <a:gd name="T12" fmla="*/ 5333312 w 1434"/>
                  <a:gd name="T13" fmla="*/ 896531305 h 870"/>
                  <a:gd name="T14" fmla="*/ 5333312 w 1434"/>
                  <a:gd name="T15" fmla="*/ 896531305 h 870"/>
                  <a:gd name="T16" fmla="*/ 0 w 1434"/>
                  <a:gd name="T17" fmla="*/ 921878714 h 870"/>
                  <a:gd name="T18" fmla="*/ 79992751 w 1434"/>
                  <a:gd name="T19" fmla="*/ 1016601441 h 870"/>
                  <a:gd name="T20" fmla="*/ 955909852 w 1434"/>
                  <a:gd name="T21" fmla="*/ 1160687222 h 870"/>
                  <a:gd name="T22" fmla="*/ 1831828108 w 1434"/>
                  <a:gd name="T23" fmla="*/ 1016601441 h 870"/>
                  <a:gd name="T24" fmla="*/ 1911820859 w 1434"/>
                  <a:gd name="T25" fmla="*/ 921878714 h 870"/>
                  <a:gd name="T26" fmla="*/ 1906487547 w 1434"/>
                  <a:gd name="T27" fmla="*/ 897865379 h 87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34"/>
                  <a:gd name="T43" fmla="*/ 0 h 870"/>
                  <a:gd name="T44" fmla="*/ 1434 w 1434"/>
                  <a:gd name="T45" fmla="*/ 870 h 87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34" h="870">
                    <a:moveTo>
                      <a:pt x="1430" y="673"/>
                    </a:moveTo>
                    <a:cubicBezTo>
                      <a:pt x="1430" y="672"/>
                      <a:pt x="1430" y="672"/>
                      <a:pt x="1430" y="672"/>
                    </a:cubicBezTo>
                    <a:cubicBezTo>
                      <a:pt x="1429" y="671"/>
                      <a:pt x="1429" y="671"/>
                      <a:pt x="1429" y="671"/>
                    </a:cubicBezTo>
                    <a:cubicBezTo>
                      <a:pt x="1429" y="671"/>
                      <a:pt x="1245" y="189"/>
                      <a:pt x="1156" y="95"/>
                    </a:cubicBezTo>
                    <a:cubicBezTo>
                      <a:pt x="1067" y="0"/>
                      <a:pt x="934" y="156"/>
                      <a:pt x="743" y="202"/>
                    </a:cubicBezTo>
                    <a:cubicBezTo>
                      <a:pt x="606" y="234"/>
                      <a:pt x="550" y="74"/>
                      <a:pt x="394" y="52"/>
                    </a:cubicBezTo>
                    <a:cubicBezTo>
                      <a:pt x="262" y="34"/>
                      <a:pt x="14" y="646"/>
                      <a:pt x="4" y="672"/>
                    </a:cubicBezTo>
                    <a:cubicBezTo>
                      <a:pt x="4" y="672"/>
                      <a:pt x="4" y="672"/>
                      <a:pt x="4" y="672"/>
                    </a:cubicBezTo>
                    <a:cubicBezTo>
                      <a:pt x="1" y="678"/>
                      <a:pt x="0" y="684"/>
                      <a:pt x="0" y="691"/>
                    </a:cubicBezTo>
                    <a:cubicBezTo>
                      <a:pt x="0" y="716"/>
                      <a:pt x="22" y="740"/>
                      <a:pt x="60" y="762"/>
                    </a:cubicBezTo>
                    <a:cubicBezTo>
                      <a:pt x="171" y="826"/>
                      <a:pt x="423" y="870"/>
                      <a:pt x="717" y="870"/>
                    </a:cubicBezTo>
                    <a:cubicBezTo>
                      <a:pt x="1011" y="870"/>
                      <a:pt x="1263" y="826"/>
                      <a:pt x="1374" y="762"/>
                    </a:cubicBezTo>
                    <a:cubicBezTo>
                      <a:pt x="1412" y="740"/>
                      <a:pt x="1434" y="716"/>
                      <a:pt x="1434" y="691"/>
                    </a:cubicBezTo>
                    <a:cubicBezTo>
                      <a:pt x="1434" y="685"/>
                      <a:pt x="1433" y="679"/>
                      <a:pt x="1430" y="673"/>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8" name="Freeform 1299"/>
              <p:cNvSpPr>
                <a:spLocks noChangeArrowheads="1"/>
              </p:cNvSpPr>
              <p:nvPr/>
            </p:nvSpPr>
            <p:spPr bwMode="auto">
              <a:xfrm>
                <a:off x="433388" y="785812"/>
                <a:ext cx="25400" cy="44450"/>
              </a:xfrm>
              <a:custGeom>
                <a:avLst/>
                <a:gdLst>
                  <a:gd name="T0" fmla="*/ 17328573 w 22"/>
                  <a:gd name="T1" fmla="*/ 14288965 h 39"/>
                  <a:gd name="T2" fmla="*/ 18662073 w 22"/>
                  <a:gd name="T3" fmla="*/ 0 h 39"/>
                  <a:gd name="T4" fmla="*/ 18662073 w 22"/>
                  <a:gd name="T5" fmla="*/ 0 h 39"/>
                  <a:gd name="T6" fmla="*/ 0 w 22"/>
                  <a:gd name="T7" fmla="*/ 48064127 h 39"/>
                  <a:gd name="T8" fmla="*/ 29325455 w 22"/>
                  <a:gd name="T9" fmla="*/ 50661603 h 39"/>
                  <a:gd name="T10" fmla="*/ 17328573 w 22"/>
                  <a:gd name="T11" fmla="*/ 14288965 h 39"/>
                  <a:gd name="T12" fmla="*/ 0 60000 65536"/>
                  <a:gd name="T13" fmla="*/ 0 60000 65536"/>
                  <a:gd name="T14" fmla="*/ 0 60000 65536"/>
                  <a:gd name="T15" fmla="*/ 0 60000 65536"/>
                  <a:gd name="T16" fmla="*/ 0 60000 65536"/>
                  <a:gd name="T17" fmla="*/ 0 60000 65536"/>
                  <a:gd name="T18" fmla="*/ 0 w 22"/>
                  <a:gd name="T19" fmla="*/ 0 h 39"/>
                  <a:gd name="T20" fmla="*/ 22 w 22"/>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22" h="39">
                    <a:moveTo>
                      <a:pt x="13" y="11"/>
                    </a:moveTo>
                    <a:cubicBezTo>
                      <a:pt x="13" y="7"/>
                      <a:pt x="14" y="3"/>
                      <a:pt x="14" y="0"/>
                    </a:cubicBezTo>
                    <a:cubicBezTo>
                      <a:pt x="14" y="0"/>
                      <a:pt x="14" y="0"/>
                      <a:pt x="14" y="0"/>
                    </a:cubicBezTo>
                    <a:cubicBezTo>
                      <a:pt x="0" y="37"/>
                      <a:pt x="0" y="37"/>
                      <a:pt x="0" y="37"/>
                    </a:cubicBezTo>
                    <a:cubicBezTo>
                      <a:pt x="22" y="39"/>
                      <a:pt x="22" y="39"/>
                      <a:pt x="22" y="39"/>
                    </a:cubicBezTo>
                    <a:cubicBezTo>
                      <a:pt x="16" y="30"/>
                      <a:pt x="13" y="20"/>
                      <a:pt x="13" y="11"/>
                    </a:cubicBez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9" name="Freeform 1300"/>
              <p:cNvSpPr>
                <a:spLocks noChangeArrowheads="1"/>
              </p:cNvSpPr>
              <p:nvPr/>
            </p:nvSpPr>
            <p:spPr bwMode="auto">
              <a:xfrm>
                <a:off x="760413" y="1246187"/>
                <a:ext cx="411163" cy="38100"/>
              </a:xfrm>
              <a:custGeom>
                <a:avLst/>
                <a:gdLst>
                  <a:gd name="T0" fmla="*/ 0 w 355"/>
                  <a:gd name="T1" fmla="*/ 1333500 h 33"/>
                  <a:gd name="T2" fmla="*/ 335359599 w 355"/>
                  <a:gd name="T3" fmla="*/ 43988182 h 33"/>
                  <a:gd name="T4" fmla="*/ 476211303 w 355"/>
                  <a:gd name="T5" fmla="*/ 0 h 33"/>
                  <a:gd name="T6" fmla="*/ 0 w 355"/>
                  <a:gd name="T7" fmla="*/ 1333500 h 33"/>
                  <a:gd name="T8" fmla="*/ 0 60000 65536"/>
                  <a:gd name="T9" fmla="*/ 0 60000 65536"/>
                  <a:gd name="T10" fmla="*/ 0 60000 65536"/>
                  <a:gd name="T11" fmla="*/ 0 60000 65536"/>
                  <a:gd name="T12" fmla="*/ 0 w 355"/>
                  <a:gd name="T13" fmla="*/ 0 h 33"/>
                  <a:gd name="T14" fmla="*/ 355 w 355"/>
                  <a:gd name="T15" fmla="*/ 33 h 33"/>
                </a:gdLst>
                <a:ahLst/>
                <a:cxnLst>
                  <a:cxn ang="T8">
                    <a:pos x="T0" y="T1"/>
                  </a:cxn>
                  <a:cxn ang="T9">
                    <a:pos x="T2" y="T3"/>
                  </a:cxn>
                  <a:cxn ang="T10">
                    <a:pos x="T4" y="T5"/>
                  </a:cxn>
                  <a:cxn ang="T11">
                    <a:pos x="T6" y="T7"/>
                  </a:cxn>
                </a:cxnLst>
                <a:rect l="T12" t="T13" r="T14" b="T15"/>
                <a:pathLst>
                  <a:path w="355" h="33">
                    <a:moveTo>
                      <a:pt x="0" y="1"/>
                    </a:moveTo>
                    <a:cubicBezTo>
                      <a:pt x="75" y="16"/>
                      <a:pt x="159" y="27"/>
                      <a:pt x="250" y="33"/>
                    </a:cubicBezTo>
                    <a:cubicBezTo>
                      <a:pt x="355" y="0"/>
                      <a:pt x="355" y="0"/>
                      <a:pt x="355" y="0"/>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0" name="Freeform 1301"/>
              <p:cNvSpPr>
                <a:spLocks noChangeArrowheads="1"/>
              </p:cNvSpPr>
              <p:nvPr/>
            </p:nvSpPr>
            <p:spPr bwMode="auto">
              <a:xfrm>
                <a:off x="450850" y="776287"/>
                <a:ext cx="3175" cy="9525"/>
              </a:xfrm>
              <a:custGeom>
                <a:avLst/>
                <a:gdLst>
                  <a:gd name="T0" fmla="*/ 3360208 w 3"/>
                  <a:gd name="T1" fmla="*/ 0 h 8"/>
                  <a:gd name="T2" fmla="*/ 3360208 w 3"/>
                  <a:gd name="T3" fmla="*/ 1418034 h 8"/>
                  <a:gd name="T4" fmla="*/ 0 w 3"/>
                  <a:gd name="T5" fmla="*/ 11340703 h 8"/>
                  <a:gd name="T6" fmla="*/ 0 w 3"/>
                  <a:gd name="T7" fmla="*/ 11340703 h 8"/>
                  <a:gd name="T8" fmla="*/ 3360208 w 3"/>
                  <a:gd name="T9" fmla="*/ 0 h 8"/>
                  <a:gd name="T10" fmla="*/ 0 60000 65536"/>
                  <a:gd name="T11" fmla="*/ 0 60000 65536"/>
                  <a:gd name="T12" fmla="*/ 0 60000 65536"/>
                  <a:gd name="T13" fmla="*/ 0 60000 65536"/>
                  <a:gd name="T14" fmla="*/ 0 60000 65536"/>
                  <a:gd name="T15" fmla="*/ 0 w 3"/>
                  <a:gd name="T16" fmla="*/ 0 h 8"/>
                  <a:gd name="T17" fmla="*/ 3 w 3"/>
                  <a:gd name="T18" fmla="*/ 8 h 8"/>
                </a:gdLst>
                <a:ahLst/>
                <a:cxnLst>
                  <a:cxn ang="T10">
                    <a:pos x="T0" y="T1"/>
                  </a:cxn>
                  <a:cxn ang="T11">
                    <a:pos x="T2" y="T3"/>
                  </a:cxn>
                  <a:cxn ang="T12">
                    <a:pos x="T4" y="T5"/>
                  </a:cxn>
                  <a:cxn ang="T13">
                    <a:pos x="T6" y="T7"/>
                  </a:cxn>
                  <a:cxn ang="T14">
                    <a:pos x="T8" y="T9"/>
                  </a:cxn>
                </a:cxnLst>
                <a:rect l="T15" t="T16" r="T17" b="T18"/>
                <a:pathLst>
                  <a:path w="3" h="8">
                    <a:moveTo>
                      <a:pt x="3" y="0"/>
                    </a:moveTo>
                    <a:cubicBezTo>
                      <a:pt x="3" y="1"/>
                      <a:pt x="3" y="1"/>
                      <a:pt x="3" y="1"/>
                    </a:cubicBezTo>
                    <a:cubicBezTo>
                      <a:pt x="0" y="8"/>
                      <a:pt x="0" y="8"/>
                      <a:pt x="0" y="8"/>
                    </a:cubicBezTo>
                    <a:cubicBezTo>
                      <a:pt x="0" y="8"/>
                      <a:pt x="0" y="8"/>
                      <a:pt x="0" y="8"/>
                    </a:cubicBezTo>
                    <a:cubicBezTo>
                      <a:pt x="1" y="5"/>
                      <a:pt x="2" y="3"/>
                      <a:pt x="3" y="0"/>
                    </a:cubicBez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1" name="Freeform 1302"/>
              <p:cNvSpPr>
                <a:spLocks noChangeArrowheads="1"/>
              </p:cNvSpPr>
              <p:nvPr/>
            </p:nvSpPr>
            <p:spPr bwMode="auto">
              <a:xfrm>
                <a:off x="1355725" y="1117599"/>
                <a:ext cx="485775" cy="128587"/>
              </a:xfrm>
              <a:custGeom>
                <a:avLst/>
                <a:gdLst>
                  <a:gd name="T0" fmla="*/ 0 w 421"/>
                  <a:gd name="T1" fmla="*/ 113358625 h 112"/>
                  <a:gd name="T2" fmla="*/ 508591425 w 421"/>
                  <a:gd name="T3" fmla="*/ 147630505 h 112"/>
                  <a:gd name="T4" fmla="*/ 560516272 w 421"/>
                  <a:gd name="T5" fmla="*/ 137085223 h 112"/>
                  <a:gd name="T6" fmla="*/ 426045444 w 421"/>
                  <a:gd name="T7" fmla="*/ 0 h 112"/>
                  <a:gd name="T8" fmla="*/ 0 w 421"/>
                  <a:gd name="T9" fmla="*/ 113358625 h 112"/>
                  <a:gd name="T10" fmla="*/ 0 60000 65536"/>
                  <a:gd name="T11" fmla="*/ 0 60000 65536"/>
                  <a:gd name="T12" fmla="*/ 0 60000 65536"/>
                  <a:gd name="T13" fmla="*/ 0 60000 65536"/>
                  <a:gd name="T14" fmla="*/ 0 60000 65536"/>
                  <a:gd name="T15" fmla="*/ 0 w 421"/>
                  <a:gd name="T16" fmla="*/ 0 h 112"/>
                  <a:gd name="T17" fmla="*/ 421 w 421"/>
                  <a:gd name="T18" fmla="*/ 112 h 112"/>
                </a:gdLst>
                <a:ahLst/>
                <a:cxnLst>
                  <a:cxn ang="T10">
                    <a:pos x="T0" y="T1"/>
                  </a:cxn>
                  <a:cxn ang="T11">
                    <a:pos x="T2" y="T3"/>
                  </a:cxn>
                  <a:cxn ang="T12">
                    <a:pos x="T4" y="T5"/>
                  </a:cxn>
                  <a:cxn ang="T13">
                    <a:pos x="T6" y="T7"/>
                  </a:cxn>
                  <a:cxn ang="T14">
                    <a:pos x="T8" y="T9"/>
                  </a:cxn>
                </a:cxnLst>
                <a:rect l="T15" t="T16" r="T17" b="T18"/>
                <a:pathLst>
                  <a:path w="421" h="112">
                    <a:moveTo>
                      <a:pt x="0" y="86"/>
                    </a:moveTo>
                    <a:cubicBezTo>
                      <a:pt x="382" y="112"/>
                      <a:pt x="382" y="112"/>
                      <a:pt x="382" y="112"/>
                    </a:cubicBezTo>
                    <a:cubicBezTo>
                      <a:pt x="395" y="109"/>
                      <a:pt x="408" y="107"/>
                      <a:pt x="421" y="104"/>
                    </a:cubicBezTo>
                    <a:cubicBezTo>
                      <a:pt x="320" y="0"/>
                      <a:pt x="320" y="0"/>
                      <a:pt x="320" y="0"/>
                    </a:cubicBezTo>
                    <a:lnTo>
                      <a:pt x="0" y="86"/>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2" name="Freeform 1303"/>
              <p:cNvSpPr>
                <a:spLocks noChangeArrowheads="1"/>
              </p:cNvSpPr>
              <p:nvPr/>
            </p:nvSpPr>
            <p:spPr bwMode="auto">
              <a:xfrm>
                <a:off x="1065213" y="998537"/>
                <a:ext cx="180975" cy="47625"/>
              </a:xfrm>
              <a:custGeom>
                <a:avLst/>
                <a:gdLst>
                  <a:gd name="T0" fmla="*/ 209948401 w 156"/>
                  <a:gd name="T1" fmla="*/ 7715250 h 42"/>
                  <a:gd name="T2" fmla="*/ 0 w 156"/>
                  <a:gd name="T3" fmla="*/ 0 h 42"/>
                  <a:gd name="T4" fmla="*/ 14803987 w 156"/>
                  <a:gd name="T5" fmla="*/ 54003348 h 42"/>
                  <a:gd name="T6" fmla="*/ 209948401 w 156"/>
                  <a:gd name="T7" fmla="*/ 7715250 h 42"/>
                  <a:gd name="T8" fmla="*/ 0 60000 65536"/>
                  <a:gd name="T9" fmla="*/ 0 60000 65536"/>
                  <a:gd name="T10" fmla="*/ 0 60000 65536"/>
                  <a:gd name="T11" fmla="*/ 0 60000 65536"/>
                  <a:gd name="T12" fmla="*/ 0 w 156"/>
                  <a:gd name="T13" fmla="*/ 0 h 42"/>
                  <a:gd name="T14" fmla="*/ 156 w 156"/>
                  <a:gd name="T15" fmla="*/ 42 h 42"/>
                </a:gdLst>
                <a:ahLst/>
                <a:cxnLst>
                  <a:cxn ang="T8">
                    <a:pos x="T0" y="T1"/>
                  </a:cxn>
                  <a:cxn ang="T9">
                    <a:pos x="T2" y="T3"/>
                  </a:cxn>
                  <a:cxn ang="T10">
                    <a:pos x="T4" y="T5"/>
                  </a:cxn>
                  <a:cxn ang="T11">
                    <a:pos x="T6" y="T7"/>
                  </a:cxn>
                </a:cxnLst>
                <a:rect l="T12" t="T13" r="T14" b="T15"/>
                <a:pathLst>
                  <a:path w="156" h="42">
                    <a:moveTo>
                      <a:pt x="156" y="6"/>
                    </a:moveTo>
                    <a:cubicBezTo>
                      <a:pt x="102" y="5"/>
                      <a:pt x="50" y="3"/>
                      <a:pt x="0" y="0"/>
                    </a:cubicBezTo>
                    <a:cubicBezTo>
                      <a:pt x="11" y="42"/>
                      <a:pt x="11" y="42"/>
                      <a:pt x="11" y="42"/>
                    </a:cubicBezTo>
                    <a:lnTo>
                      <a:pt x="156" y="6"/>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3" name="Freeform 1304"/>
              <p:cNvSpPr>
                <a:spLocks noChangeArrowheads="1"/>
              </p:cNvSpPr>
              <p:nvPr/>
            </p:nvSpPr>
            <p:spPr bwMode="auto">
              <a:xfrm>
                <a:off x="1077913" y="1004887"/>
                <a:ext cx="244475" cy="60325"/>
              </a:xfrm>
              <a:custGeom>
                <a:avLst/>
                <a:gdLst>
                  <a:gd name="T0" fmla="*/ 193314841 w 211"/>
                  <a:gd name="T1" fmla="*/ 69982800 h 52"/>
                  <a:gd name="T2" fmla="*/ 283260785 w 211"/>
                  <a:gd name="T3" fmla="*/ 0 h 52"/>
                  <a:gd name="T4" fmla="*/ 230904900 w 211"/>
                  <a:gd name="T5" fmla="*/ 0 h 52"/>
                  <a:gd name="T6" fmla="*/ 194657715 w 211"/>
                  <a:gd name="T7" fmla="*/ 0 h 52"/>
                  <a:gd name="T8" fmla="*/ 0 w 211"/>
                  <a:gd name="T9" fmla="*/ 48449096 h 52"/>
                  <a:gd name="T10" fmla="*/ 193314841 w 211"/>
                  <a:gd name="T11" fmla="*/ 69982800 h 52"/>
                  <a:gd name="T12" fmla="*/ 0 60000 65536"/>
                  <a:gd name="T13" fmla="*/ 0 60000 65536"/>
                  <a:gd name="T14" fmla="*/ 0 60000 65536"/>
                  <a:gd name="T15" fmla="*/ 0 60000 65536"/>
                  <a:gd name="T16" fmla="*/ 0 60000 65536"/>
                  <a:gd name="T17" fmla="*/ 0 60000 65536"/>
                  <a:gd name="T18" fmla="*/ 0 w 211"/>
                  <a:gd name="T19" fmla="*/ 0 h 52"/>
                  <a:gd name="T20" fmla="*/ 211 w 211"/>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1" h="52">
                    <a:moveTo>
                      <a:pt x="144" y="52"/>
                    </a:moveTo>
                    <a:cubicBezTo>
                      <a:pt x="211" y="0"/>
                      <a:pt x="211" y="0"/>
                      <a:pt x="211" y="0"/>
                    </a:cubicBezTo>
                    <a:cubicBezTo>
                      <a:pt x="198" y="0"/>
                      <a:pt x="185" y="0"/>
                      <a:pt x="172" y="0"/>
                    </a:cubicBezTo>
                    <a:cubicBezTo>
                      <a:pt x="163" y="0"/>
                      <a:pt x="154" y="0"/>
                      <a:pt x="145" y="0"/>
                    </a:cubicBezTo>
                    <a:cubicBezTo>
                      <a:pt x="0" y="36"/>
                      <a:pt x="0" y="36"/>
                      <a:pt x="0" y="36"/>
                    </a:cubicBezTo>
                    <a:lnTo>
                      <a:pt x="144" y="52"/>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4" name="Freeform 1305"/>
              <p:cNvSpPr>
                <a:spLocks noChangeArrowheads="1"/>
              </p:cNvSpPr>
              <p:nvPr/>
            </p:nvSpPr>
            <p:spPr bwMode="auto">
              <a:xfrm>
                <a:off x="633413" y="927099"/>
                <a:ext cx="1588" cy="1587"/>
              </a:xfrm>
              <a:custGeom>
                <a:avLst/>
                <a:gdLst>
                  <a:gd name="T0" fmla="*/ 1260872 w 2"/>
                  <a:gd name="T1" fmla="*/ 2518569 h 1"/>
                  <a:gd name="T2" fmla="*/ 0 w 2"/>
                  <a:gd name="T3" fmla="*/ 0 h 1"/>
                  <a:gd name="T4" fmla="*/ 1260872 w 2"/>
                  <a:gd name="T5" fmla="*/ 2518569 h 1"/>
                  <a:gd name="T6" fmla="*/ 0 60000 65536"/>
                  <a:gd name="T7" fmla="*/ 0 60000 65536"/>
                  <a:gd name="T8" fmla="*/ 0 60000 65536"/>
                  <a:gd name="T9" fmla="*/ 0 w 2"/>
                  <a:gd name="T10" fmla="*/ 0 h 1"/>
                  <a:gd name="T11" fmla="*/ 2 w 2"/>
                  <a:gd name="T12" fmla="*/ 1 h 1"/>
                </a:gdLst>
                <a:ahLst/>
                <a:cxnLst>
                  <a:cxn ang="T6">
                    <a:pos x="T0" y="T1"/>
                  </a:cxn>
                  <a:cxn ang="T7">
                    <a:pos x="T2" y="T3"/>
                  </a:cxn>
                  <a:cxn ang="T8">
                    <a:pos x="T4" y="T5"/>
                  </a:cxn>
                </a:cxnLst>
                <a:rect l="T9" t="T10" r="T11" b="T12"/>
                <a:pathLst>
                  <a:path w="2" h="1">
                    <a:moveTo>
                      <a:pt x="2" y="1"/>
                    </a:moveTo>
                    <a:cubicBezTo>
                      <a:pt x="1" y="1"/>
                      <a:pt x="1" y="0"/>
                      <a:pt x="0" y="0"/>
                    </a:cubicBezTo>
                    <a:cubicBezTo>
                      <a:pt x="2" y="1"/>
                      <a:pt x="2" y="1"/>
                      <a:pt x="2" y="1"/>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5" name="Freeform 1306"/>
              <p:cNvSpPr>
                <a:spLocks noChangeArrowheads="1"/>
              </p:cNvSpPr>
              <p:nvPr/>
            </p:nvSpPr>
            <p:spPr bwMode="auto">
              <a:xfrm>
                <a:off x="423863" y="828674"/>
                <a:ext cx="158750" cy="80962"/>
              </a:xfrm>
              <a:custGeom>
                <a:avLst/>
                <a:gdLst>
                  <a:gd name="T0" fmla="*/ 110102974 w 137"/>
                  <a:gd name="T1" fmla="*/ 58513860 h 71"/>
                  <a:gd name="T2" fmla="*/ 41624945 w 137"/>
                  <a:gd name="T3" fmla="*/ 2601047 h 71"/>
                  <a:gd name="T4" fmla="*/ 12084699 w 137"/>
                  <a:gd name="T5" fmla="*/ 0 h 71"/>
                  <a:gd name="T6" fmla="*/ 0 w 137"/>
                  <a:gd name="T7" fmla="*/ 29906907 h 71"/>
                  <a:gd name="T8" fmla="*/ 183953011 w 137"/>
                  <a:gd name="T9" fmla="*/ 92321767 h 71"/>
                  <a:gd name="T10" fmla="*/ 110102974 w 137"/>
                  <a:gd name="T11" fmla="*/ 58513860 h 71"/>
                  <a:gd name="T12" fmla="*/ 0 60000 65536"/>
                  <a:gd name="T13" fmla="*/ 0 60000 65536"/>
                  <a:gd name="T14" fmla="*/ 0 60000 65536"/>
                  <a:gd name="T15" fmla="*/ 0 60000 65536"/>
                  <a:gd name="T16" fmla="*/ 0 60000 65536"/>
                  <a:gd name="T17" fmla="*/ 0 60000 65536"/>
                  <a:gd name="T18" fmla="*/ 0 w 137"/>
                  <a:gd name="T19" fmla="*/ 0 h 71"/>
                  <a:gd name="T20" fmla="*/ 137 w 13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37" h="71">
                    <a:moveTo>
                      <a:pt x="82" y="45"/>
                    </a:moveTo>
                    <a:cubicBezTo>
                      <a:pt x="58" y="32"/>
                      <a:pt x="41" y="17"/>
                      <a:pt x="31" y="2"/>
                    </a:cubicBezTo>
                    <a:cubicBezTo>
                      <a:pt x="9" y="0"/>
                      <a:pt x="9" y="0"/>
                      <a:pt x="9" y="0"/>
                    </a:cubicBezTo>
                    <a:cubicBezTo>
                      <a:pt x="0" y="23"/>
                      <a:pt x="0" y="23"/>
                      <a:pt x="0" y="23"/>
                    </a:cubicBezTo>
                    <a:cubicBezTo>
                      <a:pt x="137" y="71"/>
                      <a:pt x="137" y="71"/>
                      <a:pt x="137" y="71"/>
                    </a:cubicBezTo>
                    <a:cubicBezTo>
                      <a:pt x="116" y="63"/>
                      <a:pt x="98" y="54"/>
                      <a:pt x="82" y="45"/>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6" name="Freeform 1307"/>
              <p:cNvSpPr>
                <a:spLocks noChangeArrowheads="1"/>
              </p:cNvSpPr>
              <p:nvPr/>
            </p:nvSpPr>
            <p:spPr bwMode="auto">
              <a:xfrm>
                <a:off x="361950" y="855662"/>
                <a:ext cx="273050" cy="247650"/>
              </a:xfrm>
              <a:custGeom>
                <a:avLst/>
                <a:gdLst>
                  <a:gd name="T0" fmla="*/ 313239258 w 236"/>
                  <a:gd name="T1" fmla="*/ 83587058 h 215"/>
                  <a:gd name="T2" fmla="*/ 254339133 w 236"/>
                  <a:gd name="T3" fmla="*/ 63685213 h 215"/>
                  <a:gd name="T4" fmla="*/ 70947877 w 236"/>
                  <a:gd name="T5" fmla="*/ 0 h 215"/>
                  <a:gd name="T6" fmla="*/ 6693196 w 236"/>
                  <a:gd name="T7" fmla="*/ 164521382 h 215"/>
                  <a:gd name="T8" fmla="*/ 5354557 w 236"/>
                  <a:gd name="T9" fmla="*/ 169828003 h 215"/>
                  <a:gd name="T10" fmla="*/ 4015918 w 236"/>
                  <a:gd name="T11" fmla="*/ 172481890 h 215"/>
                  <a:gd name="T12" fmla="*/ 4015918 w 236"/>
                  <a:gd name="T13" fmla="*/ 172481890 h 215"/>
                  <a:gd name="T14" fmla="*/ 0 w 236"/>
                  <a:gd name="T15" fmla="*/ 199017299 h 215"/>
                  <a:gd name="T16" fmla="*/ 42836454 w 236"/>
                  <a:gd name="T17" fmla="*/ 285258244 h 215"/>
                  <a:gd name="T18" fmla="*/ 315916536 w 236"/>
                  <a:gd name="T19" fmla="*/ 84914002 h 215"/>
                  <a:gd name="T20" fmla="*/ 313239258 w 236"/>
                  <a:gd name="T21" fmla="*/ 83587058 h 2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6"/>
                  <a:gd name="T34" fmla="*/ 0 h 215"/>
                  <a:gd name="T35" fmla="*/ 236 w 236"/>
                  <a:gd name="T36" fmla="*/ 215 h 2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6" h="215">
                    <a:moveTo>
                      <a:pt x="234" y="63"/>
                    </a:moveTo>
                    <a:cubicBezTo>
                      <a:pt x="218" y="58"/>
                      <a:pt x="204" y="53"/>
                      <a:pt x="190" y="48"/>
                    </a:cubicBezTo>
                    <a:cubicBezTo>
                      <a:pt x="53" y="0"/>
                      <a:pt x="53" y="0"/>
                      <a:pt x="53" y="0"/>
                    </a:cubicBezTo>
                    <a:cubicBezTo>
                      <a:pt x="5" y="124"/>
                      <a:pt x="5" y="124"/>
                      <a:pt x="5" y="124"/>
                    </a:cubicBezTo>
                    <a:cubicBezTo>
                      <a:pt x="4" y="128"/>
                      <a:pt x="4" y="128"/>
                      <a:pt x="4" y="128"/>
                    </a:cubicBezTo>
                    <a:cubicBezTo>
                      <a:pt x="3" y="130"/>
                      <a:pt x="3" y="130"/>
                      <a:pt x="3" y="130"/>
                    </a:cubicBezTo>
                    <a:cubicBezTo>
                      <a:pt x="3" y="130"/>
                      <a:pt x="3" y="130"/>
                      <a:pt x="3" y="130"/>
                    </a:cubicBezTo>
                    <a:cubicBezTo>
                      <a:pt x="1" y="137"/>
                      <a:pt x="0" y="144"/>
                      <a:pt x="0" y="150"/>
                    </a:cubicBezTo>
                    <a:cubicBezTo>
                      <a:pt x="0" y="173"/>
                      <a:pt x="11" y="194"/>
                      <a:pt x="32" y="215"/>
                    </a:cubicBezTo>
                    <a:cubicBezTo>
                      <a:pt x="236" y="64"/>
                      <a:pt x="236" y="64"/>
                      <a:pt x="236" y="64"/>
                    </a:cubicBezTo>
                    <a:lnTo>
                      <a:pt x="234" y="63"/>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7" name="Freeform 1308"/>
              <p:cNvSpPr>
                <a:spLocks noChangeArrowheads="1"/>
              </p:cNvSpPr>
              <p:nvPr/>
            </p:nvSpPr>
            <p:spPr bwMode="auto">
              <a:xfrm>
                <a:off x="1355725" y="1216024"/>
                <a:ext cx="441325" cy="58737"/>
              </a:xfrm>
              <a:custGeom>
                <a:avLst/>
                <a:gdLst>
                  <a:gd name="T0" fmla="*/ 289633973 w 382"/>
                  <a:gd name="T1" fmla="*/ 67647748 h 51"/>
                  <a:gd name="T2" fmla="*/ 509863235 w 382"/>
                  <a:gd name="T3" fmla="*/ 34486681 h 51"/>
                  <a:gd name="T4" fmla="*/ 0 w 382"/>
                  <a:gd name="T5" fmla="*/ 0 h 51"/>
                  <a:gd name="T6" fmla="*/ 289633973 w 382"/>
                  <a:gd name="T7" fmla="*/ 67647748 h 51"/>
                  <a:gd name="T8" fmla="*/ 0 60000 65536"/>
                  <a:gd name="T9" fmla="*/ 0 60000 65536"/>
                  <a:gd name="T10" fmla="*/ 0 60000 65536"/>
                  <a:gd name="T11" fmla="*/ 0 60000 65536"/>
                  <a:gd name="T12" fmla="*/ 0 w 382"/>
                  <a:gd name="T13" fmla="*/ 0 h 51"/>
                  <a:gd name="T14" fmla="*/ 382 w 382"/>
                  <a:gd name="T15" fmla="*/ 51 h 51"/>
                </a:gdLst>
                <a:ahLst/>
                <a:cxnLst>
                  <a:cxn ang="T8">
                    <a:pos x="T0" y="T1"/>
                  </a:cxn>
                  <a:cxn ang="T9">
                    <a:pos x="T2" y="T3"/>
                  </a:cxn>
                  <a:cxn ang="T10">
                    <a:pos x="T4" y="T5"/>
                  </a:cxn>
                  <a:cxn ang="T11">
                    <a:pos x="T6" y="T7"/>
                  </a:cxn>
                </a:cxnLst>
                <a:rect l="T12" t="T13" r="T14" b="T15"/>
                <a:pathLst>
                  <a:path w="382" h="51">
                    <a:moveTo>
                      <a:pt x="217" y="51"/>
                    </a:moveTo>
                    <a:cubicBezTo>
                      <a:pt x="276" y="45"/>
                      <a:pt x="331" y="36"/>
                      <a:pt x="382" y="26"/>
                    </a:cubicBezTo>
                    <a:cubicBezTo>
                      <a:pt x="0" y="0"/>
                      <a:pt x="0" y="0"/>
                      <a:pt x="0" y="0"/>
                    </a:cubicBezTo>
                    <a:lnTo>
                      <a:pt x="217" y="51"/>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8" name="Freeform 1309"/>
              <p:cNvSpPr>
                <a:spLocks noChangeArrowheads="1"/>
              </p:cNvSpPr>
              <p:nvPr/>
            </p:nvSpPr>
            <p:spPr bwMode="auto">
              <a:xfrm>
                <a:off x="1077913" y="1046162"/>
                <a:ext cx="166688" cy="38100"/>
              </a:xfrm>
              <a:custGeom>
                <a:avLst/>
                <a:gdLst>
                  <a:gd name="T0" fmla="*/ 264617994 w 105"/>
                  <a:gd name="T1" fmla="*/ 30241875 h 24"/>
                  <a:gd name="T2" fmla="*/ 0 w 105"/>
                  <a:gd name="T3" fmla="*/ 0 h 24"/>
                  <a:gd name="T4" fmla="*/ 206653432 w 105"/>
                  <a:gd name="T5" fmla="*/ 60483750 h 24"/>
                  <a:gd name="T6" fmla="*/ 264617994 w 105"/>
                  <a:gd name="T7" fmla="*/ 30241875 h 24"/>
                  <a:gd name="T8" fmla="*/ 0 60000 65536"/>
                  <a:gd name="T9" fmla="*/ 0 60000 65536"/>
                  <a:gd name="T10" fmla="*/ 0 60000 65536"/>
                  <a:gd name="T11" fmla="*/ 0 60000 65536"/>
                  <a:gd name="T12" fmla="*/ 0 w 105"/>
                  <a:gd name="T13" fmla="*/ 0 h 24"/>
                  <a:gd name="T14" fmla="*/ 105 w 105"/>
                  <a:gd name="T15" fmla="*/ 24 h 24"/>
                </a:gdLst>
                <a:ahLst/>
                <a:cxnLst>
                  <a:cxn ang="T8">
                    <a:pos x="T0" y="T1"/>
                  </a:cxn>
                  <a:cxn ang="T9">
                    <a:pos x="T2" y="T3"/>
                  </a:cxn>
                  <a:cxn ang="T10">
                    <a:pos x="T4" y="T5"/>
                  </a:cxn>
                  <a:cxn ang="T11">
                    <a:pos x="T6" y="T7"/>
                  </a:cxn>
                </a:cxnLst>
                <a:rect l="T12" t="T13" r="T14" b="T15"/>
                <a:pathLst>
                  <a:path w="105" h="24">
                    <a:moveTo>
                      <a:pt x="105" y="12"/>
                    </a:moveTo>
                    <a:lnTo>
                      <a:pt x="0" y="0"/>
                    </a:lnTo>
                    <a:lnTo>
                      <a:pt x="82" y="24"/>
                    </a:lnTo>
                    <a:lnTo>
                      <a:pt x="105" y="12"/>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9" name="Freeform 1310"/>
              <p:cNvSpPr>
                <a:spLocks noChangeArrowheads="1"/>
              </p:cNvSpPr>
              <p:nvPr/>
            </p:nvSpPr>
            <p:spPr bwMode="auto">
              <a:xfrm>
                <a:off x="1171575" y="1084262"/>
                <a:ext cx="184150" cy="161925"/>
              </a:xfrm>
              <a:custGeom>
                <a:avLst/>
                <a:gdLst>
                  <a:gd name="T0" fmla="*/ 0 w 116"/>
                  <a:gd name="T1" fmla="*/ 257055938 h 102"/>
                  <a:gd name="T2" fmla="*/ 292338125 w 116"/>
                  <a:gd name="T3" fmla="*/ 209173763 h 102"/>
                  <a:gd name="T4" fmla="*/ 57964388 w 116"/>
                  <a:gd name="T5" fmla="*/ 0 h 102"/>
                  <a:gd name="T6" fmla="*/ 0 w 116"/>
                  <a:gd name="T7" fmla="*/ 257055938 h 102"/>
                  <a:gd name="T8" fmla="*/ 0 60000 65536"/>
                  <a:gd name="T9" fmla="*/ 0 60000 65536"/>
                  <a:gd name="T10" fmla="*/ 0 60000 65536"/>
                  <a:gd name="T11" fmla="*/ 0 60000 65536"/>
                  <a:gd name="T12" fmla="*/ 0 w 116"/>
                  <a:gd name="T13" fmla="*/ 0 h 102"/>
                  <a:gd name="T14" fmla="*/ 116 w 116"/>
                  <a:gd name="T15" fmla="*/ 102 h 102"/>
                </a:gdLst>
                <a:ahLst/>
                <a:cxnLst>
                  <a:cxn ang="T8">
                    <a:pos x="T0" y="T1"/>
                  </a:cxn>
                  <a:cxn ang="T9">
                    <a:pos x="T2" y="T3"/>
                  </a:cxn>
                  <a:cxn ang="T10">
                    <a:pos x="T4" y="T5"/>
                  </a:cxn>
                  <a:cxn ang="T11">
                    <a:pos x="T6" y="T7"/>
                  </a:cxn>
                </a:cxnLst>
                <a:rect l="T12" t="T13" r="T14" b="T15"/>
                <a:pathLst>
                  <a:path w="116" h="102">
                    <a:moveTo>
                      <a:pt x="0" y="102"/>
                    </a:moveTo>
                    <a:lnTo>
                      <a:pt x="116" y="83"/>
                    </a:lnTo>
                    <a:lnTo>
                      <a:pt x="23" y="0"/>
                    </a:lnTo>
                    <a:lnTo>
                      <a:pt x="0" y="102"/>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0" name="Freeform 1311"/>
              <p:cNvSpPr>
                <a:spLocks noChangeArrowheads="1"/>
              </p:cNvSpPr>
              <p:nvPr/>
            </p:nvSpPr>
            <p:spPr bwMode="auto">
              <a:xfrm>
                <a:off x="1208088" y="1065212"/>
                <a:ext cx="147638" cy="150812"/>
              </a:xfrm>
              <a:custGeom>
                <a:avLst/>
                <a:gdLst>
                  <a:gd name="T0" fmla="*/ 0 w 93"/>
                  <a:gd name="T1" fmla="*/ 30241775 h 95"/>
                  <a:gd name="T2" fmla="*/ 234376119 w 93"/>
                  <a:gd name="T3" fmla="*/ 239413256 h 95"/>
                  <a:gd name="T4" fmla="*/ 57964584 w 93"/>
                  <a:gd name="T5" fmla="*/ 0 h 95"/>
                  <a:gd name="T6" fmla="*/ 0 w 93"/>
                  <a:gd name="T7" fmla="*/ 30241775 h 95"/>
                  <a:gd name="T8" fmla="*/ 0 60000 65536"/>
                  <a:gd name="T9" fmla="*/ 0 60000 65536"/>
                  <a:gd name="T10" fmla="*/ 0 60000 65536"/>
                  <a:gd name="T11" fmla="*/ 0 60000 65536"/>
                  <a:gd name="T12" fmla="*/ 0 w 93"/>
                  <a:gd name="T13" fmla="*/ 0 h 95"/>
                  <a:gd name="T14" fmla="*/ 93 w 93"/>
                  <a:gd name="T15" fmla="*/ 95 h 95"/>
                </a:gdLst>
                <a:ahLst/>
                <a:cxnLst>
                  <a:cxn ang="T8">
                    <a:pos x="T0" y="T1"/>
                  </a:cxn>
                  <a:cxn ang="T9">
                    <a:pos x="T2" y="T3"/>
                  </a:cxn>
                  <a:cxn ang="T10">
                    <a:pos x="T4" y="T5"/>
                  </a:cxn>
                  <a:cxn ang="T11">
                    <a:pos x="T6" y="T7"/>
                  </a:cxn>
                </a:cxnLst>
                <a:rect l="T12" t="T13" r="T14" b="T15"/>
                <a:pathLst>
                  <a:path w="93" h="95">
                    <a:moveTo>
                      <a:pt x="0" y="12"/>
                    </a:moveTo>
                    <a:lnTo>
                      <a:pt x="93" y="95"/>
                    </a:lnTo>
                    <a:lnTo>
                      <a:pt x="23" y="0"/>
                    </a:lnTo>
                    <a:lnTo>
                      <a:pt x="0" y="12"/>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1" name="Rectangle 1312"/>
              <p:cNvSpPr>
                <a:spLocks noChangeArrowheads="1"/>
              </p:cNvSpPr>
              <p:nvPr/>
            </p:nvSpPr>
            <p:spPr bwMode="auto">
              <a:xfrm>
                <a:off x="635000" y="928687"/>
                <a:ext cx="1588" cy="1587"/>
              </a:xfrm>
              <a:prstGeom prst="rect">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42" name="Freeform 1313"/>
              <p:cNvSpPr>
                <a:spLocks noChangeArrowheads="1"/>
              </p:cNvSpPr>
              <p:nvPr/>
            </p:nvSpPr>
            <p:spPr bwMode="auto">
              <a:xfrm>
                <a:off x="661988" y="1065212"/>
                <a:ext cx="509588" cy="182562"/>
              </a:xfrm>
              <a:custGeom>
                <a:avLst/>
                <a:gdLst>
                  <a:gd name="T0" fmla="*/ 204292789 w 441"/>
                  <a:gd name="T1" fmla="*/ 0 h 158"/>
                  <a:gd name="T2" fmla="*/ 0 w 441"/>
                  <a:gd name="T3" fmla="*/ 184240877 h 158"/>
                  <a:gd name="T4" fmla="*/ 114830629 w 441"/>
                  <a:gd name="T5" fmla="*/ 210942303 h 158"/>
                  <a:gd name="T6" fmla="*/ 588843378 w 441"/>
                  <a:gd name="T7" fmla="*/ 209607751 h 158"/>
                  <a:gd name="T8" fmla="*/ 204292789 w 441"/>
                  <a:gd name="T9" fmla="*/ 0 h 158"/>
                  <a:gd name="T10" fmla="*/ 0 60000 65536"/>
                  <a:gd name="T11" fmla="*/ 0 60000 65536"/>
                  <a:gd name="T12" fmla="*/ 0 60000 65536"/>
                  <a:gd name="T13" fmla="*/ 0 60000 65536"/>
                  <a:gd name="T14" fmla="*/ 0 60000 65536"/>
                  <a:gd name="T15" fmla="*/ 0 w 441"/>
                  <a:gd name="T16" fmla="*/ 0 h 158"/>
                  <a:gd name="T17" fmla="*/ 441 w 441"/>
                  <a:gd name="T18" fmla="*/ 158 h 158"/>
                </a:gdLst>
                <a:ahLst/>
                <a:cxnLst>
                  <a:cxn ang="T10">
                    <a:pos x="T0" y="T1"/>
                  </a:cxn>
                  <a:cxn ang="T11">
                    <a:pos x="T2" y="T3"/>
                  </a:cxn>
                  <a:cxn ang="T12">
                    <a:pos x="T4" y="T5"/>
                  </a:cxn>
                  <a:cxn ang="T13">
                    <a:pos x="T6" y="T7"/>
                  </a:cxn>
                  <a:cxn ang="T14">
                    <a:pos x="T8" y="T9"/>
                  </a:cxn>
                </a:cxnLst>
                <a:rect l="T15" t="T16" r="T17" b="T18"/>
                <a:pathLst>
                  <a:path w="441" h="158">
                    <a:moveTo>
                      <a:pt x="153" y="0"/>
                    </a:moveTo>
                    <a:cubicBezTo>
                      <a:pt x="0" y="138"/>
                      <a:pt x="0" y="138"/>
                      <a:pt x="0" y="138"/>
                    </a:cubicBezTo>
                    <a:cubicBezTo>
                      <a:pt x="27" y="145"/>
                      <a:pt x="56" y="152"/>
                      <a:pt x="86" y="158"/>
                    </a:cubicBezTo>
                    <a:cubicBezTo>
                      <a:pt x="441" y="157"/>
                      <a:pt x="441" y="157"/>
                      <a:pt x="441" y="157"/>
                    </a:cubicBezTo>
                    <a:lnTo>
                      <a:pt x="153" y="0"/>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3" name="Freeform 1314"/>
              <p:cNvSpPr>
                <a:spLocks noChangeArrowheads="1"/>
              </p:cNvSpPr>
              <p:nvPr/>
            </p:nvSpPr>
            <p:spPr bwMode="auto">
              <a:xfrm>
                <a:off x="635000" y="928687"/>
                <a:ext cx="307975" cy="136525"/>
              </a:xfrm>
              <a:custGeom>
                <a:avLst/>
                <a:gdLst>
                  <a:gd name="T0" fmla="*/ 234164812 w 267"/>
                  <a:gd name="T1" fmla="*/ 157958268 h 118"/>
                  <a:gd name="T2" fmla="*/ 355238205 w 267"/>
                  <a:gd name="T3" fmla="*/ 68270599 h 118"/>
                  <a:gd name="T4" fmla="*/ 1329944 w 267"/>
                  <a:gd name="T5" fmla="*/ 0 h 118"/>
                  <a:gd name="T6" fmla="*/ 0 w 267"/>
                  <a:gd name="T7" fmla="*/ 0 h 118"/>
                  <a:gd name="T8" fmla="*/ 234164812 w 267"/>
                  <a:gd name="T9" fmla="*/ 157958268 h 118"/>
                  <a:gd name="T10" fmla="*/ 0 60000 65536"/>
                  <a:gd name="T11" fmla="*/ 0 60000 65536"/>
                  <a:gd name="T12" fmla="*/ 0 60000 65536"/>
                  <a:gd name="T13" fmla="*/ 0 60000 65536"/>
                  <a:gd name="T14" fmla="*/ 0 60000 65536"/>
                  <a:gd name="T15" fmla="*/ 0 w 267"/>
                  <a:gd name="T16" fmla="*/ 0 h 118"/>
                  <a:gd name="T17" fmla="*/ 267 w 267"/>
                  <a:gd name="T18" fmla="*/ 118 h 118"/>
                </a:gdLst>
                <a:ahLst/>
                <a:cxnLst>
                  <a:cxn ang="T10">
                    <a:pos x="T0" y="T1"/>
                  </a:cxn>
                  <a:cxn ang="T11">
                    <a:pos x="T2" y="T3"/>
                  </a:cxn>
                  <a:cxn ang="T12">
                    <a:pos x="T4" y="T5"/>
                  </a:cxn>
                  <a:cxn ang="T13">
                    <a:pos x="T6" y="T7"/>
                  </a:cxn>
                  <a:cxn ang="T14">
                    <a:pos x="T8" y="T9"/>
                  </a:cxn>
                </a:cxnLst>
                <a:rect l="T15" t="T16" r="T17" b="T18"/>
                <a:pathLst>
                  <a:path w="267" h="118">
                    <a:moveTo>
                      <a:pt x="176" y="118"/>
                    </a:moveTo>
                    <a:cubicBezTo>
                      <a:pt x="267" y="51"/>
                      <a:pt x="267" y="51"/>
                      <a:pt x="267" y="51"/>
                    </a:cubicBezTo>
                    <a:cubicBezTo>
                      <a:pt x="163" y="39"/>
                      <a:pt x="72" y="22"/>
                      <a:pt x="1" y="0"/>
                    </a:cubicBezTo>
                    <a:cubicBezTo>
                      <a:pt x="0" y="0"/>
                      <a:pt x="0" y="0"/>
                      <a:pt x="0" y="0"/>
                    </a:cubicBezTo>
                    <a:lnTo>
                      <a:pt x="176" y="118"/>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4" name="Freeform 1315"/>
              <p:cNvSpPr>
                <a:spLocks noChangeArrowheads="1"/>
              </p:cNvSpPr>
              <p:nvPr/>
            </p:nvSpPr>
            <p:spPr bwMode="auto">
              <a:xfrm>
                <a:off x="838200" y="987424"/>
                <a:ext cx="239713" cy="77787"/>
              </a:xfrm>
              <a:custGeom>
                <a:avLst/>
                <a:gdLst>
                  <a:gd name="T0" fmla="*/ 276261165 w 208"/>
                  <a:gd name="T1" fmla="*/ 68743971 h 67"/>
                  <a:gd name="T2" fmla="*/ 261651349 w 208"/>
                  <a:gd name="T3" fmla="*/ 12131289 h 67"/>
                  <a:gd name="T4" fmla="*/ 120863756 w 208"/>
                  <a:gd name="T5" fmla="*/ 0 h 67"/>
                  <a:gd name="T6" fmla="*/ 0 w 208"/>
                  <a:gd name="T7" fmla="*/ 90310707 h 67"/>
                  <a:gd name="T8" fmla="*/ 276261165 w 208"/>
                  <a:gd name="T9" fmla="*/ 68743971 h 67"/>
                  <a:gd name="T10" fmla="*/ 0 60000 65536"/>
                  <a:gd name="T11" fmla="*/ 0 60000 65536"/>
                  <a:gd name="T12" fmla="*/ 0 60000 65536"/>
                  <a:gd name="T13" fmla="*/ 0 60000 65536"/>
                  <a:gd name="T14" fmla="*/ 0 60000 65536"/>
                  <a:gd name="T15" fmla="*/ 0 w 208"/>
                  <a:gd name="T16" fmla="*/ 0 h 67"/>
                  <a:gd name="T17" fmla="*/ 208 w 208"/>
                  <a:gd name="T18" fmla="*/ 67 h 67"/>
                </a:gdLst>
                <a:ahLst/>
                <a:cxnLst>
                  <a:cxn ang="T10">
                    <a:pos x="T0" y="T1"/>
                  </a:cxn>
                  <a:cxn ang="T11">
                    <a:pos x="T2" y="T3"/>
                  </a:cxn>
                  <a:cxn ang="T12">
                    <a:pos x="T4" y="T5"/>
                  </a:cxn>
                  <a:cxn ang="T13">
                    <a:pos x="T6" y="T7"/>
                  </a:cxn>
                  <a:cxn ang="T14">
                    <a:pos x="T8" y="T9"/>
                  </a:cxn>
                </a:cxnLst>
                <a:rect l="T15" t="T16" r="T17" b="T18"/>
                <a:pathLst>
                  <a:path w="208" h="67">
                    <a:moveTo>
                      <a:pt x="208" y="51"/>
                    </a:moveTo>
                    <a:cubicBezTo>
                      <a:pt x="197" y="9"/>
                      <a:pt x="197" y="9"/>
                      <a:pt x="197" y="9"/>
                    </a:cubicBezTo>
                    <a:cubicBezTo>
                      <a:pt x="160" y="7"/>
                      <a:pt x="125" y="4"/>
                      <a:pt x="91" y="0"/>
                    </a:cubicBezTo>
                    <a:cubicBezTo>
                      <a:pt x="0" y="67"/>
                      <a:pt x="0" y="67"/>
                      <a:pt x="0" y="67"/>
                    </a:cubicBezTo>
                    <a:lnTo>
                      <a:pt x="208" y="51"/>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5" name="Freeform 1316"/>
              <p:cNvSpPr>
                <a:spLocks noChangeArrowheads="1"/>
              </p:cNvSpPr>
              <p:nvPr/>
            </p:nvSpPr>
            <p:spPr bwMode="auto">
              <a:xfrm>
                <a:off x="838200" y="1046162"/>
                <a:ext cx="369888" cy="38100"/>
              </a:xfrm>
              <a:custGeom>
                <a:avLst/>
                <a:gdLst>
                  <a:gd name="T0" fmla="*/ 380544902 w 233"/>
                  <a:gd name="T1" fmla="*/ 0 h 24"/>
                  <a:gd name="T2" fmla="*/ 0 w 233"/>
                  <a:gd name="T3" fmla="*/ 30241875 h 24"/>
                  <a:gd name="T4" fmla="*/ 587197994 w 233"/>
                  <a:gd name="T5" fmla="*/ 60483750 h 24"/>
                  <a:gd name="T6" fmla="*/ 380544902 w 233"/>
                  <a:gd name="T7" fmla="*/ 0 h 24"/>
                  <a:gd name="T8" fmla="*/ 0 60000 65536"/>
                  <a:gd name="T9" fmla="*/ 0 60000 65536"/>
                  <a:gd name="T10" fmla="*/ 0 60000 65536"/>
                  <a:gd name="T11" fmla="*/ 0 60000 65536"/>
                  <a:gd name="T12" fmla="*/ 0 w 233"/>
                  <a:gd name="T13" fmla="*/ 0 h 24"/>
                  <a:gd name="T14" fmla="*/ 233 w 233"/>
                  <a:gd name="T15" fmla="*/ 24 h 24"/>
                </a:gdLst>
                <a:ahLst/>
                <a:cxnLst>
                  <a:cxn ang="T8">
                    <a:pos x="T0" y="T1"/>
                  </a:cxn>
                  <a:cxn ang="T9">
                    <a:pos x="T2" y="T3"/>
                  </a:cxn>
                  <a:cxn ang="T10">
                    <a:pos x="T4" y="T5"/>
                  </a:cxn>
                  <a:cxn ang="T11">
                    <a:pos x="T6" y="T7"/>
                  </a:cxn>
                </a:cxnLst>
                <a:rect l="T12" t="T13" r="T14" b="T15"/>
                <a:pathLst>
                  <a:path w="233" h="24">
                    <a:moveTo>
                      <a:pt x="151" y="0"/>
                    </a:moveTo>
                    <a:lnTo>
                      <a:pt x="0" y="12"/>
                    </a:lnTo>
                    <a:lnTo>
                      <a:pt x="233" y="24"/>
                    </a:lnTo>
                    <a:lnTo>
                      <a:pt x="151"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6" name="Freeform 1317"/>
              <p:cNvSpPr>
                <a:spLocks noChangeArrowheads="1"/>
              </p:cNvSpPr>
              <p:nvPr/>
            </p:nvSpPr>
            <p:spPr bwMode="auto">
              <a:xfrm>
                <a:off x="838200" y="1065212"/>
                <a:ext cx="369888" cy="180975"/>
              </a:xfrm>
              <a:custGeom>
                <a:avLst/>
                <a:gdLst>
                  <a:gd name="T0" fmla="*/ 0 w 233"/>
                  <a:gd name="T1" fmla="*/ 0 h 114"/>
                  <a:gd name="T2" fmla="*/ 529233528 w 233"/>
                  <a:gd name="T3" fmla="*/ 287297813 h 114"/>
                  <a:gd name="T4" fmla="*/ 587197994 w 233"/>
                  <a:gd name="T5" fmla="*/ 30241875 h 114"/>
                  <a:gd name="T6" fmla="*/ 0 w 233"/>
                  <a:gd name="T7" fmla="*/ 0 h 114"/>
                  <a:gd name="T8" fmla="*/ 0 60000 65536"/>
                  <a:gd name="T9" fmla="*/ 0 60000 65536"/>
                  <a:gd name="T10" fmla="*/ 0 60000 65536"/>
                  <a:gd name="T11" fmla="*/ 0 60000 65536"/>
                  <a:gd name="T12" fmla="*/ 0 w 233"/>
                  <a:gd name="T13" fmla="*/ 0 h 114"/>
                  <a:gd name="T14" fmla="*/ 233 w 233"/>
                  <a:gd name="T15" fmla="*/ 114 h 114"/>
                </a:gdLst>
                <a:ahLst/>
                <a:cxnLst>
                  <a:cxn ang="T8">
                    <a:pos x="T0" y="T1"/>
                  </a:cxn>
                  <a:cxn ang="T9">
                    <a:pos x="T2" y="T3"/>
                  </a:cxn>
                  <a:cxn ang="T10">
                    <a:pos x="T4" y="T5"/>
                  </a:cxn>
                  <a:cxn ang="T11">
                    <a:pos x="T6" y="T7"/>
                  </a:cxn>
                </a:cxnLst>
                <a:rect l="T12" t="T13" r="T14" b="T15"/>
                <a:pathLst>
                  <a:path w="233" h="114">
                    <a:moveTo>
                      <a:pt x="0" y="0"/>
                    </a:moveTo>
                    <a:lnTo>
                      <a:pt x="210" y="114"/>
                    </a:lnTo>
                    <a:lnTo>
                      <a:pt x="233" y="12"/>
                    </a:lnTo>
                    <a:lnTo>
                      <a:pt x="0" y="0"/>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7" name="Freeform 1318"/>
              <p:cNvSpPr>
                <a:spLocks noChangeArrowheads="1"/>
              </p:cNvSpPr>
              <p:nvPr/>
            </p:nvSpPr>
            <p:spPr bwMode="auto">
              <a:xfrm>
                <a:off x="642938" y="1065212"/>
                <a:ext cx="195263" cy="158750"/>
              </a:xfrm>
              <a:custGeom>
                <a:avLst/>
                <a:gdLst>
                  <a:gd name="T0" fmla="*/ 33373797 w 169"/>
                  <a:gd name="T1" fmla="*/ 59549656 h 138"/>
                  <a:gd name="T2" fmla="*/ 0 w 169"/>
                  <a:gd name="T3" fmla="*/ 177327201 h 138"/>
                  <a:gd name="T4" fmla="*/ 21358768 w 169"/>
                  <a:gd name="T5" fmla="*/ 182620018 h 138"/>
                  <a:gd name="T6" fmla="*/ 225607332 w 169"/>
                  <a:gd name="T7" fmla="*/ 0 h 138"/>
                  <a:gd name="T8" fmla="*/ 33373797 w 169"/>
                  <a:gd name="T9" fmla="*/ 59549656 h 138"/>
                  <a:gd name="T10" fmla="*/ 0 60000 65536"/>
                  <a:gd name="T11" fmla="*/ 0 60000 65536"/>
                  <a:gd name="T12" fmla="*/ 0 60000 65536"/>
                  <a:gd name="T13" fmla="*/ 0 60000 65536"/>
                  <a:gd name="T14" fmla="*/ 0 60000 65536"/>
                  <a:gd name="T15" fmla="*/ 0 w 169"/>
                  <a:gd name="T16" fmla="*/ 0 h 138"/>
                  <a:gd name="T17" fmla="*/ 169 w 169"/>
                  <a:gd name="T18" fmla="*/ 138 h 138"/>
                </a:gdLst>
                <a:ahLst/>
                <a:cxnLst>
                  <a:cxn ang="T10">
                    <a:pos x="T0" y="T1"/>
                  </a:cxn>
                  <a:cxn ang="T11">
                    <a:pos x="T2" y="T3"/>
                  </a:cxn>
                  <a:cxn ang="T12">
                    <a:pos x="T4" y="T5"/>
                  </a:cxn>
                  <a:cxn ang="T13">
                    <a:pos x="T6" y="T7"/>
                  </a:cxn>
                  <a:cxn ang="T14">
                    <a:pos x="T8" y="T9"/>
                  </a:cxn>
                </a:cxnLst>
                <a:rect l="T15" t="T16" r="T17" b="T18"/>
                <a:pathLst>
                  <a:path w="169" h="138">
                    <a:moveTo>
                      <a:pt x="25" y="45"/>
                    </a:moveTo>
                    <a:cubicBezTo>
                      <a:pt x="0" y="134"/>
                      <a:pt x="0" y="134"/>
                      <a:pt x="0" y="134"/>
                    </a:cubicBezTo>
                    <a:cubicBezTo>
                      <a:pt x="5" y="135"/>
                      <a:pt x="11" y="136"/>
                      <a:pt x="16" y="138"/>
                    </a:cubicBezTo>
                    <a:cubicBezTo>
                      <a:pt x="169" y="0"/>
                      <a:pt x="169" y="0"/>
                      <a:pt x="169" y="0"/>
                    </a:cubicBezTo>
                    <a:lnTo>
                      <a:pt x="25" y="45"/>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8" name="Freeform 1319"/>
              <p:cNvSpPr>
                <a:spLocks noChangeArrowheads="1"/>
              </p:cNvSpPr>
              <p:nvPr/>
            </p:nvSpPr>
            <p:spPr bwMode="auto">
              <a:xfrm>
                <a:off x="635000" y="928687"/>
                <a:ext cx="203200" cy="188912"/>
              </a:xfrm>
              <a:custGeom>
                <a:avLst/>
                <a:gdLst>
                  <a:gd name="T0" fmla="*/ 57964388 w 128"/>
                  <a:gd name="T1" fmla="*/ 299897006 h 119"/>
                  <a:gd name="T2" fmla="*/ 322580000 w 128"/>
                  <a:gd name="T3" fmla="*/ 216732864 h 119"/>
                  <a:gd name="T4" fmla="*/ 0 w 128"/>
                  <a:gd name="T5" fmla="*/ 0 h 119"/>
                  <a:gd name="T6" fmla="*/ 57964388 w 128"/>
                  <a:gd name="T7" fmla="*/ 299897006 h 119"/>
                  <a:gd name="T8" fmla="*/ 0 60000 65536"/>
                  <a:gd name="T9" fmla="*/ 0 60000 65536"/>
                  <a:gd name="T10" fmla="*/ 0 60000 65536"/>
                  <a:gd name="T11" fmla="*/ 0 60000 65536"/>
                  <a:gd name="T12" fmla="*/ 0 w 128"/>
                  <a:gd name="T13" fmla="*/ 0 h 119"/>
                  <a:gd name="T14" fmla="*/ 128 w 128"/>
                  <a:gd name="T15" fmla="*/ 119 h 119"/>
                </a:gdLst>
                <a:ahLst/>
                <a:cxnLst>
                  <a:cxn ang="T8">
                    <a:pos x="T0" y="T1"/>
                  </a:cxn>
                  <a:cxn ang="T9">
                    <a:pos x="T2" y="T3"/>
                  </a:cxn>
                  <a:cxn ang="T10">
                    <a:pos x="T4" y="T5"/>
                  </a:cxn>
                  <a:cxn ang="T11">
                    <a:pos x="T6" y="T7"/>
                  </a:cxn>
                </a:cxnLst>
                <a:rect l="T12" t="T13" r="T14" b="T15"/>
                <a:pathLst>
                  <a:path w="128" h="119">
                    <a:moveTo>
                      <a:pt x="23" y="119"/>
                    </a:moveTo>
                    <a:lnTo>
                      <a:pt x="128" y="86"/>
                    </a:lnTo>
                    <a:lnTo>
                      <a:pt x="0" y="0"/>
                    </a:lnTo>
                    <a:lnTo>
                      <a:pt x="23" y="119"/>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9" name="Freeform 1320"/>
              <p:cNvSpPr>
                <a:spLocks noChangeArrowheads="1"/>
              </p:cNvSpPr>
              <p:nvPr/>
            </p:nvSpPr>
            <p:spPr bwMode="auto">
              <a:xfrm>
                <a:off x="463550" y="1117599"/>
                <a:ext cx="207963" cy="103187"/>
              </a:xfrm>
              <a:custGeom>
                <a:avLst/>
                <a:gdLst>
                  <a:gd name="T0" fmla="*/ 0 w 181"/>
                  <a:gd name="T1" fmla="*/ 37637748 h 89"/>
                  <a:gd name="T2" fmla="*/ 205939669 w 181"/>
                  <a:gd name="T3" fmla="*/ 119635472 h 89"/>
                  <a:gd name="T4" fmla="*/ 238942593 w 181"/>
                  <a:gd name="T5" fmla="*/ 0 h 89"/>
                  <a:gd name="T6" fmla="*/ 0 w 181"/>
                  <a:gd name="T7" fmla="*/ 37637748 h 89"/>
                  <a:gd name="T8" fmla="*/ 0 60000 65536"/>
                  <a:gd name="T9" fmla="*/ 0 60000 65536"/>
                  <a:gd name="T10" fmla="*/ 0 60000 65536"/>
                  <a:gd name="T11" fmla="*/ 0 60000 65536"/>
                  <a:gd name="T12" fmla="*/ 0 w 181"/>
                  <a:gd name="T13" fmla="*/ 0 h 89"/>
                  <a:gd name="T14" fmla="*/ 181 w 181"/>
                  <a:gd name="T15" fmla="*/ 89 h 89"/>
                </a:gdLst>
                <a:ahLst/>
                <a:cxnLst>
                  <a:cxn ang="T8">
                    <a:pos x="T0" y="T1"/>
                  </a:cxn>
                  <a:cxn ang="T9">
                    <a:pos x="T2" y="T3"/>
                  </a:cxn>
                  <a:cxn ang="T10">
                    <a:pos x="T4" y="T5"/>
                  </a:cxn>
                  <a:cxn ang="T11">
                    <a:pos x="T6" y="T7"/>
                  </a:cxn>
                </a:cxnLst>
                <a:rect l="T12" t="T13" r="T14" b="T15"/>
                <a:pathLst>
                  <a:path w="181" h="89">
                    <a:moveTo>
                      <a:pt x="0" y="28"/>
                    </a:moveTo>
                    <a:cubicBezTo>
                      <a:pt x="41" y="51"/>
                      <a:pt x="93" y="71"/>
                      <a:pt x="156" y="89"/>
                    </a:cubicBezTo>
                    <a:cubicBezTo>
                      <a:pt x="181" y="0"/>
                      <a:pt x="181" y="0"/>
                      <a:pt x="181" y="0"/>
                    </a:cubicBezTo>
                    <a:lnTo>
                      <a:pt x="0" y="28"/>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0" name="Freeform 1321"/>
              <p:cNvSpPr>
                <a:spLocks noChangeArrowheads="1"/>
              </p:cNvSpPr>
              <p:nvPr/>
            </p:nvSpPr>
            <p:spPr bwMode="auto">
              <a:xfrm>
                <a:off x="400050" y="928687"/>
                <a:ext cx="271463" cy="220662"/>
              </a:xfrm>
              <a:custGeom>
                <a:avLst/>
                <a:gdLst>
                  <a:gd name="T0" fmla="*/ 269914741 w 236"/>
                  <a:gd name="T1" fmla="*/ 0 h 191"/>
                  <a:gd name="T2" fmla="*/ 0 w 236"/>
                  <a:gd name="T3" fmla="*/ 201541811 h 191"/>
                  <a:gd name="T4" fmla="*/ 72771639 w 236"/>
                  <a:gd name="T5" fmla="*/ 254930462 h 191"/>
                  <a:gd name="T6" fmla="*/ 312254917 w 236"/>
                  <a:gd name="T7" fmla="*/ 217558868 h 191"/>
                  <a:gd name="T8" fmla="*/ 269914741 w 236"/>
                  <a:gd name="T9" fmla="*/ 0 h 191"/>
                  <a:gd name="T10" fmla="*/ 0 60000 65536"/>
                  <a:gd name="T11" fmla="*/ 0 60000 65536"/>
                  <a:gd name="T12" fmla="*/ 0 60000 65536"/>
                  <a:gd name="T13" fmla="*/ 0 60000 65536"/>
                  <a:gd name="T14" fmla="*/ 0 60000 65536"/>
                  <a:gd name="T15" fmla="*/ 0 w 236"/>
                  <a:gd name="T16" fmla="*/ 0 h 191"/>
                  <a:gd name="T17" fmla="*/ 236 w 236"/>
                  <a:gd name="T18" fmla="*/ 191 h 191"/>
                </a:gdLst>
                <a:ahLst/>
                <a:cxnLst>
                  <a:cxn ang="T10">
                    <a:pos x="T0" y="T1"/>
                  </a:cxn>
                  <a:cxn ang="T11">
                    <a:pos x="T2" y="T3"/>
                  </a:cxn>
                  <a:cxn ang="T12">
                    <a:pos x="T4" y="T5"/>
                  </a:cxn>
                  <a:cxn ang="T13">
                    <a:pos x="T6" y="T7"/>
                  </a:cxn>
                  <a:cxn ang="T14">
                    <a:pos x="T8" y="T9"/>
                  </a:cxn>
                </a:cxnLst>
                <a:rect l="T15" t="T16" r="T17" b="T18"/>
                <a:pathLst>
                  <a:path w="236" h="191">
                    <a:moveTo>
                      <a:pt x="204" y="0"/>
                    </a:moveTo>
                    <a:cubicBezTo>
                      <a:pt x="0" y="151"/>
                      <a:pt x="0" y="151"/>
                      <a:pt x="0" y="151"/>
                    </a:cubicBezTo>
                    <a:cubicBezTo>
                      <a:pt x="14" y="165"/>
                      <a:pt x="33" y="178"/>
                      <a:pt x="55" y="191"/>
                    </a:cubicBezTo>
                    <a:cubicBezTo>
                      <a:pt x="236" y="163"/>
                      <a:pt x="236" y="163"/>
                      <a:pt x="236" y="163"/>
                    </a:cubicBezTo>
                    <a:lnTo>
                      <a:pt x="204" y="0"/>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1" name="Freeform 1322"/>
              <p:cNvSpPr>
                <a:spLocks noChangeArrowheads="1"/>
              </p:cNvSpPr>
              <p:nvPr/>
            </p:nvSpPr>
            <p:spPr bwMode="auto">
              <a:xfrm>
                <a:off x="1049338" y="1246187"/>
                <a:ext cx="220663" cy="47625"/>
              </a:xfrm>
              <a:custGeom>
                <a:avLst/>
                <a:gdLst>
                  <a:gd name="T0" fmla="*/ 0 w 191"/>
                  <a:gd name="T1" fmla="*/ 44525890 h 41"/>
                  <a:gd name="T2" fmla="*/ 254932773 w 191"/>
                  <a:gd name="T3" fmla="*/ 55320503 h 41"/>
                  <a:gd name="T4" fmla="*/ 140146422 w 191"/>
                  <a:gd name="T5" fmla="*/ 0 h 41"/>
                  <a:gd name="T6" fmla="*/ 0 w 191"/>
                  <a:gd name="T7" fmla="*/ 44525890 h 41"/>
                  <a:gd name="T8" fmla="*/ 0 60000 65536"/>
                  <a:gd name="T9" fmla="*/ 0 60000 65536"/>
                  <a:gd name="T10" fmla="*/ 0 60000 65536"/>
                  <a:gd name="T11" fmla="*/ 0 60000 65536"/>
                  <a:gd name="T12" fmla="*/ 0 w 191"/>
                  <a:gd name="T13" fmla="*/ 0 h 41"/>
                  <a:gd name="T14" fmla="*/ 191 w 191"/>
                  <a:gd name="T15" fmla="*/ 41 h 41"/>
                </a:gdLst>
                <a:ahLst/>
                <a:cxnLst>
                  <a:cxn ang="T8">
                    <a:pos x="T0" y="T1"/>
                  </a:cxn>
                  <a:cxn ang="T9">
                    <a:pos x="T2" y="T3"/>
                  </a:cxn>
                  <a:cxn ang="T10">
                    <a:pos x="T4" y="T5"/>
                  </a:cxn>
                  <a:cxn ang="T11">
                    <a:pos x="T6" y="T7"/>
                  </a:cxn>
                </a:cxnLst>
                <a:rect l="T12" t="T13" r="T14" b="T15"/>
                <a:pathLst>
                  <a:path w="191" h="41">
                    <a:moveTo>
                      <a:pt x="0" y="33"/>
                    </a:moveTo>
                    <a:cubicBezTo>
                      <a:pt x="61" y="38"/>
                      <a:pt x="125" y="40"/>
                      <a:pt x="191" y="41"/>
                    </a:cubicBezTo>
                    <a:cubicBezTo>
                      <a:pt x="105" y="0"/>
                      <a:pt x="105" y="0"/>
                      <a:pt x="105" y="0"/>
                    </a:cubicBezTo>
                    <a:lnTo>
                      <a:pt x="0" y="33"/>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2" name="Freeform 1323"/>
              <p:cNvSpPr>
                <a:spLocks noChangeArrowheads="1"/>
              </p:cNvSpPr>
              <p:nvPr/>
            </p:nvSpPr>
            <p:spPr bwMode="auto">
              <a:xfrm>
                <a:off x="1171575" y="1216024"/>
                <a:ext cx="184150" cy="77787"/>
              </a:xfrm>
              <a:custGeom>
                <a:avLst/>
                <a:gdLst>
                  <a:gd name="T0" fmla="*/ 0 w 160"/>
                  <a:gd name="T1" fmla="*/ 35045946 h 67"/>
                  <a:gd name="T2" fmla="*/ 113920945 w 160"/>
                  <a:gd name="T3" fmla="*/ 90310707 h 67"/>
                  <a:gd name="T4" fmla="*/ 121868168 w 160"/>
                  <a:gd name="T5" fmla="*/ 90310707 h 67"/>
                  <a:gd name="T6" fmla="*/ 180153945 w 160"/>
                  <a:gd name="T7" fmla="*/ 88962786 h 67"/>
                  <a:gd name="T8" fmla="*/ 211945141 w 160"/>
                  <a:gd name="T9" fmla="*/ 0 h 67"/>
                  <a:gd name="T10" fmla="*/ 0 w 160"/>
                  <a:gd name="T11" fmla="*/ 35045946 h 67"/>
                  <a:gd name="T12" fmla="*/ 0 60000 65536"/>
                  <a:gd name="T13" fmla="*/ 0 60000 65536"/>
                  <a:gd name="T14" fmla="*/ 0 60000 65536"/>
                  <a:gd name="T15" fmla="*/ 0 60000 65536"/>
                  <a:gd name="T16" fmla="*/ 0 60000 65536"/>
                  <a:gd name="T17" fmla="*/ 0 60000 65536"/>
                  <a:gd name="T18" fmla="*/ 0 w 160"/>
                  <a:gd name="T19" fmla="*/ 0 h 67"/>
                  <a:gd name="T20" fmla="*/ 160 w 160"/>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60" h="67">
                    <a:moveTo>
                      <a:pt x="0" y="26"/>
                    </a:moveTo>
                    <a:cubicBezTo>
                      <a:pt x="86" y="67"/>
                      <a:pt x="86" y="67"/>
                      <a:pt x="86" y="67"/>
                    </a:cubicBezTo>
                    <a:cubicBezTo>
                      <a:pt x="88" y="67"/>
                      <a:pt x="90" y="67"/>
                      <a:pt x="92" y="67"/>
                    </a:cubicBezTo>
                    <a:cubicBezTo>
                      <a:pt x="107" y="67"/>
                      <a:pt x="121" y="66"/>
                      <a:pt x="136" y="66"/>
                    </a:cubicBezTo>
                    <a:cubicBezTo>
                      <a:pt x="160" y="0"/>
                      <a:pt x="160" y="0"/>
                      <a:pt x="160" y="0"/>
                    </a:cubicBezTo>
                    <a:lnTo>
                      <a:pt x="0" y="26"/>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3" name="Freeform 1324"/>
              <p:cNvSpPr>
                <a:spLocks noChangeArrowheads="1"/>
              </p:cNvSpPr>
              <p:nvPr/>
            </p:nvSpPr>
            <p:spPr bwMode="auto">
              <a:xfrm>
                <a:off x="1328738" y="1216024"/>
                <a:ext cx="277813" cy="76200"/>
              </a:xfrm>
              <a:custGeom>
                <a:avLst/>
                <a:gdLst>
                  <a:gd name="T0" fmla="*/ 0 w 241"/>
                  <a:gd name="T1" fmla="*/ 87976364 h 66"/>
                  <a:gd name="T2" fmla="*/ 320249224 w 241"/>
                  <a:gd name="T3" fmla="*/ 67981945 h 66"/>
                  <a:gd name="T4" fmla="*/ 31892010 w 241"/>
                  <a:gd name="T5" fmla="*/ 0 h 66"/>
                  <a:gd name="T6" fmla="*/ 0 w 241"/>
                  <a:gd name="T7" fmla="*/ 87976364 h 66"/>
                  <a:gd name="T8" fmla="*/ 0 60000 65536"/>
                  <a:gd name="T9" fmla="*/ 0 60000 65536"/>
                  <a:gd name="T10" fmla="*/ 0 60000 65536"/>
                  <a:gd name="T11" fmla="*/ 0 60000 65536"/>
                  <a:gd name="T12" fmla="*/ 0 w 241"/>
                  <a:gd name="T13" fmla="*/ 0 h 66"/>
                  <a:gd name="T14" fmla="*/ 241 w 241"/>
                  <a:gd name="T15" fmla="*/ 66 h 66"/>
                </a:gdLst>
                <a:ahLst/>
                <a:cxnLst>
                  <a:cxn ang="T8">
                    <a:pos x="T0" y="T1"/>
                  </a:cxn>
                  <a:cxn ang="T9">
                    <a:pos x="T2" y="T3"/>
                  </a:cxn>
                  <a:cxn ang="T10">
                    <a:pos x="T4" y="T5"/>
                  </a:cxn>
                  <a:cxn ang="T11">
                    <a:pos x="T6" y="T7"/>
                  </a:cxn>
                </a:cxnLst>
                <a:rect l="T12" t="T13" r="T14" b="T15"/>
                <a:pathLst>
                  <a:path w="241" h="66">
                    <a:moveTo>
                      <a:pt x="0" y="66"/>
                    </a:moveTo>
                    <a:cubicBezTo>
                      <a:pt x="84" y="65"/>
                      <a:pt x="165" y="60"/>
                      <a:pt x="241" y="51"/>
                    </a:cubicBezTo>
                    <a:cubicBezTo>
                      <a:pt x="24" y="0"/>
                      <a:pt x="24" y="0"/>
                      <a:pt x="24" y="0"/>
                    </a:cubicBezTo>
                    <a:lnTo>
                      <a:pt x="0" y="66"/>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4" name="Freeform 1325"/>
              <p:cNvSpPr>
                <a:spLocks noChangeArrowheads="1"/>
              </p:cNvSpPr>
              <p:nvPr/>
            </p:nvSpPr>
            <p:spPr bwMode="auto">
              <a:xfrm>
                <a:off x="1725613" y="1117599"/>
                <a:ext cx="358775" cy="119062"/>
              </a:xfrm>
              <a:custGeom>
                <a:avLst/>
                <a:gdLst>
                  <a:gd name="T0" fmla="*/ 134413727 w 311"/>
                  <a:gd name="T1" fmla="*/ 136305383 h 104"/>
                  <a:gd name="T2" fmla="*/ 413889070 w 311"/>
                  <a:gd name="T3" fmla="*/ 40629908 h 104"/>
                  <a:gd name="T4" fmla="*/ 0 w 311"/>
                  <a:gd name="T5" fmla="*/ 0 h 104"/>
                  <a:gd name="T6" fmla="*/ 134413727 w 311"/>
                  <a:gd name="T7" fmla="*/ 136305383 h 104"/>
                  <a:gd name="T8" fmla="*/ 0 60000 65536"/>
                  <a:gd name="T9" fmla="*/ 0 60000 65536"/>
                  <a:gd name="T10" fmla="*/ 0 60000 65536"/>
                  <a:gd name="T11" fmla="*/ 0 60000 65536"/>
                  <a:gd name="T12" fmla="*/ 0 w 311"/>
                  <a:gd name="T13" fmla="*/ 0 h 104"/>
                  <a:gd name="T14" fmla="*/ 311 w 311"/>
                  <a:gd name="T15" fmla="*/ 104 h 104"/>
                </a:gdLst>
                <a:ahLst/>
                <a:cxnLst>
                  <a:cxn ang="T8">
                    <a:pos x="T0" y="T1"/>
                  </a:cxn>
                  <a:cxn ang="T9">
                    <a:pos x="T2" y="T3"/>
                  </a:cxn>
                  <a:cxn ang="T10">
                    <a:pos x="T4" y="T5"/>
                  </a:cxn>
                  <a:cxn ang="T11">
                    <a:pos x="T6" y="T7"/>
                  </a:cxn>
                </a:cxnLst>
                <a:rect l="T12" t="T13" r="T14" b="T15"/>
                <a:pathLst>
                  <a:path w="311" h="104">
                    <a:moveTo>
                      <a:pt x="101" y="104"/>
                    </a:moveTo>
                    <a:cubicBezTo>
                      <a:pt x="188" y="84"/>
                      <a:pt x="259" y="59"/>
                      <a:pt x="311" y="31"/>
                    </a:cubicBezTo>
                    <a:cubicBezTo>
                      <a:pt x="0" y="0"/>
                      <a:pt x="0" y="0"/>
                      <a:pt x="0" y="0"/>
                    </a:cubicBezTo>
                    <a:lnTo>
                      <a:pt x="101" y="104"/>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5" name="Freeform 1326"/>
              <p:cNvSpPr>
                <a:spLocks noChangeArrowheads="1"/>
              </p:cNvSpPr>
              <p:nvPr/>
            </p:nvSpPr>
            <p:spPr bwMode="auto">
              <a:xfrm>
                <a:off x="2085975" y="811212"/>
                <a:ext cx="106363" cy="315912"/>
              </a:xfrm>
              <a:custGeom>
                <a:avLst/>
                <a:gdLst>
                  <a:gd name="T0" fmla="*/ 0 w 91"/>
                  <a:gd name="T1" fmla="*/ 34816280 h 273"/>
                  <a:gd name="T2" fmla="*/ 49181784 w 91"/>
                  <a:gd name="T3" fmla="*/ 365569201 h 273"/>
                  <a:gd name="T4" fmla="*/ 124319646 w 91"/>
                  <a:gd name="T5" fmla="*/ 251747148 h 273"/>
                  <a:gd name="T6" fmla="*/ 117489037 w 91"/>
                  <a:gd name="T7" fmla="*/ 216930869 h 273"/>
                  <a:gd name="T8" fmla="*/ 117489037 w 91"/>
                  <a:gd name="T9" fmla="*/ 216930869 h 273"/>
                  <a:gd name="T10" fmla="*/ 49181784 w 91"/>
                  <a:gd name="T11" fmla="*/ 44189493 h 273"/>
                  <a:gd name="T12" fmla="*/ 19126639 w 91"/>
                  <a:gd name="T13" fmla="*/ 0 h 273"/>
                  <a:gd name="T14" fmla="*/ 0 w 91"/>
                  <a:gd name="T15" fmla="*/ 34816280 h 273"/>
                  <a:gd name="T16" fmla="*/ 0 60000 65536"/>
                  <a:gd name="T17" fmla="*/ 0 60000 65536"/>
                  <a:gd name="T18" fmla="*/ 0 60000 65536"/>
                  <a:gd name="T19" fmla="*/ 0 60000 65536"/>
                  <a:gd name="T20" fmla="*/ 0 60000 65536"/>
                  <a:gd name="T21" fmla="*/ 0 60000 65536"/>
                  <a:gd name="T22" fmla="*/ 0 60000 65536"/>
                  <a:gd name="T23" fmla="*/ 0 60000 65536"/>
                  <a:gd name="T24" fmla="*/ 0 w 91"/>
                  <a:gd name="T25" fmla="*/ 0 h 273"/>
                  <a:gd name="T26" fmla="*/ 91 w 91"/>
                  <a:gd name="T27" fmla="*/ 273 h 27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 h="273">
                    <a:moveTo>
                      <a:pt x="0" y="26"/>
                    </a:moveTo>
                    <a:cubicBezTo>
                      <a:pt x="36" y="273"/>
                      <a:pt x="36" y="273"/>
                      <a:pt x="36" y="273"/>
                    </a:cubicBezTo>
                    <a:cubicBezTo>
                      <a:pt x="71" y="247"/>
                      <a:pt x="91" y="218"/>
                      <a:pt x="91" y="188"/>
                    </a:cubicBezTo>
                    <a:cubicBezTo>
                      <a:pt x="91" y="179"/>
                      <a:pt x="89" y="171"/>
                      <a:pt x="86" y="162"/>
                    </a:cubicBezTo>
                    <a:cubicBezTo>
                      <a:pt x="86" y="162"/>
                      <a:pt x="86" y="162"/>
                      <a:pt x="86" y="162"/>
                    </a:cubicBezTo>
                    <a:cubicBezTo>
                      <a:pt x="36" y="33"/>
                      <a:pt x="36" y="33"/>
                      <a:pt x="36" y="33"/>
                    </a:cubicBezTo>
                    <a:cubicBezTo>
                      <a:pt x="14" y="0"/>
                      <a:pt x="14" y="0"/>
                      <a:pt x="14" y="0"/>
                    </a:cubicBezTo>
                    <a:cubicBezTo>
                      <a:pt x="12" y="9"/>
                      <a:pt x="7" y="18"/>
                      <a:pt x="0" y="26"/>
                    </a:cubicBez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6" name="Freeform 1327"/>
              <p:cNvSpPr>
                <a:spLocks noChangeArrowheads="1"/>
              </p:cNvSpPr>
              <p:nvPr/>
            </p:nvSpPr>
            <p:spPr bwMode="auto">
              <a:xfrm>
                <a:off x="1725613" y="841374"/>
                <a:ext cx="403225" cy="311150"/>
              </a:xfrm>
              <a:custGeom>
                <a:avLst/>
                <a:gdLst>
                  <a:gd name="T0" fmla="*/ 359083994 w 349"/>
                  <a:gd name="T1" fmla="*/ 45153627 h 270"/>
                  <a:gd name="T2" fmla="*/ 220255591 w 349"/>
                  <a:gd name="T3" fmla="*/ 102258871 h 270"/>
                  <a:gd name="T4" fmla="*/ 0 w 349"/>
                  <a:gd name="T5" fmla="*/ 317401810 h 270"/>
                  <a:gd name="T6" fmla="*/ 415149599 w 349"/>
                  <a:gd name="T7" fmla="*/ 358571565 h 270"/>
                  <a:gd name="T8" fmla="*/ 465875073 w 349"/>
                  <a:gd name="T9" fmla="*/ 328027006 h 270"/>
                  <a:gd name="T10" fmla="*/ 417819665 w 349"/>
                  <a:gd name="T11" fmla="*/ 0 h 270"/>
                  <a:gd name="T12" fmla="*/ 359083994 w 349"/>
                  <a:gd name="T13" fmla="*/ 45153627 h 270"/>
                  <a:gd name="T14" fmla="*/ 0 60000 65536"/>
                  <a:gd name="T15" fmla="*/ 0 60000 65536"/>
                  <a:gd name="T16" fmla="*/ 0 60000 65536"/>
                  <a:gd name="T17" fmla="*/ 0 60000 65536"/>
                  <a:gd name="T18" fmla="*/ 0 60000 65536"/>
                  <a:gd name="T19" fmla="*/ 0 60000 65536"/>
                  <a:gd name="T20" fmla="*/ 0 60000 65536"/>
                  <a:gd name="T21" fmla="*/ 0 w 349"/>
                  <a:gd name="T22" fmla="*/ 0 h 270"/>
                  <a:gd name="T23" fmla="*/ 349 w 349"/>
                  <a:gd name="T24" fmla="*/ 270 h 2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9" h="270">
                    <a:moveTo>
                      <a:pt x="269" y="34"/>
                    </a:moveTo>
                    <a:cubicBezTo>
                      <a:pt x="242" y="50"/>
                      <a:pt x="207" y="64"/>
                      <a:pt x="165" y="77"/>
                    </a:cubicBezTo>
                    <a:cubicBezTo>
                      <a:pt x="0" y="239"/>
                      <a:pt x="0" y="239"/>
                      <a:pt x="0" y="239"/>
                    </a:cubicBezTo>
                    <a:cubicBezTo>
                      <a:pt x="311" y="270"/>
                      <a:pt x="311" y="270"/>
                      <a:pt x="311" y="270"/>
                    </a:cubicBezTo>
                    <a:cubicBezTo>
                      <a:pt x="325" y="262"/>
                      <a:pt x="338" y="255"/>
                      <a:pt x="349" y="247"/>
                    </a:cubicBezTo>
                    <a:cubicBezTo>
                      <a:pt x="313" y="0"/>
                      <a:pt x="313" y="0"/>
                      <a:pt x="313" y="0"/>
                    </a:cubicBezTo>
                    <a:cubicBezTo>
                      <a:pt x="303" y="12"/>
                      <a:pt x="288" y="23"/>
                      <a:pt x="269" y="34"/>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7" name="Rectangle 1328"/>
              <p:cNvSpPr>
                <a:spLocks noChangeArrowheads="1"/>
              </p:cNvSpPr>
              <p:nvPr/>
            </p:nvSpPr>
            <p:spPr bwMode="auto">
              <a:xfrm>
                <a:off x="635000" y="928687"/>
                <a:ext cx="1588" cy="1587"/>
              </a:xfrm>
              <a:prstGeom prst="rect">
                <a:avLst/>
              </a:pr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58" name="Freeform 1329"/>
              <p:cNvSpPr>
                <a:spLocks noChangeArrowheads="1"/>
              </p:cNvSpPr>
              <p:nvPr/>
            </p:nvSpPr>
            <p:spPr bwMode="auto">
              <a:xfrm>
                <a:off x="635000" y="928687"/>
                <a:ext cx="1588" cy="1"/>
              </a:xfrm>
              <a:custGeom>
                <a:avLst/>
                <a:gdLst>
                  <a:gd name="T0" fmla="*/ 2521744 w 1"/>
                  <a:gd name="T1" fmla="*/ 0 h 1"/>
                  <a:gd name="T2" fmla="*/ 2521744 w 1"/>
                  <a:gd name="T3" fmla="*/ 0 h 1"/>
                  <a:gd name="T4" fmla="*/ 0 w 1"/>
                  <a:gd name="T5" fmla="*/ 0 h 1"/>
                  <a:gd name="T6" fmla="*/ 2521744 w 1"/>
                  <a:gd name="T7" fmla="*/ 0 h 1"/>
                  <a:gd name="T8" fmla="*/ 0 60000 65536"/>
                  <a:gd name="T9" fmla="*/ 0 60000 65536"/>
                  <a:gd name="T10" fmla="*/ 0 60000 65536"/>
                  <a:gd name="T11" fmla="*/ 0 60000 65536"/>
                  <a:gd name="T12" fmla="*/ 0 w 1"/>
                  <a:gd name="T13" fmla="*/ 0 h 1"/>
                  <a:gd name="T14" fmla="*/ 1 w 1"/>
                  <a:gd name="T15" fmla="*/ 1 h 1"/>
                </a:gdLst>
                <a:ahLst/>
                <a:cxnLst>
                  <a:cxn ang="T8">
                    <a:pos x="T0" y="T1"/>
                  </a:cxn>
                  <a:cxn ang="T9">
                    <a:pos x="T2" y="T3"/>
                  </a:cxn>
                  <a:cxn ang="T10">
                    <a:pos x="T4" y="T5"/>
                  </a:cxn>
                  <a:cxn ang="T11">
                    <a:pos x="T6" y="T7"/>
                  </a:cxn>
                </a:cxnLst>
                <a:rect l="T12" t="T13" r="T14" b="T15"/>
                <a:pathLst>
                  <a:path w="1" h="1">
                    <a:moveTo>
                      <a:pt x="1" y="0"/>
                    </a:moveTo>
                    <a:lnTo>
                      <a:pt x="1" y="0"/>
                    </a:lnTo>
                    <a:lnTo>
                      <a:pt x="0" y="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9" name="Freeform 1330"/>
              <p:cNvSpPr>
                <a:spLocks noChangeArrowheads="1"/>
              </p:cNvSpPr>
              <p:nvPr/>
            </p:nvSpPr>
            <p:spPr bwMode="auto">
              <a:xfrm>
                <a:off x="1244600" y="1065212"/>
                <a:ext cx="369888" cy="150812"/>
              </a:xfrm>
              <a:custGeom>
                <a:avLst/>
                <a:gdLst>
                  <a:gd name="T0" fmla="*/ 0 w 233"/>
                  <a:gd name="T1" fmla="*/ 0 h 95"/>
                  <a:gd name="T2" fmla="*/ 176411176 w 233"/>
                  <a:gd name="T3" fmla="*/ 239413256 h 95"/>
                  <a:gd name="T4" fmla="*/ 587197994 w 233"/>
                  <a:gd name="T5" fmla="*/ 32761129 h 95"/>
                  <a:gd name="T6" fmla="*/ 0 w 233"/>
                  <a:gd name="T7" fmla="*/ 0 h 95"/>
                  <a:gd name="T8" fmla="*/ 0 60000 65536"/>
                  <a:gd name="T9" fmla="*/ 0 60000 65536"/>
                  <a:gd name="T10" fmla="*/ 0 60000 65536"/>
                  <a:gd name="T11" fmla="*/ 0 60000 65536"/>
                  <a:gd name="T12" fmla="*/ 0 w 233"/>
                  <a:gd name="T13" fmla="*/ 0 h 95"/>
                  <a:gd name="T14" fmla="*/ 233 w 233"/>
                  <a:gd name="T15" fmla="*/ 95 h 95"/>
                </a:gdLst>
                <a:ahLst/>
                <a:cxnLst>
                  <a:cxn ang="T8">
                    <a:pos x="T0" y="T1"/>
                  </a:cxn>
                  <a:cxn ang="T9">
                    <a:pos x="T2" y="T3"/>
                  </a:cxn>
                  <a:cxn ang="T10">
                    <a:pos x="T4" y="T5"/>
                  </a:cxn>
                  <a:cxn ang="T11">
                    <a:pos x="T6" y="T7"/>
                  </a:cxn>
                </a:cxnLst>
                <a:rect l="T12" t="T13" r="T14" b="T15"/>
                <a:pathLst>
                  <a:path w="233" h="95">
                    <a:moveTo>
                      <a:pt x="0" y="0"/>
                    </a:moveTo>
                    <a:lnTo>
                      <a:pt x="70" y="95"/>
                    </a:lnTo>
                    <a:lnTo>
                      <a:pt x="233" y="1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0" name="Freeform 1331"/>
              <p:cNvSpPr>
                <a:spLocks noChangeArrowheads="1"/>
              </p:cNvSpPr>
              <p:nvPr/>
            </p:nvSpPr>
            <p:spPr bwMode="auto">
              <a:xfrm>
                <a:off x="1244600" y="1003299"/>
                <a:ext cx="369888" cy="82550"/>
              </a:xfrm>
              <a:custGeom>
                <a:avLst/>
                <a:gdLst>
                  <a:gd name="T0" fmla="*/ 427553539 w 320"/>
                  <a:gd name="T1" fmla="*/ 94645868 h 72"/>
                  <a:gd name="T2" fmla="*/ 197743281 w 320"/>
                  <a:gd name="T3" fmla="*/ 0 h 72"/>
                  <a:gd name="T4" fmla="*/ 89518676 w 320"/>
                  <a:gd name="T5" fmla="*/ 2628988 h 72"/>
                  <a:gd name="T6" fmla="*/ 0 w 320"/>
                  <a:gd name="T7" fmla="*/ 70984974 h 72"/>
                  <a:gd name="T8" fmla="*/ 427553539 w 320"/>
                  <a:gd name="T9" fmla="*/ 94645868 h 72"/>
                  <a:gd name="T10" fmla="*/ 0 60000 65536"/>
                  <a:gd name="T11" fmla="*/ 0 60000 65536"/>
                  <a:gd name="T12" fmla="*/ 0 60000 65536"/>
                  <a:gd name="T13" fmla="*/ 0 60000 65536"/>
                  <a:gd name="T14" fmla="*/ 0 60000 65536"/>
                  <a:gd name="T15" fmla="*/ 0 w 320"/>
                  <a:gd name="T16" fmla="*/ 0 h 72"/>
                  <a:gd name="T17" fmla="*/ 320 w 320"/>
                  <a:gd name="T18" fmla="*/ 72 h 72"/>
                </a:gdLst>
                <a:ahLst/>
                <a:cxnLst>
                  <a:cxn ang="T10">
                    <a:pos x="T0" y="T1"/>
                  </a:cxn>
                  <a:cxn ang="T11">
                    <a:pos x="T2" y="T3"/>
                  </a:cxn>
                  <a:cxn ang="T12">
                    <a:pos x="T4" y="T5"/>
                  </a:cxn>
                  <a:cxn ang="T13">
                    <a:pos x="T6" y="T7"/>
                  </a:cxn>
                  <a:cxn ang="T14">
                    <a:pos x="T8" y="T9"/>
                  </a:cxn>
                </a:cxnLst>
                <a:rect l="T15" t="T16" r="T17" b="T18"/>
                <a:pathLst>
                  <a:path w="320" h="72">
                    <a:moveTo>
                      <a:pt x="320" y="72"/>
                    </a:moveTo>
                    <a:cubicBezTo>
                      <a:pt x="148" y="0"/>
                      <a:pt x="148" y="0"/>
                      <a:pt x="148" y="0"/>
                    </a:cubicBezTo>
                    <a:cubicBezTo>
                      <a:pt x="121" y="1"/>
                      <a:pt x="94" y="1"/>
                      <a:pt x="67" y="2"/>
                    </a:cubicBezTo>
                    <a:cubicBezTo>
                      <a:pt x="0" y="54"/>
                      <a:pt x="0" y="54"/>
                      <a:pt x="0" y="54"/>
                    </a:cubicBezTo>
                    <a:lnTo>
                      <a:pt x="320" y="72"/>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1" name="Freeform 1332"/>
              <p:cNvSpPr>
                <a:spLocks noChangeArrowheads="1"/>
              </p:cNvSpPr>
              <p:nvPr/>
            </p:nvSpPr>
            <p:spPr bwMode="auto">
              <a:xfrm>
                <a:off x="1355725" y="1085849"/>
                <a:ext cx="369888" cy="130175"/>
              </a:xfrm>
              <a:custGeom>
                <a:avLst/>
                <a:gdLst>
                  <a:gd name="T0" fmla="*/ 0 w 233"/>
                  <a:gd name="T1" fmla="*/ 206652813 h 82"/>
                  <a:gd name="T2" fmla="*/ 587197994 w 233"/>
                  <a:gd name="T3" fmla="*/ 50403125 h 82"/>
                  <a:gd name="T4" fmla="*/ 410786818 w 233"/>
                  <a:gd name="T5" fmla="*/ 0 h 82"/>
                  <a:gd name="T6" fmla="*/ 0 w 233"/>
                  <a:gd name="T7" fmla="*/ 206652813 h 82"/>
                  <a:gd name="T8" fmla="*/ 0 60000 65536"/>
                  <a:gd name="T9" fmla="*/ 0 60000 65536"/>
                  <a:gd name="T10" fmla="*/ 0 60000 65536"/>
                  <a:gd name="T11" fmla="*/ 0 60000 65536"/>
                  <a:gd name="T12" fmla="*/ 0 w 233"/>
                  <a:gd name="T13" fmla="*/ 0 h 82"/>
                  <a:gd name="T14" fmla="*/ 233 w 233"/>
                  <a:gd name="T15" fmla="*/ 82 h 82"/>
                </a:gdLst>
                <a:ahLst/>
                <a:cxnLst>
                  <a:cxn ang="T8">
                    <a:pos x="T0" y="T1"/>
                  </a:cxn>
                  <a:cxn ang="T9">
                    <a:pos x="T2" y="T3"/>
                  </a:cxn>
                  <a:cxn ang="T10">
                    <a:pos x="T4" y="T5"/>
                  </a:cxn>
                  <a:cxn ang="T11">
                    <a:pos x="T6" y="T7"/>
                  </a:cxn>
                </a:cxnLst>
                <a:rect l="T12" t="T13" r="T14" b="T15"/>
                <a:pathLst>
                  <a:path w="233" h="82">
                    <a:moveTo>
                      <a:pt x="0" y="82"/>
                    </a:moveTo>
                    <a:lnTo>
                      <a:pt x="233" y="20"/>
                    </a:lnTo>
                    <a:lnTo>
                      <a:pt x="163" y="0"/>
                    </a:lnTo>
                    <a:lnTo>
                      <a:pt x="0" y="82"/>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2" name="Freeform 1333"/>
              <p:cNvSpPr>
                <a:spLocks noChangeArrowheads="1"/>
              </p:cNvSpPr>
              <p:nvPr/>
            </p:nvSpPr>
            <p:spPr bwMode="auto">
              <a:xfrm>
                <a:off x="1416050" y="985837"/>
                <a:ext cx="206375" cy="100012"/>
              </a:xfrm>
              <a:custGeom>
                <a:avLst/>
                <a:gdLst>
                  <a:gd name="T0" fmla="*/ 237936540 w 179"/>
                  <a:gd name="T1" fmla="*/ 0 h 86"/>
                  <a:gd name="T2" fmla="*/ 0 w 179"/>
                  <a:gd name="T3" fmla="*/ 18933667 h 86"/>
                  <a:gd name="T4" fmla="*/ 228631218 w 179"/>
                  <a:gd name="T5" fmla="*/ 116306978 h 86"/>
                  <a:gd name="T6" fmla="*/ 237936540 w 179"/>
                  <a:gd name="T7" fmla="*/ 0 h 86"/>
                  <a:gd name="T8" fmla="*/ 0 60000 65536"/>
                  <a:gd name="T9" fmla="*/ 0 60000 65536"/>
                  <a:gd name="T10" fmla="*/ 0 60000 65536"/>
                  <a:gd name="T11" fmla="*/ 0 60000 65536"/>
                  <a:gd name="T12" fmla="*/ 0 w 179"/>
                  <a:gd name="T13" fmla="*/ 0 h 86"/>
                  <a:gd name="T14" fmla="*/ 179 w 179"/>
                  <a:gd name="T15" fmla="*/ 86 h 86"/>
                </a:gdLst>
                <a:ahLst/>
                <a:cxnLst>
                  <a:cxn ang="T8">
                    <a:pos x="T0" y="T1"/>
                  </a:cxn>
                  <a:cxn ang="T9">
                    <a:pos x="T2" y="T3"/>
                  </a:cxn>
                  <a:cxn ang="T10">
                    <a:pos x="T4" y="T5"/>
                  </a:cxn>
                  <a:cxn ang="T11">
                    <a:pos x="T6" y="T7"/>
                  </a:cxn>
                </a:cxnLst>
                <a:rect l="T12" t="T13" r="T14" b="T15"/>
                <a:pathLst>
                  <a:path w="179" h="86">
                    <a:moveTo>
                      <a:pt x="179" y="0"/>
                    </a:moveTo>
                    <a:cubicBezTo>
                      <a:pt x="123" y="6"/>
                      <a:pt x="63" y="11"/>
                      <a:pt x="0" y="14"/>
                    </a:cubicBezTo>
                    <a:cubicBezTo>
                      <a:pt x="172" y="86"/>
                      <a:pt x="172" y="86"/>
                      <a:pt x="172" y="86"/>
                    </a:cubicBezTo>
                    <a:lnTo>
                      <a:pt x="179" y="0"/>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3" name="Freeform 1334"/>
              <p:cNvSpPr>
                <a:spLocks noChangeArrowheads="1"/>
              </p:cNvSpPr>
              <p:nvPr/>
            </p:nvSpPr>
            <p:spPr bwMode="auto">
              <a:xfrm>
                <a:off x="1614488" y="957262"/>
                <a:ext cx="188913" cy="128587"/>
              </a:xfrm>
              <a:custGeom>
                <a:avLst/>
                <a:gdLst>
                  <a:gd name="T0" fmla="*/ 218945531 w 163"/>
                  <a:gd name="T1" fmla="*/ 0 h 111"/>
                  <a:gd name="T2" fmla="*/ 9402768 w 163"/>
                  <a:gd name="T3" fmla="*/ 33549623 h 111"/>
                  <a:gd name="T4" fmla="*/ 0 w 163"/>
                  <a:gd name="T5" fmla="*/ 148960510 h 111"/>
                  <a:gd name="T6" fmla="*/ 218945531 w 163"/>
                  <a:gd name="T7" fmla="*/ 0 h 111"/>
                  <a:gd name="T8" fmla="*/ 0 60000 65536"/>
                  <a:gd name="T9" fmla="*/ 0 60000 65536"/>
                  <a:gd name="T10" fmla="*/ 0 60000 65536"/>
                  <a:gd name="T11" fmla="*/ 0 60000 65536"/>
                  <a:gd name="T12" fmla="*/ 0 w 163"/>
                  <a:gd name="T13" fmla="*/ 0 h 111"/>
                  <a:gd name="T14" fmla="*/ 163 w 163"/>
                  <a:gd name="T15" fmla="*/ 111 h 111"/>
                </a:gdLst>
                <a:ahLst/>
                <a:cxnLst>
                  <a:cxn ang="T8">
                    <a:pos x="T0" y="T1"/>
                  </a:cxn>
                  <a:cxn ang="T9">
                    <a:pos x="T2" y="T3"/>
                  </a:cxn>
                  <a:cxn ang="T10">
                    <a:pos x="T4" y="T5"/>
                  </a:cxn>
                  <a:cxn ang="T11">
                    <a:pos x="T6" y="T7"/>
                  </a:cxn>
                </a:cxnLst>
                <a:rect l="T12" t="T13" r="T14" b="T15"/>
                <a:pathLst>
                  <a:path w="163" h="111">
                    <a:moveTo>
                      <a:pt x="163" y="0"/>
                    </a:moveTo>
                    <a:cubicBezTo>
                      <a:pt x="116" y="10"/>
                      <a:pt x="63" y="18"/>
                      <a:pt x="7" y="25"/>
                    </a:cubicBezTo>
                    <a:cubicBezTo>
                      <a:pt x="0" y="111"/>
                      <a:pt x="0" y="111"/>
                      <a:pt x="0" y="111"/>
                    </a:cubicBezTo>
                    <a:lnTo>
                      <a:pt x="163" y="0"/>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4" name="Freeform 1335"/>
              <p:cNvSpPr>
                <a:spLocks noChangeArrowheads="1"/>
              </p:cNvSpPr>
              <p:nvPr/>
            </p:nvSpPr>
            <p:spPr bwMode="auto">
              <a:xfrm>
                <a:off x="1614488" y="930274"/>
                <a:ext cx="301625" cy="187325"/>
              </a:xfrm>
              <a:custGeom>
                <a:avLst/>
                <a:gdLst>
                  <a:gd name="T0" fmla="*/ 128211427 w 261"/>
                  <a:gd name="T1" fmla="*/ 216608985 h 162"/>
                  <a:gd name="T2" fmla="*/ 348573336 w 261"/>
                  <a:gd name="T3" fmla="*/ 0 h 162"/>
                  <a:gd name="T4" fmla="*/ 217691199 w 261"/>
                  <a:gd name="T5" fmla="*/ 32090391 h 162"/>
                  <a:gd name="T6" fmla="*/ 0 w 261"/>
                  <a:gd name="T7" fmla="*/ 180507295 h 162"/>
                  <a:gd name="T8" fmla="*/ 128211427 w 261"/>
                  <a:gd name="T9" fmla="*/ 216608985 h 162"/>
                  <a:gd name="T10" fmla="*/ 0 60000 65536"/>
                  <a:gd name="T11" fmla="*/ 0 60000 65536"/>
                  <a:gd name="T12" fmla="*/ 0 60000 65536"/>
                  <a:gd name="T13" fmla="*/ 0 60000 65536"/>
                  <a:gd name="T14" fmla="*/ 0 60000 65536"/>
                  <a:gd name="T15" fmla="*/ 0 w 261"/>
                  <a:gd name="T16" fmla="*/ 0 h 162"/>
                  <a:gd name="T17" fmla="*/ 261 w 261"/>
                  <a:gd name="T18" fmla="*/ 162 h 162"/>
                </a:gdLst>
                <a:ahLst/>
                <a:cxnLst>
                  <a:cxn ang="T10">
                    <a:pos x="T0" y="T1"/>
                  </a:cxn>
                  <a:cxn ang="T11">
                    <a:pos x="T2" y="T3"/>
                  </a:cxn>
                  <a:cxn ang="T12">
                    <a:pos x="T4" y="T5"/>
                  </a:cxn>
                  <a:cxn ang="T13">
                    <a:pos x="T6" y="T7"/>
                  </a:cxn>
                  <a:cxn ang="T14">
                    <a:pos x="T8" y="T9"/>
                  </a:cxn>
                </a:cxnLst>
                <a:rect l="T15" t="T16" r="T17" b="T18"/>
                <a:pathLst>
                  <a:path w="261" h="162">
                    <a:moveTo>
                      <a:pt x="96" y="162"/>
                    </a:moveTo>
                    <a:cubicBezTo>
                      <a:pt x="261" y="0"/>
                      <a:pt x="261" y="0"/>
                      <a:pt x="261" y="0"/>
                    </a:cubicBezTo>
                    <a:cubicBezTo>
                      <a:pt x="232" y="9"/>
                      <a:pt x="199" y="17"/>
                      <a:pt x="163" y="24"/>
                    </a:cubicBezTo>
                    <a:cubicBezTo>
                      <a:pt x="0" y="135"/>
                      <a:pt x="0" y="135"/>
                      <a:pt x="0" y="135"/>
                    </a:cubicBezTo>
                    <a:lnTo>
                      <a:pt x="96" y="162"/>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5" name="Freeform 1336"/>
              <p:cNvSpPr>
                <a:spLocks noChangeArrowheads="1"/>
              </p:cNvSpPr>
              <p:nvPr/>
            </p:nvSpPr>
            <p:spPr bwMode="auto">
              <a:xfrm>
                <a:off x="2100263" y="777874"/>
                <a:ext cx="28575" cy="71437"/>
              </a:xfrm>
              <a:custGeom>
                <a:avLst/>
                <a:gdLst>
                  <a:gd name="T0" fmla="*/ 5670947 w 24"/>
                  <a:gd name="T1" fmla="*/ 23896829 h 62"/>
                  <a:gd name="T2" fmla="*/ 2834878 w 24"/>
                  <a:gd name="T3" fmla="*/ 38499934 h 62"/>
                  <a:gd name="T4" fmla="*/ 34022109 w 24"/>
                  <a:gd name="T5" fmla="*/ 82310403 h 62"/>
                  <a:gd name="T6" fmla="*/ 0 w 24"/>
                  <a:gd name="T7" fmla="*/ 0 h 62"/>
                  <a:gd name="T8" fmla="*/ 5670947 w 24"/>
                  <a:gd name="T9" fmla="*/ 23896829 h 62"/>
                  <a:gd name="T10" fmla="*/ 0 60000 65536"/>
                  <a:gd name="T11" fmla="*/ 0 60000 65536"/>
                  <a:gd name="T12" fmla="*/ 0 60000 65536"/>
                  <a:gd name="T13" fmla="*/ 0 60000 65536"/>
                  <a:gd name="T14" fmla="*/ 0 60000 65536"/>
                  <a:gd name="T15" fmla="*/ 0 w 24"/>
                  <a:gd name="T16" fmla="*/ 0 h 62"/>
                  <a:gd name="T17" fmla="*/ 24 w 24"/>
                  <a:gd name="T18" fmla="*/ 62 h 62"/>
                </a:gdLst>
                <a:ahLst/>
                <a:cxnLst>
                  <a:cxn ang="T10">
                    <a:pos x="T0" y="T1"/>
                  </a:cxn>
                  <a:cxn ang="T11">
                    <a:pos x="T2" y="T3"/>
                  </a:cxn>
                  <a:cxn ang="T12">
                    <a:pos x="T4" y="T5"/>
                  </a:cxn>
                  <a:cxn ang="T13">
                    <a:pos x="T6" y="T7"/>
                  </a:cxn>
                  <a:cxn ang="T14">
                    <a:pos x="T8" y="T9"/>
                  </a:cxn>
                </a:cxnLst>
                <a:rect l="T15" t="T16" r="T17" b="T18"/>
                <a:pathLst>
                  <a:path w="24" h="62">
                    <a:moveTo>
                      <a:pt x="4" y="18"/>
                    </a:moveTo>
                    <a:cubicBezTo>
                      <a:pt x="4" y="21"/>
                      <a:pt x="3" y="25"/>
                      <a:pt x="2" y="29"/>
                    </a:cubicBezTo>
                    <a:cubicBezTo>
                      <a:pt x="24" y="62"/>
                      <a:pt x="24" y="62"/>
                      <a:pt x="24" y="62"/>
                    </a:cubicBezTo>
                    <a:cubicBezTo>
                      <a:pt x="0" y="0"/>
                      <a:pt x="0" y="0"/>
                      <a:pt x="0" y="0"/>
                    </a:cubicBezTo>
                    <a:cubicBezTo>
                      <a:pt x="3" y="6"/>
                      <a:pt x="4" y="12"/>
                      <a:pt x="4" y="18"/>
                    </a:cubicBez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grpSp>
      </p:grpSp>
      <p:sp>
        <p:nvSpPr>
          <p:cNvPr id="66" name="任意多边形 98"/>
          <p:cNvSpPr>
            <a:spLocks noChangeArrowheads="1"/>
          </p:cNvSpPr>
          <p:nvPr/>
        </p:nvSpPr>
        <p:spPr bwMode="auto">
          <a:xfrm>
            <a:off x="3715403" y="2356325"/>
            <a:ext cx="1746647" cy="360759"/>
          </a:xfrm>
          <a:custGeom>
            <a:avLst/>
            <a:gdLst>
              <a:gd name="T0" fmla="*/ 0 w 2541974"/>
              <a:gd name="T1" fmla="*/ 0 h 636814"/>
              <a:gd name="T2" fmla="*/ 2133619 w 2541974"/>
              <a:gd name="T3" fmla="*/ 0 h 636814"/>
              <a:gd name="T4" fmla="*/ 1991723 w 2541974"/>
              <a:gd name="T5" fmla="*/ 181664 h 636814"/>
              <a:gd name="T6" fmla="*/ 2133619 w 2541974"/>
              <a:gd name="T7" fmla="*/ 363328 h 636814"/>
              <a:gd name="T8" fmla="*/ 0 w 2541974"/>
              <a:gd name="T9" fmla="*/ 363328 h 636814"/>
              <a:gd name="T10" fmla="*/ 141809 w 2541974"/>
              <a:gd name="T11" fmla="*/ 181664 h 636814"/>
              <a:gd name="T12" fmla="*/ 0 60000 65536"/>
              <a:gd name="T13" fmla="*/ 0 60000 65536"/>
              <a:gd name="T14" fmla="*/ 0 60000 65536"/>
              <a:gd name="T15" fmla="*/ 0 60000 65536"/>
              <a:gd name="T16" fmla="*/ 0 60000 65536"/>
              <a:gd name="T17" fmla="*/ 0 60000 65536"/>
              <a:gd name="T18" fmla="*/ 0 w 2541974"/>
              <a:gd name="T19" fmla="*/ 0 h 636814"/>
              <a:gd name="T20" fmla="*/ 2541974 w 2541974"/>
              <a:gd name="T21" fmla="*/ 636814 h 636814"/>
            </a:gdLst>
            <a:ahLst/>
            <a:cxnLst>
              <a:cxn ang="T12">
                <a:pos x="T0" y="T1"/>
              </a:cxn>
              <a:cxn ang="T13">
                <a:pos x="T2" y="T3"/>
              </a:cxn>
              <a:cxn ang="T14">
                <a:pos x="T4" y="T5"/>
              </a:cxn>
              <a:cxn ang="T15">
                <a:pos x="T6" y="T7"/>
              </a:cxn>
              <a:cxn ang="T16">
                <a:pos x="T8" y="T9"/>
              </a:cxn>
              <a:cxn ang="T17">
                <a:pos x="T10" y="T11"/>
              </a:cxn>
            </a:cxnLst>
            <a:rect l="T18" t="T19" r="T20" b="T21"/>
            <a:pathLst>
              <a:path w="2541974" h="636814">
                <a:moveTo>
                  <a:pt x="0" y="0"/>
                </a:moveTo>
                <a:lnTo>
                  <a:pt x="2541974" y="0"/>
                </a:lnTo>
                <a:lnTo>
                  <a:pt x="2372921" y="318407"/>
                </a:lnTo>
                <a:lnTo>
                  <a:pt x="2541974" y="636814"/>
                </a:lnTo>
                <a:lnTo>
                  <a:pt x="0" y="636814"/>
                </a:lnTo>
                <a:lnTo>
                  <a:pt x="168950" y="318407"/>
                </a:lnTo>
                <a:lnTo>
                  <a:pt x="0" y="0"/>
                </a:lnTo>
                <a:close/>
              </a:path>
            </a:pathLst>
          </a:custGeom>
          <a:blipFill dpi="0" rotWithShape="1">
            <a:blip r:embed="rId3" cstate="print"/>
            <a:srcRect/>
            <a:tile tx="0" ty="0" sx="100000" sy="100000" flip="none" algn="tl"/>
          </a:blipFill>
          <a:ln>
            <a:noFill/>
          </a:ln>
          <a:extLst>
            <a:ext uri="{91240B29-F687-4F45-9708-019B960494DF}">
              <a14:hiddenLine xmlns:a14="http://schemas.microsoft.com/office/drawing/2010/main" w="12700">
                <a:solidFill>
                  <a:srgbClr val="42719B"/>
                </a:solidFill>
                <a:bevel/>
              </a14:hiddenLine>
            </a:ext>
          </a:extLst>
        </p:spPr>
        <p:txBody>
          <a:bodyPr anchor="ctr"/>
          <a:lstStyle/>
          <a:p>
            <a:r>
              <a:rPr lang="zh-CN" altLang="en-US" dirty="0">
                <a:solidFill>
                  <a:schemeClr val="bg1"/>
                </a:solidFill>
                <a:latin typeface="+mn-ea"/>
                <a:ea typeface="+mn-ea"/>
              </a:rPr>
              <a:t>谢谢聆听</a:t>
            </a:r>
          </a:p>
        </p:txBody>
      </p:sp>
      <p:pic>
        <p:nvPicPr>
          <p:cNvPr id="67" name="图片 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504" y="88438"/>
            <a:ext cx="1547664" cy="39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Browallia New"/>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878</TotalTime>
  <Words>2774</Words>
  <Application>Microsoft Office PowerPoint</Application>
  <PresentationFormat>全屏显示(16:9)</PresentationFormat>
  <Paragraphs>301</Paragraphs>
  <Slides>38</Slides>
  <Notes>24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38</vt:i4>
      </vt:variant>
    </vt:vector>
  </HeadingPairs>
  <TitlesOfParts>
    <vt:vector size="50" baseType="lpstr">
      <vt:lpstr>Browallia New</vt:lpstr>
      <vt:lpstr>方正兰亭粗黑_GBK</vt:lpstr>
      <vt:lpstr>黑体</vt:lpstr>
      <vt:lpstr>宋体</vt:lpstr>
      <vt:lpstr>微软雅黑</vt:lpstr>
      <vt:lpstr>Arial</vt:lpstr>
      <vt:lpstr>Calibri</vt:lpstr>
      <vt:lpstr>Impact</vt:lpstr>
      <vt:lpstr>Tahoma</vt:lpstr>
      <vt:lpstr>Times New Roman</vt:lpstr>
      <vt:lpstr>Wingdings</vt:lpstr>
      <vt:lpstr>Office 主题</vt:lpstr>
      <vt:lpstr>第五单元</vt:lpstr>
      <vt:lpstr>第一课时</vt:lpstr>
      <vt:lpstr>知识回顾</vt:lpstr>
      <vt:lpstr>知识目标</vt:lpstr>
      <vt:lpstr>字符串常用方法</vt:lpstr>
      <vt:lpstr>字符串常用方法</vt:lpstr>
      <vt:lpstr>如何使用字符串</vt:lpstr>
      <vt:lpstr>如何使用字符串</vt:lpstr>
      <vt:lpstr>如何使用字符串</vt:lpstr>
      <vt:lpstr>如何使用字符串</vt:lpstr>
      <vt:lpstr>字符串常用方法</vt:lpstr>
      <vt:lpstr>字符串常用方法</vt:lpstr>
      <vt:lpstr>课堂编程</vt:lpstr>
      <vt:lpstr>课堂小结</vt:lpstr>
      <vt:lpstr>第二课时</vt:lpstr>
      <vt:lpstr>贯穿案例</vt:lpstr>
      <vt:lpstr>贯穿案例</vt:lpstr>
      <vt:lpstr>贯穿案例</vt:lpstr>
      <vt:lpstr>贯穿案例</vt:lpstr>
      <vt:lpstr>贯穿案例</vt:lpstr>
      <vt:lpstr>贯穿案例</vt:lpstr>
      <vt:lpstr>贯穿案例</vt:lpstr>
      <vt:lpstr>第三课时</vt:lpstr>
      <vt:lpstr>知识回顾</vt:lpstr>
      <vt:lpstr>字符串常用方法</vt:lpstr>
      <vt:lpstr>字符串常用方法</vt:lpstr>
      <vt:lpstr>字符串常用方法</vt:lpstr>
      <vt:lpstr>如何使用字符串</vt:lpstr>
      <vt:lpstr>如何使用字符串</vt:lpstr>
      <vt:lpstr>课堂编程</vt:lpstr>
      <vt:lpstr>第四课时</vt:lpstr>
      <vt:lpstr>课堂案例</vt:lpstr>
      <vt:lpstr>课堂案例</vt:lpstr>
      <vt:lpstr>课堂案例</vt:lpstr>
      <vt:lpstr>单元总结</vt:lpstr>
      <vt:lpstr>概念图</vt:lpstr>
      <vt:lpstr>作业</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第1章内容回顾</dc:title>
  <dc:creator>xiaojing.dai</dc:creator>
  <cp:lastModifiedBy>ASUS</cp:lastModifiedBy>
  <cp:revision>2249</cp:revision>
  <dcterms:created xsi:type="dcterms:W3CDTF">2006-03-08T06:55:00Z</dcterms:created>
  <dcterms:modified xsi:type="dcterms:W3CDTF">2022-02-11T06:23:22Z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