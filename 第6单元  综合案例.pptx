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516" r:id="rId2"/>
    <p:sldId id="1606" r:id="rId3"/>
    <p:sldId id="520" r:id="rId4"/>
    <p:sldId id="1610" r:id="rId5"/>
    <p:sldId id="1863" r:id="rId6"/>
    <p:sldId id="1864" r:id="rId7"/>
    <p:sldId id="1865" r:id="rId8"/>
    <p:sldId id="1952" r:id="rId9"/>
    <p:sldId id="1873" r:id="rId10"/>
    <p:sldId id="1922" r:id="rId11"/>
    <p:sldId id="1607" r:id="rId12"/>
    <p:sldId id="1903" r:id="rId13"/>
    <p:sldId id="1923" r:id="rId14"/>
    <p:sldId id="1924" r:id="rId15"/>
    <p:sldId id="1925" r:id="rId16"/>
    <p:sldId id="1926" r:id="rId17"/>
    <p:sldId id="1927" r:id="rId18"/>
    <p:sldId id="1929" r:id="rId19"/>
    <p:sldId id="1930" r:id="rId20"/>
    <p:sldId id="1931" r:id="rId21"/>
    <p:sldId id="1608" r:id="rId22"/>
    <p:sldId id="1932" r:id="rId23"/>
    <p:sldId id="1912" r:id="rId24"/>
    <p:sldId id="1950" r:id="rId25"/>
    <p:sldId id="1951" r:id="rId26"/>
    <p:sldId id="1914" r:id="rId27"/>
    <p:sldId id="1915" r:id="rId28"/>
    <p:sldId id="1609" r:id="rId29"/>
    <p:sldId id="1629" r:id="rId30"/>
    <p:sldId id="1049" r:id="rId31"/>
    <p:sldId id="1628" r:id="rId32"/>
    <p:sldId id="515" r:id="rId33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>
          <p15:clr>
            <a:srgbClr val="A4A3A4"/>
          </p15:clr>
        </p15:guide>
        <p15:guide id="2" orient="horz" pos="2572">
          <p15:clr>
            <a:srgbClr val="A4A3A4"/>
          </p15:clr>
        </p15:guide>
        <p15:guide id="3" pos="28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461">
          <p15:clr>
            <a:srgbClr val="A4A3A4"/>
          </p15:clr>
        </p15:guide>
        <p15:guide id="2" pos="212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ECECEC"/>
    <a:srgbClr val="FFFFFF"/>
    <a:srgbClr val="E1FEFF"/>
    <a:srgbClr val="E7F4FF"/>
    <a:srgbClr val="5AADD6"/>
    <a:srgbClr val="D5EBFF"/>
    <a:srgbClr val="FEF6F0"/>
    <a:srgbClr val="FDF0E7"/>
    <a:srgbClr val="FD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1" autoAdjust="0"/>
    <p:restoredTop sz="89299" autoAdjust="0"/>
  </p:normalViewPr>
  <p:slideViewPr>
    <p:cSldViewPr>
      <p:cViewPr varScale="1">
        <p:scale>
          <a:sx n="88" d="100"/>
          <a:sy n="88" d="100"/>
        </p:scale>
        <p:origin x="828" y="66"/>
      </p:cViewPr>
      <p:guideLst>
        <p:guide orient="horz" pos="1385"/>
        <p:guide orient="horz" pos="2572"/>
        <p:guide pos="28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222"/>
    </p:cViewPr>
  </p:sorterViewPr>
  <p:notesViewPr>
    <p:cSldViewPr>
      <p:cViewPr varScale="1">
        <p:scale>
          <a:sx n="54" d="100"/>
          <a:sy n="54" d="100"/>
        </p:scale>
        <p:origin x="-2610" y="-84"/>
      </p:cViewPr>
      <p:guideLst>
        <p:guide orient="horz" pos="2461"/>
        <p:guide pos="2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0451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code =</a:t>
            </a:r>
            <a:r>
              <a:rPr lang="en-US" altLang="zh-CN" smtClean="0"/>
              <a:t> ” ”.join(random.sample(string.ascii_letters+string.digits,k=6</a:t>
            </a:r>
            <a:r>
              <a:rPr lang="en-US" altLang="zh-CN" dirty="0" smtClean="0"/>
              <a:t>))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26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27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29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30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借助书籍和</a:t>
            </a:r>
            <a:r>
              <a:rPr lang="en-US" altLang="zh-CN" dirty="0"/>
              <a:t>PPT</a:t>
            </a:r>
            <a:r>
              <a:rPr lang="zh-CN" altLang="en-US"/>
              <a:t>完成下一单元类和对象的预习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  <a:t>31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3082826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9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43558"/>
            <a:ext cx="8352928" cy="3600400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686" y="214296"/>
            <a:ext cx="4606927" cy="480131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>
            <a:lvl1pPr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910817"/>
            <a:ext cx="7645398" cy="3857652"/>
          </a:xfrm>
          <a:prstGeom prst="rect">
            <a:avLst/>
          </a:prstGeom>
        </p:spPr>
        <p:txBody>
          <a:bodyPr/>
          <a:lstStyle>
            <a:lvl1pPr>
              <a:buSzPct val="100000"/>
              <a:buFont typeface="Wingdings" panose="05000000000000000000" pitchFamily="2" charset="2"/>
              <a:buChar char="n"/>
              <a:defRPr b="1">
                <a:latin typeface="+mn-lt"/>
              </a:defRPr>
            </a:lvl1pPr>
            <a:lvl2pPr>
              <a:buSzPct val="100000"/>
              <a:buFont typeface="Wingdings" panose="05000000000000000000" pitchFamily="2" charset="2"/>
              <a:buChar char="u"/>
              <a:defRPr b="1">
                <a:latin typeface="+mn-lt"/>
              </a:defRPr>
            </a:lvl2pPr>
            <a:lvl3pPr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38963" y="4816079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F2B5F8-CE0A-4CE3-86F1-76C2246F4BA3}" type="slidenum">
              <a:rPr lang="zh-CN" altLang="en-US" smtClean="0"/>
              <a:t>‹#›</a:t>
            </a:fld>
            <a:r>
              <a:rPr lang="en-US" altLang="zh-CN" dirty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1" name="图片 6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350" y="3101975"/>
            <a:ext cx="9155113" cy="2081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2" name="圆角矩形 4"/>
          <p:cNvSpPr/>
          <p:nvPr userDrawn="1"/>
        </p:nvSpPr>
        <p:spPr>
          <a:xfrm>
            <a:off x="2443163" y="3962400"/>
            <a:ext cx="4289425" cy="360363"/>
          </a:xfrm>
          <a:prstGeom prst="roundRect">
            <a:avLst>
              <a:gd name="adj" fmla="val 7292"/>
            </a:avLst>
          </a:prstGeom>
          <a:solidFill>
            <a:srgbClr val="FFFFFF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>
              <a:buFont typeface="Arial" panose="020B060402020209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/>
        </p:nvSpPr>
        <p:spPr bwMode="auto">
          <a:xfrm flipV="1">
            <a:off x="3" y="555526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‹#›</a:t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第六单元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4"/>
    </mc:Choice>
    <mc:Fallback xmlns="">
      <p:transition spd="slow" advTm="9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第一课时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验证码和</a:t>
            </a:r>
            <a:r>
              <a:rPr lang="en-US" altLang="zh-CN" dirty="0"/>
              <a:t>random</a:t>
            </a:r>
            <a:r>
              <a:rPr lang="zh-CN" altLang="en-US" dirty="0"/>
              <a:t>模块</a:t>
            </a:r>
          </a:p>
        </p:txBody>
      </p:sp>
    </p:spTree>
  </p:cSld>
  <p:clrMapOvr>
    <a:masterClrMapping/>
  </p:clrMapOvr>
  <p:transition spd="slow" advTm="96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知识回顾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75606"/>
            <a:ext cx="8064896" cy="3353596"/>
          </a:xfrm>
        </p:spPr>
        <p:txBody>
          <a:bodyPr/>
          <a:lstStyle/>
          <a:p>
            <a:r>
              <a:rPr lang="zh-CN" altLang="en-US" dirty="0"/>
              <a:t>请简述什么是序列</a:t>
            </a:r>
          </a:p>
          <a:p>
            <a:r>
              <a:rPr lang="zh-CN" altLang="en-US" dirty="0"/>
              <a:t>请简述序列常用的操作有哪些？</a:t>
            </a:r>
          </a:p>
          <a:p>
            <a:r>
              <a:rPr lang="zh-CN" altLang="en-US" dirty="0">
                <a:sym typeface="+mn-ea"/>
              </a:rPr>
              <a:t>请简述什么是字符串以及字符串的格式</a:t>
            </a:r>
          </a:p>
          <a:p>
            <a:r>
              <a:rPr lang="zh-CN" altLang="en-US" dirty="0">
                <a:sym typeface="+mn-ea"/>
              </a:rPr>
              <a:t>请简述格式化的两种方式以及字符串的方法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知识目标</a:t>
            </a:r>
          </a:p>
        </p:txBody>
      </p:sp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309563"/>
            <a:ext cx="8761413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736" y="123478"/>
            <a:ext cx="6768877" cy="368300"/>
          </a:xfrm>
          <a:noFill/>
        </p:spPr>
        <p:txBody>
          <a:bodyPr/>
          <a:lstStyle/>
          <a:p>
            <a:pPr algn="r">
              <a:defRPr/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</a:rPr>
              <a:t>为什么使用</a:t>
            </a:r>
            <a:r>
              <a:rPr lang="zh-CN" sz="2000" b="0" dirty="0">
                <a:solidFill>
                  <a:srgbClr val="0070C0"/>
                </a:solidFill>
                <a:latin typeface="+mn-ea"/>
                <a:ea typeface="+mn-ea"/>
              </a:rPr>
              <a:t>验证码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30" name="Text Box 21"/>
          <p:cNvSpPr txBox="1">
            <a:spLocks noChangeArrowheads="1"/>
          </p:cNvSpPr>
          <p:nvPr/>
        </p:nvSpPr>
        <p:spPr bwMode="auto">
          <a:xfrm>
            <a:off x="3972560" y="4197350"/>
            <a:ext cx="4057650" cy="384810"/>
          </a:xfrm>
          <a:prstGeom prst="rect">
            <a:avLst/>
          </a:prstGeom>
          <a:solidFill>
            <a:srgbClr val="0070C0"/>
          </a:solidFill>
          <a:ln w="6350" cmpd="sng">
            <a:solidFill>
              <a:srgbClr val="00808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77953" tIns="38976" rIns="77953" bIns="38976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思考，还有哪些验证码呢</a:t>
            </a:r>
            <a:r>
              <a:rPr lang="zh-CN" altLang="en-US" sz="20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？</a:t>
            </a:r>
            <a:endParaRPr lang="zh-CN" altLang="en-US" sz="2000" dirty="0">
              <a:solidFill>
                <a:srgbClr val="008000"/>
              </a:solidFill>
              <a:latin typeface="+mn-ea"/>
              <a:ea typeface="+mn-ea"/>
            </a:endParaRPr>
          </a:p>
        </p:txBody>
      </p:sp>
      <p:pic>
        <p:nvPicPr>
          <p:cNvPr id="31" name="Picture 20" descr="0quav023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45182" y="648653"/>
            <a:ext cx="1719723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1129665" y="382905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手机短信验证码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105" y="859155"/>
            <a:ext cx="2876550" cy="18199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927600" y="289750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滑块验证码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705" y="741045"/>
            <a:ext cx="1510030" cy="2621280"/>
          </a:xfrm>
          <a:prstGeom prst="rect">
            <a:avLst/>
          </a:prstGeom>
        </p:spPr>
      </p:pic>
      <p:sp>
        <p:nvSpPr>
          <p:cNvPr id="10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 autoUpdateAnimBg="0"/>
      <p:bldP spid="6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736" y="123478"/>
            <a:ext cx="6768877" cy="368300"/>
          </a:xfrm>
          <a:noFill/>
        </p:spPr>
        <p:txBody>
          <a:bodyPr/>
          <a:lstStyle/>
          <a:p>
            <a:pPr algn="r">
              <a:defRPr/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为什么使用</a:t>
            </a:r>
            <a:r>
              <a:rPr lang="zh-CN" sz="2000" b="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验证码</a:t>
            </a:r>
            <a:endParaRPr lang="zh-CN" sz="2000" b="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4099" name="Picture 3" descr="C:\Users\Administrator\Desktop\剪贴画\u=1135875384,1685270123&amp;fm=26&amp;gp=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55" y="1149269"/>
            <a:ext cx="3595821" cy="257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Administrator\Desktop\剪贴画\微信图片_20181120090707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6889"/>
          <a:stretch>
            <a:fillRect/>
          </a:stretch>
        </p:blipFill>
        <p:spPr bwMode="auto">
          <a:xfrm>
            <a:off x="6296036" y="1149270"/>
            <a:ext cx="2298329" cy="257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251520" y="861237"/>
            <a:ext cx="8352928" cy="1800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000" b="0" dirty="0">
                <a:latin typeface="+mn-ea"/>
              </a:rPr>
              <a:t>手机语音验证码</a:t>
            </a:r>
            <a:endParaRPr lang="en-US" altLang="zh-CN" sz="2000" b="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b="0" dirty="0">
                <a:latin typeface="+mn-ea"/>
              </a:rPr>
              <a:t>Gif动画验证码</a:t>
            </a:r>
            <a:endParaRPr lang="en-US" altLang="zh-CN" sz="2000" b="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b="0" dirty="0">
                <a:latin typeface="+mn-ea"/>
              </a:rPr>
              <a:t>静态图片验证码</a:t>
            </a:r>
            <a:endParaRPr lang="en-US" altLang="zh-CN" sz="2000" b="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b="0" dirty="0">
                <a:latin typeface="+mn-ea"/>
              </a:rPr>
              <a:t>视频验证码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+mn-ea"/>
                <a:ea typeface="+mn-ea"/>
                <a:sym typeface="Browallia New" panose="020B0604020202020204" charset="0"/>
              </a:rPr>
              <a:t>什么是验证码</a:t>
            </a:r>
          </a:p>
        </p:txBody>
      </p:sp>
      <p:sp>
        <p:nvSpPr>
          <p:cNvPr id="2" name="椭圆 1"/>
          <p:cNvSpPr/>
          <p:nvPr/>
        </p:nvSpPr>
        <p:spPr>
          <a:xfrm>
            <a:off x="658691" y="1889443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+mn-ea"/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+mn-ea"/>
              </a:rPr>
              <a:t>验证码</a:t>
            </a:r>
            <a:endParaRPr lang="en-US" altLang="zh-CN" sz="2000" b="1" strike="noStrike" noProof="1">
              <a:solidFill>
                <a:schemeClr val="accent1"/>
              </a:solidFill>
              <a:latin typeface="+mn-ea"/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215144" y="149225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被定义项</a:t>
            </a:r>
          </a:p>
        </p:txBody>
      </p:sp>
      <p:sp>
        <p:nvSpPr>
          <p:cNvPr id="11" name="Text Box 8"/>
          <p:cNvSpPr txBox="1"/>
          <p:nvPr/>
        </p:nvSpPr>
        <p:spPr>
          <a:xfrm>
            <a:off x="2314451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临近的属</a:t>
            </a:r>
          </a:p>
        </p:txBody>
      </p:sp>
      <p:sp>
        <p:nvSpPr>
          <p:cNvPr id="3" name="椭圆 2"/>
          <p:cNvSpPr/>
          <p:nvPr/>
        </p:nvSpPr>
        <p:spPr>
          <a:xfrm>
            <a:off x="2835469" y="188976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+mn-ea"/>
              </a:rPr>
              <a:t>程序</a:t>
            </a:r>
          </a:p>
        </p:txBody>
      </p:sp>
      <p:sp>
        <p:nvSpPr>
          <p:cNvPr id="14" name="Text Box 12"/>
          <p:cNvSpPr txBox="1"/>
          <p:nvPr/>
        </p:nvSpPr>
        <p:spPr>
          <a:xfrm>
            <a:off x="5724128" y="1492250"/>
            <a:ext cx="15640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292081" y="1968500"/>
            <a:ext cx="3096344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+mn-ea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+mn-ea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774769" y="3354546"/>
            <a:ext cx="539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noProof="1">
                <a:latin typeface="+mn-ea"/>
                <a:ea typeface="+mn-ea"/>
              </a:rPr>
              <a:t>定义</a:t>
            </a:r>
            <a:r>
              <a:rPr lang="en-US" altLang="zh-CN" b="1" noProof="1">
                <a:latin typeface="+mn-ea"/>
                <a:ea typeface="+mn-ea"/>
              </a:rPr>
              <a:t>: </a:t>
            </a:r>
            <a:r>
              <a:rPr lang="zh-CN" altLang="en-US" b="1" noProof="1">
                <a:latin typeface="+mn-ea"/>
                <a:ea typeface="+mn-ea"/>
              </a:rPr>
              <a:t>验证码</a:t>
            </a:r>
            <a:r>
              <a:rPr lang="zh-CN" altLang="en-US" b="1" dirty="0">
                <a:latin typeface="+mn-ea"/>
                <a:ea typeface="+mn-ea"/>
                <a:sym typeface="Calibri" panose="020F0502020204030204" pitchFamily="34" charset="0"/>
              </a:rPr>
              <a:t>一种区分用户是计算机还是人的程序</a:t>
            </a:r>
            <a:r>
              <a:rPr lang="zh-CN" altLang="en-US" dirty="0">
                <a:latin typeface="+mn-ea"/>
                <a:ea typeface="+mn-ea"/>
                <a:sym typeface="Calibri" panose="020F0502020204030204" pitchFamily="34" charset="0"/>
              </a:rPr>
              <a:t>。</a:t>
            </a:r>
          </a:p>
        </p:txBody>
      </p:sp>
      <p:sp>
        <p:nvSpPr>
          <p:cNvPr id="18" name="AutoShape 7"/>
          <p:cNvSpPr/>
          <p:nvPr/>
        </p:nvSpPr>
        <p:spPr>
          <a:xfrm flipH="1">
            <a:off x="1086984" y="3082925"/>
            <a:ext cx="215900" cy="576263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+mn-ea"/>
              <a:ea typeface="+mn-ea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341582" y="3715555"/>
            <a:ext cx="173093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外延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3246296" y="4263459"/>
            <a:ext cx="2477832" cy="322580"/>
            <a:chOff x="897128" y="1507535"/>
            <a:chExt cx="1868348" cy="18384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518933"/>
              <a:ext cx="1868348" cy="157867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endParaRPr lang="zh-CN" altLang="en-US" sz="2100" b="1" strike="noStrike" kern="0" noProof="1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508104" y="2078990"/>
            <a:ext cx="2669913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区分用户是计算机还是人</a:t>
            </a:r>
            <a:endParaRPr lang="zh-CN" altLang="en-US" sz="1400" dirty="0">
              <a:latin typeface="+mn-ea"/>
              <a:ea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08851" y="4237291"/>
            <a:ext cx="20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静态图片验证码 </a:t>
            </a:r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728495" y="4286250"/>
            <a:ext cx="2480356" cy="276999"/>
          </a:xfrm>
          <a:prstGeom prst="chevron">
            <a:avLst>
              <a:gd name="adj" fmla="val 1215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anchor="ctr">
            <a:spAutoFit/>
          </a:bodyPr>
          <a:lstStyle/>
          <a:p>
            <a:pPr fontAlgn="base">
              <a:defRPr/>
            </a:pPr>
            <a:endParaRPr lang="zh-CN" altLang="en-US" strike="noStrike" kern="0" noProof="1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92423" y="422229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滑块验证码</a:t>
            </a:r>
          </a:p>
        </p:txBody>
      </p:sp>
      <p:sp>
        <p:nvSpPr>
          <p:cNvPr id="22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10" grpId="0"/>
      <p:bldP spid="18" grpId="0" bldLvl="0" animBg="1"/>
      <p:bldP spid="19" grpId="0"/>
      <p:bldP spid="8" grpId="0"/>
      <p:bldP spid="17" grpId="0"/>
      <p:bldP spid="20" grpId="0" bldLvl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验证码的作用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683568" y="1321187"/>
            <a:ext cx="4896544" cy="2565693"/>
          </a:xfrm>
          <a:prstGeom prst="roundRect">
            <a:avLst>
              <a:gd name="adj" fmla="val 303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tIns="90000" bIns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  <a:sym typeface="+mn-ea"/>
              </a:rPr>
              <a:t>反爬虫（防止自动抓取网页内容的程序）</a:t>
            </a:r>
            <a:endParaRPr lang="zh-CN" altLang="en-US" dirty="0">
              <a:latin typeface="+mn-ea"/>
              <a:ea typeface="+mn-ea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altLang="zh-CN" dirty="0">
              <a:latin typeface="+mn-ea"/>
              <a:ea typeface="+mn-ea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  <a:sym typeface="+mn-ea"/>
              </a:rPr>
              <a:t>防止某些人用程序对某个注册账户登陆尝试，保证用户信息的安全</a:t>
            </a:r>
            <a:endParaRPr lang="en-US" altLang="zh-CN" dirty="0">
              <a:latin typeface="+mn-ea"/>
              <a:ea typeface="+mn-ea"/>
              <a:sym typeface="+mn-ea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altLang="zh-CN" dirty="0">
              <a:latin typeface="+mn-ea"/>
              <a:ea typeface="+mn-ea"/>
              <a:sym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  <a:sym typeface="+mn-ea"/>
              </a:rPr>
              <a:t>手机或邮箱接收的验证码用于验证登录者身份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课堂编程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生成四位验证码，验证码只包含数字。</a:t>
            </a:r>
            <a:endParaRPr lang="en-US" altLang="zh-CN" dirty="0"/>
          </a:p>
          <a:p>
            <a:r>
              <a:rPr lang="zh-CN" altLang="en-US" dirty="0"/>
              <a:t>思路提示</a:t>
            </a:r>
            <a:endParaRPr lang="en-US" altLang="zh-CN" dirty="0"/>
          </a:p>
          <a:p>
            <a:pPr lvl="1"/>
            <a:r>
              <a:rPr lang="zh-CN" altLang="en-US" dirty="0"/>
              <a:t>分析需求，根据需求展开思路</a:t>
            </a:r>
            <a:endParaRPr lang="en-US" altLang="zh-CN" dirty="0"/>
          </a:p>
          <a:p>
            <a:pPr lvl="1"/>
            <a:r>
              <a:rPr lang="zh-CN" altLang="en-US" dirty="0"/>
              <a:t>首先准备一个字符串，字符串为</a:t>
            </a:r>
            <a:r>
              <a:rPr lang="en-US" altLang="zh-CN" dirty="0"/>
              <a:t>0-9</a:t>
            </a:r>
            <a:r>
              <a:rPr lang="zh-CN" altLang="en-US" dirty="0"/>
              <a:t>数字组成</a:t>
            </a:r>
            <a:endParaRPr lang="en-US" altLang="zh-CN" dirty="0"/>
          </a:p>
          <a:p>
            <a:pPr lvl="1"/>
            <a:r>
              <a:rPr lang="zh-CN" altLang="en-US" dirty="0"/>
              <a:t>从中连续随机抽取</a:t>
            </a:r>
            <a:r>
              <a:rPr lang="en-US" altLang="zh-CN" dirty="0"/>
              <a:t>4</a:t>
            </a:r>
            <a:r>
              <a:rPr lang="zh-CN" altLang="en-US" dirty="0"/>
              <a:t>个字符，并连接成字符串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验证码的应用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7544" y="699542"/>
            <a:ext cx="2237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思路分析：</a:t>
            </a:r>
          </a:p>
        </p:txBody>
      </p:sp>
      <p:sp>
        <p:nvSpPr>
          <p:cNvPr id="11" name="椭圆 10"/>
          <p:cNvSpPr/>
          <p:nvPr/>
        </p:nvSpPr>
        <p:spPr>
          <a:xfrm>
            <a:off x="3017634" y="2139702"/>
            <a:ext cx="1482358" cy="9144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合并成一个字符串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29048" y="2188210"/>
            <a:ext cx="914400" cy="9144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生成数字</a:t>
            </a:r>
          </a:p>
        </p:txBody>
      </p:sp>
      <p:sp>
        <p:nvSpPr>
          <p:cNvPr id="16" name="单圆角矩形 15"/>
          <p:cNvSpPr/>
          <p:nvPr/>
        </p:nvSpPr>
        <p:spPr>
          <a:xfrm>
            <a:off x="6395457" y="2310764"/>
            <a:ext cx="1632927" cy="668655"/>
          </a:xfrm>
          <a:prstGeom prst="round1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随机抽取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4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个字符，并连接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4888974" y="2402205"/>
            <a:ext cx="979170" cy="48577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18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cxnSp>
        <p:nvCxnSpPr>
          <p:cNvPr id="4" name="直接箭头连接符 3"/>
          <p:cNvCxnSpPr>
            <a:endCxn id="11" idx="2"/>
          </p:cNvCxnSpPr>
          <p:nvPr/>
        </p:nvCxnSpPr>
        <p:spPr bwMode="auto">
          <a:xfrm flipV="1">
            <a:off x="1763395" y="2597150"/>
            <a:ext cx="1254125" cy="463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ldLvl="0" animBg="1"/>
      <p:bldP spid="12" grpId="0" bldLvl="0" animBg="1"/>
      <p:bldP spid="16" grpId="0" bldLvl="0" animBg="1"/>
      <p:bldP spid="1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</a:t>
            </a:r>
            <a:r>
              <a:rPr lang="zh-CN" altLang="en-US" noProof="1"/>
              <a:t>二</a:t>
            </a:r>
            <a:r>
              <a:rPr lang="zh-CN" altLang="en-US" strike="noStrike" noProof="1"/>
              <a:t>课时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random</a:t>
            </a:r>
            <a:r>
              <a:rPr lang="zh-CN" altLang="en-US" dirty="0"/>
              <a:t>模块</a:t>
            </a:r>
          </a:p>
        </p:txBody>
      </p:sp>
    </p:spTree>
  </p:cSld>
  <p:clrMapOvr>
    <a:masterClrMapping/>
  </p:clrMapOvr>
  <p:transition spd="slow" advTm="964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467360" y="699770"/>
            <a:ext cx="3308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作用：用于生成伪随机数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12" name="内容占位符 3"/>
          <p:cNvSpPr>
            <a:spLocks noGrp="1"/>
          </p:cNvSpPr>
          <p:nvPr>
            <p:ph idx="1"/>
          </p:nvPr>
        </p:nvSpPr>
        <p:spPr>
          <a:xfrm>
            <a:off x="467544" y="1988205"/>
            <a:ext cx="8352928" cy="1800200"/>
          </a:xfrm>
        </p:spPr>
        <p:txBody>
          <a:bodyPr/>
          <a:lstStyle/>
          <a:p>
            <a:r>
              <a:rPr lang="zh-CN" altLang="en-US" sz="1400" dirty="0">
                <a:solidFill>
                  <a:schemeClr val="tx1"/>
                </a:solidFill>
              </a:rPr>
              <a:t>真正意义上的随机数（或者随机事件）在某次产生过程中是按照实验过程中表现的分布概率随机产生的，其结果是不可预测的，是不可见的</a:t>
            </a:r>
          </a:p>
          <a:p>
            <a:r>
              <a:rPr lang="zh-CN" altLang="en-US" sz="1400" dirty="0">
                <a:solidFill>
                  <a:schemeClr val="tx1"/>
                </a:solidFill>
              </a:rPr>
              <a:t>计算机中的随机函数是按照一定算法模拟产生的，其结果是确定的，是可见的。我们可以这样认为这个可预见的结果其出现的概率是100%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874395" y="785495"/>
            <a:ext cx="709803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random.random()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#用于生成一个0到1的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随机浮点数：0&lt;= n &lt; 1.0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import random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a = random.random()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 (a)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40" y="4575175"/>
            <a:ext cx="1419225" cy="27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471170" y="728980"/>
            <a:ext cx="8090535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random.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uniform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(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a,b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#用于生成一个指定范围内的随机符点数，两个参数其中一个是上限，一个是下限。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如果a &gt; b，则生成的随机数n: b &lt;= n &lt;= a。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如果 a &lt;b， 则 a &lt;= n &lt;= b。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import random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print(random.uniform(1,10))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print(random.uniform(10,1))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830" y="3701415"/>
            <a:ext cx="1571625" cy="438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481330" y="635635"/>
            <a:ext cx="862647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random.rand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int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(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a, b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#用于生成一个指定范围内的整数。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其中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参数a是下限，参数b是上限，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生成的随机数n: a &lt;= n &lt;= b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import random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print(random.randint(1,10))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" y="4115435"/>
            <a:ext cx="342900" cy="209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525780" y="771525"/>
            <a:ext cx="8439150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random.rand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range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([start], stop[, step])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#从指定范围内，按指定基数递增的集合中获取一个随机数。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random.randrange(10, 30, 2)，结果相当于从[10, 12, 14, 16, ... 26, 28]序列中获取一个随机数。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在结果上与 random.choice(range(10, 30, 2) 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等效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import random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print(random.randrange(10,30,2))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25" y="3966210"/>
            <a:ext cx="533400" cy="209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502920" y="771525"/>
            <a:ext cx="6454775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random.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choice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(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sequence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#random.choice从序列中获取一个随机元素。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其函数原型为：random.choice(sequence)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参数sequence表示一个有序类型。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import random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lst = ['python','C','C++','javascript']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str1 = ('I love python')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print(random.choice(lst))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print(random.choice(str1))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45" y="3918585"/>
            <a:ext cx="657225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471170" y="771525"/>
            <a:ext cx="846899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random.</a:t>
            </a:r>
            <a:r>
              <a:rPr lang="en-US" altLang="zh-CN" sz="2800" dirty="0">
                <a:solidFill>
                  <a:srgbClr val="0070C0"/>
                </a:solidFill>
                <a:latin typeface="+mn-ea"/>
                <a:ea typeface="+mn-ea"/>
              </a:rPr>
              <a:t>choices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sequence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, weights=None, *, cum_weights=None,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 k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=1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)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#从指定序列中随机获取指定长度的片断并随机排列。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注意：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常用于重复的随机抽样，并且不会修改原有序列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。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import random 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lst = [1,2,3,4,5]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</a:rPr>
              <a:t>choices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(lst, </a:t>
            </a:r>
            <a:r>
              <a:rPr lang="en-US" altLang="zh-CN" sz="2400" dirty="0">
                <a:solidFill>
                  <a:srgbClr val="0070C0"/>
                </a:solidFill>
                <a:latin typeface="+mn-ea"/>
                <a:ea typeface="+mn-ea"/>
              </a:rPr>
              <a:t>k=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4))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print(lst) 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203315" y="3741420"/>
            <a:ext cx="1537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[1,3,4,2]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random</a:t>
            </a:r>
            <a:r>
              <a:rPr lang="zh-CN" altLang="en-US" dirty="0">
                <a:latin typeface="+mn-ea"/>
                <a:ea typeface="+mn-ea"/>
              </a:rPr>
              <a:t>模块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638810" y="771525"/>
            <a:ext cx="832612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random.sample(sequence, k)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#从指定序列中随机获取指定长度的片断并随机排列。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注意：常用于不重复的随机抽样，并且不会修改原有序列。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import random 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lst = [1,2,3,4,5]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print(random.sample(lst,4))  </a:t>
            </a:r>
          </a:p>
          <a:p>
            <a:pPr algn="l"/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 print(lst) 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55" y="4460240"/>
            <a:ext cx="1514475" cy="504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课堂编程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生成四位验证码，验证码只包含数字。</a:t>
            </a:r>
            <a:endParaRPr lang="en-US" altLang="zh-CN" dirty="0"/>
          </a:p>
          <a:p>
            <a:r>
              <a:rPr lang="zh-CN" altLang="en-US" dirty="0"/>
              <a:t>思路提示</a:t>
            </a:r>
            <a:endParaRPr lang="en-US" altLang="zh-CN" dirty="0"/>
          </a:p>
          <a:p>
            <a:pPr lvl="1"/>
            <a:r>
              <a:rPr lang="zh-CN" altLang="en-US" dirty="0"/>
              <a:t>分析需求，根据需求展开思路</a:t>
            </a:r>
            <a:endParaRPr lang="en-US" altLang="zh-CN" dirty="0"/>
          </a:p>
          <a:p>
            <a:pPr lvl="1"/>
            <a:r>
              <a:rPr lang="zh-CN" altLang="en-US" dirty="0"/>
              <a:t>首先准备一个字符串，字符串为</a:t>
            </a:r>
            <a:r>
              <a:rPr lang="en-US" altLang="zh-CN" dirty="0"/>
              <a:t>0-9</a:t>
            </a:r>
            <a:r>
              <a:rPr lang="zh-CN" altLang="en-US" dirty="0"/>
              <a:t>数字组成</a:t>
            </a:r>
            <a:endParaRPr lang="en-US" altLang="zh-CN" dirty="0"/>
          </a:p>
          <a:p>
            <a:pPr lvl="1"/>
            <a:r>
              <a:rPr lang="zh-CN" altLang="en-US" dirty="0"/>
              <a:t>从中连续随机抽取</a:t>
            </a:r>
            <a:r>
              <a:rPr lang="en-US" altLang="zh-CN" dirty="0"/>
              <a:t>4</a:t>
            </a:r>
            <a:r>
              <a:rPr lang="zh-CN" altLang="en-US" dirty="0"/>
              <a:t>个字符，并连接成字符串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</a:t>
            </a:r>
            <a:r>
              <a:rPr lang="zh-CN" altLang="en-US" noProof="1"/>
              <a:t>三</a:t>
            </a:r>
            <a:r>
              <a:rPr lang="zh-CN" altLang="en-US" strike="noStrike" noProof="1"/>
              <a:t>课时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  <a:r>
              <a:rPr lang="en-US" altLang="zh-CN" dirty="0"/>
              <a:t>string</a:t>
            </a:r>
            <a:r>
              <a:rPr lang="zh-CN" altLang="en-US" dirty="0"/>
              <a:t>模块</a:t>
            </a:r>
          </a:p>
        </p:txBody>
      </p:sp>
    </p:spTree>
  </p:cSld>
  <p:clrMapOvr>
    <a:masterClrMapping/>
  </p:clrMapOvr>
  <p:transition spd="slow" advTm="964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课堂编程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生成六位验证码，其中包含大写、小写或数字。</a:t>
            </a:r>
            <a:endParaRPr lang="en-US" altLang="zh-CN" dirty="0"/>
          </a:p>
          <a:p>
            <a:r>
              <a:rPr lang="zh-CN" altLang="en-US" dirty="0"/>
              <a:t>思路提示</a:t>
            </a:r>
            <a:endParaRPr lang="en-US" altLang="zh-CN" dirty="0"/>
          </a:p>
          <a:p>
            <a:pPr lvl="1"/>
            <a:r>
              <a:rPr lang="zh-CN" altLang="en-US" dirty="0"/>
              <a:t>分析需求，根据需求展开思路</a:t>
            </a:r>
            <a:endParaRPr lang="en-US" altLang="zh-CN" dirty="0"/>
          </a:p>
          <a:p>
            <a:pPr lvl="1"/>
            <a:r>
              <a:rPr lang="zh-CN" altLang="en-US" dirty="0"/>
              <a:t>首先生成字母和数字</a:t>
            </a:r>
            <a:r>
              <a:rPr lang="en-US" altLang="zh-CN" dirty="0"/>
              <a:t>,</a:t>
            </a:r>
            <a:r>
              <a:rPr lang="zh-CN" altLang="en-US" dirty="0"/>
              <a:t>并连接成一个字符串</a:t>
            </a:r>
            <a:endParaRPr lang="en-US" altLang="zh-CN" dirty="0"/>
          </a:p>
          <a:p>
            <a:pPr lvl="1"/>
            <a:r>
              <a:rPr lang="zh-CN" altLang="en-US" dirty="0"/>
              <a:t>从中连续随机抽取</a:t>
            </a:r>
            <a:r>
              <a:rPr lang="en-US" altLang="zh-CN" dirty="0"/>
              <a:t>4</a:t>
            </a:r>
            <a:r>
              <a:rPr lang="zh-CN" altLang="en-US" dirty="0"/>
              <a:t>个字符，并连接成字符串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验证码的应用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7544" y="699542"/>
            <a:ext cx="2237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思路分析：</a:t>
            </a:r>
          </a:p>
        </p:txBody>
      </p:sp>
      <p:sp>
        <p:nvSpPr>
          <p:cNvPr id="10" name="椭圆 9"/>
          <p:cNvSpPr/>
          <p:nvPr/>
        </p:nvSpPr>
        <p:spPr>
          <a:xfrm>
            <a:off x="1064633" y="1520190"/>
            <a:ext cx="914400" cy="9144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生成字母</a:t>
            </a:r>
          </a:p>
        </p:txBody>
      </p:sp>
      <p:sp>
        <p:nvSpPr>
          <p:cNvPr id="11" name="椭圆 10"/>
          <p:cNvSpPr/>
          <p:nvPr/>
        </p:nvSpPr>
        <p:spPr>
          <a:xfrm>
            <a:off x="3017634" y="2139702"/>
            <a:ext cx="1482358" cy="9144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合并成一个字符串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64633" y="2856230"/>
            <a:ext cx="914400" cy="9144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生成数字</a:t>
            </a:r>
          </a:p>
        </p:txBody>
      </p:sp>
      <p:sp>
        <p:nvSpPr>
          <p:cNvPr id="16" name="单圆角矩形 15"/>
          <p:cNvSpPr/>
          <p:nvPr/>
        </p:nvSpPr>
        <p:spPr>
          <a:xfrm>
            <a:off x="6395457" y="2310764"/>
            <a:ext cx="1632927" cy="668655"/>
          </a:xfrm>
          <a:prstGeom prst="round1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随机抽取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6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个字符，并连接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4888974" y="2402205"/>
            <a:ext cx="979170" cy="48577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18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cxnSp>
        <p:nvCxnSpPr>
          <p:cNvPr id="4" name="直接箭头连接符 3"/>
          <p:cNvCxnSpPr/>
          <p:nvPr/>
        </p:nvCxnSpPr>
        <p:spPr bwMode="auto">
          <a:xfrm flipV="1">
            <a:off x="2123728" y="2979419"/>
            <a:ext cx="893906" cy="33401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  <p:cxnSp>
        <p:nvCxnSpPr>
          <p:cNvPr id="7" name="直接箭头连接符 6"/>
          <p:cNvCxnSpPr/>
          <p:nvPr/>
        </p:nvCxnSpPr>
        <p:spPr bwMode="auto">
          <a:xfrm>
            <a:off x="2123728" y="1977390"/>
            <a:ext cx="893906" cy="29622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ldLvl="0" animBg="1"/>
      <p:bldP spid="11" grpId="0" bldLvl="0" animBg="1"/>
      <p:bldP spid="12" grpId="0" bldLvl="0" animBg="1"/>
      <p:bldP spid="16" grpId="0" bldLvl="0" animBg="1"/>
      <p:bldP spid="19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string</a:t>
            </a:r>
            <a:r>
              <a:rPr lang="zh-CN" altLang="en-US" dirty="0">
                <a:latin typeface="+mn-ea"/>
                <a:ea typeface="+mn-ea"/>
              </a:rPr>
              <a:t>模块的的常量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638810" y="1102360"/>
            <a:ext cx="83261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string.digits：数字0~9</a:t>
            </a:r>
          </a:p>
          <a:p>
            <a:pPr algn="l"/>
            <a:endParaRPr lang="zh-CN" altLang="en-US" sz="28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string.ascii_letters：所有字母（大小写）</a:t>
            </a:r>
          </a:p>
          <a:p>
            <a:pPr algn="l"/>
            <a:endParaRPr lang="zh-CN" altLang="en-US" sz="28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string</a:t>
            </a:r>
            <a:r>
              <a:rPr lang="zh-CN" altLang="en-US" sz="2800" dirty="0" smtClean="0">
                <a:solidFill>
                  <a:srgbClr val="0070C0"/>
                </a:solidFill>
                <a:latin typeface="+mn-ea"/>
                <a:ea typeface="+mn-ea"/>
              </a:rPr>
              <a:t>.</a:t>
            </a:r>
            <a:r>
              <a:rPr lang="zh-CN" altLang="en-US" sz="2800" dirty="0">
                <a:solidFill>
                  <a:srgbClr val="0070C0"/>
                </a:solidFill>
                <a:latin typeface="+mn-ea"/>
              </a:rPr>
              <a:t> ascii_ </a:t>
            </a:r>
            <a:r>
              <a:rPr lang="zh-CN" altLang="en-US" sz="2800" dirty="0" smtClean="0">
                <a:solidFill>
                  <a:srgbClr val="0070C0"/>
                </a:solidFill>
                <a:latin typeface="+mn-ea"/>
                <a:ea typeface="+mn-ea"/>
              </a:rPr>
              <a:t>l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owercase：所有小写字</a:t>
            </a:r>
            <a:r>
              <a:rPr lang="zh-CN" altLang="en-US" sz="2800" dirty="0" smtClean="0">
                <a:solidFill>
                  <a:srgbClr val="0070C0"/>
                </a:solidFill>
                <a:latin typeface="+mn-ea"/>
                <a:ea typeface="+mn-ea"/>
              </a:rPr>
              <a:t>母</a:t>
            </a:r>
            <a:endParaRPr lang="zh-CN" altLang="en-US" sz="28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string</a:t>
            </a:r>
            <a:r>
              <a:rPr lang="zh-CN" altLang="en-US" dirty="0">
                <a:latin typeface="+mn-ea"/>
                <a:ea typeface="+mn-ea"/>
              </a:rPr>
              <a:t>模块中的常量</a:t>
            </a:r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638810" y="771525"/>
            <a:ext cx="832612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sz="28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string.printable：可打印字符的字符串</a:t>
            </a:r>
          </a:p>
          <a:p>
            <a:pPr algn="l"/>
            <a:endParaRPr lang="zh-CN" altLang="en-US" sz="28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string.punctuation：所有标点</a:t>
            </a:r>
          </a:p>
          <a:p>
            <a:pPr algn="l"/>
            <a:endParaRPr lang="zh-CN" altLang="en-US" sz="28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string</a:t>
            </a:r>
            <a:r>
              <a:rPr lang="zh-CN" altLang="en-US" sz="2800" dirty="0" smtClean="0">
                <a:solidFill>
                  <a:srgbClr val="0070C0"/>
                </a:solidFill>
                <a:latin typeface="+mn-ea"/>
                <a:ea typeface="+mn-ea"/>
              </a:rPr>
              <a:t>.</a:t>
            </a:r>
            <a:r>
              <a:rPr lang="zh-CN" altLang="en-US" sz="2800" dirty="0">
                <a:solidFill>
                  <a:srgbClr val="0070C0"/>
                </a:solidFill>
                <a:latin typeface="+mn-ea"/>
              </a:rPr>
              <a:t> ascii_ </a:t>
            </a:r>
            <a:r>
              <a:rPr lang="zh-CN" altLang="en-US" sz="2800" dirty="0" smtClean="0">
                <a:solidFill>
                  <a:srgbClr val="0070C0"/>
                </a:solidFill>
                <a:latin typeface="+mn-ea"/>
                <a:ea typeface="+mn-ea"/>
              </a:rPr>
              <a:t>u</a:t>
            </a:r>
            <a:r>
              <a:rPr lang="zh-CN" altLang="en-US" sz="2800" dirty="0">
                <a:solidFill>
                  <a:srgbClr val="0070C0"/>
                </a:solidFill>
                <a:latin typeface="+mn-ea"/>
                <a:ea typeface="+mn-ea"/>
              </a:rPr>
              <a:t>ppercase：所有大写字母</a:t>
            </a:r>
          </a:p>
          <a:p>
            <a:pPr algn="l"/>
            <a:endParaRPr lang="zh-CN" altLang="en-US" sz="24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85720" y="785800"/>
            <a:ext cx="216694" cy="231536"/>
            <a:chOff x="436488" y="2946400"/>
            <a:chExt cx="231776" cy="247651"/>
          </a:xfrm>
        </p:grpSpPr>
        <p:sp>
          <p:nvSpPr>
            <p:cNvPr id="9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验证码的应用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528" y="699542"/>
            <a:ext cx="1800200" cy="370487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代码实现：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683568" y="1214045"/>
            <a:ext cx="6745753" cy="3884839"/>
          </a:xfrm>
          <a:prstGeom prst="roundRect">
            <a:avLst>
              <a:gd name="adj" fmla="val 303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tIns="0" bIns="0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import random  #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导入随机与字符串模块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import string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listb =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 ''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#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创建空字符串，用于存放随机获取的字符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stra = ''  #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创建三个空字符串，分别用于存放大写、小写、数字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strb = ''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strc = ''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letters = string.ascii_letters  #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生成大写与小写字符串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num = string.digits  # 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生成数字字符串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lista = list(letters)+list(num)  #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将英文字符与数字字符连接，生成一个新的字符串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for i in range(6):   #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循环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6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次，在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lista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抽取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6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个字符，并添加到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listb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中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m = random.choice(lista)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listb += m</a:t>
            </a:r>
          </a:p>
        </p:txBody>
      </p:sp>
      <p:sp>
        <p:nvSpPr>
          <p:cNvPr id="12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验证码的应用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528" y="843558"/>
            <a:ext cx="3312368" cy="4216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代码实现：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683568" y="1321187"/>
            <a:ext cx="4009449" cy="3554819"/>
          </a:xfrm>
          <a:prstGeom prst="roundRect">
            <a:avLst>
              <a:gd name="adj" fmla="val 303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tIns="0" bIns="0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for i in listb:  #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将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listb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中的字符分类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if i.islower():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	stra += i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elif i.isupper():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	strb += i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elif i.isdigit():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	strc += i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else: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		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出现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bug')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strd = stra + strb + strc</a:t>
            </a:r>
          </a:p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print(strd)</a:t>
            </a:r>
          </a:p>
        </p:txBody>
      </p:sp>
      <p:sp>
        <p:nvSpPr>
          <p:cNvPr id="12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818" y="1321186"/>
            <a:ext cx="3608962" cy="890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内容占位符 5"/>
          <p:cNvSpPr txBox="1"/>
          <p:nvPr/>
        </p:nvSpPr>
        <p:spPr>
          <a:xfrm>
            <a:off x="4796408" y="843558"/>
            <a:ext cx="3448000" cy="325229"/>
          </a:xfrm>
          <a:prstGeom prst="rect">
            <a:avLst/>
          </a:prstGeom>
        </p:spPr>
        <p:txBody>
          <a:bodyPr/>
          <a:lstStyle>
            <a:lvl1pPr marL="227330" indent="-227330" algn="l" rtl="0" eaLnBrk="0" fontAlgn="base" hangingPunct="0">
              <a:lnSpc>
                <a:spcPts val="25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45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 sz="16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2pPr>
            <a:lvl3pPr marL="11417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3pPr>
            <a:lvl4pPr marL="15989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61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70C0"/>
                </a:solidFill>
              </a:rPr>
              <a:t>输出结果：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</a:t>
            </a:r>
            <a:r>
              <a:rPr lang="zh-CN" altLang="en-US" noProof="1"/>
              <a:t>四</a:t>
            </a:r>
            <a:r>
              <a:rPr lang="zh-CN" altLang="en-US" strike="noStrike" noProof="1"/>
              <a:t>课时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验证码案例</a:t>
            </a:r>
          </a:p>
        </p:txBody>
      </p:sp>
    </p:spTree>
  </p:cSld>
  <p:clrMapOvr>
    <a:masterClrMapping/>
  </p:clrMapOvr>
  <p:transition spd="slow" advTm="964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单元总结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39552" y="1275606"/>
            <a:ext cx="5616624" cy="3096344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什么是验证码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验证码的作用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替换的功能的方法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zh-CN" dirty="0">
                <a:solidFill>
                  <a:schemeClr val="tx1"/>
                </a:solidFill>
              </a:rPr>
              <a:t>实现统计字符串</a:t>
            </a:r>
            <a:r>
              <a:rPr lang="zh-CN" altLang="en-US" dirty="0">
                <a:solidFill>
                  <a:schemeClr val="tx1"/>
                </a:solidFill>
              </a:rPr>
              <a:t>中</a:t>
            </a:r>
            <a:r>
              <a:rPr lang="zh-CN" altLang="zh-CN" dirty="0">
                <a:solidFill>
                  <a:schemeClr val="tx1"/>
                </a:solidFill>
              </a:rPr>
              <a:t>单词个数用到的方法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如何判断字符串是否为纯英文或是数字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如何判断字符串是否全部为大写或是小写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如何查找某一字符串在另一字符串中的位置</a:t>
            </a:r>
            <a:endParaRPr lang="zh-CN" altLang="zh-CN" dirty="0">
              <a:solidFill>
                <a:schemeClr val="tx1"/>
              </a:solidFill>
            </a:endParaRPr>
          </a:p>
          <a:p>
            <a:pPr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概念图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309563"/>
            <a:ext cx="8761413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dirty="0">
                <a:latin typeface="+mn-ea"/>
                <a:ea typeface="+mn-ea"/>
              </a:rPr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课后作业</a:t>
            </a:r>
            <a:endParaRPr lang="en-US" dirty="0"/>
          </a:p>
          <a:p>
            <a:pPr lvl="1">
              <a:defRPr/>
            </a:pPr>
            <a:r>
              <a:rPr lang="zh-CN" dirty="0"/>
              <a:t>完成</a:t>
            </a:r>
            <a:r>
              <a:rPr lang="zh-CN" altLang="en-US" dirty="0"/>
              <a:t>练习手册</a:t>
            </a:r>
            <a:r>
              <a:rPr lang="zh-CN" dirty="0"/>
              <a:t>中简答题和编程题</a:t>
            </a:r>
          </a:p>
          <a:p>
            <a:pPr>
              <a:defRPr/>
            </a:pPr>
            <a:r>
              <a:rPr lang="zh-CN" altLang="en-US" dirty="0"/>
              <a:t>复习指引</a:t>
            </a:r>
          </a:p>
          <a:p>
            <a:pPr lvl="1"/>
            <a:r>
              <a:rPr lang="zh-CN" altLang="en-US" dirty="0"/>
              <a:t>复习字符串的方法</a:t>
            </a:r>
          </a:p>
          <a:p>
            <a:pPr lvl="1"/>
            <a:r>
              <a:rPr lang="zh-CN" altLang="en-US" dirty="0"/>
              <a:t>复习验证码的生成</a:t>
            </a:r>
            <a:endParaRPr lang="en-US" altLang="zh-CN" dirty="0"/>
          </a:p>
          <a:p>
            <a:pPr lvl="1"/>
            <a:r>
              <a:rPr lang="zh-CN" altLang="en-US" dirty="0"/>
              <a:t>复习注册登录功能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预习作业</a:t>
            </a:r>
          </a:p>
          <a:p>
            <a:pPr lvl="1">
              <a:defRPr/>
            </a:pPr>
            <a:r>
              <a:rPr lang="zh-CN" altLang="en-US" dirty="0"/>
              <a:t>什么是列表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列表的特征是什么？</a:t>
            </a:r>
          </a:p>
          <a:p>
            <a:pPr lvl="1">
              <a:defRPr/>
            </a:pPr>
            <a:r>
              <a:rPr lang="zh-CN" altLang="en-US" dirty="0"/>
              <a:t>列表有哪些操作？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>
                <a:latin typeface="+mn-ea"/>
                <a:ea typeface="+mn-ea"/>
              </a:rPr>
              <a:t>31</a:t>
            </a:fld>
            <a:r>
              <a:rPr lang="en-US" altLang="zh-CN" sz="180" dirty="0">
                <a:latin typeface="+mn-ea"/>
                <a:ea typeface="+mn-ea"/>
              </a:rPr>
              <a:t>/47</a:t>
            </a:r>
            <a:endParaRPr lang="zh-CN" altLang="en-US" sz="18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9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9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9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</a:p>
        </p:txBody>
      </p:sp>
      <p:pic>
        <p:nvPicPr>
          <p:cNvPr id="67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2444</Words>
  <Application>Microsoft Office PowerPoint</Application>
  <PresentationFormat>全屏显示(16:9)</PresentationFormat>
  <Paragraphs>223</Paragraphs>
  <Slides>32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Browallia New</vt:lpstr>
      <vt:lpstr>黑体</vt:lpstr>
      <vt:lpstr>宋体</vt:lpstr>
      <vt:lpstr>微软雅黑</vt:lpstr>
      <vt:lpstr>Arial</vt:lpstr>
      <vt:lpstr>Calibri</vt:lpstr>
      <vt:lpstr>Impact</vt:lpstr>
      <vt:lpstr>Tahoma</vt:lpstr>
      <vt:lpstr>Times New Roman</vt:lpstr>
      <vt:lpstr>Wingdings</vt:lpstr>
      <vt:lpstr>Office 主题</vt:lpstr>
      <vt:lpstr>第六单元</vt:lpstr>
      <vt:lpstr>第一课时</vt:lpstr>
      <vt:lpstr>知识回顾</vt:lpstr>
      <vt:lpstr>知识目标</vt:lpstr>
      <vt:lpstr>为什么使用验证码</vt:lpstr>
      <vt:lpstr>为什么使用验证码</vt:lpstr>
      <vt:lpstr>什么是验证码</vt:lpstr>
      <vt:lpstr>验证码的作用</vt:lpstr>
      <vt:lpstr>课堂编程</vt:lpstr>
      <vt:lpstr>验证码的应用</vt:lpstr>
      <vt:lpstr>第二课时</vt:lpstr>
      <vt:lpstr>random模块</vt:lpstr>
      <vt:lpstr>random模块</vt:lpstr>
      <vt:lpstr>random模块</vt:lpstr>
      <vt:lpstr>random模块</vt:lpstr>
      <vt:lpstr>random模块</vt:lpstr>
      <vt:lpstr>random模块</vt:lpstr>
      <vt:lpstr>random模块</vt:lpstr>
      <vt:lpstr>random模块</vt:lpstr>
      <vt:lpstr>课堂编程</vt:lpstr>
      <vt:lpstr>第三课时</vt:lpstr>
      <vt:lpstr>课堂编程</vt:lpstr>
      <vt:lpstr>验证码的应用</vt:lpstr>
      <vt:lpstr>string模块的的常量</vt:lpstr>
      <vt:lpstr>string模块中的常量</vt:lpstr>
      <vt:lpstr>验证码的应用</vt:lpstr>
      <vt:lpstr>验证码的应用</vt:lpstr>
      <vt:lpstr>第四课时</vt:lpstr>
      <vt:lpstr>单元总结</vt:lpstr>
      <vt:lpstr>概念图</vt:lpstr>
      <vt:lpstr>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ASUS</cp:lastModifiedBy>
  <cp:revision>2251</cp:revision>
  <dcterms:created xsi:type="dcterms:W3CDTF">2021-09-13T12:21:56Z</dcterms:created>
  <dcterms:modified xsi:type="dcterms:W3CDTF">2022-02-14T01:56:32Z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