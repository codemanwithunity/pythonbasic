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1140" r:id="rId2"/>
    <p:sldId id="1924" r:id="rId3"/>
    <p:sldId id="1244" r:id="rId4"/>
    <p:sldId id="1361" r:id="rId5"/>
    <p:sldId id="1991" r:id="rId6"/>
    <p:sldId id="2196" r:id="rId7"/>
    <p:sldId id="2197" r:id="rId8"/>
    <p:sldId id="1928" r:id="rId9"/>
    <p:sldId id="2469" r:id="rId10"/>
    <p:sldId id="2470" r:id="rId11"/>
    <p:sldId id="2471" r:id="rId12"/>
    <p:sldId id="2472" r:id="rId13"/>
    <p:sldId id="1252" r:id="rId14"/>
    <p:sldId id="2126" r:id="rId15"/>
    <p:sldId id="2127" r:id="rId16"/>
    <p:sldId id="2129" r:id="rId17"/>
    <p:sldId id="2130" r:id="rId18"/>
    <p:sldId id="2132" r:id="rId19"/>
    <p:sldId id="2402" r:id="rId20"/>
    <p:sldId id="2403" r:id="rId21"/>
    <p:sldId id="2405" r:id="rId22"/>
    <p:sldId id="2404" r:id="rId23"/>
    <p:sldId id="2128" r:id="rId24"/>
    <p:sldId id="1925" r:id="rId25"/>
    <p:sldId id="1650" r:id="rId26"/>
    <p:sldId id="1778" r:id="rId27"/>
    <p:sldId id="1651" r:id="rId28"/>
    <p:sldId id="2264" r:id="rId29"/>
    <p:sldId id="1652" r:id="rId30"/>
    <p:sldId id="1702" r:id="rId31"/>
    <p:sldId id="1703" r:id="rId32"/>
    <p:sldId id="1704" r:id="rId33"/>
    <p:sldId id="1845" r:id="rId34"/>
    <p:sldId id="1933" r:id="rId35"/>
    <p:sldId id="1532" r:id="rId36"/>
    <p:sldId id="1932" r:id="rId37"/>
    <p:sldId id="1994" r:id="rId38"/>
    <p:sldId id="1926" r:id="rId39"/>
    <p:sldId id="1882" r:id="rId40"/>
    <p:sldId id="1455" r:id="rId41"/>
    <p:sldId id="1706" r:id="rId42"/>
    <p:sldId id="1707" r:id="rId43"/>
    <p:sldId id="1708" r:id="rId44"/>
    <p:sldId id="1710" r:id="rId45"/>
    <p:sldId id="1711" r:id="rId46"/>
    <p:sldId id="1712" r:id="rId47"/>
    <p:sldId id="1713" r:id="rId48"/>
    <p:sldId id="1714" r:id="rId49"/>
    <p:sldId id="1715" r:id="rId50"/>
    <p:sldId id="1536" r:id="rId51"/>
    <p:sldId id="1718" r:id="rId52"/>
    <p:sldId id="1931" r:id="rId53"/>
    <p:sldId id="1927" r:id="rId54"/>
    <p:sldId id="1717" r:id="rId55"/>
    <p:sldId id="1930" r:id="rId56"/>
    <p:sldId id="1723" r:id="rId57"/>
    <p:sldId id="1722" r:id="rId58"/>
    <p:sldId id="1763" r:id="rId59"/>
    <p:sldId id="1762" r:id="rId60"/>
    <p:sldId id="1764" r:id="rId61"/>
    <p:sldId id="2462" r:id="rId62"/>
    <p:sldId id="2137" r:id="rId63"/>
    <p:sldId id="2199" r:id="rId64"/>
    <p:sldId id="2057" r:id="rId65"/>
    <p:sldId id="1772" r:id="rId66"/>
    <p:sldId id="1364" r:id="rId67"/>
    <p:sldId id="1267" r:id="rId68"/>
  </p:sldIdLst>
  <p:sldSz cx="9144000" cy="5143500" type="screen16x9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03">
          <p15:clr>
            <a:srgbClr val="A4A3A4"/>
          </p15:clr>
        </p15:guide>
        <p15:guide id="2" orient="horz" pos="2056">
          <p15:clr>
            <a:srgbClr val="A4A3A4"/>
          </p15:clr>
        </p15:guide>
        <p15:guide id="3" pos="29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495">
          <p15:clr>
            <a:srgbClr val="A4A3A4"/>
          </p15:clr>
        </p15:guide>
        <p15:guide id="2" pos="218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EDF5FD"/>
    <a:srgbClr val="E9E9E9"/>
    <a:srgbClr val="3F95D2"/>
    <a:srgbClr val="F0F0F0"/>
    <a:srgbClr val="F9F9F9"/>
    <a:srgbClr val="404A1A"/>
    <a:srgbClr val="00CC99"/>
    <a:srgbClr val="E2F5FE"/>
    <a:srgbClr val="E7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853" autoAdjust="0"/>
    <p:restoredTop sz="87656" autoAdjust="0"/>
  </p:normalViewPr>
  <p:slideViewPr>
    <p:cSldViewPr>
      <p:cViewPr varScale="1">
        <p:scale>
          <a:sx n="86" d="100"/>
          <a:sy n="86" d="100"/>
        </p:scale>
        <p:origin x="288" y="78"/>
      </p:cViewPr>
      <p:guideLst>
        <p:guide orient="horz" pos="1403"/>
        <p:guide orient="horz" pos="2056"/>
        <p:guide pos="291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78" y="-78"/>
      </p:cViewPr>
      <p:guideLst>
        <p:guide orient="horz" pos="2495"/>
        <p:guide pos="218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DB3C531B-D83C-493A-84AD-316F78881EC3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CB801823-96DB-4EC2-991A-2DEE593AD1D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切片</a:t>
            </a:r>
            <a:r>
              <a:rPr lang="en-US" altLang="zh-CN" dirty="0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讲师:本单元是对序列下列表的讲解，前几单元同学们已经了解到序列分为字符串，列表，元组。</a:t>
            </a:r>
          </a:p>
          <a:p>
            <a:r>
              <a:rPr lang="zh-CN" altLang="en-US"/>
              <a:t>讲师:其中字符串在前几单元已经学过，今天学习的主要重点是列表，对于元组会在下面章节提到。</a:t>
            </a:r>
          </a:p>
          <a:p>
            <a:r>
              <a:rPr lang="zh-CN" altLang="en-US"/>
              <a:t>讲师:列表首先会给大家讲到四个特性分别为，有序，可变，异构，可嵌套。</a:t>
            </a:r>
          </a:p>
          <a:p>
            <a:r>
              <a:rPr lang="zh-CN" altLang="en-US"/>
              <a:t>讲师:同时，对于列表可以分为普通列表，嵌套列表。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讲师:既然刚才讲到了饭店内消费列表，现在问问同学，饭店菜品名称在python中如何存储的呢？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讲师:像这样，一个变量一个数据，这样太乱，看着也麻烦。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讲师:有同学肯定想存在一起不就行了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讲师:这样更乱，而且字符串有个特性就是不可修改，如果现在删除一个菜，根本不容易删除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讲师:所以说这两种都不行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讲师:聪明的同学会想起C语言中的数组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讲师:把菜名存在一个数组，把价格存在一个数组，但是也有一个问题？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讲师:如果这样存，菜名和价格没有对应关系，最好的表现形式是下面这中情况，把字符串形式的菜名和数值型的价格放在一起。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讲师:C语言因为存储只能是一种数据类型，这种形式肯定不行，但是Python可行。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就是今天要学习的序列的一种分类——列表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讲师:在python中列表是如何定义的？</a:t>
            </a:r>
          </a:p>
          <a:p>
            <a:pPr lvl="0"/>
            <a:r>
              <a:rPr lang="zh-CN" altLang="en-US" dirty="0"/>
              <a:t>讲师:首先看下列表的临近属，列表是属于有序的集合，因此临近的属是序列</a:t>
            </a:r>
          </a:p>
          <a:p>
            <a:pPr lvl="0"/>
            <a:r>
              <a:rPr lang="zh-CN" altLang="en-US" dirty="0"/>
              <a:t>讲师:对于同属的其他种而言，有前面讲到的字符串，还有后面要讲到的元组</a:t>
            </a:r>
          </a:p>
          <a:p>
            <a:pPr lvl="0"/>
            <a:r>
              <a:rPr lang="zh-CN" altLang="en-US" dirty="0"/>
              <a:t>讲师:其中列表与它们的区别主要是字符串只能存储字符类型，不能存储不同的数据类型。</a:t>
            </a:r>
          </a:p>
          <a:p>
            <a:pPr lvl="0"/>
            <a:r>
              <a:rPr lang="zh-CN" altLang="en-US" dirty="0"/>
              <a:t>讲师:与字符串和元组相比列表数据本身还是可以修改的</a:t>
            </a:r>
          </a:p>
          <a:p>
            <a:pPr lvl="0"/>
            <a:r>
              <a:rPr lang="zh-CN" altLang="en-US" dirty="0"/>
              <a:t>讲师:综上所述，列表是列表是一种可以存储不同数据类型，且数据可变的序列</a:t>
            </a:r>
          </a:p>
          <a:p>
            <a:pPr lvl="0"/>
            <a:r>
              <a:rPr lang="zh-CN" altLang="en-US" dirty="0"/>
              <a:t>讲师:同时列表也是有外延的，可以分为普通列表和嵌套列表。</a:t>
            </a: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t>8</a:t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讲师: 计算机中文件夹内的数据进行修改，但上一级文件夹名字还是原来的名字</a:t>
            </a:r>
          </a:p>
          <a:p>
            <a:r>
              <a:rPr lang="zh-CN" altLang="en-US" dirty="0"/>
              <a:t>讲师: 当把计算机中文件加看成一个列表，则可实现对当前列表进行修改</a:t>
            </a:r>
          </a:p>
          <a:p>
            <a:r>
              <a:rPr lang="zh-CN" altLang="en-US" dirty="0"/>
              <a:t>讲师: 因此列表第二个特性为可变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讲师: 计算机中文件夹有好几种类型文件</a:t>
            </a:r>
          </a:p>
          <a:p>
            <a:r>
              <a:rPr lang="zh-CN" altLang="en-US" dirty="0">
                <a:sym typeface="+mn-ea"/>
              </a:rPr>
              <a:t>讲师: 文件夹， 图片， doc文档 ...</a:t>
            </a:r>
          </a:p>
          <a:p>
            <a:r>
              <a:rPr lang="zh-CN" altLang="en-US" dirty="0">
                <a:sym typeface="+mn-ea"/>
              </a:rPr>
              <a:t>讲师: 当把计算机中文件加看成一个列表，则列表实现了存储不同类型数据</a:t>
            </a:r>
          </a:p>
          <a:p>
            <a:r>
              <a:rPr lang="zh-CN" altLang="en-US" dirty="0">
                <a:sym typeface="+mn-ea"/>
              </a:rPr>
              <a:t>讲师: 因此列表第三个特性为异构</a:t>
            </a:r>
          </a:p>
          <a:p>
            <a:r>
              <a:rPr lang="zh-CN" altLang="en-US" dirty="0">
                <a:sym typeface="+mn-ea"/>
              </a:rPr>
              <a:t>讲师: 再强调一点不同类型数据包括：数字、字符串、元组、列表、字典、类、对象。。。</a:t>
            </a:r>
          </a:p>
          <a:p>
            <a:r>
              <a:rPr lang="zh-CN" altLang="en-US" dirty="0">
                <a:sym typeface="+mn-ea"/>
              </a:rPr>
              <a:t>讲师: 后面这些类型会在后面章节介绍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讲师: 计算机中文件夹有好几种类型文件，如果文件也是文件夹，这就是嵌套</a:t>
            </a:r>
          </a:p>
          <a:p>
            <a:r>
              <a:rPr lang="zh-CN" altLang="en-US" dirty="0">
                <a:sym typeface="+mn-ea"/>
              </a:rPr>
              <a:t>讲师: 所以说如果列表内含有列表如下[ ['django01', 'django01'],  [mysql]]</a:t>
            </a:r>
          </a:p>
          <a:p>
            <a:r>
              <a:rPr lang="zh-CN" altLang="en-US" dirty="0">
                <a:sym typeface="+mn-ea"/>
              </a:rPr>
              <a:t>讲师: 则列表就实现了嵌套，</a:t>
            </a:r>
          </a:p>
          <a:p>
            <a:r>
              <a:rPr lang="zh-CN" altLang="en-US" dirty="0">
                <a:sym typeface="+mn-ea"/>
              </a:rPr>
              <a:t>讲师:因此列表第四个特征就是可嵌套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讲师:综上所述，python中的列表特征为有序、可变、可嵌套、异构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讲师:现在对列表已经有一个初步的了解，但是在Python中列表的格式还没有讲到</a:t>
            </a:r>
          </a:p>
          <a:p>
            <a:r>
              <a:rPr lang="zh-CN" altLang="en-US" dirty="0"/>
              <a:t>讲师:现在就开始学习如何使用Python中的列表</a:t>
            </a:r>
          </a:p>
          <a:p>
            <a:r>
              <a:rPr lang="zh-CN" altLang="en-US" dirty="0"/>
              <a:t>讲师:创建列表其实很简答，首先创建一个变量名，也可以叫列表名 然后用中括号把元素括起来</a:t>
            </a:r>
          </a:p>
          <a:p>
            <a:r>
              <a:rPr lang="zh-CN" altLang="en-US" dirty="0"/>
              <a:t>讲师:但是元素间用逗号隔开，然后赋值给刚才的列表名就行了。</a:t>
            </a:r>
          </a:p>
          <a:p>
            <a:r>
              <a:rPr lang="zh-CN" altLang="en-US" dirty="0"/>
              <a:t>讲师:举个例子</a:t>
            </a:r>
          </a:p>
          <a:p>
            <a:r>
              <a:rPr lang="zh-CN" altLang="en-US" dirty="0"/>
              <a:t>list1 = ['宫爆鸡丁', '小炒肉'，20，'bawei']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应用场景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、创建列表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、把非列表的数据转为列表数据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通过刚才的例子如果现在让同学们创建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0~66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之间所有偶数？</a:t>
            </a:r>
          </a:p>
          <a:p>
            <a:r>
              <a:rPr lang="zh-CN" altLang="en-US" dirty="0"/>
              <a:t>同学说一行代码实现，把所有的值打上就行，如果</a:t>
            </a:r>
            <a:r>
              <a:rPr lang="en-US" altLang="zh-CN" dirty="0"/>
              <a:t>0~10000</a:t>
            </a:r>
            <a:r>
              <a:rPr lang="zh-CN" altLang="en-US" dirty="0"/>
              <a:t>之间所有偶数，你给我打打</a:t>
            </a:r>
          </a:p>
          <a:p>
            <a:r>
              <a:rPr lang="zh-CN" altLang="en-US" dirty="0"/>
              <a:t>其实前面说过一种循环结构就可以解决问题</a:t>
            </a:r>
            <a:endParaRPr lang="en-US" altLang="zh-CN" dirty="0"/>
          </a:p>
          <a:p>
            <a:r>
              <a:rPr lang="zh-CN" altLang="en-US" dirty="0"/>
              <a:t>如下面代码</a:t>
            </a:r>
          </a:p>
          <a:p>
            <a:r>
              <a:rPr lang="zh-CN" altLang="en-US" dirty="0"/>
              <a:t>第一种太麻烦，第二种有些麻烦</a:t>
            </a:r>
          </a:p>
          <a:p>
            <a:r>
              <a:rPr lang="zh-CN" altLang="en-US" dirty="0"/>
              <a:t>有没有可以结合下使用的？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讲师:通过刚才的练习，下面总结下创建列表注意事项</a:t>
            </a:r>
          </a:p>
          <a:p>
            <a:r>
              <a:rPr lang="zh-CN" altLang="en-US" dirty="0"/>
              <a:t>讲师:1、中括号</a:t>
            </a:r>
          </a:p>
          <a:p>
            <a:r>
              <a:rPr lang="zh-CN" altLang="en-US" dirty="0"/>
              <a:t>讲师:2、元素之间用逗号隔开</a:t>
            </a:r>
          </a:p>
          <a:p>
            <a:r>
              <a:rPr lang="zh-CN" altLang="en-US" dirty="0"/>
              <a:t>讲师:3、最后元素没有逗号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讲师:我们先思考一下，如何在字符串中引用一个元素用？假设现在有一个str1 = ”HELLO”，如何获取其中的H，①请XX同学来回答一下。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学生:str1[1]。【参考回答】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讲师:非常棒！所以是字符串名【下标】②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讲师:大家还记得概念图么，在概念图中序列的分类包含字符串和列表对不对？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讲师:那字符串中的方法是否适用于列表呢？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这节课主要讲的是列表的创建修改和添加，是否还有别的操作，下面的课会继续讲解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548837-1076-4B3A-BF25-E9E04B1E5397}" type="slidenum">
              <a:rPr lang="zh-CN" altLang="en-US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id</a:t>
            </a:r>
            <a:r>
              <a:rPr lang="zh-CN" altLang="en-US" dirty="0"/>
              <a:t>函数用于获取一个变量的地址</a:t>
            </a:r>
          </a:p>
          <a:p>
            <a:r>
              <a:rPr lang="zh-CN" altLang="en-US" dirty="0"/>
              <a:t>通过获取这个变量的地址就可以判断是否是可变对象，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如果更改前后列表在内存中的地址不变则为可变对象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既然上面讲到了地址，现在深入进去看看到底发生了什么，首先等号前的为列表名，等号后的为列表的值</a:t>
            </a:r>
          </a:p>
          <a:p>
            <a:r>
              <a:rPr lang="zh-CN" altLang="en-US" dirty="0"/>
              <a:t>大家都知道数字和字符是不可变对象，因此在内存中一个数字或字符对应一个内存地址，如图所示，内存地址</a:t>
            </a:r>
            <a:r>
              <a:rPr lang="en-US" altLang="zh-CN" dirty="0"/>
              <a:t>200010</a:t>
            </a:r>
            <a:r>
              <a:rPr lang="zh-CN" altLang="en-US" dirty="0"/>
              <a:t>存储的值为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现在需要使用一个地址存储列表假设为</a:t>
            </a:r>
            <a:r>
              <a:rPr lang="en-US" altLang="zh-CN" dirty="0"/>
              <a:t>100030</a:t>
            </a:r>
            <a:r>
              <a:rPr lang="zh-CN" altLang="en-US" dirty="0"/>
              <a:t>，而列表的值为【</a:t>
            </a:r>
            <a:r>
              <a:rPr lang="en-US" altLang="zh-CN" dirty="0"/>
              <a:t>1</a:t>
            </a:r>
            <a:r>
              <a:rPr lang="zh-CN" altLang="en-US" dirty="0"/>
              <a:t>】，因此列表内含有</a:t>
            </a:r>
            <a:r>
              <a:rPr lang="en-US" altLang="zh-CN" dirty="0"/>
              <a:t>200010</a:t>
            </a:r>
            <a:r>
              <a:rPr lang="zh-CN" altLang="en-US" dirty="0"/>
              <a:t>地址指向的</a:t>
            </a:r>
            <a:r>
              <a:rPr lang="en-US" altLang="zh-CN" dirty="0"/>
              <a:t>1</a:t>
            </a:r>
            <a:r>
              <a:rPr lang="zh-CN" altLang="en-US" dirty="0"/>
              <a:t>，如果添加 字符</a:t>
            </a:r>
            <a:r>
              <a:rPr lang="en-US" altLang="zh-CN" dirty="0"/>
              <a:t>a,</a:t>
            </a:r>
            <a:r>
              <a:rPr lang="zh-CN" altLang="en-US" dirty="0"/>
              <a:t>列表内就会含有</a:t>
            </a:r>
            <a:r>
              <a:rPr lang="en-US" altLang="zh-CN" dirty="0"/>
              <a:t>300010</a:t>
            </a:r>
            <a:r>
              <a:rPr lang="zh-CN" altLang="en-US" dirty="0"/>
              <a:t>地址指向的</a:t>
            </a:r>
            <a:r>
              <a:rPr lang="en-US" altLang="zh-CN" dirty="0"/>
              <a:t>a,</a:t>
            </a:r>
            <a:r>
              <a:rPr lang="zh-CN" altLang="en-US" dirty="0"/>
              <a:t>而在增加字符</a:t>
            </a:r>
            <a:r>
              <a:rPr lang="en-US" altLang="zh-CN" dirty="0"/>
              <a:t>a</a:t>
            </a:r>
            <a:r>
              <a:rPr lang="zh-CN" altLang="en-US" dirty="0"/>
              <a:t>前后，列表的地址都没有发生变化，因此证明列表的确是可变数据类型。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教学指导：</a:t>
            </a:r>
            <a:endParaRPr lang="en-US" altLang="zh-CN"/>
          </a:p>
          <a:p>
            <a:r>
              <a:rPr lang="en-US" altLang="zh-CN"/>
              <a:t>xxxxxxx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548837-1076-4B3A-BF25-E9E04B1E5397}" type="slidenum">
              <a:rPr lang="zh-CN" altLang="en-US" smtClean="0"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教学指导：</a:t>
            </a:r>
            <a:endParaRPr lang="en-US" altLang="zh-CN"/>
          </a:p>
          <a:p>
            <a:r>
              <a:rPr lang="en-US" altLang="zh-CN"/>
              <a:t>xxxxxxx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548837-1076-4B3A-BF25-E9E04B1E5397}" type="slidenum">
              <a:rPr lang="zh-CN" altLang="en-US" smtClean="0"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50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淘宝是作为购物网站大家一定很熟悉，在买东西的时候，都喜欢点击销量、信用、价格，</a:t>
            </a:r>
          </a:p>
          <a:p>
            <a:r>
              <a:rPr lang="zh-CN" altLang="en-US" dirty="0"/>
              <a:t>这是做什么？（排序）</a:t>
            </a:r>
          </a:p>
          <a:p>
            <a:r>
              <a:rPr lang="zh-CN" altLang="en-US" dirty="0"/>
              <a:t>很好，但你们不好奇后台是如何做的么？</a:t>
            </a:r>
          </a:p>
          <a:p>
            <a:r>
              <a:rPr lang="zh-CN" altLang="en-US" dirty="0"/>
              <a:t>今天我们就来看看如何排序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t>55</a:t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63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64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教学指导：</a:t>
            </a:r>
            <a:endParaRPr lang="en-US" altLang="zh-CN"/>
          </a:p>
          <a:p>
            <a:pPr eaLnBrk="1" hangingPunct="1"/>
            <a:r>
              <a:rPr lang="zh-CN" altLang="en-US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/>
          </a:p>
          <a:p>
            <a:pPr eaLnBrk="1" hangingPunct="1"/>
            <a:r>
              <a:rPr lang="zh-CN" altLang="en-US"/>
              <a:t>不少于</a:t>
            </a:r>
            <a:r>
              <a:rPr lang="en-US" altLang="zh-CN"/>
              <a:t>4</a:t>
            </a:r>
            <a:r>
              <a:rPr lang="zh-CN" altLang="en-US"/>
              <a:t>道题，其中至少包含一道简述题，主要了解学员对重要知识点的理解程度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  <a:t>66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57688" y="214297"/>
            <a:ext cx="4606927" cy="392415"/>
          </a:xfrm>
          <a:solidFill>
            <a:schemeClr val="bg1"/>
          </a:solidFill>
        </p:spPr>
        <p:txBody>
          <a:bodyPr>
            <a:spAutoFit/>
          </a:bodyPr>
          <a:lstStyle>
            <a:lvl1pPr>
              <a:defRPr sz="28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4254" y="910817"/>
            <a:ext cx="7645398" cy="3857652"/>
          </a:xfrm>
        </p:spPr>
        <p:txBody>
          <a:bodyPr/>
          <a:lstStyle>
            <a:lvl1pPr>
              <a:buSzPct val="100000"/>
              <a:buFont typeface="Wingdings" panose="05000000000000000000" pitchFamily="2" charset="2"/>
              <a:buChar char="n"/>
              <a:defRPr b="1">
                <a:latin typeface="+mn-lt"/>
              </a:defRPr>
            </a:lvl1pPr>
            <a:lvl2pPr>
              <a:buSzPct val="100000"/>
              <a:buFont typeface="Wingdings" panose="05000000000000000000" pitchFamily="2" charset="2"/>
              <a:buChar char="u"/>
              <a:defRPr b="1">
                <a:latin typeface="+mn-lt"/>
              </a:defRPr>
            </a:lvl2pPr>
            <a:lvl3pPr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b="1">
                <a:latin typeface="+mn-lt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938963" y="4816080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35F12-52FC-45A8-B539-88DCF394FD7F}" type="slidenum">
              <a:rPr lang="zh-CN" altLang="en-US" smtClean="0"/>
              <a:t>‹#›</a:t>
            </a:fld>
            <a:r>
              <a:rPr lang="en-US" altLang="zh-CN" dirty="0"/>
              <a:t>/48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8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4"/>
          <p:cNvSpPr>
            <a:spLocks noChangeShapeType="1"/>
          </p:cNvSpPr>
          <p:nvPr userDrawn="1"/>
        </p:nvSpPr>
        <p:spPr bwMode="auto">
          <a:xfrm>
            <a:off x="1671638" y="951313"/>
            <a:ext cx="0" cy="419219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95263"/>
            <a:ext cx="8229600" cy="5941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059657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75213" y="1059657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55650" y="4786313"/>
            <a:ext cx="2133600" cy="1619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8"/>
          </a:xfrm>
        </p:spPr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B241C3-5186-4186-B816-417DFF777CEE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2/14/2022</a:t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8"/>
          </a:xfr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4213" y="195263"/>
            <a:ext cx="8229600" cy="5941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4213" y="1059656"/>
            <a:ext cx="4038600" cy="16394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75213" y="1059656"/>
            <a:ext cx="4038600" cy="16394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4213" y="2813448"/>
            <a:ext cx="4038600" cy="1640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75213" y="2813448"/>
            <a:ext cx="4038600" cy="1640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 bwMode="auto">
          <a:xfrm>
            <a:off x="755650" y="4786313"/>
            <a:ext cx="2133600" cy="1619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>
          <a:xfrm>
            <a:off x="457200" y="4767263"/>
            <a:ext cx="2133600" cy="274638"/>
          </a:xfrm>
        </p:spPr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B241C3-5186-4186-B816-417DFF777CEE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2/14/2022</a:t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6"/>
          </p:nvPr>
        </p:nvSpPr>
        <p:spPr>
          <a:xfrm>
            <a:off x="3124200" y="4767263"/>
            <a:ext cx="2895600" cy="274638"/>
          </a:xfr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391033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23" name="图片 6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98" y="3056791"/>
            <a:ext cx="9155113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 4"/>
          <p:cNvSpPr>
            <a:spLocks noChangeArrowheads="1"/>
          </p:cNvSpPr>
          <p:nvPr userDrawn="1"/>
        </p:nvSpPr>
        <p:spPr bwMode="auto">
          <a:xfrm>
            <a:off x="2442815" y="3962401"/>
            <a:ext cx="4289425" cy="359569"/>
          </a:xfrm>
          <a:prstGeom prst="roundRect">
            <a:avLst>
              <a:gd name="adj" fmla="val 7292"/>
            </a:avLst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843558"/>
            <a:ext cx="8352928" cy="3600400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5306" tIns="32653" rIns="65306" bIns="32653"/>
          <a:lstStyle/>
          <a:p>
            <a:fld id="{DC92ECF9-1C64-45C7-A351-5C2B04CB53AB}" type="datetimeFigureOut">
              <a:rPr lang="zh-CN" altLang="en-US" smtClean="0"/>
              <a:t>2022/2/14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1" y="4767264"/>
            <a:ext cx="2895600" cy="273844"/>
          </a:xfrm>
          <a:prstGeom prst="rect">
            <a:avLst/>
          </a:prstGeom>
        </p:spPr>
        <p:txBody>
          <a:bodyPr lIns="65306" tIns="32653" rIns="65306" bIns="32653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5306" tIns="32653" rIns="65306" bIns="32653"/>
          <a:lstStyle/>
          <a:p>
            <a:fld id="{EE00B7EE-1E89-4FFA-B365-5BB8C64452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843558"/>
            <a:ext cx="8352928" cy="3600400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7"/>
          <p:cNvSpPr>
            <a:spLocks noChangeArrowheads="1"/>
          </p:cNvSpPr>
          <p:nvPr userDrawn="1"/>
        </p:nvSpPr>
        <p:spPr bwMode="auto">
          <a:xfrm>
            <a:off x="8623697" y="4693446"/>
            <a:ext cx="52268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>
            <a:spLocks noChangeArrowheads="1"/>
          </p:cNvSpPr>
          <p:nvPr userDrawn="1"/>
        </p:nvSpPr>
        <p:spPr bwMode="auto">
          <a:xfrm flipV="1">
            <a:off x="3" y="573529"/>
            <a:ext cx="9146381" cy="41126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>
            <a:spLocks noChangeArrowheads="1"/>
          </p:cNvSpPr>
          <p:nvPr userDrawn="1"/>
        </p:nvSpPr>
        <p:spPr bwMode="auto">
          <a:xfrm>
            <a:off x="8792769" y="4731544"/>
            <a:ext cx="4716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0D41CE8-2465-49E5-8469-C528E9CDFDF7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‹#›</a:t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0" name="直接连接符 2"/>
          <p:cNvSpPr>
            <a:spLocks noChangeShapeType="1"/>
          </p:cNvSpPr>
          <p:nvPr userDrawn="1"/>
        </p:nvSpPr>
        <p:spPr bwMode="auto">
          <a:xfrm flipH="1">
            <a:off x="2121864" y="3"/>
            <a:ext cx="1864" cy="536711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3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0113"/>
            <a:ext cx="2123728" cy="406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push/>
  </p:transition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wmf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w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687507" y="1288134"/>
            <a:ext cx="7772400" cy="1102519"/>
          </a:xfrm>
        </p:spPr>
        <p:txBody>
          <a:bodyPr/>
          <a:lstStyle/>
          <a:p>
            <a:r>
              <a:rPr lang="zh-CN" altLang="en-US"/>
              <a:t>第七单元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列表</a:t>
            </a:r>
            <a:r>
              <a:rPr lang="en-US" altLang="zh-CN" dirty="0"/>
              <a:t>1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第一课时</a:t>
            </a: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列表的创建与特征</a:t>
            </a:r>
          </a:p>
        </p:txBody>
      </p:sp>
    </p:spTree>
  </p:cSld>
  <p:clrMapOvr>
    <a:masterClrMapping/>
  </p:clrMapOvr>
  <p:transition spd="slow" advTm="964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070" y="1664970"/>
            <a:ext cx="4396740" cy="332359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什么是序列？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什么是字符串？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如何创建一个字符串？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字符串常用方法有哪些？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162" y="732815"/>
            <a:ext cx="172819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现场提问</a:t>
            </a:r>
          </a:p>
        </p:txBody>
      </p:sp>
      <p:pic>
        <p:nvPicPr>
          <p:cNvPr id="10" name="图片 9" descr="现场提问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723157"/>
            <a:ext cx="405385" cy="408433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贯穿案例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需求说明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设计存球系统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思路分析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理清业务流程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循环输入红球号码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把红球号码存到列表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排序红球列表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7243" y="2038043"/>
            <a:ext cx="247650" cy="244475"/>
            <a:chOff x="6660232" y="1684535"/>
            <a:chExt cx="247650" cy="244475"/>
          </a:xfrm>
        </p:grpSpPr>
        <p:sp>
          <p:nvSpPr>
            <p:cNvPr id="6" name="Oval 70"/>
            <p:cNvSpPr>
              <a:spLocks noChangeArrowheads="1"/>
            </p:cNvSpPr>
            <p:nvPr/>
          </p:nvSpPr>
          <p:spPr bwMode="auto">
            <a:xfrm>
              <a:off x="6709445" y="1736923"/>
              <a:ext cx="146050" cy="146050"/>
            </a:xfrm>
            <a:prstGeom prst="ellipse">
              <a:avLst/>
            </a:pr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71"/>
            <p:cNvSpPr/>
            <p:nvPr/>
          </p:nvSpPr>
          <p:spPr bwMode="auto">
            <a:xfrm>
              <a:off x="6761832" y="1890910"/>
              <a:ext cx="47625" cy="15875"/>
            </a:xfrm>
            <a:custGeom>
              <a:avLst/>
              <a:gdLst>
                <a:gd name="T0" fmla="*/ 0 w 30"/>
                <a:gd name="T1" fmla="*/ 0 h 10"/>
                <a:gd name="T2" fmla="*/ 30 w 30"/>
                <a:gd name="T3" fmla="*/ 0 h 10"/>
                <a:gd name="T4" fmla="*/ 30 w 30"/>
                <a:gd name="T5" fmla="*/ 10 h 10"/>
                <a:gd name="T6" fmla="*/ 0 w 30"/>
                <a:gd name="T7" fmla="*/ 10 h 10"/>
                <a:gd name="T8" fmla="*/ 0 w 30"/>
                <a:gd name="T9" fmla="*/ 0 h 10"/>
                <a:gd name="T10" fmla="*/ 0 w 30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0">
                  <a:moveTo>
                    <a:pt x="0" y="0"/>
                  </a:moveTo>
                  <a:lnTo>
                    <a:pt x="30" y="0"/>
                  </a:lnTo>
                  <a:lnTo>
                    <a:pt x="30" y="1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72"/>
            <p:cNvSpPr/>
            <p:nvPr/>
          </p:nvSpPr>
          <p:spPr bwMode="auto">
            <a:xfrm>
              <a:off x="6772945" y="1909960"/>
              <a:ext cx="30163" cy="19050"/>
            </a:xfrm>
            <a:custGeom>
              <a:avLst/>
              <a:gdLst>
                <a:gd name="T0" fmla="*/ 0 w 19"/>
                <a:gd name="T1" fmla="*/ 0 h 12"/>
                <a:gd name="T2" fmla="*/ 19 w 19"/>
                <a:gd name="T3" fmla="*/ 0 h 12"/>
                <a:gd name="T4" fmla="*/ 19 w 19"/>
                <a:gd name="T5" fmla="*/ 12 h 12"/>
                <a:gd name="T6" fmla="*/ 0 w 19"/>
                <a:gd name="T7" fmla="*/ 12 h 12"/>
                <a:gd name="T8" fmla="*/ 0 w 19"/>
                <a:gd name="T9" fmla="*/ 0 h 12"/>
                <a:gd name="T10" fmla="*/ 0 w 19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2">
                  <a:moveTo>
                    <a:pt x="0" y="0"/>
                  </a:moveTo>
                  <a:lnTo>
                    <a:pt x="19" y="0"/>
                  </a:lnTo>
                  <a:lnTo>
                    <a:pt x="19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73"/>
            <p:cNvSpPr/>
            <p:nvPr/>
          </p:nvSpPr>
          <p:spPr bwMode="auto">
            <a:xfrm>
              <a:off x="6772945" y="1684535"/>
              <a:ext cx="22225" cy="38100"/>
            </a:xfrm>
            <a:custGeom>
              <a:avLst/>
              <a:gdLst>
                <a:gd name="T0" fmla="*/ 0 w 14"/>
                <a:gd name="T1" fmla="*/ 0 h 24"/>
                <a:gd name="T2" fmla="*/ 14 w 14"/>
                <a:gd name="T3" fmla="*/ 0 h 24"/>
                <a:gd name="T4" fmla="*/ 14 w 14"/>
                <a:gd name="T5" fmla="*/ 24 h 24"/>
                <a:gd name="T6" fmla="*/ 0 w 14"/>
                <a:gd name="T7" fmla="*/ 24 h 24"/>
                <a:gd name="T8" fmla="*/ 0 w 14"/>
                <a:gd name="T9" fmla="*/ 0 h 24"/>
                <a:gd name="T10" fmla="*/ 0 w 14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">
                  <a:moveTo>
                    <a:pt x="0" y="0"/>
                  </a:moveTo>
                  <a:lnTo>
                    <a:pt x="14" y="0"/>
                  </a:lnTo>
                  <a:lnTo>
                    <a:pt x="14" y="2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74"/>
            <p:cNvSpPr/>
            <p:nvPr/>
          </p:nvSpPr>
          <p:spPr bwMode="auto">
            <a:xfrm>
              <a:off x="6866607" y="1778198"/>
              <a:ext cx="41275" cy="22225"/>
            </a:xfrm>
            <a:custGeom>
              <a:avLst/>
              <a:gdLst>
                <a:gd name="T0" fmla="*/ 0 w 26"/>
                <a:gd name="T1" fmla="*/ 0 h 14"/>
                <a:gd name="T2" fmla="*/ 26 w 26"/>
                <a:gd name="T3" fmla="*/ 0 h 14"/>
                <a:gd name="T4" fmla="*/ 26 w 26"/>
                <a:gd name="T5" fmla="*/ 14 h 14"/>
                <a:gd name="T6" fmla="*/ 0 w 26"/>
                <a:gd name="T7" fmla="*/ 14 h 14"/>
                <a:gd name="T8" fmla="*/ 0 w 26"/>
                <a:gd name="T9" fmla="*/ 0 h 14"/>
                <a:gd name="T10" fmla="*/ 0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0" y="0"/>
                  </a:moveTo>
                  <a:lnTo>
                    <a:pt x="26" y="0"/>
                  </a:lnTo>
                  <a:lnTo>
                    <a:pt x="2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75"/>
            <p:cNvSpPr/>
            <p:nvPr/>
          </p:nvSpPr>
          <p:spPr bwMode="auto">
            <a:xfrm>
              <a:off x="6660232" y="1778198"/>
              <a:ext cx="38100" cy="22225"/>
            </a:xfrm>
            <a:custGeom>
              <a:avLst/>
              <a:gdLst>
                <a:gd name="T0" fmla="*/ 0 w 24"/>
                <a:gd name="T1" fmla="*/ 0 h 14"/>
                <a:gd name="T2" fmla="*/ 24 w 24"/>
                <a:gd name="T3" fmla="*/ 0 h 14"/>
                <a:gd name="T4" fmla="*/ 24 w 24"/>
                <a:gd name="T5" fmla="*/ 14 h 14"/>
                <a:gd name="T6" fmla="*/ 0 w 24"/>
                <a:gd name="T7" fmla="*/ 14 h 14"/>
                <a:gd name="T8" fmla="*/ 0 w 24"/>
                <a:gd name="T9" fmla="*/ 0 h 14"/>
                <a:gd name="T10" fmla="*/ 0 w 24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4">
                  <a:moveTo>
                    <a:pt x="0" y="0"/>
                  </a:moveTo>
                  <a:lnTo>
                    <a:pt x="24" y="0"/>
                  </a:lnTo>
                  <a:lnTo>
                    <a:pt x="24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76"/>
            <p:cNvSpPr/>
            <p:nvPr/>
          </p:nvSpPr>
          <p:spPr bwMode="auto">
            <a:xfrm>
              <a:off x="6701507" y="1717873"/>
              <a:ext cx="33338" cy="34925"/>
            </a:xfrm>
            <a:custGeom>
              <a:avLst/>
              <a:gdLst>
                <a:gd name="T0" fmla="*/ 0 w 21"/>
                <a:gd name="T1" fmla="*/ 12 h 22"/>
                <a:gd name="T2" fmla="*/ 12 w 21"/>
                <a:gd name="T3" fmla="*/ 0 h 22"/>
                <a:gd name="T4" fmla="*/ 21 w 21"/>
                <a:gd name="T5" fmla="*/ 12 h 22"/>
                <a:gd name="T6" fmla="*/ 12 w 21"/>
                <a:gd name="T7" fmla="*/ 22 h 22"/>
                <a:gd name="T8" fmla="*/ 0 w 21"/>
                <a:gd name="T9" fmla="*/ 12 h 22"/>
                <a:gd name="T10" fmla="*/ 0 w 21"/>
                <a:gd name="T11" fmla="*/ 12 h 22"/>
                <a:gd name="T12" fmla="*/ 0 w 21"/>
                <a:gd name="T13" fmla="*/ 1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2">
                  <a:moveTo>
                    <a:pt x="0" y="12"/>
                  </a:moveTo>
                  <a:lnTo>
                    <a:pt x="12" y="0"/>
                  </a:lnTo>
                  <a:lnTo>
                    <a:pt x="21" y="12"/>
                  </a:lnTo>
                  <a:lnTo>
                    <a:pt x="12" y="2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77"/>
            <p:cNvSpPr/>
            <p:nvPr/>
          </p:nvSpPr>
          <p:spPr bwMode="auto">
            <a:xfrm>
              <a:off x="6833270" y="1722635"/>
              <a:ext cx="33338" cy="30163"/>
            </a:xfrm>
            <a:custGeom>
              <a:avLst/>
              <a:gdLst>
                <a:gd name="T0" fmla="*/ 11 w 21"/>
                <a:gd name="T1" fmla="*/ 0 h 19"/>
                <a:gd name="T2" fmla="*/ 21 w 21"/>
                <a:gd name="T3" fmla="*/ 9 h 19"/>
                <a:gd name="T4" fmla="*/ 11 w 21"/>
                <a:gd name="T5" fmla="*/ 19 h 19"/>
                <a:gd name="T6" fmla="*/ 0 w 21"/>
                <a:gd name="T7" fmla="*/ 9 h 19"/>
                <a:gd name="T8" fmla="*/ 11 w 21"/>
                <a:gd name="T9" fmla="*/ 0 h 19"/>
                <a:gd name="T10" fmla="*/ 11 w 21"/>
                <a:gd name="T11" fmla="*/ 0 h 19"/>
                <a:gd name="T12" fmla="*/ 11 w 21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9">
                  <a:moveTo>
                    <a:pt x="11" y="0"/>
                  </a:moveTo>
                  <a:lnTo>
                    <a:pt x="21" y="9"/>
                  </a:lnTo>
                  <a:lnTo>
                    <a:pt x="11" y="1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t="945"/>
          <a:stretch>
            <a:fillRect/>
          </a:stretch>
        </p:blipFill>
        <p:spPr>
          <a:xfrm>
            <a:off x="4182110" y="100965"/>
            <a:ext cx="2795905" cy="49904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t="2727"/>
          <a:stretch>
            <a:fillRect/>
          </a:stretch>
        </p:blipFill>
        <p:spPr>
          <a:xfrm>
            <a:off x="3748405" y="1323340"/>
            <a:ext cx="3664585" cy="27178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知识目标</a:t>
            </a:r>
          </a:p>
        </p:txBody>
      </p:sp>
      <p:pic>
        <p:nvPicPr>
          <p:cNvPr id="3" name="图片 2" descr="第五单元 序列之列表 概念图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1160" y="694690"/>
            <a:ext cx="7886700" cy="437197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为什么使用列表</a:t>
            </a:r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855345" y="773430"/>
            <a:ext cx="7494905" cy="401950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0" indent="0" algn="l">
              <a:buFont typeface="+mj-lt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饭店菜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名称和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价格在python中如何存储的呢？</a:t>
            </a:r>
          </a:p>
        </p:txBody>
      </p:sp>
      <p:sp>
        <p:nvSpPr>
          <p:cNvPr id="14" name="AutoShape 15"/>
          <p:cNvSpPr>
            <a:spLocks noChangeArrowheads="1"/>
          </p:cNvSpPr>
          <p:nvPr/>
        </p:nvSpPr>
        <p:spPr bwMode="auto">
          <a:xfrm>
            <a:off x="927100" y="1356995"/>
            <a:ext cx="3167380" cy="288406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0" indent="0" algn="l">
              <a:buFont typeface="+mj-lt"/>
              <a:buNone/>
            </a:pP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menu1 = 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宫爆鸡丁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</a:t>
            </a:r>
          </a:p>
          <a:p>
            <a:pPr marL="0" indent="0" algn="l">
              <a:buFont typeface="+mj-lt"/>
              <a:buNone/>
            </a:pP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price1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= 20</a:t>
            </a:r>
            <a:endParaRPr lang="en-US" altLang="zh-CN" sz="1800" dirty="0" err="1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menu2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= 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红烧肉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</a:t>
            </a:r>
          </a:p>
          <a:p>
            <a:pPr marL="0" indent="0" algn="l">
              <a:buFont typeface="+mj-lt"/>
              <a:buNone/>
            </a:pP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price2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= 15</a:t>
            </a:r>
            <a:endParaRPr lang="en-US" altLang="zh-CN" sz="1800" dirty="0" err="1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menu3 = 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</a:t>
            </a:r>
            <a:r>
              <a:rPr lang="zh-CN" altLang="en-US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鱼香肉丝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</a:t>
            </a:r>
          </a:p>
          <a:p>
            <a:pPr marL="0" indent="0" algn="l">
              <a:buFont typeface="+mj-lt"/>
              <a:buNone/>
            </a:pP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price3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= 25</a:t>
            </a:r>
          </a:p>
          <a:p>
            <a:pPr marL="0" indent="0" algn="l">
              <a:buFont typeface="+mj-lt"/>
              <a:buNone/>
            </a:pP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menu4 = '</a:t>
            </a:r>
            <a:r>
              <a:rPr lang="zh-CN" altLang="en-US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水煮鱼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</a:t>
            </a:r>
            <a:endParaRPr lang="en-US" altLang="zh-CN" sz="180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price4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= 20</a:t>
            </a:r>
          </a:p>
          <a:p>
            <a:pPr marL="0" indent="0" algn="l">
              <a:buFont typeface="+mj-lt"/>
              <a:buNone/>
            </a:pP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menu5 = '炝冬笋'</a:t>
            </a:r>
          </a:p>
          <a:p>
            <a:pPr marL="0" indent="0" algn="l">
              <a:buFont typeface="+mj-lt"/>
              <a:buNone/>
            </a:pPr>
            <a:r>
              <a:rPr lang="zh-CN" altLang="en-US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。。。</a:t>
            </a: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4314825" y="3039745"/>
            <a:ext cx="4324350" cy="1208432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0" indent="0" algn="l">
              <a:buFont typeface="+mj-lt"/>
              <a:buNone/>
            </a:pP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menu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= 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宫爆鸡丁，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20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 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红烧肉，</a:t>
            </a:r>
            <a:r>
              <a:rPr lang="zh-CN" altLang="en-US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鱼香肉丝，水煮鱼，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15</a:t>
            </a:r>
            <a:r>
              <a:rPr lang="zh-CN" altLang="en-US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 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25</a:t>
            </a:r>
            <a:r>
              <a:rPr lang="zh-CN" altLang="en-US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 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20, 龙须菜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炝冬笋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玉兰片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浇鸳鸯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烧鱼头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烧槟子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烧百合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炸豆腐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炸面筋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糖熘儿'</a:t>
            </a:r>
          </a:p>
        </p:txBody>
      </p:sp>
      <p:sp>
        <p:nvSpPr>
          <p:cNvPr id="7" name="矩形标注 6"/>
          <p:cNvSpPr/>
          <p:nvPr/>
        </p:nvSpPr>
        <p:spPr>
          <a:xfrm>
            <a:off x="4314825" y="4570095"/>
            <a:ext cx="4324985" cy="337820"/>
          </a:xfrm>
          <a:prstGeom prst="wedgeRectCallout">
            <a:avLst>
              <a:gd name="adj1" fmla="val -22544"/>
              <a:gd name="adj2" fmla="val -14661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indent="0" algn="ctr">
              <a:buFont typeface="+mj-lt"/>
              <a:buNone/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存储在一个字符串中太乱，不易查询、修改</a:t>
            </a:r>
          </a:p>
        </p:txBody>
      </p:sp>
      <p:sp>
        <p:nvSpPr>
          <p:cNvPr id="5" name="矩形标注 4"/>
          <p:cNvSpPr/>
          <p:nvPr/>
        </p:nvSpPr>
        <p:spPr>
          <a:xfrm>
            <a:off x="927100" y="4570095"/>
            <a:ext cx="2605405" cy="361315"/>
          </a:xfrm>
          <a:prstGeom prst="wedgeRectCallout">
            <a:avLst>
              <a:gd name="adj1" fmla="val -21971"/>
              <a:gd name="adj2" fmla="val -1442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indent="0" algn="ctr">
              <a:buFont typeface="+mj-lt"/>
              <a:buNone/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使用多个变量存储太繁琐</a:t>
            </a:r>
          </a:p>
        </p:txBody>
      </p:sp>
      <p:sp>
        <p:nvSpPr>
          <p:cNvPr id="252" name=" 252"/>
          <p:cNvSpPr/>
          <p:nvPr/>
        </p:nvSpPr>
        <p:spPr>
          <a:xfrm rot="18900000">
            <a:off x="2059305" y="513080"/>
            <a:ext cx="4241800" cy="4119245"/>
          </a:xfrm>
          <a:prstGeom prst="mathPlus">
            <a:avLst>
              <a:gd name="adj1" fmla="val 922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4" grpId="0" bldLvl="0" animBg="1"/>
      <p:bldP spid="3" grpId="0" bldLvl="0" animBg="1"/>
      <p:bldP spid="7" grpId="0" bldLvl="0" animBg="1"/>
      <p:bldP spid="5" grpId="0" bldLvl="0" animBg="1"/>
      <p:bldP spid="25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为什么使用列表</a:t>
            </a:r>
          </a:p>
        </p:txBody>
      </p:sp>
      <p:sp>
        <p:nvSpPr>
          <p:cNvPr id="11" name="AutoShape 15"/>
          <p:cNvSpPr>
            <a:spLocks noChangeArrowheads="1"/>
          </p:cNvSpPr>
          <p:nvPr/>
        </p:nvSpPr>
        <p:spPr bwMode="auto">
          <a:xfrm>
            <a:off x="929005" y="1259205"/>
            <a:ext cx="7427595" cy="65029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0" indent="0" algn="l">
              <a:buFont typeface="+mj-lt"/>
              <a:buNone/>
            </a:pPr>
            <a:r>
              <a:rPr lang="zh-CN" altLang="en-US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char* menus[ ] = {</a:t>
            </a:r>
            <a:r>
              <a:rPr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"宫爆鸡丁", "红烧肉","鱼香肉丝","水煮鱼"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};</a:t>
            </a:r>
            <a:endParaRPr lang="en-US" altLang="zh-CN" sz="180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0" indent="0" algn="l">
              <a:buFont typeface="+mj-lt"/>
              <a:buNone/>
            </a:pPr>
            <a:r>
              <a:rPr lang="zh-CN" altLang="en-US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int  prices[4] = {20,15,25,20};</a:t>
            </a:r>
            <a:endParaRPr lang="zh-CN" altLang="en-US" sz="180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929005" y="2975610"/>
            <a:ext cx="2938145" cy="1208422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0" indent="0" algn="l">
              <a:buFont typeface="+mj-lt"/>
              <a:buNone/>
            </a:pPr>
            <a:r>
              <a:rPr lang="zh-CN" altLang="en-US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[ 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[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宫爆鸡丁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', 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20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]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,</a:t>
            </a:r>
          </a:p>
          <a:p>
            <a:pPr marL="0" indent="0" algn="l">
              <a:buFont typeface="+mj-lt"/>
              <a:buNone/>
            </a:pP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  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[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</a:t>
            </a:r>
            <a:r>
              <a:rPr lang="zh-CN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红烧肉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',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 15], </a:t>
            </a:r>
          </a:p>
          <a:p>
            <a:pPr marL="0" indent="0" algn="l">
              <a:buFont typeface="+mj-lt"/>
              <a:buNone/>
            </a:pP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  [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</a:t>
            </a:r>
            <a:r>
              <a:rPr lang="zh-CN" altLang="en-US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鱼香肉丝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', 25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], </a:t>
            </a:r>
          </a:p>
          <a:p>
            <a:pPr marL="0" indent="0" algn="l">
              <a:buFont typeface="+mj-lt"/>
              <a:buNone/>
            </a:pP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  [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</a:t>
            </a:r>
            <a:r>
              <a:rPr lang="zh-CN" altLang="en-US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水煮鱼</a:t>
            </a:r>
            <a:r>
              <a:rPr lang="en-US" altLang="zh-CN" sz="18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',  20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] </a:t>
            </a:r>
            <a:r>
              <a:rPr lang="en-US" altLang="zh-CN" sz="180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]</a:t>
            </a:r>
            <a:endParaRPr lang="zh-CN" altLang="en-US" sz="180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4" name="六角星 23"/>
          <p:cNvSpPr/>
          <p:nvPr/>
        </p:nvSpPr>
        <p:spPr bwMode="auto">
          <a:xfrm>
            <a:off x="5605780" y="2648585"/>
            <a:ext cx="2532380" cy="1699895"/>
          </a:xfrm>
          <a:prstGeom prst="star6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1" i="0" u="none" strike="noStrike" spc="50" normalizeH="0" baseline="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0" lang="zh-CN" altLang="en-US" sz="3200" b="1" i="0" u="none" strike="noStrike" spc="50" normalizeH="0" baseline="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71855" y="819150"/>
            <a:ext cx="170751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</a:t>
            </a:r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语言中的数组</a:t>
            </a:r>
          </a:p>
        </p:txBody>
      </p:sp>
      <p:sp>
        <p:nvSpPr>
          <p:cNvPr id="7" name="矩形标注 6"/>
          <p:cNvSpPr/>
          <p:nvPr/>
        </p:nvSpPr>
        <p:spPr>
          <a:xfrm>
            <a:off x="929005" y="2206625"/>
            <a:ext cx="3789045" cy="370205"/>
          </a:xfrm>
          <a:prstGeom prst="wedgeRectCallout">
            <a:avLst>
              <a:gd name="adj1" fmla="val -22314"/>
              <a:gd name="adj2" fmla="val -137650"/>
            </a:avLst>
          </a:prstGeom>
          <a:solidFill>
            <a:srgbClr val="0070C0"/>
          </a:solidFill>
          <a:ln w="9525" cap="flat" cmpd="sng" algn="ctr">
            <a:solidFill>
              <a:srgbClr val="E9E9E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不可同时存储不同数据类型，对应关系不明显</a:t>
            </a:r>
          </a:p>
        </p:txBody>
      </p:sp>
      <p:sp>
        <p:nvSpPr>
          <p:cNvPr id="4" name="矩形标注 3"/>
          <p:cNvSpPr/>
          <p:nvPr/>
        </p:nvSpPr>
        <p:spPr>
          <a:xfrm>
            <a:off x="949960" y="4469765"/>
            <a:ext cx="3172460" cy="336550"/>
          </a:xfrm>
          <a:prstGeom prst="wedgeRectCallout">
            <a:avLst>
              <a:gd name="adj1" fmla="val -20716"/>
              <a:gd name="adj2" fmla="val -121698"/>
            </a:avLst>
          </a:prstGeom>
          <a:solidFill>
            <a:srgbClr val="0070C0"/>
          </a:solidFill>
          <a:ln w="9525" cap="flat" cmpd="sng" algn="ctr">
            <a:solidFill>
              <a:srgbClr val="E9E9E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可存储不同数据类型，数据关系明显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3" grpId="0" bldLvl="0" animBg="1"/>
      <p:bldP spid="24" grpId="0" bldLvl="0" animBg="1"/>
      <p:bldP spid="24" grpId="1" bldLvl="0" animBg="1"/>
      <p:bldP spid="7" grpId="1" bldLvl="0" animBg="1"/>
      <p:bldP spid="4" grpId="1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Browallia New" charset="0"/>
              </a:rPr>
              <a:t>什么是列表</a:t>
            </a:r>
          </a:p>
        </p:txBody>
      </p:sp>
      <p:sp>
        <p:nvSpPr>
          <p:cNvPr id="2" name="椭圆 1"/>
          <p:cNvSpPr/>
          <p:nvPr/>
        </p:nvSpPr>
        <p:spPr>
          <a:xfrm>
            <a:off x="257810" y="1906588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endParaRPr lang="en-US" altLang="zh-CN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14"/>
          <p:cNvSpPr txBox="1"/>
          <p:nvPr/>
        </p:nvSpPr>
        <p:spPr>
          <a:xfrm>
            <a:off x="-315912" y="1492250"/>
            <a:ext cx="18573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被定义项</a:t>
            </a:r>
          </a:p>
        </p:txBody>
      </p:sp>
      <p:sp>
        <p:nvSpPr>
          <p:cNvPr id="11" name="Text Box 8"/>
          <p:cNvSpPr txBox="1"/>
          <p:nvPr/>
        </p:nvSpPr>
        <p:spPr>
          <a:xfrm>
            <a:off x="1435735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临近的属</a:t>
            </a:r>
          </a:p>
        </p:txBody>
      </p:sp>
      <p:sp>
        <p:nvSpPr>
          <p:cNvPr id="3" name="椭圆 2"/>
          <p:cNvSpPr/>
          <p:nvPr/>
        </p:nvSpPr>
        <p:spPr>
          <a:xfrm>
            <a:off x="1850073" y="1860550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</a:p>
        </p:txBody>
      </p:sp>
      <p:sp>
        <p:nvSpPr>
          <p:cNvPr id="14" name="Text Box 12"/>
          <p:cNvSpPr txBox="1"/>
          <p:nvPr/>
        </p:nvSpPr>
        <p:spPr>
          <a:xfrm>
            <a:off x="5490210" y="1492250"/>
            <a:ext cx="17716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种差（内涵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224145" y="1911985"/>
            <a:ext cx="3884930" cy="942975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extBox 22"/>
          <p:cNvSpPr txBox="1"/>
          <p:nvPr/>
        </p:nvSpPr>
        <p:spPr>
          <a:xfrm>
            <a:off x="5220335" y="2101850"/>
            <a:ext cx="3969385" cy="753745"/>
          </a:xfrm>
          <a:prstGeom prst="rect">
            <a:avLst/>
          </a:prstGeom>
          <a:noFill/>
          <a:ln w="9525">
            <a:noFill/>
          </a:ln>
        </p:spPr>
        <p:txBody>
          <a:bodyPr wrap="square" lIns="91405" tIns="45702" rIns="91405" bIns="4570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可以存储不同数据类型</a:t>
            </a: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数据本身可变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48765" y="3211830"/>
            <a:ext cx="6989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</a:t>
            </a:r>
            <a:r>
              <a:rPr lang="en-US" altLang="zh-CN" b="1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列表是一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种可以存储不同数据类型，且数据可变的序列</a:t>
            </a:r>
          </a:p>
        </p:txBody>
      </p:sp>
      <p:sp>
        <p:nvSpPr>
          <p:cNvPr id="12" name="Text Box 8"/>
          <p:cNvSpPr txBox="1"/>
          <p:nvPr/>
        </p:nvSpPr>
        <p:spPr>
          <a:xfrm>
            <a:off x="3093085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同属的其它种</a:t>
            </a:r>
          </a:p>
        </p:txBody>
      </p:sp>
      <p:sp>
        <p:nvSpPr>
          <p:cNvPr id="15" name="椭圆 14"/>
          <p:cNvSpPr/>
          <p:nvPr/>
        </p:nvSpPr>
        <p:spPr>
          <a:xfrm>
            <a:off x="3477260" y="1860550"/>
            <a:ext cx="1384935" cy="1056005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</a:p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</a:t>
            </a:r>
          </a:p>
        </p:txBody>
      </p:sp>
      <p:sp>
        <p:nvSpPr>
          <p:cNvPr id="18" name="AutoShape 7"/>
          <p:cNvSpPr/>
          <p:nvPr/>
        </p:nvSpPr>
        <p:spPr>
          <a:xfrm flipH="1">
            <a:off x="649923" y="3082925"/>
            <a:ext cx="215900" cy="576263"/>
          </a:xfrm>
          <a:prstGeom prst="downArrow">
            <a:avLst>
              <a:gd name="adj1" fmla="val 50000"/>
              <a:gd name="adj2" fmla="val 6646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8"/>
          <p:cNvSpPr txBox="1"/>
          <p:nvPr/>
        </p:nvSpPr>
        <p:spPr>
          <a:xfrm>
            <a:off x="225815" y="3715555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外延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2935015" y="4155860"/>
            <a:ext cx="2480356" cy="485918"/>
            <a:chOff x="2782599" y="1459401"/>
            <a:chExt cx="1870251" cy="276935"/>
          </a:xfrm>
          <a:solidFill>
            <a:schemeClr val="accent1"/>
          </a:solidFill>
        </p:grpSpPr>
        <p:sp>
          <p:nvSpPr>
            <p:cNvPr id="34" name="AutoShape 5"/>
            <p:cNvSpPr>
              <a:spLocks noChangeArrowheads="1"/>
            </p:cNvSpPr>
            <p:nvPr/>
          </p:nvSpPr>
          <p:spPr bwMode="auto">
            <a:xfrm>
              <a:off x="2782599" y="1459401"/>
              <a:ext cx="1870251" cy="276935"/>
            </a:xfrm>
            <a:prstGeom prst="chevron">
              <a:avLst>
                <a:gd name="adj" fmla="val 12153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2997593" y="1507535"/>
              <a:ext cx="1491634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r>
                <a:rPr lang="zh-CN" altLang="zh-CN" sz="21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嵌套列表</a:t>
              </a:r>
              <a:endParaRPr lang="zh-CN" altLang="zh-CN" sz="2100" b="1" strike="noStrike" kern="0" noProof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34474" y="4155863"/>
            <a:ext cx="2477832" cy="485919"/>
            <a:chOff x="897128" y="1459399"/>
            <a:chExt cx="1868348" cy="276935"/>
          </a:xfrm>
          <a:solidFill>
            <a:schemeClr val="accent1"/>
          </a:solidFill>
        </p:grpSpPr>
        <p:sp>
          <p:nvSpPr>
            <p:cNvPr id="37" name="AutoShape 7"/>
            <p:cNvSpPr>
              <a:spLocks noChangeArrowheads="1"/>
            </p:cNvSpPr>
            <p:nvPr/>
          </p:nvSpPr>
          <p:spPr bwMode="auto">
            <a:xfrm>
              <a:off x="897128" y="1459399"/>
              <a:ext cx="1868348" cy="276935"/>
            </a:xfrm>
            <a:prstGeom prst="homePlate">
              <a:avLst>
                <a:gd name="adj" fmla="val 11944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8"/>
            <p:cNvSpPr txBox="1">
              <a:spLocks noChangeArrowheads="1"/>
            </p:cNvSpPr>
            <p:nvPr/>
          </p:nvSpPr>
          <p:spPr bwMode="auto">
            <a:xfrm>
              <a:off x="978940" y="1507535"/>
              <a:ext cx="1649550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r>
                <a:rPr lang="zh-CN" altLang="zh-CN" sz="2100" b="1" strike="noStrike" kern="0" noProof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普通列表</a:t>
              </a: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/>
      <p:bldP spid="11" grpId="0"/>
      <p:bldP spid="3" grpId="0" bldLvl="0" animBg="1"/>
      <p:bldP spid="14" grpId="0"/>
      <p:bldP spid="7" grpId="0"/>
      <p:bldP spid="10" grpId="0"/>
      <p:bldP spid="12" grpId="0"/>
      <p:bldP spid="15" grpId="0" bldLvl="0" animBg="1"/>
      <p:bldP spid="18" grpId="0" bldLvl="0" animBg="1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列表的特征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79705" y="714375"/>
            <a:ext cx="8641080" cy="3909060"/>
          </a:xfrm>
          <a:ln w="22225"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pPr marL="285750" indent="-285750" algn="l">
              <a:buFont typeface="Wingdings" panose="05000000000000000000" charset="0"/>
              <a:buChar char="n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计算机中文件夹内的文件顺序是一样的吗？</a:t>
            </a:r>
          </a:p>
        </p:txBody>
      </p:sp>
      <p:sp>
        <p:nvSpPr>
          <p:cNvPr id="2" name="矩形 1"/>
          <p:cNvSpPr/>
          <p:nvPr/>
        </p:nvSpPr>
        <p:spPr>
          <a:xfrm>
            <a:off x="5407025" y="3832860"/>
            <a:ext cx="1501140" cy="626110"/>
          </a:xfrm>
          <a:prstGeom prst="rect">
            <a:avLst/>
          </a:prstGeom>
          <a:gradFill>
            <a:gsLst>
              <a:gs pos="5000">
                <a:srgbClr val="007BD3"/>
              </a:gs>
              <a:gs pos="100000">
                <a:srgbClr val="034373"/>
              </a:gs>
            </a:gsLst>
            <a:lin ang="5400000" scaled="0"/>
          </a:gradFill>
          <a:ln w="222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3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有序</a:t>
            </a: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4526915" y="1339850"/>
            <a:ext cx="2249170" cy="371228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按照一定顺序排列</a:t>
            </a: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4525645" y="1988185"/>
            <a:ext cx="3992245" cy="373412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['django',   'mysql',   '</a:t>
            </a:r>
            <a:r>
              <a:rPr lang="zh-CN" alt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面试</a:t>
            </a: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.png']</a:t>
            </a: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4526280" y="2452370"/>
            <a:ext cx="3991610" cy="37122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正序：</a:t>
            </a: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0              1             2</a:t>
            </a:r>
          </a:p>
        </p:txBody>
      </p:sp>
      <p:sp>
        <p:nvSpPr>
          <p:cNvPr id="5" name="AutoShape 15"/>
          <p:cNvSpPr>
            <a:spLocks noChangeArrowheads="1"/>
          </p:cNvSpPr>
          <p:nvPr/>
        </p:nvSpPr>
        <p:spPr bwMode="auto">
          <a:xfrm>
            <a:off x="4525645" y="2795905"/>
            <a:ext cx="3992245" cy="37122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倒序：</a:t>
            </a: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-3            -2            -1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9" grpId="0" bldLvl="0" animBg="1"/>
      <p:bldP spid="3" grpId="0" bldLvl="0" animBg="1"/>
      <p:bldP spid="4" grpId="0" bldLvl="0" animBg="1"/>
      <p:bldP spid="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列表的特征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79512" y="699757"/>
            <a:ext cx="8640960" cy="3744416"/>
          </a:xfrm>
        </p:spPr>
        <p:txBody>
          <a:bodyPr/>
          <a:lstStyle/>
          <a:p>
            <a:pPr marL="285750" indent="-285750" algn="l">
              <a:buFont typeface="Wingdings" panose="05000000000000000000" charset="0"/>
              <a:buChar char="n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对文件夹内的数据进行修改，文件夹名字还是原来的名字</a:t>
            </a:r>
          </a:p>
        </p:txBody>
      </p:sp>
      <p:sp>
        <p:nvSpPr>
          <p:cNvPr id="2" name="矩形 1"/>
          <p:cNvSpPr/>
          <p:nvPr/>
        </p:nvSpPr>
        <p:spPr>
          <a:xfrm>
            <a:off x="5652135" y="2469515"/>
            <a:ext cx="1292225" cy="582295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3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可变</a:t>
            </a: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4592320" y="1541780"/>
            <a:ext cx="4229100" cy="371246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ln>
                  <a:noFill/>
                </a:ln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可对当前列表进行修改</a:t>
            </a:r>
            <a:r>
              <a:rPr lang="en-US" altLang="zh-CN" sz="1800" dirty="0">
                <a:ln>
                  <a:noFill/>
                </a:ln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1800" dirty="0">
                <a:ln>
                  <a:noFill/>
                </a:ln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当前列表不变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列表的特征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79512" y="714362"/>
            <a:ext cx="8640960" cy="3744416"/>
          </a:xfrm>
        </p:spPr>
        <p:txBody>
          <a:bodyPr/>
          <a:lstStyle/>
          <a:p>
            <a:pPr marL="285750" indent="-285750" algn="l">
              <a:buFont typeface="Wingdings" panose="05000000000000000000" charset="0"/>
              <a:buChar char="n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同一文件夹有多种类型文件</a:t>
            </a:r>
          </a:p>
        </p:txBody>
      </p:sp>
      <p:sp>
        <p:nvSpPr>
          <p:cNvPr id="2" name="矩形 1"/>
          <p:cNvSpPr/>
          <p:nvPr/>
        </p:nvSpPr>
        <p:spPr>
          <a:xfrm>
            <a:off x="5361940" y="2458720"/>
            <a:ext cx="1560195" cy="692150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3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异构</a:t>
            </a: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4932045" y="1260475"/>
            <a:ext cx="3444240" cy="371228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列表可以存储</a:t>
            </a:r>
            <a:r>
              <a:rPr lang="zh-CN" alt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不同</a:t>
            </a:r>
            <a:r>
              <a:rPr lang="zh-CN" alt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类型</a:t>
            </a:r>
            <a:r>
              <a:rPr lang="zh-CN" alt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</a:t>
            </a:r>
            <a:endParaRPr lang="zh-CN" altLang="en-US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4931410" y="1848485"/>
            <a:ext cx="3129915" cy="37122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 '</a:t>
            </a:r>
            <a:r>
              <a:rPr lang="zh-CN" alt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红烧肉</a:t>
            </a: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  <a:r>
              <a:rPr lang="zh-CN" alt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20,  3]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645795" y="4399915"/>
            <a:ext cx="7730490" cy="436880"/>
          </a:xfrm>
          <a:prstGeom prst="round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不同类型数据包括：数字、字符串、元组、列表、字典、类、对象。。。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9" grpId="0" bldLvl="0" animBg="1"/>
      <p:bldP spid="3" grpId="0" bldLvl="0" animBg="1"/>
      <p:bldP spid="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列表的特征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79512" y="714362"/>
            <a:ext cx="8640960" cy="3744416"/>
          </a:xfrm>
        </p:spPr>
        <p:txBody>
          <a:bodyPr/>
          <a:lstStyle/>
          <a:p>
            <a:pPr marL="285750" indent="-285750" algn="l">
              <a:buFont typeface="Wingdings" panose="05000000000000000000" charset="0"/>
              <a:buChar char="n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文件夹内还有文件夹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44110" y="2800350"/>
            <a:ext cx="1560195" cy="692150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3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可嵌套</a:t>
            </a: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4800600" y="1418590"/>
            <a:ext cx="4019550" cy="371228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列表内还有列表</a:t>
            </a: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4944110" y="2065655"/>
            <a:ext cx="4020820" cy="37122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 ['django01', </a:t>
            </a: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'django01'</a:t>
            </a: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],  [mysql]]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9" grpId="0" bldLvl="0" animBg="1"/>
      <p:bldP spid="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列表的特征</a:t>
            </a:r>
          </a:p>
        </p:txBody>
      </p:sp>
      <p:sp>
        <p:nvSpPr>
          <p:cNvPr id="4" name=" 186"/>
          <p:cNvSpPr/>
          <p:nvPr/>
        </p:nvSpPr>
        <p:spPr>
          <a:xfrm>
            <a:off x="4006215" y="1094740"/>
            <a:ext cx="1440180" cy="863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</a:p>
        </p:txBody>
      </p:sp>
      <p:sp>
        <p:nvSpPr>
          <p:cNvPr id="11" name=" 186"/>
          <p:cNvSpPr/>
          <p:nvPr/>
        </p:nvSpPr>
        <p:spPr>
          <a:xfrm>
            <a:off x="1056640" y="2694940"/>
            <a:ext cx="1440180" cy="8636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</a:t>
            </a:r>
          </a:p>
        </p:txBody>
      </p:sp>
      <p:sp>
        <p:nvSpPr>
          <p:cNvPr id="12" name=" 186"/>
          <p:cNvSpPr/>
          <p:nvPr/>
        </p:nvSpPr>
        <p:spPr>
          <a:xfrm>
            <a:off x="2867025" y="3633470"/>
            <a:ext cx="1440180" cy="8636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可变</a:t>
            </a:r>
          </a:p>
        </p:txBody>
      </p:sp>
      <p:sp>
        <p:nvSpPr>
          <p:cNvPr id="13" name=" 186"/>
          <p:cNvSpPr/>
          <p:nvPr/>
        </p:nvSpPr>
        <p:spPr>
          <a:xfrm>
            <a:off x="6884035" y="2694940"/>
            <a:ext cx="1440180" cy="8636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可嵌套</a:t>
            </a:r>
          </a:p>
        </p:txBody>
      </p:sp>
      <p:sp>
        <p:nvSpPr>
          <p:cNvPr id="14" name=" 186"/>
          <p:cNvSpPr/>
          <p:nvPr/>
        </p:nvSpPr>
        <p:spPr>
          <a:xfrm>
            <a:off x="5219700" y="3633470"/>
            <a:ext cx="1440180" cy="8636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异构</a:t>
            </a:r>
          </a:p>
        </p:txBody>
      </p:sp>
      <p:cxnSp>
        <p:nvCxnSpPr>
          <p:cNvPr id="15" name="直接箭头连接符 14"/>
          <p:cNvCxnSpPr>
            <a:endCxn id="11" idx="7"/>
          </p:cNvCxnSpPr>
          <p:nvPr/>
        </p:nvCxnSpPr>
        <p:spPr>
          <a:xfrm flipH="1">
            <a:off x="2286000" y="1707515"/>
            <a:ext cx="1781810" cy="111379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6" name="直接箭头连接符 15"/>
          <p:cNvCxnSpPr/>
          <p:nvPr/>
        </p:nvCxnSpPr>
        <p:spPr>
          <a:xfrm flipH="1">
            <a:off x="3750310" y="1957705"/>
            <a:ext cx="810895" cy="176085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7" name="直接箭头连接符 16"/>
          <p:cNvCxnSpPr/>
          <p:nvPr/>
        </p:nvCxnSpPr>
        <p:spPr>
          <a:xfrm>
            <a:off x="5436235" y="1635760"/>
            <a:ext cx="1871980" cy="115189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1" name="直接箭头连接符 20"/>
          <p:cNvCxnSpPr/>
          <p:nvPr/>
        </p:nvCxnSpPr>
        <p:spPr>
          <a:xfrm>
            <a:off x="5076190" y="1923415"/>
            <a:ext cx="720090" cy="165608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2" name="文本框 21"/>
          <p:cNvSpPr txBox="1"/>
          <p:nvPr/>
        </p:nvSpPr>
        <p:spPr>
          <a:xfrm>
            <a:off x="2828925" y="195770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特征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602355" y="258254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特征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796280" y="221424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特征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806315" y="256159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特征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bldLvl="0" animBg="1"/>
      <p:bldP spid="14" grpId="0" bldLvl="0" animBg="1"/>
      <p:bldP spid="22" grpId="0"/>
      <p:bldP spid="23" grpId="0"/>
      <p:bldP spid="2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如何使用列表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10042" y="1221130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1188085" y="1659255"/>
            <a:ext cx="3954780" cy="454434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列表名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 [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元素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，元素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··· ···]</a:t>
            </a:r>
            <a:endParaRPr lang="en-US" altLang="zh-CN" sz="1800" b="1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10042" y="2227957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-123190" y="782955"/>
            <a:ext cx="196151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创建列表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1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0235" y="2666365"/>
            <a:ext cx="802005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plist = []  # 创建一个空的列表</a:t>
            </a:r>
          </a:p>
          <a:p>
            <a:pPr algn="l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plist2 = [1, 2, 3, 4, 5]  # 创建一个包含 5 个数字的列表</a:t>
            </a:r>
          </a:p>
          <a:p>
            <a:pPr algn="l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plist3 = ['cat', 'dog', 'fish']  # 创建一个包含 3 个字符串的列表</a:t>
            </a:r>
          </a:p>
          <a:p>
            <a:pPr algn="l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plist4 = [1,  'a',  (2, 4, 6),  {'web': 'www.cnpython.com'}]  # 包含多种数据类型的 list</a:t>
            </a:r>
          </a:p>
          <a:p>
            <a:pPr algn="l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plist5 = [1, [2,3,4],  [8, 9,  [10,11,12] ] ]  # 创建一个嵌套的列表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 bldLvl="0" animBg="1"/>
      <p:bldP spid="10" grpId="0"/>
      <p:bldP spid="4" grpId="0"/>
      <p:bldP spid="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64516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如何使用列表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55127" y="1156970"/>
            <a:ext cx="192913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创建格式</a:t>
            </a: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1609090" y="1529080"/>
            <a:ext cx="5718810" cy="454458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列表名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=list(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序列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  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#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把序列（字符串，元组。。。）转为列表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1608455" y="2498725"/>
            <a:ext cx="2550160" cy="143114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list1 = list('bawei')</a:t>
            </a:r>
          </a:p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list2 = list()</a:t>
            </a:r>
            <a:endParaRPr lang="en-US" sz="1800" dirty="0">
              <a:solidFill>
                <a:srgbClr val="09131F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print(list1)</a:t>
            </a:r>
            <a:endParaRPr lang="en-US" sz="1800" dirty="0">
              <a:solidFill>
                <a:srgbClr val="09131F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print(list2)</a:t>
            </a:r>
            <a:endParaRPr lang="en-US" sz="1800" dirty="0">
              <a:solidFill>
                <a:srgbClr val="09131F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55127" y="2208530"/>
            <a:ext cx="118300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-82550" y="786765"/>
            <a:ext cx="196151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创建列表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2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55127" y="4006875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455" y="4305935"/>
            <a:ext cx="2586990" cy="65024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 bldLvl="0" animBg="1"/>
      <p:bldP spid="9" grpId="0" bldLvl="0" animBg="1"/>
      <p:bldP spid="10" grpId="0"/>
      <p:bldP spid="10" grpId="1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23215" y="843280"/>
            <a:ext cx="8352790" cy="38989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下列列表的使用正确的是 </a:t>
            </a: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、list2 = ‘[1, 2, 3, 4, 5 ]’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list  n =[]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、list3 =     "a", "b", "c", "d“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、list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 ]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下列列表的写法错误的是 </a:t>
            </a: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= list(1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2)                                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 = []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list2 = list(“123”)            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 = [1,2,3]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868784" y="1786473"/>
            <a:ext cx="437721" cy="530536"/>
            <a:chOff x="4286392" y="3961433"/>
            <a:chExt cx="437721" cy="530536"/>
          </a:xfrm>
        </p:grpSpPr>
        <p:sp>
          <p:nvSpPr>
            <p:cNvPr id="3" name="圆角矩形 2"/>
            <p:cNvSpPr/>
            <p:nvPr/>
          </p:nvSpPr>
          <p:spPr bwMode="auto">
            <a:xfrm rot="1881716">
              <a:off x="4577448" y="3961433"/>
              <a:ext cx="146665" cy="530536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圆角矩形 3"/>
            <p:cNvSpPr/>
            <p:nvPr/>
          </p:nvSpPr>
          <p:spPr bwMode="auto">
            <a:xfrm rot="7695280">
              <a:off x="4398972" y="4180371"/>
              <a:ext cx="131541" cy="356702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22"/>
          <p:cNvGrpSpPr/>
          <p:nvPr/>
        </p:nvGrpSpPr>
        <p:grpSpPr>
          <a:xfrm>
            <a:off x="2462932" y="2753484"/>
            <a:ext cx="538770" cy="530536"/>
            <a:chOff x="3905815" y="3417155"/>
            <a:chExt cx="538770" cy="530536"/>
          </a:xfrm>
        </p:grpSpPr>
        <p:sp>
          <p:nvSpPr>
            <p:cNvPr id="12" name="圆角矩形 11"/>
            <p:cNvSpPr/>
            <p:nvPr/>
          </p:nvSpPr>
          <p:spPr bwMode="auto">
            <a:xfrm rot="1881716">
              <a:off x="4072813" y="3417155"/>
              <a:ext cx="146665" cy="530536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 bwMode="auto">
            <a:xfrm rot="7695280">
              <a:off x="4108586" y="3412018"/>
              <a:ext cx="133227" cy="538770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课堂练习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4058" y="1347108"/>
            <a:ext cx="8352928" cy="313757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用两种方法创建列表，列表内容为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en-US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en-US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','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','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en-US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创建一个数字列表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balls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，内容为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1~33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0"/>
          </p:nvPr>
        </p:nvSpPr>
        <p:spPr>
          <a:xfrm>
            <a:off x="539299" y="843305"/>
            <a:ext cx="7488832" cy="360040"/>
          </a:xfrm>
        </p:spPr>
        <p:txBody>
          <a:bodyPr/>
          <a:lstStyle/>
          <a:p>
            <a:r>
              <a:rPr lang="zh-CN" altLang="en-US" sz="1600" dirty="0"/>
              <a:t>需求分析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2858" y="843305"/>
            <a:ext cx="216694" cy="231536"/>
            <a:chOff x="436488" y="2946400"/>
            <a:chExt cx="231776" cy="247651"/>
          </a:xfrm>
        </p:grpSpPr>
        <p:sp>
          <p:nvSpPr>
            <p:cNvPr id="6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副标题 3"/>
          <p:cNvSpPr>
            <a:spLocks noGrp="1"/>
          </p:cNvSpPr>
          <p:nvPr/>
        </p:nvSpPr>
        <p:spPr>
          <a:xfrm>
            <a:off x="235769" y="24606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2860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输出结果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" y="2947670"/>
            <a:ext cx="2291080" cy="4451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6911" t="17520"/>
          <a:stretch>
            <a:fillRect/>
          </a:stretch>
        </p:blipFill>
        <p:spPr>
          <a:xfrm>
            <a:off x="325120" y="3507740"/>
            <a:ext cx="8399145" cy="34861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课堂练习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1271270" y="2372995"/>
            <a:ext cx="2319020" cy="41411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list1 = list(</a:t>
            </a: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'abc'</a:t>
            </a: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</p:txBody>
      </p:sp>
      <p:sp>
        <p:nvSpPr>
          <p:cNvPr id="5" name="AutoShape 15"/>
          <p:cNvSpPr>
            <a:spLocks noChangeArrowheads="1"/>
          </p:cNvSpPr>
          <p:nvPr/>
        </p:nvSpPr>
        <p:spPr bwMode="auto">
          <a:xfrm>
            <a:off x="1271270" y="2796540"/>
            <a:ext cx="2319020" cy="41411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list2 = [</a:t>
            </a: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'a','b','c']</a:t>
            </a:r>
            <a:endParaRPr lang="en-US" altLang="zh-CN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271270" y="1315085"/>
            <a:ext cx="2319020" cy="41411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list1 = list(</a:t>
            </a: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abc</a:t>
            </a: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</p:txBody>
      </p:sp>
      <p:sp>
        <p:nvSpPr>
          <p:cNvPr id="7" name="AutoShape 15"/>
          <p:cNvSpPr>
            <a:spLocks noChangeArrowheads="1"/>
          </p:cNvSpPr>
          <p:nvPr/>
        </p:nvSpPr>
        <p:spPr bwMode="auto">
          <a:xfrm>
            <a:off x="1271270" y="1738630"/>
            <a:ext cx="2319020" cy="41411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list2 = list(</a:t>
            </a: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'a','b','c')</a:t>
            </a:r>
            <a:endParaRPr lang="en-US" altLang="zh-CN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8290" y="1231265"/>
            <a:ext cx="1015365" cy="9931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1940" y="2332990"/>
            <a:ext cx="894080" cy="8775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7335" y="821690"/>
            <a:ext cx="995680" cy="3124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参考代码</a:t>
            </a: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4166870" y="1328420"/>
            <a:ext cx="4828540" cy="1059283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balls =[1,2,3,4,5,6,7,8,9,10,11,12,13,14,15,16,17,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18,19,20,21,22,23,24,25,26,27,28,29,30,31,32,33]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print(balls)</a:t>
            </a:r>
          </a:p>
        </p:txBody>
      </p:sp>
      <p:sp>
        <p:nvSpPr>
          <p:cNvPr id="8" name="副标题 3"/>
          <p:cNvSpPr>
            <a:spLocks noGrp="1"/>
          </p:cNvSpPr>
          <p:nvPr/>
        </p:nvSpPr>
        <p:spPr>
          <a:xfrm>
            <a:off x="292284" y="349824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2860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输出结果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80" y="4045585"/>
            <a:ext cx="2291080" cy="44513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1957705" y="667385"/>
            <a:ext cx="647700" cy="64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dist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" name="椭圆 13"/>
          <p:cNvSpPr/>
          <p:nvPr/>
        </p:nvSpPr>
        <p:spPr>
          <a:xfrm>
            <a:off x="6020435" y="667385"/>
            <a:ext cx="647700" cy="6477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dist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rcRect l="6904" t="15266"/>
          <a:stretch>
            <a:fillRect/>
          </a:stretch>
        </p:blipFill>
        <p:spPr>
          <a:xfrm>
            <a:off x="253365" y="4660265"/>
            <a:ext cx="8399780" cy="35814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5" grpId="0" bldLvl="0" animBg="1"/>
      <p:bldP spid="6" grpId="0" bldLvl="0" animBg="1"/>
      <p:bldP spid="7" grpId="0" bldLvl="0" animBg="1"/>
      <p:bldP spid="4" grpId="0" bldLvl="0" animBg="1"/>
      <p:bldP spid="8" grpId="0"/>
      <p:bldP spid="13" grpId="0" bldLvl="0" animBg="1"/>
      <p:bldP spid="14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为什么使用列表推导式</a:t>
            </a:r>
          </a:p>
        </p:txBody>
      </p:sp>
      <p:sp>
        <p:nvSpPr>
          <p:cNvPr id="159" name=" 159"/>
          <p:cNvSpPr/>
          <p:nvPr/>
        </p:nvSpPr>
        <p:spPr>
          <a:xfrm rot="5400000">
            <a:off x="1640205" y="2346325"/>
            <a:ext cx="1303020" cy="1457960"/>
          </a:xfrm>
          <a:custGeom>
            <a:avLst/>
            <a:gdLst>
              <a:gd name="connsiteX0" fmla="*/ 545178 w 812503"/>
              <a:gd name="connsiteY0" fmla="*/ 0 h 310097"/>
              <a:gd name="connsiteX1" fmla="*/ 812503 w 812503"/>
              <a:gd name="connsiteY1" fmla="*/ 155049 h 310097"/>
              <a:gd name="connsiteX2" fmla="*/ 545178 w 812503"/>
              <a:gd name="connsiteY2" fmla="*/ 310097 h 310097"/>
              <a:gd name="connsiteX3" fmla="*/ 545178 w 812503"/>
              <a:gd name="connsiteY3" fmla="*/ 212220 h 310097"/>
              <a:gd name="connsiteX4" fmla="*/ 0 w 812503"/>
              <a:gd name="connsiteY4" fmla="*/ 259590 h 310097"/>
              <a:gd name="connsiteX5" fmla="*/ 160832 w 812503"/>
              <a:gd name="connsiteY5" fmla="*/ 155049 h 310097"/>
              <a:gd name="connsiteX6" fmla="*/ 0 w 812503"/>
              <a:gd name="connsiteY6" fmla="*/ 50507 h 310097"/>
              <a:gd name="connsiteX7" fmla="*/ 545178 w 812503"/>
              <a:gd name="connsiteY7" fmla="*/ 97878 h 3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503" h="310097">
                <a:moveTo>
                  <a:pt x="545178" y="0"/>
                </a:moveTo>
                <a:lnTo>
                  <a:pt x="812503" y="155049"/>
                </a:lnTo>
                <a:lnTo>
                  <a:pt x="545178" y="310097"/>
                </a:lnTo>
                <a:lnTo>
                  <a:pt x="545178" y="212220"/>
                </a:lnTo>
                <a:lnTo>
                  <a:pt x="0" y="259590"/>
                </a:lnTo>
                <a:lnTo>
                  <a:pt x="160832" y="155049"/>
                </a:lnTo>
                <a:lnTo>
                  <a:pt x="0" y="50507"/>
                </a:lnTo>
                <a:lnTo>
                  <a:pt x="545178" y="97878"/>
                </a:ln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>
                <a:solidFill>
                  <a:srgbClr val="FFFFFF"/>
                </a:solidFill>
              </a:rPr>
              <a:t>简洁</a:t>
            </a:r>
          </a:p>
        </p:txBody>
      </p:sp>
      <p:sp>
        <p:nvSpPr>
          <p:cNvPr id="5" name="椭圆形标注 4"/>
          <p:cNvSpPr/>
          <p:nvPr/>
        </p:nvSpPr>
        <p:spPr>
          <a:xfrm>
            <a:off x="2743200" y="894715"/>
            <a:ext cx="2897505" cy="504190"/>
          </a:xfrm>
          <a:prstGeom prst="wedgeEllipseCallout">
            <a:avLst>
              <a:gd name="adj1" fmla="val -33854"/>
              <a:gd name="adj2" fmla="val 86649"/>
            </a:avLst>
          </a:prstGeom>
          <a:gradFill>
            <a:gsLst>
              <a:gs pos="60000">
                <a:srgbClr val="007BD3"/>
              </a:gs>
              <a:gs pos="100000">
                <a:srgbClr val="034373"/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简单，但太过繁琐</a:t>
            </a:r>
          </a:p>
        </p:txBody>
      </p:sp>
      <p:sp>
        <p:nvSpPr>
          <p:cNvPr id="13" name="AutoShape 15"/>
          <p:cNvSpPr>
            <a:spLocks noChangeArrowheads="1"/>
          </p:cNvSpPr>
          <p:nvPr/>
        </p:nvSpPr>
        <p:spPr bwMode="auto">
          <a:xfrm>
            <a:off x="699453" y="1565910"/>
            <a:ext cx="6903085" cy="736697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balls =[1,2,3,4,5,6,7,8,9,10,11,12,13,14,15,16,17,18,19,20,21,22,23,24,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25,26,27,28,29,30,31,32,33]</a:t>
            </a:r>
          </a:p>
        </p:txBody>
      </p:sp>
      <p:pic>
        <p:nvPicPr>
          <p:cNvPr id="16" name="Picture 20" descr="0quav023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0275" y="3216910"/>
            <a:ext cx="1588770" cy="2007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云形标注 16"/>
          <p:cNvSpPr/>
          <p:nvPr/>
        </p:nvSpPr>
        <p:spPr>
          <a:xfrm>
            <a:off x="7160895" y="2855595"/>
            <a:ext cx="2162810" cy="1008380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400" dirty="0">
                <a:solidFill>
                  <a:srgbClr val="09131F"/>
                </a:solidFill>
                <a:latin typeface="+mn-ea"/>
                <a:ea typeface="+mn-ea"/>
                <a:sym typeface="+mn-ea"/>
              </a:rPr>
              <a:t>有方便的办法创建列表？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699453" y="3798570"/>
            <a:ext cx="3184525" cy="41411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balls =[i for i in range(1,34)]</a:t>
            </a:r>
          </a:p>
        </p:txBody>
      </p:sp>
      <p:sp>
        <p:nvSpPr>
          <p:cNvPr id="37" name="爆炸形 1 36"/>
          <p:cNvSpPr/>
          <p:nvPr/>
        </p:nvSpPr>
        <p:spPr bwMode="auto">
          <a:xfrm flipH="1">
            <a:off x="3364230" y="2137594"/>
            <a:ext cx="4432935" cy="2926983"/>
          </a:xfrm>
          <a:prstGeom prst="irregularSeal1">
            <a:avLst/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sz="2800" b="1" dirty="0" err="1">
                <a:solidFill>
                  <a:srgbClr val="FFC000"/>
                </a:solidFill>
                <a:latin typeface="+mn-ea"/>
                <a:ea typeface="+mn-ea"/>
                <a:sym typeface="+mn-ea"/>
              </a:rPr>
              <a:t> 列表推导式</a:t>
            </a:r>
          </a:p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2800" b="1" dirty="0" err="1">
                <a:solidFill>
                  <a:srgbClr val="FFC000"/>
                </a:solidFill>
                <a:latin typeface="+mn-ea"/>
                <a:ea typeface="+mn-ea"/>
                <a:sym typeface="+mn-ea"/>
              </a:rPr>
              <a:t> 列表生成式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bldLvl="0" animBg="1"/>
      <p:bldP spid="5" grpId="0" bldLvl="0" animBg="1"/>
      <p:bldP spid="13" grpId="0" bldLvl="0" animBg="1"/>
      <p:bldP spid="17" grpId="0" bldLvl="0" animBg="1"/>
      <p:bldP spid="18" grpId="0" bldLvl="0" animBg="1"/>
      <p:bldP spid="37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如何使用列表推导式</a:t>
            </a: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1593850" y="1266825"/>
            <a:ext cx="5668645" cy="454434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列表名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 </a:t>
            </a:r>
            <a:r>
              <a:rPr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 表达式  for</a:t>
            </a:r>
            <a:r>
              <a:rPr 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   。。。</a:t>
            </a:r>
            <a:r>
              <a:rPr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   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3564" y="921385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53564" y="1875790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代码示例</a:t>
            </a: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534160" y="2478405"/>
            <a:ext cx="5238115" cy="81670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list1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 i  for i in range(1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)]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'打印结果',  list1</a:t>
            </a: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68829" y="4393565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作用</a:t>
            </a:r>
          </a:p>
        </p:txBody>
      </p:sp>
      <p:sp>
        <p:nvSpPr>
          <p:cNvPr id="12" name="AutoShape 15"/>
          <p:cNvSpPr>
            <a:spLocks noChangeArrowheads="1"/>
          </p:cNvSpPr>
          <p:nvPr/>
        </p:nvSpPr>
        <p:spPr bwMode="auto">
          <a:xfrm>
            <a:off x="1665605" y="4409440"/>
            <a:ext cx="2363470" cy="454434"/>
          </a:xfrm>
          <a:prstGeom prst="roundRect">
            <a:avLst>
              <a:gd name="adj" fmla="val 1347"/>
            </a:avLst>
          </a:prstGeom>
          <a:noFill/>
          <a:ln w="3175">
            <a:solidFill>
              <a:schemeClr val="bg1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快速简洁创建列表</a:t>
            </a:r>
          </a:p>
        </p:txBody>
      </p:sp>
      <p:sp>
        <p:nvSpPr>
          <p:cNvPr id="7" name="AutoShape 15"/>
          <p:cNvSpPr>
            <a:spLocks noChangeArrowheads="1"/>
          </p:cNvSpPr>
          <p:nvPr/>
        </p:nvSpPr>
        <p:spPr bwMode="auto">
          <a:xfrm>
            <a:off x="1534160" y="3616960"/>
            <a:ext cx="5238115" cy="45443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打印结果 0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1 2 3 4 5 6 7 8 9 10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3" grpId="0"/>
      <p:bldP spid="6" grpId="0" bldLvl="0" animBg="1"/>
      <p:bldP spid="11" grpId="0"/>
      <p:bldP spid="12" grpId="0" bldLvl="0" animBg="1"/>
      <p:bldP spid="7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列表推导式的应用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51103" y="843305"/>
            <a:ext cx="216694" cy="231536"/>
            <a:chOff x="436488" y="2946400"/>
            <a:chExt cx="231776" cy="247651"/>
          </a:xfrm>
        </p:grpSpPr>
        <p:sp>
          <p:nvSpPr>
            <p:cNvPr id="6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67995" y="1469390"/>
            <a:ext cx="995680" cy="3124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参考代码</a:t>
            </a:r>
          </a:p>
        </p:txBody>
      </p:sp>
      <p:sp>
        <p:nvSpPr>
          <p:cNvPr id="17" name="AutoShape 15"/>
          <p:cNvSpPr>
            <a:spLocks noChangeArrowheads="1"/>
          </p:cNvSpPr>
          <p:nvPr/>
        </p:nvSpPr>
        <p:spPr bwMode="auto">
          <a:xfrm>
            <a:off x="467995" y="1997075"/>
            <a:ext cx="3053715" cy="736697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balls=[i*2 for i in range(34)]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print(balls)</a:t>
            </a:r>
          </a:p>
        </p:txBody>
      </p:sp>
      <p:sp>
        <p:nvSpPr>
          <p:cNvPr id="18" name="副标题 3"/>
          <p:cNvSpPr>
            <a:spLocks noGrp="1"/>
          </p:cNvSpPr>
          <p:nvPr/>
        </p:nvSpPr>
        <p:spPr>
          <a:xfrm>
            <a:off x="468179" y="300294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2860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输出结果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" y="3635375"/>
            <a:ext cx="8905875" cy="2190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753110"/>
            <a:ext cx="8352790" cy="5969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利用列表推导式生成一个列表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list1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，列表内数据为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0~66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偶数。并打印</a:t>
            </a: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4053205" y="1997075"/>
            <a:ext cx="4486910" cy="736697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balls=[i for i in range(65) if i %2 == 0]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print(balls)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8" grpId="0"/>
      <p:bldP spid="4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列表推导式的作业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0"/>
          </p:nvPr>
        </p:nvSpPr>
        <p:spPr>
          <a:xfrm>
            <a:off x="470084" y="843305"/>
            <a:ext cx="7488832" cy="360040"/>
          </a:xfrm>
        </p:spPr>
        <p:txBody>
          <a:bodyPr/>
          <a:lstStyle/>
          <a:p>
            <a:r>
              <a:rPr lang="zh-CN" altLang="en-US" sz="1600" dirty="0"/>
              <a:t>作业：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51103" y="843305"/>
            <a:ext cx="216694" cy="231536"/>
            <a:chOff x="436488" y="2946400"/>
            <a:chExt cx="231776" cy="247651"/>
          </a:xfrm>
        </p:grpSpPr>
        <p:sp>
          <p:nvSpPr>
            <p:cNvPr id="6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323215" y="1203325"/>
            <a:ext cx="8352790" cy="3619500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利用列表推导式方式生成：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/>
              <a:t>1-10</a:t>
            </a:r>
            <a:r>
              <a:rPr lang="zh-CN" altLang="en-US"/>
              <a:t>之间的奇数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/>
              <a:t>10</a:t>
            </a:r>
            <a:r>
              <a:rPr lang="zh-CN" altLang="en-US"/>
              <a:t>以内可以被</a:t>
            </a:r>
            <a:r>
              <a:rPr lang="en-US" altLang="zh-CN"/>
              <a:t>3</a:t>
            </a:r>
            <a:r>
              <a:rPr lang="zh-CN" altLang="en-US"/>
              <a:t>整除的数</a:t>
            </a:r>
          </a:p>
          <a:p>
            <a:pPr marL="457200" indent="-457200">
              <a:buFont typeface="+mj-ea"/>
              <a:buAutoNum type="circleNumDbPlain"/>
            </a:pPr>
            <a:r>
              <a:rPr lang="zh-CN" altLang="en-US"/>
              <a:t>生成</a:t>
            </a:r>
            <a:r>
              <a:rPr lang="en-US" altLang="zh-CN"/>
              <a:t>10</a:t>
            </a:r>
            <a:r>
              <a:rPr lang="zh-CN" altLang="en-US"/>
              <a:t>个随机数，范围在</a:t>
            </a:r>
            <a:r>
              <a:rPr lang="en-US" altLang="zh-CN"/>
              <a:t>10-30</a:t>
            </a:r>
            <a:r>
              <a:rPr lang="zh-CN" altLang="en-US"/>
              <a:t>之间</a:t>
            </a:r>
          </a:p>
          <a:p>
            <a:pPr marL="457200" indent="-457200">
              <a:buFont typeface="+mj-ea"/>
              <a:buAutoNum type="circleNumDbPlain"/>
            </a:pPr>
            <a:r>
              <a:rPr lang="zh-CN" altLang="en-US"/>
              <a:t>字符串s1 ='ABC'，字符串 s2 = '123'，要求：生成序列 A1 A2 A3 B1 B2 B3 C1 C2 C3</a:t>
            </a:r>
          </a:p>
          <a:p>
            <a:pPr marL="457200" indent="-457200">
              <a:buFont typeface="+mj-ea"/>
              <a:buAutoNum type="circleNumDbPlain"/>
            </a:pPr>
            <a:r>
              <a:rPr lang="zh-CN" altLang="en-US"/>
              <a:t>过滤掉长度小于3的字符串列表，并将剩下的转换成大写字母</a:t>
            </a:r>
          </a:p>
          <a:p>
            <a:pPr marL="0" indent="0">
              <a:buFont typeface="+mj-ea"/>
              <a:buNone/>
            </a:pPr>
            <a:r>
              <a:rPr lang="en-US" altLang="zh-CN"/>
              <a:t>      list1 = ['太白金星', 'fdsaf', 'alex', 'sb', 'ab']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列表注意事项</a:t>
            </a: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969010" y="1774825"/>
            <a:ext cx="4492625" cy="901812"/>
          </a:xfrm>
          <a:prstGeom prst="roundRect">
            <a:avLst>
              <a:gd name="adj" fmla="val 1347"/>
            </a:avLst>
          </a:prstGeom>
          <a:gradFill>
            <a:gsLst>
              <a:gs pos="6000">
                <a:srgbClr val="CCCCCC">
                  <a:lumMod val="95000"/>
                </a:srgbClr>
              </a:gs>
              <a:gs pos="100000">
                <a:srgbClr val="E4E4E4"/>
              </a:gs>
              <a:gs pos="91000">
                <a:srgbClr val="F1F1F1"/>
              </a:gs>
              <a:gs pos="26000">
                <a:srgbClr val="FFFFFF"/>
              </a:gs>
            </a:gsLst>
            <a:lin ang="8100000" scaled="0"/>
          </a:gradFill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、英文状态下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中括号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元素之间用逗号隔开</a:t>
            </a:r>
            <a:endParaRPr lang="zh-CN" altLang="en-US" sz="20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lum bright="18000" contrast="-24000"/>
          </a:blip>
          <a:stretch>
            <a:fillRect/>
          </a:stretch>
        </p:blipFill>
        <p:spPr>
          <a:xfrm>
            <a:off x="6619240" y="3338830"/>
            <a:ext cx="2012315" cy="170624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第二课时</a:t>
            </a: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列表的修改与添加</a:t>
            </a:r>
          </a:p>
        </p:txBody>
      </p:sp>
    </p:spTree>
  </p:cSld>
  <p:clrMapOvr>
    <a:masterClrMapping/>
  </p:clrMapOvr>
  <p:transition spd="slow" advTm="964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课堂导入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33985" y="812165"/>
            <a:ext cx="22637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字符串数据的引用 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16990" y="2099310"/>
            <a:ext cx="2463800" cy="1342390"/>
          </a:xfrm>
          <a:prstGeom prst="rect">
            <a:avLst/>
          </a:prstGeom>
        </p:spPr>
      </p:pic>
      <p:sp>
        <p:nvSpPr>
          <p:cNvPr id="12" name="AutoShape 15"/>
          <p:cNvSpPr>
            <a:spLocks noChangeArrowheads="1"/>
          </p:cNvSpPr>
          <p:nvPr/>
        </p:nvSpPr>
        <p:spPr bwMode="auto">
          <a:xfrm>
            <a:off x="1080770" y="1346200"/>
            <a:ext cx="3185795" cy="49539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str1 = 'HELLO'</a:t>
            </a:r>
          </a:p>
        </p:txBody>
      </p:sp>
      <p:sp>
        <p:nvSpPr>
          <p:cNvPr id="13" name="AutoShape 15"/>
          <p:cNvSpPr>
            <a:spLocks noChangeArrowheads="1"/>
          </p:cNvSpPr>
          <p:nvPr/>
        </p:nvSpPr>
        <p:spPr bwMode="auto">
          <a:xfrm>
            <a:off x="1064260" y="3625850"/>
            <a:ext cx="3185795" cy="49539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print( str1[0] )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86217" y="4256430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255" y="4513580"/>
            <a:ext cx="624840" cy="3257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69460" y="1329055"/>
            <a:ext cx="3086100" cy="2543175"/>
          </a:xfrm>
          <a:prstGeom prst="rect">
            <a:avLst/>
          </a:prstGeom>
        </p:spPr>
      </p:pic>
      <p:pic>
        <p:nvPicPr>
          <p:cNvPr id="16" name="Picture 20" descr="0quav023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80275" y="3216910"/>
            <a:ext cx="1588770" cy="2007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云形标注 16"/>
          <p:cNvSpPr/>
          <p:nvPr/>
        </p:nvSpPr>
        <p:spPr>
          <a:xfrm>
            <a:off x="7160895" y="2927350"/>
            <a:ext cx="2162810" cy="1008380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字符串和列表都属于序列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bldLvl="0" animBg="1"/>
      <p:bldP spid="13" grpId="0" bldLvl="0" animBg="1"/>
      <p:bldP spid="3" grpId="0"/>
      <p:bldP spid="17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如何引用列表内数据</a:t>
            </a: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1692910" y="1395095"/>
            <a:ext cx="5363210" cy="454434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列表名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索引下标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endParaRPr lang="zh-CN" altLang="en-US" sz="1800" b="1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84530" y="1140460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48335" y="1947545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代码示例</a:t>
            </a: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729105" y="2170430"/>
            <a:ext cx="5363210" cy="45443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menu=["羊肉泡馍","宫保鸡丁","鱼香肉丝"]</a:t>
            </a:r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1729105" y="2670175"/>
            <a:ext cx="5363210" cy="49539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正向下标：               </a:t>
            </a:r>
            <a:r>
              <a:rPr lang="en-US" altLang="zh-CN" sz="1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0                                 1                              2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反向下标： </a:t>
            </a:r>
            <a:r>
              <a:rPr lang="en-US" altLang="zh-CN" sz="1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-3                                -2                            -1</a:t>
            </a:r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1729105" y="3344545"/>
            <a:ext cx="5363845" cy="81670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print(menu[0])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print(menu[-3])</a:t>
            </a:r>
            <a:endParaRPr lang="en-US" altLang="zh-CN" sz="1800" b="1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84337" y="4214520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105" y="4455160"/>
            <a:ext cx="1066800" cy="54991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3" grpId="0"/>
      <p:bldP spid="6" grpId="0" bldLvl="0" animBg="1"/>
      <p:bldP spid="8" grpId="0" bldLvl="0" animBg="1"/>
      <p:bldP spid="10" grpId="0" bldLvl="0" animBg="1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如何修改列表内数据</a:t>
            </a: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1711960" y="1395095"/>
            <a:ext cx="5342255" cy="454434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列表名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索引下标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 = 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新值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32790" y="1127760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732790" y="1850390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代码示例</a:t>
            </a: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711960" y="2313940"/>
            <a:ext cx="4568190" cy="45443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menu=["羊肉泡馍","宫保鸡丁","鱼香肉丝"]</a:t>
            </a:r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1711960" y="2750185"/>
            <a:ext cx="4568190" cy="81670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menu[0] = 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红烧肉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print(menu)</a:t>
            </a:r>
            <a:endParaRPr lang="en-US" altLang="zh-CN" sz="1800" b="1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AutoShape 15"/>
          <p:cNvSpPr>
            <a:spLocks noChangeArrowheads="1"/>
          </p:cNvSpPr>
          <p:nvPr/>
        </p:nvSpPr>
        <p:spPr bwMode="auto">
          <a:xfrm>
            <a:off x="1711960" y="4303395"/>
            <a:ext cx="3663950" cy="454434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红烧肉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","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宫保鸡丁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","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鱼香肉丝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endParaRPr lang="en-US" altLang="zh-CN" sz="1800" b="1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703387" y="3944645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923925"/>
            <a:ext cx="2030730" cy="114998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3" grpId="0"/>
      <p:bldP spid="6" grpId="0" bldLvl="0" animBg="1"/>
      <p:bldP spid="8" grpId="0" bldLvl="0" animBg="1"/>
      <p:bldP spid="7" grpId="0" bldLvl="0" animBg="1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04280" y="120015"/>
            <a:ext cx="2722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>
              <a:defRPr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如何使用列表添加方法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1741170" y="1399540"/>
          <a:ext cx="6237605" cy="2776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方法名</a:t>
                      </a: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作用</a:t>
                      </a: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495">
                <a:tc rowSpan="3"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</a:p>
                    <a:p>
                      <a:pPr indent="0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添加</a:t>
                      </a:r>
                    </a:p>
                    <a:p>
                      <a:pPr indent="0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</a:p>
                    <a:p>
                      <a:pPr indent="0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20000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append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20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在列表末尾</a:t>
                      </a:r>
                      <a:r>
                        <a:rPr lang="zh-CN" altLang="en-US" sz="16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追</a:t>
                      </a:r>
                      <a:r>
                        <a:rPr lang="en-US" sz="16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加新的</a:t>
                      </a:r>
                      <a:r>
                        <a:rPr lang="zh-CN" altLang="en-US" sz="16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元素</a:t>
                      </a:r>
                      <a:r>
                        <a:rPr lang="en-US" sz="16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对象</a:t>
                      </a:r>
                      <a:endParaRPr lang="en-US" altLang="en-US" sz="16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elvetica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7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20000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insert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20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将对象插入列表</a:t>
                      </a:r>
                      <a:r>
                        <a:rPr lang="zh-CN" altLang="en-US" sz="16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指定位置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6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20000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extend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20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在列表末尾一次性追加另一个序列中的多个值</a:t>
                      </a:r>
                      <a:endParaRPr lang="en-US" altLang="en-US" sz="16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elvetica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如何使用列表添加方法</a:t>
            </a: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1570990" y="1753870"/>
            <a:ext cx="5648960" cy="454434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列表名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.append(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元素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   </a:t>
            </a:r>
            <a:r>
              <a:rPr 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# </a:t>
            </a:r>
            <a:r>
              <a:rPr lang="zh-CN" alt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在</a:t>
            </a:r>
            <a:r>
              <a:rPr 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列表末尾</a:t>
            </a:r>
            <a:r>
              <a:rPr lang="zh-CN" alt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追</a:t>
            </a:r>
            <a:r>
              <a:rPr 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加新的</a:t>
            </a:r>
            <a:r>
              <a:rPr lang="zh-CN" alt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元素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97205" y="1208405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97205" y="2378075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代码示例</a:t>
            </a: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570990" y="2816225"/>
            <a:ext cx="5669915" cy="45443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menu=["羊肉泡馍", "宫保鸡丁", "鱼香肉丝"]</a:t>
            </a:r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1570990" y="4521200"/>
            <a:ext cx="5041900" cy="454434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羊肉泡馍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","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宫保鸡丁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","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鱼香肉丝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水煮鱼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endParaRPr lang="en-US" altLang="zh-CN" sz="1800" b="1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AutoShape 15"/>
          <p:cNvSpPr>
            <a:spLocks noChangeArrowheads="1"/>
          </p:cNvSpPr>
          <p:nvPr/>
        </p:nvSpPr>
        <p:spPr bwMode="auto">
          <a:xfrm>
            <a:off x="1570990" y="3242945"/>
            <a:ext cx="5670550" cy="81670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menu.append(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水煮鱼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print(menu)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5123" y="737870"/>
            <a:ext cx="156527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append的使用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38922" y="4262145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3" grpId="0"/>
      <p:bldP spid="6" grpId="0" bldLvl="0" animBg="1"/>
      <p:bldP spid="8" grpId="0" bldLvl="0" animBg="1"/>
      <p:bldP spid="7" grpId="0" bldLvl="0" animBg="1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如何使用列表添加方法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1714500" y="1610360"/>
            <a:ext cx="5648960" cy="454434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列表名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.append(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元素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  </a:t>
            </a:r>
            <a:r>
              <a:rPr 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# </a:t>
            </a:r>
            <a:r>
              <a:rPr lang="zh-CN" alt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在</a:t>
            </a:r>
            <a:r>
              <a:rPr 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列表末尾</a:t>
            </a:r>
            <a:r>
              <a:rPr lang="zh-CN" alt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追</a:t>
            </a:r>
            <a:r>
              <a:rPr 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加新的</a:t>
            </a:r>
            <a:r>
              <a:rPr lang="zh-CN" alt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元素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40715" y="1280160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40715" y="2091055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代码示例</a:t>
            </a: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714500" y="2457450"/>
            <a:ext cx="4719955" cy="45443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menu=["羊肉泡馍","宫保鸡丁","鱼香肉丝"]</a:t>
            </a:r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1714500" y="4234180"/>
            <a:ext cx="4898390" cy="454434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羊肉泡馍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","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宫保鸡丁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","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鱼香肉丝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红烧肉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endParaRPr lang="en-US" altLang="zh-CN" sz="1800" b="1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AutoShape 15"/>
          <p:cNvSpPr>
            <a:spLocks noChangeArrowheads="1"/>
          </p:cNvSpPr>
          <p:nvPr/>
        </p:nvSpPr>
        <p:spPr bwMode="auto">
          <a:xfrm>
            <a:off x="1714500" y="2884170"/>
            <a:ext cx="4720590" cy="81670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menu.append([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红烧肉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print(menu)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16878" y="737870"/>
            <a:ext cx="156527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append的使用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705927" y="3820820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3" grpId="0"/>
      <p:bldP spid="6" grpId="0" bldLvl="0" animBg="1"/>
      <p:bldP spid="8" grpId="0" bldLvl="0" animBg="1"/>
      <p:bldP spid="7" grpId="0" bldLvl="0" animBg="1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如何使用列表添加方法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1570990" y="1682115"/>
            <a:ext cx="5648960" cy="454434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列表名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.insert(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下标，新元素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</a:t>
            </a:r>
            <a:r>
              <a:rPr 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 # 指定位置插入</a:t>
            </a:r>
            <a:r>
              <a:rPr lang="zh-CN" alt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新元素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97205" y="1280160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97205" y="2306320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代码示例</a:t>
            </a: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570990" y="2672715"/>
            <a:ext cx="4909185" cy="1182469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menu=["羊肉泡馍","宫保鸡丁","鱼香肉丝"]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menu.insert(0,"红烧肉")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print(menu)</a:t>
            </a:r>
            <a:endParaRPr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1570990" y="4377690"/>
            <a:ext cx="4909185" cy="454434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['红烧肉', '羊肉泡馍', '宫保鸡丁', '鱼香肉丝']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02261" y="789940"/>
            <a:ext cx="137922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insert的使用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69402" y="4140225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结果输出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835" y="815340"/>
            <a:ext cx="2030730" cy="114998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3" grpId="0"/>
      <p:bldP spid="6" grpId="0" bldLvl="0" animBg="1"/>
      <p:bldP spid="8" grpId="0" bldLvl="0" animBg="1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如何使用列表添加方法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1140460" y="1682115"/>
            <a:ext cx="6892290" cy="454434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列表名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.extend(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序列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</a:t>
            </a:r>
            <a:r>
              <a:rPr lang="en-US" sz="18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charset="0"/>
                <a:sym typeface="+mn-ea"/>
              </a:rPr>
              <a:t> # 用于快速扩展列表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31302" y="1208405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31302" y="2378075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代码示例</a:t>
            </a: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140460" y="2744470"/>
            <a:ext cx="4868545" cy="1182469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menu=["羊肉泡馍","宫保鸡丁","鱼香肉丝"]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menu.extend(["红烧肉","红烧茄子"])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print(menu)</a:t>
            </a:r>
            <a:endParaRPr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1140460" y="4377690"/>
            <a:ext cx="5832475" cy="454434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['羊肉泡馍', '宫保鸡丁', '鱼香肉丝', '红烧肉', '红烧茄子']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14961" y="789940"/>
            <a:ext cx="149733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extend的使用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31302" y="4057040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结果输出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935" y="1334135"/>
            <a:ext cx="2030730" cy="11499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0" y="3060700"/>
            <a:ext cx="1774190" cy="131699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3" grpId="0"/>
      <p:bldP spid="6" grpId="0" bldLvl="0" animBg="1"/>
      <p:bldP spid="8" grpId="0" bldLvl="0" animBg="1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如何判断列表可变</a:t>
            </a: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996950" y="1251585"/>
            <a:ext cx="7431405" cy="454434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id(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列表名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#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地址大小 如果更改前后列表在内存中的地址不变则为可变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353695" y="1875790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代码示例</a:t>
            </a: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1068070" y="2242185"/>
            <a:ext cx="4490085" cy="154188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menu=["羊肉泡馍"]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print(menu,  id(menu))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menu.extend(["红烧肉","红烧茄子"])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menu,  id(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1068070" y="4138295"/>
            <a:ext cx="4798695" cy="736697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["羊肉泡馍"] 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121011636296</a:t>
            </a: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["羊肉泡馍",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"红烧肉","红烧茄子"</a:t>
            </a:r>
            <a:r>
              <a:rPr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 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121011636296</a:t>
            </a:r>
          </a:p>
        </p:txBody>
      </p:sp>
      <p:sp>
        <p:nvSpPr>
          <p:cNvPr id="12" name="燕尾形箭头 11"/>
          <p:cNvSpPr/>
          <p:nvPr/>
        </p:nvSpPr>
        <p:spPr>
          <a:xfrm>
            <a:off x="5975350" y="4135755"/>
            <a:ext cx="1007745" cy="720090"/>
          </a:xfrm>
          <a:prstGeom prst="notch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5"/>
          <p:cNvSpPr>
            <a:spLocks noChangeArrowheads="1"/>
          </p:cNvSpPr>
          <p:nvPr/>
        </p:nvSpPr>
        <p:spPr bwMode="auto">
          <a:xfrm>
            <a:off x="7101840" y="4279265"/>
            <a:ext cx="1635125" cy="429771"/>
          </a:xfrm>
          <a:prstGeom prst="roundRect">
            <a:avLst>
              <a:gd name="adj" fmla="val 1347"/>
            </a:avLst>
          </a:prstGeom>
          <a:solidFill>
            <a:srgbClr val="0070C0"/>
          </a:solidFill>
          <a:ln w="28575">
            <a:solidFill>
              <a:schemeClr val="bg1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2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列表是可变的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82575" y="789940"/>
            <a:ext cx="98806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id的使用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6682" y="3851300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/>
      <p:bldP spid="9" grpId="0" bldLvl="0" animBg="1"/>
      <p:bldP spid="10" grpId="0" bldLvl="0" animBg="1"/>
      <p:bldP spid="12" grpId="0" bldLvl="0" animBg="1"/>
      <p:bldP spid="13" grpId="0" bldLvl="0" animBg="1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如何判断列表可变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4155" y="862965"/>
            <a:ext cx="290258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列表在内存中存储原理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2195830" y="2115820"/>
            <a:ext cx="1746885" cy="45443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menu=[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</a:p>
        </p:txBody>
      </p:sp>
      <p:sp>
        <p:nvSpPr>
          <p:cNvPr id="7" name="矩形标注 6"/>
          <p:cNvSpPr/>
          <p:nvPr/>
        </p:nvSpPr>
        <p:spPr>
          <a:xfrm>
            <a:off x="1710055" y="1278890"/>
            <a:ext cx="925830" cy="428625"/>
          </a:xfrm>
          <a:prstGeom prst="wedgeRectCallout">
            <a:avLst>
              <a:gd name="adj1" fmla="val 44035"/>
              <a:gd name="adj2" fmla="val 14703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列表名</a:t>
            </a:r>
          </a:p>
        </p:txBody>
      </p:sp>
      <p:sp>
        <p:nvSpPr>
          <p:cNvPr id="8" name="矩形标注 7"/>
          <p:cNvSpPr/>
          <p:nvPr/>
        </p:nvSpPr>
        <p:spPr>
          <a:xfrm>
            <a:off x="3177540" y="1256665"/>
            <a:ext cx="873760" cy="428625"/>
          </a:xfrm>
          <a:prstGeom prst="wedgeRectCallout">
            <a:avLst>
              <a:gd name="adj1" fmla="val -41545"/>
              <a:gd name="adj2" fmla="val 16066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列表值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635" y="2701925"/>
            <a:ext cx="2045335" cy="2411730"/>
          </a:xfrm>
          <a:prstGeom prst="rect">
            <a:avLst/>
          </a:prstGeom>
        </p:spPr>
      </p:pic>
      <p:sp>
        <p:nvSpPr>
          <p:cNvPr id="16" name="AutoShape 15"/>
          <p:cNvSpPr>
            <a:spLocks noChangeArrowheads="1"/>
          </p:cNvSpPr>
          <p:nvPr/>
        </p:nvSpPr>
        <p:spPr bwMode="auto">
          <a:xfrm>
            <a:off x="5379085" y="791210"/>
            <a:ext cx="3585210" cy="1059283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chemeClr val="bg1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字符串与数值型数据是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不可变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数据类型，一旦内存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地址确定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，则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数据不可变化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17" name="AutoShape 15"/>
          <p:cNvSpPr>
            <a:spLocks noChangeArrowheads="1"/>
          </p:cNvSpPr>
          <p:nvPr/>
        </p:nvSpPr>
        <p:spPr bwMode="auto">
          <a:xfrm>
            <a:off x="5379085" y="1850390"/>
            <a:ext cx="3585210" cy="736697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chemeClr val="bg1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列表是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数据类型，内存地址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，存储的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数据可变化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3286760" y="3075305"/>
            <a:ext cx="1285875" cy="73469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9" name="直接箭头连接符 18"/>
          <p:cNvCxnSpPr/>
          <p:nvPr/>
        </p:nvCxnSpPr>
        <p:spPr>
          <a:xfrm>
            <a:off x="3276600" y="3939540"/>
            <a:ext cx="1296035" cy="36004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2840990"/>
            <a:ext cx="1790700" cy="21336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  <p:bldP spid="16" grpId="0" bldLvl="0" animBg="1"/>
      <p:bldP spid="17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列表添加方法的应用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548" y="773068"/>
            <a:ext cx="8352928" cy="3137572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定义一个空球列表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balls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，分别手动添加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个数，打印添加后的列表和列表地址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在第二个位置插入一个字母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打印插入后的列表和列表地址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扩展列表，扩展内容为数字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打印最后结果和列表地址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0"/>
          </p:nvPr>
        </p:nvSpPr>
        <p:spPr>
          <a:xfrm>
            <a:off x="470084" y="843305"/>
            <a:ext cx="7488832" cy="360040"/>
          </a:xfrm>
        </p:spPr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2858" y="843305"/>
            <a:ext cx="216694" cy="231536"/>
            <a:chOff x="436488" y="2946400"/>
            <a:chExt cx="231776" cy="247651"/>
          </a:xfrm>
        </p:grpSpPr>
        <p:sp>
          <p:nvSpPr>
            <p:cNvPr id="6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68437" y="2990240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" y="3428365"/>
            <a:ext cx="4774565" cy="15367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列表添加方法的应用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279400" y="1201420"/>
            <a:ext cx="5597525" cy="3636800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balls = []  # 定义一个空列表</a:t>
            </a: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for i in range(3):  # 手动添加3个数</a:t>
            </a: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   ball = int(input("请输入第{}个数字：".format(i+1)))</a:t>
            </a: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   balls.append(ball)</a:t>
            </a: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print('添加后列表：{} 地址为：{}'.format(balls, id(balls)))</a:t>
            </a:r>
          </a:p>
          <a:p>
            <a:pPr algn="l">
              <a:lnSpc>
                <a:spcPct val="130000"/>
              </a:lnSpc>
            </a:pPr>
            <a:endParaRPr lang="en-US" sz="1600" dirty="0">
              <a:solidFill>
                <a:srgbClr val="09131F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balls.insert(1,'a')  # 在第二个位置插入一个字母a</a:t>
            </a: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print("插入字母a后列表：{} 地址为：{}".format(balls, id(balls)))</a:t>
            </a:r>
          </a:p>
          <a:p>
            <a:pPr algn="l">
              <a:lnSpc>
                <a:spcPct val="130000"/>
              </a:lnSpc>
            </a:pPr>
            <a:endParaRPr lang="en-US" sz="1600" dirty="0">
              <a:solidFill>
                <a:srgbClr val="09131F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balls.extend([1,2,3])  # 扩展列表，扩展内容为数字1到3</a:t>
            </a: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print('扩展后列表：{} 地址为：{}'.format(balls, id(balls)))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6380" y="749935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参考代码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439977" y="1087145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5854"/>
          <a:stretch>
            <a:fillRect/>
          </a:stretch>
        </p:blipFill>
        <p:spPr>
          <a:xfrm>
            <a:off x="5246370" y="1525270"/>
            <a:ext cx="3900805" cy="13335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 bldLvl="0" animBg="1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内容占位符 2"/>
          <p:cNvSpPr>
            <a:spLocks noGrp="1"/>
          </p:cNvSpPr>
          <p:nvPr>
            <p:ph idx="1"/>
          </p:nvPr>
        </p:nvSpPr>
        <p:spPr>
          <a:xfrm>
            <a:off x="2014220" y="1350645"/>
            <a:ext cx="5556885" cy="2357755"/>
          </a:xfrm>
        </p:spPr>
        <p:txBody>
          <a:bodyPr/>
          <a:lstStyle/>
          <a:p>
            <a:pPr>
              <a:defRPr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如何获取列表内元素方法？</a:t>
            </a:r>
          </a:p>
          <a:p>
            <a:pPr>
              <a:defRPr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列表修改方法有哪些？</a:t>
            </a:r>
          </a:p>
          <a:p>
            <a:pPr>
              <a:defRPr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列表追加方法有哪些？</a:t>
            </a:r>
          </a:p>
          <a:p>
            <a:pPr>
              <a:defRPr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列表扩展方法有哪些？</a:t>
            </a:r>
          </a:p>
          <a:p>
            <a:pPr>
              <a:defRPr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判断可变与不可变对象使用到的函数？</a:t>
            </a:r>
          </a:p>
          <a:p>
            <a:pPr marL="0" indent="0">
              <a:buNone/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28280" y="120015"/>
            <a:ext cx="1198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>
              <a:defRPr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课堂小结</a:t>
            </a:r>
          </a:p>
        </p:txBody>
      </p:sp>
    </p:spTree>
  </p:cSld>
  <p:clrMapOvr>
    <a:masterClrMapping/>
  </p:clrMapOvr>
  <p:transition spd="slow">
    <p:push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第三课时</a:t>
            </a: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列表的删除</a:t>
            </a:r>
          </a:p>
        </p:txBody>
      </p:sp>
    </p:spTree>
  </p:cSld>
  <p:clrMapOvr>
    <a:masterClrMapping/>
  </p:clrMapOvr>
  <p:transition spd="slow" advTm="964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28280" y="120015"/>
            <a:ext cx="1198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>
              <a:defRPr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知识回顾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2372995" y="1565910"/>
            <a:ext cx="5556885" cy="2357755"/>
          </a:xfrm>
        </p:spPr>
        <p:txBody>
          <a:bodyPr/>
          <a:lstStyle>
            <a:lvl1pPr marL="22733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45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u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17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5989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61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5146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如何获取列表内元素方法？</a:t>
            </a:r>
          </a:p>
          <a:p>
            <a:pPr>
              <a:defRPr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列表修改方法有哪些？</a:t>
            </a:r>
          </a:p>
          <a:p>
            <a:pPr>
              <a:defRPr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列表追加方法有哪些？</a:t>
            </a:r>
          </a:p>
          <a:p>
            <a:pPr>
              <a:defRPr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列表扩展方法有哪些？</a:t>
            </a:r>
          </a:p>
          <a:p>
            <a:pPr>
              <a:defRPr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判断可变与不可变对象使用到的函数？</a:t>
            </a:r>
          </a:p>
          <a:p>
            <a:pPr marL="0" indent="0">
              <a:buNone/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什么是列表删除方法</a:t>
            </a:r>
          </a:p>
        </p:txBody>
      </p:sp>
      <p:sp>
        <p:nvSpPr>
          <p:cNvPr id="20" name="AutoShape 17"/>
          <p:cNvSpPr>
            <a:spLocks noChangeArrowheads="1"/>
          </p:cNvSpPr>
          <p:nvPr/>
        </p:nvSpPr>
        <p:spPr bwMode="auto">
          <a:xfrm>
            <a:off x="1037590" y="1297844"/>
            <a:ext cx="5332095" cy="411038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457200" algn="l" eaLnBrk="0" hangingPunct="0">
              <a:buClr>
                <a:srgbClr val="233DA9"/>
              </a:buClr>
              <a:buSzPct val="80000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如果一个菜品，大众都不喜欢，是否该删除？</a:t>
            </a:r>
          </a:p>
        </p:txBody>
      </p:sp>
      <p:pic>
        <p:nvPicPr>
          <p:cNvPr id="3" name="Picture 20" descr="0quav023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89277" y="2837498"/>
            <a:ext cx="1719723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云形标注 7"/>
          <p:cNvSpPr/>
          <p:nvPr/>
        </p:nvSpPr>
        <p:spPr>
          <a:xfrm>
            <a:off x="7148830" y="2519680"/>
            <a:ext cx="2117725" cy="1111250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如何删除呢？</a:t>
            </a:r>
            <a:endParaRPr kumimoji="0" lang="zh-CN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793115" y="2592070"/>
          <a:ext cx="5948363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0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方法名</a:t>
                      </a: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作用</a:t>
                      </a: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pop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移除列表中的一个元素（默认最后一个元素），并且返回该元素的值</a:t>
                      </a:r>
                      <a:endParaRPr lang="en-US" alt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elvetica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remove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移除列表中某个值的第一个匹配项</a:t>
                      </a:r>
                      <a:endParaRPr lang="en-US" alt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elvetica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clear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清空整个</a:t>
                      </a: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列表</a:t>
                      </a: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内数据</a:t>
                      </a:r>
                      <a:endParaRPr lang="en-US" alt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del 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删除</a:t>
                      </a: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列表</a:t>
                      </a: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内元素或者整个列表</a:t>
                      </a:r>
                      <a:endParaRPr lang="en-US" alt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1631315" y="2870835"/>
          <a:ext cx="5110480" cy="511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810"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pop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移除列表中的一个元素（默认最后一个元素），并且返回该元素的值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elvetica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8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如何使用列表删除方法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9705" y="771525"/>
            <a:ext cx="257048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pop的使用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1475105" y="1335405"/>
            <a:ext cx="7103110" cy="454434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变量名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</a:t>
            </a: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列表名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.pop(</a:t>
            </a: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下标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       </a:t>
            </a: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1475105" y="2835910"/>
            <a:ext cx="4329430" cy="1281380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menu=["羊肉泡馍","宫保鸡丁","鱼香肉丝"]</a:t>
            </a:r>
          </a:p>
          <a:p>
            <a:pPr algn="l">
              <a:lnSpc>
                <a:spcPct val="12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n1 = menu.pop()  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print('</a:t>
            </a:r>
            <a:r>
              <a:rPr lang="zh-CN" alt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删除的数据： </a:t>
            </a: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 n1)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print('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删除后的列表：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', menu)</a:t>
            </a:r>
            <a:endParaRPr lang="en-US" altLang="zh-CN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81797" y="2421632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15"/>
          <p:cNvSpPr>
            <a:spLocks noChangeArrowheads="1"/>
          </p:cNvSpPr>
          <p:nvPr/>
        </p:nvSpPr>
        <p:spPr bwMode="auto">
          <a:xfrm>
            <a:off x="1475105" y="1710690"/>
            <a:ext cx="7103745" cy="736697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# </a:t>
            </a:r>
            <a:r>
              <a:rPr lang="zh-CN" alt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如果不写下标，下标默认值为</a:t>
            </a: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endParaRPr lang="en-US" altLang="zh-CN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pop</a:t>
            </a:r>
            <a:r>
              <a:rPr lang="zh-CN" alt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的功能是从列表删除指定下标元素，并把删除的元素赋值给前面变量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81990" y="1066165"/>
            <a:ext cx="20161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26440" y="4203065"/>
            <a:ext cx="11950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105" y="4562475"/>
            <a:ext cx="3594735" cy="535940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1990" y="1191895"/>
            <a:ext cx="180276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9" grpId="0" bldLvl="0" animBg="1"/>
      <p:bldP spid="10" grpId="0"/>
      <p:bldP spid="5" grpId="0" bldLvl="0" animBg="1"/>
      <p:bldP spid="8" grpId="0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如何使用列表删除方法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38287" y="1417062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1044575" y="1783715"/>
            <a:ext cx="4630420" cy="1281380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menu=["羊肉泡馍","宫保鸡丁","鱼香肉丝"]</a:t>
            </a:r>
          </a:p>
          <a:p>
            <a:pPr algn="l">
              <a:lnSpc>
                <a:spcPct val="12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n2 = menu.pop(0)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print('</a:t>
            </a:r>
            <a:r>
              <a:rPr lang="zh-CN" alt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删除的数据： </a:t>
            </a: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 n2)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print('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删除后的列表：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', menu)</a:t>
            </a:r>
            <a:endParaRPr lang="en-US" altLang="zh-CN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38480" y="3257550"/>
            <a:ext cx="119824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685" y="3719830"/>
            <a:ext cx="3893820" cy="671195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51460" y="771525"/>
            <a:ext cx="257048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pop的使用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 bldLvl="0" animBg="1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如何使用列表删除方法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-240665" y="789305"/>
            <a:ext cx="222504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pop易错点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61365" y="3220720"/>
            <a:ext cx="5107940" cy="37122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FF000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IndexError: pop index out of range</a:t>
            </a: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833120" y="1325245"/>
            <a:ext cx="5036185" cy="117961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menu=["羊肉泡馍","宫保鸡丁","鱼香肉丝"]</a:t>
            </a:r>
          </a:p>
          <a:p>
            <a:pPr algn="l">
              <a:lnSpc>
                <a:spcPct val="13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menu.pop(3)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print(menu)</a:t>
            </a:r>
            <a:endParaRPr lang="en-US" altLang="zh-CN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AutoShape 15"/>
          <p:cNvSpPr>
            <a:spLocks noChangeArrowheads="1"/>
          </p:cNvSpPr>
          <p:nvPr/>
        </p:nvSpPr>
        <p:spPr bwMode="auto">
          <a:xfrm>
            <a:off x="744855" y="3778250"/>
            <a:ext cx="5123815" cy="37122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FF000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索引（下标）错误 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方法中索引超出范围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0825" y="2756535"/>
            <a:ext cx="99631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3" grpId="0" bldLvl="0" animBg="1"/>
      <p:bldP spid="5" grpId="0" bldLvl="0" animBg="1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如何使用列表删除方法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AutoShape 17"/>
          <p:cNvSpPr>
            <a:spLocks noChangeArrowheads="1"/>
          </p:cNvSpPr>
          <p:nvPr/>
        </p:nvSpPr>
        <p:spPr bwMode="auto">
          <a:xfrm>
            <a:off x="750570" y="1334203"/>
            <a:ext cx="6637655" cy="408170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457200" algn="l" eaLnBrk="0" hangingPunct="0">
              <a:buClr>
                <a:srgbClr val="233DA9"/>
              </a:buClr>
              <a:buSzPct val="80000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如果菜名已经知道，但具体的位置不知道，怎么删除呢？</a:t>
            </a:r>
          </a:p>
        </p:txBody>
      </p:sp>
      <p:graphicFrame>
        <p:nvGraphicFramePr>
          <p:cNvPr id="6" name="表格 5"/>
          <p:cNvGraphicFramePr/>
          <p:nvPr/>
        </p:nvGraphicFramePr>
        <p:xfrm>
          <a:off x="1020445" y="2262505"/>
          <a:ext cx="5948363" cy="25901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0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99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方法名</a:t>
                      </a: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作用</a:t>
                      </a: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990"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pop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移除列表中的一个元素（默认最后一个元素），并且返回该元素的值</a:t>
                      </a:r>
                      <a:endParaRPr lang="en-US" alt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elvetica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9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remove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移除列表中某个值的第一个匹配项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elvetica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3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clear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清空整个</a:t>
                      </a: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列表</a:t>
                      </a: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内数据</a:t>
                      </a:r>
                      <a:endParaRPr lang="en-US" alt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9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del 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删除</a:t>
                      </a: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列表</a:t>
                      </a: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内元素或者整个列表</a:t>
                      </a:r>
                      <a:endParaRPr lang="en-US" alt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79070" y="804545"/>
            <a:ext cx="257873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remove删除方法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如何使用列表删除方法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516255" y="825500"/>
            <a:ext cx="314452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remove的使用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1765935" y="1622425"/>
            <a:ext cx="6616065" cy="454434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列表名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.remove(</a:t>
            </a: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元素名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       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53745" y="2278122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765935" y="4485640"/>
            <a:ext cx="3376295" cy="371228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['羊肉泡馍', '鱼香肉丝']</a:t>
            </a: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1765935" y="2672715"/>
            <a:ext cx="4784725" cy="117961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menu=["羊肉泡馍","宫保鸡丁","鱼香肉丝"]</a:t>
            </a:r>
          </a:p>
          <a:p>
            <a:pPr algn="l">
              <a:lnSpc>
                <a:spcPct val="13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menu.remove("宫保鸡丁")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print(menu)</a:t>
            </a:r>
            <a:endParaRPr lang="en-US" altLang="zh-CN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53745" y="4118610"/>
            <a:ext cx="108458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53745" y="1263650"/>
            <a:ext cx="180276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0" grpId="0"/>
      <p:bldP spid="6" grpId="0" bldLvl="0" animBg="1"/>
      <p:bldP spid="3" grpId="0" bldLvl="0" animBg="1"/>
      <p:bldP spid="4" grpId="0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如何使用列表删除方法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1170305" y="2169160"/>
            <a:ext cx="5005070" cy="650290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menu.remove(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红烧肉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print(menu)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10042" y="1345307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170305" y="3381375"/>
            <a:ext cx="5005070" cy="37122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FF000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ValueError: list.remove(x): x not in list</a:t>
            </a: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1170305" y="1855470"/>
            <a:ext cx="5005070" cy="37122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menu=["羊肉泡馍","宫保鸡丁","鱼香肉丝"]</a:t>
            </a:r>
            <a:endParaRPr lang="en-US" altLang="zh-CN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1170305" y="3711575"/>
            <a:ext cx="5005070" cy="37122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FF000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值错误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list.remove(x): x not in list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10235" y="2970530"/>
            <a:ext cx="106235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-466090" y="771525"/>
            <a:ext cx="314452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remove易错点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/>
      <p:bldP spid="6" grpId="0" bldLvl="0" animBg="1"/>
      <p:bldP spid="3" grpId="0" bldLvl="0" animBg="1"/>
      <p:bldP spid="4" grpId="0" bldLvl="0" animBg="1"/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如何使用列表删除方法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Picture 20" descr="0quav023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06727" y="2762568"/>
            <a:ext cx="1719723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云形标注 7"/>
          <p:cNvSpPr/>
          <p:nvPr/>
        </p:nvSpPr>
        <p:spPr>
          <a:xfrm>
            <a:off x="7041515" y="2447925"/>
            <a:ext cx="1995170" cy="1111250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餐单很多很杂，如何清空呢？</a:t>
            </a:r>
            <a:endParaRPr kumimoji="0" lang="zh-CN" altLang="en-US" sz="1600" i="0" u="none" strike="noStrike" cap="none" normalizeH="0" baseline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750570" y="1658620"/>
          <a:ext cx="5948363" cy="2446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0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方法名</a:t>
                      </a: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作用</a:t>
                      </a: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pop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移除列表中的一个元素（默认最后一个元素），并且返回该元素的值</a:t>
                      </a:r>
                      <a:endParaRPr lang="en-US" alt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elvetica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9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remove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移除列表中某个值的第一个匹配项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elvetica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clear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清空整个</a:t>
                      </a:r>
                      <a:r>
                        <a:rPr lang="en-US" sz="1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列表</a:t>
                      </a:r>
                      <a:r>
                        <a:rPr lang="en-US" sz="1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内数据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0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del 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删除</a:t>
                      </a: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列表</a:t>
                      </a: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内元素或者整个列表</a:t>
                      </a:r>
                      <a:endParaRPr lang="en-US" alt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70511" y="803910"/>
            <a:ext cx="107632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clear方法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如何使用列表删除方法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394335" y="771525"/>
            <a:ext cx="237934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clear的使用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1331595" y="1622425"/>
            <a:ext cx="2200275" cy="495398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列表名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.clear()   </a:t>
            </a: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93532" y="2206367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331595" y="4342130"/>
            <a:ext cx="864870" cy="371228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1331595" y="2744470"/>
            <a:ext cx="4799965" cy="1096405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menu=["羊肉泡馍","宫保鸡丁","鱼香肉丝"]</a:t>
            </a: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menu.clear()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print(menu)</a:t>
            </a:r>
            <a:endParaRPr lang="en-US" altLang="zh-CN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93532" y="4046855"/>
            <a:ext cx="107696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93532" y="1257042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0" grpId="0"/>
      <p:bldP spid="6" grpId="0" bldLvl="0" animBg="1"/>
      <p:bldP spid="3" grpId="0" bldLvl="0" animBg="1"/>
      <p:bldP spid="4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如何使用列表删除方法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845820" y="1614170"/>
          <a:ext cx="5948363" cy="25901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0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99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方法名</a:t>
                      </a: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作用</a:t>
                      </a: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990"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pop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移除列表中的一个元素（默认最后一个元素），并且返回该元素的值</a:t>
                      </a:r>
                      <a:endParaRPr lang="en-US" alt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elvetica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9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remove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移除列表中某个值的第一个匹配项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3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clear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清空整个</a:t>
                      </a: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列表</a:t>
                      </a:r>
                      <a:r>
                        <a:rPr lang="en-US" sz="1400" b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内数据</a:t>
                      </a:r>
                      <a:endParaRPr lang="en-US" alt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9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del 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删除</a:t>
                      </a:r>
                      <a:r>
                        <a:rPr lang="en-US" sz="1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Helvetica" charset="0"/>
                        </a:rPr>
                        <a:t>列表</a:t>
                      </a:r>
                      <a:r>
                        <a:rPr lang="en-US" sz="14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内元素或者整个列表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79400" y="798195"/>
            <a:ext cx="130937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del删除方法</a:t>
            </a:r>
          </a:p>
        </p:txBody>
      </p:sp>
      <p:pic>
        <p:nvPicPr>
          <p:cNvPr id="3" name="Picture 20" descr="0quav023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06727" y="2762568"/>
            <a:ext cx="1719723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云形标注 7"/>
          <p:cNvSpPr/>
          <p:nvPr/>
        </p:nvSpPr>
        <p:spPr>
          <a:xfrm>
            <a:off x="6907530" y="2447925"/>
            <a:ext cx="2469515" cy="1111250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lvl="1" indent="457200" algn="l" ea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这么多删除，有方便的删除么？</a:t>
            </a:r>
            <a:endParaRPr kumimoji="0" lang="zh-CN" altLang="en-US" sz="1600" i="0" u="none" strike="noStrike" cap="none" normalizeH="0" baseline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如何使用列表删除方法</a:t>
            </a: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1694180" y="3003550"/>
            <a:ext cx="4856480" cy="1096399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menu=["羊肉泡馍","宫保鸡丁","鱼香肉丝"]</a:t>
            </a:r>
          </a:p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del menu</a:t>
            </a:r>
            <a:endParaRPr lang="en-US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print(menu)</a:t>
            </a:r>
            <a:endParaRPr lang="en-US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65287" y="2565142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-254635" y="858520"/>
            <a:ext cx="198564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del的使用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690370" y="1637030"/>
            <a:ext cx="6604000" cy="454434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del  </a:t>
            </a: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列表名      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</a:t>
            </a: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删除整个列表</a:t>
            </a:r>
          </a:p>
        </p:txBody>
      </p:sp>
      <p:sp>
        <p:nvSpPr>
          <p:cNvPr id="7" name="AutoShape 15"/>
          <p:cNvSpPr>
            <a:spLocks noChangeArrowheads="1"/>
          </p:cNvSpPr>
          <p:nvPr/>
        </p:nvSpPr>
        <p:spPr bwMode="auto">
          <a:xfrm>
            <a:off x="1678940" y="2120900"/>
            <a:ext cx="6616700" cy="454434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del  </a:t>
            </a: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列表名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下标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</a:t>
            </a: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删除指定元素</a:t>
            </a:r>
          </a:p>
        </p:txBody>
      </p:sp>
      <p:sp>
        <p:nvSpPr>
          <p:cNvPr id="11" name="AutoShape 15"/>
          <p:cNvSpPr>
            <a:spLocks noChangeArrowheads="1"/>
          </p:cNvSpPr>
          <p:nvPr/>
        </p:nvSpPr>
        <p:spPr bwMode="auto">
          <a:xfrm>
            <a:off x="1694180" y="4604385"/>
            <a:ext cx="4857115" cy="371228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NameError: name 'menu' is not defined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65287" y="4263390"/>
            <a:ext cx="10680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65287" y="1328797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/>
      <p:bldP spid="6" grpId="0" bldLvl="0" animBg="1"/>
      <p:bldP spid="7" grpId="0" bldLvl="0" animBg="1"/>
      <p:bldP spid="11" grpId="0" bldLvl="0" animBg="1"/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列表删除方法的应用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1033" y="771798"/>
            <a:ext cx="8352928" cy="3137572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定义一个球号列表，存储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个数，删除第一个数，并打印删除的这个数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然后删除列表中的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，打印现在的列表，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最后清空列表，打印列表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最后从内存中删除整个列表，打印最后的结果。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0"/>
          </p:nvPr>
        </p:nvSpPr>
        <p:spPr>
          <a:xfrm>
            <a:off x="470084" y="843305"/>
            <a:ext cx="7488832" cy="360040"/>
          </a:xfrm>
        </p:spPr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2858" y="843305"/>
            <a:ext cx="216694" cy="231536"/>
            <a:chOff x="436488" y="2946400"/>
            <a:chExt cx="231776" cy="247651"/>
          </a:xfrm>
        </p:grpSpPr>
        <p:sp>
          <p:nvSpPr>
            <p:cNvPr id="6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95" y="3783965"/>
            <a:ext cx="2009775" cy="790575"/>
          </a:xfrm>
          <a:prstGeom prst="rect">
            <a:avLst/>
          </a:prstGeom>
        </p:spPr>
      </p:pic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47040" y="3185795"/>
            <a:ext cx="10826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3750945"/>
            <a:ext cx="2892425" cy="85725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列表删除方法的应用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690880" y="1063625"/>
            <a:ext cx="6723380" cy="2994795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balls = [1, 2, 3, 4, 5, 6, 7, 8, 9]  # 定义一个球号列表，存储1到9共9个数</a:t>
            </a: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ball_no1 = balls.pop(0)   # 删除第一个数，并打印删除的这个数</a:t>
            </a:r>
            <a:endParaRPr lang="en-US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print(ball_no1)</a:t>
            </a:r>
            <a:endParaRPr lang="en-US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balls.remove(5)  # 删除列表中的5，打印现在的列表</a:t>
            </a:r>
            <a:endParaRPr lang="en-US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print(balls)</a:t>
            </a:r>
            <a:endParaRPr lang="en-US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balls.clear()  # 最后清空列表，打印列表</a:t>
            </a:r>
            <a:endParaRPr lang="en-US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print(balls)</a:t>
            </a:r>
            <a:endParaRPr lang="en-US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del balls  # 从内存中删除整个列表</a:t>
            </a:r>
            <a:endParaRPr lang="en-US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print(balls)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6380" y="749935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参考代码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305" y="4214495"/>
            <a:ext cx="2009775" cy="790575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88265" y="4046855"/>
            <a:ext cx="10826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935" y="4181475"/>
            <a:ext cx="2892425" cy="85725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 bldLvl="0" animBg="1"/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第四课时</a:t>
            </a: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列表的排序</a:t>
            </a:r>
          </a:p>
        </p:txBody>
      </p:sp>
    </p:spTree>
  </p:cSld>
  <p:clrMapOvr>
    <a:masterClrMapping/>
  </p:clrMapOvr>
  <p:transition spd="slow" advTm="964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65" y="838200"/>
            <a:ext cx="4756150" cy="394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为什么使用排序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20" descr="0quav023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05102" y="2898458"/>
            <a:ext cx="1719723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云形标注 7"/>
          <p:cNvSpPr/>
          <p:nvPr/>
        </p:nvSpPr>
        <p:spPr>
          <a:xfrm>
            <a:off x="6847205" y="2583815"/>
            <a:ext cx="2117725" cy="1111250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如何操作呢？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爆炸形 2 9"/>
          <p:cNvSpPr/>
          <p:nvPr/>
        </p:nvSpPr>
        <p:spPr>
          <a:xfrm>
            <a:off x="5246370" y="1403985"/>
            <a:ext cx="2663825" cy="1368425"/>
          </a:xfrm>
          <a:prstGeom prst="irregularSeal2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zh-CN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</a:t>
            </a:r>
          </a:p>
        </p:txBody>
      </p:sp>
      <p:sp>
        <p:nvSpPr>
          <p:cNvPr id="5" name="矩形 4"/>
          <p:cNvSpPr/>
          <p:nvPr/>
        </p:nvSpPr>
        <p:spPr>
          <a:xfrm>
            <a:off x="1043940" y="2030730"/>
            <a:ext cx="1368425" cy="955675"/>
          </a:xfrm>
          <a:prstGeom prst="rect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bldLvl="0" animBg="1"/>
      <p:bldP spid="5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Browallia New" charset="0"/>
              </a:rPr>
              <a:t>什么是排序</a:t>
            </a:r>
          </a:p>
        </p:txBody>
      </p:sp>
      <p:sp>
        <p:nvSpPr>
          <p:cNvPr id="2" name="椭圆 1"/>
          <p:cNvSpPr/>
          <p:nvPr/>
        </p:nvSpPr>
        <p:spPr>
          <a:xfrm>
            <a:off x="544830" y="1763078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</a:t>
            </a:r>
            <a:endParaRPr lang="en-US" altLang="zh-CN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14"/>
          <p:cNvSpPr txBox="1"/>
          <p:nvPr/>
        </p:nvSpPr>
        <p:spPr>
          <a:xfrm>
            <a:off x="114618" y="1348740"/>
            <a:ext cx="18573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被定义项</a:t>
            </a:r>
          </a:p>
        </p:txBody>
      </p:sp>
      <p:sp>
        <p:nvSpPr>
          <p:cNvPr id="11" name="Text Box 8"/>
          <p:cNvSpPr txBox="1"/>
          <p:nvPr/>
        </p:nvSpPr>
        <p:spPr>
          <a:xfrm>
            <a:off x="1651000" y="134874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临近的属</a:t>
            </a:r>
          </a:p>
        </p:txBody>
      </p:sp>
      <p:sp>
        <p:nvSpPr>
          <p:cNvPr id="3" name="椭圆 2"/>
          <p:cNvSpPr/>
          <p:nvPr/>
        </p:nvSpPr>
        <p:spPr>
          <a:xfrm>
            <a:off x="2137093" y="1717040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</a:p>
        </p:txBody>
      </p:sp>
      <p:sp>
        <p:nvSpPr>
          <p:cNvPr id="14" name="Text Box 12"/>
          <p:cNvSpPr txBox="1"/>
          <p:nvPr/>
        </p:nvSpPr>
        <p:spPr>
          <a:xfrm>
            <a:off x="5777230" y="1348740"/>
            <a:ext cx="17716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种差（内涵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467985" y="1840230"/>
            <a:ext cx="3449320" cy="932815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extBox 22"/>
          <p:cNvSpPr txBox="1"/>
          <p:nvPr/>
        </p:nvSpPr>
        <p:spPr>
          <a:xfrm>
            <a:off x="5650865" y="2101850"/>
            <a:ext cx="4113213" cy="532130"/>
          </a:xfrm>
          <a:prstGeom prst="rect">
            <a:avLst/>
          </a:prstGeom>
          <a:noFill/>
          <a:ln w="9525">
            <a:noFill/>
          </a:ln>
        </p:spPr>
        <p:txBody>
          <a:bodyPr wrap="square" lIns="91405" tIns="45702" rIns="91405" bIns="4570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1.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将数据从无序变有序</a:t>
            </a: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38070" y="3139765"/>
            <a:ext cx="45916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定义:排序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是一种将数据从无序变有序的操作</a:t>
            </a:r>
            <a:endParaRPr lang="zh-CN" altLang="en-US" b="1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 Box 8"/>
          <p:cNvSpPr txBox="1"/>
          <p:nvPr/>
        </p:nvSpPr>
        <p:spPr>
          <a:xfrm>
            <a:off x="3380105" y="134874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同属的其它种</a:t>
            </a:r>
          </a:p>
        </p:txBody>
      </p:sp>
      <p:sp>
        <p:nvSpPr>
          <p:cNvPr id="15" name="椭圆 14"/>
          <p:cNvSpPr/>
          <p:nvPr/>
        </p:nvSpPr>
        <p:spPr>
          <a:xfrm>
            <a:off x="3830320" y="1717040"/>
            <a:ext cx="1283970" cy="1222375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altLang="zh-CN" sz="14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添加、   </a:t>
            </a:r>
          </a:p>
          <a:p>
            <a:pPr algn="ctr" fontAlgn="base"/>
            <a:r>
              <a:rPr lang="zh-CN" altLang="en-US" sz="14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删除、 修改、 查看、</a:t>
            </a:r>
          </a:p>
        </p:txBody>
      </p:sp>
      <p:sp>
        <p:nvSpPr>
          <p:cNvPr id="18" name="AutoShape 7"/>
          <p:cNvSpPr/>
          <p:nvPr/>
        </p:nvSpPr>
        <p:spPr>
          <a:xfrm flipH="1">
            <a:off x="937260" y="2939415"/>
            <a:ext cx="215900" cy="952500"/>
          </a:xfrm>
          <a:prstGeom prst="downArrow">
            <a:avLst>
              <a:gd name="adj1" fmla="val 50000"/>
              <a:gd name="adj2" fmla="val 6646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8"/>
          <p:cNvSpPr txBox="1"/>
          <p:nvPr/>
        </p:nvSpPr>
        <p:spPr>
          <a:xfrm>
            <a:off x="369325" y="3428535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外延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3222035" y="4012350"/>
            <a:ext cx="2480356" cy="485918"/>
            <a:chOff x="2782599" y="1459401"/>
            <a:chExt cx="1870251" cy="276935"/>
          </a:xfrm>
          <a:solidFill>
            <a:schemeClr val="accent1"/>
          </a:solidFill>
        </p:grpSpPr>
        <p:sp>
          <p:nvSpPr>
            <p:cNvPr id="34" name="AutoShape 5"/>
            <p:cNvSpPr>
              <a:spLocks noChangeArrowheads="1"/>
            </p:cNvSpPr>
            <p:nvPr/>
          </p:nvSpPr>
          <p:spPr bwMode="auto">
            <a:xfrm>
              <a:off x="2782599" y="1459401"/>
              <a:ext cx="1870251" cy="276935"/>
            </a:xfrm>
            <a:prstGeom prst="chevron">
              <a:avLst>
                <a:gd name="adj" fmla="val 12153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2997593" y="1507535"/>
              <a:ext cx="1491634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r>
                <a:rPr lang="zh-CN" altLang="zh-CN" sz="21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降序</a:t>
              </a:r>
              <a:endParaRPr lang="zh-CN" altLang="zh-CN" sz="2100" b="1" strike="noStrike" kern="0" noProof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21494" y="4012353"/>
            <a:ext cx="2477832" cy="485919"/>
            <a:chOff x="897128" y="1459399"/>
            <a:chExt cx="1868348" cy="276935"/>
          </a:xfrm>
          <a:solidFill>
            <a:schemeClr val="accent1"/>
          </a:solidFill>
        </p:grpSpPr>
        <p:sp>
          <p:nvSpPr>
            <p:cNvPr id="37" name="AutoShape 7"/>
            <p:cNvSpPr>
              <a:spLocks noChangeArrowheads="1"/>
            </p:cNvSpPr>
            <p:nvPr/>
          </p:nvSpPr>
          <p:spPr bwMode="auto">
            <a:xfrm>
              <a:off x="897128" y="1459399"/>
              <a:ext cx="1868348" cy="276935"/>
            </a:xfrm>
            <a:prstGeom prst="homePlate">
              <a:avLst>
                <a:gd name="adj" fmla="val 11944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8"/>
            <p:cNvSpPr txBox="1">
              <a:spLocks noChangeArrowheads="1"/>
            </p:cNvSpPr>
            <p:nvPr/>
          </p:nvSpPr>
          <p:spPr bwMode="auto">
            <a:xfrm>
              <a:off x="978940" y="1507535"/>
              <a:ext cx="1649550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r>
                <a:rPr lang="zh-CN" altLang="zh-CN" sz="2100" b="1" strike="noStrike" kern="0" noProof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升序</a:t>
              </a: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/>
      <p:bldP spid="11" grpId="0"/>
      <p:bldP spid="3" grpId="0" bldLvl="0" animBg="1"/>
      <p:bldP spid="14" grpId="0"/>
      <p:bldP spid="7" grpId="0"/>
      <p:bldP spid="10" grpId="0"/>
      <p:bldP spid="12" grpId="0"/>
      <p:bldP spid="15" grpId="0" bldLvl="0" animBg="1"/>
      <p:bldP spid="18" grpId="0" bldLvl="0" animBg="1"/>
      <p:bldP spid="1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如何使用列表排序方法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-179070" y="843280"/>
            <a:ext cx="187706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sort的使用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1633855" y="1669415"/>
            <a:ext cx="6616700" cy="454434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列表名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.sort()   # </a:t>
            </a: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默认按照升序排序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93532" y="2134612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633855" y="4317365"/>
            <a:ext cx="1691005" cy="371228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[10, 20, 40]</a:t>
            </a: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1633855" y="2576195"/>
            <a:ext cx="2437130" cy="1096399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prices=[20,40,10]</a:t>
            </a: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prices.sort()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print(prices)</a:t>
            </a:r>
            <a:endParaRPr lang="en-US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93532" y="4013200"/>
            <a:ext cx="100774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04000" y="2839720"/>
            <a:ext cx="2239645" cy="2343150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93532" y="1328797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0" grpId="0"/>
      <p:bldP spid="6" grpId="0" bldLvl="0" animBg="1"/>
      <p:bldP spid="3" grpId="0" bldLvl="0" animBg="1"/>
      <p:bldP spid="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如何使用列表排序方法</a:t>
            </a: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1040765" y="1694180"/>
            <a:ext cx="6692265" cy="454434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列表名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.sort(reverse=True)   # </a:t>
            </a: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按照降序排序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93532" y="2206367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116330" y="4413885"/>
            <a:ext cx="2207895" cy="371228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[40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20, 10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1116330" y="2672715"/>
            <a:ext cx="3366770" cy="117961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prices=[20,40,10]</a:t>
            </a:r>
          </a:p>
          <a:p>
            <a:pPr algn="l">
              <a:lnSpc>
                <a:spcPct val="13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prices.sort(reverse=True)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print(prices)</a:t>
            </a:r>
            <a:endParaRPr lang="en-US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93532" y="3982085"/>
            <a:ext cx="100838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-179070" y="843280"/>
            <a:ext cx="187706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sort的使用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93532" y="1400552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000875" y="2756535"/>
            <a:ext cx="2118360" cy="234315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0" grpId="0"/>
      <p:bldP spid="6" grpId="0" bldLvl="0" animBg="1"/>
      <p:bldP spid="3" grpId="0" bldLvl="0" animBg="1"/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如何使用列表排序方法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2871" y="170563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20" descr="0quav023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05102" y="1606868"/>
            <a:ext cx="1719723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云形标注 7"/>
          <p:cNvSpPr/>
          <p:nvPr/>
        </p:nvSpPr>
        <p:spPr>
          <a:xfrm>
            <a:off x="5797550" y="1468755"/>
            <a:ext cx="3239770" cy="842645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如果旧列表数据今后还有用，这可怎么办？</a:t>
            </a:r>
            <a:endParaRPr kumimoji="0" lang="zh-CN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1019175" y="3266440"/>
            <a:ext cx="1761490" cy="371228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[10, 20, 40]</a:t>
            </a:r>
          </a:p>
        </p:txBody>
      </p:sp>
      <p:sp>
        <p:nvSpPr>
          <p:cNvPr id="7" name="AutoShape 15"/>
          <p:cNvSpPr>
            <a:spLocks noChangeArrowheads="1"/>
          </p:cNvSpPr>
          <p:nvPr/>
        </p:nvSpPr>
        <p:spPr bwMode="auto">
          <a:xfrm>
            <a:off x="1021080" y="1488440"/>
            <a:ext cx="3295650" cy="93155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prices=[20,40,10]</a:t>
            </a:r>
          </a:p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prices.sort()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print(prices)</a:t>
            </a:r>
            <a:endParaRPr lang="en-US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-104140" y="810895"/>
            <a:ext cx="19240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sorted排序</a:t>
            </a:r>
            <a:endParaRPr lang="zh-CN" altLang="en-US" sz="1600" dirty="0"/>
          </a:p>
          <a:p>
            <a:pPr eaLnBrk="0" hangingPunct="0"/>
            <a:endParaRPr lang="zh-CN" altLang="en-US" sz="16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27660" y="2828290"/>
            <a:ext cx="11938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3" grpId="0" bldLvl="0" animBg="1"/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如何使用列表排序方法</a:t>
            </a:r>
            <a:endParaRPr lang="zh-CN" alt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51460" y="843280"/>
            <a:ext cx="21685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sorted的使用</a:t>
            </a:r>
            <a:endParaRPr lang="zh-CN" altLang="en-US" sz="1600" dirty="0"/>
          </a:p>
          <a:p>
            <a:pPr eaLnBrk="0" hangingPunct="0"/>
            <a:endParaRPr lang="zh-CN" altLang="en-US" sz="1600" dirty="0"/>
          </a:p>
          <a:p>
            <a:pPr eaLnBrk="0" hangingPunct="0"/>
            <a:endParaRPr lang="zh-CN" altLang="en-US" sz="1600" dirty="0"/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1618615" y="1407160"/>
            <a:ext cx="6616065" cy="495398"/>
          </a:xfrm>
          <a:prstGeom prst="roundRect">
            <a:avLst>
              <a:gd name="adj" fmla="val 1347"/>
            </a:avLst>
          </a:prstGeom>
          <a:noFill/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DF5FD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新列表名 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sorted(</a:t>
            </a:r>
            <a:r>
              <a:rPr lang="zh-CN" altLang="en-US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列表名</a:t>
            </a:r>
            <a:r>
              <a:rPr lang="en-US" altLang="zh-CN" sz="1800" b="1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en-US" altLang="zh-CN" sz="2000" b="1" dirty="0">
                <a:solidFill>
                  <a:srgbClr val="09131F"/>
                </a:solidFill>
              </a:rPr>
              <a:t> </a:t>
            </a: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1618615" y="2699385"/>
            <a:ext cx="3306445" cy="929352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 = sorted(prices)</a:t>
            </a:r>
          </a:p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print("Old:", prices)</a:t>
            </a:r>
          </a:p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print("New:", p)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65287" y="1991102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</a:t>
            </a:r>
            <a:endParaRPr lang="zh-CN" altLang="en-US" sz="1600" dirty="0"/>
          </a:p>
          <a:p>
            <a:pPr marL="0" indent="0" algn="l" eaLnBrk="0" hangingPunct="0"/>
            <a:endParaRPr lang="zh-CN" altLang="en-US" sz="1600" dirty="0"/>
          </a:p>
          <a:p>
            <a:pPr marL="0" indent="0" algn="l" eaLnBrk="0" hangingPunct="0"/>
            <a:endParaRPr lang="zh-CN" altLang="en-US" sz="1600" dirty="0"/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618615" y="4198620"/>
            <a:ext cx="2711450" cy="650290"/>
          </a:xfrm>
          <a:prstGeom prst="roundRect">
            <a:avLst>
              <a:gd name="adj" fmla="val 1347"/>
            </a:avLst>
          </a:prstGeom>
          <a:solidFill>
            <a:schemeClr val="bg1"/>
          </a:solidFill>
          <a:ln w="28575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Old: [20, 40, 10]</a:t>
            </a:r>
          </a:p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New: [10, 20, 40]</a:t>
            </a:r>
          </a:p>
        </p:txBody>
      </p:sp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1618615" y="2385695"/>
            <a:ext cx="3306445" cy="371228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prices=[20,40,10]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65287" y="3761105"/>
            <a:ext cx="120078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输出结果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65287" y="1185287"/>
            <a:ext cx="10081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0" hangingPunct="0"/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</a:t>
            </a:r>
            <a:endParaRPr lang="zh-CN" altLang="en-US" sz="1600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9" grpId="0" bldLvl="0" animBg="1"/>
      <p:bldP spid="10" grpId="0"/>
      <p:bldP spid="6" grpId="0" bldLvl="0" animBg="1"/>
      <p:bldP spid="3" grpId="0" bldLvl="0" animBg="1"/>
      <p:bldP spid="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如何使用列表排序方法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9705" y="843280"/>
            <a:ext cx="26257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sort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与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sorted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排序的区别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421130" y="1800225"/>
          <a:ext cx="5948363" cy="1926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0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99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方法名</a:t>
                      </a: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作用</a:t>
                      </a:r>
                      <a:endParaRPr lang="en-US" altLang="en-US" sz="18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990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排序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sort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原地排序，改变了原列表</a:t>
                      </a:r>
                      <a:endParaRPr lang="en-US" alt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elvetica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9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sorted</a:t>
                      </a:r>
                      <a:endParaRPr lang="en-US" sz="1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对原列表进行排序，然后返回排序后的新列表，不改变原列表。</a:t>
                      </a:r>
                      <a:endParaRPr lang="en-US" altLang="zh-CN" sz="1400" b="1" dirty="0">
                        <a:solidFill>
                          <a:srgbClr val="0913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>
                        <a:buNone/>
                      </a:pPr>
                      <a:endParaRPr lang="en-US" sz="1400" b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elvetica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需求说明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设计存球系统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思路分析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理清业务流程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循环输入红球号码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把红球号码存到列表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排序红球列表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7243" y="2038043"/>
            <a:ext cx="247650" cy="244475"/>
            <a:chOff x="6660232" y="1684535"/>
            <a:chExt cx="247650" cy="244475"/>
          </a:xfrm>
        </p:grpSpPr>
        <p:sp>
          <p:nvSpPr>
            <p:cNvPr id="6" name="Oval 70"/>
            <p:cNvSpPr>
              <a:spLocks noChangeArrowheads="1"/>
            </p:cNvSpPr>
            <p:nvPr/>
          </p:nvSpPr>
          <p:spPr bwMode="auto">
            <a:xfrm>
              <a:off x="6709445" y="1736923"/>
              <a:ext cx="146050" cy="146050"/>
            </a:xfrm>
            <a:prstGeom prst="ellipse">
              <a:avLst/>
            </a:pr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71"/>
            <p:cNvSpPr/>
            <p:nvPr/>
          </p:nvSpPr>
          <p:spPr bwMode="auto">
            <a:xfrm>
              <a:off x="6761832" y="1890910"/>
              <a:ext cx="47625" cy="15875"/>
            </a:xfrm>
            <a:custGeom>
              <a:avLst/>
              <a:gdLst>
                <a:gd name="T0" fmla="*/ 0 w 30"/>
                <a:gd name="T1" fmla="*/ 0 h 10"/>
                <a:gd name="T2" fmla="*/ 30 w 30"/>
                <a:gd name="T3" fmla="*/ 0 h 10"/>
                <a:gd name="T4" fmla="*/ 30 w 30"/>
                <a:gd name="T5" fmla="*/ 10 h 10"/>
                <a:gd name="T6" fmla="*/ 0 w 30"/>
                <a:gd name="T7" fmla="*/ 10 h 10"/>
                <a:gd name="T8" fmla="*/ 0 w 30"/>
                <a:gd name="T9" fmla="*/ 0 h 10"/>
                <a:gd name="T10" fmla="*/ 0 w 30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0">
                  <a:moveTo>
                    <a:pt x="0" y="0"/>
                  </a:moveTo>
                  <a:lnTo>
                    <a:pt x="30" y="0"/>
                  </a:lnTo>
                  <a:lnTo>
                    <a:pt x="30" y="1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72"/>
            <p:cNvSpPr/>
            <p:nvPr/>
          </p:nvSpPr>
          <p:spPr bwMode="auto">
            <a:xfrm>
              <a:off x="6772945" y="1909960"/>
              <a:ext cx="30163" cy="19050"/>
            </a:xfrm>
            <a:custGeom>
              <a:avLst/>
              <a:gdLst>
                <a:gd name="T0" fmla="*/ 0 w 19"/>
                <a:gd name="T1" fmla="*/ 0 h 12"/>
                <a:gd name="T2" fmla="*/ 19 w 19"/>
                <a:gd name="T3" fmla="*/ 0 h 12"/>
                <a:gd name="T4" fmla="*/ 19 w 19"/>
                <a:gd name="T5" fmla="*/ 12 h 12"/>
                <a:gd name="T6" fmla="*/ 0 w 19"/>
                <a:gd name="T7" fmla="*/ 12 h 12"/>
                <a:gd name="T8" fmla="*/ 0 w 19"/>
                <a:gd name="T9" fmla="*/ 0 h 12"/>
                <a:gd name="T10" fmla="*/ 0 w 19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2">
                  <a:moveTo>
                    <a:pt x="0" y="0"/>
                  </a:moveTo>
                  <a:lnTo>
                    <a:pt x="19" y="0"/>
                  </a:lnTo>
                  <a:lnTo>
                    <a:pt x="19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73"/>
            <p:cNvSpPr/>
            <p:nvPr/>
          </p:nvSpPr>
          <p:spPr bwMode="auto">
            <a:xfrm>
              <a:off x="6772945" y="1684535"/>
              <a:ext cx="22225" cy="38100"/>
            </a:xfrm>
            <a:custGeom>
              <a:avLst/>
              <a:gdLst>
                <a:gd name="T0" fmla="*/ 0 w 14"/>
                <a:gd name="T1" fmla="*/ 0 h 24"/>
                <a:gd name="T2" fmla="*/ 14 w 14"/>
                <a:gd name="T3" fmla="*/ 0 h 24"/>
                <a:gd name="T4" fmla="*/ 14 w 14"/>
                <a:gd name="T5" fmla="*/ 24 h 24"/>
                <a:gd name="T6" fmla="*/ 0 w 14"/>
                <a:gd name="T7" fmla="*/ 24 h 24"/>
                <a:gd name="T8" fmla="*/ 0 w 14"/>
                <a:gd name="T9" fmla="*/ 0 h 24"/>
                <a:gd name="T10" fmla="*/ 0 w 14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">
                  <a:moveTo>
                    <a:pt x="0" y="0"/>
                  </a:moveTo>
                  <a:lnTo>
                    <a:pt x="14" y="0"/>
                  </a:lnTo>
                  <a:lnTo>
                    <a:pt x="14" y="2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74"/>
            <p:cNvSpPr/>
            <p:nvPr/>
          </p:nvSpPr>
          <p:spPr bwMode="auto">
            <a:xfrm>
              <a:off x="6866607" y="1778198"/>
              <a:ext cx="41275" cy="22225"/>
            </a:xfrm>
            <a:custGeom>
              <a:avLst/>
              <a:gdLst>
                <a:gd name="T0" fmla="*/ 0 w 26"/>
                <a:gd name="T1" fmla="*/ 0 h 14"/>
                <a:gd name="T2" fmla="*/ 26 w 26"/>
                <a:gd name="T3" fmla="*/ 0 h 14"/>
                <a:gd name="T4" fmla="*/ 26 w 26"/>
                <a:gd name="T5" fmla="*/ 14 h 14"/>
                <a:gd name="T6" fmla="*/ 0 w 26"/>
                <a:gd name="T7" fmla="*/ 14 h 14"/>
                <a:gd name="T8" fmla="*/ 0 w 26"/>
                <a:gd name="T9" fmla="*/ 0 h 14"/>
                <a:gd name="T10" fmla="*/ 0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0" y="0"/>
                  </a:moveTo>
                  <a:lnTo>
                    <a:pt x="26" y="0"/>
                  </a:lnTo>
                  <a:lnTo>
                    <a:pt x="2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75"/>
            <p:cNvSpPr/>
            <p:nvPr/>
          </p:nvSpPr>
          <p:spPr bwMode="auto">
            <a:xfrm>
              <a:off x="6660232" y="1778198"/>
              <a:ext cx="38100" cy="22225"/>
            </a:xfrm>
            <a:custGeom>
              <a:avLst/>
              <a:gdLst>
                <a:gd name="T0" fmla="*/ 0 w 24"/>
                <a:gd name="T1" fmla="*/ 0 h 14"/>
                <a:gd name="T2" fmla="*/ 24 w 24"/>
                <a:gd name="T3" fmla="*/ 0 h 14"/>
                <a:gd name="T4" fmla="*/ 24 w 24"/>
                <a:gd name="T5" fmla="*/ 14 h 14"/>
                <a:gd name="T6" fmla="*/ 0 w 24"/>
                <a:gd name="T7" fmla="*/ 14 h 14"/>
                <a:gd name="T8" fmla="*/ 0 w 24"/>
                <a:gd name="T9" fmla="*/ 0 h 14"/>
                <a:gd name="T10" fmla="*/ 0 w 24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4">
                  <a:moveTo>
                    <a:pt x="0" y="0"/>
                  </a:moveTo>
                  <a:lnTo>
                    <a:pt x="24" y="0"/>
                  </a:lnTo>
                  <a:lnTo>
                    <a:pt x="24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76"/>
            <p:cNvSpPr/>
            <p:nvPr/>
          </p:nvSpPr>
          <p:spPr bwMode="auto">
            <a:xfrm>
              <a:off x="6701507" y="1717873"/>
              <a:ext cx="33338" cy="34925"/>
            </a:xfrm>
            <a:custGeom>
              <a:avLst/>
              <a:gdLst>
                <a:gd name="T0" fmla="*/ 0 w 21"/>
                <a:gd name="T1" fmla="*/ 12 h 22"/>
                <a:gd name="T2" fmla="*/ 12 w 21"/>
                <a:gd name="T3" fmla="*/ 0 h 22"/>
                <a:gd name="T4" fmla="*/ 21 w 21"/>
                <a:gd name="T5" fmla="*/ 12 h 22"/>
                <a:gd name="T6" fmla="*/ 12 w 21"/>
                <a:gd name="T7" fmla="*/ 22 h 22"/>
                <a:gd name="T8" fmla="*/ 0 w 21"/>
                <a:gd name="T9" fmla="*/ 12 h 22"/>
                <a:gd name="T10" fmla="*/ 0 w 21"/>
                <a:gd name="T11" fmla="*/ 12 h 22"/>
                <a:gd name="T12" fmla="*/ 0 w 21"/>
                <a:gd name="T13" fmla="*/ 1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2">
                  <a:moveTo>
                    <a:pt x="0" y="12"/>
                  </a:moveTo>
                  <a:lnTo>
                    <a:pt x="12" y="0"/>
                  </a:lnTo>
                  <a:lnTo>
                    <a:pt x="21" y="12"/>
                  </a:lnTo>
                  <a:lnTo>
                    <a:pt x="12" y="2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77"/>
            <p:cNvSpPr/>
            <p:nvPr/>
          </p:nvSpPr>
          <p:spPr bwMode="auto">
            <a:xfrm>
              <a:off x="6833270" y="1722635"/>
              <a:ext cx="33338" cy="30163"/>
            </a:xfrm>
            <a:custGeom>
              <a:avLst/>
              <a:gdLst>
                <a:gd name="T0" fmla="*/ 11 w 21"/>
                <a:gd name="T1" fmla="*/ 0 h 19"/>
                <a:gd name="T2" fmla="*/ 21 w 21"/>
                <a:gd name="T3" fmla="*/ 9 h 19"/>
                <a:gd name="T4" fmla="*/ 11 w 21"/>
                <a:gd name="T5" fmla="*/ 19 h 19"/>
                <a:gd name="T6" fmla="*/ 0 w 21"/>
                <a:gd name="T7" fmla="*/ 9 h 19"/>
                <a:gd name="T8" fmla="*/ 11 w 21"/>
                <a:gd name="T9" fmla="*/ 0 h 19"/>
                <a:gd name="T10" fmla="*/ 11 w 21"/>
                <a:gd name="T11" fmla="*/ 0 h 19"/>
                <a:gd name="T12" fmla="*/ 11 w 21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9">
                  <a:moveTo>
                    <a:pt x="11" y="0"/>
                  </a:moveTo>
                  <a:lnTo>
                    <a:pt x="21" y="9"/>
                  </a:lnTo>
                  <a:lnTo>
                    <a:pt x="11" y="1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t="945"/>
          <a:stretch>
            <a:fillRect/>
          </a:stretch>
        </p:blipFill>
        <p:spPr>
          <a:xfrm>
            <a:off x="5562600" y="76835"/>
            <a:ext cx="2795905" cy="49904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t="2727"/>
          <a:stretch>
            <a:fillRect/>
          </a:stretch>
        </p:blipFill>
        <p:spPr>
          <a:xfrm>
            <a:off x="1404620" y="1212850"/>
            <a:ext cx="3664585" cy="27178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列表的应用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6380" y="821690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1259840" y="755650"/>
            <a:ext cx="6870065" cy="4254413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balls = []   # 定义空列表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choice = 1  # 选择的是第几个球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while True: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red_ball = int(input('请输入你选择的第%d个红球数字：' % choice).strip())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if red_ball in balls:    # 球号码在列表内，跳出当前循环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    print('已经输入过%d,请重新输入' % red_ball)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    continue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else: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    balls.append(red_ball)  # 球号码不在列表内，则添加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    choice += 1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if choice &gt;= 7:  # 输入个数大于7，跳出循环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    break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balls.sort()  # 默认从小到大排序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print("您的号码是：", balls)  # 打印结果</a:t>
            </a:r>
            <a:endParaRPr lang="en-US" sz="1600" dirty="0">
              <a:solidFill>
                <a:srgbClr val="09131F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列表的作用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76145" y="1455420"/>
            <a:ext cx="5727065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1、方便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存储不同类型数据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2、方便对数据进行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增、删、改、查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、可作为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队列、堆栈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</a:p>
        </p:txBody>
      </p:sp>
    </p:spTree>
  </p:cSld>
  <p:clrMapOvr>
    <a:masterClrMapping/>
  </p:clrMapOvr>
  <p:transition spd="slow">
    <p:push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单元总结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2479040" y="1238250"/>
            <a:ext cx="5063490" cy="2533650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列表的特征有哪些？</a:t>
            </a:r>
          </a:p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列表修改方法有哪些？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列表添加方法有哪些？</a:t>
            </a:r>
          </a:p>
          <a:p>
            <a:pPr>
              <a:defRPr/>
            </a:pPr>
            <a:r>
              <a:rPr lang="zh-CN" altLang="en-US"/>
              <a:t>列表删除方法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有哪些？</a:t>
            </a:r>
            <a:endParaRPr lang="zh-CN" altLang="en-US"/>
          </a:p>
          <a:p>
            <a:pPr>
              <a:defRPr/>
            </a:pPr>
            <a:r>
              <a:rPr lang="zh-CN" altLang="en-US"/>
              <a:t>列表排序方法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有哪些？</a:t>
            </a:r>
            <a:endParaRPr lang="zh-CN" altLang="en-US"/>
          </a:p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概念图</a:t>
            </a:r>
          </a:p>
        </p:txBody>
      </p:sp>
      <p:pic>
        <p:nvPicPr>
          <p:cNvPr id="3" name="图片 2" descr="第五单元 序列之列表 概念图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1160" y="694690"/>
            <a:ext cx="7886700" cy="437197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课后作业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完成练习手册中的简答题和编程题</a:t>
            </a:r>
          </a:p>
          <a:p>
            <a:pPr lvl="1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复习指引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列表的定义及特征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列表相关方法的使用</a:t>
            </a:r>
          </a:p>
          <a:p>
            <a:pPr lvl="1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预习作业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常见算法与使用场景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66</a:t>
            </a:fld>
            <a:r>
              <a:rPr lang="en-US" altLang="zh-CN" sz="180">
                <a:latin typeface="微软雅黑" panose="020B0503020204020204" pitchFamily="34" charset="-122"/>
                <a:ea typeface="微软雅黑" panose="020B0503020204020204" pitchFamily="34" charset="-122"/>
              </a:rPr>
              <a:t>/47</a:t>
            </a:r>
            <a:endParaRPr lang="zh-CN" altLang="en-US" sz="1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6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7" y="3102770"/>
            <a:ext cx="9144001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 bwMode="auto">
          <a:xfrm>
            <a:off x="0" y="-204696"/>
            <a:ext cx="9151144" cy="3852068"/>
            <a:chOff x="0" y="107177"/>
            <a:chExt cx="9151144" cy="3852791"/>
          </a:xfrm>
          <a:solidFill>
            <a:srgbClr val="F0F0F0"/>
          </a:solidFill>
        </p:grpSpPr>
        <p:sp>
          <p:nvSpPr>
            <p:cNvPr id="5" name="矩形 254"/>
            <p:cNvSpPr>
              <a:spLocks noChangeArrowheads="1"/>
            </p:cNvSpPr>
            <p:nvPr/>
          </p:nvSpPr>
          <p:spPr bwMode="auto">
            <a:xfrm>
              <a:off x="0" y="113953"/>
              <a:ext cx="9144000" cy="3846015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</a:gdLst>
              <a:ahLst/>
              <a:cxnLst/>
              <a:rect l="T0" t="T1" r="T2" b="T3"/>
              <a:pathLst>
                <a:path w="9144000" h="3846015">
                  <a:moveTo>
                    <a:pt x="0" y="0"/>
                  </a:moveTo>
                  <a:lnTo>
                    <a:pt x="9144000" y="0"/>
                  </a:lnTo>
                  <a:lnTo>
                    <a:pt x="9144000" y="3651870"/>
                  </a:lnTo>
                  <a:lnTo>
                    <a:pt x="4766144" y="3651870"/>
                  </a:lnTo>
                  <a:lnTo>
                    <a:pt x="4571999" y="3846015"/>
                  </a:lnTo>
                  <a:lnTo>
                    <a:pt x="4377855" y="3651870"/>
                  </a:lnTo>
                  <a:lnTo>
                    <a:pt x="0" y="36518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矩形 254"/>
            <p:cNvSpPr>
              <a:spLocks noChangeArrowheads="1"/>
            </p:cNvSpPr>
            <p:nvPr/>
          </p:nvSpPr>
          <p:spPr bwMode="auto">
            <a:xfrm>
              <a:off x="0" y="107177"/>
              <a:ext cx="9151144" cy="3738838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  <a:gd name="connsiteX0" fmla="*/ 42863 w 9144000"/>
                <a:gd name="connsiteY0" fmla="*/ 643058 h 3846015"/>
                <a:gd name="connsiteX1" fmla="*/ 9144000 w 9144000"/>
                <a:gd name="connsiteY1" fmla="*/ 0 h 3846015"/>
                <a:gd name="connsiteX2" fmla="*/ 9144000 w 9144000"/>
                <a:gd name="connsiteY2" fmla="*/ 3651870 h 3846015"/>
                <a:gd name="connsiteX3" fmla="*/ 4766144 w 9144000"/>
                <a:gd name="connsiteY3" fmla="*/ 3651870 h 3846015"/>
                <a:gd name="connsiteX4" fmla="*/ 4571999 w 9144000"/>
                <a:gd name="connsiteY4" fmla="*/ 3846015 h 3846015"/>
                <a:gd name="connsiteX5" fmla="*/ 4377855 w 9144000"/>
                <a:gd name="connsiteY5" fmla="*/ 3651870 h 3846015"/>
                <a:gd name="connsiteX6" fmla="*/ 0 w 9144000"/>
                <a:gd name="connsiteY6" fmla="*/ 3651870 h 3846015"/>
                <a:gd name="connsiteX7" fmla="*/ 42863 w 9144000"/>
                <a:gd name="connsiteY7" fmla="*/ 643058 h 3846015"/>
                <a:gd name="connsiteX0-1" fmla="*/ 7145 w 9144000"/>
                <a:gd name="connsiteY0-2" fmla="*/ 121467 h 3846015"/>
                <a:gd name="connsiteX1-3" fmla="*/ 9144000 w 9144000"/>
                <a:gd name="connsiteY1-4" fmla="*/ 0 h 3846015"/>
                <a:gd name="connsiteX2-5" fmla="*/ 9144000 w 9144000"/>
                <a:gd name="connsiteY2-6" fmla="*/ 3651870 h 3846015"/>
                <a:gd name="connsiteX3-7" fmla="*/ 4766144 w 9144000"/>
                <a:gd name="connsiteY3-8" fmla="*/ 3651870 h 3846015"/>
                <a:gd name="connsiteX4-9" fmla="*/ 4571999 w 9144000"/>
                <a:gd name="connsiteY4-10" fmla="*/ 3846015 h 3846015"/>
                <a:gd name="connsiteX5-11" fmla="*/ 4377855 w 9144000"/>
                <a:gd name="connsiteY5-12" fmla="*/ 3651870 h 3846015"/>
                <a:gd name="connsiteX6-13" fmla="*/ 0 w 9144000"/>
                <a:gd name="connsiteY6-14" fmla="*/ 3651870 h 3846015"/>
                <a:gd name="connsiteX7-15" fmla="*/ 7145 w 9144000"/>
                <a:gd name="connsiteY7-16" fmla="*/ 121467 h 3846015"/>
                <a:gd name="connsiteX0-17" fmla="*/ 7145 w 9144000"/>
                <a:gd name="connsiteY0-18" fmla="*/ 0 h 3724548"/>
                <a:gd name="connsiteX1-19" fmla="*/ 8851106 w 9144000"/>
                <a:gd name="connsiteY1-20" fmla="*/ 392980 h 3724548"/>
                <a:gd name="connsiteX2-21" fmla="*/ 9144000 w 9144000"/>
                <a:gd name="connsiteY2-22" fmla="*/ 3530403 h 3724548"/>
                <a:gd name="connsiteX3-23" fmla="*/ 4766144 w 9144000"/>
                <a:gd name="connsiteY3-24" fmla="*/ 3530403 h 3724548"/>
                <a:gd name="connsiteX4-25" fmla="*/ 4571999 w 9144000"/>
                <a:gd name="connsiteY4-26" fmla="*/ 3724548 h 3724548"/>
                <a:gd name="connsiteX5-27" fmla="*/ 4377855 w 9144000"/>
                <a:gd name="connsiteY5-28" fmla="*/ 3530403 h 3724548"/>
                <a:gd name="connsiteX6-29" fmla="*/ 0 w 9144000"/>
                <a:gd name="connsiteY6-30" fmla="*/ 3530403 h 3724548"/>
                <a:gd name="connsiteX7-31" fmla="*/ 7145 w 9144000"/>
                <a:gd name="connsiteY7-32" fmla="*/ 0 h 3724548"/>
                <a:gd name="connsiteX0-33" fmla="*/ 7145 w 9151144"/>
                <a:gd name="connsiteY0-34" fmla="*/ 14290 h 3738838"/>
                <a:gd name="connsiteX1-35" fmla="*/ 9151144 w 9151144"/>
                <a:gd name="connsiteY1-36" fmla="*/ 0 h 3738838"/>
                <a:gd name="connsiteX2-37" fmla="*/ 9144000 w 9151144"/>
                <a:gd name="connsiteY2-38" fmla="*/ 3544693 h 3738838"/>
                <a:gd name="connsiteX3-39" fmla="*/ 4766144 w 9151144"/>
                <a:gd name="connsiteY3-40" fmla="*/ 3544693 h 3738838"/>
                <a:gd name="connsiteX4-41" fmla="*/ 4571999 w 9151144"/>
                <a:gd name="connsiteY4-42" fmla="*/ 3738838 h 3738838"/>
                <a:gd name="connsiteX5-43" fmla="*/ 4377855 w 9151144"/>
                <a:gd name="connsiteY5-44" fmla="*/ 3544693 h 3738838"/>
                <a:gd name="connsiteX6-45" fmla="*/ 0 w 9151144"/>
                <a:gd name="connsiteY6-46" fmla="*/ 3544693 h 3738838"/>
                <a:gd name="connsiteX7-47" fmla="*/ 7145 w 9151144"/>
                <a:gd name="connsiteY7-48" fmla="*/ 14290 h 3738838"/>
                <a:gd name="connsiteX0-49" fmla="*/ 7145 w 9151144"/>
                <a:gd name="connsiteY0-50" fmla="*/ 7145 h 3738838"/>
                <a:gd name="connsiteX1-51" fmla="*/ 9151144 w 9151144"/>
                <a:gd name="connsiteY1-52" fmla="*/ 0 h 3738838"/>
                <a:gd name="connsiteX2-53" fmla="*/ 9144000 w 9151144"/>
                <a:gd name="connsiteY2-54" fmla="*/ 3544693 h 3738838"/>
                <a:gd name="connsiteX3-55" fmla="*/ 4766144 w 9151144"/>
                <a:gd name="connsiteY3-56" fmla="*/ 3544693 h 3738838"/>
                <a:gd name="connsiteX4-57" fmla="*/ 4571999 w 9151144"/>
                <a:gd name="connsiteY4-58" fmla="*/ 3738838 h 3738838"/>
                <a:gd name="connsiteX5-59" fmla="*/ 4377855 w 9151144"/>
                <a:gd name="connsiteY5-60" fmla="*/ 3544693 h 3738838"/>
                <a:gd name="connsiteX6-61" fmla="*/ 0 w 9151144"/>
                <a:gd name="connsiteY6-62" fmla="*/ 3544693 h 3738838"/>
                <a:gd name="connsiteX7-63" fmla="*/ 7145 w 9151144"/>
                <a:gd name="connsiteY7-64" fmla="*/ 7145 h 37388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9151144" h="3738838">
                  <a:moveTo>
                    <a:pt x="7145" y="7145"/>
                  </a:moveTo>
                  <a:lnTo>
                    <a:pt x="9151144" y="0"/>
                  </a:lnTo>
                  <a:cubicBezTo>
                    <a:pt x="9148763" y="1181564"/>
                    <a:pt x="9146381" y="2363129"/>
                    <a:pt x="9144000" y="3544693"/>
                  </a:cubicBezTo>
                  <a:lnTo>
                    <a:pt x="4766144" y="3544693"/>
                  </a:lnTo>
                  <a:lnTo>
                    <a:pt x="4571999" y="3738838"/>
                  </a:lnTo>
                  <a:lnTo>
                    <a:pt x="4377855" y="3544693"/>
                  </a:lnTo>
                  <a:lnTo>
                    <a:pt x="0" y="3544693"/>
                  </a:lnTo>
                  <a:cubicBezTo>
                    <a:pt x="0" y="2327403"/>
                    <a:pt x="7145" y="1224435"/>
                    <a:pt x="7145" y="71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16723" y="3983478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algn="ctr"/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创新教育</a:t>
            </a:r>
            <a:r>
              <a:rPr lang="en-US" altLang="zh-CN" sz="48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引领未来</a:t>
            </a:r>
            <a:endParaRPr lang="zh-CN" altLang="en-US" sz="48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pSp>
        <p:nvGrpSpPr>
          <p:cNvPr id="14" name="组合 46"/>
          <p:cNvGrpSpPr/>
          <p:nvPr/>
        </p:nvGrpSpPr>
        <p:grpSpPr bwMode="auto">
          <a:xfrm>
            <a:off x="3795175" y="970438"/>
            <a:ext cx="1587103" cy="1587103"/>
            <a:chOff x="0" y="0"/>
            <a:chExt cx="2116920" cy="2116920"/>
          </a:xfrm>
        </p:grpSpPr>
        <p:sp>
          <p:nvSpPr>
            <p:cNvPr id="15" name="椭圆 47"/>
            <p:cNvSpPr>
              <a:spLocks noChangeArrowheads="1"/>
            </p:cNvSpPr>
            <p:nvPr/>
          </p:nvSpPr>
          <p:spPr bwMode="auto">
            <a:xfrm>
              <a:off x="0" y="0"/>
              <a:ext cx="2116920" cy="2116920"/>
            </a:xfrm>
            <a:prstGeom prst="ellipse">
              <a:avLst/>
            </a:prstGeom>
            <a:solidFill>
              <a:srgbClr val="F2F2F2"/>
            </a:solidFill>
            <a:ln w="57150">
              <a:solidFill>
                <a:srgbClr val="1D8DE5"/>
              </a:solidFill>
              <a:beve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grpSp>
          <p:nvGrpSpPr>
            <p:cNvPr id="16" name="组合 48"/>
            <p:cNvGrpSpPr/>
            <p:nvPr/>
          </p:nvGrpSpPr>
          <p:grpSpPr bwMode="auto">
            <a:xfrm>
              <a:off x="461855" y="280091"/>
              <a:ext cx="1193210" cy="1836829"/>
              <a:chOff x="0" y="0"/>
              <a:chExt cx="2598738" cy="4000499"/>
            </a:xfrm>
          </p:grpSpPr>
          <p:sp>
            <p:nvSpPr>
              <p:cNvPr id="17" name="Freeform 1281"/>
              <p:cNvSpPr>
                <a:spLocks noChangeArrowheads="1"/>
              </p:cNvSpPr>
              <p:nvPr/>
            </p:nvSpPr>
            <p:spPr bwMode="auto">
              <a:xfrm>
                <a:off x="1435100" y="3543299"/>
                <a:ext cx="327025" cy="457200"/>
              </a:xfrm>
              <a:custGeom>
                <a:avLst/>
                <a:gdLst>
                  <a:gd name="T0" fmla="*/ 519152188 w 206"/>
                  <a:gd name="T1" fmla="*/ 0 h 288"/>
                  <a:gd name="T2" fmla="*/ 367942813 w 206"/>
                  <a:gd name="T3" fmla="*/ 0 h 288"/>
                  <a:gd name="T4" fmla="*/ 153730325 w 206"/>
                  <a:gd name="T5" fmla="*/ 0 h 288"/>
                  <a:gd name="T6" fmla="*/ 0 w 206"/>
                  <a:gd name="T7" fmla="*/ 0 h 288"/>
                  <a:gd name="T8" fmla="*/ 0 w 206"/>
                  <a:gd name="T9" fmla="*/ 20161250 h 288"/>
                  <a:gd name="T10" fmla="*/ 153730325 w 206"/>
                  <a:gd name="T11" fmla="*/ 20161250 h 288"/>
                  <a:gd name="T12" fmla="*/ 153730325 w 206"/>
                  <a:gd name="T13" fmla="*/ 725805000 h 288"/>
                  <a:gd name="T14" fmla="*/ 153730325 w 206"/>
                  <a:gd name="T15" fmla="*/ 725805000 h 288"/>
                  <a:gd name="T16" fmla="*/ 367942813 w 206"/>
                  <a:gd name="T17" fmla="*/ 725805000 h 288"/>
                  <a:gd name="T18" fmla="*/ 367942813 w 206"/>
                  <a:gd name="T19" fmla="*/ 725805000 h 288"/>
                  <a:gd name="T20" fmla="*/ 367942813 w 206"/>
                  <a:gd name="T21" fmla="*/ 20161250 h 288"/>
                  <a:gd name="T22" fmla="*/ 519152188 w 206"/>
                  <a:gd name="T23" fmla="*/ 20161250 h 288"/>
                  <a:gd name="T24" fmla="*/ 519152188 w 206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06"/>
                  <a:gd name="T40" fmla="*/ 0 h 288"/>
                  <a:gd name="T41" fmla="*/ 206 w 206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06" h="288">
                    <a:moveTo>
                      <a:pt x="206" y="0"/>
                    </a:moveTo>
                    <a:lnTo>
                      <a:pt x="146" y="0"/>
                    </a:lnTo>
                    <a:lnTo>
                      <a:pt x="61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61" y="8"/>
                    </a:lnTo>
                    <a:lnTo>
                      <a:pt x="61" y="288"/>
                    </a:lnTo>
                    <a:lnTo>
                      <a:pt x="146" y="288"/>
                    </a:lnTo>
                    <a:lnTo>
                      <a:pt x="146" y="8"/>
                    </a:lnTo>
                    <a:lnTo>
                      <a:pt x="206" y="8"/>
                    </a:lnTo>
                    <a:lnTo>
                      <a:pt x="2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283"/>
              <p:cNvSpPr>
                <a:spLocks noChangeArrowheads="1"/>
              </p:cNvSpPr>
              <p:nvPr/>
            </p:nvSpPr>
            <p:spPr bwMode="auto">
              <a:xfrm>
                <a:off x="1820863" y="3541712"/>
                <a:ext cx="328613" cy="458787"/>
              </a:xfrm>
              <a:custGeom>
                <a:avLst/>
                <a:gdLst>
                  <a:gd name="T0" fmla="*/ 521673931 w 207"/>
                  <a:gd name="T1" fmla="*/ 0 h 289"/>
                  <a:gd name="T2" fmla="*/ 214214401 w 207"/>
                  <a:gd name="T3" fmla="*/ 0 h 289"/>
                  <a:gd name="T4" fmla="*/ 138609598 w 207"/>
                  <a:gd name="T5" fmla="*/ 0 h 289"/>
                  <a:gd name="T6" fmla="*/ 0 w 207"/>
                  <a:gd name="T7" fmla="*/ 0 h 289"/>
                  <a:gd name="T8" fmla="*/ 0 w 207"/>
                  <a:gd name="T9" fmla="*/ 728323569 h 289"/>
                  <a:gd name="T10" fmla="*/ 138609598 w 207"/>
                  <a:gd name="T11" fmla="*/ 728323569 h 289"/>
                  <a:gd name="T12" fmla="*/ 214214401 w 207"/>
                  <a:gd name="T13" fmla="*/ 728323569 h 289"/>
                  <a:gd name="T14" fmla="*/ 521673931 w 207"/>
                  <a:gd name="T15" fmla="*/ 728323569 h 289"/>
                  <a:gd name="T16" fmla="*/ 521673931 w 207"/>
                  <a:gd name="T17" fmla="*/ 708162341 h 289"/>
                  <a:gd name="T18" fmla="*/ 214214401 w 207"/>
                  <a:gd name="T19" fmla="*/ 708162341 h 289"/>
                  <a:gd name="T20" fmla="*/ 214214401 w 207"/>
                  <a:gd name="T21" fmla="*/ 161289824 h 289"/>
                  <a:gd name="T22" fmla="*/ 405746567 w 207"/>
                  <a:gd name="T23" fmla="*/ 161289824 h 289"/>
                  <a:gd name="T24" fmla="*/ 405746567 w 207"/>
                  <a:gd name="T25" fmla="*/ 141128596 h 289"/>
                  <a:gd name="T26" fmla="*/ 214214401 w 207"/>
                  <a:gd name="T27" fmla="*/ 141128596 h 289"/>
                  <a:gd name="T28" fmla="*/ 214214401 w 207"/>
                  <a:gd name="T29" fmla="*/ 20161228 h 289"/>
                  <a:gd name="T30" fmla="*/ 521673931 w 207"/>
                  <a:gd name="T31" fmla="*/ 20161228 h 289"/>
                  <a:gd name="T32" fmla="*/ 521673931 w 207"/>
                  <a:gd name="T33" fmla="*/ 0 h 289"/>
                  <a:gd name="T34" fmla="*/ 521673931 w 207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7"/>
                  <a:gd name="T55" fmla="*/ 0 h 289"/>
                  <a:gd name="T56" fmla="*/ 207 w 207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7" h="289">
                    <a:moveTo>
                      <a:pt x="207" y="0"/>
                    </a:moveTo>
                    <a:lnTo>
                      <a:pt x="85" y="0"/>
                    </a:lnTo>
                    <a:lnTo>
                      <a:pt x="55" y="0"/>
                    </a:lnTo>
                    <a:lnTo>
                      <a:pt x="0" y="0"/>
                    </a:lnTo>
                    <a:lnTo>
                      <a:pt x="0" y="289"/>
                    </a:lnTo>
                    <a:lnTo>
                      <a:pt x="55" y="289"/>
                    </a:lnTo>
                    <a:lnTo>
                      <a:pt x="85" y="289"/>
                    </a:lnTo>
                    <a:lnTo>
                      <a:pt x="207" y="289"/>
                    </a:lnTo>
                    <a:lnTo>
                      <a:pt x="207" y="281"/>
                    </a:lnTo>
                    <a:lnTo>
                      <a:pt x="85" y="281"/>
                    </a:lnTo>
                    <a:lnTo>
                      <a:pt x="85" y="64"/>
                    </a:lnTo>
                    <a:lnTo>
                      <a:pt x="161" y="64"/>
                    </a:lnTo>
                    <a:lnTo>
                      <a:pt x="161" y="56"/>
                    </a:lnTo>
                    <a:lnTo>
                      <a:pt x="85" y="56"/>
                    </a:lnTo>
                    <a:lnTo>
                      <a:pt x="85" y="8"/>
                    </a:lnTo>
                    <a:lnTo>
                      <a:pt x="207" y="8"/>
                    </a:lnTo>
                    <a:lnTo>
                      <a:pt x="2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284"/>
              <p:cNvSpPr>
                <a:spLocks noChangeArrowheads="1"/>
              </p:cNvSpPr>
              <p:nvPr/>
            </p:nvSpPr>
            <p:spPr bwMode="auto">
              <a:xfrm>
                <a:off x="2598738" y="3733799"/>
                <a:ext cx="1" cy="317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2520950 h 2"/>
                  <a:gd name="T4" fmla="*/ 0 w 1"/>
                  <a:gd name="T5" fmla="*/ 5040313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2"/>
                  <a:gd name="T14" fmla="*/ 1 w 1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1289"/>
              <p:cNvSpPr>
                <a:spLocks noChangeArrowheads="1"/>
              </p:cNvSpPr>
              <p:nvPr/>
            </p:nvSpPr>
            <p:spPr bwMode="auto">
              <a:xfrm>
                <a:off x="1112838" y="3733799"/>
                <a:ext cx="1" cy="3175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2240492 h 3"/>
                  <a:gd name="T4" fmla="*/ 0 w 1"/>
                  <a:gd name="T5" fmla="*/ 3360208 h 3"/>
                  <a:gd name="T6" fmla="*/ 0 w 1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3"/>
                  <a:gd name="T14" fmla="*/ 1 w 1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1292"/>
              <p:cNvSpPr>
                <a:spLocks noChangeArrowheads="1"/>
              </p:cNvSpPr>
              <p:nvPr/>
            </p:nvSpPr>
            <p:spPr bwMode="auto">
              <a:xfrm>
                <a:off x="0" y="3543299"/>
                <a:ext cx="395288" cy="457200"/>
              </a:xfrm>
              <a:custGeom>
                <a:avLst/>
                <a:gdLst>
                  <a:gd name="T0" fmla="*/ 627520494 w 249"/>
                  <a:gd name="T1" fmla="*/ 0 h 288"/>
                  <a:gd name="T2" fmla="*/ 521673797 w 249"/>
                  <a:gd name="T3" fmla="*/ 0 h 288"/>
                  <a:gd name="T4" fmla="*/ 413306148 w 249"/>
                  <a:gd name="T5" fmla="*/ 0 h 288"/>
                  <a:gd name="T6" fmla="*/ 413306148 w 249"/>
                  <a:gd name="T7" fmla="*/ 138609388 h 288"/>
                  <a:gd name="T8" fmla="*/ 214214346 w 249"/>
                  <a:gd name="T9" fmla="*/ 138609388 h 288"/>
                  <a:gd name="T10" fmla="*/ 214214346 w 249"/>
                  <a:gd name="T11" fmla="*/ 0 h 288"/>
                  <a:gd name="T12" fmla="*/ 0 w 249"/>
                  <a:gd name="T13" fmla="*/ 0 h 288"/>
                  <a:gd name="T14" fmla="*/ 0 w 249"/>
                  <a:gd name="T15" fmla="*/ 725805000 h 288"/>
                  <a:gd name="T16" fmla="*/ 214214346 w 249"/>
                  <a:gd name="T17" fmla="*/ 725805000 h 288"/>
                  <a:gd name="T18" fmla="*/ 214214346 w 249"/>
                  <a:gd name="T19" fmla="*/ 161290000 h 288"/>
                  <a:gd name="T20" fmla="*/ 413306148 w 249"/>
                  <a:gd name="T21" fmla="*/ 161290000 h 288"/>
                  <a:gd name="T22" fmla="*/ 413306148 w 249"/>
                  <a:gd name="T23" fmla="*/ 725805000 h 288"/>
                  <a:gd name="T24" fmla="*/ 521673797 w 249"/>
                  <a:gd name="T25" fmla="*/ 725805000 h 288"/>
                  <a:gd name="T26" fmla="*/ 627520494 w 249"/>
                  <a:gd name="T27" fmla="*/ 725805000 h 288"/>
                  <a:gd name="T28" fmla="*/ 627520494 w 249"/>
                  <a:gd name="T29" fmla="*/ 725805000 h 288"/>
                  <a:gd name="T30" fmla="*/ 627520494 w 249"/>
                  <a:gd name="T31" fmla="*/ 0 h 2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9"/>
                  <a:gd name="T49" fmla="*/ 0 h 288"/>
                  <a:gd name="T50" fmla="*/ 249 w 249"/>
                  <a:gd name="T51" fmla="*/ 288 h 28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9" h="288">
                    <a:moveTo>
                      <a:pt x="249" y="0"/>
                    </a:moveTo>
                    <a:lnTo>
                      <a:pt x="207" y="0"/>
                    </a:lnTo>
                    <a:lnTo>
                      <a:pt x="164" y="0"/>
                    </a:lnTo>
                    <a:lnTo>
                      <a:pt x="164" y="55"/>
                    </a:lnTo>
                    <a:lnTo>
                      <a:pt x="85" y="55"/>
                    </a:lnTo>
                    <a:lnTo>
                      <a:pt x="8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85" y="288"/>
                    </a:lnTo>
                    <a:lnTo>
                      <a:pt x="85" y="64"/>
                    </a:lnTo>
                    <a:lnTo>
                      <a:pt x="164" y="64"/>
                    </a:lnTo>
                    <a:lnTo>
                      <a:pt x="164" y="288"/>
                    </a:lnTo>
                    <a:lnTo>
                      <a:pt x="207" y="288"/>
                    </a:lnTo>
                    <a:lnTo>
                      <a:pt x="249" y="288"/>
                    </a:lnTo>
                    <a:lnTo>
                      <a:pt x="2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1293"/>
              <p:cNvSpPr>
                <a:spLocks noEditPoints="1" noChangeArrowheads="1"/>
              </p:cNvSpPr>
              <p:nvPr/>
            </p:nvSpPr>
            <p:spPr bwMode="auto">
              <a:xfrm>
                <a:off x="319088" y="1646237"/>
                <a:ext cx="1916113" cy="677862"/>
              </a:xfrm>
              <a:custGeom>
                <a:avLst/>
                <a:gdLst>
                  <a:gd name="T0" fmla="*/ 2147483646 w 1660"/>
                  <a:gd name="T1" fmla="*/ 137354242 h 587"/>
                  <a:gd name="T2" fmla="*/ 2126468733 w 1660"/>
                  <a:gd name="T3" fmla="*/ 90681076 h 587"/>
                  <a:gd name="T4" fmla="*/ 1460281260 w 1660"/>
                  <a:gd name="T5" fmla="*/ 52008298 h 587"/>
                  <a:gd name="T6" fmla="*/ 1115196235 w 1660"/>
                  <a:gd name="T7" fmla="*/ 198697866 h 587"/>
                  <a:gd name="T8" fmla="*/ 1096544144 w 1660"/>
                  <a:gd name="T9" fmla="*/ 198697866 h 587"/>
                  <a:gd name="T10" fmla="*/ 751459119 w 1660"/>
                  <a:gd name="T11" fmla="*/ 52008298 h 587"/>
                  <a:gd name="T12" fmla="*/ 85271646 w 1660"/>
                  <a:gd name="T13" fmla="*/ 90681076 h 587"/>
                  <a:gd name="T14" fmla="*/ 2665244 w 1660"/>
                  <a:gd name="T15" fmla="*/ 137354242 h 587"/>
                  <a:gd name="T16" fmla="*/ 35974444 w 1660"/>
                  <a:gd name="T17" fmla="*/ 214699797 h 587"/>
                  <a:gd name="T18" fmla="*/ 130572712 w 1660"/>
                  <a:gd name="T19" fmla="*/ 394728165 h 587"/>
                  <a:gd name="T20" fmla="*/ 285128003 w 1660"/>
                  <a:gd name="T21" fmla="*/ 721446102 h 587"/>
                  <a:gd name="T22" fmla="*/ 818077520 w 1660"/>
                  <a:gd name="T23" fmla="*/ 716110970 h 587"/>
                  <a:gd name="T24" fmla="*/ 1103205523 w 1660"/>
                  <a:gd name="T25" fmla="*/ 317382610 h 587"/>
                  <a:gd name="T26" fmla="*/ 1108534856 w 1660"/>
                  <a:gd name="T27" fmla="*/ 317382610 h 587"/>
                  <a:gd name="T28" fmla="*/ 1393662859 w 1660"/>
                  <a:gd name="T29" fmla="*/ 716110970 h 587"/>
                  <a:gd name="T30" fmla="*/ 1926612376 w 1660"/>
                  <a:gd name="T31" fmla="*/ 721446102 h 587"/>
                  <a:gd name="T32" fmla="*/ 2081167666 w 1660"/>
                  <a:gd name="T33" fmla="*/ 394728165 h 587"/>
                  <a:gd name="T34" fmla="*/ 2147483646 w 1660"/>
                  <a:gd name="T35" fmla="*/ 214699797 h 587"/>
                  <a:gd name="T36" fmla="*/ 2147483646 w 1660"/>
                  <a:gd name="T37" fmla="*/ 137354242 h 587"/>
                  <a:gd name="T38" fmla="*/ 892690498 w 1660"/>
                  <a:gd name="T39" fmla="*/ 454738006 h 587"/>
                  <a:gd name="T40" fmla="*/ 783436274 w 1660"/>
                  <a:gd name="T41" fmla="*/ 652102089 h 587"/>
                  <a:gd name="T42" fmla="*/ 547605473 w 1660"/>
                  <a:gd name="T43" fmla="*/ 692107495 h 587"/>
                  <a:gd name="T44" fmla="*/ 311775825 w 1660"/>
                  <a:gd name="T45" fmla="*/ 653434717 h 587"/>
                  <a:gd name="T46" fmla="*/ 213180268 w 1660"/>
                  <a:gd name="T47" fmla="*/ 421399206 h 587"/>
                  <a:gd name="T48" fmla="*/ 194527024 w 1660"/>
                  <a:gd name="T49" fmla="*/ 176027019 h 587"/>
                  <a:gd name="T50" fmla="*/ 539610895 w 1660"/>
                  <a:gd name="T51" fmla="*/ 118684744 h 587"/>
                  <a:gd name="T52" fmla="*/ 935326321 w 1660"/>
                  <a:gd name="T53" fmla="*/ 226701534 h 587"/>
                  <a:gd name="T54" fmla="*/ 892690498 w 1660"/>
                  <a:gd name="T55" fmla="*/ 454738006 h 587"/>
                  <a:gd name="T56" fmla="*/ 1998560110 w 1660"/>
                  <a:gd name="T57" fmla="*/ 421399206 h 587"/>
                  <a:gd name="T58" fmla="*/ 1899964554 w 1660"/>
                  <a:gd name="T59" fmla="*/ 653434717 h 587"/>
                  <a:gd name="T60" fmla="*/ 1664134906 w 1660"/>
                  <a:gd name="T61" fmla="*/ 692107495 h 587"/>
                  <a:gd name="T62" fmla="*/ 1428304104 w 1660"/>
                  <a:gd name="T63" fmla="*/ 652102089 h 587"/>
                  <a:gd name="T64" fmla="*/ 1319049881 w 1660"/>
                  <a:gd name="T65" fmla="*/ 454738006 h 587"/>
                  <a:gd name="T66" fmla="*/ 1276414058 w 1660"/>
                  <a:gd name="T67" fmla="*/ 226701534 h 587"/>
                  <a:gd name="T68" fmla="*/ 1672129484 w 1660"/>
                  <a:gd name="T69" fmla="*/ 118684744 h 587"/>
                  <a:gd name="T70" fmla="*/ 2017213355 w 1660"/>
                  <a:gd name="T71" fmla="*/ 176027019 h 587"/>
                  <a:gd name="T72" fmla="*/ 1998560110 w 1660"/>
                  <a:gd name="T73" fmla="*/ 421399206 h 58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60"/>
                  <a:gd name="T112" fmla="*/ 0 h 587"/>
                  <a:gd name="T113" fmla="*/ 1660 w 1660"/>
                  <a:gd name="T114" fmla="*/ 587 h 58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60" h="587">
                    <a:moveTo>
                      <a:pt x="1658" y="103"/>
                    </a:moveTo>
                    <a:cubicBezTo>
                      <a:pt x="1658" y="71"/>
                      <a:pt x="1653" y="83"/>
                      <a:pt x="1596" y="68"/>
                    </a:cubicBezTo>
                    <a:cubicBezTo>
                      <a:pt x="1539" y="52"/>
                      <a:pt x="1364" y="0"/>
                      <a:pt x="1096" y="39"/>
                    </a:cubicBezTo>
                    <a:cubicBezTo>
                      <a:pt x="872" y="72"/>
                      <a:pt x="929" y="146"/>
                      <a:pt x="837" y="149"/>
                    </a:cubicBezTo>
                    <a:cubicBezTo>
                      <a:pt x="823" y="149"/>
                      <a:pt x="823" y="149"/>
                      <a:pt x="823" y="149"/>
                    </a:cubicBezTo>
                    <a:cubicBezTo>
                      <a:pt x="731" y="146"/>
                      <a:pt x="788" y="72"/>
                      <a:pt x="564" y="39"/>
                    </a:cubicBezTo>
                    <a:cubicBezTo>
                      <a:pt x="296" y="0"/>
                      <a:pt x="121" y="52"/>
                      <a:pt x="64" y="68"/>
                    </a:cubicBezTo>
                    <a:cubicBezTo>
                      <a:pt x="7" y="83"/>
                      <a:pt x="2" y="71"/>
                      <a:pt x="2" y="103"/>
                    </a:cubicBezTo>
                    <a:cubicBezTo>
                      <a:pt x="3" y="135"/>
                      <a:pt x="0" y="161"/>
                      <a:pt x="27" y="161"/>
                    </a:cubicBezTo>
                    <a:cubicBezTo>
                      <a:pt x="55" y="161"/>
                      <a:pt x="55" y="161"/>
                      <a:pt x="98" y="296"/>
                    </a:cubicBezTo>
                    <a:cubicBezTo>
                      <a:pt x="150" y="458"/>
                      <a:pt x="164" y="504"/>
                      <a:pt x="214" y="541"/>
                    </a:cubicBezTo>
                    <a:cubicBezTo>
                      <a:pt x="275" y="587"/>
                      <a:pt x="531" y="587"/>
                      <a:pt x="614" y="537"/>
                    </a:cubicBezTo>
                    <a:cubicBezTo>
                      <a:pt x="717" y="475"/>
                      <a:pt x="704" y="241"/>
                      <a:pt x="828" y="238"/>
                    </a:cubicBezTo>
                    <a:cubicBezTo>
                      <a:pt x="829" y="238"/>
                      <a:pt x="831" y="238"/>
                      <a:pt x="832" y="238"/>
                    </a:cubicBezTo>
                    <a:cubicBezTo>
                      <a:pt x="956" y="241"/>
                      <a:pt x="943" y="475"/>
                      <a:pt x="1046" y="537"/>
                    </a:cubicBezTo>
                    <a:cubicBezTo>
                      <a:pt x="1129" y="587"/>
                      <a:pt x="1385" y="587"/>
                      <a:pt x="1446" y="541"/>
                    </a:cubicBezTo>
                    <a:cubicBezTo>
                      <a:pt x="1496" y="504"/>
                      <a:pt x="1510" y="458"/>
                      <a:pt x="1562" y="296"/>
                    </a:cubicBezTo>
                    <a:cubicBezTo>
                      <a:pt x="1605" y="161"/>
                      <a:pt x="1605" y="161"/>
                      <a:pt x="1633" y="161"/>
                    </a:cubicBezTo>
                    <a:cubicBezTo>
                      <a:pt x="1660" y="161"/>
                      <a:pt x="1657" y="135"/>
                      <a:pt x="1658" y="103"/>
                    </a:cubicBezTo>
                    <a:close/>
                    <a:moveTo>
                      <a:pt x="670" y="341"/>
                    </a:moveTo>
                    <a:cubicBezTo>
                      <a:pt x="644" y="407"/>
                      <a:pt x="624" y="465"/>
                      <a:pt x="588" y="489"/>
                    </a:cubicBezTo>
                    <a:cubicBezTo>
                      <a:pt x="550" y="515"/>
                      <a:pt x="494" y="520"/>
                      <a:pt x="411" y="519"/>
                    </a:cubicBezTo>
                    <a:cubicBezTo>
                      <a:pt x="341" y="517"/>
                      <a:pt x="266" y="520"/>
                      <a:pt x="234" y="490"/>
                    </a:cubicBezTo>
                    <a:cubicBezTo>
                      <a:pt x="208" y="465"/>
                      <a:pt x="182" y="386"/>
                      <a:pt x="160" y="316"/>
                    </a:cubicBezTo>
                    <a:cubicBezTo>
                      <a:pt x="129" y="219"/>
                      <a:pt x="115" y="161"/>
                      <a:pt x="146" y="132"/>
                    </a:cubicBezTo>
                    <a:cubicBezTo>
                      <a:pt x="185" y="97"/>
                      <a:pt x="286" y="91"/>
                      <a:pt x="405" y="89"/>
                    </a:cubicBezTo>
                    <a:cubicBezTo>
                      <a:pt x="524" y="88"/>
                      <a:pt x="682" y="123"/>
                      <a:pt x="702" y="170"/>
                    </a:cubicBezTo>
                    <a:cubicBezTo>
                      <a:pt x="718" y="205"/>
                      <a:pt x="693" y="282"/>
                      <a:pt x="670" y="341"/>
                    </a:cubicBezTo>
                    <a:close/>
                    <a:moveTo>
                      <a:pt x="1500" y="316"/>
                    </a:moveTo>
                    <a:cubicBezTo>
                      <a:pt x="1478" y="386"/>
                      <a:pt x="1452" y="465"/>
                      <a:pt x="1426" y="490"/>
                    </a:cubicBezTo>
                    <a:cubicBezTo>
                      <a:pt x="1394" y="520"/>
                      <a:pt x="1319" y="517"/>
                      <a:pt x="1249" y="519"/>
                    </a:cubicBezTo>
                    <a:cubicBezTo>
                      <a:pt x="1166" y="520"/>
                      <a:pt x="1110" y="515"/>
                      <a:pt x="1072" y="489"/>
                    </a:cubicBezTo>
                    <a:cubicBezTo>
                      <a:pt x="1036" y="465"/>
                      <a:pt x="1016" y="407"/>
                      <a:pt x="990" y="341"/>
                    </a:cubicBezTo>
                    <a:cubicBezTo>
                      <a:pt x="967" y="282"/>
                      <a:pt x="942" y="205"/>
                      <a:pt x="958" y="170"/>
                    </a:cubicBezTo>
                    <a:cubicBezTo>
                      <a:pt x="978" y="123"/>
                      <a:pt x="1136" y="88"/>
                      <a:pt x="1255" y="89"/>
                    </a:cubicBezTo>
                    <a:cubicBezTo>
                      <a:pt x="1374" y="91"/>
                      <a:pt x="1475" y="97"/>
                      <a:pt x="1514" y="132"/>
                    </a:cubicBezTo>
                    <a:cubicBezTo>
                      <a:pt x="1546" y="161"/>
                      <a:pt x="1531" y="219"/>
                      <a:pt x="1500" y="316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1294"/>
              <p:cNvSpPr>
                <a:spLocks noChangeArrowheads="1"/>
              </p:cNvSpPr>
              <p:nvPr/>
            </p:nvSpPr>
            <p:spPr bwMode="auto">
              <a:xfrm>
                <a:off x="663575" y="2454274"/>
                <a:ext cx="622300" cy="488950"/>
              </a:xfrm>
              <a:custGeom>
                <a:avLst/>
                <a:gdLst>
                  <a:gd name="T0" fmla="*/ 0 w 538"/>
                  <a:gd name="T1" fmla="*/ 461452328 h 424"/>
                  <a:gd name="T2" fmla="*/ 204704313 w 538"/>
                  <a:gd name="T3" fmla="*/ 398949758 h 424"/>
                  <a:gd name="T4" fmla="*/ 457573257 w 538"/>
                  <a:gd name="T5" fmla="*/ 216762836 h 424"/>
                  <a:gd name="T6" fmla="*/ 709105067 w 538"/>
                  <a:gd name="T7" fmla="*/ 115695487 h 424"/>
                  <a:gd name="T8" fmla="*/ 544539104 w 538"/>
                  <a:gd name="T9" fmla="*/ 2659242 h 424"/>
                  <a:gd name="T10" fmla="*/ 198014009 w 538"/>
                  <a:gd name="T11" fmla="*/ 239369855 h 424"/>
                  <a:gd name="T12" fmla="*/ 109711027 w 538"/>
                  <a:gd name="T13" fmla="*/ 433525672 h 424"/>
                  <a:gd name="T14" fmla="*/ 0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0" y="347"/>
                    </a:moveTo>
                    <a:cubicBezTo>
                      <a:pt x="0" y="347"/>
                      <a:pt x="82" y="424"/>
                      <a:pt x="153" y="300"/>
                    </a:cubicBezTo>
                    <a:cubicBezTo>
                      <a:pt x="209" y="203"/>
                      <a:pt x="220" y="166"/>
                      <a:pt x="342" y="163"/>
                    </a:cubicBezTo>
                    <a:cubicBezTo>
                      <a:pt x="465" y="160"/>
                      <a:pt x="522" y="141"/>
                      <a:pt x="530" y="87"/>
                    </a:cubicBezTo>
                    <a:cubicBezTo>
                      <a:pt x="538" y="33"/>
                      <a:pt x="492" y="0"/>
                      <a:pt x="407" y="2"/>
                    </a:cubicBezTo>
                    <a:cubicBezTo>
                      <a:pt x="323" y="4"/>
                      <a:pt x="210" y="54"/>
                      <a:pt x="148" y="180"/>
                    </a:cubicBezTo>
                    <a:cubicBezTo>
                      <a:pt x="104" y="269"/>
                      <a:pt x="108" y="298"/>
                      <a:pt x="82" y="326"/>
                    </a:cubicBezTo>
                    <a:cubicBezTo>
                      <a:pt x="56" y="354"/>
                      <a:pt x="0" y="347"/>
                      <a:pt x="0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1295"/>
              <p:cNvSpPr>
                <a:spLocks noChangeArrowheads="1"/>
              </p:cNvSpPr>
              <p:nvPr/>
            </p:nvSpPr>
            <p:spPr bwMode="auto">
              <a:xfrm>
                <a:off x="1268413" y="2454274"/>
                <a:ext cx="622300" cy="488950"/>
              </a:xfrm>
              <a:custGeom>
                <a:avLst/>
                <a:gdLst>
                  <a:gd name="T0" fmla="*/ 719809089 w 538"/>
                  <a:gd name="T1" fmla="*/ 461452328 h 424"/>
                  <a:gd name="T2" fmla="*/ 515104777 w 538"/>
                  <a:gd name="T3" fmla="*/ 398949758 h 424"/>
                  <a:gd name="T4" fmla="*/ 262235832 w 538"/>
                  <a:gd name="T5" fmla="*/ 216762836 h 424"/>
                  <a:gd name="T6" fmla="*/ 10704023 w 538"/>
                  <a:gd name="T7" fmla="*/ 115695487 h 424"/>
                  <a:gd name="T8" fmla="*/ 175269985 w 538"/>
                  <a:gd name="T9" fmla="*/ 2659242 h 424"/>
                  <a:gd name="T10" fmla="*/ 521795080 w 538"/>
                  <a:gd name="T11" fmla="*/ 239369855 h 424"/>
                  <a:gd name="T12" fmla="*/ 610098062 w 538"/>
                  <a:gd name="T13" fmla="*/ 433525672 h 424"/>
                  <a:gd name="T14" fmla="*/ 719809089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538" y="347"/>
                    </a:moveTo>
                    <a:cubicBezTo>
                      <a:pt x="538" y="347"/>
                      <a:pt x="456" y="424"/>
                      <a:pt x="385" y="300"/>
                    </a:cubicBezTo>
                    <a:cubicBezTo>
                      <a:pt x="329" y="203"/>
                      <a:pt x="318" y="166"/>
                      <a:pt x="196" y="163"/>
                    </a:cubicBezTo>
                    <a:cubicBezTo>
                      <a:pt x="74" y="160"/>
                      <a:pt x="16" y="141"/>
                      <a:pt x="8" y="87"/>
                    </a:cubicBezTo>
                    <a:cubicBezTo>
                      <a:pt x="0" y="33"/>
                      <a:pt x="46" y="0"/>
                      <a:pt x="131" y="2"/>
                    </a:cubicBezTo>
                    <a:cubicBezTo>
                      <a:pt x="215" y="4"/>
                      <a:pt x="328" y="54"/>
                      <a:pt x="390" y="180"/>
                    </a:cubicBezTo>
                    <a:cubicBezTo>
                      <a:pt x="434" y="269"/>
                      <a:pt x="430" y="298"/>
                      <a:pt x="456" y="326"/>
                    </a:cubicBezTo>
                    <a:cubicBezTo>
                      <a:pt x="482" y="354"/>
                      <a:pt x="538" y="347"/>
                      <a:pt x="538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1296"/>
              <p:cNvSpPr>
                <a:spLocks noChangeArrowheads="1"/>
              </p:cNvSpPr>
              <p:nvPr/>
            </p:nvSpPr>
            <p:spPr bwMode="auto">
              <a:xfrm>
                <a:off x="454025" y="2387599"/>
                <a:ext cx="1647825" cy="1027112"/>
              </a:xfrm>
              <a:custGeom>
                <a:avLst/>
                <a:gdLst>
                  <a:gd name="T0" fmla="*/ 1680137151 w 1427"/>
                  <a:gd name="T1" fmla="*/ 299666273 h 890"/>
                  <a:gd name="T2" fmla="*/ 1357444054 w 1427"/>
                  <a:gd name="T3" fmla="*/ 728522463 h 890"/>
                  <a:gd name="T4" fmla="*/ 1056086077 w 1427"/>
                  <a:gd name="T5" fmla="*/ 554049602 h 890"/>
                  <a:gd name="T6" fmla="*/ 950744216 w 1427"/>
                  <a:gd name="T7" fmla="*/ 499444174 h 890"/>
                  <a:gd name="T8" fmla="*/ 845402355 w 1427"/>
                  <a:gd name="T9" fmla="*/ 554049602 h 890"/>
                  <a:gd name="T10" fmla="*/ 544044378 w 1427"/>
                  <a:gd name="T11" fmla="*/ 728522463 h 890"/>
                  <a:gd name="T12" fmla="*/ 221351281 w 1427"/>
                  <a:gd name="T13" fmla="*/ 299666273 h 890"/>
                  <a:gd name="T14" fmla="*/ 0 w 1427"/>
                  <a:gd name="T15" fmla="*/ 0 h 890"/>
                  <a:gd name="T16" fmla="*/ 120009467 w 1427"/>
                  <a:gd name="T17" fmla="*/ 594005413 h 890"/>
                  <a:gd name="T18" fmla="*/ 616049827 w 1427"/>
                  <a:gd name="T19" fmla="*/ 1049498425 h 890"/>
                  <a:gd name="T20" fmla="*/ 950744216 w 1427"/>
                  <a:gd name="T21" fmla="*/ 1172028271 h 890"/>
                  <a:gd name="T22" fmla="*/ 1285438605 w 1427"/>
                  <a:gd name="T23" fmla="*/ 1049498425 h 890"/>
                  <a:gd name="T24" fmla="*/ 1781478966 w 1427"/>
                  <a:gd name="T25" fmla="*/ 594005413 h 890"/>
                  <a:gd name="T26" fmla="*/ 1902822166 w 1427"/>
                  <a:gd name="T27" fmla="*/ 0 h 890"/>
                  <a:gd name="T28" fmla="*/ 1680137151 w 1427"/>
                  <a:gd name="T29" fmla="*/ 299666273 h 8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27"/>
                  <a:gd name="T46" fmla="*/ 0 h 890"/>
                  <a:gd name="T47" fmla="*/ 1427 w 1427"/>
                  <a:gd name="T48" fmla="*/ 890 h 8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27" h="890">
                    <a:moveTo>
                      <a:pt x="1260" y="225"/>
                    </a:moveTo>
                    <a:cubicBezTo>
                      <a:pt x="1249" y="317"/>
                      <a:pt x="1157" y="492"/>
                      <a:pt x="1018" y="547"/>
                    </a:cubicBezTo>
                    <a:cubicBezTo>
                      <a:pt x="879" y="602"/>
                      <a:pt x="841" y="467"/>
                      <a:pt x="792" y="416"/>
                    </a:cubicBezTo>
                    <a:cubicBezTo>
                      <a:pt x="753" y="376"/>
                      <a:pt x="724" y="374"/>
                      <a:pt x="713" y="375"/>
                    </a:cubicBezTo>
                    <a:cubicBezTo>
                      <a:pt x="702" y="374"/>
                      <a:pt x="673" y="376"/>
                      <a:pt x="634" y="416"/>
                    </a:cubicBezTo>
                    <a:cubicBezTo>
                      <a:pt x="585" y="467"/>
                      <a:pt x="547" y="602"/>
                      <a:pt x="408" y="547"/>
                    </a:cubicBezTo>
                    <a:cubicBezTo>
                      <a:pt x="269" y="492"/>
                      <a:pt x="177" y="317"/>
                      <a:pt x="166" y="225"/>
                    </a:cubicBezTo>
                    <a:cubicBezTo>
                      <a:pt x="143" y="32"/>
                      <a:pt x="0" y="0"/>
                      <a:pt x="0" y="0"/>
                    </a:cubicBezTo>
                    <a:cubicBezTo>
                      <a:pt x="0" y="0"/>
                      <a:pt x="41" y="368"/>
                      <a:pt x="90" y="446"/>
                    </a:cubicBezTo>
                    <a:cubicBezTo>
                      <a:pt x="139" y="523"/>
                      <a:pt x="332" y="684"/>
                      <a:pt x="462" y="788"/>
                    </a:cubicBezTo>
                    <a:cubicBezTo>
                      <a:pt x="590" y="890"/>
                      <a:pt x="643" y="880"/>
                      <a:pt x="713" y="880"/>
                    </a:cubicBezTo>
                    <a:cubicBezTo>
                      <a:pt x="783" y="880"/>
                      <a:pt x="836" y="890"/>
                      <a:pt x="964" y="788"/>
                    </a:cubicBezTo>
                    <a:cubicBezTo>
                      <a:pt x="1095" y="684"/>
                      <a:pt x="1287" y="523"/>
                      <a:pt x="1336" y="446"/>
                    </a:cubicBezTo>
                    <a:cubicBezTo>
                      <a:pt x="1385" y="368"/>
                      <a:pt x="1427" y="0"/>
                      <a:pt x="1427" y="0"/>
                    </a:cubicBezTo>
                    <a:cubicBezTo>
                      <a:pt x="1427" y="0"/>
                      <a:pt x="1284" y="32"/>
                      <a:pt x="1260" y="225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Oval 1297"/>
              <p:cNvSpPr>
                <a:spLocks noChangeArrowheads="1"/>
              </p:cNvSpPr>
              <p:nvPr/>
            </p:nvSpPr>
            <p:spPr bwMode="auto">
              <a:xfrm>
                <a:off x="19050" y="719137"/>
                <a:ext cx="2516188" cy="909637"/>
              </a:xfrm>
              <a:prstGeom prst="ellipse">
                <a:avLst/>
              </a:pr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27" name="Freeform 1298"/>
              <p:cNvSpPr>
                <a:spLocks noChangeArrowheads="1"/>
              </p:cNvSpPr>
              <p:nvPr/>
            </p:nvSpPr>
            <p:spPr bwMode="auto">
              <a:xfrm>
                <a:off x="449263" y="0"/>
                <a:ext cx="1655763" cy="1004887"/>
              </a:xfrm>
              <a:custGeom>
                <a:avLst/>
                <a:gdLst>
                  <a:gd name="T0" fmla="*/ 1906487547 w 1434"/>
                  <a:gd name="T1" fmla="*/ 897865379 h 870"/>
                  <a:gd name="T2" fmla="*/ 1906487547 w 1434"/>
                  <a:gd name="T3" fmla="*/ 896531305 h 870"/>
                  <a:gd name="T4" fmla="*/ 1905155085 w 1434"/>
                  <a:gd name="T5" fmla="*/ 895197231 h 870"/>
                  <a:gd name="T6" fmla="*/ 1541188588 w 1434"/>
                  <a:gd name="T7" fmla="*/ 126741662 h 870"/>
                  <a:gd name="T8" fmla="*/ 990573493 w 1434"/>
                  <a:gd name="T9" fmla="*/ 269493368 h 870"/>
                  <a:gd name="T10" fmla="*/ 525284461 w 1434"/>
                  <a:gd name="T11" fmla="*/ 69374164 h 870"/>
                  <a:gd name="T12" fmla="*/ 5333312 w 1434"/>
                  <a:gd name="T13" fmla="*/ 896531305 h 870"/>
                  <a:gd name="T14" fmla="*/ 5333312 w 1434"/>
                  <a:gd name="T15" fmla="*/ 896531305 h 870"/>
                  <a:gd name="T16" fmla="*/ 0 w 1434"/>
                  <a:gd name="T17" fmla="*/ 921878714 h 870"/>
                  <a:gd name="T18" fmla="*/ 79992751 w 1434"/>
                  <a:gd name="T19" fmla="*/ 1016601441 h 870"/>
                  <a:gd name="T20" fmla="*/ 955909852 w 1434"/>
                  <a:gd name="T21" fmla="*/ 1160687222 h 870"/>
                  <a:gd name="T22" fmla="*/ 1831828108 w 1434"/>
                  <a:gd name="T23" fmla="*/ 1016601441 h 870"/>
                  <a:gd name="T24" fmla="*/ 1911820859 w 1434"/>
                  <a:gd name="T25" fmla="*/ 921878714 h 870"/>
                  <a:gd name="T26" fmla="*/ 1906487547 w 1434"/>
                  <a:gd name="T27" fmla="*/ 897865379 h 87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434"/>
                  <a:gd name="T43" fmla="*/ 0 h 870"/>
                  <a:gd name="T44" fmla="*/ 1434 w 1434"/>
                  <a:gd name="T45" fmla="*/ 870 h 87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434" h="870">
                    <a:moveTo>
                      <a:pt x="1430" y="673"/>
                    </a:moveTo>
                    <a:cubicBezTo>
                      <a:pt x="1430" y="672"/>
                      <a:pt x="1430" y="672"/>
                      <a:pt x="1430" y="672"/>
                    </a:cubicBezTo>
                    <a:cubicBezTo>
                      <a:pt x="1429" y="671"/>
                      <a:pt x="1429" y="671"/>
                      <a:pt x="1429" y="671"/>
                    </a:cubicBezTo>
                    <a:cubicBezTo>
                      <a:pt x="1429" y="671"/>
                      <a:pt x="1245" y="189"/>
                      <a:pt x="1156" y="95"/>
                    </a:cubicBezTo>
                    <a:cubicBezTo>
                      <a:pt x="1067" y="0"/>
                      <a:pt x="934" y="156"/>
                      <a:pt x="743" y="202"/>
                    </a:cubicBezTo>
                    <a:cubicBezTo>
                      <a:pt x="606" y="234"/>
                      <a:pt x="550" y="74"/>
                      <a:pt x="394" y="52"/>
                    </a:cubicBezTo>
                    <a:cubicBezTo>
                      <a:pt x="262" y="34"/>
                      <a:pt x="14" y="646"/>
                      <a:pt x="4" y="672"/>
                    </a:cubicBezTo>
                    <a:cubicBezTo>
                      <a:pt x="4" y="672"/>
                      <a:pt x="4" y="672"/>
                      <a:pt x="4" y="672"/>
                    </a:cubicBezTo>
                    <a:cubicBezTo>
                      <a:pt x="1" y="678"/>
                      <a:pt x="0" y="684"/>
                      <a:pt x="0" y="691"/>
                    </a:cubicBezTo>
                    <a:cubicBezTo>
                      <a:pt x="0" y="716"/>
                      <a:pt x="22" y="740"/>
                      <a:pt x="60" y="762"/>
                    </a:cubicBezTo>
                    <a:cubicBezTo>
                      <a:pt x="171" y="826"/>
                      <a:pt x="423" y="870"/>
                      <a:pt x="717" y="870"/>
                    </a:cubicBezTo>
                    <a:cubicBezTo>
                      <a:pt x="1011" y="870"/>
                      <a:pt x="1263" y="826"/>
                      <a:pt x="1374" y="762"/>
                    </a:cubicBezTo>
                    <a:cubicBezTo>
                      <a:pt x="1412" y="740"/>
                      <a:pt x="1434" y="716"/>
                      <a:pt x="1434" y="691"/>
                    </a:cubicBezTo>
                    <a:cubicBezTo>
                      <a:pt x="1434" y="685"/>
                      <a:pt x="1433" y="679"/>
                      <a:pt x="1430" y="673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1299"/>
              <p:cNvSpPr>
                <a:spLocks noChangeArrowheads="1"/>
              </p:cNvSpPr>
              <p:nvPr/>
            </p:nvSpPr>
            <p:spPr bwMode="auto">
              <a:xfrm>
                <a:off x="433388" y="785812"/>
                <a:ext cx="25400" cy="44450"/>
              </a:xfrm>
              <a:custGeom>
                <a:avLst/>
                <a:gdLst>
                  <a:gd name="T0" fmla="*/ 17328573 w 22"/>
                  <a:gd name="T1" fmla="*/ 14288965 h 39"/>
                  <a:gd name="T2" fmla="*/ 18662073 w 22"/>
                  <a:gd name="T3" fmla="*/ 0 h 39"/>
                  <a:gd name="T4" fmla="*/ 18662073 w 22"/>
                  <a:gd name="T5" fmla="*/ 0 h 39"/>
                  <a:gd name="T6" fmla="*/ 0 w 22"/>
                  <a:gd name="T7" fmla="*/ 48064127 h 39"/>
                  <a:gd name="T8" fmla="*/ 29325455 w 22"/>
                  <a:gd name="T9" fmla="*/ 50661603 h 39"/>
                  <a:gd name="T10" fmla="*/ 17328573 w 22"/>
                  <a:gd name="T11" fmla="*/ 14288965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39"/>
                  <a:gd name="T20" fmla="*/ 22 w 22"/>
                  <a:gd name="T21" fmla="*/ 39 h 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39">
                    <a:moveTo>
                      <a:pt x="13" y="11"/>
                    </a:moveTo>
                    <a:cubicBezTo>
                      <a:pt x="13" y="7"/>
                      <a:pt x="14" y="3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22" y="39"/>
                      <a:pt x="22" y="39"/>
                      <a:pt x="22" y="39"/>
                    </a:cubicBezTo>
                    <a:cubicBezTo>
                      <a:pt x="16" y="30"/>
                      <a:pt x="13" y="20"/>
                      <a:pt x="13" y="11"/>
                    </a:cubicBez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1300"/>
              <p:cNvSpPr>
                <a:spLocks noChangeArrowheads="1"/>
              </p:cNvSpPr>
              <p:nvPr/>
            </p:nvSpPr>
            <p:spPr bwMode="auto">
              <a:xfrm>
                <a:off x="760413" y="1246187"/>
                <a:ext cx="411163" cy="38100"/>
              </a:xfrm>
              <a:custGeom>
                <a:avLst/>
                <a:gdLst>
                  <a:gd name="T0" fmla="*/ 0 w 355"/>
                  <a:gd name="T1" fmla="*/ 1333500 h 33"/>
                  <a:gd name="T2" fmla="*/ 335359599 w 355"/>
                  <a:gd name="T3" fmla="*/ 43988182 h 33"/>
                  <a:gd name="T4" fmla="*/ 476211303 w 355"/>
                  <a:gd name="T5" fmla="*/ 0 h 33"/>
                  <a:gd name="T6" fmla="*/ 0 w 355"/>
                  <a:gd name="T7" fmla="*/ 133350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5"/>
                  <a:gd name="T13" fmla="*/ 0 h 33"/>
                  <a:gd name="T14" fmla="*/ 355 w 35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5" h="33">
                    <a:moveTo>
                      <a:pt x="0" y="1"/>
                    </a:moveTo>
                    <a:cubicBezTo>
                      <a:pt x="75" y="16"/>
                      <a:pt x="159" y="27"/>
                      <a:pt x="250" y="33"/>
                    </a:cubicBezTo>
                    <a:cubicBezTo>
                      <a:pt x="355" y="0"/>
                      <a:pt x="355" y="0"/>
                      <a:pt x="35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1301"/>
              <p:cNvSpPr>
                <a:spLocks noChangeArrowheads="1"/>
              </p:cNvSpPr>
              <p:nvPr/>
            </p:nvSpPr>
            <p:spPr bwMode="auto">
              <a:xfrm>
                <a:off x="450850" y="776287"/>
                <a:ext cx="3175" cy="9525"/>
              </a:xfrm>
              <a:custGeom>
                <a:avLst/>
                <a:gdLst>
                  <a:gd name="T0" fmla="*/ 3360208 w 3"/>
                  <a:gd name="T1" fmla="*/ 0 h 8"/>
                  <a:gd name="T2" fmla="*/ 3360208 w 3"/>
                  <a:gd name="T3" fmla="*/ 1418034 h 8"/>
                  <a:gd name="T4" fmla="*/ 0 w 3"/>
                  <a:gd name="T5" fmla="*/ 11340703 h 8"/>
                  <a:gd name="T6" fmla="*/ 0 w 3"/>
                  <a:gd name="T7" fmla="*/ 11340703 h 8"/>
                  <a:gd name="T8" fmla="*/ 3360208 w 3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8"/>
                  <a:gd name="T17" fmla="*/ 3 w 3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8">
                    <a:moveTo>
                      <a:pt x="3" y="0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5"/>
                      <a:pt x="2" y="3"/>
                      <a:pt x="3" y="0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302"/>
              <p:cNvSpPr>
                <a:spLocks noChangeArrowheads="1"/>
              </p:cNvSpPr>
              <p:nvPr/>
            </p:nvSpPr>
            <p:spPr bwMode="auto">
              <a:xfrm>
                <a:off x="1355725" y="1117599"/>
                <a:ext cx="485775" cy="128587"/>
              </a:xfrm>
              <a:custGeom>
                <a:avLst/>
                <a:gdLst>
                  <a:gd name="T0" fmla="*/ 0 w 421"/>
                  <a:gd name="T1" fmla="*/ 113358625 h 112"/>
                  <a:gd name="T2" fmla="*/ 508591425 w 421"/>
                  <a:gd name="T3" fmla="*/ 147630505 h 112"/>
                  <a:gd name="T4" fmla="*/ 560516272 w 421"/>
                  <a:gd name="T5" fmla="*/ 137085223 h 112"/>
                  <a:gd name="T6" fmla="*/ 426045444 w 421"/>
                  <a:gd name="T7" fmla="*/ 0 h 112"/>
                  <a:gd name="T8" fmla="*/ 0 w 421"/>
                  <a:gd name="T9" fmla="*/ 113358625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1"/>
                  <a:gd name="T16" fmla="*/ 0 h 112"/>
                  <a:gd name="T17" fmla="*/ 421 w 421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1" h="112">
                    <a:moveTo>
                      <a:pt x="0" y="86"/>
                    </a:moveTo>
                    <a:cubicBezTo>
                      <a:pt x="382" y="112"/>
                      <a:pt x="382" y="112"/>
                      <a:pt x="382" y="112"/>
                    </a:cubicBezTo>
                    <a:cubicBezTo>
                      <a:pt x="395" y="109"/>
                      <a:pt x="408" y="107"/>
                      <a:pt x="421" y="104"/>
                    </a:cubicBezTo>
                    <a:cubicBezTo>
                      <a:pt x="320" y="0"/>
                      <a:pt x="320" y="0"/>
                      <a:pt x="320" y="0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303"/>
              <p:cNvSpPr>
                <a:spLocks noChangeArrowheads="1"/>
              </p:cNvSpPr>
              <p:nvPr/>
            </p:nvSpPr>
            <p:spPr bwMode="auto">
              <a:xfrm>
                <a:off x="1065213" y="998537"/>
                <a:ext cx="180975" cy="47625"/>
              </a:xfrm>
              <a:custGeom>
                <a:avLst/>
                <a:gdLst>
                  <a:gd name="T0" fmla="*/ 209948401 w 156"/>
                  <a:gd name="T1" fmla="*/ 7715250 h 42"/>
                  <a:gd name="T2" fmla="*/ 0 w 156"/>
                  <a:gd name="T3" fmla="*/ 0 h 42"/>
                  <a:gd name="T4" fmla="*/ 14803987 w 156"/>
                  <a:gd name="T5" fmla="*/ 54003348 h 42"/>
                  <a:gd name="T6" fmla="*/ 209948401 w 156"/>
                  <a:gd name="T7" fmla="*/ 771525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2"/>
                  <a:gd name="T14" fmla="*/ 156 w 15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2">
                    <a:moveTo>
                      <a:pt x="156" y="6"/>
                    </a:moveTo>
                    <a:cubicBezTo>
                      <a:pt x="102" y="5"/>
                      <a:pt x="50" y="3"/>
                      <a:pt x="0" y="0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156" y="6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1304"/>
              <p:cNvSpPr>
                <a:spLocks noChangeArrowheads="1"/>
              </p:cNvSpPr>
              <p:nvPr/>
            </p:nvSpPr>
            <p:spPr bwMode="auto">
              <a:xfrm>
                <a:off x="1077913" y="1004887"/>
                <a:ext cx="244475" cy="60325"/>
              </a:xfrm>
              <a:custGeom>
                <a:avLst/>
                <a:gdLst>
                  <a:gd name="T0" fmla="*/ 193314841 w 211"/>
                  <a:gd name="T1" fmla="*/ 69982800 h 52"/>
                  <a:gd name="T2" fmla="*/ 283260785 w 211"/>
                  <a:gd name="T3" fmla="*/ 0 h 52"/>
                  <a:gd name="T4" fmla="*/ 230904900 w 211"/>
                  <a:gd name="T5" fmla="*/ 0 h 52"/>
                  <a:gd name="T6" fmla="*/ 194657715 w 211"/>
                  <a:gd name="T7" fmla="*/ 0 h 52"/>
                  <a:gd name="T8" fmla="*/ 0 w 211"/>
                  <a:gd name="T9" fmla="*/ 48449096 h 52"/>
                  <a:gd name="T10" fmla="*/ 193314841 w 211"/>
                  <a:gd name="T11" fmla="*/ 69982800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1"/>
                  <a:gd name="T19" fmla="*/ 0 h 52"/>
                  <a:gd name="T20" fmla="*/ 211 w 211"/>
                  <a:gd name="T21" fmla="*/ 52 h 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1" h="52">
                    <a:moveTo>
                      <a:pt x="144" y="52"/>
                    </a:moveTo>
                    <a:cubicBezTo>
                      <a:pt x="211" y="0"/>
                      <a:pt x="211" y="0"/>
                      <a:pt x="211" y="0"/>
                    </a:cubicBezTo>
                    <a:cubicBezTo>
                      <a:pt x="198" y="0"/>
                      <a:pt x="185" y="0"/>
                      <a:pt x="172" y="0"/>
                    </a:cubicBezTo>
                    <a:cubicBezTo>
                      <a:pt x="163" y="0"/>
                      <a:pt x="154" y="0"/>
                      <a:pt x="145" y="0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144" y="5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305"/>
              <p:cNvSpPr>
                <a:spLocks noChangeArrowheads="1"/>
              </p:cNvSpPr>
              <p:nvPr/>
            </p:nvSpPr>
            <p:spPr bwMode="auto">
              <a:xfrm>
                <a:off x="633413" y="927099"/>
                <a:ext cx="1588" cy="1587"/>
              </a:xfrm>
              <a:custGeom>
                <a:avLst/>
                <a:gdLst>
                  <a:gd name="T0" fmla="*/ 1260872 w 2"/>
                  <a:gd name="T1" fmla="*/ 2518569 h 1"/>
                  <a:gd name="T2" fmla="*/ 0 w 2"/>
                  <a:gd name="T3" fmla="*/ 0 h 1"/>
                  <a:gd name="T4" fmla="*/ 1260872 w 2"/>
                  <a:gd name="T5" fmla="*/ 2518569 h 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"/>
                  <a:gd name="T11" fmla="*/ 2 w 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306"/>
              <p:cNvSpPr>
                <a:spLocks noChangeArrowheads="1"/>
              </p:cNvSpPr>
              <p:nvPr/>
            </p:nvSpPr>
            <p:spPr bwMode="auto">
              <a:xfrm>
                <a:off x="423863" y="828674"/>
                <a:ext cx="158750" cy="80962"/>
              </a:xfrm>
              <a:custGeom>
                <a:avLst/>
                <a:gdLst>
                  <a:gd name="T0" fmla="*/ 110102974 w 137"/>
                  <a:gd name="T1" fmla="*/ 58513860 h 71"/>
                  <a:gd name="T2" fmla="*/ 41624945 w 137"/>
                  <a:gd name="T3" fmla="*/ 2601047 h 71"/>
                  <a:gd name="T4" fmla="*/ 12084699 w 137"/>
                  <a:gd name="T5" fmla="*/ 0 h 71"/>
                  <a:gd name="T6" fmla="*/ 0 w 137"/>
                  <a:gd name="T7" fmla="*/ 29906907 h 71"/>
                  <a:gd name="T8" fmla="*/ 183953011 w 137"/>
                  <a:gd name="T9" fmla="*/ 92321767 h 71"/>
                  <a:gd name="T10" fmla="*/ 110102974 w 137"/>
                  <a:gd name="T11" fmla="*/ 58513860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7"/>
                  <a:gd name="T19" fmla="*/ 0 h 71"/>
                  <a:gd name="T20" fmla="*/ 137 w 137"/>
                  <a:gd name="T21" fmla="*/ 71 h 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7" h="71">
                    <a:moveTo>
                      <a:pt x="82" y="45"/>
                    </a:moveTo>
                    <a:cubicBezTo>
                      <a:pt x="58" y="32"/>
                      <a:pt x="41" y="17"/>
                      <a:pt x="31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37" y="71"/>
                      <a:pt x="137" y="71"/>
                      <a:pt x="137" y="71"/>
                    </a:cubicBezTo>
                    <a:cubicBezTo>
                      <a:pt x="116" y="63"/>
                      <a:pt x="98" y="54"/>
                      <a:pt x="82" y="45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307"/>
              <p:cNvSpPr>
                <a:spLocks noChangeArrowheads="1"/>
              </p:cNvSpPr>
              <p:nvPr/>
            </p:nvSpPr>
            <p:spPr bwMode="auto">
              <a:xfrm>
                <a:off x="361950" y="855662"/>
                <a:ext cx="273050" cy="247650"/>
              </a:xfrm>
              <a:custGeom>
                <a:avLst/>
                <a:gdLst>
                  <a:gd name="T0" fmla="*/ 313239258 w 236"/>
                  <a:gd name="T1" fmla="*/ 83587058 h 215"/>
                  <a:gd name="T2" fmla="*/ 254339133 w 236"/>
                  <a:gd name="T3" fmla="*/ 63685213 h 215"/>
                  <a:gd name="T4" fmla="*/ 70947877 w 236"/>
                  <a:gd name="T5" fmla="*/ 0 h 215"/>
                  <a:gd name="T6" fmla="*/ 6693196 w 236"/>
                  <a:gd name="T7" fmla="*/ 164521382 h 215"/>
                  <a:gd name="T8" fmla="*/ 5354557 w 236"/>
                  <a:gd name="T9" fmla="*/ 169828003 h 215"/>
                  <a:gd name="T10" fmla="*/ 4015918 w 236"/>
                  <a:gd name="T11" fmla="*/ 172481890 h 215"/>
                  <a:gd name="T12" fmla="*/ 4015918 w 236"/>
                  <a:gd name="T13" fmla="*/ 172481890 h 215"/>
                  <a:gd name="T14" fmla="*/ 0 w 236"/>
                  <a:gd name="T15" fmla="*/ 199017299 h 215"/>
                  <a:gd name="T16" fmla="*/ 42836454 w 236"/>
                  <a:gd name="T17" fmla="*/ 285258244 h 215"/>
                  <a:gd name="T18" fmla="*/ 315916536 w 236"/>
                  <a:gd name="T19" fmla="*/ 84914002 h 215"/>
                  <a:gd name="T20" fmla="*/ 313239258 w 236"/>
                  <a:gd name="T21" fmla="*/ 83587058 h 2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6"/>
                  <a:gd name="T34" fmla="*/ 0 h 215"/>
                  <a:gd name="T35" fmla="*/ 236 w 236"/>
                  <a:gd name="T36" fmla="*/ 215 h 21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6" h="215">
                    <a:moveTo>
                      <a:pt x="234" y="63"/>
                    </a:moveTo>
                    <a:cubicBezTo>
                      <a:pt x="218" y="58"/>
                      <a:pt x="204" y="53"/>
                      <a:pt x="190" y="48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8"/>
                      <a:pt x="4" y="128"/>
                      <a:pt x="4" y="128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1" y="137"/>
                      <a:pt x="0" y="144"/>
                      <a:pt x="0" y="150"/>
                    </a:cubicBezTo>
                    <a:cubicBezTo>
                      <a:pt x="0" y="173"/>
                      <a:pt x="11" y="194"/>
                      <a:pt x="32" y="215"/>
                    </a:cubicBezTo>
                    <a:cubicBezTo>
                      <a:pt x="236" y="64"/>
                      <a:pt x="236" y="64"/>
                      <a:pt x="236" y="64"/>
                    </a:cubicBezTo>
                    <a:lnTo>
                      <a:pt x="234" y="63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308"/>
              <p:cNvSpPr>
                <a:spLocks noChangeArrowheads="1"/>
              </p:cNvSpPr>
              <p:nvPr/>
            </p:nvSpPr>
            <p:spPr bwMode="auto">
              <a:xfrm>
                <a:off x="1355725" y="1216024"/>
                <a:ext cx="441325" cy="58737"/>
              </a:xfrm>
              <a:custGeom>
                <a:avLst/>
                <a:gdLst>
                  <a:gd name="T0" fmla="*/ 289633973 w 382"/>
                  <a:gd name="T1" fmla="*/ 67647748 h 51"/>
                  <a:gd name="T2" fmla="*/ 509863235 w 382"/>
                  <a:gd name="T3" fmla="*/ 34486681 h 51"/>
                  <a:gd name="T4" fmla="*/ 0 w 382"/>
                  <a:gd name="T5" fmla="*/ 0 h 51"/>
                  <a:gd name="T6" fmla="*/ 289633973 w 382"/>
                  <a:gd name="T7" fmla="*/ 67647748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2"/>
                  <a:gd name="T13" fmla="*/ 0 h 51"/>
                  <a:gd name="T14" fmla="*/ 382 w 38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2" h="51">
                    <a:moveTo>
                      <a:pt x="217" y="51"/>
                    </a:moveTo>
                    <a:cubicBezTo>
                      <a:pt x="276" y="45"/>
                      <a:pt x="331" y="36"/>
                      <a:pt x="382" y="2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17" y="51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309"/>
              <p:cNvSpPr>
                <a:spLocks noChangeArrowheads="1"/>
              </p:cNvSpPr>
              <p:nvPr/>
            </p:nvSpPr>
            <p:spPr bwMode="auto">
              <a:xfrm>
                <a:off x="1077913" y="1046162"/>
                <a:ext cx="166688" cy="38100"/>
              </a:xfrm>
              <a:custGeom>
                <a:avLst/>
                <a:gdLst>
                  <a:gd name="T0" fmla="*/ 264617994 w 105"/>
                  <a:gd name="T1" fmla="*/ 30241875 h 24"/>
                  <a:gd name="T2" fmla="*/ 0 w 105"/>
                  <a:gd name="T3" fmla="*/ 0 h 24"/>
                  <a:gd name="T4" fmla="*/ 206653432 w 105"/>
                  <a:gd name="T5" fmla="*/ 60483750 h 24"/>
                  <a:gd name="T6" fmla="*/ 264617994 w 105"/>
                  <a:gd name="T7" fmla="*/ 30241875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"/>
                  <a:gd name="T13" fmla="*/ 0 h 24"/>
                  <a:gd name="T14" fmla="*/ 105 w 105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" h="24">
                    <a:moveTo>
                      <a:pt x="105" y="12"/>
                    </a:moveTo>
                    <a:lnTo>
                      <a:pt x="0" y="0"/>
                    </a:lnTo>
                    <a:lnTo>
                      <a:pt x="82" y="24"/>
                    </a:lnTo>
                    <a:lnTo>
                      <a:pt x="105" y="1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310"/>
              <p:cNvSpPr>
                <a:spLocks noChangeArrowheads="1"/>
              </p:cNvSpPr>
              <p:nvPr/>
            </p:nvSpPr>
            <p:spPr bwMode="auto">
              <a:xfrm>
                <a:off x="1171575" y="1084262"/>
                <a:ext cx="184150" cy="161925"/>
              </a:xfrm>
              <a:custGeom>
                <a:avLst/>
                <a:gdLst>
                  <a:gd name="T0" fmla="*/ 0 w 116"/>
                  <a:gd name="T1" fmla="*/ 257055938 h 102"/>
                  <a:gd name="T2" fmla="*/ 292338125 w 116"/>
                  <a:gd name="T3" fmla="*/ 209173763 h 102"/>
                  <a:gd name="T4" fmla="*/ 57964388 w 116"/>
                  <a:gd name="T5" fmla="*/ 0 h 102"/>
                  <a:gd name="T6" fmla="*/ 0 w 116"/>
                  <a:gd name="T7" fmla="*/ 257055938 h 1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6"/>
                  <a:gd name="T13" fmla="*/ 0 h 102"/>
                  <a:gd name="T14" fmla="*/ 116 w 116"/>
                  <a:gd name="T15" fmla="*/ 102 h 1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6" h="102">
                    <a:moveTo>
                      <a:pt x="0" y="102"/>
                    </a:moveTo>
                    <a:lnTo>
                      <a:pt x="116" y="83"/>
                    </a:lnTo>
                    <a:lnTo>
                      <a:pt x="23" y="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1311"/>
              <p:cNvSpPr>
                <a:spLocks noChangeArrowheads="1"/>
              </p:cNvSpPr>
              <p:nvPr/>
            </p:nvSpPr>
            <p:spPr bwMode="auto">
              <a:xfrm>
                <a:off x="1208088" y="1065212"/>
                <a:ext cx="147638" cy="150812"/>
              </a:xfrm>
              <a:custGeom>
                <a:avLst/>
                <a:gdLst>
                  <a:gd name="T0" fmla="*/ 0 w 93"/>
                  <a:gd name="T1" fmla="*/ 30241775 h 95"/>
                  <a:gd name="T2" fmla="*/ 234376119 w 93"/>
                  <a:gd name="T3" fmla="*/ 239413256 h 95"/>
                  <a:gd name="T4" fmla="*/ 57964584 w 93"/>
                  <a:gd name="T5" fmla="*/ 0 h 95"/>
                  <a:gd name="T6" fmla="*/ 0 w 93"/>
                  <a:gd name="T7" fmla="*/ 3024177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95"/>
                  <a:gd name="T14" fmla="*/ 93 w 9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95">
                    <a:moveTo>
                      <a:pt x="0" y="12"/>
                    </a:moveTo>
                    <a:lnTo>
                      <a:pt x="93" y="95"/>
                    </a:lnTo>
                    <a:lnTo>
                      <a:pt x="23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Rectangle 1312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42" name="Freeform 1313"/>
              <p:cNvSpPr>
                <a:spLocks noChangeArrowheads="1"/>
              </p:cNvSpPr>
              <p:nvPr/>
            </p:nvSpPr>
            <p:spPr bwMode="auto">
              <a:xfrm>
                <a:off x="661988" y="1065212"/>
                <a:ext cx="509588" cy="182562"/>
              </a:xfrm>
              <a:custGeom>
                <a:avLst/>
                <a:gdLst>
                  <a:gd name="T0" fmla="*/ 204292789 w 441"/>
                  <a:gd name="T1" fmla="*/ 0 h 158"/>
                  <a:gd name="T2" fmla="*/ 0 w 441"/>
                  <a:gd name="T3" fmla="*/ 184240877 h 158"/>
                  <a:gd name="T4" fmla="*/ 114830629 w 441"/>
                  <a:gd name="T5" fmla="*/ 210942303 h 158"/>
                  <a:gd name="T6" fmla="*/ 588843378 w 441"/>
                  <a:gd name="T7" fmla="*/ 209607751 h 158"/>
                  <a:gd name="T8" fmla="*/ 204292789 w 441"/>
                  <a:gd name="T9" fmla="*/ 0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1"/>
                  <a:gd name="T16" fmla="*/ 0 h 158"/>
                  <a:gd name="T17" fmla="*/ 441 w 441"/>
                  <a:gd name="T18" fmla="*/ 158 h 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1" h="158">
                    <a:moveTo>
                      <a:pt x="153" y="0"/>
                    </a:moveTo>
                    <a:cubicBezTo>
                      <a:pt x="0" y="138"/>
                      <a:pt x="0" y="138"/>
                      <a:pt x="0" y="138"/>
                    </a:cubicBezTo>
                    <a:cubicBezTo>
                      <a:pt x="27" y="145"/>
                      <a:pt x="56" y="152"/>
                      <a:pt x="86" y="158"/>
                    </a:cubicBezTo>
                    <a:cubicBezTo>
                      <a:pt x="441" y="157"/>
                      <a:pt x="441" y="157"/>
                      <a:pt x="441" y="157"/>
                    </a:cubicBezTo>
                    <a:lnTo>
                      <a:pt x="153" y="0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1314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307975" cy="136525"/>
              </a:xfrm>
              <a:custGeom>
                <a:avLst/>
                <a:gdLst>
                  <a:gd name="T0" fmla="*/ 234164812 w 267"/>
                  <a:gd name="T1" fmla="*/ 157958268 h 118"/>
                  <a:gd name="T2" fmla="*/ 355238205 w 267"/>
                  <a:gd name="T3" fmla="*/ 68270599 h 118"/>
                  <a:gd name="T4" fmla="*/ 1329944 w 267"/>
                  <a:gd name="T5" fmla="*/ 0 h 118"/>
                  <a:gd name="T6" fmla="*/ 0 w 267"/>
                  <a:gd name="T7" fmla="*/ 0 h 118"/>
                  <a:gd name="T8" fmla="*/ 234164812 w 267"/>
                  <a:gd name="T9" fmla="*/ 15795826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"/>
                  <a:gd name="T17" fmla="*/ 267 w 267"/>
                  <a:gd name="T18" fmla="*/ 118 h 1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">
                    <a:moveTo>
                      <a:pt x="176" y="118"/>
                    </a:moveTo>
                    <a:cubicBezTo>
                      <a:pt x="267" y="51"/>
                      <a:pt x="267" y="51"/>
                      <a:pt x="267" y="51"/>
                    </a:cubicBezTo>
                    <a:cubicBezTo>
                      <a:pt x="163" y="39"/>
                      <a:pt x="72" y="22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76" y="118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1315"/>
              <p:cNvSpPr>
                <a:spLocks noChangeArrowheads="1"/>
              </p:cNvSpPr>
              <p:nvPr/>
            </p:nvSpPr>
            <p:spPr bwMode="auto">
              <a:xfrm>
                <a:off x="838200" y="987424"/>
                <a:ext cx="239713" cy="77787"/>
              </a:xfrm>
              <a:custGeom>
                <a:avLst/>
                <a:gdLst>
                  <a:gd name="T0" fmla="*/ 276261165 w 208"/>
                  <a:gd name="T1" fmla="*/ 68743971 h 67"/>
                  <a:gd name="T2" fmla="*/ 261651349 w 208"/>
                  <a:gd name="T3" fmla="*/ 12131289 h 67"/>
                  <a:gd name="T4" fmla="*/ 120863756 w 208"/>
                  <a:gd name="T5" fmla="*/ 0 h 67"/>
                  <a:gd name="T6" fmla="*/ 0 w 208"/>
                  <a:gd name="T7" fmla="*/ 90310707 h 67"/>
                  <a:gd name="T8" fmla="*/ 276261165 w 208"/>
                  <a:gd name="T9" fmla="*/ 68743971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8"/>
                  <a:gd name="T16" fmla="*/ 0 h 67"/>
                  <a:gd name="T17" fmla="*/ 208 w 20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8" h="67">
                    <a:moveTo>
                      <a:pt x="208" y="51"/>
                    </a:moveTo>
                    <a:cubicBezTo>
                      <a:pt x="197" y="9"/>
                      <a:pt x="197" y="9"/>
                      <a:pt x="197" y="9"/>
                    </a:cubicBezTo>
                    <a:cubicBezTo>
                      <a:pt x="160" y="7"/>
                      <a:pt x="125" y="4"/>
                      <a:pt x="91" y="0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208" y="51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316"/>
              <p:cNvSpPr>
                <a:spLocks noChangeArrowheads="1"/>
              </p:cNvSpPr>
              <p:nvPr/>
            </p:nvSpPr>
            <p:spPr bwMode="auto">
              <a:xfrm>
                <a:off x="838200" y="1046162"/>
                <a:ext cx="369888" cy="38100"/>
              </a:xfrm>
              <a:custGeom>
                <a:avLst/>
                <a:gdLst>
                  <a:gd name="T0" fmla="*/ 380544902 w 233"/>
                  <a:gd name="T1" fmla="*/ 0 h 24"/>
                  <a:gd name="T2" fmla="*/ 0 w 233"/>
                  <a:gd name="T3" fmla="*/ 30241875 h 24"/>
                  <a:gd name="T4" fmla="*/ 587197994 w 233"/>
                  <a:gd name="T5" fmla="*/ 60483750 h 24"/>
                  <a:gd name="T6" fmla="*/ 380544902 w 23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24"/>
                  <a:gd name="T14" fmla="*/ 233 w 23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24">
                    <a:moveTo>
                      <a:pt x="151" y="0"/>
                    </a:moveTo>
                    <a:lnTo>
                      <a:pt x="0" y="12"/>
                    </a:lnTo>
                    <a:lnTo>
                      <a:pt x="233" y="2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1317"/>
              <p:cNvSpPr>
                <a:spLocks noChangeArrowheads="1"/>
              </p:cNvSpPr>
              <p:nvPr/>
            </p:nvSpPr>
            <p:spPr bwMode="auto">
              <a:xfrm>
                <a:off x="838200" y="1065212"/>
                <a:ext cx="369888" cy="180975"/>
              </a:xfrm>
              <a:custGeom>
                <a:avLst/>
                <a:gdLst>
                  <a:gd name="T0" fmla="*/ 0 w 233"/>
                  <a:gd name="T1" fmla="*/ 0 h 114"/>
                  <a:gd name="T2" fmla="*/ 529233528 w 233"/>
                  <a:gd name="T3" fmla="*/ 287297813 h 114"/>
                  <a:gd name="T4" fmla="*/ 587197994 w 233"/>
                  <a:gd name="T5" fmla="*/ 30241875 h 114"/>
                  <a:gd name="T6" fmla="*/ 0 w 233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114"/>
                  <a:gd name="T14" fmla="*/ 233 w 233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114">
                    <a:moveTo>
                      <a:pt x="0" y="0"/>
                    </a:moveTo>
                    <a:lnTo>
                      <a:pt x="210" y="114"/>
                    </a:lnTo>
                    <a:lnTo>
                      <a:pt x="233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1318"/>
              <p:cNvSpPr>
                <a:spLocks noChangeArrowheads="1"/>
              </p:cNvSpPr>
              <p:nvPr/>
            </p:nvSpPr>
            <p:spPr bwMode="auto">
              <a:xfrm>
                <a:off x="642938" y="1065212"/>
                <a:ext cx="195263" cy="158750"/>
              </a:xfrm>
              <a:custGeom>
                <a:avLst/>
                <a:gdLst>
                  <a:gd name="T0" fmla="*/ 33373797 w 169"/>
                  <a:gd name="T1" fmla="*/ 59549656 h 138"/>
                  <a:gd name="T2" fmla="*/ 0 w 169"/>
                  <a:gd name="T3" fmla="*/ 177327201 h 138"/>
                  <a:gd name="T4" fmla="*/ 21358768 w 169"/>
                  <a:gd name="T5" fmla="*/ 182620018 h 138"/>
                  <a:gd name="T6" fmla="*/ 225607332 w 169"/>
                  <a:gd name="T7" fmla="*/ 0 h 138"/>
                  <a:gd name="T8" fmla="*/ 33373797 w 169"/>
                  <a:gd name="T9" fmla="*/ 59549656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38"/>
                  <a:gd name="T17" fmla="*/ 169 w 169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38">
                    <a:moveTo>
                      <a:pt x="25" y="45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5" y="135"/>
                      <a:pt x="11" y="136"/>
                      <a:pt x="16" y="138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25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131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203200" cy="188912"/>
              </a:xfrm>
              <a:custGeom>
                <a:avLst/>
                <a:gdLst>
                  <a:gd name="T0" fmla="*/ 57964388 w 128"/>
                  <a:gd name="T1" fmla="*/ 299897006 h 119"/>
                  <a:gd name="T2" fmla="*/ 322580000 w 128"/>
                  <a:gd name="T3" fmla="*/ 216732864 h 119"/>
                  <a:gd name="T4" fmla="*/ 0 w 128"/>
                  <a:gd name="T5" fmla="*/ 0 h 119"/>
                  <a:gd name="T6" fmla="*/ 57964388 w 128"/>
                  <a:gd name="T7" fmla="*/ 299897006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8"/>
                  <a:gd name="T13" fmla="*/ 0 h 119"/>
                  <a:gd name="T14" fmla="*/ 128 w 128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8" h="119">
                    <a:moveTo>
                      <a:pt x="23" y="119"/>
                    </a:moveTo>
                    <a:lnTo>
                      <a:pt x="128" y="86"/>
                    </a:lnTo>
                    <a:lnTo>
                      <a:pt x="0" y="0"/>
                    </a:lnTo>
                    <a:lnTo>
                      <a:pt x="23" y="119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1320"/>
              <p:cNvSpPr>
                <a:spLocks noChangeArrowheads="1"/>
              </p:cNvSpPr>
              <p:nvPr/>
            </p:nvSpPr>
            <p:spPr bwMode="auto">
              <a:xfrm>
                <a:off x="463550" y="1117599"/>
                <a:ext cx="207963" cy="103187"/>
              </a:xfrm>
              <a:custGeom>
                <a:avLst/>
                <a:gdLst>
                  <a:gd name="T0" fmla="*/ 0 w 181"/>
                  <a:gd name="T1" fmla="*/ 37637748 h 89"/>
                  <a:gd name="T2" fmla="*/ 205939669 w 181"/>
                  <a:gd name="T3" fmla="*/ 119635472 h 89"/>
                  <a:gd name="T4" fmla="*/ 238942593 w 181"/>
                  <a:gd name="T5" fmla="*/ 0 h 89"/>
                  <a:gd name="T6" fmla="*/ 0 w 181"/>
                  <a:gd name="T7" fmla="*/ 37637748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89"/>
                  <a:gd name="T14" fmla="*/ 181 w 181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89">
                    <a:moveTo>
                      <a:pt x="0" y="28"/>
                    </a:moveTo>
                    <a:cubicBezTo>
                      <a:pt x="41" y="51"/>
                      <a:pt x="93" y="71"/>
                      <a:pt x="156" y="89"/>
                    </a:cubicBezTo>
                    <a:cubicBezTo>
                      <a:pt x="181" y="0"/>
                      <a:pt x="181" y="0"/>
                      <a:pt x="181" y="0"/>
                    </a:cubicBez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1321"/>
              <p:cNvSpPr>
                <a:spLocks noChangeArrowheads="1"/>
              </p:cNvSpPr>
              <p:nvPr/>
            </p:nvSpPr>
            <p:spPr bwMode="auto">
              <a:xfrm>
                <a:off x="400050" y="928687"/>
                <a:ext cx="271463" cy="220662"/>
              </a:xfrm>
              <a:custGeom>
                <a:avLst/>
                <a:gdLst>
                  <a:gd name="T0" fmla="*/ 269914741 w 236"/>
                  <a:gd name="T1" fmla="*/ 0 h 191"/>
                  <a:gd name="T2" fmla="*/ 0 w 236"/>
                  <a:gd name="T3" fmla="*/ 201541811 h 191"/>
                  <a:gd name="T4" fmla="*/ 72771639 w 236"/>
                  <a:gd name="T5" fmla="*/ 254930462 h 191"/>
                  <a:gd name="T6" fmla="*/ 312254917 w 236"/>
                  <a:gd name="T7" fmla="*/ 217558868 h 191"/>
                  <a:gd name="T8" fmla="*/ 269914741 w 236"/>
                  <a:gd name="T9" fmla="*/ 0 h 1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6"/>
                  <a:gd name="T16" fmla="*/ 0 h 191"/>
                  <a:gd name="T17" fmla="*/ 236 w 236"/>
                  <a:gd name="T18" fmla="*/ 191 h 1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6" h="191">
                    <a:moveTo>
                      <a:pt x="204" y="0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14" y="165"/>
                      <a:pt x="33" y="178"/>
                      <a:pt x="55" y="191"/>
                    </a:cubicBezTo>
                    <a:cubicBezTo>
                      <a:pt x="236" y="163"/>
                      <a:pt x="236" y="163"/>
                      <a:pt x="236" y="163"/>
                    </a:cubicBez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1322"/>
              <p:cNvSpPr>
                <a:spLocks noChangeArrowheads="1"/>
              </p:cNvSpPr>
              <p:nvPr/>
            </p:nvSpPr>
            <p:spPr bwMode="auto">
              <a:xfrm>
                <a:off x="1049338" y="1246187"/>
                <a:ext cx="220663" cy="47625"/>
              </a:xfrm>
              <a:custGeom>
                <a:avLst/>
                <a:gdLst>
                  <a:gd name="T0" fmla="*/ 0 w 191"/>
                  <a:gd name="T1" fmla="*/ 44525890 h 41"/>
                  <a:gd name="T2" fmla="*/ 254932773 w 191"/>
                  <a:gd name="T3" fmla="*/ 55320503 h 41"/>
                  <a:gd name="T4" fmla="*/ 140146422 w 191"/>
                  <a:gd name="T5" fmla="*/ 0 h 41"/>
                  <a:gd name="T6" fmla="*/ 0 w 191"/>
                  <a:gd name="T7" fmla="*/ 4452589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1"/>
                  <a:gd name="T13" fmla="*/ 0 h 41"/>
                  <a:gd name="T14" fmla="*/ 191 w 19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1" h="41">
                    <a:moveTo>
                      <a:pt x="0" y="33"/>
                    </a:moveTo>
                    <a:cubicBezTo>
                      <a:pt x="61" y="38"/>
                      <a:pt x="125" y="40"/>
                      <a:pt x="191" y="41"/>
                    </a:cubicBezTo>
                    <a:cubicBezTo>
                      <a:pt x="105" y="0"/>
                      <a:pt x="105" y="0"/>
                      <a:pt x="105" y="0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1323"/>
              <p:cNvSpPr>
                <a:spLocks noChangeArrowheads="1"/>
              </p:cNvSpPr>
              <p:nvPr/>
            </p:nvSpPr>
            <p:spPr bwMode="auto">
              <a:xfrm>
                <a:off x="1171575" y="1216024"/>
                <a:ext cx="184150" cy="77787"/>
              </a:xfrm>
              <a:custGeom>
                <a:avLst/>
                <a:gdLst>
                  <a:gd name="T0" fmla="*/ 0 w 160"/>
                  <a:gd name="T1" fmla="*/ 35045946 h 67"/>
                  <a:gd name="T2" fmla="*/ 113920945 w 160"/>
                  <a:gd name="T3" fmla="*/ 90310707 h 67"/>
                  <a:gd name="T4" fmla="*/ 121868168 w 160"/>
                  <a:gd name="T5" fmla="*/ 90310707 h 67"/>
                  <a:gd name="T6" fmla="*/ 180153945 w 160"/>
                  <a:gd name="T7" fmla="*/ 88962786 h 67"/>
                  <a:gd name="T8" fmla="*/ 211945141 w 160"/>
                  <a:gd name="T9" fmla="*/ 0 h 67"/>
                  <a:gd name="T10" fmla="*/ 0 w 160"/>
                  <a:gd name="T11" fmla="*/ 35045946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67"/>
                  <a:gd name="T20" fmla="*/ 160 w 160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67">
                    <a:moveTo>
                      <a:pt x="0" y="26"/>
                    </a:moveTo>
                    <a:cubicBezTo>
                      <a:pt x="86" y="67"/>
                      <a:pt x="86" y="67"/>
                      <a:pt x="86" y="67"/>
                    </a:cubicBezTo>
                    <a:cubicBezTo>
                      <a:pt x="88" y="67"/>
                      <a:pt x="90" y="67"/>
                      <a:pt x="92" y="67"/>
                    </a:cubicBezTo>
                    <a:cubicBezTo>
                      <a:pt x="107" y="67"/>
                      <a:pt x="121" y="66"/>
                      <a:pt x="136" y="66"/>
                    </a:cubicBezTo>
                    <a:cubicBezTo>
                      <a:pt x="160" y="0"/>
                      <a:pt x="160" y="0"/>
                      <a:pt x="160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1324"/>
              <p:cNvSpPr>
                <a:spLocks noChangeArrowheads="1"/>
              </p:cNvSpPr>
              <p:nvPr/>
            </p:nvSpPr>
            <p:spPr bwMode="auto">
              <a:xfrm>
                <a:off x="1328738" y="1216024"/>
                <a:ext cx="277813" cy="76200"/>
              </a:xfrm>
              <a:custGeom>
                <a:avLst/>
                <a:gdLst>
                  <a:gd name="T0" fmla="*/ 0 w 241"/>
                  <a:gd name="T1" fmla="*/ 87976364 h 66"/>
                  <a:gd name="T2" fmla="*/ 320249224 w 241"/>
                  <a:gd name="T3" fmla="*/ 67981945 h 66"/>
                  <a:gd name="T4" fmla="*/ 31892010 w 241"/>
                  <a:gd name="T5" fmla="*/ 0 h 66"/>
                  <a:gd name="T6" fmla="*/ 0 w 241"/>
                  <a:gd name="T7" fmla="*/ 87976364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1"/>
                  <a:gd name="T13" fmla="*/ 0 h 66"/>
                  <a:gd name="T14" fmla="*/ 241 w 24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1" h="66">
                    <a:moveTo>
                      <a:pt x="0" y="66"/>
                    </a:moveTo>
                    <a:cubicBezTo>
                      <a:pt x="84" y="65"/>
                      <a:pt x="165" y="60"/>
                      <a:pt x="241" y="51"/>
                    </a:cubicBezTo>
                    <a:cubicBezTo>
                      <a:pt x="24" y="0"/>
                      <a:pt x="24" y="0"/>
                      <a:pt x="24" y="0"/>
                    </a:cubicBez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25"/>
              <p:cNvSpPr>
                <a:spLocks noChangeArrowheads="1"/>
              </p:cNvSpPr>
              <p:nvPr/>
            </p:nvSpPr>
            <p:spPr bwMode="auto">
              <a:xfrm>
                <a:off x="1725613" y="1117599"/>
                <a:ext cx="358775" cy="119062"/>
              </a:xfrm>
              <a:custGeom>
                <a:avLst/>
                <a:gdLst>
                  <a:gd name="T0" fmla="*/ 134413727 w 311"/>
                  <a:gd name="T1" fmla="*/ 136305383 h 104"/>
                  <a:gd name="T2" fmla="*/ 413889070 w 311"/>
                  <a:gd name="T3" fmla="*/ 40629908 h 104"/>
                  <a:gd name="T4" fmla="*/ 0 w 311"/>
                  <a:gd name="T5" fmla="*/ 0 h 104"/>
                  <a:gd name="T6" fmla="*/ 134413727 w 311"/>
                  <a:gd name="T7" fmla="*/ 136305383 h 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1"/>
                  <a:gd name="T13" fmla="*/ 0 h 104"/>
                  <a:gd name="T14" fmla="*/ 311 w 311"/>
                  <a:gd name="T15" fmla="*/ 104 h 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1" h="104">
                    <a:moveTo>
                      <a:pt x="101" y="104"/>
                    </a:moveTo>
                    <a:cubicBezTo>
                      <a:pt x="188" y="84"/>
                      <a:pt x="259" y="59"/>
                      <a:pt x="311" y="3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01" y="104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26"/>
              <p:cNvSpPr>
                <a:spLocks noChangeArrowheads="1"/>
              </p:cNvSpPr>
              <p:nvPr/>
            </p:nvSpPr>
            <p:spPr bwMode="auto">
              <a:xfrm>
                <a:off x="2085975" y="811212"/>
                <a:ext cx="106363" cy="315912"/>
              </a:xfrm>
              <a:custGeom>
                <a:avLst/>
                <a:gdLst>
                  <a:gd name="T0" fmla="*/ 0 w 91"/>
                  <a:gd name="T1" fmla="*/ 34816280 h 273"/>
                  <a:gd name="T2" fmla="*/ 49181784 w 91"/>
                  <a:gd name="T3" fmla="*/ 365569201 h 273"/>
                  <a:gd name="T4" fmla="*/ 124319646 w 91"/>
                  <a:gd name="T5" fmla="*/ 251747148 h 273"/>
                  <a:gd name="T6" fmla="*/ 117489037 w 91"/>
                  <a:gd name="T7" fmla="*/ 216930869 h 273"/>
                  <a:gd name="T8" fmla="*/ 117489037 w 91"/>
                  <a:gd name="T9" fmla="*/ 216930869 h 273"/>
                  <a:gd name="T10" fmla="*/ 49181784 w 91"/>
                  <a:gd name="T11" fmla="*/ 44189493 h 273"/>
                  <a:gd name="T12" fmla="*/ 19126639 w 91"/>
                  <a:gd name="T13" fmla="*/ 0 h 273"/>
                  <a:gd name="T14" fmla="*/ 0 w 91"/>
                  <a:gd name="T15" fmla="*/ 34816280 h 2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1"/>
                  <a:gd name="T25" fmla="*/ 0 h 273"/>
                  <a:gd name="T26" fmla="*/ 91 w 91"/>
                  <a:gd name="T27" fmla="*/ 273 h 27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1" h="273">
                    <a:moveTo>
                      <a:pt x="0" y="26"/>
                    </a:moveTo>
                    <a:cubicBezTo>
                      <a:pt x="36" y="273"/>
                      <a:pt x="36" y="273"/>
                      <a:pt x="36" y="273"/>
                    </a:cubicBezTo>
                    <a:cubicBezTo>
                      <a:pt x="71" y="247"/>
                      <a:pt x="91" y="218"/>
                      <a:pt x="91" y="188"/>
                    </a:cubicBezTo>
                    <a:cubicBezTo>
                      <a:pt x="91" y="179"/>
                      <a:pt x="89" y="171"/>
                      <a:pt x="86" y="162"/>
                    </a:cubicBezTo>
                    <a:cubicBezTo>
                      <a:pt x="86" y="162"/>
                      <a:pt x="86" y="162"/>
                      <a:pt x="86" y="162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9"/>
                      <a:pt x="7" y="18"/>
                      <a:pt x="0" y="26"/>
                    </a:cubicBez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1327"/>
              <p:cNvSpPr>
                <a:spLocks noChangeArrowheads="1"/>
              </p:cNvSpPr>
              <p:nvPr/>
            </p:nvSpPr>
            <p:spPr bwMode="auto">
              <a:xfrm>
                <a:off x="1725613" y="841374"/>
                <a:ext cx="403225" cy="311150"/>
              </a:xfrm>
              <a:custGeom>
                <a:avLst/>
                <a:gdLst>
                  <a:gd name="T0" fmla="*/ 359083994 w 349"/>
                  <a:gd name="T1" fmla="*/ 45153627 h 270"/>
                  <a:gd name="T2" fmla="*/ 220255591 w 349"/>
                  <a:gd name="T3" fmla="*/ 102258871 h 270"/>
                  <a:gd name="T4" fmla="*/ 0 w 349"/>
                  <a:gd name="T5" fmla="*/ 317401810 h 270"/>
                  <a:gd name="T6" fmla="*/ 415149599 w 349"/>
                  <a:gd name="T7" fmla="*/ 358571565 h 270"/>
                  <a:gd name="T8" fmla="*/ 465875073 w 349"/>
                  <a:gd name="T9" fmla="*/ 328027006 h 270"/>
                  <a:gd name="T10" fmla="*/ 417819665 w 349"/>
                  <a:gd name="T11" fmla="*/ 0 h 270"/>
                  <a:gd name="T12" fmla="*/ 359083994 w 349"/>
                  <a:gd name="T13" fmla="*/ 45153627 h 2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9"/>
                  <a:gd name="T22" fmla="*/ 0 h 270"/>
                  <a:gd name="T23" fmla="*/ 349 w 349"/>
                  <a:gd name="T24" fmla="*/ 270 h 2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9" h="270">
                    <a:moveTo>
                      <a:pt x="269" y="34"/>
                    </a:moveTo>
                    <a:cubicBezTo>
                      <a:pt x="242" y="50"/>
                      <a:pt x="207" y="64"/>
                      <a:pt x="165" y="7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311" y="270"/>
                      <a:pt x="311" y="270"/>
                      <a:pt x="311" y="270"/>
                    </a:cubicBezTo>
                    <a:cubicBezTo>
                      <a:pt x="325" y="262"/>
                      <a:pt x="338" y="255"/>
                      <a:pt x="349" y="247"/>
                    </a:cubicBezTo>
                    <a:cubicBezTo>
                      <a:pt x="313" y="0"/>
                      <a:pt x="313" y="0"/>
                      <a:pt x="313" y="0"/>
                    </a:cubicBezTo>
                    <a:cubicBezTo>
                      <a:pt x="303" y="12"/>
                      <a:pt x="288" y="23"/>
                      <a:pt x="269" y="34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Rectangle 1328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58" name="Freeform 132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"/>
              </a:xfrm>
              <a:custGeom>
                <a:avLst/>
                <a:gdLst>
                  <a:gd name="T0" fmla="*/ 2521744 w 1"/>
                  <a:gd name="T1" fmla="*/ 0 h 1"/>
                  <a:gd name="T2" fmla="*/ 2521744 w 1"/>
                  <a:gd name="T3" fmla="*/ 0 h 1"/>
                  <a:gd name="T4" fmla="*/ 0 w 1"/>
                  <a:gd name="T5" fmla="*/ 0 h 1"/>
                  <a:gd name="T6" fmla="*/ 252174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1"/>
                  <a:gd name="T14" fmla="*/ 1 w 1"/>
                  <a:gd name="T15" fmla="*/ 1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1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1330"/>
              <p:cNvSpPr>
                <a:spLocks noChangeArrowheads="1"/>
              </p:cNvSpPr>
              <p:nvPr/>
            </p:nvSpPr>
            <p:spPr bwMode="auto">
              <a:xfrm>
                <a:off x="1244600" y="1065212"/>
                <a:ext cx="369888" cy="150812"/>
              </a:xfrm>
              <a:custGeom>
                <a:avLst/>
                <a:gdLst>
                  <a:gd name="T0" fmla="*/ 0 w 233"/>
                  <a:gd name="T1" fmla="*/ 0 h 95"/>
                  <a:gd name="T2" fmla="*/ 176411176 w 233"/>
                  <a:gd name="T3" fmla="*/ 239413256 h 95"/>
                  <a:gd name="T4" fmla="*/ 587197994 w 233"/>
                  <a:gd name="T5" fmla="*/ 32761129 h 95"/>
                  <a:gd name="T6" fmla="*/ 0 w 233"/>
                  <a:gd name="T7" fmla="*/ 0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95"/>
                  <a:gd name="T14" fmla="*/ 233 w 23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95">
                    <a:moveTo>
                      <a:pt x="0" y="0"/>
                    </a:moveTo>
                    <a:lnTo>
                      <a:pt x="70" y="95"/>
                    </a:lnTo>
                    <a:lnTo>
                      <a:pt x="233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1331"/>
              <p:cNvSpPr>
                <a:spLocks noChangeArrowheads="1"/>
              </p:cNvSpPr>
              <p:nvPr/>
            </p:nvSpPr>
            <p:spPr bwMode="auto">
              <a:xfrm>
                <a:off x="1244600" y="1003299"/>
                <a:ext cx="369888" cy="82550"/>
              </a:xfrm>
              <a:custGeom>
                <a:avLst/>
                <a:gdLst>
                  <a:gd name="T0" fmla="*/ 427553539 w 320"/>
                  <a:gd name="T1" fmla="*/ 94645868 h 72"/>
                  <a:gd name="T2" fmla="*/ 197743281 w 320"/>
                  <a:gd name="T3" fmla="*/ 0 h 72"/>
                  <a:gd name="T4" fmla="*/ 89518676 w 320"/>
                  <a:gd name="T5" fmla="*/ 2628988 h 72"/>
                  <a:gd name="T6" fmla="*/ 0 w 320"/>
                  <a:gd name="T7" fmla="*/ 70984974 h 72"/>
                  <a:gd name="T8" fmla="*/ 427553539 w 320"/>
                  <a:gd name="T9" fmla="*/ 94645868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0"/>
                  <a:gd name="T16" fmla="*/ 0 h 72"/>
                  <a:gd name="T17" fmla="*/ 320 w 320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0" h="72">
                    <a:moveTo>
                      <a:pt x="320" y="72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21" y="1"/>
                      <a:pt x="94" y="1"/>
                      <a:pt x="67" y="2"/>
                    </a:cubicBezTo>
                    <a:cubicBezTo>
                      <a:pt x="0" y="54"/>
                      <a:pt x="0" y="54"/>
                      <a:pt x="0" y="54"/>
                    </a:cubicBezTo>
                    <a:lnTo>
                      <a:pt x="320" y="72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1332"/>
              <p:cNvSpPr>
                <a:spLocks noChangeArrowheads="1"/>
              </p:cNvSpPr>
              <p:nvPr/>
            </p:nvSpPr>
            <p:spPr bwMode="auto">
              <a:xfrm>
                <a:off x="1355725" y="1085849"/>
                <a:ext cx="369888" cy="130175"/>
              </a:xfrm>
              <a:custGeom>
                <a:avLst/>
                <a:gdLst>
                  <a:gd name="T0" fmla="*/ 0 w 233"/>
                  <a:gd name="T1" fmla="*/ 206652813 h 82"/>
                  <a:gd name="T2" fmla="*/ 587197994 w 233"/>
                  <a:gd name="T3" fmla="*/ 50403125 h 82"/>
                  <a:gd name="T4" fmla="*/ 410786818 w 233"/>
                  <a:gd name="T5" fmla="*/ 0 h 82"/>
                  <a:gd name="T6" fmla="*/ 0 w 233"/>
                  <a:gd name="T7" fmla="*/ 206652813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82"/>
                  <a:gd name="T14" fmla="*/ 233 w 233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82">
                    <a:moveTo>
                      <a:pt x="0" y="82"/>
                    </a:moveTo>
                    <a:lnTo>
                      <a:pt x="233" y="20"/>
                    </a:lnTo>
                    <a:lnTo>
                      <a:pt x="163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1333"/>
              <p:cNvSpPr>
                <a:spLocks noChangeArrowheads="1"/>
              </p:cNvSpPr>
              <p:nvPr/>
            </p:nvSpPr>
            <p:spPr bwMode="auto">
              <a:xfrm>
                <a:off x="1416050" y="985837"/>
                <a:ext cx="206375" cy="100012"/>
              </a:xfrm>
              <a:custGeom>
                <a:avLst/>
                <a:gdLst>
                  <a:gd name="T0" fmla="*/ 237936540 w 179"/>
                  <a:gd name="T1" fmla="*/ 0 h 86"/>
                  <a:gd name="T2" fmla="*/ 0 w 179"/>
                  <a:gd name="T3" fmla="*/ 18933667 h 86"/>
                  <a:gd name="T4" fmla="*/ 228631218 w 179"/>
                  <a:gd name="T5" fmla="*/ 116306978 h 86"/>
                  <a:gd name="T6" fmla="*/ 237936540 w 179"/>
                  <a:gd name="T7" fmla="*/ 0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9"/>
                  <a:gd name="T13" fmla="*/ 0 h 86"/>
                  <a:gd name="T14" fmla="*/ 179 w 179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9" h="86">
                    <a:moveTo>
                      <a:pt x="179" y="0"/>
                    </a:moveTo>
                    <a:cubicBezTo>
                      <a:pt x="123" y="6"/>
                      <a:pt x="63" y="11"/>
                      <a:pt x="0" y="14"/>
                    </a:cubicBezTo>
                    <a:cubicBezTo>
                      <a:pt x="172" y="86"/>
                      <a:pt x="172" y="86"/>
                      <a:pt x="172" y="86"/>
                    </a:cubicBez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1334"/>
              <p:cNvSpPr>
                <a:spLocks noChangeArrowheads="1"/>
              </p:cNvSpPr>
              <p:nvPr/>
            </p:nvSpPr>
            <p:spPr bwMode="auto">
              <a:xfrm>
                <a:off x="1614488" y="957262"/>
                <a:ext cx="188913" cy="128587"/>
              </a:xfrm>
              <a:custGeom>
                <a:avLst/>
                <a:gdLst>
                  <a:gd name="T0" fmla="*/ 218945531 w 163"/>
                  <a:gd name="T1" fmla="*/ 0 h 111"/>
                  <a:gd name="T2" fmla="*/ 9402768 w 163"/>
                  <a:gd name="T3" fmla="*/ 33549623 h 111"/>
                  <a:gd name="T4" fmla="*/ 0 w 163"/>
                  <a:gd name="T5" fmla="*/ 148960510 h 111"/>
                  <a:gd name="T6" fmla="*/ 218945531 w 163"/>
                  <a:gd name="T7" fmla="*/ 0 h 1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3"/>
                  <a:gd name="T13" fmla="*/ 0 h 111"/>
                  <a:gd name="T14" fmla="*/ 163 w 163"/>
                  <a:gd name="T15" fmla="*/ 111 h 1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3" h="111">
                    <a:moveTo>
                      <a:pt x="163" y="0"/>
                    </a:moveTo>
                    <a:cubicBezTo>
                      <a:pt x="116" y="10"/>
                      <a:pt x="63" y="18"/>
                      <a:pt x="7" y="25"/>
                    </a:cubicBezTo>
                    <a:cubicBezTo>
                      <a:pt x="0" y="111"/>
                      <a:pt x="0" y="111"/>
                      <a:pt x="0" y="111"/>
                    </a:cubicBez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1335"/>
              <p:cNvSpPr>
                <a:spLocks noChangeArrowheads="1"/>
              </p:cNvSpPr>
              <p:nvPr/>
            </p:nvSpPr>
            <p:spPr bwMode="auto">
              <a:xfrm>
                <a:off x="1614488" y="930274"/>
                <a:ext cx="301625" cy="187325"/>
              </a:xfrm>
              <a:custGeom>
                <a:avLst/>
                <a:gdLst>
                  <a:gd name="T0" fmla="*/ 128211427 w 261"/>
                  <a:gd name="T1" fmla="*/ 216608985 h 162"/>
                  <a:gd name="T2" fmla="*/ 348573336 w 261"/>
                  <a:gd name="T3" fmla="*/ 0 h 162"/>
                  <a:gd name="T4" fmla="*/ 217691199 w 261"/>
                  <a:gd name="T5" fmla="*/ 32090391 h 162"/>
                  <a:gd name="T6" fmla="*/ 0 w 261"/>
                  <a:gd name="T7" fmla="*/ 180507295 h 162"/>
                  <a:gd name="T8" fmla="*/ 128211427 w 261"/>
                  <a:gd name="T9" fmla="*/ 216608985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1"/>
                  <a:gd name="T16" fmla="*/ 0 h 162"/>
                  <a:gd name="T17" fmla="*/ 261 w 261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1" h="162">
                    <a:moveTo>
                      <a:pt x="96" y="162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32" y="9"/>
                      <a:pt x="199" y="17"/>
                      <a:pt x="163" y="24"/>
                    </a:cubicBezTo>
                    <a:cubicBezTo>
                      <a:pt x="0" y="135"/>
                      <a:pt x="0" y="135"/>
                      <a:pt x="0" y="135"/>
                    </a:cubicBezTo>
                    <a:lnTo>
                      <a:pt x="96" y="1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336"/>
              <p:cNvSpPr>
                <a:spLocks noChangeArrowheads="1"/>
              </p:cNvSpPr>
              <p:nvPr/>
            </p:nvSpPr>
            <p:spPr bwMode="auto">
              <a:xfrm>
                <a:off x="2100263" y="777874"/>
                <a:ext cx="28575" cy="71437"/>
              </a:xfrm>
              <a:custGeom>
                <a:avLst/>
                <a:gdLst>
                  <a:gd name="T0" fmla="*/ 5670947 w 24"/>
                  <a:gd name="T1" fmla="*/ 23896829 h 62"/>
                  <a:gd name="T2" fmla="*/ 2834878 w 24"/>
                  <a:gd name="T3" fmla="*/ 38499934 h 62"/>
                  <a:gd name="T4" fmla="*/ 34022109 w 24"/>
                  <a:gd name="T5" fmla="*/ 82310403 h 62"/>
                  <a:gd name="T6" fmla="*/ 0 w 24"/>
                  <a:gd name="T7" fmla="*/ 0 h 62"/>
                  <a:gd name="T8" fmla="*/ 5670947 w 24"/>
                  <a:gd name="T9" fmla="*/ 23896829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2"/>
                  <a:gd name="T17" fmla="*/ 24 w 24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2">
                    <a:moveTo>
                      <a:pt x="4" y="18"/>
                    </a:moveTo>
                    <a:cubicBezTo>
                      <a:pt x="4" y="21"/>
                      <a:pt x="3" y="25"/>
                      <a:pt x="2" y="29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4" y="12"/>
                      <a:pt x="4" y="18"/>
                    </a:cubicBez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6" name="任意多边形 98"/>
          <p:cNvSpPr>
            <a:spLocks noChangeArrowheads="1"/>
          </p:cNvSpPr>
          <p:nvPr/>
        </p:nvSpPr>
        <p:spPr bwMode="auto">
          <a:xfrm>
            <a:off x="3715403" y="2356325"/>
            <a:ext cx="1746647" cy="360759"/>
          </a:xfrm>
          <a:custGeom>
            <a:avLst/>
            <a:gdLst>
              <a:gd name="T0" fmla="*/ 0 w 2541974"/>
              <a:gd name="T1" fmla="*/ 0 h 636814"/>
              <a:gd name="T2" fmla="*/ 2133619 w 2541974"/>
              <a:gd name="T3" fmla="*/ 0 h 636814"/>
              <a:gd name="T4" fmla="*/ 1991723 w 2541974"/>
              <a:gd name="T5" fmla="*/ 181664 h 636814"/>
              <a:gd name="T6" fmla="*/ 2133619 w 2541974"/>
              <a:gd name="T7" fmla="*/ 363328 h 636814"/>
              <a:gd name="T8" fmla="*/ 0 w 2541974"/>
              <a:gd name="T9" fmla="*/ 363328 h 636814"/>
              <a:gd name="T10" fmla="*/ 141809 w 2541974"/>
              <a:gd name="T11" fmla="*/ 181664 h 6368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41974"/>
              <a:gd name="T19" fmla="*/ 0 h 636814"/>
              <a:gd name="T20" fmla="*/ 2541974 w 2541974"/>
              <a:gd name="T21" fmla="*/ 636814 h 6368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41974" h="636814">
                <a:moveTo>
                  <a:pt x="0" y="0"/>
                </a:moveTo>
                <a:lnTo>
                  <a:pt x="2541974" y="0"/>
                </a:lnTo>
                <a:lnTo>
                  <a:pt x="2372921" y="318407"/>
                </a:lnTo>
                <a:lnTo>
                  <a:pt x="2541974" y="636814"/>
                </a:lnTo>
                <a:lnTo>
                  <a:pt x="0" y="636814"/>
                </a:lnTo>
                <a:lnTo>
                  <a:pt x="168950" y="31840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print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谢谢聆听</a:t>
            </a:r>
          </a:p>
        </p:txBody>
      </p:sp>
      <p:pic>
        <p:nvPicPr>
          <p:cNvPr id="69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91" y="138184"/>
            <a:ext cx="2257425" cy="43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6592</Words>
  <Application>Microsoft Office PowerPoint</Application>
  <PresentationFormat>全屏显示(16:9)</PresentationFormat>
  <Paragraphs>759</Paragraphs>
  <Slides>67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79" baseType="lpstr">
      <vt:lpstr>Browallia New</vt:lpstr>
      <vt:lpstr>黑体</vt:lpstr>
      <vt:lpstr>宋体</vt:lpstr>
      <vt:lpstr>微软雅黑</vt:lpstr>
      <vt:lpstr>Arial</vt:lpstr>
      <vt:lpstr>Calibri</vt:lpstr>
      <vt:lpstr>Helvetica</vt:lpstr>
      <vt:lpstr>Impact</vt:lpstr>
      <vt:lpstr>Tahoma</vt:lpstr>
      <vt:lpstr>Times New Roman</vt:lpstr>
      <vt:lpstr>Wingdings</vt:lpstr>
      <vt:lpstr>Office 主题</vt:lpstr>
      <vt:lpstr>第七单元</vt:lpstr>
      <vt:lpstr>第一课时</vt:lpstr>
      <vt:lpstr>知识回顾</vt:lpstr>
      <vt:lpstr>贯穿案例</vt:lpstr>
      <vt:lpstr>知识目标</vt:lpstr>
      <vt:lpstr>为什么使用列表</vt:lpstr>
      <vt:lpstr>为什么使用列表</vt:lpstr>
      <vt:lpstr>什么是列表</vt:lpstr>
      <vt:lpstr>列表的特征</vt:lpstr>
      <vt:lpstr>列表的特征</vt:lpstr>
      <vt:lpstr>列表的特征</vt:lpstr>
      <vt:lpstr>列表的特征</vt:lpstr>
      <vt:lpstr>列表的特征</vt:lpstr>
      <vt:lpstr>如何使用列表</vt:lpstr>
      <vt:lpstr>如何使用列表 </vt:lpstr>
      <vt:lpstr>课堂练习</vt:lpstr>
      <vt:lpstr>课堂练习</vt:lpstr>
      <vt:lpstr>课堂练习</vt:lpstr>
      <vt:lpstr>为什么使用列表推导式</vt:lpstr>
      <vt:lpstr>如何使用列表推导式</vt:lpstr>
      <vt:lpstr>列表推导式的应用</vt:lpstr>
      <vt:lpstr>列表推导式的作业</vt:lpstr>
      <vt:lpstr>列表注意事项</vt:lpstr>
      <vt:lpstr>第二课时</vt:lpstr>
      <vt:lpstr>课堂导入</vt:lpstr>
      <vt:lpstr>如何引用列表内数据</vt:lpstr>
      <vt:lpstr>如何修改列表内数据</vt:lpstr>
      <vt:lpstr>PowerPoint 演示文稿</vt:lpstr>
      <vt:lpstr>如何使用列表添加方法</vt:lpstr>
      <vt:lpstr>如何使用列表添加方法</vt:lpstr>
      <vt:lpstr>如何使用列表添加方法</vt:lpstr>
      <vt:lpstr>如何使用列表添加方法</vt:lpstr>
      <vt:lpstr>如何判断列表可变</vt:lpstr>
      <vt:lpstr>如何判断列表可变</vt:lpstr>
      <vt:lpstr>列表添加方法的应用</vt:lpstr>
      <vt:lpstr>列表添加方法的应用</vt:lpstr>
      <vt:lpstr>PowerPoint 演示文稿</vt:lpstr>
      <vt:lpstr>第三课时</vt:lpstr>
      <vt:lpstr>PowerPoint 演示文稿</vt:lpstr>
      <vt:lpstr>什么是列表删除方法</vt:lpstr>
      <vt:lpstr>如何使用列表删除方法</vt:lpstr>
      <vt:lpstr>如何使用列表删除方法</vt:lpstr>
      <vt:lpstr>如何使用列表删除方法</vt:lpstr>
      <vt:lpstr>如何使用列表删除方法</vt:lpstr>
      <vt:lpstr>如何使用列表删除方法</vt:lpstr>
      <vt:lpstr>如何使用列表删除方法</vt:lpstr>
      <vt:lpstr>如何使用列表删除方法</vt:lpstr>
      <vt:lpstr>如何使用列表删除方法</vt:lpstr>
      <vt:lpstr>如何使用列表删除方法</vt:lpstr>
      <vt:lpstr>如何使用列表删除方法</vt:lpstr>
      <vt:lpstr>列表删除方法的应用</vt:lpstr>
      <vt:lpstr>列表删除方法的应用</vt:lpstr>
      <vt:lpstr>第四课时</vt:lpstr>
      <vt:lpstr>为什么使用排序</vt:lpstr>
      <vt:lpstr>什么是排序</vt:lpstr>
      <vt:lpstr>如何使用列表排序方法</vt:lpstr>
      <vt:lpstr>如何使用列表排序方法</vt:lpstr>
      <vt:lpstr>如何使用列表排序方法</vt:lpstr>
      <vt:lpstr>如何使用列表排序方法</vt:lpstr>
      <vt:lpstr>如何使用列表排序方法</vt:lpstr>
      <vt:lpstr>列表的应用</vt:lpstr>
      <vt:lpstr>列表的应用</vt:lpstr>
      <vt:lpstr>列表的作用</vt:lpstr>
      <vt:lpstr>单元总结</vt:lpstr>
      <vt:lpstr>概念图</vt:lpstr>
      <vt:lpstr>作业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第1章内容回顾</dc:title>
  <dc:creator>xiaojing.dai</dc:creator>
  <cp:lastModifiedBy>ASUS</cp:lastModifiedBy>
  <cp:revision>3946</cp:revision>
  <dcterms:created xsi:type="dcterms:W3CDTF">2006-03-08T06:55:00Z</dcterms:created>
  <dcterms:modified xsi:type="dcterms:W3CDTF">2022-02-14T01:56:51Z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