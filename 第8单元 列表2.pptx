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gif" ContentType="image/gif"/>
  <Default Extension="emf" ContentType="image/x-e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6"/>
  </p:handoutMasterIdLst>
  <p:sldIdLst>
    <p:sldId id="2080" r:id="rId3"/>
    <p:sldId id="2374" r:id="rId5"/>
    <p:sldId id="2458" r:id="rId6"/>
    <p:sldId id="2415" r:id="rId7"/>
    <p:sldId id="2416" r:id="rId8"/>
    <p:sldId id="2417" r:id="rId9"/>
    <p:sldId id="2418" r:id="rId10"/>
    <p:sldId id="611" r:id="rId11"/>
    <p:sldId id="1703" r:id="rId12"/>
    <p:sldId id="1644" r:id="rId13"/>
    <p:sldId id="2127" r:id="rId14"/>
    <p:sldId id="2126" r:id="rId15"/>
    <p:sldId id="1683" r:id="rId16"/>
    <p:sldId id="2204" r:id="rId17"/>
    <p:sldId id="1686" r:id="rId18"/>
    <p:sldId id="2041" r:id="rId19"/>
    <p:sldId id="1687" r:id="rId20"/>
    <p:sldId id="1688" r:id="rId21"/>
    <p:sldId id="2325" r:id="rId22"/>
    <p:sldId id="2326" r:id="rId23"/>
    <p:sldId id="2497" r:id="rId24"/>
    <p:sldId id="2498" r:id="rId25"/>
    <p:sldId id="2375" r:id="rId26"/>
    <p:sldId id="2518" r:id="rId27"/>
    <p:sldId id="2376" r:id="rId28"/>
    <p:sldId id="2519" r:id="rId29"/>
    <p:sldId id="2377" r:id="rId30"/>
    <p:sldId id="2005" r:id="rId31"/>
    <p:sldId id="1705" r:id="rId32"/>
    <p:sldId id="1110" r:id="rId33"/>
    <p:sldId id="2363" r:id="rId34"/>
    <p:sldId id="1626" r:id="rId35"/>
    <p:sldId id="2366" r:id="rId36"/>
    <p:sldId id="1630" r:id="rId37"/>
    <p:sldId id="2368" r:id="rId38"/>
    <p:sldId id="2367" r:id="rId39"/>
    <p:sldId id="2372" r:id="rId40"/>
    <p:sldId id="1633" r:id="rId41"/>
    <p:sldId id="2261" r:id="rId42"/>
    <p:sldId id="1648" r:id="rId43"/>
    <p:sldId id="2521" r:id="rId44"/>
    <p:sldId id="515" r:id="rId45"/>
  </p:sldIdLst>
  <p:sldSz cx="9144000" cy="5143500" type="screen16x9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作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  <a:srgbClr val="C0C0C0"/>
    <a:srgbClr val="3F95D2"/>
    <a:srgbClr val="F4F4F4"/>
    <a:srgbClr val="F3F3F3"/>
    <a:srgbClr val="0C037D"/>
    <a:srgbClr val="E7FEFF"/>
    <a:srgbClr val="FDFEE8"/>
    <a:srgbClr val="FDF0E7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89" autoAdjust="0"/>
    <p:restoredTop sz="94472" autoAdjust="0"/>
  </p:normalViewPr>
  <p:slideViewPr>
    <p:cSldViewPr>
      <p:cViewPr varScale="1">
        <p:scale>
          <a:sx n="88" d="100"/>
          <a:sy n="88" d="100"/>
        </p:scale>
        <p:origin x="130" y="34"/>
      </p:cViewPr>
      <p:guideLst>
        <p:guide orient="horz" pos="1808"/>
        <p:guide orient="horz" pos="1989"/>
        <p:guide pos="293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2610" y="-84"/>
      </p:cViewPr>
      <p:guideLst>
        <p:guide orient="horz" pos="3215"/>
        <p:guide pos="219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commentAuthors" Target="commentAuthors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handoutMaster" Target="handoutMasters/handoutMaster1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fld id="{DB3C531B-D83C-493A-84AD-316F78881EC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fld id="{CB801823-96DB-4EC2-991A-2DEE593AD1DA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切片</a:t>
            </a:r>
            <a:r>
              <a:rPr lang="en-US" altLang="zh-CN" dirty="0"/>
              <a:t>1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704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讲师:在python中列表是如何定义的？</a:t>
            </a:r>
            <a:endParaRPr lang="zh-CN" altLang="en-US" dirty="0"/>
          </a:p>
          <a:p>
            <a:pPr lvl="0"/>
            <a:r>
              <a:rPr lang="zh-CN" altLang="en-US" dirty="0"/>
              <a:t>讲师:首先看下列表的临近属，列表是属于有序的集合，因此临近的属是序列</a:t>
            </a:r>
            <a:endParaRPr lang="zh-CN" altLang="en-US" dirty="0"/>
          </a:p>
          <a:p>
            <a:pPr lvl="0"/>
            <a:r>
              <a:rPr lang="zh-CN" altLang="en-US" dirty="0"/>
              <a:t>讲师:对于同属的其他种而言，有前面讲到的字符串，还有后面要讲到的元组</a:t>
            </a:r>
            <a:endParaRPr lang="zh-CN" altLang="en-US" dirty="0"/>
          </a:p>
          <a:p>
            <a:pPr lvl="0"/>
            <a:r>
              <a:rPr lang="zh-CN" altLang="en-US" dirty="0"/>
              <a:t>讲师:其中列表与它们的区别主要是字符串只能存储字符类型，不能存储不同的数据类型。</a:t>
            </a:r>
            <a:endParaRPr lang="zh-CN" altLang="en-US" dirty="0"/>
          </a:p>
          <a:p>
            <a:pPr lvl="0"/>
            <a:r>
              <a:rPr lang="zh-CN" altLang="en-US" dirty="0"/>
              <a:t>讲师:与字符串和元组相比列表数据本身还是可以修改的</a:t>
            </a:r>
            <a:endParaRPr lang="zh-CN" altLang="en-US" dirty="0"/>
          </a:p>
          <a:p>
            <a:pPr lvl="0"/>
            <a:r>
              <a:rPr lang="zh-CN" altLang="en-US" dirty="0"/>
              <a:t>讲师:综上所述，列表是列表是一种可以存储不同数据类型，且数据可变的序列</a:t>
            </a:r>
            <a:endParaRPr lang="zh-CN" altLang="en-US" dirty="0"/>
          </a:p>
          <a:p>
            <a:pPr lvl="0"/>
            <a:r>
              <a:rPr lang="zh-CN" altLang="en-US" dirty="0"/>
              <a:t>讲师:同时列表也是有外延的，可以分为普通列表和嵌套列表。</a:t>
            </a:r>
            <a:endParaRPr lang="zh-CN" altLang="en-US" dirty="0"/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04090E-D64E-40C3-B961-86ECD906704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/>
              <a:t>教学指导：</a:t>
            </a:r>
            <a:endParaRPr lang="en-US" altLang="zh-CN" dirty="0"/>
          </a:p>
          <a:p>
            <a:pPr eaLnBrk="1" hangingPunct="1"/>
            <a:r>
              <a:rPr lang="zh-CN" altLang="en-US" dirty="0"/>
              <a:t>预习作业测试题用于下次上课前进行全班同学集中测试。因此教员要在本次课布置下去。布置预习测试题的目的是要求学员进行预习，保障下次学员学习质量。</a:t>
            </a:r>
            <a:endParaRPr lang="en-US" altLang="zh-CN" dirty="0"/>
          </a:p>
          <a:p>
            <a:pPr eaLnBrk="1" hangingPunct="1"/>
            <a:r>
              <a:rPr lang="zh-CN" altLang="en-US" dirty="0"/>
              <a:t>不少于</a:t>
            </a:r>
            <a:r>
              <a:rPr lang="en-US" altLang="zh-CN" dirty="0"/>
              <a:t>4</a:t>
            </a:r>
            <a:r>
              <a:rPr lang="zh-CN" altLang="en-US" dirty="0"/>
              <a:t>道题，其中至少包含一道简述题，主要了解学员对重要知识点的理解程度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04090E-D64E-40C3-B961-86ECD906704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有导航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接连接符 14"/>
          <p:cNvSpPr>
            <a:spLocks noChangeShapeType="1"/>
          </p:cNvSpPr>
          <p:nvPr userDrawn="1"/>
        </p:nvSpPr>
        <p:spPr bwMode="auto">
          <a:xfrm>
            <a:off x="1671638" y="951313"/>
            <a:ext cx="0" cy="419219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835696" y="843559"/>
            <a:ext cx="6984776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0" hasCustomPrompt="1"/>
          </p:nvPr>
        </p:nvSpPr>
        <p:spPr>
          <a:xfrm>
            <a:off x="107504" y="843558"/>
            <a:ext cx="14401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单击此处编辑式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没有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bg>
      <p:bgPr>
        <a:blipFill>
          <a:blip r:embed="rId2" cstate="print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85800" y="1253209"/>
            <a:ext cx="7772400" cy="1102519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83568" y="2283718"/>
            <a:ext cx="7776864" cy="59406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pic>
        <p:nvPicPr>
          <p:cNvPr id="23" name="图片 61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3082826"/>
            <a:ext cx="9155113" cy="208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圆角矩形 4"/>
          <p:cNvSpPr>
            <a:spLocks noChangeArrowheads="1"/>
          </p:cNvSpPr>
          <p:nvPr userDrawn="1"/>
        </p:nvSpPr>
        <p:spPr bwMode="auto">
          <a:xfrm>
            <a:off x="2442815" y="3962401"/>
            <a:ext cx="4289425" cy="359569"/>
          </a:xfrm>
          <a:prstGeom prst="roundRect">
            <a:avLst>
              <a:gd name="adj" fmla="val 7292"/>
            </a:avLst>
          </a:prstGeom>
          <a:solidFill>
            <a:srgbClr val="FFFFFF">
              <a:alpha val="3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9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知识很简单  学习很快乐</a:t>
            </a:r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-5715" y="769620"/>
            <a:ext cx="215900" cy="432435"/>
          </a:xfrm>
          <a:prstGeom prst="rect">
            <a:avLst/>
          </a:prstGeom>
          <a:solidFill>
            <a:srgbClr val="007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672408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739"/>
            <a:ext cx="2133600" cy="272891"/>
          </a:xfrm>
        </p:spPr>
        <p:txBody>
          <a:bodyPr/>
          <a:lstStyle>
            <a:lvl1pPr>
              <a:defRPr/>
            </a:lvl1pPr>
          </a:lstStyle>
          <a:p>
            <a:fld id="{AC84F06B-68BB-49FF-9082-040D3B5B474B}" type="datetime1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739"/>
            <a:ext cx="2895600" cy="272891"/>
          </a:xfrm>
        </p:spPr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739"/>
            <a:ext cx="2133600" cy="272891"/>
          </a:xfrm>
        </p:spPr>
        <p:txBody>
          <a:bodyPr/>
          <a:lstStyle>
            <a:lvl1pPr>
              <a:defRPr/>
            </a:lvl1pPr>
          </a:lstStyle>
          <a:p>
            <a:fld id="{00E0E93F-4BAF-4B04-AF3C-1DA2743F9C80}" type="slidenum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</a:t>
            </a:r>
            <a:endParaRPr lang="zh-CN" altLang="en-US" dirty="0"/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</a:t>
            </a:r>
            <a:endParaRPr lang="zh-CN" altLang="en-US" dirty="0"/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5.png"/><Relationship Id="rId12" Type="http://schemas.microsoft.com/office/2007/relationships/hdphoto" Target="../media/image4.wdp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3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17"/>
          <p:cNvSpPr>
            <a:spLocks noChangeArrowheads="1"/>
          </p:cNvSpPr>
          <p:nvPr userDrawn="1"/>
        </p:nvSpPr>
        <p:spPr bwMode="auto">
          <a:xfrm>
            <a:off x="8623697" y="4693446"/>
            <a:ext cx="52268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8" name="矩形 31"/>
          <p:cNvSpPr>
            <a:spLocks noChangeArrowheads="1"/>
          </p:cNvSpPr>
          <p:nvPr userDrawn="1"/>
        </p:nvSpPr>
        <p:spPr bwMode="auto">
          <a:xfrm flipV="1">
            <a:off x="3" y="555526"/>
            <a:ext cx="9146381" cy="41126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9" name="TextBox 15"/>
          <p:cNvSpPr>
            <a:spLocks noChangeArrowheads="1"/>
          </p:cNvSpPr>
          <p:nvPr userDrawn="1"/>
        </p:nvSpPr>
        <p:spPr bwMode="auto">
          <a:xfrm>
            <a:off x="8792769" y="4731544"/>
            <a:ext cx="4716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fld id="{F0D41CE8-2465-49E5-8469-C528E9CDFDF7}" type="slidenum"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</a:fld>
            <a:r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 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9" name="图片 3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8438"/>
            <a:ext cx="1547664" cy="395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Browallia New" panose="020B0604020202020204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9pPr>
    </p:titleStyle>
    <p:bodyStyle>
      <a:lvl1pPr marL="227330" indent="-22733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45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17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5989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61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GIF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1.GIF"/><Relationship Id="rId1" Type="http://schemas.openxmlformats.org/officeDocument/2006/relationships/image" Target="../media/image20.GI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emf"/><Relationship Id="rId1" Type="http://schemas.openxmlformats.org/officeDocument/2006/relationships/oleObject" Target="../embeddings/oleObject1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e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28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539552" y="1253209"/>
            <a:ext cx="7772400" cy="1102519"/>
          </a:xfrm>
        </p:spPr>
        <p:txBody>
          <a:bodyPr/>
          <a:lstStyle/>
          <a:p>
            <a:r>
              <a:rPr lang="zh-CN" altLang="en-US"/>
              <a:t>第八单元</a:t>
            </a:r>
            <a:endParaRPr lang="zh-CN" altLang="en-US" dirty="0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列表切片与列表嵌套</a:t>
            </a:r>
            <a:endParaRPr lang="zh-CN" altLang="en-US" dirty="0"/>
          </a:p>
        </p:txBody>
      </p:sp>
    </p:spTree>
  </p:cSld>
  <p:clrMapOvr>
    <a:masterClrMapping/>
  </p:clrMapOvr>
  <p:transition spd="slow" advTm="2297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第一节课</a:t>
            </a:r>
            <a:endParaRPr lang="zh-CN" altLang="en-US" dirty="0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列表切片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"/>
    </mc:Choice>
    <mc:Fallback>
      <p:transition spd="slow" advTm="96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289084" y="141482"/>
            <a:ext cx="6768877" cy="36830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复习</a:t>
            </a:r>
            <a:endParaRPr lang="zh-CN" altLang="en-US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5280" y="1445895"/>
            <a:ext cx="73533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dirty="0">
                <a:latin typeface="+mn-ea"/>
                <a:ea typeface="+mn-ea"/>
                <a:cs typeface="+mn-ea"/>
                <a:sym typeface="+mn-ea"/>
              </a:rPr>
              <a:t>思考：</a:t>
            </a:r>
            <a:endParaRPr lang="zh-CN" altLang="en-US" dirty="0">
              <a:latin typeface="+mn-ea"/>
              <a:ea typeface="+mn-ea"/>
              <a:cs typeface="+mn-ea"/>
              <a:sym typeface="+mn-ea"/>
            </a:endParaRPr>
          </a:p>
          <a:p>
            <a:pPr algn="l"/>
            <a:endParaRPr lang="zh-CN" altLang="en-US" dirty="0">
              <a:latin typeface="+mn-ea"/>
              <a:ea typeface="+mn-ea"/>
              <a:cs typeface="+mn-ea"/>
              <a:sym typeface="+mn-ea"/>
            </a:endParaRPr>
          </a:p>
          <a:p>
            <a:pPr algn="l"/>
            <a:r>
              <a:rPr lang="zh-CN" altLang="en-US" dirty="0">
                <a:latin typeface="+mn-ea"/>
                <a:ea typeface="+mn-ea"/>
                <a:cs typeface="+mn-ea"/>
                <a:sym typeface="+mn-ea"/>
              </a:rPr>
              <a:t>什么是序列的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分片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/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切片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289084" y="141482"/>
            <a:ext cx="6768877" cy="36830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序列的分片</a:t>
            </a:r>
            <a:endParaRPr lang="zh-CN" altLang="en-US" dirty="0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1305" y="1081405"/>
            <a:ext cx="50761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/>
              <a:t>格式：</a:t>
            </a:r>
            <a:r>
              <a:rPr sz="2000"/>
              <a:t>object[start_index : end_index : step]</a:t>
            </a:r>
            <a:endParaRPr sz="2000"/>
          </a:p>
        </p:txBody>
      </p:sp>
      <p:sp>
        <p:nvSpPr>
          <p:cNvPr id="3" name="文本框 2"/>
          <p:cNvSpPr txBox="1"/>
          <p:nvPr/>
        </p:nvSpPr>
        <p:spPr>
          <a:xfrm>
            <a:off x="335280" y="611505"/>
            <a:ext cx="73533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dirty="0">
                <a:latin typeface="+mn-ea"/>
                <a:ea typeface="+mn-ea"/>
                <a:cs typeface="+mn-ea"/>
                <a:sym typeface="+mn-ea"/>
              </a:rPr>
              <a:t>序列的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分片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/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切片</a:t>
            </a:r>
            <a:r>
              <a:rPr lang="en-US" altLang="zh-CN" dirty="0">
                <a:solidFill>
                  <a:srgbClr val="002060"/>
                </a:solidFill>
                <a:latin typeface="+mn-ea"/>
                <a:ea typeface="+mn-ea"/>
                <a:cs typeface="+mn-ea"/>
                <a:sym typeface="+mn-ea"/>
              </a:rPr>
              <a:t>(</a:t>
            </a:r>
            <a:r>
              <a:rPr lang="zh-CN" altLang="en-US">
                <a:solidFill>
                  <a:srgbClr val="002060"/>
                </a:solidFill>
                <a:latin typeface="+mn-ea"/>
                <a:ea typeface="+mn-ea"/>
                <a:cs typeface="+mn-ea"/>
                <a:sym typeface="+mn-ea"/>
              </a:rPr>
              <a:t>分片是根据下标来切取序列的某个片段的操作</a:t>
            </a:r>
            <a:r>
              <a:rPr lang="zh-CN" altLang="en-US">
                <a:latin typeface="+mn-ea"/>
                <a:ea typeface="+mn-ea"/>
                <a:cs typeface="+mn-ea"/>
                <a:sym typeface="+mn-ea"/>
              </a:rPr>
              <a:t>。</a:t>
            </a:r>
            <a:r>
              <a:rPr lang="en-US" altLang="zh-CN">
                <a:latin typeface="+mn-ea"/>
                <a:ea typeface="+mn-ea"/>
                <a:cs typeface="+mn-ea"/>
                <a:sym typeface="+mn-ea"/>
              </a:rPr>
              <a:t>)</a:t>
            </a:r>
            <a:endParaRPr lang="en-US" altLang="zh-CN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5280" y="1624330"/>
            <a:ext cx="786892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>
                <a:latin typeface="+mj-ea"/>
                <a:ea typeface="+mj-ea"/>
                <a:cs typeface="+mj-ea"/>
              </a:rPr>
              <a:t>1、start_index：切片的起始位置（包括该位置）</a:t>
            </a:r>
            <a:endParaRPr lang="zh-CN" altLang="en-US">
              <a:latin typeface="+mj-ea"/>
              <a:ea typeface="+mj-ea"/>
              <a:cs typeface="+mj-ea"/>
            </a:endParaRPr>
          </a:p>
          <a:p>
            <a:pPr algn="l"/>
            <a:r>
              <a:rPr lang="zh-CN" altLang="en-US">
                <a:latin typeface="+mj-ea"/>
                <a:ea typeface="+mj-ea"/>
                <a:cs typeface="+mj-ea"/>
              </a:rPr>
              <a:t>     </a:t>
            </a:r>
            <a:r>
              <a:rPr lang="zh-CN" altLang="en-US" b="1">
                <a:latin typeface="+mj-ea"/>
                <a:ea typeface="+mj-ea"/>
                <a:cs typeface="+mj-ea"/>
              </a:rPr>
              <a:t> 0</a:t>
            </a:r>
            <a:r>
              <a:rPr lang="zh-CN" altLang="en-US">
                <a:latin typeface="+mj-ea"/>
                <a:ea typeface="+mj-ea"/>
                <a:cs typeface="+mj-ea"/>
              </a:rPr>
              <a:t>表示从第一个开始，1表示从第二个开始，以此类推。</a:t>
            </a:r>
            <a:endParaRPr lang="zh-CN" altLang="en-US">
              <a:latin typeface="+mj-ea"/>
              <a:ea typeface="+mj-ea"/>
              <a:cs typeface="+mj-ea"/>
            </a:endParaRPr>
          </a:p>
          <a:p>
            <a:pPr algn="l"/>
            <a:r>
              <a:rPr lang="zh-CN" altLang="en-US">
                <a:latin typeface="+mj-ea"/>
                <a:ea typeface="+mj-ea"/>
                <a:cs typeface="+mj-ea"/>
              </a:rPr>
              <a:t>     </a:t>
            </a:r>
            <a:r>
              <a:rPr lang="zh-CN" altLang="en-US" b="1">
                <a:latin typeface="+mj-ea"/>
                <a:ea typeface="+mj-ea"/>
                <a:cs typeface="+mj-ea"/>
              </a:rPr>
              <a:t> -1</a:t>
            </a:r>
            <a:r>
              <a:rPr lang="zh-CN" altLang="en-US">
                <a:latin typeface="+mj-ea"/>
                <a:ea typeface="+mj-ea"/>
                <a:cs typeface="+mj-ea"/>
              </a:rPr>
              <a:t>表示从倒数第一个开始，-2表示从倒数第二个开始，以此类推。</a:t>
            </a:r>
            <a:endParaRPr lang="zh-CN" altLang="en-US">
              <a:latin typeface="+mj-ea"/>
              <a:ea typeface="+mj-ea"/>
              <a:cs typeface="+mj-ea"/>
            </a:endParaRPr>
          </a:p>
          <a:p>
            <a:pPr algn="l"/>
            <a:r>
              <a:rPr lang="zh-CN" altLang="en-US">
                <a:latin typeface="+mj-ea"/>
                <a:ea typeface="+mj-ea"/>
                <a:cs typeface="+mj-ea"/>
              </a:rPr>
              <a:t>     缺省时取0或-1（即step为正数取0，负数取-1）</a:t>
            </a:r>
            <a:endParaRPr lang="zh-CN" altLang="en-US">
              <a:latin typeface="+mj-ea"/>
              <a:ea typeface="+mj-ea"/>
              <a:cs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5280" y="2965450"/>
            <a:ext cx="718121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>
                <a:latin typeface="+mj-ea"/>
                <a:ea typeface="+mj-ea"/>
                <a:cs typeface="+mj-ea"/>
              </a:rPr>
              <a:t>2、end_index：切片的结束位置(！！！且不包括该位置)</a:t>
            </a:r>
            <a:endParaRPr lang="zh-CN" altLang="en-US">
              <a:latin typeface="+mj-ea"/>
              <a:ea typeface="+mj-ea"/>
              <a:cs typeface="+mj-ea"/>
            </a:endParaRPr>
          </a:p>
          <a:p>
            <a:pPr algn="l"/>
            <a:r>
              <a:rPr lang="zh-CN" altLang="en-US">
                <a:latin typeface="+mj-ea"/>
                <a:ea typeface="+mj-ea"/>
                <a:cs typeface="+mj-ea"/>
              </a:rPr>
              <a:t>     </a:t>
            </a:r>
            <a:r>
              <a:rPr lang="zh-CN" altLang="en-US" b="1">
                <a:latin typeface="+mj-ea"/>
                <a:ea typeface="+mj-ea"/>
                <a:cs typeface="+mj-ea"/>
              </a:rPr>
              <a:t>0</a:t>
            </a:r>
            <a:r>
              <a:rPr lang="zh-CN" altLang="en-US">
                <a:latin typeface="+mj-ea"/>
                <a:ea typeface="+mj-ea"/>
                <a:cs typeface="+mj-ea"/>
              </a:rPr>
              <a:t>表示第一个为终点，1表示第二个为终点，以此类推。</a:t>
            </a:r>
            <a:endParaRPr lang="zh-CN" altLang="en-US">
              <a:latin typeface="+mj-ea"/>
              <a:ea typeface="+mj-ea"/>
              <a:cs typeface="+mj-ea"/>
            </a:endParaRPr>
          </a:p>
          <a:p>
            <a:pPr algn="l"/>
            <a:r>
              <a:rPr lang="zh-CN" altLang="en-US">
                <a:latin typeface="+mj-ea"/>
                <a:ea typeface="+mj-ea"/>
                <a:cs typeface="+mj-ea"/>
              </a:rPr>
              <a:t>     </a:t>
            </a:r>
            <a:r>
              <a:rPr lang="zh-CN" altLang="en-US" b="1">
                <a:latin typeface="+mj-ea"/>
                <a:ea typeface="+mj-ea"/>
                <a:cs typeface="+mj-ea"/>
              </a:rPr>
              <a:t>-1</a:t>
            </a:r>
            <a:r>
              <a:rPr lang="zh-CN" altLang="en-US">
                <a:latin typeface="+mj-ea"/>
                <a:ea typeface="+mj-ea"/>
                <a:cs typeface="+mj-ea"/>
              </a:rPr>
              <a:t>表示倒数第一个为终点，-2表示倒数第二个为终点，以此类推。</a:t>
            </a:r>
            <a:endParaRPr lang="zh-CN" altLang="en-US">
              <a:latin typeface="+mj-ea"/>
              <a:ea typeface="+mj-ea"/>
              <a:cs typeface="+mj-ea"/>
            </a:endParaRPr>
          </a:p>
          <a:p>
            <a:pPr algn="l"/>
            <a:r>
              <a:rPr lang="zh-CN" altLang="en-US">
                <a:latin typeface="+mj-ea"/>
                <a:ea typeface="+mj-ea"/>
                <a:cs typeface="+mj-ea"/>
              </a:rPr>
              <a:t>    缺省时默认为序列长度（step为正数取正，step负数取负）</a:t>
            </a:r>
            <a:endParaRPr lang="zh-CN" altLang="en-US">
              <a:latin typeface="+mj-ea"/>
              <a:ea typeface="+mj-ea"/>
              <a:cs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5280" y="4324985"/>
            <a:ext cx="746125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>
                <a:latin typeface="+mj-ea"/>
                <a:ea typeface="+mj-ea"/>
                <a:cs typeface="+mj-ea"/>
              </a:rPr>
              <a:t>3、step，表示步长</a:t>
            </a:r>
            <a:endParaRPr lang="zh-CN" altLang="en-US">
              <a:latin typeface="+mj-ea"/>
              <a:ea typeface="+mj-ea"/>
              <a:cs typeface="+mj-ea"/>
            </a:endParaRPr>
          </a:p>
          <a:p>
            <a:pPr algn="l"/>
            <a:r>
              <a:rPr lang="zh-CN" altLang="en-US">
                <a:latin typeface="+mj-ea"/>
                <a:ea typeface="+mj-ea"/>
                <a:cs typeface="+mj-ea"/>
              </a:rPr>
              <a:t>     可取正负数，正数表示从左往右，负数表示从右往左。缺省时取1</a:t>
            </a:r>
            <a:endParaRPr lang="zh-CN" altLang="en-US"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2" grpId="0"/>
      <p:bldP spid="2" grpId="1"/>
      <p:bldP spid="6" grpId="0"/>
      <p:bldP spid="6" grpId="1"/>
      <p:bldP spid="7" grpId="0"/>
      <p:bldP spid="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289084" y="141482"/>
            <a:ext cx="6768877" cy="36830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序列的切片</a:t>
            </a:r>
            <a:endParaRPr lang="zh-CN" altLang="en-US" dirty="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9925" y="864235"/>
            <a:ext cx="333629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>
                <a:latin typeface="+mj-ea"/>
                <a:ea typeface="+mj-ea"/>
              </a:rPr>
              <a:t>案例：</a:t>
            </a:r>
            <a:endParaRPr lang="zh-CN" altLang="en-US" sz="2400">
              <a:latin typeface="+mj-ea"/>
              <a:ea typeface="+mj-ea"/>
            </a:endParaRPr>
          </a:p>
          <a:p>
            <a:pPr algn="l"/>
            <a:endParaRPr lang="zh-CN" altLang="en-US" sz="2400">
              <a:latin typeface="+mj-ea"/>
              <a:ea typeface="+mj-ea"/>
            </a:endParaRPr>
          </a:p>
          <a:p>
            <a:pPr algn="l"/>
            <a:r>
              <a:rPr lang="zh-CN" altLang="en-US" sz="2400">
                <a:latin typeface="+mj-ea"/>
                <a:ea typeface="+mj-ea"/>
              </a:rPr>
              <a:t>a=[9,2,8,7,4,5,1,5,6,8]</a:t>
            </a:r>
            <a:endParaRPr lang="zh-CN" altLang="en-US" sz="2400">
              <a:latin typeface="+mj-ea"/>
              <a:ea typeface="+mj-ea"/>
            </a:endParaRPr>
          </a:p>
          <a:p>
            <a:pPr algn="l"/>
            <a:r>
              <a:rPr lang="zh-CN" altLang="en-US" sz="2400">
                <a:latin typeface="+mj-ea"/>
                <a:ea typeface="+mj-ea"/>
              </a:rPr>
              <a:t>a[1:8:2]    </a:t>
            </a:r>
            <a:endParaRPr lang="zh-CN" altLang="en-US" sz="2400">
              <a:latin typeface="+mj-ea"/>
              <a:ea typeface="+mj-ea"/>
            </a:endParaRPr>
          </a:p>
          <a:p>
            <a:pPr algn="l"/>
            <a:r>
              <a:rPr lang="zh-CN" altLang="en-US" sz="2400">
                <a:latin typeface="+mj-ea"/>
                <a:ea typeface="+mj-ea"/>
              </a:rPr>
              <a:t>a[-1:4:-1]   </a:t>
            </a:r>
            <a:endParaRPr lang="zh-CN" altLang="en-US" sz="2400">
              <a:latin typeface="+mj-ea"/>
              <a:ea typeface="+mj-ea"/>
            </a:endParaRPr>
          </a:p>
          <a:p>
            <a:pPr algn="l"/>
            <a:r>
              <a:rPr lang="zh-CN" altLang="en-US" sz="2400">
                <a:latin typeface="+mj-ea"/>
                <a:ea typeface="+mj-ea"/>
                <a:sym typeface="+mn-ea"/>
              </a:rPr>
              <a:t>a[-1:2:-1]      </a:t>
            </a:r>
            <a:endParaRPr lang="zh-CN" altLang="en-US" sz="2400">
              <a:latin typeface="+mj-ea"/>
              <a:ea typeface="+mj-ea"/>
              <a:sym typeface="+mn-ea"/>
            </a:endParaRPr>
          </a:p>
          <a:p>
            <a:pPr algn="l"/>
            <a:r>
              <a:rPr lang="zh-CN" altLang="en-US" sz="2400">
                <a:latin typeface="+mj-ea"/>
                <a:ea typeface="+mj-ea"/>
                <a:sym typeface="+mn-ea"/>
              </a:rPr>
              <a:t>a[1:-1]      </a:t>
            </a:r>
            <a:endParaRPr lang="zh-CN" altLang="en-US" sz="2400">
              <a:latin typeface="+mj-ea"/>
              <a:ea typeface="+mj-ea"/>
              <a:sym typeface="+mn-ea"/>
            </a:endParaRPr>
          </a:p>
          <a:p>
            <a:pPr algn="l"/>
            <a:r>
              <a:rPr lang="zh-CN" altLang="en-US" sz="2400">
                <a:latin typeface="+mj-ea"/>
                <a:ea typeface="+mj-ea"/>
                <a:sym typeface="+mn-ea"/>
              </a:rPr>
              <a:t>a[1:]       </a:t>
            </a:r>
            <a:endParaRPr lang="zh-CN" altLang="en-US" sz="2400">
              <a:latin typeface="+mj-ea"/>
              <a:ea typeface="+mj-ea"/>
              <a:sym typeface="+mn-ea"/>
            </a:endParaRPr>
          </a:p>
          <a:p>
            <a:pPr algn="l"/>
            <a:r>
              <a:rPr lang="zh-CN" altLang="en-US" sz="2400">
                <a:latin typeface="+mj-ea"/>
                <a:ea typeface="+mj-ea"/>
                <a:sym typeface="+mn-ea"/>
              </a:rPr>
              <a:t>a[:]         </a:t>
            </a:r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09415" y="864235"/>
            <a:ext cx="447675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>
                <a:latin typeface="+mj-ea"/>
                <a:ea typeface="+mj-ea"/>
              </a:rPr>
              <a:t>答案：</a:t>
            </a:r>
            <a:endParaRPr lang="zh-CN" altLang="en-US" sz="2400">
              <a:latin typeface="+mj-ea"/>
              <a:ea typeface="+mj-ea"/>
            </a:endParaRPr>
          </a:p>
          <a:p>
            <a:pPr algn="l"/>
            <a:endParaRPr lang="zh-CN" altLang="en-US" sz="2400">
              <a:latin typeface="+mj-ea"/>
              <a:ea typeface="+mj-ea"/>
            </a:endParaRPr>
          </a:p>
          <a:p>
            <a:pPr algn="l"/>
            <a:endParaRPr lang="zh-CN" altLang="en-US" sz="2400">
              <a:latin typeface="+mj-ea"/>
              <a:ea typeface="+mj-ea"/>
            </a:endParaRPr>
          </a:p>
          <a:p>
            <a:pPr algn="l"/>
            <a:r>
              <a:rPr lang="zh-CN" altLang="en-US" sz="2400">
                <a:latin typeface="+mj-ea"/>
                <a:ea typeface="+mj-ea"/>
              </a:rPr>
              <a:t>[2,7,5,5]</a:t>
            </a:r>
            <a:endParaRPr lang="zh-CN" altLang="en-US" sz="2400">
              <a:latin typeface="+mj-ea"/>
              <a:ea typeface="+mj-ea"/>
            </a:endParaRPr>
          </a:p>
          <a:p>
            <a:pPr algn="l"/>
            <a:r>
              <a:rPr lang="zh-CN" altLang="en-US" sz="2400">
                <a:latin typeface="+mj-ea"/>
                <a:ea typeface="+mj-ea"/>
              </a:rPr>
              <a:t>[8,6,5,1,5]123456</a:t>
            </a:r>
            <a:endParaRPr lang="zh-CN" altLang="en-US" sz="2400">
              <a:latin typeface="+mj-ea"/>
              <a:ea typeface="+mj-ea"/>
            </a:endParaRPr>
          </a:p>
          <a:p>
            <a:pPr algn="l"/>
            <a:r>
              <a:rPr lang="zh-CN" altLang="en-US" sz="2400">
                <a:latin typeface="+mj-ea"/>
                <a:ea typeface="+mj-ea"/>
                <a:sym typeface="+mn-ea"/>
              </a:rPr>
              <a:t>[8, 6, 5, 1, 5, 4, 7]</a:t>
            </a:r>
            <a:endParaRPr lang="zh-CN" altLang="en-US" sz="2400">
              <a:latin typeface="+mj-ea"/>
              <a:ea typeface="+mj-ea"/>
              <a:sym typeface="+mn-ea"/>
            </a:endParaRPr>
          </a:p>
          <a:p>
            <a:pPr algn="l"/>
            <a:r>
              <a:rPr lang="zh-CN" altLang="en-US" sz="2400">
                <a:latin typeface="+mj-ea"/>
                <a:ea typeface="+mj-ea"/>
                <a:sym typeface="+mn-ea"/>
              </a:rPr>
              <a:t>[9,2,8,7,4,5,1,5,6]</a:t>
            </a:r>
            <a:endParaRPr lang="zh-CN" altLang="en-US" sz="2400">
              <a:latin typeface="+mj-ea"/>
              <a:ea typeface="+mj-ea"/>
              <a:sym typeface="+mn-ea"/>
            </a:endParaRPr>
          </a:p>
          <a:p>
            <a:pPr algn="l"/>
            <a:r>
              <a:rPr lang="zh-CN" altLang="en-US" sz="2400">
                <a:latin typeface="+mj-ea"/>
                <a:ea typeface="+mj-ea"/>
                <a:sym typeface="+mn-ea"/>
              </a:rPr>
              <a:t>[2，8，7，4，5，1，5，6，8]</a:t>
            </a:r>
            <a:endParaRPr lang="zh-CN" altLang="en-US" sz="2400">
              <a:latin typeface="+mj-ea"/>
              <a:ea typeface="+mj-ea"/>
              <a:sym typeface="+mn-ea"/>
            </a:endParaRPr>
          </a:p>
          <a:p>
            <a:pPr algn="l"/>
            <a:r>
              <a:rPr lang="zh-CN" altLang="en-US" sz="2400">
                <a:latin typeface="+mj-ea"/>
                <a:ea typeface="+mj-ea"/>
                <a:sym typeface="+mn-ea"/>
              </a:rPr>
              <a:t>[9,2,8,7,4,5,1,5,6,8]</a:t>
            </a:r>
            <a:endParaRPr lang="zh-CN" altLang="en-US" sz="2400">
              <a:latin typeface="+mj-ea"/>
              <a:ea typeface="+mj-ea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289084" y="141482"/>
            <a:ext cx="6768877" cy="36830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序列的切片</a:t>
            </a:r>
            <a:endParaRPr lang="zh-CN" altLang="en-US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2585" y="709930"/>
            <a:ext cx="254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b="1">
                <a:latin typeface="+mn-ea"/>
                <a:ea typeface="+mn-ea"/>
              </a:rPr>
              <a:t>连续切片操作</a:t>
            </a:r>
            <a:endParaRPr lang="zh-CN" altLang="en-US" sz="2400" b="1">
              <a:latin typeface="+mn-ea"/>
              <a:ea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2585" y="1276985"/>
            <a:ext cx="33788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>
                <a:latin typeface="+mn-ea"/>
                <a:ea typeface="+mn-ea"/>
              </a:rPr>
              <a:t>a=[9,2,8,7,4,5,1,5,6,8]</a:t>
            </a:r>
            <a:endParaRPr lang="zh-CN" altLang="en-US" sz="2400">
              <a:latin typeface="+mn-ea"/>
              <a:ea typeface="+mn-ea"/>
            </a:endParaRPr>
          </a:p>
          <a:p>
            <a:pPr algn="l"/>
            <a:r>
              <a:rPr lang="zh-CN" altLang="en-US" sz="2400">
                <a:latin typeface="+mn-ea"/>
                <a:ea typeface="+mn-ea"/>
              </a:rPr>
              <a:t>a[:8][2:5][::-1]</a:t>
            </a:r>
            <a:endParaRPr lang="zh-CN" altLang="en-US" sz="2400">
              <a:latin typeface="+mn-ea"/>
              <a:ea typeface="+mn-ea"/>
            </a:endParaRPr>
          </a:p>
          <a:p>
            <a:pPr algn="l"/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87190" y="1170305"/>
            <a:ext cx="449897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>
                <a:latin typeface="+mn-ea"/>
                <a:ea typeface="+mn-ea"/>
                <a:cs typeface="+mn-ea"/>
              </a:rPr>
              <a:t>a[:8]输出为[9,2,8,7,4,5,1,5]</a:t>
            </a:r>
            <a:endParaRPr lang="zh-CN" altLang="en-US" sz="2400">
              <a:latin typeface="+mn-ea"/>
              <a:ea typeface="+mn-ea"/>
              <a:cs typeface="+mn-ea"/>
            </a:endParaRPr>
          </a:p>
          <a:p>
            <a:pPr algn="l"/>
            <a:r>
              <a:rPr lang="zh-CN" altLang="en-US" sz="2400">
                <a:latin typeface="+mn-ea"/>
                <a:ea typeface="+mn-ea"/>
                <a:cs typeface="+mn-ea"/>
              </a:rPr>
              <a:t>a[:8][2:5]输出为[8,7,4]</a:t>
            </a:r>
            <a:endParaRPr lang="zh-CN" altLang="en-US" sz="2400">
              <a:latin typeface="+mn-ea"/>
              <a:ea typeface="+mn-ea"/>
              <a:cs typeface="+mn-ea"/>
            </a:endParaRPr>
          </a:p>
          <a:p>
            <a:pPr algn="l"/>
            <a:r>
              <a:rPr lang="zh-CN" altLang="en-US" sz="2400">
                <a:latin typeface="+mn-ea"/>
                <a:ea typeface="+mn-ea"/>
                <a:cs typeface="+mn-ea"/>
              </a:rPr>
              <a:t>a[:8][2:5][-1]输出为[4,7,8]</a:t>
            </a:r>
            <a:endParaRPr lang="zh-CN" altLang="en-US" sz="2400">
              <a:latin typeface="+mn-ea"/>
              <a:ea typeface="+mn-ea"/>
              <a:cs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62585" y="2369185"/>
            <a:ext cx="382460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b="1">
                <a:latin typeface="+mj-ea"/>
                <a:ea typeface="+mj-ea"/>
                <a:cs typeface="+mj-ea"/>
              </a:rPr>
              <a:t>字符串的切片</a:t>
            </a:r>
            <a:endParaRPr lang="zh-CN" altLang="en-US" sz="2400" b="1">
              <a:latin typeface="+mj-ea"/>
              <a:ea typeface="+mj-ea"/>
              <a:cs typeface="+mj-ea"/>
            </a:endParaRPr>
          </a:p>
          <a:p>
            <a:pPr algn="l"/>
            <a:r>
              <a:rPr lang="zh-CN" altLang="en-US" sz="2400">
                <a:latin typeface="+mj-ea"/>
                <a:ea typeface="+mj-ea"/>
                <a:cs typeface="+mj-ea"/>
              </a:rPr>
              <a:t>str="ABCDEFG"</a:t>
            </a:r>
            <a:endParaRPr lang="zh-CN" altLang="en-US" sz="2400">
              <a:latin typeface="+mj-ea"/>
              <a:ea typeface="+mj-ea"/>
              <a:cs typeface="+mj-ea"/>
            </a:endParaRPr>
          </a:p>
          <a:p>
            <a:pPr algn="l"/>
            <a:r>
              <a:rPr lang="zh-CN" altLang="en-US" sz="2400">
                <a:latin typeface="+mj-ea"/>
                <a:ea typeface="+mj-ea"/>
                <a:cs typeface="+mj-ea"/>
              </a:rPr>
              <a:t>str[1:3] </a:t>
            </a:r>
            <a:r>
              <a:rPr lang="zh-CN" altLang="en-US" sz="2000">
                <a:latin typeface="+mj-ea"/>
                <a:ea typeface="+mj-ea"/>
                <a:cs typeface="+mj-ea"/>
              </a:rPr>
              <a:t>     </a:t>
            </a:r>
            <a:endParaRPr lang="zh-CN" altLang="en-US" sz="2000">
              <a:latin typeface="+mj-ea"/>
              <a:ea typeface="+mj-ea"/>
              <a:cs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87190" y="2738755"/>
            <a:ext cx="254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>
                <a:latin typeface="+mn-ea"/>
                <a:ea typeface="+mn-ea"/>
                <a:cs typeface="+mn-ea"/>
              </a:rPr>
              <a:t>结果为'BC'</a:t>
            </a:r>
            <a:endParaRPr lang="zh-CN" altLang="en-US" sz="2400">
              <a:latin typeface="+mn-ea"/>
              <a:ea typeface="+mn-ea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2585" y="3776345"/>
            <a:ext cx="369062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b="1">
                <a:latin typeface="+mn-ea"/>
                <a:ea typeface="+mn-ea"/>
                <a:cs typeface="+mn-ea"/>
              </a:rPr>
              <a:t>#元组的切片</a:t>
            </a:r>
            <a:endParaRPr lang="zh-CN" altLang="en-US" sz="2400" b="1">
              <a:latin typeface="+mn-ea"/>
              <a:ea typeface="+mn-ea"/>
              <a:cs typeface="+mn-ea"/>
            </a:endParaRPr>
          </a:p>
          <a:p>
            <a:pPr algn="l"/>
            <a:r>
              <a:rPr lang="zh-CN" altLang="en-US" sz="2400">
                <a:latin typeface="+mn-ea"/>
                <a:ea typeface="+mn-ea"/>
                <a:cs typeface="+mn-ea"/>
              </a:rPr>
              <a:t>a=('a','b','c','d','e')</a:t>
            </a:r>
            <a:endParaRPr lang="zh-CN" altLang="en-US" sz="2400">
              <a:latin typeface="+mn-ea"/>
              <a:ea typeface="+mn-ea"/>
              <a:cs typeface="+mn-ea"/>
            </a:endParaRPr>
          </a:p>
          <a:p>
            <a:pPr algn="l"/>
            <a:r>
              <a:rPr lang="zh-CN" altLang="en-US" sz="2400">
                <a:latin typeface="+mn-ea"/>
                <a:ea typeface="+mn-ea"/>
                <a:cs typeface="+mn-ea"/>
              </a:rPr>
              <a:t>a[::-1]       </a:t>
            </a:r>
            <a:endParaRPr lang="zh-CN" altLang="en-US" sz="2400">
              <a:latin typeface="+mn-ea"/>
              <a:ea typeface="+mn-ea"/>
              <a:cs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187190" y="4034790"/>
            <a:ext cx="37064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>
                <a:latin typeface="+mn-ea"/>
                <a:ea typeface="+mn-ea"/>
                <a:cs typeface="+mn-ea"/>
              </a:rPr>
              <a:t>结果为('e', 'd', 'c', 'b', 'a')</a:t>
            </a:r>
            <a:endParaRPr lang="zh-CN" altLang="en-US" sz="2400"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289084" y="141482"/>
            <a:ext cx="6768877" cy="36830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序列的分片</a:t>
            </a:r>
            <a:endParaRPr lang="zh-CN" altLang="en-US" dirty="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0700" y="758825"/>
            <a:ext cx="384619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>
                <a:latin typeface="+mj-ea"/>
                <a:ea typeface="+mj-ea"/>
                <a:cs typeface="+mj-ea"/>
              </a:rPr>
              <a:t>a=[9,2,8,7,4,5,1,5,6,8]</a:t>
            </a:r>
            <a:endParaRPr lang="zh-CN" altLang="en-US" sz="2400">
              <a:latin typeface="+mj-ea"/>
              <a:ea typeface="+mj-ea"/>
              <a:cs typeface="+mj-ea"/>
            </a:endParaRPr>
          </a:p>
          <a:p>
            <a:pPr algn="l"/>
            <a:endParaRPr lang="zh-CN" altLang="en-US" sz="2400">
              <a:latin typeface="+mj-ea"/>
              <a:ea typeface="+mj-ea"/>
              <a:cs typeface="+mj-ea"/>
            </a:endParaRPr>
          </a:p>
          <a:p>
            <a:pPr algn="l"/>
            <a:r>
              <a:rPr lang="zh-CN" altLang="en-US" sz="2400" b="1">
                <a:latin typeface="+mj-ea"/>
                <a:ea typeface="+mj-ea"/>
                <a:cs typeface="+mj-ea"/>
              </a:rPr>
              <a:t>插入某个元素</a:t>
            </a:r>
            <a:endParaRPr lang="zh-CN" altLang="en-US" sz="2400" b="1">
              <a:latin typeface="+mj-ea"/>
              <a:ea typeface="+mj-ea"/>
              <a:cs typeface="+mj-ea"/>
            </a:endParaRPr>
          </a:p>
          <a:p>
            <a:pPr algn="l"/>
            <a:r>
              <a:rPr lang="zh-CN" altLang="en-US" sz="2400">
                <a:latin typeface="+mj-ea"/>
                <a:ea typeface="+mj-ea"/>
                <a:cs typeface="+mj-ea"/>
              </a:rPr>
              <a:t>a[3:3]='A'  </a:t>
            </a:r>
            <a:endParaRPr lang="zh-CN" altLang="en-US" sz="2400">
              <a:latin typeface="+mj-ea"/>
              <a:ea typeface="+mj-ea"/>
              <a:cs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0700" y="4227830"/>
            <a:ext cx="78111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>
                <a:latin typeface="+mj-ea"/>
                <a:ea typeface="+mj-ea"/>
                <a:cs typeface="+mj-ea"/>
              </a:rPr>
              <a:t>序列变为[9, 2, 8, 'hello', 'world', 5, 1, 5, 6, 8]</a:t>
            </a:r>
            <a:endParaRPr lang="zh-CN" altLang="en-US" sz="2400">
              <a:latin typeface="+mj-ea"/>
              <a:ea typeface="+mj-ea"/>
              <a:cs typeface="+mj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0700" y="2420620"/>
            <a:ext cx="81381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>
                <a:latin typeface="+mj-ea"/>
                <a:ea typeface="+mj-ea"/>
                <a:cs typeface="+mj-ea"/>
              </a:rPr>
              <a:t> 序列变为[9, 2, 8, 'A', 7, 4, 5, 1, 5, 6, 8]</a:t>
            </a:r>
            <a:endParaRPr lang="zh-CN" altLang="en-US" sz="2400">
              <a:latin typeface="+mj-ea"/>
              <a:ea typeface="+mj-ea"/>
              <a:cs typeface="+mj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20700" y="3203575"/>
            <a:ext cx="384619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b="1">
                <a:latin typeface="+mj-ea"/>
                <a:ea typeface="+mj-ea"/>
                <a:cs typeface="+mj-ea"/>
              </a:rPr>
              <a:t>替换一部分元素</a:t>
            </a:r>
            <a:endParaRPr lang="zh-CN" altLang="en-US" sz="2400" b="1">
              <a:latin typeface="+mj-ea"/>
              <a:ea typeface="+mj-ea"/>
              <a:cs typeface="+mj-ea"/>
            </a:endParaRPr>
          </a:p>
          <a:p>
            <a:pPr algn="l"/>
            <a:r>
              <a:rPr lang="zh-CN" altLang="en-US" sz="2400">
                <a:latin typeface="+mj-ea"/>
                <a:ea typeface="+mj-ea"/>
                <a:cs typeface="+mj-ea"/>
              </a:rPr>
              <a:t>a[3:5] = ['hello','world'] </a:t>
            </a:r>
            <a:endParaRPr lang="zh-CN" altLang="en-US" sz="2400"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0" grpId="0"/>
      <p:bldP spid="10" grpId="1"/>
      <p:bldP spid="11" grpId="0"/>
      <p:bldP spid="11" grpId="1"/>
      <p:bldP spid="7" grpId="0"/>
      <p:bldP spid="7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00910" y="198755"/>
            <a:ext cx="6684010" cy="327025"/>
          </a:xfrm>
        </p:spPr>
        <p:txBody>
          <a:bodyPr/>
          <a:lstStyle/>
          <a:p>
            <a:pPr algn="r"/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列表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复制列表</a:t>
            </a:r>
            <a:endParaRPr lang="zh-CN" altLang="en-US" sz="2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4740" y="696595"/>
            <a:ext cx="7595235" cy="768985"/>
          </a:xfrm>
        </p:spPr>
        <p:txBody>
          <a:bodyPr/>
          <a:lstStyle/>
          <a:p>
            <a:r>
              <a:rPr lang="zh-CN" altLang="en-US" sz="2000" dirty="0"/>
              <a:t>要复制列表， 可创建一个包含整个列表的切片， 方法是同时省略起始索引和终止 索引（</a:t>
            </a:r>
            <a:r>
              <a:rPr lang="en-US" altLang="zh-CN" sz="2000" dirty="0"/>
              <a:t>[:]</a:t>
            </a:r>
            <a:r>
              <a:rPr lang="zh-CN" altLang="en-US" sz="2000" dirty="0"/>
              <a:t>）。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831" y="1572352"/>
            <a:ext cx="3974985" cy="287791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702" y="1586321"/>
            <a:ext cx="3934457" cy="28641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772" y="3212292"/>
            <a:ext cx="1439886" cy="64377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0950" y="3212714"/>
            <a:ext cx="1388377" cy="7035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第二节课</a:t>
            </a:r>
            <a:endParaRPr lang="zh-CN" altLang="en-US" dirty="0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嵌套列表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"/>
    </mc:Choice>
    <mc:Fallback>
      <p:transition spd="slow" advTm="96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知识回顾</a:t>
            </a:r>
            <a:endParaRPr lang="zh-CN" altLang="en-US" dirty="0"/>
          </a:p>
        </p:txBody>
      </p:sp>
      <p:sp>
        <p:nvSpPr>
          <p:cNvPr id="8" name="TextBox 8"/>
          <p:cNvSpPr txBox="1"/>
          <p:nvPr/>
        </p:nvSpPr>
        <p:spPr>
          <a:xfrm>
            <a:off x="539552" y="771550"/>
            <a:ext cx="1728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b="1" dirty="0">
                <a:solidFill>
                  <a:srgbClr val="0070C0"/>
                </a:solidFill>
                <a:latin typeface="+mj-ea"/>
                <a:ea typeface="+mj-ea"/>
              </a:rPr>
              <a:t>现场提问</a:t>
            </a:r>
            <a:endParaRPr lang="zh-CN" altLang="en-US" sz="1600" b="1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pic>
        <p:nvPicPr>
          <p:cNvPr id="9" name="图片 8" descr="现场提问3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79512" y="723157"/>
            <a:ext cx="405385" cy="408433"/>
          </a:xfrm>
          <a:prstGeom prst="rect">
            <a:avLst/>
          </a:prstGeom>
          <a:noFill/>
        </p:spPr>
      </p:pic>
      <p:sp>
        <p:nvSpPr>
          <p:cNvPr id="20" name="AutoShape 10"/>
          <p:cNvSpPr>
            <a:spLocks noChangeArrowheads="1"/>
          </p:cNvSpPr>
          <p:nvPr/>
        </p:nvSpPr>
        <p:spPr bwMode="auto">
          <a:xfrm>
            <a:off x="1043940" y="1559483"/>
            <a:ext cx="5242560" cy="1738148"/>
          </a:xfrm>
          <a:prstGeom prst="roundRect">
            <a:avLst>
              <a:gd name="adj" fmla="val 16667"/>
            </a:avLst>
          </a:prstGeom>
          <a:ln>
            <a:headEnd type="none" w="med" len="med"/>
            <a:tailEnd type="none" w="med" len="med"/>
          </a:ln>
          <a:scene3d>
            <a:camera prst="obliqueTopLeft"/>
            <a:lightRig rig="threePt" dir="t"/>
          </a:scene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 anchorCtr="0">
            <a:spAutoFit/>
          </a:bodyPr>
          <a:lstStyle/>
          <a:p>
            <a:pPr marL="0" lvl="1" indent="-285750" algn="l" eaLnBrk="0" hangingPunct="0">
              <a:lnSpc>
                <a:spcPct val="150000"/>
              </a:lnSpc>
              <a:spcBef>
                <a:spcPct val="20000"/>
              </a:spcBef>
              <a:buClr>
                <a:srgbClr val="233DA9"/>
              </a:buClr>
              <a:buSzPct val="80000"/>
            </a:pP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什么是列表？</a:t>
            </a:r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、如何向列表中增加元素？</a:t>
            </a:r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、如何删除列表中的元素？</a:t>
            </a:r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、列表的排序和反转是如何实现的？</a:t>
            </a:r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5" descr="b40c9469ad2207f7b3ea6b9352f481f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490" y="1320800"/>
            <a:ext cx="2043430" cy="20173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1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贯穿案例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需求说明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设计存红球号码系统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思路分析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设计输入红球列表号码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设计把红球号码列表嵌套到主列表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设计排序嵌套红球列表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7243" y="2038043"/>
            <a:ext cx="247650" cy="244475"/>
            <a:chOff x="6660232" y="1684535"/>
            <a:chExt cx="247650" cy="244475"/>
          </a:xfrm>
        </p:grpSpPr>
        <p:sp>
          <p:nvSpPr>
            <p:cNvPr id="6" name="Oval 70"/>
            <p:cNvSpPr>
              <a:spLocks noChangeArrowheads="1"/>
            </p:cNvSpPr>
            <p:nvPr/>
          </p:nvSpPr>
          <p:spPr bwMode="auto">
            <a:xfrm>
              <a:off x="6709445" y="1736923"/>
              <a:ext cx="146050" cy="146050"/>
            </a:xfrm>
            <a:prstGeom prst="ellipse">
              <a:avLst/>
            </a:pr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Freeform 71"/>
            <p:cNvSpPr/>
            <p:nvPr/>
          </p:nvSpPr>
          <p:spPr bwMode="auto">
            <a:xfrm>
              <a:off x="6761832" y="1890910"/>
              <a:ext cx="47625" cy="15875"/>
            </a:xfrm>
            <a:custGeom>
              <a:avLst/>
              <a:gdLst>
                <a:gd name="T0" fmla="*/ 0 w 30"/>
                <a:gd name="T1" fmla="*/ 0 h 10"/>
                <a:gd name="T2" fmla="*/ 30 w 30"/>
                <a:gd name="T3" fmla="*/ 0 h 10"/>
                <a:gd name="T4" fmla="*/ 30 w 30"/>
                <a:gd name="T5" fmla="*/ 10 h 10"/>
                <a:gd name="T6" fmla="*/ 0 w 30"/>
                <a:gd name="T7" fmla="*/ 10 h 10"/>
                <a:gd name="T8" fmla="*/ 0 w 30"/>
                <a:gd name="T9" fmla="*/ 0 h 10"/>
                <a:gd name="T10" fmla="*/ 0 w 30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10">
                  <a:moveTo>
                    <a:pt x="0" y="0"/>
                  </a:moveTo>
                  <a:lnTo>
                    <a:pt x="30" y="0"/>
                  </a:lnTo>
                  <a:lnTo>
                    <a:pt x="30" y="1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72"/>
            <p:cNvSpPr/>
            <p:nvPr/>
          </p:nvSpPr>
          <p:spPr bwMode="auto">
            <a:xfrm>
              <a:off x="6772945" y="1909960"/>
              <a:ext cx="30163" cy="19050"/>
            </a:xfrm>
            <a:custGeom>
              <a:avLst/>
              <a:gdLst>
                <a:gd name="T0" fmla="*/ 0 w 19"/>
                <a:gd name="T1" fmla="*/ 0 h 12"/>
                <a:gd name="T2" fmla="*/ 19 w 19"/>
                <a:gd name="T3" fmla="*/ 0 h 12"/>
                <a:gd name="T4" fmla="*/ 19 w 19"/>
                <a:gd name="T5" fmla="*/ 12 h 12"/>
                <a:gd name="T6" fmla="*/ 0 w 19"/>
                <a:gd name="T7" fmla="*/ 12 h 12"/>
                <a:gd name="T8" fmla="*/ 0 w 19"/>
                <a:gd name="T9" fmla="*/ 0 h 12"/>
                <a:gd name="T10" fmla="*/ 0 w 19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2">
                  <a:moveTo>
                    <a:pt x="0" y="0"/>
                  </a:moveTo>
                  <a:lnTo>
                    <a:pt x="19" y="0"/>
                  </a:lnTo>
                  <a:lnTo>
                    <a:pt x="19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Freeform 73"/>
            <p:cNvSpPr/>
            <p:nvPr/>
          </p:nvSpPr>
          <p:spPr bwMode="auto">
            <a:xfrm>
              <a:off x="6772945" y="1684535"/>
              <a:ext cx="22225" cy="38100"/>
            </a:xfrm>
            <a:custGeom>
              <a:avLst/>
              <a:gdLst>
                <a:gd name="T0" fmla="*/ 0 w 14"/>
                <a:gd name="T1" fmla="*/ 0 h 24"/>
                <a:gd name="T2" fmla="*/ 14 w 14"/>
                <a:gd name="T3" fmla="*/ 0 h 24"/>
                <a:gd name="T4" fmla="*/ 14 w 14"/>
                <a:gd name="T5" fmla="*/ 24 h 24"/>
                <a:gd name="T6" fmla="*/ 0 w 14"/>
                <a:gd name="T7" fmla="*/ 24 h 24"/>
                <a:gd name="T8" fmla="*/ 0 w 14"/>
                <a:gd name="T9" fmla="*/ 0 h 24"/>
                <a:gd name="T10" fmla="*/ 0 w 14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4">
                  <a:moveTo>
                    <a:pt x="0" y="0"/>
                  </a:moveTo>
                  <a:lnTo>
                    <a:pt x="14" y="0"/>
                  </a:lnTo>
                  <a:lnTo>
                    <a:pt x="14" y="24"/>
                  </a:lnTo>
                  <a:lnTo>
                    <a:pt x="0" y="2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74"/>
            <p:cNvSpPr/>
            <p:nvPr/>
          </p:nvSpPr>
          <p:spPr bwMode="auto">
            <a:xfrm>
              <a:off x="6866607" y="1778198"/>
              <a:ext cx="41275" cy="22225"/>
            </a:xfrm>
            <a:custGeom>
              <a:avLst/>
              <a:gdLst>
                <a:gd name="T0" fmla="*/ 0 w 26"/>
                <a:gd name="T1" fmla="*/ 0 h 14"/>
                <a:gd name="T2" fmla="*/ 26 w 26"/>
                <a:gd name="T3" fmla="*/ 0 h 14"/>
                <a:gd name="T4" fmla="*/ 26 w 26"/>
                <a:gd name="T5" fmla="*/ 14 h 14"/>
                <a:gd name="T6" fmla="*/ 0 w 26"/>
                <a:gd name="T7" fmla="*/ 14 h 14"/>
                <a:gd name="T8" fmla="*/ 0 w 26"/>
                <a:gd name="T9" fmla="*/ 0 h 14"/>
                <a:gd name="T10" fmla="*/ 0 w 26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4">
                  <a:moveTo>
                    <a:pt x="0" y="0"/>
                  </a:moveTo>
                  <a:lnTo>
                    <a:pt x="26" y="0"/>
                  </a:lnTo>
                  <a:lnTo>
                    <a:pt x="26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75"/>
            <p:cNvSpPr/>
            <p:nvPr/>
          </p:nvSpPr>
          <p:spPr bwMode="auto">
            <a:xfrm>
              <a:off x="6660232" y="1778198"/>
              <a:ext cx="38100" cy="22225"/>
            </a:xfrm>
            <a:custGeom>
              <a:avLst/>
              <a:gdLst>
                <a:gd name="T0" fmla="*/ 0 w 24"/>
                <a:gd name="T1" fmla="*/ 0 h 14"/>
                <a:gd name="T2" fmla="*/ 24 w 24"/>
                <a:gd name="T3" fmla="*/ 0 h 14"/>
                <a:gd name="T4" fmla="*/ 24 w 24"/>
                <a:gd name="T5" fmla="*/ 14 h 14"/>
                <a:gd name="T6" fmla="*/ 0 w 24"/>
                <a:gd name="T7" fmla="*/ 14 h 14"/>
                <a:gd name="T8" fmla="*/ 0 w 24"/>
                <a:gd name="T9" fmla="*/ 0 h 14"/>
                <a:gd name="T10" fmla="*/ 0 w 24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14">
                  <a:moveTo>
                    <a:pt x="0" y="0"/>
                  </a:moveTo>
                  <a:lnTo>
                    <a:pt x="24" y="0"/>
                  </a:lnTo>
                  <a:lnTo>
                    <a:pt x="24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76"/>
            <p:cNvSpPr/>
            <p:nvPr/>
          </p:nvSpPr>
          <p:spPr bwMode="auto">
            <a:xfrm>
              <a:off x="6701507" y="1717873"/>
              <a:ext cx="33338" cy="34925"/>
            </a:xfrm>
            <a:custGeom>
              <a:avLst/>
              <a:gdLst>
                <a:gd name="T0" fmla="*/ 0 w 21"/>
                <a:gd name="T1" fmla="*/ 12 h 22"/>
                <a:gd name="T2" fmla="*/ 12 w 21"/>
                <a:gd name="T3" fmla="*/ 0 h 22"/>
                <a:gd name="T4" fmla="*/ 21 w 21"/>
                <a:gd name="T5" fmla="*/ 12 h 22"/>
                <a:gd name="T6" fmla="*/ 12 w 21"/>
                <a:gd name="T7" fmla="*/ 22 h 22"/>
                <a:gd name="T8" fmla="*/ 0 w 21"/>
                <a:gd name="T9" fmla="*/ 12 h 22"/>
                <a:gd name="T10" fmla="*/ 0 w 21"/>
                <a:gd name="T11" fmla="*/ 12 h 22"/>
                <a:gd name="T12" fmla="*/ 0 w 21"/>
                <a:gd name="T13" fmla="*/ 1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2">
                  <a:moveTo>
                    <a:pt x="0" y="12"/>
                  </a:moveTo>
                  <a:lnTo>
                    <a:pt x="12" y="0"/>
                  </a:lnTo>
                  <a:lnTo>
                    <a:pt x="21" y="12"/>
                  </a:lnTo>
                  <a:lnTo>
                    <a:pt x="12" y="2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77"/>
            <p:cNvSpPr/>
            <p:nvPr/>
          </p:nvSpPr>
          <p:spPr bwMode="auto">
            <a:xfrm>
              <a:off x="6833270" y="1722635"/>
              <a:ext cx="33338" cy="30163"/>
            </a:xfrm>
            <a:custGeom>
              <a:avLst/>
              <a:gdLst>
                <a:gd name="T0" fmla="*/ 11 w 21"/>
                <a:gd name="T1" fmla="*/ 0 h 19"/>
                <a:gd name="T2" fmla="*/ 21 w 21"/>
                <a:gd name="T3" fmla="*/ 9 h 19"/>
                <a:gd name="T4" fmla="*/ 11 w 21"/>
                <a:gd name="T5" fmla="*/ 19 h 19"/>
                <a:gd name="T6" fmla="*/ 0 w 21"/>
                <a:gd name="T7" fmla="*/ 9 h 19"/>
                <a:gd name="T8" fmla="*/ 11 w 21"/>
                <a:gd name="T9" fmla="*/ 0 h 19"/>
                <a:gd name="T10" fmla="*/ 11 w 21"/>
                <a:gd name="T11" fmla="*/ 0 h 19"/>
                <a:gd name="T12" fmla="*/ 11 w 21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19">
                  <a:moveTo>
                    <a:pt x="11" y="0"/>
                  </a:moveTo>
                  <a:lnTo>
                    <a:pt x="21" y="9"/>
                  </a:lnTo>
                  <a:lnTo>
                    <a:pt x="11" y="19"/>
                  </a:lnTo>
                  <a:lnTo>
                    <a:pt x="0" y="9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265" y="1058545"/>
            <a:ext cx="3833495" cy="3279775"/>
          </a:xfrm>
          <a:prstGeom prst="rect">
            <a:avLst/>
          </a:prstGeom>
        </p:spPr>
      </p:pic>
      <p:pic>
        <p:nvPicPr>
          <p:cNvPr id="14" name="图片 13" descr="C:\Users\易航\Desktop\2.PNG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279265" y="771525"/>
            <a:ext cx="3834130" cy="395414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知识目标</a:t>
            </a:r>
            <a:endParaRPr lang="zh-CN" altLang="en-US" dirty="0"/>
          </a:p>
        </p:txBody>
      </p:sp>
      <p:pic>
        <p:nvPicPr>
          <p:cNvPr id="3" name="图片 2" descr="第六单元 列表嵌套与算エ 概念图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91895" y="944245"/>
            <a:ext cx="6628130" cy="38493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为什么使用嵌套列表</a:t>
            </a:r>
            <a:endParaRPr lang="zh-CN" altLang="en-US" dirty="0"/>
          </a:p>
        </p:txBody>
      </p:sp>
      <p:pic>
        <p:nvPicPr>
          <p:cNvPr id="17" name="图片 16" descr="C:\Users\易航\Desktop\捕获.PNG捕获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2906078" y="1486853"/>
            <a:ext cx="3331845" cy="216979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2140903" y="3844925"/>
            <a:ext cx="4862195" cy="368300"/>
          </a:xfrm>
          <a:prstGeom prst="rect">
            <a:avLst/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score</a:t>
            </a: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</a:rPr>
              <a:t>80,75,92</a:t>
            </a: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</a:rPr>
              <a:t>61,65,71</a:t>
            </a: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</a:rPr>
              <a:t>59,63,70</a:t>
            </a: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</a:rPr>
              <a:t>85,87,90</a:t>
            </a: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</a:rPr>
              <a:t>76,77,85</a:t>
            </a: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标题 1"/>
          <p:cNvSpPr>
            <a:spLocks noGrp="1"/>
          </p:cNvSpPr>
          <p:nvPr>
            <p:ph type="title"/>
          </p:nvPr>
        </p:nvSpPr>
        <p:spPr>
          <a:xfrm>
            <a:off x="2195513" y="141288"/>
            <a:ext cx="6769100" cy="368300"/>
          </a:xfrm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Browallia New" panose="020B0604020202020204" charset="0"/>
              </a:rPr>
              <a:t>什么是嵌套列表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Browallia New" panose="020B0604020202020204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469900" y="1955165"/>
            <a:ext cx="998855" cy="999490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嵌套列表</a:t>
            </a:r>
            <a:endParaRPr lang="zh-CN" altLang="en-US" sz="2000" b="1" strike="noStrike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14"/>
          <p:cNvSpPr txBox="1"/>
          <p:nvPr/>
        </p:nvSpPr>
        <p:spPr>
          <a:xfrm>
            <a:off x="330200" y="1492250"/>
            <a:ext cx="127825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被定义项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8"/>
          <p:cNvSpPr txBox="1"/>
          <p:nvPr/>
        </p:nvSpPr>
        <p:spPr>
          <a:xfrm>
            <a:off x="1922780" y="1492250"/>
            <a:ext cx="139446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临近的属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2120900" y="1955165"/>
            <a:ext cx="998855" cy="999490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endParaRPr lang="zh-CN" altLang="en-US" sz="2000" b="1" strike="noStrike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12"/>
          <p:cNvSpPr txBox="1"/>
          <p:nvPr/>
        </p:nvSpPr>
        <p:spPr>
          <a:xfrm>
            <a:off x="6203315" y="1492250"/>
            <a:ext cx="17716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种差（内涵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869940" y="1968500"/>
            <a:ext cx="2687955" cy="942975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extBox 22"/>
          <p:cNvSpPr txBox="1"/>
          <p:nvPr/>
        </p:nvSpPr>
        <p:spPr>
          <a:xfrm>
            <a:off x="6286500" y="2174240"/>
            <a:ext cx="1854835" cy="532130"/>
          </a:xfrm>
          <a:prstGeom prst="rect">
            <a:avLst/>
          </a:prstGeom>
          <a:noFill/>
          <a:ln w="9525">
            <a:noFill/>
          </a:ln>
        </p:spPr>
        <p:txBody>
          <a:bodyPr wrap="square" lIns="91405" tIns="45702" rIns="91405" bIns="45702" anchor="t">
            <a:spAutoFit/>
          </a:bodyPr>
          <a:lstStyle/>
          <a:p>
            <a:pPr algn="ctr" defTabSz="914400">
              <a:lnSpc>
                <a:spcPct val="120000"/>
              </a:lnSpc>
              <a:buNone/>
            </a:pPr>
            <a:r>
              <a:rPr lang="en-US" altLang="zh-CN" sz="1200" dirty="0">
                <a:solidFill>
                  <a:srgbClr val="262626"/>
                </a:solidFill>
                <a:latin typeface="Times New Roman" panose="02020503050405090304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1200" dirty="0">
                <a:solidFill>
                  <a:srgbClr val="262626"/>
                </a:solidFill>
                <a:latin typeface="Times New Roman" panose="02020503050405090304"/>
                <a:ea typeface="微软雅黑" panose="020B0503020204020204" pitchFamily="34" charset="-122"/>
                <a:sym typeface="微软雅黑" panose="020B0503020204020204" pitchFamily="34" charset="-122"/>
              </a:rPr>
              <a:t>、一个列表内部包含一个或多个列表</a:t>
            </a:r>
            <a:endParaRPr lang="zh-CN" alt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577340" y="3718560"/>
            <a:ext cx="6989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>
                <a:latin typeface="+mn-ea"/>
                <a:ea typeface="+mn-ea"/>
                <a:cs typeface="+mn-ea"/>
                <a:sym typeface="+mn-ea"/>
              </a:rPr>
              <a:t>定义：</a:t>
            </a:r>
            <a:r>
              <a:rPr lang="zh-CN" altLang="en-US">
                <a:effectLst/>
                <a:latin typeface="+mn-ea"/>
                <a:ea typeface="+mn-ea"/>
                <a:cs typeface="+mn-ea"/>
                <a:sym typeface="+mn-ea"/>
              </a:rPr>
              <a:t>嵌套列表</a:t>
            </a:r>
            <a:r>
              <a:rPr lang="zh-CN" altLang="en-US" spc="50" dirty="0">
                <a:effectLst/>
                <a:latin typeface="+mn-ea"/>
                <a:ea typeface="+mn-ea"/>
                <a:cs typeface="+mn-ea"/>
                <a:sym typeface="+mn-ea"/>
              </a:rPr>
              <a:t>是一个列表内部包含一个或多个列表的列表</a:t>
            </a:r>
            <a:endParaRPr lang="zh-CN" altLang="en-US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Text Box 8"/>
          <p:cNvSpPr txBox="1"/>
          <p:nvPr/>
        </p:nvSpPr>
        <p:spPr>
          <a:xfrm>
            <a:off x="3713480" y="1492250"/>
            <a:ext cx="15970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同属的其他种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012565" y="1955165"/>
            <a:ext cx="998855" cy="999490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普通列表</a:t>
            </a:r>
            <a:endParaRPr lang="zh-CN" altLang="en-US" sz="2000" b="1" strike="noStrike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6" grpId="0"/>
      <p:bldP spid="11" grpId="0"/>
      <p:bldP spid="3" grpId="0" bldLvl="0" animBg="1"/>
      <p:bldP spid="14" grpId="0"/>
      <p:bldP spid="7" grpId="0"/>
      <p:bldP spid="10" grpId="0"/>
      <p:bldP spid="8" grpId="0"/>
      <p:bldP spid="9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369570" y="1249045"/>
            <a:ext cx="2362200" cy="33718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 eaLnBrk="1" latinLnBrk="0" hangingPunct="1">
              <a:lnSpc>
                <a:spcPct val="100000"/>
              </a:lnSpc>
            </a:pPr>
            <a:r>
              <a:rPr lang="zh-CN" altLang="zh-CN" sz="1600" b="1" dirty="0">
                <a:solidFill>
                  <a:schemeClr val="accent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格式</a:t>
            </a:r>
            <a:r>
              <a:rPr lang="zh-CN" altLang="zh-CN" sz="1600" dirty="0">
                <a:solidFill>
                  <a:schemeClr val="accent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：列表名 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</a:t>
            </a:r>
            <a:r>
              <a:rPr lang="zh-CN" altLang="zh-CN" sz="1600" dirty="0">
                <a:solidFill>
                  <a:schemeClr val="accent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索引下标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如何使用嵌套列表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51790" y="1698625"/>
            <a:ext cx="5513705" cy="31381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eaLnBrk="1" latinLnBrk="0" hangingPunct="1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menu=[[“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羊肉泡馍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”, 20],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[“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宫保鸡丁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”,15],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[“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鱼香肉丝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”,25]]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print(menu[0])= 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print(menu[0][0])= 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print(menu[2][0] )= 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2" algn="l" eaLnBrk="1" latinLnBrk="0" hangingPunct="1">
              <a:lnSpc>
                <a:spcPct val="150000"/>
              </a:lnSpc>
            </a:pP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254885" y="3159125"/>
            <a:ext cx="366395" cy="368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/>
              <a:t>?</a:t>
            </a:r>
            <a:endParaRPr lang="en-US" altLang="zh-CN"/>
          </a:p>
        </p:txBody>
      </p:sp>
      <p:cxnSp>
        <p:nvCxnSpPr>
          <p:cNvPr id="8" name="直接箭头连接符 7"/>
          <p:cNvCxnSpPr>
            <a:stCxn id="12" idx="3"/>
            <a:endCxn id="16" idx="1"/>
          </p:cNvCxnSpPr>
          <p:nvPr/>
        </p:nvCxnSpPr>
        <p:spPr>
          <a:xfrm flipV="1">
            <a:off x="2621280" y="2941955"/>
            <a:ext cx="1090295" cy="40132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4" name="圆角矩形 13"/>
          <p:cNvSpPr/>
          <p:nvPr/>
        </p:nvSpPr>
        <p:spPr>
          <a:xfrm>
            <a:off x="3711575" y="3329305"/>
            <a:ext cx="1504315" cy="37366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24155" indent="-224155" algn="ctr" defTabSz="381000" eaLnBrk="1" latinLnBrk="0" hangingPunct="1">
              <a:lnSpc>
                <a:spcPct val="10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“羊肉泡馍”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711575" y="2755265"/>
            <a:ext cx="1934845" cy="373679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24155" indent="-224155" algn="l" defTabSz="381000" eaLnBrk="1" latinLnBrk="0" hangingPunct="1">
              <a:lnSpc>
                <a:spcPct val="10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[“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羊肉泡馍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”, 20]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66670" y="3592195"/>
            <a:ext cx="366395" cy="368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/>
              <a:t>?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66670" y="4070350"/>
            <a:ext cx="366395" cy="368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/>
              <a:t>?</a:t>
            </a:r>
            <a:endParaRPr lang="en-US" altLang="zh-CN"/>
          </a:p>
        </p:txBody>
      </p:sp>
      <p:cxnSp>
        <p:nvCxnSpPr>
          <p:cNvPr id="19" name="直接箭头连接符 18"/>
          <p:cNvCxnSpPr>
            <a:stCxn id="7" idx="3"/>
            <a:endCxn id="14" idx="1"/>
          </p:cNvCxnSpPr>
          <p:nvPr/>
        </p:nvCxnSpPr>
        <p:spPr>
          <a:xfrm flipV="1">
            <a:off x="2933065" y="3515995"/>
            <a:ext cx="778510" cy="26035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0" name="圆角矩形 19"/>
          <p:cNvSpPr/>
          <p:nvPr/>
        </p:nvSpPr>
        <p:spPr>
          <a:xfrm>
            <a:off x="3724910" y="3960495"/>
            <a:ext cx="1491615" cy="37366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24155" indent="-224155" algn="ctr" defTabSz="381000" eaLnBrk="1" latinLnBrk="0" hangingPunct="1">
              <a:lnSpc>
                <a:spcPct val="10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鱼香肉丝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21" name="直接箭头连接符 20"/>
          <p:cNvCxnSpPr>
            <a:stCxn id="9" idx="3"/>
            <a:endCxn id="20" idx="1"/>
          </p:cNvCxnSpPr>
          <p:nvPr/>
        </p:nvCxnSpPr>
        <p:spPr>
          <a:xfrm flipV="1">
            <a:off x="2933065" y="4147185"/>
            <a:ext cx="791845" cy="10731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0" name="文本框 9"/>
          <p:cNvSpPr txBox="1"/>
          <p:nvPr/>
        </p:nvSpPr>
        <p:spPr>
          <a:xfrm>
            <a:off x="276225" y="803275"/>
            <a:ext cx="22923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嵌套列表的引用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3" grpId="0" bldLvl="0" animBg="1" uiExpand="1" build="allAtOnce"/>
      <p:bldP spid="12" grpId="0" bldLvl="0" animBg="1"/>
      <p:bldP spid="14" grpId="0" bldLvl="0" animBg="1"/>
      <p:bldP spid="16" grpId="0" bldLvl="0" animBg="1"/>
      <p:bldP spid="7" grpId="0" bldLvl="0" animBg="1"/>
      <p:bldP spid="9" grpId="0" bldLvl="0" animBg="1"/>
      <p:bldP spid="20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18770" y="1744345"/>
            <a:ext cx="3728085" cy="13379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eaLnBrk="1" latinLnBrk="0" hangingPunct="1">
              <a:lnSpc>
                <a:spcPct val="15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menu=[[“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羊肉泡馍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”, 20], 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[“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宫保鸡丁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”,15],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[“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鱼香肉丝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”,25]]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18770" y="1289050"/>
            <a:ext cx="3657600" cy="3683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 eaLnBrk="1" latinLnBrk="0" hangingPunct="1">
              <a:lnSpc>
                <a:spcPct val="100000"/>
              </a:lnSpc>
            </a:pPr>
            <a:r>
              <a:rPr lang="zh-CN" altLang="zh-CN" sz="1600" dirty="0">
                <a:solidFill>
                  <a:schemeClr val="accent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格式：列表名 [索引下标] = “元素xx</a:t>
            </a:r>
            <a:r>
              <a:rPr lang="zh-CN" altLang="zh-CN" sz="1800" dirty="0">
                <a:solidFill>
                  <a:schemeClr val="accent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033520" y="2428240"/>
            <a:ext cx="3462655" cy="1924050"/>
            <a:chOff x="7308" y="3824"/>
            <a:chExt cx="5453" cy="3030"/>
          </a:xfrm>
        </p:grpSpPr>
        <p:sp>
          <p:nvSpPr>
            <p:cNvPr id="10" name="矩形 9"/>
            <p:cNvSpPr/>
            <p:nvPr/>
          </p:nvSpPr>
          <p:spPr>
            <a:xfrm>
              <a:off x="8715" y="4941"/>
              <a:ext cx="4047" cy="79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menu[0][0]=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“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红烧肉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”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16" name="曲线连接符 15"/>
            <p:cNvCxnSpPr/>
            <p:nvPr/>
          </p:nvCxnSpPr>
          <p:spPr>
            <a:xfrm>
              <a:off x="7308" y="3824"/>
              <a:ext cx="5" cy="3031"/>
            </a:xfrm>
            <a:prstGeom prst="curvedConnector3">
              <a:avLst>
                <a:gd name="adj1" fmla="val 2736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rgbClr val="00B0F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</p:grpSp>
      <p:sp>
        <p:nvSpPr>
          <p:cNvPr id="17" name="矩形 16"/>
          <p:cNvSpPr/>
          <p:nvPr/>
        </p:nvSpPr>
        <p:spPr>
          <a:xfrm>
            <a:off x="318135" y="3589020"/>
            <a:ext cx="3728720" cy="13379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eaLnBrk="1" latinLnBrk="0" hangingPunct="1">
              <a:lnSpc>
                <a:spcPct val="15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menu=[[“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羊肉泡馍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”, 20], 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[“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宫保鸡丁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”,15],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[“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鱼香肉丝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”,25]]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387475" y="3746500"/>
            <a:ext cx="1260475" cy="368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altLang="zh-CN" sz="1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红烧肉</a:t>
            </a:r>
            <a:r>
              <a:rPr lang="en-US" altLang="zh-CN" sz="1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endParaRPr lang="en-US" altLang="zh-CN" sz="1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6695" y="803275"/>
            <a:ext cx="28022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嵌套列表元素的修改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如何使用嵌套列表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17" grpId="0" bldLvl="0" animBg="1"/>
      <p:bldP spid="9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75285" y="1779905"/>
            <a:ext cx="3670300" cy="11988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menu = [[“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羊肉泡馍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20]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[“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宫保鸡丁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10]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[“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鱼香肉丝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10] ]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75920" y="3353435"/>
            <a:ext cx="3669665" cy="15684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menu = [[“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羊肉泡馍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20]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[“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宫保鸡丁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10]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[“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鱼香肉丝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</a:t>
            </a:r>
            <a:r>
              <a:rPr lang="en-US" altLang="zh-CN" sz="16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[“</a:t>
            </a:r>
            <a:r>
              <a:rPr lang="zh-CN" altLang="zh-CN" sz="16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水煮鱼</a:t>
            </a:r>
            <a:r>
              <a:rPr lang="en-US" altLang="zh-CN" sz="16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6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68]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045585" y="2376805"/>
            <a:ext cx="4575810" cy="1924685"/>
            <a:chOff x="6710" y="3178"/>
            <a:chExt cx="7206" cy="303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" name="矩形 2"/>
            <p:cNvSpPr/>
            <p:nvPr/>
          </p:nvSpPr>
          <p:spPr>
            <a:xfrm>
              <a:off x="8156" y="4208"/>
              <a:ext cx="5760" cy="725"/>
            </a:xfrm>
            <a:prstGeom prst="rect">
              <a:avLst/>
            </a:prstGeom>
            <a:grpFill/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600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menu.append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([“</a:t>
              </a:r>
              <a:r>
                <a:rPr lang="zh-CN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水煮鱼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”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，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68])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10" name="曲线连接符 9"/>
            <p:cNvCxnSpPr/>
            <p:nvPr/>
          </p:nvCxnSpPr>
          <p:spPr>
            <a:xfrm>
              <a:off x="6710" y="3178"/>
              <a:ext cx="5" cy="3031"/>
            </a:xfrm>
            <a:prstGeom prst="curvedConnector3">
              <a:avLst>
                <a:gd name="adj1" fmla="val 27360000"/>
              </a:avLst>
            </a:prstGeom>
            <a:grpFill/>
            <a:ln w="28575">
              <a:solidFill>
                <a:srgbClr val="00B0F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</p:grpSp>
      <p:sp>
        <p:nvSpPr>
          <p:cNvPr id="8" name="矩形 7"/>
          <p:cNvSpPr/>
          <p:nvPr/>
        </p:nvSpPr>
        <p:spPr>
          <a:xfrm>
            <a:off x="356870" y="1280160"/>
            <a:ext cx="2620010" cy="33718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 eaLnBrk="1" latinLnBrk="0" hangingPunct="1">
              <a:lnSpc>
                <a:spcPct val="100000"/>
              </a:lnSpc>
            </a:pPr>
            <a:r>
              <a:rPr lang="zh-CN" altLang="zh-CN" sz="1600" dirty="0">
                <a:solidFill>
                  <a:schemeClr val="accent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格式：列表.append(数据)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6065" y="803275"/>
            <a:ext cx="28022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charset="0"/>
              <a:buNone/>
            </a:pP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嵌套列表元素追加</a:t>
            </a:r>
            <a:endParaRPr lang="zh-CN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如何使用嵌套列表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 bldLvl="0" animBg="1"/>
      <p:bldP spid="8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91465" y="1778635"/>
            <a:ext cx="3817620" cy="13379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menu = [[“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羊肉泡馍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20]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[“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宫保鸡丁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10]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[“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鱼香肉丝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10] ]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91465" y="3491865"/>
            <a:ext cx="3820795" cy="13379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menu = [[“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羊肉泡馍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[“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宫保鸡丁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10]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[“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鱼香肉丝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10] ]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109085" y="2299970"/>
            <a:ext cx="4467225" cy="1924685"/>
            <a:chOff x="6710" y="3178"/>
            <a:chExt cx="6607" cy="303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0" name="矩形 9"/>
            <p:cNvSpPr/>
            <p:nvPr/>
          </p:nvSpPr>
          <p:spPr>
            <a:xfrm>
              <a:off x="8156" y="4321"/>
              <a:ext cx="5161" cy="798"/>
            </a:xfrm>
            <a:prstGeom prst="rect">
              <a:avLst/>
            </a:prstGeom>
            <a:grpFill/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menu[0].append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(1) #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追加数量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12" name="曲线连接符 11"/>
            <p:cNvCxnSpPr/>
            <p:nvPr/>
          </p:nvCxnSpPr>
          <p:spPr>
            <a:xfrm>
              <a:off x="6710" y="3178"/>
              <a:ext cx="5" cy="3031"/>
            </a:xfrm>
            <a:prstGeom prst="curvedConnector3">
              <a:avLst>
                <a:gd name="adj1" fmla="val 27360000"/>
              </a:avLst>
            </a:prstGeom>
            <a:grpFill/>
            <a:ln w="28575">
              <a:solidFill>
                <a:srgbClr val="00B0F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</p:grpSp>
      <p:sp>
        <p:nvSpPr>
          <p:cNvPr id="8" name="矩形 7"/>
          <p:cNvSpPr/>
          <p:nvPr/>
        </p:nvSpPr>
        <p:spPr>
          <a:xfrm>
            <a:off x="278765" y="1282700"/>
            <a:ext cx="3780155" cy="33718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 eaLnBrk="1" latinLnBrk="0" hangingPunct="1">
              <a:lnSpc>
                <a:spcPct val="100000"/>
              </a:lnSpc>
            </a:pPr>
            <a:r>
              <a:rPr lang="zh-CN" altLang="zh-CN" sz="1600" dirty="0">
                <a:solidFill>
                  <a:schemeClr val="accent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格式：主列表[索引下标].append(数据)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0185" y="769620"/>
            <a:ext cx="3744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嵌套列表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中子列表元素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追加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如何使用嵌套列表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9" grpId="0" bldLvl="0" animBg="1"/>
      <p:bldP spid="8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33680" y="792480"/>
            <a:ext cx="16300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案例分析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嵌套列表的应用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0185" y="1546225"/>
            <a:ext cx="7726680" cy="2698750"/>
          </a:xfrm>
        </p:spPr>
        <p:txBody>
          <a:bodyPr/>
          <a:lstStyle/>
          <a:p>
            <a:pPr>
              <a:buFont typeface="Wingdings" panose="05000000000000000000" charset="0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定义一个嵌套列表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classroom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buFont typeface="Wingdings" panose="05000000000000000000" charset="0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包含：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班，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班，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人；打印输出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buFont typeface="Wingdings" panose="05000000000000000000" charset="0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添加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1003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班，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打印输出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buFont typeface="Wingdings" panose="05000000000000000000" charset="0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1002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班插入考试科目：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’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打印输出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buFont typeface="Wingdings" panose="05000000000000000000" charset="0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删除最后一个元素，打印输出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buFont typeface="Wingdings" panose="05000000000000000000" charset="0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清空列表，打印输出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buFont typeface="Wingdings" panose="05000000000000000000" charset="0"/>
              <a:buChar char="ü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10185" y="769620"/>
            <a:ext cx="16300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参考代码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嵌套列表的应用</a:t>
            </a:r>
            <a:endParaRPr lang="zh-CN" altLang="en-US" dirty="0"/>
          </a:p>
        </p:txBody>
      </p:sp>
      <p:sp>
        <p:nvSpPr>
          <p:cNvPr id="20" name="AutoShape 15"/>
          <p:cNvSpPr>
            <a:spLocks noChangeArrowheads="1"/>
          </p:cNvSpPr>
          <p:nvPr/>
        </p:nvSpPr>
        <p:spPr bwMode="auto">
          <a:xfrm>
            <a:off x="255905" y="1759585"/>
            <a:ext cx="5919470" cy="836545"/>
          </a:xfrm>
          <a:prstGeom prst="roundRect">
            <a:avLst>
              <a:gd name="adj" fmla="val 134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eaLnBrk="1" latinLnBrk="0" hangingPunct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classroom = [["1001班",50],["1002班",70],["1003班",60]]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print(classroom)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19375"/>
          <a:stretch>
            <a:fillRect/>
          </a:stretch>
        </p:blipFill>
        <p:spPr>
          <a:xfrm>
            <a:off x="209868" y="2863215"/>
            <a:ext cx="7366635" cy="327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第三节课</a:t>
            </a:r>
            <a:endParaRPr lang="zh-CN" altLang="en-US" dirty="0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菜单案例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"/>
    </mc:Choice>
    <mc:Fallback>
      <p:transition spd="slow" advTm="964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79705" y="771525"/>
            <a:ext cx="79063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有以下菜品，按以下格式输出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algn="l">
              <a:buFont typeface="Wingdings" panose="05000000000000000000" charset="0"/>
              <a:buNone/>
            </a:pP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algn="l"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</a:t>
            </a:r>
            <a:r>
              <a:rPr lang="zh-CN" altLang="en-US" sz="2000" dirty="0">
                <a:sym typeface="+mn-ea"/>
              </a:rPr>
              <a:t>"鱼香肉丝", "宫保鸡丁", "麻婆豆腐", "霸王别急", "蚂蚁上树"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普通列表实现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295" y="2150110"/>
            <a:ext cx="2867025" cy="13144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79512" y="771550"/>
            <a:ext cx="16300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参考代码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1:</a:t>
            </a:r>
            <a:endParaRPr lang="en-US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5743" y="1373648"/>
            <a:ext cx="7493536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dirty="0"/>
              <a:t>mlist = ["鱼香肉丝", "宫保鸡丁", "麻婆豆腐", "霸王别急", "蚂蚁上树"]</a:t>
            </a:r>
            <a:endParaRPr lang="zh-CN" altLang="en-US" dirty="0"/>
          </a:p>
          <a:p>
            <a:pPr algn="l"/>
            <a:r>
              <a:rPr lang="zh-CN" altLang="en-US" dirty="0"/>
              <a:t>ind = 0</a:t>
            </a:r>
            <a:endParaRPr lang="zh-CN" altLang="en-US" dirty="0"/>
          </a:p>
          <a:p>
            <a:pPr algn="l"/>
            <a:r>
              <a:rPr lang="zh-CN" altLang="en-US" dirty="0"/>
              <a:t>while True:</a:t>
            </a:r>
            <a:endParaRPr lang="zh-CN" altLang="en-US" dirty="0"/>
          </a:p>
          <a:p>
            <a:pPr algn="l"/>
            <a:r>
              <a:rPr lang="zh-CN" altLang="en-US" dirty="0"/>
              <a:t>    print(f"菜品编号：{ind+1} 菜品名称 : {mlist[ind]}")</a:t>
            </a:r>
            <a:endParaRPr lang="zh-CN" altLang="en-US" dirty="0"/>
          </a:p>
          <a:p>
            <a:pPr algn="l"/>
            <a:r>
              <a:rPr lang="zh-CN" altLang="en-US" dirty="0"/>
              <a:t>    ind += 1</a:t>
            </a:r>
            <a:endParaRPr lang="zh-CN" altLang="en-US" dirty="0"/>
          </a:p>
          <a:p>
            <a:pPr algn="l"/>
            <a:r>
              <a:rPr lang="zh-CN" altLang="en-US" dirty="0"/>
              <a:t>    if ind &gt;= len(mlist):</a:t>
            </a:r>
            <a:endParaRPr lang="zh-CN" altLang="en-US" dirty="0"/>
          </a:p>
          <a:p>
            <a:pPr algn="l"/>
            <a:r>
              <a:rPr lang="zh-CN" altLang="en-US" dirty="0"/>
              <a:t>        break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79512" y="771550"/>
            <a:ext cx="16300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参考代码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2:</a:t>
            </a:r>
            <a:endParaRPr lang="en-US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5743" y="1373648"/>
            <a:ext cx="7493536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dirty="0"/>
              <a:t>mlist = ["鱼香肉丝", "宫保鸡丁", "麻婆豆腐", "霸王别急", "蚂蚁上树"]</a:t>
            </a:r>
            <a:endParaRPr lang="zh-CN" altLang="en-US" dirty="0"/>
          </a:p>
          <a:p>
            <a:pPr algn="l"/>
            <a:r>
              <a:rPr lang="zh-CN" altLang="en-US" dirty="0"/>
              <a:t>b = 1</a:t>
            </a:r>
            <a:endParaRPr lang="zh-CN" altLang="en-US" dirty="0"/>
          </a:p>
          <a:p>
            <a:pPr algn="l"/>
            <a:r>
              <a:rPr lang="zh-CN" altLang="en-US" dirty="0"/>
              <a:t>for i in mlist:</a:t>
            </a:r>
            <a:endParaRPr lang="zh-CN" altLang="en-US" dirty="0"/>
          </a:p>
          <a:p>
            <a:pPr algn="l"/>
            <a:r>
              <a:rPr lang="zh-CN" altLang="en-US" dirty="0"/>
              <a:t>    print(f"菜品编号：{b} 菜品名称 : {i}")</a:t>
            </a:r>
            <a:endParaRPr lang="zh-CN" altLang="en-US" dirty="0"/>
          </a:p>
          <a:p>
            <a:pPr algn="l"/>
            <a:r>
              <a:rPr lang="zh-CN" altLang="en-US" dirty="0"/>
              <a:t>    b += 1</a:t>
            </a:r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79512" y="771550"/>
            <a:ext cx="16300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参考代码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endParaRPr lang="en-US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9894" y="1170606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dirty="0"/>
              <a:t>enumerate() </a:t>
            </a:r>
            <a:r>
              <a:rPr lang="zh-CN" altLang="en-US" dirty="0"/>
              <a:t>函数用于将一个可遍历的数据对象</a:t>
            </a:r>
            <a:r>
              <a:rPr lang="en-US" altLang="zh-CN" dirty="0"/>
              <a:t>(</a:t>
            </a:r>
            <a:r>
              <a:rPr lang="zh-CN" altLang="en-US" dirty="0"/>
              <a:t>如列表、元组或字符串</a:t>
            </a:r>
            <a:r>
              <a:rPr lang="en-US" altLang="zh-CN" dirty="0"/>
              <a:t>)</a:t>
            </a:r>
            <a:r>
              <a:rPr lang="zh-CN" altLang="en-US" dirty="0"/>
              <a:t>组合为一个索引序列，同时列出数据和数据下标，一般用在 </a:t>
            </a:r>
            <a:r>
              <a:rPr lang="en-US" altLang="zh-CN" dirty="0"/>
              <a:t>for </a:t>
            </a:r>
            <a:r>
              <a:rPr lang="zh-CN" altLang="en-US" dirty="0"/>
              <a:t>循环当中。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79894" y="1901033"/>
            <a:ext cx="7704856" cy="1476375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zh-CN" dirty="0"/>
              <a:t>    </a:t>
            </a:r>
            <a:r>
              <a:rPr lang="en-US" altLang="zh-CN" dirty="0" err="1"/>
              <a:t>mlist</a:t>
            </a:r>
            <a:r>
              <a:rPr lang="en-US" altLang="zh-CN" dirty="0"/>
              <a:t> = ["</a:t>
            </a:r>
            <a:r>
              <a:rPr lang="zh-CN" altLang="en-US" dirty="0"/>
              <a:t>鱼香肉丝</a:t>
            </a:r>
            <a:r>
              <a:rPr lang="en-US" altLang="zh-CN" dirty="0"/>
              <a:t>", "</a:t>
            </a:r>
            <a:r>
              <a:rPr lang="zh-CN" altLang="en-US" dirty="0"/>
              <a:t>宫保鸡丁</a:t>
            </a:r>
            <a:r>
              <a:rPr lang="en-US" altLang="zh-CN" dirty="0"/>
              <a:t>", "</a:t>
            </a:r>
            <a:r>
              <a:rPr lang="zh-CN" altLang="en-US" dirty="0"/>
              <a:t>麻婆豆腐</a:t>
            </a:r>
            <a:r>
              <a:rPr lang="en-US" altLang="zh-CN" dirty="0"/>
              <a:t>", "</a:t>
            </a:r>
            <a:r>
              <a:rPr lang="zh-CN" altLang="en-US" dirty="0"/>
              <a:t>霸王别急</a:t>
            </a:r>
            <a:r>
              <a:rPr lang="en-US" altLang="zh-CN" dirty="0"/>
              <a:t>", "</a:t>
            </a:r>
            <a:r>
              <a:rPr lang="zh-CN" altLang="en-US" dirty="0"/>
              <a:t>蚂蚁上树</a:t>
            </a:r>
            <a:r>
              <a:rPr lang="en-US" altLang="zh-CN" dirty="0"/>
              <a:t>"]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en-US" altLang="zh-CN" dirty="0"/>
              <a:t>    # </a:t>
            </a:r>
            <a:r>
              <a:rPr lang="zh-CN" altLang="en-US" dirty="0"/>
              <a:t>通过</a:t>
            </a:r>
            <a:r>
              <a:rPr lang="en-US" altLang="zh-CN" dirty="0"/>
              <a:t>enumerate</a:t>
            </a:r>
            <a:r>
              <a:rPr lang="zh-CN" altLang="en-US" dirty="0"/>
              <a:t>函数得到两个值：序号和序列的元素</a:t>
            </a:r>
            <a:endParaRPr lang="zh-CN" altLang="en-US" dirty="0"/>
          </a:p>
          <a:p>
            <a:pPr algn="l"/>
            <a:r>
              <a:rPr lang="zh-CN" altLang="en-US" dirty="0"/>
              <a:t>    </a:t>
            </a:r>
            <a:r>
              <a:rPr lang="en-US" altLang="zh-CN" dirty="0"/>
              <a:t>for b, i in enumerate(</a:t>
            </a:r>
            <a:r>
              <a:rPr lang="en-US" altLang="zh-CN" dirty="0" err="1"/>
              <a:t>mlist</a:t>
            </a:r>
            <a:r>
              <a:rPr lang="en-US" altLang="zh-CN" dirty="0"/>
              <a:t>):</a:t>
            </a:r>
            <a:endParaRPr lang="en-US" altLang="zh-CN" dirty="0"/>
          </a:p>
          <a:p>
            <a:pPr algn="l"/>
            <a:r>
              <a:rPr lang="en-US" altLang="zh-CN" dirty="0"/>
              <a:t>        print(</a:t>
            </a:r>
            <a:r>
              <a:rPr lang="zh-CN" altLang="en-US" dirty="0">
                <a:sym typeface="+mn-ea"/>
              </a:rPr>
              <a:t>f"菜品编号：{</a:t>
            </a:r>
            <a:r>
              <a:rPr lang="en-US" altLang="zh-CN" dirty="0">
                <a:sym typeface="+mn-ea"/>
              </a:rPr>
              <a:t>b</a:t>
            </a:r>
            <a:r>
              <a:rPr lang="zh-CN" altLang="en-US" dirty="0">
                <a:sym typeface="+mn-ea"/>
              </a:rPr>
              <a:t>+1} 菜品名称 : {</a:t>
            </a:r>
            <a:r>
              <a:rPr lang="en-US" altLang="zh-CN" dirty="0">
                <a:sym typeface="+mn-ea"/>
              </a:rPr>
              <a:t>i</a:t>
            </a:r>
            <a:r>
              <a:rPr lang="zh-CN" altLang="en-US" dirty="0">
                <a:sym typeface="+mn-ea"/>
              </a:rPr>
              <a:t>}"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79705" y="4006215"/>
            <a:ext cx="4347210" cy="645160"/>
          </a:xfrm>
          <a:prstGeom prst="rect">
            <a:avLst/>
          </a:prstGeom>
          <a:ln w="28575">
            <a:solidFill>
              <a:srgbClr val="002060"/>
            </a:solidFill>
          </a:ln>
        </p:spPr>
        <p:txBody>
          <a:bodyPr wrap="square">
            <a:spAutoFit/>
          </a:bodyPr>
          <a:p>
            <a:pPr algn="l"/>
            <a:r>
              <a:rPr lang="en-US" altLang="zh-CN" dirty="0"/>
              <a:t>    for b, i in enumerate(</a:t>
            </a:r>
            <a:r>
              <a:rPr lang="en-US" altLang="zh-CN" dirty="0" err="1"/>
              <a:t>mlist,</a:t>
            </a:r>
            <a:r>
              <a:rPr lang="en-US" altLang="zh-CN" dirty="0" err="1">
                <a:solidFill>
                  <a:srgbClr val="FF0000"/>
                </a:solidFill>
              </a:rPr>
              <a:t> start=</a:t>
            </a:r>
            <a:r>
              <a:rPr lang="en-US" altLang="zh-CN" dirty="0" err="1"/>
              <a:t>1</a:t>
            </a:r>
            <a:r>
              <a:rPr lang="en-US" altLang="zh-CN" dirty="0"/>
              <a:t>):</a:t>
            </a:r>
            <a:endParaRPr lang="en-US" altLang="zh-CN" dirty="0"/>
          </a:p>
          <a:p>
            <a:pPr algn="l"/>
            <a:r>
              <a:rPr lang="en-US" altLang="zh-CN" dirty="0"/>
              <a:t>        print(</a:t>
            </a:r>
            <a:r>
              <a:rPr lang="zh-CN" altLang="en-US" dirty="0">
                <a:sym typeface="+mn-ea"/>
              </a:rPr>
              <a:t>f"菜品编号：{</a:t>
            </a:r>
            <a:r>
              <a:rPr lang="en-US" altLang="zh-CN" dirty="0">
                <a:sym typeface="+mn-ea"/>
              </a:rPr>
              <a:t>b</a:t>
            </a:r>
            <a:r>
              <a:rPr lang="zh-CN" altLang="en-US" dirty="0">
                <a:sym typeface="+mn-ea"/>
              </a:rPr>
              <a:t>} 菜品名称 : {</a:t>
            </a:r>
            <a:r>
              <a:rPr lang="en-US" altLang="zh-CN" dirty="0">
                <a:sym typeface="+mn-ea"/>
              </a:rPr>
              <a:t>i</a:t>
            </a:r>
            <a:r>
              <a:rPr lang="zh-CN" altLang="en-US" dirty="0">
                <a:sym typeface="+mn-ea"/>
              </a:rPr>
              <a:t>}"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638675" y="4006215"/>
            <a:ext cx="4326255" cy="645160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wrap="square">
            <a:spAutoFit/>
          </a:bodyPr>
          <a:p>
            <a:pPr algn="l"/>
            <a:r>
              <a:rPr lang="en-US" altLang="zh-CN" dirty="0"/>
              <a:t>    for b, i in enumerate(</a:t>
            </a:r>
            <a:r>
              <a:rPr lang="en-US" altLang="zh-CN" dirty="0" err="1"/>
              <a:t>mlist, 1</a:t>
            </a:r>
            <a:r>
              <a:rPr lang="en-US" altLang="zh-CN" dirty="0"/>
              <a:t>):</a:t>
            </a:r>
            <a:endParaRPr lang="en-US" altLang="zh-CN" dirty="0"/>
          </a:p>
          <a:p>
            <a:pPr algn="l"/>
            <a:r>
              <a:rPr lang="en-US" altLang="zh-CN" dirty="0"/>
              <a:t>        print(</a:t>
            </a:r>
            <a:r>
              <a:rPr lang="zh-CN" altLang="en-US" dirty="0">
                <a:sym typeface="+mn-ea"/>
              </a:rPr>
              <a:t>f"菜品编号：{</a:t>
            </a:r>
            <a:r>
              <a:rPr lang="en-US" altLang="zh-CN" dirty="0">
                <a:sym typeface="+mn-ea"/>
              </a:rPr>
              <a:t>b</a:t>
            </a:r>
            <a:r>
              <a:rPr lang="zh-CN" altLang="en-US" dirty="0">
                <a:sym typeface="+mn-ea"/>
              </a:rPr>
              <a:t>} 菜品名称 : {</a:t>
            </a:r>
            <a:r>
              <a:rPr lang="en-US" altLang="zh-CN" dirty="0">
                <a:sym typeface="+mn-ea"/>
              </a:rPr>
              <a:t>i</a:t>
            </a:r>
            <a:r>
              <a:rPr lang="zh-CN" altLang="en-US" dirty="0">
                <a:sym typeface="+mn-ea"/>
              </a:rPr>
              <a:t>}"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79705" y="771525"/>
            <a:ext cx="790638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有以下菜品，按以下格式输出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algn="l">
              <a:buFont typeface="Wingdings" panose="05000000000000000000" charset="0"/>
              <a:buNone/>
            </a:pP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/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</a:t>
            </a:r>
            <a:r>
              <a:rPr lang="zh-CN" altLang="en-US" sz="2000" dirty="0">
                <a:sym typeface="+mn-ea"/>
              </a:rPr>
              <a:t>"水煮肉片", 25元</a:t>
            </a:r>
            <a:endParaRPr lang="zh-CN" altLang="en-US" sz="2000" dirty="0"/>
          </a:p>
          <a:p>
            <a:pPr algn="l"/>
            <a:r>
              <a:rPr lang="zh-CN" altLang="en-US" sz="2000" dirty="0">
                <a:sym typeface="+mn-ea"/>
              </a:rPr>
              <a:t>        "清蒸鲈鱼", 80元</a:t>
            </a:r>
            <a:endParaRPr lang="zh-CN" altLang="en-US" sz="2000" dirty="0"/>
          </a:p>
          <a:p>
            <a:pPr algn="l"/>
            <a:r>
              <a:rPr lang="zh-CN" altLang="en-US" sz="2000" dirty="0">
                <a:sym typeface="+mn-ea"/>
              </a:rPr>
              <a:t>        "臭鳜鱼", 80元</a:t>
            </a:r>
            <a:endParaRPr lang="zh-CN" altLang="en-US" sz="2000" dirty="0"/>
          </a:p>
          <a:p>
            <a:pPr algn="l"/>
            <a:r>
              <a:rPr lang="zh-CN" altLang="en-US" sz="2000" dirty="0">
                <a:sym typeface="+mn-ea"/>
              </a:rPr>
              <a:t>        "鱼头泡饼", 12</a:t>
            </a:r>
            <a:r>
              <a:rPr lang="en-US" altLang="zh-CN" sz="2000" dirty="0">
                <a:sym typeface="+mn-ea"/>
              </a:rPr>
              <a:t>5</a:t>
            </a:r>
            <a:r>
              <a:rPr lang="zh-CN" altLang="en-US" sz="2000" dirty="0">
                <a:sym typeface="+mn-ea"/>
              </a:rPr>
              <a:t>元</a:t>
            </a:r>
            <a:endParaRPr lang="zh-CN" altLang="en-US" sz="2000" dirty="0"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嵌套列表实现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81350"/>
            <a:ext cx="4495800" cy="11334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79512" y="771550"/>
            <a:ext cx="16300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参考代码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嵌套列表实现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1170305" y="1391920"/>
            <a:ext cx="656590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dirty="0"/>
              <a:t>    menu = [ ["水煮肉片", 25],</a:t>
            </a:r>
            <a:endParaRPr lang="zh-CN" altLang="en-US" dirty="0"/>
          </a:p>
          <a:p>
            <a:pPr algn="l"/>
            <a:r>
              <a:rPr lang="zh-CN" altLang="en-US" dirty="0"/>
              <a:t>                   ["清蒸鲈鱼", 80],</a:t>
            </a:r>
            <a:endParaRPr lang="zh-CN" altLang="en-US" dirty="0"/>
          </a:p>
          <a:p>
            <a:pPr algn="l"/>
            <a:r>
              <a:rPr lang="zh-CN" altLang="en-US" dirty="0"/>
              <a:t>                   ["臭鳜鱼", 80],</a:t>
            </a:r>
            <a:endParaRPr lang="zh-CN" altLang="en-US" dirty="0"/>
          </a:p>
          <a:p>
            <a:pPr algn="l"/>
            <a:r>
              <a:rPr lang="zh-CN" altLang="en-US" dirty="0"/>
              <a:t>                   ["鱼头泡饼", 125] ]</a:t>
            </a:r>
            <a:endParaRPr lang="zh-CN" altLang="en-US" dirty="0"/>
          </a:p>
          <a:p>
            <a:pPr algn="l"/>
            <a:endParaRPr lang="en-US" altLang="zh-CN" dirty="0"/>
          </a:p>
          <a:p>
            <a:pPr algn="l"/>
            <a:r>
              <a:rPr lang="en-US" altLang="zh-CN" dirty="0">
                <a:sym typeface="+mn-ea"/>
              </a:rPr>
              <a:t>    # </a:t>
            </a:r>
            <a:r>
              <a:rPr lang="zh-CN" altLang="en-US" dirty="0">
                <a:sym typeface="+mn-ea"/>
              </a:rPr>
              <a:t>通过</a:t>
            </a:r>
            <a:r>
              <a:rPr lang="en-US" altLang="zh-CN" dirty="0">
                <a:sym typeface="+mn-ea"/>
              </a:rPr>
              <a:t>enumerate</a:t>
            </a:r>
            <a:r>
              <a:rPr lang="zh-CN" altLang="en-US" dirty="0">
                <a:sym typeface="+mn-ea"/>
              </a:rPr>
              <a:t>函数得到两个值：序号和序列的元素</a:t>
            </a:r>
            <a:endParaRPr lang="zh-CN" altLang="en-US" dirty="0"/>
          </a:p>
          <a:p>
            <a:pPr algn="l"/>
            <a:r>
              <a:rPr lang="zh-CN" altLang="en-US" dirty="0">
                <a:sym typeface="+mn-ea"/>
              </a:rPr>
              <a:t>    </a:t>
            </a:r>
            <a:r>
              <a:rPr lang="en-US" altLang="zh-CN" dirty="0">
                <a:sym typeface="+mn-ea"/>
              </a:rPr>
              <a:t>for b, i in enumerate(</a:t>
            </a:r>
            <a:r>
              <a:rPr lang="en-US" altLang="zh-CN" dirty="0" err="1">
                <a:sym typeface="+mn-ea"/>
              </a:rPr>
              <a:t>menu</a:t>
            </a:r>
            <a:r>
              <a:rPr lang="zh-CN" altLang="en-US" dirty="0" err="1">
                <a:sym typeface="+mn-ea"/>
              </a:rPr>
              <a:t>， </a:t>
            </a:r>
            <a:r>
              <a:rPr lang="en-US" altLang="zh-CN" dirty="0" err="1">
                <a:sym typeface="+mn-ea"/>
              </a:rPr>
              <a:t>1</a:t>
            </a:r>
            <a:r>
              <a:rPr lang="en-US" altLang="zh-CN" dirty="0">
                <a:sym typeface="+mn-ea"/>
              </a:rPr>
              <a:t>):</a:t>
            </a:r>
            <a:endParaRPr lang="en-US" altLang="zh-CN" dirty="0"/>
          </a:p>
          <a:p>
            <a:pPr algn="l"/>
            <a:r>
              <a:rPr lang="en-US" altLang="zh-CN" dirty="0">
                <a:sym typeface="+mn-ea"/>
              </a:rPr>
              <a:t>        print(</a:t>
            </a:r>
            <a:r>
              <a:rPr lang="zh-CN" altLang="en-US" dirty="0">
                <a:sym typeface="+mn-ea"/>
              </a:rPr>
              <a:t>f"菜品编号：{</a:t>
            </a:r>
            <a:r>
              <a:rPr lang="en-US" altLang="zh-CN" dirty="0">
                <a:sym typeface="+mn-ea"/>
              </a:rPr>
              <a:t>b</a:t>
            </a:r>
            <a:r>
              <a:rPr lang="zh-CN" altLang="en-US" dirty="0">
                <a:sym typeface="+mn-ea"/>
              </a:rPr>
              <a:t>}  菜品名称 : {</a:t>
            </a:r>
            <a:r>
              <a:rPr lang="en-US" altLang="zh-CN" dirty="0">
                <a:sym typeface="+mn-ea"/>
              </a:rPr>
              <a:t>i[0]</a:t>
            </a:r>
            <a:r>
              <a:rPr lang="zh-CN" altLang="en-US" dirty="0">
                <a:sym typeface="+mn-ea"/>
              </a:rPr>
              <a:t>}  菜品价格：</a:t>
            </a:r>
            <a:r>
              <a:rPr lang="en-US" altLang="zh-CN" dirty="0">
                <a:sym typeface="+mn-ea"/>
              </a:rPr>
              <a:t>{i[1]}</a:t>
            </a:r>
            <a:r>
              <a:rPr lang="zh-CN" altLang="en-US" dirty="0">
                <a:sym typeface="+mn-ea"/>
              </a:rPr>
              <a:t>"</a:t>
            </a:r>
            <a:r>
              <a:rPr lang="en-US" altLang="zh-CN" dirty="0">
                <a:sym typeface="+mn-ea"/>
              </a:rPr>
              <a:t>)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嵌套列表</a:t>
            </a:r>
            <a:r>
              <a:rPr lang="zh-CN" altLang="en-US" dirty="0"/>
              <a:t>的作用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1722120" y="1878330"/>
            <a:ext cx="5293995" cy="1664335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0" name="圆角矩形 9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l" eaLnBrk="1" latinLnBrk="0" hangingPunct="1">
                <a:lnSpc>
                  <a:spcPct val="150000"/>
                </a:lnSpc>
                <a:buFont typeface="Wingdings" panose="05000000000000000000" charset="0"/>
                <a:buChar char="Ø"/>
              </a:pPr>
              <a:r>
                <a:rPr lang="zh-CN" altLang="en-US" sz="1600" strike="noStrike" noProof="1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方便有层次的存储不同类型数据。</a:t>
              </a:r>
              <a:endParaRPr lang="zh-CN" altLang="en-US" sz="1600" strike="noStrike" noProof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285750" indent="-285750" algn="l" eaLnBrk="1" latinLnBrk="0" hangingPunct="1">
                <a:lnSpc>
                  <a:spcPct val="150000"/>
                </a:lnSpc>
                <a:buFont typeface="Wingdings" panose="05000000000000000000" charset="0"/>
                <a:buChar char="Ø"/>
              </a:pPr>
              <a:r>
                <a:rPr lang="zh-CN" altLang="en-US" sz="1600" strike="noStrike" noProof="1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方便对有层次的数据进行管理。</a:t>
              </a:r>
              <a:endParaRPr lang="zh-CN" altLang="en-US" sz="1600" strike="noStrike" noProof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285750" indent="-285750" algn="l" eaLnBrk="1" latinLnBrk="0" hangingPunct="1">
                <a:lnSpc>
                  <a:spcPct val="150000"/>
                </a:lnSpc>
                <a:buFont typeface="Wingdings" panose="05000000000000000000" charset="0"/>
                <a:buChar char="Ø"/>
              </a:pPr>
              <a:r>
                <a:rPr lang="zh-CN" altLang="en-US" sz="1600" strike="noStrike" noProof="1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方便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展示并处理具有同样逻辑结构的分层数据。</a:t>
              </a:r>
              <a:endParaRPr lang="zh-CN" altLang="en-US" sz="1600" strike="noStrike" noProof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第四节课</a:t>
            </a:r>
            <a:endParaRPr lang="zh-CN" altLang="en-US" dirty="0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双色球案例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"/>
    </mc:Choice>
    <mc:Fallback>
      <p:transition spd="slow" advTm="964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>
              <a:defRPr/>
            </a:pPr>
            <a:r>
              <a:rPr lang="zh-CN" dirty="0"/>
              <a:t>嵌套列表的应用</a:t>
            </a:r>
            <a:endParaRPr 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955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/>
            </a:fld>
            <a:r>
              <a:rPr lang="en-US" altLang="zh-CN" sz="180"/>
              <a:t>/47</a:t>
            </a:r>
            <a:endParaRPr lang="zh-CN" altLang="en-US" sz="180" dirty="0"/>
          </a:p>
        </p:txBody>
      </p:sp>
      <p:sp>
        <p:nvSpPr>
          <p:cNvPr id="6" name="文本框 5"/>
          <p:cNvSpPr txBox="1"/>
          <p:nvPr/>
        </p:nvSpPr>
        <p:spPr>
          <a:xfrm>
            <a:off x="666115" y="3430270"/>
            <a:ext cx="8067040" cy="1383665"/>
          </a:xfrm>
          <a:prstGeom prst="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342900" indent="-355600" algn="l" eaLnBrk="1" latinLnBrk="0" hangingPunct="1">
              <a:lnSpc>
                <a:spcPct val="150000"/>
              </a:lnSpc>
              <a:buFont typeface="Wingdings" panose="05000000000000000000" pitchFamily="2" charset="2"/>
              <a:buChar char="Ø"/>
              <a:extLst>
                <a:ext uri="{35155182-B16C-46BC-9424-99874614C6A1}">
                  <wpsdc:indentchars xmlns:wpsdc="http://www.wps.cn/officeDocument/2017/drawingmlCustomData" val="-200" checksum="3501742630"/>
                </a:ext>
              </a:extLst>
            </a:pPr>
            <a:r>
              <a:rPr lang="zh-CN" altLang="en-US" sz="1400" b="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双色球投注区分为</a:t>
            </a:r>
            <a:r>
              <a:rPr lang="zh-CN" altLang="en-US" sz="1400" b="0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红球号码区</a:t>
            </a:r>
            <a:r>
              <a:rPr lang="zh-CN" altLang="en-US" sz="1400" b="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和</a:t>
            </a:r>
            <a:r>
              <a:rPr lang="zh-CN" altLang="en-US" sz="1400" b="0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蓝球号码区</a:t>
            </a:r>
            <a:r>
              <a:rPr lang="zh-CN" altLang="en-US" sz="1400" b="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，红球号码范围为</a:t>
            </a:r>
            <a:r>
              <a:rPr lang="zh-CN" altLang="en-US" sz="1400" b="0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01～33</a:t>
            </a:r>
            <a:r>
              <a:rPr lang="zh-CN" altLang="en-US" sz="1400" b="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，蓝球号码范围为</a:t>
            </a:r>
            <a:r>
              <a:rPr lang="zh-CN" altLang="en-US" sz="1400" b="0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01～16</a:t>
            </a:r>
            <a:endParaRPr lang="zh-CN" altLang="en-US" sz="1400" b="0" dirty="0">
              <a:solidFill>
                <a:srgbClr val="000000"/>
              </a:solidFill>
              <a:latin typeface="+mn-ea"/>
              <a:ea typeface="+mn-ea"/>
              <a:cs typeface="+mn-ea"/>
            </a:endParaRPr>
          </a:p>
          <a:p>
            <a:pPr marL="342900" indent="-355600" algn="l" eaLnBrk="1" latinLnBrk="0" hangingPunct="1">
              <a:lnSpc>
                <a:spcPct val="150000"/>
              </a:lnSpc>
              <a:buFont typeface="Wingdings" panose="05000000000000000000" pitchFamily="2" charset="2"/>
              <a:buChar char="Ø"/>
              <a:extLst>
                <a:ext uri="{35155182-B16C-46BC-9424-99874614C6A1}">
                  <wpsdc:indentchars xmlns:wpsdc="http://www.wps.cn/officeDocument/2017/drawingmlCustomData" val="-200" checksum="3501742630"/>
                </a:ext>
              </a:extLst>
            </a:pPr>
            <a:r>
              <a:rPr lang="zh-CN" altLang="en-US" sz="1400" b="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双色球每期从</a:t>
            </a:r>
            <a:r>
              <a:rPr lang="zh-CN" altLang="en-US" sz="1400" b="0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33个红球</a:t>
            </a:r>
            <a:r>
              <a:rPr lang="zh-CN" altLang="en-US" sz="1400" b="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中开出</a:t>
            </a:r>
            <a:r>
              <a:rPr lang="zh-CN" altLang="en-US" sz="1400" b="0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6个</a:t>
            </a:r>
            <a:r>
              <a:rPr lang="zh-CN" altLang="en-US" sz="1400" b="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号码，从</a:t>
            </a:r>
            <a:r>
              <a:rPr lang="zh-CN" altLang="en-US" sz="1400" b="0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16个蓝球</a:t>
            </a:r>
            <a:r>
              <a:rPr lang="zh-CN" altLang="en-US" sz="1400" b="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中开出</a:t>
            </a:r>
            <a:r>
              <a:rPr lang="zh-CN" altLang="en-US" sz="1400" b="0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1个</a:t>
            </a:r>
            <a:r>
              <a:rPr lang="zh-CN" altLang="en-US" sz="1400" b="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号码作为一注彩票号码</a:t>
            </a:r>
            <a:endParaRPr lang="zh-CN" altLang="en-US" sz="1400" b="0" dirty="0">
              <a:solidFill>
                <a:srgbClr val="000000"/>
              </a:solidFill>
              <a:latin typeface="+mn-ea"/>
              <a:ea typeface="+mn-ea"/>
              <a:cs typeface="+mn-ea"/>
            </a:endParaRPr>
          </a:p>
          <a:p>
            <a:pPr marL="342265" indent="-355600" algn="l" eaLnBrk="1" latinLnBrk="0" hangingPunct="1">
              <a:lnSpc>
                <a:spcPct val="150000"/>
              </a:lnSpc>
              <a:buFont typeface="Wingdings" panose="05000000000000000000" pitchFamily="2" charset="2"/>
              <a:buChar char="Ø"/>
              <a:extLst>
                <a:ext uri="{35155182-B16C-46BC-9424-99874614C6A1}">
                  <wpsdc:indentchars xmlns:wpsdc="http://www.wps.cn/officeDocument/2017/drawingmlCustomData" val="-200" checksum="3501742630"/>
                </a:ext>
              </a:extLst>
            </a:pPr>
            <a:r>
              <a:rPr lang="zh-CN" altLang="en-US" sz="1400" dirty="0">
                <a:solidFill>
                  <a:srgbClr val="000000"/>
                </a:solidFill>
                <a:latin typeface="+mn-ea"/>
                <a:ea typeface="+mn-ea"/>
                <a:cs typeface="+mn-ea"/>
                <a:sym typeface="+mn-ea"/>
              </a:rPr>
              <a:t>如果用户的7个球与系统开出的7个球一致，则中一等奖</a:t>
            </a:r>
            <a:endParaRPr lang="zh-CN" altLang="en-US" sz="1400" b="0" dirty="0">
              <a:solidFill>
                <a:srgbClr val="000000"/>
              </a:solidFill>
              <a:latin typeface="+mn-ea"/>
              <a:ea typeface="+mn-ea"/>
              <a:cs typeface="+mn-ea"/>
            </a:endParaRPr>
          </a:p>
          <a:p>
            <a:pPr marL="342900" indent="-355600" algn="l" eaLnBrk="1" latinLnBrk="0" hangingPunct="1">
              <a:lnSpc>
                <a:spcPct val="150000"/>
              </a:lnSpc>
              <a:buFont typeface="Wingdings" panose="05000000000000000000" pitchFamily="2" charset="2"/>
              <a:buChar char="Ø"/>
              <a:extLst>
                <a:ext uri="{35155182-B16C-46BC-9424-99874614C6A1}">
                  <wpsdc:indentchars xmlns:wpsdc="http://www.wps.cn/officeDocument/2017/drawingmlCustomData" val="-200" checksum="3501742630"/>
                </a:ext>
              </a:extLst>
            </a:pPr>
            <a:r>
              <a:rPr lang="zh-CN" altLang="en-US" sz="1400" dirty="0">
                <a:solidFill>
                  <a:srgbClr val="000000"/>
                </a:solidFill>
                <a:latin typeface="+mn-ea"/>
                <a:ea typeface="+mn-ea"/>
                <a:cs typeface="+mn-ea"/>
                <a:sym typeface="+mn-ea"/>
              </a:rPr>
              <a:t>如果不是7个全中，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匹配一部分</a:t>
            </a:r>
            <a:r>
              <a:rPr lang="zh-CN" altLang="en-US" sz="1400" dirty="0">
                <a:solidFill>
                  <a:srgbClr val="000000"/>
                </a:solidFill>
                <a:latin typeface="+mn-ea"/>
                <a:ea typeface="+mn-ea"/>
                <a:cs typeface="+mn-ea"/>
                <a:sym typeface="+mn-ea"/>
              </a:rPr>
              <a:t>球也会有相应的奖金</a:t>
            </a:r>
            <a:endParaRPr lang="en-US" altLang="zh-CN" sz="1400" b="0" dirty="0">
              <a:solidFill>
                <a:srgbClr val="000000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3" name="图片 2" descr="捕获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67815" y="1417955"/>
            <a:ext cx="5878195" cy="182499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50190" y="803275"/>
            <a:ext cx="3423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charset="0"/>
              <a:buNone/>
            </a:pP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双色球规则介绍</a:t>
            </a:r>
            <a:endParaRPr lang="zh-CN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 uiExpand="1" build="allAtOnce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dirty="0">
                <a:sym typeface="+mn-ea"/>
              </a:rPr>
              <a:t>嵌套列表的应用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266065" y="803275"/>
            <a:ext cx="28136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charset="0"/>
              <a:buNone/>
            </a:pP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双色球选号模式介绍</a:t>
            </a:r>
            <a:endParaRPr lang="zh-CN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95425" y="4083685"/>
            <a:ext cx="1656080" cy="3683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24155" indent="-224155" algn="l" defTabSz="381000" eaLnBrk="1" latinLnBrk="0" hangingPunct="1">
              <a:lnSpc>
                <a:spcPct val="10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>
                <a:latin typeface="+mn-ea"/>
                <a:ea typeface="+mn-ea"/>
              </a:rPr>
              <a:t>手选彩票模式</a:t>
            </a:r>
            <a:endParaRPr lang="zh-CN" altLang="en-US">
              <a:latin typeface="+mn-ea"/>
              <a:ea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829935" y="4083685"/>
            <a:ext cx="1656080" cy="3683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24155" indent="-224155" algn="l" defTabSz="381000" eaLnBrk="1" latinLnBrk="0" hangingPunct="1">
              <a:lnSpc>
                <a:spcPct val="10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>
                <a:latin typeface="+mn-ea"/>
                <a:ea typeface="+mn-ea"/>
              </a:rPr>
              <a:t>机选彩票模式</a:t>
            </a:r>
            <a:endParaRPr lang="zh-CN" altLang="en-US">
              <a:latin typeface="+mn-ea"/>
              <a:ea typeface="+mn-ea"/>
            </a:endParaRPr>
          </a:p>
        </p:txBody>
      </p:sp>
      <p:pic>
        <p:nvPicPr>
          <p:cNvPr id="11" name="图片 10" descr="20181126_1249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341755"/>
            <a:ext cx="3305175" cy="2459355"/>
          </a:xfrm>
          <a:prstGeom prst="rect">
            <a:avLst/>
          </a:prstGeom>
        </p:spPr>
      </p:pic>
      <p:pic>
        <p:nvPicPr>
          <p:cNvPr id="13" name="图片 12" descr="20181126_1252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275" y="1341755"/>
            <a:ext cx="3305175" cy="2459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8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dirty="0">
                <a:sym typeface="+mn-ea"/>
              </a:rPr>
              <a:t>嵌套列表的应用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66065" y="1812925"/>
            <a:ext cx="8626475" cy="1986280"/>
          </a:xfrm>
          <a:prstGeom prst="rect">
            <a:avLst/>
          </a:pr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charset="0"/>
              <a:buChar char="ü"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定义存储红球的嵌套列表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 eaLnBrk="1" latinLnBrk="0" hangingPunct="1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依次从数字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1-33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</a:t>
            </a:r>
            <a:r>
              <a:rPr 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选择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</a:t>
            </a:r>
            <a:r>
              <a:rPr 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不重复</a:t>
            </a:r>
            <a:r>
              <a:rPr 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的数字做为红球。</a:t>
            </a:r>
            <a:endParaRPr 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800100" lvl="1" indent="-342900" algn="l" eaLnBrk="1" latinLnBrk="0" hangingPunct="1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zh-CN" altLang="en-US" sz="1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如果选择红球号码时，号码有重复则提示用户重新选择</a:t>
            </a:r>
            <a:endParaRPr lang="zh-CN" altLang="en-US" sz="1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 algn="l" eaLnBrk="1" latinLnBrk="0" hangingPunct="1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zh-CN" altLang="en-US" sz="1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没有重复则添加到嵌套列表</a:t>
            </a:r>
            <a:endParaRPr lang="zh-CN" altLang="en-US" sz="1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985" lvl="1" indent="-342900" algn="l" eaLnBrk="1" latinLnBrk="0" hangingPunct="1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1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选择的红球数等于</a:t>
            </a:r>
            <a:r>
              <a:rPr lang="en-US" altLang="zh-CN" sz="1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1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个时，退出循环</a:t>
            </a:r>
            <a:endParaRPr lang="zh-CN" altLang="en-US" sz="1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985" lvl="1" indent="-342900" algn="l" eaLnBrk="1" latinLnBrk="0" hangingPunct="1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1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打印输出选择的红球列表</a:t>
            </a:r>
            <a:endParaRPr lang="zh-CN" altLang="en-US" sz="1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6065" y="803275"/>
            <a:ext cx="28568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charset="0"/>
              <a:buNone/>
            </a:pP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双色球选号需求分析</a:t>
            </a:r>
            <a:endParaRPr lang="zh-CN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069330" y="1812925"/>
            <a:ext cx="3198495" cy="1630680"/>
            <a:chOff x="9558" y="2855"/>
            <a:chExt cx="5037" cy="2568"/>
          </a:xfrm>
        </p:grpSpPr>
        <p:pic>
          <p:nvPicPr>
            <p:cNvPr id="3" name="图片 2" descr="捕获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10118"/>
            <a:stretch>
              <a:fillRect/>
            </a:stretch>
          </p:blipFill>
          <p:spPr>
            <a:xfrm>
              <a:off x="10011" y="2855"/>
              <a:ext cx="4584" cy="2568"/>
            </a:xfrm>
            <a:prstGeom prst="rect">
              <a:avLst/>
            </a:prstGeom>
          </p:spPr>
        </p:pic>
        <p:sp>
          <p:nvSpPr>
            <p:cNvPr id="6" name="右大括号 5"/>
            <p:cNvSpPr/>
            <p:nvPr/>
          </p:nvSpPr>
          <p:spPr>
            <a:xfrm>
              <a:off x="9558" y="3341"/>
              <a:ext cx="453" cy="1421"/>
            </a:xfrm>
            <a:prstGeom prst="rightBrac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90204" pitchFamily="34" charset="0"/>
                <a:buNone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9" name="Rectangle 3"/>
          <p:cNvSpPr>
            <a:spLocks noGrp="1" noChangeArrowheads="1"/>
          </p:cNvSpPr>
          <p:nvPr>
            <p:ph idx="1"/>
          </p:nvPr>
        </p:nvSpPr>
        <p:spPr>
          <a:xfrm>
            <a:off x="218440" y="794385"/>
            <a:ext cx="2842895" cy="387985"/>
          </a:xfrm>
          <a:noFill/>
          <a:ln w="9525">
            <a:noFill/>
            <a:miter lim="800000"/>
          </a:ln>
        </p:spPr>
        <p:txBody>
          <a:bodyPr vert="horz" wrap="square" lIns="68580" tIns="34290" rIns="68580" bIns="34290" numCol="1" anchor="t" anchorCtr="0" compatLnSpc="1"/>
          <a:lstStyle/>
          <a:p>
            <a:pPr marL="0" indent="0">
              <a:buNone/>
            </a:pPr>
            <a:r>
              <a:rPr lang="zh-CN" altLang="en-US" b="1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手选双色球框架搭建</a:t>
            </a:r>
            <a:endParaRPr lang="zh-CN" altLang="en-US" b="1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dirty="0">
                <a:sym typeface="+mn-ea"/>
              </a:rPr>
              <a:t>嵌套列表的应用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AutoShape 17"/>
          <p:cNvSpPr>
            <a:spLocks noChangeArrowheads="1"/>
          </p:cNvSpPr>
          <p:nvPr/>
        </p:nvSpPr>
        <p:spPr bwMode="auto">
          <a:xfrm>
            <a:off x="2944391" y="4616532"/>
            <a:ext cx="2733607" cy="373663"/>
          </a:xfrm>
          <a:prstGeom prst="wedgeRoundRectCallout">
            <a:avLst>
              <a:gd name="adj1" fmla="val -30079"/>
              <a:gd name="adj2" fmla="val -52764"/>
              <a:gd name="adj3" fmla="val 16667"/>
            </a:avLst>
          </a:prstGeom>
          <a:solidFill>
            <a:srgbClr val="0070C0"/>
          </a:solidFill>
          <a:ln w="9525">
            <a:solidFill>
              <a:srgbClr val="F2F2F2"/>
            </a:solidFill>
            <a:miter lim="800000"/>
          </a:ln>
          <a:effectLst>
            <a:outerShdw dist="38100" dir="5400000" algn="ctr" rotWithShape="0">
              <a:srgbClr val="000000">
                <a:alpha val="37000"/>
              </a:srgbClr>
            </a:outerShdw>
          </a:effectLst>
        </p:spPr>
        <p:txBody>
          <a:bodyPr wrap="square" anchor="ctr">
            <a:spAutoFit/>
          </a:bodyPr>
          <a:lstStyle/>
          <a:p>
            <a:pPr marL="0" lvl="1" indent="0" eaLnBrk="0" latinLnBrk="0" hangingPunct="0">
              <a:buClr>
                <a:srgbClr val="233DA9"/>
              </a:buClr>
              <a:buSzPct val="80000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完成时间：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分钟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06170" y="1288415"/>
            <a:ext cx="6410325" cy="318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eaLnBrk="1" latinLnBrk="0" hangingPunct="1">
              <a:buFont typeface="Wingdings" panose="05000000000000000000" charset="0"/>
              <a:buChar char="Ø"/>
            </a:pPr>
            <a:r>
              <a:rPr lang="en-US" altLang="zh-CN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程序中需要</a:t>
            </a:r>
            <a:r>
              <a:rPr lang="zh-CN" altLang="en-US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</a:t>
            </a:r>
            <a:r>
              <a:rPr lang="en-US" altLang="zh-CN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两个变量用于存储</a:t>
            </a:r>
            <a:r>
              <a:rPr lang="zh-CN" altLang="en-US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红球号码</a:t>
            </a:r>
            <a:r>
              <a:rPr lang="en-US" altLang="zh-CN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altLang="en-US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选择红球数</a:t>
            </a:r>
            <a:r>
              <a:rPr lang="en-US" altLang="zh-CN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:</a:t>
            </a:r>
            <a:endParaRPr lang="en-US" altLang="zh-CN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42950" lvl="1" indent="-285750" algn="l" eaLnBrk="1" latinLnBrk="0" hangingPunct="1">
              <a:buFont typeface="Wingdings" panose="05000000000000000000" charset="0"/>
              <a:buChar char="u"/>
            </a:pPr>
            <a:r>
              <a:rPr lang="zh-CN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your_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red_</a:t>
            </a:r>
            <a:r>
              <a:rPr lang="zh-CN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balls </a:t>
            </a:r>
            <a:r>
              <a:rPr lang="zh-CN" altLang="en-US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 ['红球',[]]</a:t>
            </a:r>
            <a:endParaRPr lang="zh-CN" altLang="en-US" sz="160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42950" lvl="1" indent="-285750" algn="l" eaLnBrk="1" latinLnBrk="0" hangingPunct="1">
              <a:buFont typeface="Wingdings" panose="05000000000000000000" charset="0"/>
              <a:buChar char="u"/>
            </a:pPr>
            <a:r>
              <a:rPr lang="zh-CN" altLang="en-US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choice = 1</a:t>
            </a:r>
            <a:endParaRPr lang="en-US" altLang="zh-CN">
              <a:solidFill>
                <a:schemeClr val="accent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algn="l" eaLnBrk="1" latinLnBrk="0" hangingPunct="1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while True: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保证用户可以循环选择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l" eaLnBrk="1" latinLnBrk="0" hangingPunct="1">
              <a:lnSpc>
                <a:spcPct val="120000"/>
              </a:lnSpc>
              <a:buFont typeface="Wingdings" panose="05000000000000000000" charset="0"/>
              <a:buChar char="u"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your_red接收用户选择的红球号码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l" eaLnBrk="1" latinLnBrk="0" hangingPunct="1">
              <a:lnSpc>
                <a:spcPct val="120000"/>
              </a:lnSpc>
              <a:buFont typeface="Wingdings" panose="05000000000000000000" charset="0"/>
              <a:buChar char="u"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判断用户选择的红球是否重复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algn="l" eaLnBrk="1" latinLnBrk="0" hangingPunct="1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符合条件则重新选择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algn="l" eaLnBrk="1" latinLnBrk="0" hangingPunct="1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不符合则添加到红球列表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l" eaLnBrk="1" latinLnBrk="0" hangingPunct="1">
              <a:lnSpc>
                <a:spcPct val="120000"/>
              </a:lnSpc>
              <a:buFont typeface="Wingdings" panose="05000000000000000000" charset="0"/>
              <a:buChar char="u"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判断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chioce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是否大于等于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algn="l" eaLnBrk="1" latinLnBrk="0" hangingPunct="1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符合条件则退出循环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2" indent="-285750" algn="l" eaLnBrk="1" latinLnBrk="0" hangingPunct="1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打印红球列表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5590" y="1334770"/>
            <a:ext cx="7315835" cy="3538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l" eaLnBrk="1" latinLnBrk="0" hangingPunct="1">
              <a:lnSpc>
                <a:spcPct val="100000"/>
              </a:lnSpc>
            </a:pPr>
            <a:r>
              <a:rPr lang="zh-CN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your_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red_</a:t>
            </a:r>
            <a:r>
              <a:rPr lang="zh-CN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balls = 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</a:t>
            </a:r>
            <a:r>
              <a:rPr lang="zh-CN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'红球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 ,</a:t>
            </a:r>
            <a:r>
              <a:rPr lang="zh-CN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[]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 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algn="l" eaLnBrk="1" latinLnBrk="0" hangingPunct="1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choice = 1 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algn="l" eaLnBrk="1" latinLnBrk="0" hangingPunct="1">
              <a:lnSpc>
                <a:spcPct val="100000"/>
              </a:lnSpc>
            </a:pP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while True: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algn="l" eaLnBrk="1" latinLnBrk="0" hangingPunct="1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your_red = int(input(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请输入你选择的第%d个红球数字：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% choice).strip())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algn="l" eaLnBrk="1" latinLnBrk="0" hangingPunct="1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if your_red in your_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red_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balls[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]: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algn="l" eaLnBrk="1" latinLnBrk="0" hangingPunct="1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print('已经输入过%d,请重新输入' % your_red)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algn="l" eaLnBrk="1" latinLnBrk="0" hangingPunct="1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continue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algn="l" eaLnBrk="1" latinLnBrk="0" hangingPunct="1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else: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algn="l" eaLnBrk="1" latinLnBrk="0" hangingPunct="1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your_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red_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balls[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].append(your_red)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algn="l" eaLnBrk="1" latinLnBrk="0" hangingPunct="1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choice += 1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algn="l" eaLnBrk="1" latinLnBrk="0" hangingPunct="1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if choice &gt;=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: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algn="l" eaLnBrk="1" latinLnBrk="0" hangingPunct="1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break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algn="l" eaLnBrk="1" latinLnBrk="0" hangingPunct="1">
              <a:lnSpc>
                <a:spcPct val="100000"/>
              </a:lnSpc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algn="l" eaLnBrk="1" latinLnBrk="0" hangingPunct="1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print(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选择的双色球:')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algn="l" eaLnBrk="1" latinLnBrk="0" hangingPunct="1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print(</a:t>
            </a:r>
            <a:r>
              <a:rPr lang="zh-CN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your_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red_</a:t>
            </a:r>
            <a:r>
              <a:rPr lang="zh-CN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balls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algn="l" eaLnBrk="1" latinLnBrk="0" hangingPunct="1">
              <a:lnSpc>
                <a:spcPct val="100000"/>
              </a:lnSpc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33045" y="788670"/>
            <a:ext cx="26606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charset="0"/>
              <a:buNone/>
            </a:pP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手选双色球代码展示</a:t>
            </a:r>
            <a:endParaRPr lang="zh-CN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2" name="图片 11" descr="C:\Users\易航\Desktop\图片1.png图片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222240" y="3589020"/>
            <a:ext cx="2369185" cy="12801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21047" y="3969576"/>
            <a:ext cx="2606040" cy="9000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cxnSp>
        <p:nvCxnSpPr>
          <p:cNvPr id="14" name="直接箭头连接符 13"/>
          <p:cNvCxnSpPr>
            <a:endCxn id="13" idx="3"/>
          </p:cNvCxnSpPr>
          <p:nvPr/>
        </p:nvCxnSpPr>
        <p:spPr>
          <a:xfrm flipH="1" flipV="1">
            <a:off x="2927087" y="4419791"/>
            <a:ext cx="2223770" cy="28892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dirty="0">
                <a:sym typeface="+mn-ea"/>
              </a:rPr>
              <a:t>嵌套列表的应用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 uiExpand="1" build="allAtOnce"/>
      <p:bldP spid="13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9" name="Rectangle 3"/>
          <p:cNvSpPr>
            <a:spLocks noGrp="1" noChangeArrowheads="1"/>
          </p:cNvSpPr>
          <p:nvPr>
            <p:ph idx="1"/>
          </p:nvPr>
        </p:nvSpPr>
        <p:spPr>
          <a:xfrm>
            <a:off x="179705" y="771525"/>
            <a:ext cx="2547620" cy="403225"/>
          </a:xfrm>
          <a:noFill/>
          <a:ln w="9525">
            <a:noFill/>
            <a:miter lim="800000"/>
          </a:ln>
        </p:spPr>
        <p:txBody>
          <a:bodyPr vert="horz" wrap="square" lIns="68580" tIns="34290" rIns="68580" bIns="34290" numCol="1" anchor="t" anchorCtr="0" compatLnSpc="1"/>
          <a:lstStyle/>
          <a:p>
            <a:pPr marL="0" indent="0">
              <a:buNone/>
            </a:pPr>
            <a:r>
              <a:rPr lang="zh-CN" altLang="en-US" b="1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机选双色球框架搭建</a:t>
            </a:r>
            <a:endParaRPr lang="zh-CN" altLang="en-US" b="1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dirty="0">
                <a:sym typeface="+mn-ea"/>
              </a:rPr>
              <a:t>嵌套列表的应用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AutoShape 17"/>
          <p:cNvSpPr>
            <a:spLocks noChangeArrowheads="1"/>
          </p:cNvSpPr>
          <p:nvPr/>
        </p:nvSpPr>
        <p:spPr bwMode="auto">
          <a:xfrm>
            <a:off x="2944391" y="4616532"/>
            <a:ext cx="2733607" cy="373663"/>
          </a:xfrm>
          <a:prstGeom prst="wedgeRoundRectCallout">
            <a:avLst>
              <a:gd name="adj1" fmla="val -30079"/>
              <a:gd name="adj2" fmla="val -52764"/>
              <a:gd name="adj3" fmla="val 16667"/>
            </a:avLst>
          </a:prstGeom>
          <a:solidFill>
            <a:srgbClr val="0070C0"/>
          </a:solidFill>
          <a:ln w="9525">
            <a:solidFill>
              <a:srgbClr val="F2F2F2"/>
            </a:solidFill>
            <a:miter lim="800000"/>
          </a:ln>
          <a:effectLst>
            <a:outerShdw dist="38100" dir="5400000" algn="ctr" rotWithShape="0">
              <a:srgbClr val="000000">
                <a:alpha val="37000"/>
              </a:srgbClr>
            </a:outerShdw>
          </a:effectLst>
        </p:spPr>
        <p:txBody>
          <a:bodyPr wrap="square" anchor="ctr">
            <a:spAutoFit/>
          </a:bodyPr>
          <a:lstStyle/>
          <a:p>
            <a:pPr marL="0" lvl="1" indent="0" eaLnBrk="0" latinLnBrk="0" hangingPunct="0">
              <a:buClr>
                <a:srgbClr val="233DA9"/>
              </a:buClr>
              <a:buSzPct val="80000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完成时间：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分钟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06170" y="1288415"/>
            <a:ext cx="6410325" cy="2908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eaLnBrk="1" latinLnBrk="0" hangingPunct="1">
              <a:buFont typeface="Wingdings" panose="05000000000000000000" charset="0"/>
              <a:buChar char="Ø"/>
            </a:pPr>
            <a:r>
              <a:rPr lang="zh-CN" altLang="en-US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导入</a:t>
            </a:r>
            <a:r>
              <a:rPr lang="en-US" altLang="zh-CN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import random</a:t>
            </a:r>
            <a:r>
              <a:rPr lang="zh-CN" altLang="en-US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模块</a:t>
            </a:r>
            <a:endParaRPr lang="en-US" altLang="zh-CN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algn="l" eaLnBrk="1" latinLnBrk="0" hangingPunct="1">
              <a:buFont typeface="Wingdings" panose="05000000000000000000" charset="0"/>
              <a:buChar char="Ø"/>
            </a:pPr>
            <a:r>
              <a:rPr lang="en-US" altLang="zh-CN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程序中需要</a:t>
            </a:r>
            <a:r>
              <a:rPr lang="zh-CN" altLang="en-US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</a:t>
            </a:r>
            <a:r>
              <a:rPr lang="en-US" altLang="zh-CN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两个变量用于存储</a:t>
            </a:r>
            <a:r>
              <a:rPr lang="zh-CN" altLang="en-US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红球号码</a:t>
            </a:r>
            <a:r>
              <a:rPr lang="en-US" altLang="zh-CN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和33</a:t>
            </a:r>
            <a:r>
              <a:rPr lang="zh-CN" altLang="en-US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个红球号</a:t>
            </a:r>
            <a:r>
              <a:rPr lang="en-US" altLang="zh-CN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:</a:t>
            </a:r>
            <a:endParaRPr lang="en-US" altLang="zh-CN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42950" lvl="1" indent="-285750" algn="l" eaLnBrk="1" latinLnBrk="0" hangingPunct="1">
              <a:buFont typeface="Wingdings" panose="05000000000000000000" charset="0"/>
              <a:buChar char="u"/>
            </a:pPr>
            <a:r>
              <a:rPr lang="zh-CN" altLang="en-US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balls = ['红球',[]]</a:t>
            </a:r>
            <a:endParaRPr lang="zh-CN" altLang="en-US" sz="160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42950" lvl="1" indent="-285750" algn="l" eaLnBrk="1" latinLnBrk="0" hangingPunct="1">
              <a:buFont typeface="Wingdings" panose="05000000000000000000" charset="0"/>
              <a:buChar char="u"/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reds </a:t>
            </a:r>
            <a:r>
              <a:rPr lang="zh-CN" altLang="en-US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[i for i in range(1, 34)]</a:t>
            </a:r>
            <a:endParaRPr lang="en-US" altLang="zh-CN">
              <a:solidFill>
                <a:schemeClr val="accent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algn="l" eaLnBrk="1" latinLnBrk="0" hangingPunct="1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循环，选择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个红球号码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l" eaLnBrk="1" latinLnBrk="0" hangingPunct="1">
              <a:lnSpc>
                <a:spcPct val="120000"/>
              </a:lnSpc>
              <a:buFont typeface="Wingdings" panose="05000000000000000000" charset="0"/>
              <a:buChar char="u"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red_ball = random.choice(reds)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l" eaLnBrk="1" latinLnBrk="0" hangingPunct="1">
              <a:lnSpc>
                <a:spcPct val="120000"/>
              </a:lnSpc>
              <a:buFont typeface="Wingdings" panose="05000000000000000000" charset="0"/>
              <a:buChar char="u"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判断用户选择的红球是否重复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algn="l" eaLnBrk="1" latinLnBrk="0" hangingPunct="1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符合条件则重新选择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algn="l" eaLnBrk="1" latinLnBrk="0" hangingPunct="1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不符合则添加到红球列表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2" indent="-285750" algn="l" eaLnBrk="1" latinLnBrk="0" hangingPunct="1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打印红球列表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嵌套列表的应用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38455" y="1133475"/>
            <a:ext cx="5585460" cy="39083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l" eaLnBrk="1" latinLnBrk="0" hangingPunct="1">
              <a:lnSpc>
                <a:spcPct val="12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import random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 eaLnBrk="1" latinLnBrk="0" hangingPunct="1">
              <a:lnSpc>
                <a:spcPct val="12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 __name__ == '__main__':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 eaLnBrk="1" latinLnBrk="0" hangingPunct="1">
              <a:lnSpc>
                <a:spcPct val="12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redBall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[</a:t>
            </a:r>
            <a:r>
              <a:rPr lang="en-US" altLang="zh-CN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for </a:t>
            </a:r>
            <a:r>
              <a:rPr lang="en-US" altLang="zh-CN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in range(1,34)]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 eaLnBrk="1" latinLnBrk="0" hangingPunct="1">
              <a:lnSpc>
                <a:spcPct val="12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dball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["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红球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 []]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 eaLnBrk="1" latinLnBrk="0" hangingPunct="1">
              <a:lnSpc>
                <a:spcPct val="12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0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 eaLnBrk="1" latinLnBrk="0" hangingPunct="1">
              <a:lnSpc>
                <a:spcPct val="12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while True: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 eaLnBrk="1" latinLnBrk="0" hangingPunct="1">
              <a:lnSpc>
                <a:spcPct val="12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rb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</a:t>
            </a:r>
            <a:r>
              <a:rPr lang="en-US" altLang="zh-CN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random.choice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redBall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 eaLnBrk="1" latinLnBrk="0" hangingPunct="1">
              <a:lnSpc>
                <a:spcPct val="12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if </a:t>
            </a:r>
            <a:r>
              <a:rPr lang="en-US" altLang="zh-CN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len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dball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[1]) &gt; 6: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 eaLnBrk="1" latinLnBrk="0" hangingPunct="1">
              <a:lnSpc>
                <a:spcPct val="12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break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 eaLnBrk="1" latinLnBrk="0" hangingPunct="1">
              <a:lnSpc>
                <a:spcPct val="12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if </a:t>
            </a:r>
            <a:r>
              <a:rPr lang="en-US" altLang="zh-CN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rb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in </a:t>
            </a:r>
            <a:r>
              <a:rPr lang="en-US" altLang="zh-CN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dball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[1]: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 eaLnBrk="1" latinLnBrk="0" hangingPunct="1">
              <a:lnSpc>
                <a:spcPct val="12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continue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 eaLnBrk="1" latinLnBrk="0" hangingPunct="1">
              <a:lnSpc>
                <a:spcPct val="12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dball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[1].append(</a:t>
            </a:r>
            <a:r>
              <a:rPr lang="en-US" altLang="zh-CN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rb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 eaLnBrk="1" latinLnBrk="0" hangingPunct="1">
              <a:lnSpc>
                <a:spcPct val="12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print(</a:t>
            </a:r>
            <a:r>
              <a:rPr lang="en-US" altLang="zh-CN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dball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48362" y="1776324"/>
            <a:ext cx="3070337" cy="28800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17805" y="734695"/>
            <a:ext cx="28282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charset="0"/>
              <a:buNone/>
            </a:pP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机选双色球代码展示</a:t>
            </a:r>
            <a:endParaRPr lang="zh-CN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7539" y="2668269"/>
            <a:ext cx="3070337" cy="2077179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/>
          </a:p>
        </p:txBody>
      </p:sp>
      <p:cxnSp>
        <p:nvCxnSpPr>
          <p:cNvPr id="7" name="直接箭头连接符 6"/>
          <p:cNvCxnSpPr>
            <a:stCxn id="5" idx="3"/>
            <a:endCxn id="10" idx="1"/>
          </p:cNvCxnSpPr>
          <p:nvPr/>
        </p:nvCxnSpPr>
        <p:spPr>
          <a:xfrm flipV="1">
            <a:off x="3718699" y="1880320"/>
            <a:ext cx="288290" cy="4000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8" name="直接箭头连接符 7"/>
          <p:cNvCxnSpPr>
            <a:stCxn id="3" idx="3"/>
            <a:endCxn id="14" idx="1"/>
          </p:cNvCxnSpPr>
          <p:nvPr/>
        </p:nvCxnSpPr>
        <p:spPr>
          <a:xfrm flipV="1">
            <a:off x="3707876" y="2810239"/>
            <a:ext cx="405130" cy="89662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0" name="圆角矩形 9"/>
          <p:cNvSpPr/>
          <p:nvPr/>
        </p:nvSpPr>
        <p:spPr>
          <a:xfrm>
            <a:off x="4006731" y="1709970"/>
            <a:ext cx="2228850" cy="339887"/>
          </a:xfrm>
          <a:prstGeom prst="roundRect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24155" indent="-224155" algn="l" defTabSz="381000" eaLnBrk="1" latinLnBrk="0" hangingPunct="1">
              <a:lnSpc>
                <a:spcPct val="10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列表推导式生成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33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个红球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112999" y="2520787"/>
            <a:ext cx="1931035" cy="578446"/>
          </a:xfrm>
          <a:prstGeom prst="roundRect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24155" indent="-224155" algn="l" defTabSz="381000" eaLnBrk="1" latinLnBrk="0" hangingPunct="1">
              <a:lnSpc>
                <a:spcPct val="10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添加不重复红球号码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4155" indent="-224155" algn="l" defTabSz="381000" eaLnBrk="1" latinLnBrk="0" hangingPunct="1">
              <a:lnSpc>
                <a:spcPct val="10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删除重复的红球号码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1" bldLvl="0" animBg="1"/>
      <p:bldP spid="3" grpId="1" bldLvl="0" animBg="1"/>
      <p:bldP spid="10" grpId="0" bldLvl="0" animBg="1"/>
      <p:bldP spid="14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226060" y="795655"/>
            <a:ext cx="25850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charset="0"/>
              <a:buNone/>
            </a:pP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机选号码案例分析</a:t>
            </a:r>
            <a:endParaRPr lang="zh-CN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77026"/>
          </a:xfrm>
        </p:spPr>
        <p:txBody>
          <a:bodyPr/>
          <a:lstStyle/>
          <a:p>
            <a:pPr algn="r"/>
            <a:r>
              <a:rPr lang="zh-CN" altLang="en-US" dirty="0"/>
              <a:t>排序的应用</a:t>
            </a:r>
            <a:endParaRPr lang="zh-CN" altLang="en-US" dirty="0"/>
          </a:p>
        </p:txBody>
      </p:sp>
      <p:pic>
        <p:nvPicPr>
          <p:cNvPr id="2" name="图片 1" descr="123"/>
          <p:cNvPicPr>
            <a:picLocks noChangeAspect="1"/>
          </p:cNvPicPr>
          <p:nvPr/>
        </p:nvPicPr>
        <p:blipFill>
          <a:blip r:embed="rId1"/>
          <a:srcRect l="1438" t="41673" r="10454"/>
          <a:stretch>
            <a:fillRect/>
          </a:stretch>
        </p:blipFill>
        <p:spPr>
          <a:xfrm>
            <a:off x="276860" y="3180080"/>
            <a:ext cx="3001010" cy="4895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76860" y="3914775"/>
            <a:ext cx="5353050" cy="8803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eaLnBrk="1" latinLnBrk="0" hangingPunct="1"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</a:rPr>
              <a:t>彩票生成的号码需要进行排序：</a:t>
            </a:r>
            <a:endParaRPr lang="zh-CN" altLang="en-US" dirty="0">
              <a:solidFill>
                <a:srgbClr val="0070C0"/>
              </a:solidFill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en-US" altLang="zh-CN" dirty="0">
                <a:solidFill>
                  <a:srgbClr val="0070C0"/>
                </a:solidFill>
              </a:rPr>
              <a:t>	</a:t>
            </a:r>
            <a:r>
              <a:rPr lang="zh-CN" altLang="en-US" sz="1600" b="1" dirty="0">
                <a:solidFill>
                  <a:srgbClr val="0070C0"/>
                </a:solidFill>
              </a:rPr>
              <a:t>要求：</a:t>
            </a:r>
            <a:r>
              <a:rPr lang="zh-CN" altLang="en-US" sz="1600" dirty="0">
                <a:solidFill>
                  <a:srgbClr val="0070C0"/>
                </a:solidFill>
              </a:rPr>
              <a:t>使用</a:t>
            </a:r>
            <a:r>
              <a:rPr lang="en-US" altLang="zh-CN" sz="1600" dirty="0">
                <a:solidFill>
                  <a:srgbClr val="0070C0"/>
                </a:solidFill>
              </a:rPr>
              <a:t>sort</a:t>
            </a:r>
            <a:r>
              <a:rPr lang="zh-CN" altLang="en-US" sz="1600" dirty="0">
                <a:solidFill>
                  <a:srgbClr val="0070C0"/>
                </a:solidFill>
              </a:rPr>
              <a:t>对红球号码进行排序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60" y="1325245"/>
            <a:ext cx="4765040" cy="17379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77026"/>
          </a:xfrm>
        </p:spPr>
        <p:txBody>
          <a:bodyPr/>
          <a:lstStyle/>
          <a:p>
            <a:r>
              <a:rPr lang="zh-CN" altLang="en-US" dirty="0"/>
              <a:t>排序代码应用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04800" y="1303020"/>
            <a:ext cx="6586220" cy="2677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l"/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import random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/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 __name__ == '__main__':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/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redBall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[</a:t>
            </a:r>
            <a:r>
              <a:rPr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for </a:t>
            </a:r>
            <a:r>
              <a:rPr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in range(1,36)]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/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dball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["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红球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 []]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/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0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/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while True: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/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rb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</a:t>
            </a:r>
            <a:r>
              <a:rPr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random.choice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redBall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/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if </a:t>
            </a:r>
            <a:r>
              <a:rPr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len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dball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[1]) &gt; 6: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/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break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/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if </a:t>
            </a:r>
            <a:r>
              <a:rPr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rb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in </a:t>
            </a:r>
            <a:r>
              <a:rPr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dball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[1]: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/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continue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/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dball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[1].append(</a:t>
            </a:r>
            <a:r>
              <a:rPr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rb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/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dball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[1].sort()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/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print(</a:t>
            </a:r>
            <a:r>
              <a:rPr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dball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altLang="zh-CN" sz="12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0185" y="782955"/>
            <a:ext cx="25704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charset="0"/>
              <a:buNone/>
            </a:pP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代码展示</a:t>
            </a:r>
            <a:endParaRPr lang="zh-CN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4669155"/>
            <a:ext cx="6795135" cy="292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 algn="r"/>
            <a:r>
              <a:rPr lang="zh-CN" altLang="en-US" dirty="0"/>
              <a:t>课堂小结</a:t>
            </a:r>
            <a:endParaRPr lang="zh-CN" altLang="en-US" dirty="0"/>
          </a:p>
        </p:txBody>
      </p:sp>
      <p:graphicFrame>
        <p:nvGraphicFramePr>
          <p:cNvPr id="8" name="对象 7"/>
          <p:cNvGraphicFramePr/>
          <p:nvPr/>
        </p:nvGraphicFramePr>
        <p:xfrm>
          <a:off x="758825" y="1475105"/>
          <a:ext cx="7787640" cy="2268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" name="" r:id="rId1" imgW="20675600" imgH="5905500" progId="Visio.Drawing.15">
                  <p:embed/>
                </p:oleObj>
              </mc:Choice>
              <mc:Fallback>
                <p:oleObj name="" r:id="rId1" imgW="20675600" imgH="5905500" progId="Visio.Drawing.15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8825" y="1475105"/>
                        <a:ext cx="7787640" cy="2268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概念图</a:t>
            </a:r>
            <a:endParaRPr lang="zh-CN" altLang="en-US" dirty="0"/>
          </a:p>
        </p:txBody>
      </p:sp>
      <p:pic>
        <p:nvPicPr>
          <p:cNvPr id="3" name="图片 2" descr="第六单元 列表嵌套与算エ 概念图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91895" y="944245"/>
            <a:ext cx="6628130" cy="384937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t>作业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099820"/>
            <a:ext cx="8641080" cy="1675765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  <a:effectLst/>
              </a:rPr>
              <a:t>用户输入月份,判断这个月是哪个季节</a:t>
            </a:r>
            <a:endParaRPr lang="zh-CN" altLang="en-US" dirty="0">
              <a:solidFill>
                <a:schemeClr val="tx1"/>
              </a:solidFill>
              <a:effectLst/>
            </a:endParaRPr>
          </a:p>
          <a:p>
            <a:pPr marL="0" indent="0">
              <a:buNone/>
              <a:defRPr/>
            </a:pPr>
            <a:r>
              <a:rPr lang="zh-CN" altLang="en-US" sz="1600" dirty="0">
                <a:solidFill>
                  <a:schemeClr val="tx1"/>
                </a:solidFill>
                <a:effectLst/>
              </a:rPr>
              <a:t>分析：</a:t>
            </a:r>
            <a:endParaRPr lang="zh-CN" altLang="en-US" sz="1600" dirty="0">
              <a:solidFill>
                <a:schemeClr val="tx1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  <a:effectLst/>
                <a:sym typeface="+mn-ea"/>
              </a:rPr>
              <a:t>3</a:t>
            </a:r>
            <a:r>
              <a:rPr lang="zh-CN" altLang="en-US" dirty="0">
                <a:solidFill>
                  <a:schemeClr val="tx1"/>
                </a:solidFill>
                <a:effectLst/>
                <a:sym typeface="+mn-ea"/>
              </a:rPr>
              <a:t>，4，5月----春季  6，7，8----夏季   9，10，11---秋季  12，1，2----冬季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。</a:t>
            </a:r>
            <a:endParaRPr lang="zh-CN" altLang="en-US" dirty="0">
              <a:solidFill>
                <a:schemeClr val="tx1"/>
              </a:solidFill>
              <a:effectLst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/>
            </a:fld>
            <a:r>
              <a:rPr lang="en-US" altLang="zh-CN" sz="180"/>
              <a:t>/47</a:t>
            </a:r>
            <a:endParaRPr lang="zh-CN" altLang="en-US" sz="18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6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07" y="3102770"/>
            <a:ext cx="9144001" cy="208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 bwMode="auto">
          <a:xfrm>
            <a:off x="0" y="-204696"/>
            <a:ext cx="9151144" cy="3852068"/>
            <a:chOff x="0" y="107177"/>
            <a:chExt cx="9151144" cy="3852791"/>
          </a:xfrm>
        </p:grpSpPr>
        <p:sp>
          <p:nvSpPr>
            <p:cNvPr id="5" name="矩形 254"/>
            <p:cNvSpPr>
              <a:spLocks noChangeArrowheads="1"/>
            </p:cNvSpPr>
            <p:nvPr/>
          </p:nvSpPr>
          <p:spPr bwMode="auto">
            <a:xfrm>
              <a:off x="0" y="113953"/>
              <a:ext cx="9144000" cy="3846015"/>
            </a:xfrm>
            <a:custGeom>
              <a:avLst/>
              <a:gdLst>
                <a:gd name="T0" fmla="*/ 0 w 9144000"/>
                <a:gd name="T1" fmla="*/ 0 h 3846015"/>
                <a:gd name="T2" fmla="*/ 9144000 w 9144000"/>
                <a:gd name="T3" fmla="*/ 3846015 h 3846015"/>
              </a:gdLst>
              <a:ahLst/>
              <a:cxnLst/>
              <a:rect l="T0" t="T1" r="T2" b="T3"/>
              <a:pathLst>
                <a:path w="9144000" h="3846015">
                  <a:moveTo>
                    <a:pt x="0" y="0"/>
                  </a:moveTo>
                  <a:lnTo>
                    <a:pt x="9144000" y="0"/>
                  </a:lnTo>
                  <a:lnTo>
                    <a:pt x="9144000" y="3651870"/>
                  </a:lnTo>
                  <a:lnTo>
                    <a:pt x="4766144" y="3651870"/>
                  </a:lnTo>
                  <a:lnTo>
                    <a:pt x="4571999" y="3846015"/>
                  </a:lnTo>
                  <a:lnTo>
                    <a:pt x="4377855" y="3651870"/>
                  </a:lnTo>
                  <a:lnTo>
                    <a:pt x="0" y="3651870"/>
                  </a:lnTo>
                  <a:close/>
                </a:path>
              </a:pathLst>
            </a:custGeom>
            <a:solidFill>
              <a:srgbClr val="292929">
                <a:alpha val="2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矩形 254"/>
            <p:cNvSpPr>
              <a:spLocks noChangeArrowheads="1"/>
            </p:cNvSpPr>
            <p:nvPr/>
          </p:nvSpPr>
          <p:spPr bwMode="auto">
            <a:xfrm>
              <a:off x="0" y="107177"/>
              <a:ext cx="9151144" cy="3738838"/>
            </a:xfrm>
            <a:custGeom>
              <a:avLst/>
              <a:gdLst>
                <a:gd name="T0" fmla="*/ 0 w 9144000"/>
                <a:gd name="T1" fmla="*/ 0 h 3846015"/>
                <a:gd name="T2" fmla="*/ 9144000 w 9144000"/>
                <a:gd name="T3" fmla="*/ 3846015 h 3846015"/>
                <a:gd name="connsiteX0" fmla="*/ 42863 w 9144000"/>
                <a:gd name="connsiteY0" fmla="*/ 643058 h 3846015"/>
                <a:gd name="connsiteX1" fmla="*/ 9144000 w 9144000"/>
                <a:gd name="connsiteY1" fmla="*/ 0 h 3846015"/>
                <a:gd name="connsiteX2" fmla="*/ 9144000 w 9144000"/>
                <a:gd name="connsiteY2" fmla="*/ 3651870 h 3846015"/>
                <a:gd name="connsiteX3" fmla="*/ 4766144 w 9144000"/>
                <a:gd name="connsiteY3" fmla="*/ 3651870 h 3846015"/>
                <a:gd name="connsiteX4" fmla="*/ 4571999 w 9144000"/>
                <a:gd name="connsiteY4" fmla="*/ 3846015 h 3846015"/>
                <a:gd name="connsiteX5" fmla="*/ 4377855 w 9144000"/>
                <a:gd name="connsiteY5" fmla="*/ 3651870 h 3846015"/>
                <a:gd name="connsiteX6" fmla="*/ 0 w 9144000"/>
                <a:gd name="connsiteY6" fmla="*/ 3651870 h 3846015"/>
                <a:gd name="connsiteX7" fmla="*/ 42863 w 9144000"/>
                <a:gd name="connsiteY7" fmla="*/ 643058 h 3846015"/>
                <a:gd name="connsiteX0-1" fmla="*/ 7145 w 9144000"/>
                <a:gd name="connsiteY0-2" fmla="*/ 121467 h 3846015"/>
                <a:gd name="connsiteX1-3" fmla="*/ 9144000 w 9144000"/>
                <a:gd name="connsiteY1-4" fmla="*/ 0 h 3846015"/>
                <a:gd name="connsiteX2-5" fmla="*/ 9144000 w 9144000"/>
                <a:gd name="connsiteY2-6" fmla="*/ 3651870 h 3846015"/>
                <a:gd name="connsiteX3-7" fmla="*/ 4766144 w 9144000"/>
                <a:gd name="connsiteY3-8" fmla="*/ 3651870 h 3846015"/>
                <a:gd name="connsiteX4-9" fmla="*/ 4571999 w 9144000"/>
                <a:gd name="connsiteY4-10" fmla="*/ 3846015 h 3846015"/>
                <a:gd name="connsiteX5-11" fmla="*/ 4377855 w 9144000"/>
                <a:gd name="connsiteY5-12" fmla="*/ 3651870 h 3846015"/>
                <a:gd name="connsiteX6-13" fmla="*/ 0 w 9144000"/>
                <a:gd name="connsiteY6-14" fmla="*/ 3651870 h 3846015"/>
                <a:gd name="connsiteX7-15" fmla="*/ 7145 w 9144000"/>
                <a:gd name="connsiteY7-16" fmla="*/ 121467 h 3846015"/>
                <a:gd name="connsiteX0-17" fmla="*/ 7145 w 9144000"/>
                <a:gd name="connsiteY0-18" fmla="*/ 0 h 3724548"/>
                <a:gd name="connsiteX1-19" fmla="*/ 8851106 w 9144000"/>
                <a:gd name="connsiteY1-20" fmla="*/ 392980 h 3724548"/>
                <a:gd name="connsiteX2-21" fmla="*/ 9144000 w 9144000"/>
                <a:gd name="connsiteY2-22" fmla="*/ 3530403 h 3724548"/>
                <a:gd name="connsiteX3-23" fmla="*/ 4766144 w 9144000"/>
                <a:gd name="connsiteY3-24" fmla="*/ 3530403 h 3724548"/>
                <a:gd name="connsiteX4-25" fmla="*/ 4571999 w 9144000"/>
                <a:gd name="connsiteY4-26" fmla="*/ 3724548 h 3724548"/>
                <a:gd name="connsiteX5-27" fmla="*/ 4377855 w 9144000"/>
                <a:gd name="connsiteY5-28" fmla="*/ 3530403 h 3724548"/>
                <a:gd name="connsiteX6-29" fmla="*/ 0 w 9144000"/>
                <a:gd name="connsiteY6-30" fmla="*/ 3530403 h 3724548"/>
                <a:gd name="connsiteX7-31" fmla="*/ 7145 w 9144000"/>
                <a:gd name="connsiteY7-32" fmla="*/ 0 h 3724548"/>
                <a:gd name="connsiteX0-33" fmla="*/ 7145 w 9151144"/>
                <a:gd name="connsiteY0-34" fmla="*/ 14290 h 3738838"/>
                <a:gd name="connsiteX1-35" fmla="*/ 9151144 w 9151144"/>
                <a:gd name="connsiteY1-36" fmla="*/ 0 h 3738838"/>
                <a:gd name="connsiteX2-37" fmla="*/ 9144000 w 9151144"/>
                <a:gd name="connsiteY2-38" fmla="*/ 3544693 h 3738838"/>
                <a:gd name="connsiteX3-39" fmla="*/ 4766144 w 9151144"/>
                <a:gd name="connsiteY3-40" fmla="*/ 3544693 h 3738838"/>
                <a:gd name="connsiteX4-41" fmla="*/ 4571999 w 9151144"/>
                <a:gd name="connsiteY4-42" fmla="*/ 3738838 h 3738838"/>
                <a:gd name="connsiteX5-43" fmla="*/ 4377855 w 9151144"/>
                <a:gd name="connsiteY5-44" fmla="*/ 3544693 h 3738838"/>
                <a:gd name="connsiteX6-45" fmla="*/ 0 w 9151144"/>
                <a:gd name="connsiteY6-46" fmla="*/ 3544693 h 3738838"/>
                <a:gd name="connsiteX7-47" fmla="*/ 7145 w 9151144"/>
                <a:gd name="connsiteY7-48" fmla="*/ 14290 h 3738838"/>
                <a:gd name="connsiteX0-49" fmla="*/ 7145 w 9151144"/>
                <a:gd name="connsiteY0-50" fmla="*/ 7145 h 3738838"/>
                <a:gd name="connsiteX1-51" fmla="*/ 9151144 w 9151144"/>
                <a:gd name="connsiteY1-52" fmla="*/ 0 h 3738838"/>
                <a:gd name="connsiteX2-53" fmla="*/ 9144000 w 9151144"/>
                <a:gd name="connsiteY2-54" fmla="*/ 3544693 h 3738838"/>
                <a:gd name="connsiteX3-55" fmla="*/ 4766144 w 9151144"/>
                <a:gd name="connsiteY3-56" fmla="*/ 3544693 h 3738838"/>
                <a:gd name="connsiteX4-57" fmla="*/ 4571999 w 9151144"/>
                <a:gd name="connsiteY4-58" fmla="*/ 3738838 h 3738838"/>
                <a:gd name="connsiteX5-59" fmla="*/ 4377855 w 9151144"/>
                <a:gd name="connsiteY5-60" fmla="*/ 3544693 h 3738838"/>
                <a:gd name="connsiteX6-61" fmla="*/ 0 w 9151144"/>
                <a:gd name="connsiteY6-62" fmla="*/ 3544693 h 3738838"/>
                <a:gd name="connsiteX7-63" fmla="*/ 7145 w 9151144"/>
                <a:gd name="connsiteY7-64" fmla="*/ 7145 h 373883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9151144" h="3738838">
                  <a:moveTo>
                    <a:pt x="7145" y="7145"/>
                  </a:moveTo>
                  <a:lnTo>
                    <a:pt x="9151144" y="0"/>
                  </a:lnTo>
                  <a:cubicBezTo>
                    <a:pt x="9148763" y="1181564"/>
                    <a:pt x="9146381" y="2363129"/>
                    <a:pt x="9144000" y="3544693"/>
                  </a:cubicBezTo>
                  <a:lnTo>
                    <a:pt x="4766144" y="3544693"/>
                  </a:lnTo>
                  <a:lnTo>
                    <a:pt x="4571999" y="3738838"/>
                  </a:lnTo>
                  <a:lnTo>
                    <a:pt x="4377855" y="3544693"/>
                  </a:lnTo>
                  <a:lnTo>
                    <a:pt x="0" y="3544693"/>
                  </a:lnTo>
                  <a:cubicBezTo>
                    <a:pt x="0" y="2327403"/>
                    <a:pt x="7145" y="1224435"/>
                    <a:pt x="7145" y="714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16723" y="3983478"/>
            <a:ext cx="9144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lvl="2" algn="ctr"/>
            <a:r>
              <a:rPr lang="zh-CN" altLang="en-US" sz="4800" b="1" dirty="0">
                <a:solidFill>
                  <a:schemeClr val="bg1"/>
                </a:solidFill>
                <a:latin typeface="+mn-ea"/>
                <a:ea typeface="+mn-ea"/>
              </a:rPr>
              <a:t>创新教育</a:t>
            </a:r>
            <a:r>
              <a:rPr lang="en-US" altLang="zh-CN" sz="4800" b="1" dirty="0">
                <a:solidFill>
                  <a:schemeClr val="bg1"/>
                </a:solidFill>
                <a:latin typeface="+mn-ea"/>
                <a:ea typeface="+mn-ea"/>
              </a:rPr>
              <a:t>  </a:t>
            </a:r>
            <a:r>
              <a:rPr lang="zh-CN" altLang="en-US" sz="4800" b="1" dirty="0">
                <a:solidFill>
                  <a:schemeClr val="bg1"/>
                </a:solidFill>
                <a:latin typeface="+mn-ea"/>
                <a:ea typeface="+mn-ea"/>
              </a:rPr>
              <a:t>引领未来</a:t>
            </a:r>
            <a:endParaRPr lang="zh-CN" altLang="en-US" sz="48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grpSp>
        <p:nvGrpSpPr>
          <p:cNvPr id="14" name="组合 46"/>
          <p:cNvGrpSpPr/>
          <p:nvPr/>
        </p:nvGrpSpPr>
        <p:grpSpPr bwMode="auto">
          <a:xfrm>
            <a:off x="3795175" y="970438"/>
            <a:ext cx="1587103" cy="1587103"/>
            <a:chOff x="0" y="0"/>
            <a:chExt cx="2116920" cy="2116920"/>
          </a:xfrm>
        </p:grpSpPr>
        <p:sp>
          <p:nvSpPr>
            <p:cNvPr id="15" name="椭圆 47"/>
            <p:cNvSpPr>
              <a:spLocks noChangeArrowheads="1"/>
            </p:cNvSpPr>
            <p:nvPr/>
          </p:nvSpPr>
          <p:spPr bwMode="auto">
            <a:xfrm>
              <a:off x="0" y="0"/>
              <a:ext cx="2116920" cy="2116920"/>
            </a:xfrm>
            <a:prstGeom prst="ellipse">
              <a:avLst/>
            </a:prstGeom>
            <a:solidFill>
              <a:srgbClr val="F2F2F2"/>
            </a:solidFill>
            <a:ln w="57150">
              <a:solidFill>
                <a:srgbClr val="1D8DE5"/>
              </a:solidFill>
              <a:beve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90204" pitchFamily="34" charset="0"/>
                <a:buNone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grpSp>
          <p:nvGrpSpPr>
            <p:cNvPr id="16" name="组合 48"/>
            <p:cNvGrpSpPr/>
            <p:nvPr/>
          </p:nvGrpSpPr>
          <p:grpSpPr bwMode="auto">
            <a:xfrm>
              <a:off x="461855" y="280091"/>
              <a:ext cx="1193210" cy="1836829"/>
              <a:chOff x="0" y="0"/>
              <a:chExt cx="2598738" cy="4000499"/>
            </a:xfrm>
          </p:grpSpPr>
          <p:sp>
            <p:nvSpPr>
              <p:cNvPr id="17" name="Freeform 1281"/>
              <p:cNvSpPr>
                <a:spLocks noChangeArrowheads="1"/>
              </p:cNvSpPr>
              <p:nvPr/>
            </p:nvSpPr>
            <p:spPr bwMode="auto">
              <a:xfrm>
                <a:off x="1435100" y="3543299"/>
                <a:ext cx="327025" cy="457200"/>
              </a:xfrm>
              <a:custGeom>
                <a:avLst/>
                <a:gdLst>
                  <a:gd name="T0" fmla="*/ 519152188 w 206"/>
                  <a:gd name="T1" fmla="*/ 0 h 288"/>
                  <a:gd name="T2" fmla="*/ 367942813 w 206"/>
                  <a:gd name="T3" fmla="*/ 0 h 288"/>
                  <a:gd name="T4" fmla="*/ 153730325 w 206"/>
                  <a:gd name="T5" fmla="*/ 0 h 288"/>
                  <a:gd name="T6" fmla="*/ 0 w 206"/>
                  <a:gd name="T7" fmla="*/ 0 h 288"/>
                  <a:gd name="T8" fmla="*/ 0 w 206"/>
                  <a:gd name="T9" fmla="*/ 20161250 h 288"/>
                  <a:gd name="T10" fmla="*/ 153730325 w 206"/>
                  <a:gd name="T11" fmla="*/ 20161250 h 288"/>
                  <a:gd name="T12" fmla="*/ 153730325 w 206"/>
                  <a:gd name="T13" fmla="*/ 725805000 h 288"/>
                  <a:gd name="T14" fmla="*/ 153730325 w 206"/>
                  <a:gd name="T15" fmla="*/ 725805000 h 288"/>
                  <a:gd name="T16" fmla="*/ 367942813 w 206"/>
                  <a:gd name="T17" fmla="*/ 725805000 h 288"/>
                  <a:gd name="T18" fmla="*/ 367942813 w 206"/>
                  <a:gd name="T19" fmla="*/ 725805000 h 288"/>
                  <a:gd name="T20" fmla="*/ 367942813 w 206"/>
                  <a:gd name="T21" fmla="*/ 20161250 h 288"/>
                  <a:gd name="T22" fmla="*/ 519152188 w 206"/>
                  <a:gd name="T23" fmla="*/ 20161250 h 288"/>
                  <a:gd name="T24" fmla="*/ 519152188 w 206"/>
                  <a:gd name="T25" fmla="*/ 0 h 28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06"/>
                  <a:gd name="T40" fmla="*/ 0 h 288"/>
                  <a:gd name="T41" fmla="*/ 206 w 206"/>
                  <a:gd name="T42" fmla="*/ 288 h 28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06" h="288">
                    <a:moveTo>
                      <a:pt x="206" y="0"/>
                    </a:moveTo>
                    <a:lnTo>
                      <a:pt x="146" y="0"/>
                    </a:lnTo>
                    <a:lnTo>
                      <a:pt x="61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61" y="8"/>
                    </a:lnTo>
                    <a:lnTo>
                      <a:pt x="61" y="288"/>
                    </a:lnTo>
                    <a:lnTo>
                      <a:pt x="146" y="288"/>
                    </a:lnTo>
                    <a:lnTo>
                      <a:pt x="146" y="8"/>
                    </a:lnTo>
                    <a:lnTo>
                      <a:pt x="206" y="8"/>
                    </a:lnTo>
                    <a:lnTo>
                      <a:pt x="20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Freeform 1283"/>
              <p:cNvSpPr>
                <a:spLocks noChangeArrowheads="1"/>
              </p:cNvSpPr>
              <p:nvPr/>
            </p:nvSpPr>
            <p:spPr bwMode="auto">
              <a:xfrm>
                <a:off x="1820863" y="3541712"/>
                <a:ext cx="328613" cy="458787"/>
              </a:xfrm>
              <a:custGeom>
                <a:avLst/>
                <a:gdLst>
                  <a:gd name="T0" fmla="*/ 521673931 w 207"/>
                  <a:gd name="T1" fmla="*/ 0 h 289"/>
                  <a:gd name="T2" fmla="*/ 214214401 w 207"/>
                  <a:gd name="T3" fmla="*/ 0 h 289"/>
                  <a:gd name="T4" fmla="*/ 138609598 w 207"/>
                  <a:gd name="T5" fmla="*/ 0 h 289"/>
                  <a:gd name="T6" fmla="*/ 0 w 207"/>
                  <a:gd name="T7" fmla="*/ 0 h 289"/>
                  <a:gd name="T8" fmla="*/ 0 w 207"/>
                  <a:gd name="T9" fmla="*/ 728323569 h 289"/>
                  <a:gd name="T10" fmla="*/ 138609598 w 207"/>
                  <a:gd name="T11" fmla="*/ 728323569 h 289"/>
                  <a:gd name="T12" fmla="*/ 214214401 w 207"/>
                  <a:gd name="T13" fmla="*/ 728323569 h 289"/>
                  <a:gd name="T14" fmla="*/ 521673931 w 207"/>
                  <a:gd name="T15" fmla="*/ 728323569 h 289"/>
                  <a:gd name="T16" fmla="*/ 521673931 w 207"/>
                  <a:gd name="T17" fmla="*/ 708162341 h 289"/>
                  <a:gd name="T18" fmla="*/ 214214401 w 207"/>
                  <a:gd name="T19" fmla="*/ 708162341 h 289"/>
                  <a:gd name="T20" fmla="*/ 214214401 w 207"/>
                  <a:gd name="T21" fmla="*/ 161289824 h 289"/>
                  <a:gd name="T22" fmla="*/ 405746567 w 207"/>
                  <a:gd name="T23" fmla="*/ 161289824 h 289"/>
                  <a:gd name="T24" fmla="*/ 405746567 w 207"/>
                  <a:gd name="T25" fmla="*/ 141128596 h 289"/>
                  <a:gd name="T26" fmla="*/ 214214401 w 207"/>
                  <a:gd name="T27" fmla="*/ 141128596 h 289"/>
                  <a:gd name="T28" fmla="*/ 214214401 w 207"/>
                  <a:gd name="T29" fmla="*/ 20161228 h 289"/>
                  <a:gd name="T30" fmla="*/ 521673931 w 207"/>
                  <a:gd name="T31" fmla="*/ 20161228 h 289"/>
                  <a:gd name="T32" fmla="*/ 521673931 w 207"/>
                  <a:gd name="T33" fmla="*/ 0 h 289"/>
                  <a:gd name="T34" fmla="*/ 521673931 w 207"/>
                  <a:gd name="T35" fmla="*/ 0 h 28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7"/>
                  <a:gd name="T55" fmla="*/ 0 h 289"/>
                  <a:gd name="T56" fmla="*/ 207 w 207"/>
                  <a:gd name="T57" fmla="*/ 289 h 28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7" h="289">
                    <a:moveTo>
                      <a:pt x="207" y="0"/>
                    </a:moveTo>
                    <a:lnTo>
                      <a:pt x="85" y="0"/>
                    </a:lnTo>
                    <a:lnTo>
                      <a:pt x="55" y="0"/>
                    </a:lnTo>
                    <a:lnTo>
                      <a:pt x="0" y="0"/>
                    </a:lnTo>
                    <a:lnTo>
                      <a:pt x="0" y="289"/>
                    </a:lnTo>
                    <a:lnTo>
                      <a:pt x="55" y="289"/>
                    </a:lnTo>
                    <a:lnTo>
                      <a:pt x="85" y="289"/>
                    </a:lnTo>
                    <a:lnTo>
                      <a:pt x="207" y="289"/>
                    </a:lnTo>
                    <a:lnTo>
                      <a:pt x="207" y="281"/>
                    </a:lnTo>
                    <a:lnTo>
                      <a:pt x="85" y="281"/>
                    </a:lnTo>
                    <a:lnTo>
                      <a:pt x="85" y="64"/>
                    </a:lnTo>
                    <a:lnTo>
                      <a:pt x="161" y="64"/>
                    </a:lnTo>
                    <a:lnTo>
                      <a:pt x="161" y="56"/>
                    </a:lnTo>
                    <a:lnTo>
                      <a:pt x="85" y="56"/>
                    </a:lnTo>
                    <a:lnTo>
                      <a:pt x="85" y="8"/>
                    </a:lnTo>
                    <a:lnTo>
                      <a:pt x="207" y="8"/>
                    </a:lnTo>
                    <a:lnTo>
                      <a:pt x="20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Freeform 1284"/>
              <p:cNvSpPr>
                <a:spLocks noChangeArrowheads="1"/>
              </p:cNvSpPr>
              <p:nvPr/>
            </p:nvSpPr>
            <p:spPr bwMode="auto">
              <a:xfrm>
                <a:off x="2598738" y="3733799"/>
                <a:ext cx="1" cy="3175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2520950 h 2"/>
                  <a:gd name="T4" fmla="*/ 0 w 1"/>
                  <a:gd name="T5" fmla="*/ 5040313 h 2"/>
                  <a:gd name="T6" fmla="*/ 0 w 1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2"/>
                  <a:gd name="T14" fmla="*/ 1 w 1"/>
                  <a:gd name="T15" fmla="*/ 2 h 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Freeform 1289"/>
              <p:cNvSpPr>
                <a:spLocks noChangeArrowheads="1"/>
              </p:cNvSpPr>
              <p:nvPr/>
            </p:nvSpPr>
            <p:spPr bwMode="auto">
              <a:xfrm>
                <a:off x="1112838" y="3733799"/>
                <a:ext cx="1" cy="3175"/>
              </a:xfrm>
              <a:custGeom>
                <a:avLst/>
                <a:gdLst>
                  <a:gd name="T0" fmla="*/ 0 w 1"/>
                  <a:gd name="T1" fmla="*/ 0 h 3"/>
                  <a:gd name="T2" fmla="*/ 0 w 1"/>
                  <a:gd name="T3" fmla="*/ 2240492 h 3"/>
                  <a:gd name="T4" fmla="*/ 0 w 1"/>
                  <a:gd name="T5" fmla="*/ 3360208 h 3"/>
                  <a:gd name="T6" fmla="*/ 0 w 1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3"/>
                  <a:gd name="T14" fmla="*/ 1 w 1"/>
                  <a:gd name="T15" fmla="*/ 3 h 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3">
                    <a:moveTo>
                      <a:pt x="0" y="0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2"/>
                      <a:pt x="0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Freeform 1292"/>
              <p:cNvSpPr>
                <a:spLocks noChangeArrowheads="1"/>
              </p:cNvSpPr>
              <p:nvPr/>
            </p:nvSpPr>
            <p:spPr bwMode="auto">
              <a:xfrm>
                <a:off x="0" y="3543299"/>
                <a:ext cx="395288" cy="457200"/>
              </a:xfrm>
              <a:custGeom>
                <a:avLst/>
                <a:gdLst>
                  <a:gd name="T0" fmla="*/ 627520494 w 249"/>
                  <a:gd name="T1" fmla="*/ 0 h 288"/>
                  <a:gd name="T2" fmla="*/ 521673797 w 249"/>
                  <a:gd name="T3" fmla="*/ 0 h 288"/>
                  <a:gd name="T4" fmla="*/ 413306148 w 249"/>
                  <a:gd name="T5" fmla="*/ 0 h 288"/>
                  <a:gd name="T6" fmla="*/ 413306148 w 249"/>
                  <a:gd name="T7" fmla="*/ 138609388 h 288"/>
                  <a:gd name="T8" fmla="*/ 214214346 w 249"/>
                  <a:gd name="T9" fmla="*/ 138609388 h 288"/>
                  <a:gd name="T10" fmla="*/ 214214346 w 249"/>
                  <a:gd name="T11" fmla="*/ 0 h 288"/>
                  <a:gd name="T12" fmla="*/ 0 w 249"/>
                  <a:gd name="T13" fmla="*/ 0 h 288"/>
                  <a:gd name="T14" fmla="*/ 0 w 249"/>
                  <a:gd name="T15" fmla="*/ 725805000 h 288"/>
                  <a:gd name="T16" fmla="*/ 214214346 w 249"/>
                  <a:gd name="T17" fmla="*/ 725805000 h 288"/>
                  <a:gd name="T18" fmla="*/ 214214346 w 249"/>
                  <a:gd name="T19" fmla="*/ 161290000 h 288"/>
                  <a:gd name="T20" fmla="*/ 413306148 w 249"/>
                  <a:gd name="T21" fmla="*/ 161290000 h 288"/>
                  <a:gd name="T22" fmla="*/ 413306148 w 249"/>
                  <a:gd name="T23" fmla="*/ 725805000 h 288"/>
                  <a:gd name="T24" fmla="*/ 521673797 w 249"/>
                  <a:gd name="T25" fmla="*/ 725805000 h 288"/>
                  <a:gd name="T26" fmla="*/ 627520494 w 249"/>
                  <a:gd name="T27" fmla="*/ 725805000 h 288"/>
                  <a:gd name="T28" fmla="*/ 627520494 w 249"/>
                  <a:gd name="T29" fmla="*/ 725805000 h 288"/>
                  <a:gd name="T30" fmla="*/ 627520494 w 249"/>
                  <a:gd name="T31" fmla="*/ 0 h 28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49"/>
                  <a:gd name="T49" fmla="*/ 0 h 288"/>
                  <a:gd name="T50" fmla="*/ 249 w 249"/>
                  <a:gd name="T51" fmla="*/ 288 h 288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49" h="288">
                    <a:moveTo>
                      <a:pt x="249" y="0"/>
                    </a:moveTo>
                    <a:lnTo>
                      <a:pt x="207" y="0"/>
                    </a:lnTo>
                    <a:lnTo>
                      <a:pt x="164" y="0"/>
                    </a:lnTo>
                    <a:lnTo>
                      <a:pt x="164" y="55"/>
                    </a:lnTo>
                    <a:lnTo>
                      <a:pt x="85" y="55"/>
                    </a:lnTo>
                    <a:lnTo>
                      <a:pt x="85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85" y="288"/>
                    </a:lnTo>
                    <a:lnTo>
                      <a:pt x="85" y="64"/>
                    </a:lnTo>
                    <a:lnTo>
                      <a:pt x="164" y="64"/>
                    </a:lnTo>
                    <a:lnTo>
                      <a:pt x="164" y="288"/>
                    </a:lnTo>
                    <a:lnTo>
                      <a:pt x="207" y="288"/>
                    </a:lnTo>
                    <a:lnTo>
                      <a:pt x="249" y="288"/>
                    </a:lnTo>
                    <a:lnTo>
                      <a:pt x="24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Freeform 1293"/>
              <p:cNvSpPr>
                <a:spLocks noEditPoints="1" noChangeArrowheads="1"/>
              </p:cNvSpPr>
              <p:nvPr/>
            </p:nvSpPr>
            <p:spPr bwMode="auto">
              <a:xfrm>
                <a:off x="319088" y="1646237"/>
                <a:ext cx="1916113" cy="677862"/>
              </a:xfrm>
              <a:custGeom>
                <a:avLst/>
                <a:gdLst>
                  <a:gd name="T0" fmla="*/ 2147483646 w 1660"/>
                  <a:gd name="T1" fmla="*/ 137354242 h 587"/>
                  <a:gd name="T2" fmla="*/ 2126468733 w 1660"/>
                  <a:gd name="T3" fmla="*/ 90681076 h 587"/>
                  <a:gd name="T4" fmla="*/ 1460281260 w 1660"/>
                  <a:gd name="T5" fmla="*/ 52008298 h 587"/>
                  <a:gd name="T6" fmla="*/ 1115196235 w 1660"/>
                  <a:gd name="T7" fmla="*/ 198697866 h 587"/>
                  <a:gd name="T8" fmla="*/ 1096544144 w 1660"/>
                  <a:gd name="T9" fmla="*/ 198697866 h 587"/>
                  <a:gd name="T10" fmla="*/ 751459119 w 1660"/>
                  <a:gd name="T11" fmla="*/ 52008298 h 587"/>
                  <a:gd name="T12" fmla="*/ 85271646 w 1660"/>
                  <a:gd name="T13" fmla="*/ 90681076 h 587"/>
                  <a:gd name="T14" fmla="*/ 2665244 w 1660"/>
                  <a:gd name="T15" fmla="*/ 137354242 h 587"/>
                  <a:gd name="T16" fmla="*/ 35974444 w 1660"/>
                  <a:gd name="T17" fmla="*/ 214699797 h 587"/>
                  <a:gd name="T18" fmla="*/ 130572712 w 1660"/>
                  <a:gd name="T19" fmla="*/ 394728165 h 587"/>
                  <a:gd name="T20" fmla="*/ 285128003 w 1660"/>
                  <a:gd name="T21" fmla="*/ 721446102 h 587"/>
                  <a:gd name="T22" fmla="*/ 818077520 w 1660"/>
                  <a:gd name="T23" fmla="*/ 716110970 h 587"/>
                  <a:gd name="T24" fmla="*/ 1103205523 w 1660"/>
                  <a:gd name="T25" fmla="*/ 317382610 h 587"/>
                  <a:gd name="T26" fmla="*/ 1108534856 w 1660"/>
                  <a:gd name="T27" fmla="*/ 317382610 h 587"/>
                  <a:gd name="T28" fmla="*/ 1393662859 w 1660"/>
                  <a:gd name="T29" fmla="*/ 716110970 h 587"/>
                  <a:gd name="T30" fmla="*/ 1926612376 w 1660"/>
                  <a:gd name="T31" fmla="*/ 721446102 h 587"/>
                  <a:gd name="T32" fmla="*/ 2081167666 w 1660"/>
                  <a:gd name="T33" fmla="*/ 394728165 h 587"/>
                  <a:gd name="T34" fmla="*/ 2147483646 w 1660"/>
                  <a:gd name="T35" fmla="*/ 214699797 h 587"/>
                  <a:gd name="T36" fmla="*/ 2147483646 w 1660"/>
                  <a:gd name="T37" fmla="*/ 137354242 h 587"/>
                  <a:gd name="T38" fmla="*/ 892690498 w 1660"/>
                  <a:gd name="T39" fmla="*/ 454738006 h 587"/>
                  <a:gd name="T40" fmla="*/ 783436274 w 1660"/>
                  <a:gd name="T41" fmla="*/ 652102089 h 587"/>
                  <a:gd name="T42" fmla="*/ 547605473 w 1660"/>
                  <a:gd name="T43" fmla="*/ 692107495 h 587"/>
                  <a:gd name="T44" fmla="*/ 311775825 w 1660"/>
                  <a:gd name="T45" fmla="*/ 653434717 h 587"/>
                  <a:gd name="T46" fmla="*/ 213180268 w 1660"/>
                  <a:gd name="T47" fmla="*/ 421399206 h 587"/>
                  <a:gd name="T48" fmla="*/ 194527024 w 1660"/>
                  <a:gd name="T49" fmla="*/ 176027019 h 587"/>
                  <a:gd name="T50" fmla="*/ 539610895 w 1660"/>
                  <a:gd name="T51" fmla="*/ 118684744 h 587"/>
                  <a:gd name="T52" fmla="*/ 935326321 w 1660"/>
                  <a:gd name="T53" fmla="*/ 226701534 h 587"/>
                  <a:gd name="T54" fmla="*/ 892690498 w 1660"/>
                  <a:gd name="T55" fmla="*/ 454738006 h 587"/>
                  <a:gd name="T56" fmla="*/ 1998560110 w 1660"/>
                  <a:gd name="T57" fmla="*/ 421399206 h 587"/>
                  <a:gd name="T58" fmla="*/ 1899964554 w 1660"/>
                  <a:gd name="T59" fmla="*/ 653434717 h 587"/>
                  <a:gd name="T60" fmla="*/ 1664134906 w 1660"/>
                  <a:gd name="T61" fmla="*/ 692107495 h 587"/>
                  <a:gd name="T62" fmla="*/ 1428304104 w 1660"/>
                  <a:gd name="T63" fmla="*/ 652102089 h 587"/>
                  <a:gd name="T64" fmla="*/ 1319049881 w 1660"/>
                  <a:gd name="T65" fmla="*/ 454738006 h 587"/>
                  <a:gd name="T66" fmla="*/ 1276414058 w 1660"/>
                  <a:gd name="T67" fmla="*/ 226701534 h 587"/>
                  <a:gd name="T68" fmla="*/ 1672129484 w 1660"/>
                  <a:gd name="T69" fmla="*/ 118684744 h 587"/>
                  <a:gd name="T70" fmla="*/ 2017213355 w 1660"/>
                  <a:gd name="T71" fmla="*/ 176027019 h 587"/>
                  <a:gd name="T72" fmla="*/ 1998560110 w 1660"/>
                  <a:gd name="T73" fmla="*/ 421399206 h 58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660"/>
                  <a:gd name="T112" fmla="*/ 0 h 587"/>
                  <a:gd name="T113" fmla="*/ 1660 w 1660"/>
                  <a:gd name="T114" fmla="*/ 587 h 58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660" h="587">
                    <a:moveTo>
                      <a:pt x="1658" y="103"/>
                    </a:moveTo>
                    <a:cubicBezTo>
                      <a:pt x="1658" y="71"/>
                      <a:pt x="1653" y="83"/>
                      <a:pt x="1596" y="68"/>
                    </a:cubicBezTo>
                    <a:cubicBezTo>
                      <a:pt x="1539" y="52"/>
                      <a:pt x="1364" y="0"/>
                      <a:pt x="1096" y="39"/>
                    </a:cubicBezTo>
                    <a:cubicBezTo>
                      <a:pt x="872" y="72"/>
                      <a:pt x="929" y="146"/>
                      <a:pt x="837" y="149"/>
                    </a:cubicBezTo>
                    <a:cubicBezTo>
                      <a:pt x="823" y="149"/>
                      <a:pt x="823" y="149"/>
                      <a:pt x="823" y="149"/>
                    </a:cubicBezTo>
                    <a:cubicBezTo>
                      <a:pt x="731" y="146"/>
                      <a:pt x="788" y="72"/>
                      <a:pt x="564" y="39"/>
                    </a:cubicBezTo>
                    <a:cubicBezTo>
                      <a:pt x="296" y="0"/>
                      <a:pt x="121" y="52"/>
                      <a:pt x="64" y="68"/>
                    </a:cubicBezTo>
                    <a:cubicBezTo>
                      <a:pt x="7" y="83"/>
                      <a:pt x="2" y="71"/>
                      <a:pt x="2" y="103"/>
                    </a:cubicBezTo>
                    <a:cubicBezTo>
                      <a:pt x="3" y="135"/>
                      <a:pt x="0" y="161"/>
                      <a:pt x="27" y="161"/>
                    </a:cubicBezTo>
                    <a:cubicBezTo>
                      <a:pt x="55" y="161"/>
                      <a:pt x="55" y="161"/>
                      <a:pt x="98" y="296"/>
                    </a:cubicBezTo>
                    <a:cubicBezTo>
                      <a:pt x="150" y="458"/>
                      <a:pt x="164" y="504"/>
                      <a:pt x="214" y="541"/>
                    </a:cubicBezTo>
                    <a:cubicBezTo>
                      <a:pt x="275" y="587"/>
                      <a:pt x="531" y="587"/>
                      <a:pt x="614" y="537"/>
                    </a:cubicBezTo>
                    <a:cubicBezTo>
                      <a:pt x="717" y="475"/>
                      <a:pt x="704" y="241"/>
                      <a:pt x="828" y="238"/>
                    </a:cubicBezTo>
                    <a:cubicBezTo>
                      <a:pt x="829" y="238"/>
                      <a:pt x="831" y="238"/>
                      <a:pt x="832" y="238"/>
                    </a:cubicBezTo>
                    <a:cubicBezTo>
                      <a:pt x="956" y="241"/>
                      <a:pt x="943" y="475"/>
                      <a:pt x="1046" y="537"/>
                    </a:cubicBezTo>
                    <a:cubicBezTo>
                      <a:pt x="1129" y="587"/>
                      <a:pt x="1385" y="587"/>
                      <a:pt x="1446" y="541"/>
                    </a:cubicBezTo>
                    <a:cubicBezTo>
                      <a:pt x="1496" y="504"/>
                      <a:pt x="1510" y="458"/>
                      <a:pt x="1562" y="296"/>
                    </a:cubicBezTo>
                    <a:cubicBezTo>
                      <a:pt x="1605" y="161"/>
                      <a:pt x="1605" y="161"/>
                      <a:pt x="1633" y="161"/>
                    </a:cubicBezTo>
                    <a:cubicBezTo>
                      <a:pt x="1660" y="161"/>
                      <a:pt x="1657" y="135"/>
                      <a:pt x="1658" y="103"/>
                    </a:cubicBezTo>
                    <a:close/>
                    <a:moveTo>
                      <a:pt x="670" y="341"/>
                    </a:moveTo>
                    <a:cubicBezTo>
                      <a:pt x="644" y="407"/>
                      <a:pt x="624" y="465"/>
                      <a:pt x="588" y="489"/>
                    </a:cubicBezTo>
                    <a:cubicBezTo>
                      <a:pt x="550" y="515"/>
                      <a:pt x="494" y="520"/>
                      <a:pt x="411" y="519"/>
                    </a:cubicBezTo>
                    <a:cubicBezTo>
                      <a:pt x="341" y="517"/>
                      <a:pt x="266" y="520"/>
                      <a:pt x="234" y="490"/>
                    </a:cubicBezTo>
                    <a:cubicBezTo>
                      <a:pt x="208" y="465"/>
                      <a:pt x="182" y="386"/>
                      <a:pt x="160" y="316"/>
                    </a:cubicBezTo>
                    <a:cubicBezTo>
                      <a:pt x="129" y="219"/>
                      <a:pt x="115" y="161"/>
                      <a:pt x="146" y="132"/>
                    </a:cubicBezTo>
                    <a:cubicBezTo>
                      <a:pt x="185" y="97"/>
                      <a:pt x="286" y="91"/>
                      <a:pt x="405" y="89"/>
                    </a:cubicBezTo>
                    <a:cubicBezTo>
                      <a:pt x="524" y="88"/>
                      <a:pt x="682" y="123"/>
                      <a:pt x="702" y="170"/>
                    </a:cubicBezTo>
                    <a:cubicBezTo>
                      <a:pt x="718" y="205"/>
                      <a:pt x="693" y="282"/>
                      <a:pt x="670" y="341"/>
                    </a:cubicBezTo>
                    <a:close/>
                    <a:moveTo>
                      <a:pt x="1500" y="316"/>
                    </a:moveTo>
                    <a:cubicBezTo>
                      <a:pt x="1478" y="386"/>
                      <a:pt x="1452" y="465"/>
                      <a:pt x="1426" y="490"/>
                    </a:cubicBezTo>
                    <a:cubicBezTo>
                      <a:pt x="1394" y="520"/>
                      <a:pt x="1319" y="517"/>
                      <a:pt x="1249" y="519"/>
                    </a:cubicBezTo>
                    <a:cubicBezTo>
                      <a:pt x="1166" y="520"/>
                      <a:pt x="1110" y="515"/>
                      <a:pt x="1072" y="489"/>
                    </a:cubicBezTo>
                    <a:cubicBezTo>
                      <a:pt x="1036" y="465"/>
                      <a:pt x="1016" y="407"/>
                      <a:pt x="990" y="341"/>
                    </a:cubicBezTo>
                    <a:cubicBezTo>
                      <a:pt x="967" y="282"/>
                      <a:pt x="942" y="205"/>
                      <a:pt x="958" y="170"/>
                    </a:cubicBezTo>
                    <a:cubicBezTo>
                      <a:pt x="978" y="123"/>
                      <a:pt x="1136" y="88"/>
                      <a:pt x="1255" y="89"/>
                    </a:cubicBezTo>
                    <a:cubicBezTo>
                      <a:pt x="1374" y="91"/>
                      <a:pt x="1475" y="97"/>
                      <a:pt x="1514" y="132"/>
                    </a:cubicBezTo>
                    <a:cubicBezTo>
                      <a:pt x="1546" y="161"/>
                      <a:pt x="1531" y="219"/>
                      <a:pt x="1500" y="316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Freeform 1294"/>
              <p:cNvSpPr>
                <a:spLocks noChangeArrowheads="1"/>
              </p:cNvSpPr>
              <p:nvPr/>
            </p:nvSpPr>
            <p:spPr bwMode="auto">
              <a:xfrm>
                <a:off x="663575" y="2454274"/>
                <a:ext cx="622300" cy="488950"/>
              </a:xfrm>
              <a:custGeom>
                <a:avLst/>
                <a:gdLst>
                  <a:gd name="T0" fmla="*/ 0 w 538"/>
                  <a:gd name="T1" fmla="*/ 461452328 h 424"/>
                  <a:gd name="T2" fmla="*/ 204704313 w 538"/>
                  <a:gd name="T3" fmla="*/ 398949758 h 424"/>
                  <a:gd name="T4" fmla="*/ 457573257 w 538"/>
                  <a:gd name="T5" fmla="*/ 216762836 h 424"/>
                  <a:gd name="T6" fmla="*/ 709105067 w 538"/>
                  <a:gd name="T7" fmla="*/ 115695487 h 424"/>
                  <a:gd name="T8" fmla="*/ 544539104 w 538"/>
                  <a:gd name="T9" fmla="*/ 2659242 h 424"/>
                  <a:gd name="T10" fmla="*/ 198014009 w 538"/>
                  <a:gd name="T11" fmla="*/ 239369855 h 424"/>
                  <a:gd name="T12" fmla="*/ 109711027 w 538"/>
                  <a:gd name="T13" fmla="*/ 433525672 h 424"/>
                  <a:gd name="T14" fmla="*/ 0 w 538"/>
                  <a:gd name="T15" fmla="*/ 461452328 h 4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38"/>
                  <a:gd name="T25" fmla="*/ 0 h 424"/>
                  <a:gd name="T26" fmla="*/ 538 w 538"/>
                  <a:gd name="T27" fmla="*/ 424 h 4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38" h="424">
                    <a:moveTo>
                      <a:pt x="0" y="347"/>
                    </a:moveTo>
                    <a:cubicBezTo>
                      <a:pt x="0" y="347"/>
                      <a:pt x="82" y="424"/>
                      <a:pt x="153" y="300"/>
                    </a:cubicBezTo>
                    <a:cubicBezTo>
                      <a:pt x="209" y="203"/>
                      <a:pt x="220" y="166"/>
                      <a:pt x="342" y="163"/>
                    </a:cubicBezTo>
                    <a:cubicBezTo>
                      <a:pt x="465" y="160"/>
                      <a:pt x="522" y="141"/>
                      <a:pt x="530" y="87"/>
                    </a:cubicBezTo>
                    <a:cubicBezTo>
                      <a:pt x="538" y="33"/>
                      <a:pt x="492" y="0"/>
                      <a:pt x="407" y="2"/>
                    </a:cubicBezTo>
                    <a:cubicBezTo>
                      <a:pt x="323" y="4"/>
                      <a:pt x="210" y="54"/>
                      <a:pt x="148" y="180"/>
                    </a:cubicBezTo>
                    <a:cubicBezTo>
                      <a:pt x="104" y="269"/>
                      <a:pt x="108" y="298"/>
                      <a:pt x="82" y="326"/>
                    </a:cubicBezTo>
                    <a:cubicBezTo>
                      <a:pt x="56" y="354"/>
                      <a:pt x="0" y="347"/>
                      <a:pt x="0" y="347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Freeform 1295"/>
              <p:cNvSpPr>
                <a:spLocks noChangeArrowheads="1"/>
              </p:cNvSpPr>
              <p:nvPr/>
            </p:nvSpPr>
            <p:spPr bwMode="auto">
              <a:xfrm>
                <a:off x="1268413" y="2454274"/>
                <a:ext cx="622300" cy="488950"/>
              </a:xfrm>
              <a:custGeom>
                <a:avLst/>
                <a:gdLst>
                  <a:gd name="T0" fmla="*/ 719809089 w 538"/>
                  <a:gd name="T1" fmla="*/ 461452328 h 424"/>
                  <a:gd name="T2" fmla="*/ 515104777 w 538"/>
                  <a:gd name="T3" fmla="*/ 398949758 h 424"/>
                  <a:gd name="T4" fmla="*/ 262235832 w 538"/>
                  <a:gd name="T5" fmla="*/ 216762836 h 424"/>
                  <a:gd name="T6" fmla="*/ 10704023 w 538"/>
                  <a:gd name="T7" fmla="*/ 115695487 h 424"/>
                  <a:gd name="T8" fmla="*/ 175269985 w 538"/>
                  <a:gd name="T9" fmla="*/ 2659242 h 424"/>
                  <a:gd name="T10" fmla="*/ 521795080 w 538"/>
                  <a:gd name="T11" fmla="*/ 239369855 h 424"/>
                  <a:gd name="T12" fmla="*/ 610098062 w 538"/>
                  <a:gd name="T13" fmla="*/ 433525672 h 424"/>
                  <a:gd name="T14" fmla="*/ 719809089 w 538"/>
                  <a:gd name="T15" fmla="*/ 461452328 h 4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38"/>
                  <a:gd name="T25" fmla="*/ 0 h 424"/>
                  <a:gd name="T26" fmla="*/ 538 w 538"/>
                  <a:gd name="T27" fmla="*/ 424 h 4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38" h="424">
                    <a:moveTo>
                      <a:pt x="538" y="347"/>
                    </a:moveTo>
                    <a:cubicBezTo>
                      <a:pt x="538" y="347"/>
                      <a:pt x="456" y="424"/>
                      <a:pt x="385" y="300"/>
                    </a:cubicBezTo>
                    <a:cubicBezTo>
                      <a:pt x="329" y="203"/>
                      <a:pt x="318" y="166"/>
                      <a:pt x="196" y="163"/>
                    </a:cubicBezTo>
                    <a:cubicBezTo>
                      <a:pt x="74" y="160"/>
                      <a:pt x="16" y="141"/>
                      <a:pt x="8" y="87"/>
                    </a:cubicBezTo>
                    <a:cubicBezTo>
                      <a:pt x="0" y="33"/>
                      <a:pt x="46" y="0"/>
                      <a:pt x="131" y="2"/>
                    </a:cubicBezTo>
                    <a:cubicBezTo>
                      <a:pt x="215" y="4"/>
                      <a:pt x="328" y="54"/>
                      <a:pt x="390" y="180"/>
                    </a:cubicBezTo>
                    <a:cubicBezTo>
                      <a:pt x="434" y="269"/>
                      <a:pt x="430" y="298"/>
                      <a:pt x="456" y="326"/>
                    </a:cubicBezTo>
                    <a:cubicBezTo>
                      <a:pt x="482" y="354"/>
                      <a:pt x="538" y="347"/>
                      <a:pt x="538" y="347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Freeform 1296"/>
              <p:cNvSpPr>
                <a:spLocks noChangeArrowheads="1"/>
              </p:cNvSpPr>
              <p:nvPr/>
            </p:nvSpPr>
            <p:spPr bwMode="auto">
              <a:xfrm>
                <a:off x="454025" y="2387599"/>
                <a:ext cx="1647825" cy="1027112"/>
              </a:xfrm>
              <a:custGeom>
                <a:avLst/>
                <a:gdLst>
                  <a:gd name="T0" fmla="*/ 1680137151 w 1427"/>
                  <a:gd name="T1" fmla="*/ 299666273 h 890"/>
                  <a:gd name="T2" fmla="*/ 1357444054 w 1427"/>
                  <a:gd name="T3" fmla="*/ 728522463 h 890"/>
                  <a:gd name="T4" fmla="*/ 1056086077 w 1427"/>
                  <a:gd name="T5" fmla="*/ 554049602 h 890"/>
                  <a:gd name="T6" fmla="*/ 950744216 w 1427"/>
                  <a:gd name="T7" fmla="*/ 499444174 h 890"/>
                  <a:gd name="T8" fmla="*/ 845402355 w 1427"/>
                  <a:gd name="T9" fmla="*/ 554049602 h 890"/>
                  <a:gd name="T10" fmla="*/ 544044378 w 1427"/>
                  <a:gd name="T11" fmla="*/ 728522463 h 890"/>
                  <a:gd name="T12" fmla="*/ 221351281 w 1427"/>
                  <a:gd name="T13" fmla="*/ 299666273 h 890"/>
                  <a:gd name="T14" fmla="*/ 0 w 1427"/>
                  <a:gd name="T15" fmla="*/ 0 h 890"/>
                  <a:gd name="T16" fmla="*/ 120009467 w 1427"/>
                  <a:gd name="T17" fmla="*/ 594005413 h 890"/>
                  <a:gd name="T18" fmla="*/ 616049827 w 1427"/>
                  <a:gd name="T19" fmla="*/ 1049498425 h 890"/>
                  <a:gd name="T20" fmla="*/ 950744216 w 1427"/>
                  <a:gd name="T21" fmla="*/ 1172028271 h 890"/>
                  <a:gd name="T22" fmla="*/ 1285438605 w 1427"/>
                  <a:gd name="T23" fmla="*/ 1049498425 h 890"/>
                  <a:gd name="T24" fmla="*/ 1781478966 w 1427"/>
                  <a:gd name="T25" fmla="*/ 594005413 h 890"/>
                  <a:gd name="T26" fmla="*/ 1902822166 w 1427"/>
                  <a:gd name="T27" fmla="*/ 0 h 890"/>
                  <a:gd name="T28" fmla="*/ 1680137151 w 1427"/>
                  <a:gd name="T29" fmla="*/ 299666273 h 89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27"/>
                  <a:gd name="T46" fmla="*/ 0 h 890"/>
                  <a:gd name="T47" fmla="*/ 1427 w 1427"/>
                  <a:gd name="T48" fmla="*/ 890 h 89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27" h="890">
                    <a:moveTo>
                      <a:pt x="1260" y="225"/>
                    </a:moveTo>
                    <a:cubicBezTo>
                      <a:pt x="1249" y="317"/>
                      <a:pt x="1157" y="492"/>
                      <a:pt x="1018" y="547"/>
                    </a:cubicBezTo>
                    <a:cubicBezTo>
                      <a:pt x="879" y="602"/>
                      <a:pt x="841" y="467"/>
                      <a:pt x="792" y="416"/>
                    </a:cubicBezTo>
                    <a:cubicBezTo>
                      <a:pt x="753" y="376"/>
                      <a:pt x="724" y="374"/>
                      <a:pt x="713" y="375"/>
                    </a:cubicBezTo>
                    <a:cubicBezTo>
                      <a:pt x="702" y="374"/>
                      <a:pt x="673" y="376"/>
                      <a:pt x="634" y="416"/>
                    </a:cubicBezTo>
                    <a:cubicBezTo>
                      <a:pt x="585" y="467"/>
                      <a:pt x="547" y="602"/>
                      <a:pt x="408" y="547"/>
                    </a:cubicBezTo>
                    <a:cubicBezTo>
                      <a:pt x="269" y="492"/>
                      <a:pt x="177" y="317"/>
                      <a:pt x="166" y="225"/>
                    </a:cubicBezTo>
                    <a:cubicBezTo>
                      <a:pt x="143" y="32"/>
                      <a:pt x="0" y="0"/>
                      <a:pt x="0" y="0"/>
                    </a:cubicBezTo>
                    <a:cubicBezTo>
                      <a:pt x="0" y="0"/>
                      <a:pt x="41" y="368"/>
                      <a:pt x="90" y="446"/>
                    </a:cubicBezTo>
                    <a:cubicBezTo>
                      <a:pt x="139" y="523"/>
                      <a:pt x="332" y="684"/>
                      <a:pt x="462" y="788"/>
                    </a:cubicBezTo>
                    <a:cubicBezTo>
                      <a:pt x="590" y="890"/>
                      <a:pt x="643" y="880"/>
                      <a:pt x="713" y="880"/>
                    </a:cubicBezTo>
                    <a:cubicBezTo>
                      <a:pt x="783" y="880"/>
                      <a:pt x="836" y="890"/>
                      <a:pt x="964" y="788"/>
                    </a:cubicBezTo>
                    <a:cubicBezTo>
                      <a:pt x="1095" y="684"/>
                      <a:pt x="1287" y="523"/>
                      <a:pt x="1336" y="446"/>
                    </a:cubicBezTo>
                    <a:cubicBezTo>
                      <a:pt x="1385" y="368"/>
                      <a:pt x="1427" y="0"/>
                      <a:pt x="1427" y="0"/>
                    </a:cubicBezTo>
                    <a:cubicBezTo>
                      <a:pt x="1427" y="0"/>
                      <a:pt x="1284" y="32"/>
                      <a:pt x="1260" y="225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Oval 1297"/>
              <p:cNvSpPr>
                <a:spLocks noChangeArrowheads="1"/>
              </p:cNvSpPr>
              <p:nvPr/>
            </p:nvSpPr>
            <p:spPr bwMode="auto">
              <a:xfrm>
                <a:off x="19050" y="719137"/>
                <a:ext cx="2516188" cy="909637"/>
              </a:xfrm>
              <a:prstGeom prst="ellipse">
                <a:avLst/>
              </a:pr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9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27" name="Freeform 1298"/>
              <p:cNvSpPr>
                <a:spLocks noChangeArrowheads="1"/>
              </p:cNvSpPr>
              <p:nvPr/>
            </p:nvSpPr>
            <p:spPr bwMode="auto">
              <a:xfrm>
                <a:off x="449263" y="0"/>
                <a:ext cx="1655763" cy="1004887"/>
              </a:xfrm>
              <a:custGeom>
                <a:avLst/>
                <a:gdLst>
                  <a:gd name="T0" fmla="*/ 1906487547 w 1434"/>
                  <a:gd name="T1" fmla="*/ 897865379 h 870"/>
                  <a:gd name="T2" fmla="*/ 1906487547 w 1434"/>
                  <a:gd name="T3" fmla="*/ 896531305 h 870"/>
                  <a:gd name="T4" fmla="*/ 1905155085 w 1434"/>
                  <a:gd name="T5" fmla="*/ 895197231 h 870"/>
                  <a:gd name="T6" fmla="*/ 1541188588 w 1434"/>
                  <a:gd name="T7" fmla="*/ 126741662 h 870"/>
                  <a:gd name="T8" fmla="*/ 990573493 w 1434"/>
                  <a:gd name="T9" fmla="*/ 269493368 h 870"/>
                  <a:gd name="T10" fmla="*/ 525284461 w 1434"/>
                  <a:gd name="T11" fmla="*/ 69374164 h 870"/>
                  <a:gd name="T12" fmla="*/ 5333312 w 1434"/>
                  <a:gd name="T13" fmla="*/ 896531305 h 870"/>
                  <a:gd name="T14" fmla="*/ 5333312 w 1434"/>
                  <a:gd name="T15" fmla="*/ 896531305 h 870"/>
                  <a:gd name="T16" fmla="*/ 0 w 1434"/>
                  <a:gd name="T17" fmla="*/ 921878714 h 870"/>
                  <a:gd name="T18" fmla="*/ 79992751 w 1434"/>
                  <a:gd name="T19" fmla="*/ 1016601441 h 870"/>
                  <a:gd name="T20" fmla="*/ 955909852 w 1434"/>
                  <a:gd name="T21" fmla="*/ 1160687222 h 870"/>
                  <a:gd name="T22" fmla="*/ 1831828108 w 1434"/>
                  <a:gd name="T23" fmla="*/ 1016601441 h 870"/>
                  <a:gd name="T24" fmla="*/ 1911820859 w 1434"/>
                  <a:gd name="T25" fmla="*/ 921878714 h 870"/>
                  <a:gd name="T26" fmla="*/ 1906487547 w 1434"/>
                  <a:gd name="T27" fmla="*/ 897865379 h 87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434"/>
                  <a:gd name="T43" fmla="*/ 0 h 870"/>
                  <a:gd name="T44" fmla="*/ 1434 w 1434"/>
                  <a:gd name="T45" fmla="*/ 870 h 87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434" h="870">
                    <a:moveTo>
                      <a:pt x="1430" y="673"/>
                    </a:moveTo>
                    <a:cubicBezTo>
                      <a:pt x="1430" y="672"/>
                      <a:pt x="1430" y="672"/>
                      <a:pt x="1430" y="672"/>
                    </a:cubicBezTo>
                    <a:cubicBezTo>
                      <a:pt x="1429" y="671"/>
                      <a:pt x="1429" y="671"/>
                      <a:pt x="1429" y="671"/>
                    </a:cubicBezTo>
                    <a:cubicBezTo>
                      <a:pt x="1429" y="671"/>
                      <a:pt x="1245" y="189"/>
                      <a:pt x="1156" y="95"/>
                    </a:cubicBezTo>
                    <a:cubicBezTo>
                      <a:pt x="1067" y="0"/>
                      <a:pt x="934" y="156"/>
                      <a:pt x="743" y="202"/>
                    </a:cubicBezTo>
                    <a:cubicBezTo>
                      <a:pt x="606" y="234"/>
                      <a:pt x="550" y="74"/>
                      <a:pt x="394" y="52"/>
                    </a:cubicBezTo>
                    <a:cubicBezTo>
                      <a:pt x="262" y="34"/>
                      <a:pt x="14" y="646"/>
                      <a:pt x="4" y="672"/>
                    </a:cubicBezTo>
                    <a:cubicBezTo>
                      <a:pt x="4" y="672"/>
                      <a:pt x="4" y="672"/>
                      <a:pt x="4" y="672"/>
                    </a:cubicBezTo>
                    <a:cubicBezTo>
                      <a:pt x="1" y="678"/>
                      <a:pt x="0" y="684"/>
                      <a:pt x="0" y="691"/>
                    </a:cubicBezTo>
                    <a:cubicBezTo>
                      <a:pt x="0" y="716"/>
                      <a:pt x="22" y="740"/>
                      <a:pt x="60" y="762"/>
                    </a:cubicBezTo>
                    <a:cubicBezTo>
                      <a:pt x="171" y="826"/>
                      <a:pt x="423" y="870"/>
                      <a:pt x="717" y="870"/>
                    </a:cubicBezTo>
                    <a:cubicBezTo>
                      <a:pt x="1011" y="870"/>
                      <a:pt x="1263" y="826"/>
                      <a:pt x="1374" y="762"/>
                    </a:cubicBezTo>
                    <a:cubicBezTo>
                      <a:pt x="1412" y="740"/>
                      <a:pt x="1434" y="716"/>
                      <a:pt x="1434" y="691"/>
                    </a:cubicBezTo>
                    <a:cubicBezTo>
                      <a:pt x="1434" y="685"/>
                      <a:pt x="1433" y="679"/>
                      <a:pt x="1430" y="673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Freeform 1299"/>
              <p:cNvSpPr>
                <a:spLocks noChangeArrowheads="1"/>
              </p:cNvSpPr>
              <p:nvPr/>
            </p:nvSpPr>
            <p:spPr bwMode="auto">
              <a:xfrm>
                <a:off x="433388" y="785812"/>
                <a:ext cx="25400" cy="44450"/>
              </a:xfrm>
              <a:custGeom>
                <a:avLst/>
                <a:gdLst>
                  <a:gd name="T0" fmla="*/ 17328573 w 22"/>
                  <a:gd name="T1" fmla="*/ 14288965 h 39"/>
                  <a:gd name="T2" fmla="*/ 18662073 w 22"/>
                  <a:gd name="T3" fmla="*/ 0 h 39"/>
                  <a:gd name="T4" fmla="*/ 18662073 w 22"/>
                  <a:gd name="T5" fmla="*/ 0 h 39"/>
                  <a:gd name="T6" fmla="*/ 0 w 22"/>
                  <a:gd name="T7" fmla="*/ 48064127 h 39"/>
                  <a:gd name="T8" fmla="*/ 29325455 w 22"/>
                  <a:gd name="T9" fmla="*/ 50661603 h 39"/>
                  <a:gd name="T10" fmla="*/ 17328573 w 22"/>
                  <a:gd name="T11" fmla="*/ 14288965 h 3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"/>
                  <a:gd name="T19" fmla="*/ 0 h 39"/>
                  <a:gd name="T20" fmla="*/ 22 w 22"/>
                  <a:gd name="T21" fmla="*/ 39 h 3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" h="39">
                    <a:moveTo>
                      <a:pt x="13" y="11"/>
                    </a:moveTo>
                    <a:cubicBezTo>
                      <a:pt x="13" y="7"/>
                      <a:pt x="14" y="3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22" y="39"/>
                      <a:pt x="22" y="39"/>
                      <a:pt x="22" y="39"/>
                    </a:cubicBezTo>
                    <a:cubicBezTo>
                      <a:pt x="16" y="30"/>
                      <a:pt x="13" y="20"/>
                      <a:pt x="13" y="11"/>
                    </a:cubicBez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Freeform 1300"/>
              <p:cNvSpPr>
                <a:spLocks noChangeArrowheads="1"/>
              </p:cNvSpPr>
              <p:nvPr/>
            </p:nvSpPr>
            <p:spPr bwMode="auto">
              <a:xfrm>
                <a:off x="760413" y="1246187"/>
                <a:ext cx="411163" cy="38100"/>
              </a:xfrm>
              <a:custGeom>
                <a:avLst/>
                <a:gdLst>
                  <a:gd name="T0" fmla="*/ 0 w 355"/>
                  <a:gd name="T1" fmla="*/ 1333500 h 33"/>
                  <a:gd name="T2" fmla="*/ 335359599 w 355"/>
                  <a:gd name="T3" fmla="*/ 43988182 h 33"/>
                  <a:gd name="T4" fmla="*/ 476211303 w 355"/>
                  <a:gd name="T5" fmla="*/ 0 h 33"/>
                  <a:gd name="T6" fmla="*/ 0 w 355"/>
                  <a:gd name="T7" fmla="*/ 1333500 h 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5"/>
                  <a:gd name="T13" fmla="*/ 0 h 33"/>
                  <a:gd name="T14" fmla="*/ 355 w 355"/>
                  <a:gd name="T15" fmla="*/ 33 h 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5" h="33">
                    <a:moveTo>
                      <a:pt x="0" y="1"/>
                    </a:moveTo>
                    <a:cubicBezTo>
                      <a:pt x="75" y="16"/>
                      <a:pt x="159" y="27"/>
                      <a:pt x="250" y="33"/>
                    </a:cubicBezTo>
                    <a:cubicBezTo>
                      <a:pt x="355" y="0"/>
                      <a:pt x="355" y="0"/>
                      <a:pt x="355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Freeform 1301"/>
              <p:cNvSpPr>
                <a:spLocks noChangeArrowheads="1"/>
              </p:cNvSpPr>
              <p:nvPr/>
            </p:nvSpPr>
            <p:spPr bwMode="auto">
              <a:xfrm>
                <a:off x="450850" y="776287"/>
                <a:ext cx="3175" cy="9525"/>
              </a:xfrm>
              <a:custGeom>
                <a:avLst/>
                <a:gdLst>
                  <a:gd name="T0" fmla="*/ 3360208 w 3"/>
                  <a:gd name="T1" fmla="*/ 0 h 8"/>
                  <a:gd name="T2" fmla="*/ 3360208 w 3"/>
                  <a:gd name="T3" fmla="*/ 1418034 h 8"/>
                  <a:gd name="T4" fmla="*/ 0 w 3"/>
                  <a:gd name="T5" fmla="*/ 11340703 h 8"/>
                  <a:gd name="T6" fmla="*/ 0 w 3"/>
                  <a:gd name="T7" fmla="*/ 11340703 h 8"/>
                  <a:gd name="T8" fmla="*/ 3360208 w 3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"/>
                  <a:gd name="T16" fmla="*/ 0 h 8"/>
                  <a:gd name="T17" fmla="*/ 3 w 3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" h="8">
                    <a:moveTo>
                      <a:pt x="3" y="0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5"/>
                      <a:pt x="2" y="3"/>
                      <a:pt x="3" y="0"/>
                    </a:cubicBez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1302"/>
              <p:cNvSpPr>
                <a:spLocks noChangeArrowheads="1"/>
              </p:cNvSpPr>
              <p:nvPr/>
            </p:nvSpPr>
            <p:spPr bwMode="auto">
              <a:xfrm>
                <a:off x="1355725" y="1117599"/>
                <a:ext cx="485775" cy="128587"/>
              </a:xfrm>
              <a:custGeom>
                <a:avLst/>
                <a:gdLst>
                  <a:gd name="T0" fmla="*/ 0 w 421"/>
                  <a:gd name="T1" fmla="*/ 113358625 h 112"/>
                  <a:gd name="T2" fmla="*/ 508591425 w 421"/>
                  <a:gd name="T3" fmla="*/ 147630505 h 112"/>
                  <a:gd name="T4" fmla="*/ 560516272 w 421"/>
                  <a:gd name="T5" fmla="*/ 137085223 h 112"/>
                  <a:gd name="T6" fmla="*/ 426045444 w 421"/>
                  <a:gd name="T7" fmla="*/ 0 h 112"/>
                  <a:gd name="T8" fmla="*/ 0 w 421"/>
                  <a:gd name="T9" fmla="*/ 113358625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1"/>
                  <a:gd name="T16" fmla="*/ 0 h 112"/>
                  <a:gd name="T17" fmla="*/ 421 w 421"/>
                  <a:gd name="T18" fmla="*/ 112 h 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1" h="112">
                    <a:moveTo>
                      <a:pt x="0" y="86"/>
                    </a:moveTo>
                    <a:cubicBezTo>
                      <a:pt x="382" y="112"/>
                      <a:pt x="382" y="112"/>
                      <a:pt x="382" y="112"/>
                    </a:cubicBezTo>
                    <a:cubicBezTo>
                      <a:pt x="395" y="109"/>
                      <a:pt x="408" y="107"/>
                      <a:pt x="421" y="104"/>
                    </a:cubicBezTo>
                    <a:cubicBezTo>
                      <a:pt x="320" y="0"/>
                      <a:pt x="320" y="0"/>
                      <a:pt x="320" y="0"/>
                    </a:cubicBez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1303"/>
              <p:cNvSpPr>
                <a:spLocks noChangeArrowheads="1"/>
              </p:cNvSpPr>
              <p:nvPr/>
            </p:nvSpPr>
            <p:spPr bwMode="auto">
              <a:xfrm>
                <a:off x="1065213" y="998537"/>
                <a:ext cx="180975" cy="47625"/>
              </a:xfrm>
              <a:custGeom>
                <a:avLst/>
                <a:gdLst>
                  <a:gd name="T0" fmla="*/ 209948401 w 156"/>
                  <a:gd name="T1" fmla="*/ 7715250 h 42"/>
                  <a:gd name="T2" fmla="*/ 0 w 156"/>
                  <a:gd name="T3" fmla="*/ 0 h 42"/>
                  <a:gd name="T4" fmla="*/ 14803987 w 156"/>
                  <a:gd name="T5" fmla="*/ 54003348 h 42"/>
                  <a:gd name="T6" fmla="*/ 209948401 w 156"/>
                  <a:gd name="T7" fmla="*/ 771525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42"/>
                  <a:gd name="T14" fmla="*/ 156 w 156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42">
                    <a:moveTo>
                      <a:pt x="156" y="6"/>
                    </a:moveTo>
                    <a:cubicBezTo>
                      <a:pt x="102" y="5"/>
                      <a:pt x="50" y="3"/>
                      <a:pt x="0" y="0"/>
                    </a:cubicBezTo>
                    <a:cubicBezTo>
                      <a:pt x="11" y="42"/>
                      <a:pt x="11" y="42"/>
                      <a:pt x="11" y="42"/>
                    </a:cubicBezTo>
                    <a:lnTo>
                      <a:pt x="156" y="6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Freeform 1304"/>
              <p:cNvSpPr>
                <a:spLocks noChangeArrowheads="1"/>
              </p:cNvSpPr>
              <p:nvPr/>
            </p:nvSpPr>
            <p:spPr bwMode="auto">
              <a:xfrm>
                <a:off x="1077913" y="1004887"/>
                <a:ext cx="244475" cy="60325"/>
              </a:xfrm>
              <a:custGeom>
                <a:avLst/>
                <a:gdLst>
                  <a:gd name="T0" fmla="*/ 193314841 w 211"/>
                  <a:gd name="T1" fmla="*/ 69982800 h 52"/>
                  <a:gd name="T2" fmla="*/ 283260785 w 211"/>
                  <a:gd name="T3" fmla="*/ 0 h 52"/>
                  <a:gd name="T4" fmla="*/ 230904900 w 211"/>
                  <a:gd name="T5" fmla="*/ 0 h 52"/>
                  <a:gd name="T6" fmla="*/ 194657715 w 211"/>
                  <a:gd name="T7" fmla="*/ 0 h 52"/>
                  <a:gd name="T8" fmla="*/ 0 w 211"/>
                  <a:gd name="T9" fmla="*/ 48449096 h 52"/>
                  <a:gd name="T10" fmla="*/ 193314841 w 211"/>
                  <a:gd name="T11" fmla="*/ 69982800 h 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1"/>
                  <a:gd name="T19" fmla="*/ 0 h 52"/>
                  <a:gd name="T20" fmla="*/ 211 w 211"/>
                  <a:gd name="T21" fmla="*/ 52 h 5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1" h="52">
                    <a:moveTo>
                      <a:pt x="144" y="52"/>
                    </a:moveTo>
                    <a:cubicBezTo>
                      <a:pt x="211" y="0"/>
                      <a:pt x="211" y="0"/>
                      <a:pt x="211" y="0"/>
                    </a:cubicBezTo>
                    <a:cubicBezTo>
                      <a:pt x="198" y="0"/>
                      <a:pt x="185" y="0"/>
                      <a:pt x="172" y="0"/>
                    </a:cubicBezTo>
                    <a:cubicBezTo>
                      <a:pt x="163" y="0"/>
                      <a:pt x="154" y="0"/>
                      <a:pt x="145" y="0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144" y="52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1305"/>
              <p:cNvSpPr>
                <a:spLocks noChangeArrowheads="1"/>
              </p:cNvSpPr>
              <p:nvPr/>
            </p:nvSpPr>
            <p:spPr bwMode="auto">
              <a:xfrm>
                <a:off x="633413" y="927099"/>
                <a:ext cx="1588" cy="1587"/>
              </a:xfrm>
              <a:custGeom>
                <a:avLst/>
                <a:gdLst>
                  <a:gd name="T0" fmla="*/ 1260872 w 2"/>
                  <a:gd name="T1" fmla="*/ 2518569 h 1"/>
                  <a:gd name="T2" fmla="*/ 0 w 2"/>
                  <a:gd name="T3" fmla="*/ 0 h 1"/>
                  <a:gd name="T4" fmla="*/ 1260872 w 2"/>
                  <a:gd name="T5" fmla="*/ 2518569 h 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"/>
                  <a:gd name="T11" fmla="*/ 2 w 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">
                    <a:moveTo>
                      <a:pt x="2" y="1"/>
                    </a:moveTo>
                    <a:cubicBezTo>
                      <a:pt x="1" y="1"/>
                      <a:pt x="1" y="0"/>
                      <a:pt x="0" y="0"/>
                    </a:cubicBezTo>
                    <a:cubicBezTo>
                      <a:pt x="2" y="1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1306"/>
              <p:cNvSpPr>
                <a:spLocks noChangeArrowheads="1"/>
              </p:cNvSpPr>
              <p:nvPr/>
            </p:nvSpPr>
            <p:spPr bwMode="auto">
              <a:xfrm>
                <a:off x="423863" y="828674"/>
                <a:ext cx="158750" cy="80962"/>
              </a:xfrm>
              <a:custGeom>
                <a:avLst/>
                <a:gdLst>
                  <a:gd name="T0" fmla="*/ 110102974 w 137"/>
                  <a:gd name="T1" fmla="*/ 58513860 h 71"/>
                  <a:gd name="T2" fmla="*/ 41624945 w 137"/>
                  <a:gd name="T3" fmla="*/ 2601047 h 71"/>
                  <a:gd name="T4" fmla="*/ 12084699 w 137"/>
                  <a:gd name="T5" fmla="*/ 0 h 71"/>
                  <a:gd name="T6" fmla="*/ 0 w 137"/>
                  <a:gd name="T7" fmla="*/ 29906907 h 71"/>
                  <a:gd name="T8" fmla="*/ 183953011 w 137"/>
                  <a:gd name="T9" fmla="*/ 92321767 h 71"/>
                  <a:gd name="T10" fmla="*/ 110102974 w 137"/>
                  <a:gd name="T11" fmla="*/ 58513860 h 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7"/>
                  <a:gd name="T19" fmla="*/ 0 h 71"/>
                  <a:gd name="T20" fmla="*/ 137 w 137"/>
                  <a:gd name="T21" fmla="*/ 71 h 7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7" h="71">
                    <a:moveTo>
                      <a:pt x="82" y="45"/>
                    </a:moveTo>
                    <a:cubicBezTo>
                      <a:pt x="58" y="32"/>
                      <a:pt x="41" y="17"/>
                      <a:pt x="31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37" y="71"/>
                      <a:pt x="137" y="71"/>
                      <a:pt x="137" y="71"/>
                    </a:cubicBezTo>
                    <a:cubicBezTo>
                      <a:pt x="116" y="63"/>
                      <a:pt x="98" y="54"/>
                      <a:pt x="82" y="45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Freeform 1307"/>
              <p:cNvSpPr>
                <a:spLocks noChangeArrowheads="1"/>
              </p:cNvSpPr>
              <p:nvPr/>
            </p:nvSpPr>
            <p:spPr bwMode="auto">
              <a:xfrm>
                <a:off x="361950" y="855662"/>
                <a:ext cx="273050" cy="247650"/>
              </a:xfrm>
              <a:custGeom>
                <a:avLst/>
                <a:gdLst>
                  <a:gd name="T0" fmla="*/ 313239258 w 236"/>
                  <a:gd name="T1" fmla="*/ 83587058 h 215"/>
                  <a:gd name="T2" fmla="*/ 254339133 w 236"/>
                  <a:gd name="T3" fmla="*/ 63685213 h 215"/>
                  <a:gd name="T4" fmla="*/ 70947877 w 236"/>
                  <a:gd name="T5" fmla="*/ 0 h 215"/>
                  <a:gd name="T6" fmla="*/ 6693196 w 236"/>
                  <a:gd name="T7" fmla="*/ 164521382 h 215"/>
                  <a:gd name="T8" fmla="*/ 5354557 w 236"/>
                  <a:gd name="T9" fmla="*/ 169828003 h 215"/>
                  <a:gd name="T10" fmla="*/ 4015918 w 236"/>
                  <a:gd name="T11" fmla="*/ 172481890 h 215"/>
                  <a:gd name="T12" fmla="*/ 4015918 w 236"/>
                  <a:gd name="T13" fmla="*/ 172481890 h 215"/>
                  <a:gd name="T14" fmla="*/ 0 w 236"/>
                  <a:gd name="T15" fmla="*/ 199017299 h 215"/>
                  <a:gd name="T16" fmla="*/ 42836454 w 236"/>
                  <a:gd name="T17" fmla="*/ 285258244 h 215"/>
                  <a:gd name="T18" fmla="*/ 315916536 w 236"/>
                  <a:gd name="T19" fmla="*/ 84914002 h 215"/>
                  <a:gd name="T20" fmla="*/ 313239258 w 236"/>
                  <a:gd name="T21" fmla="*/ 83587058 h 21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36"/>
                  <a:gd name="T34" fmla="*/ 0 h 215"/>
                  <a:gd name="T35" fmla="*/ 236 w 236"/>
                  <a:gd name="T36" fmla="*/ 215 h 21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36" h="215">
                    <a:moveTo>
                      <a:pt x="234" y="63"/>
                    </a:moveTo>
                    <a:cubicBezTo>
                      <a:pt x="218" y="58"/>
                      <a:pt x="204" y="53"/>
                      <a:pt x="190" y="48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" y="124"/>
                      <a:pt x="5" y="124"/>
                      <a:pt x="5" y="124"/>
                    </a:cubicBezTo>
                    <a:cubicBezTo>
                      <a:pt x="4" y="128"/>
                      <a:pt x="4" y="128"/>
                      <a:pt x="4" y="128"/>
                    </a:cubicBezTo>
                    <a:cubicBezTo>
                      <a:pt x="3" y="130"/>
                      <a:pt x="3" y="130"/>
                      <a:pt x="3" y="130"/>
                    </a:cubicBezTo>
                    <a:cubicBezTo>
                      <a:pt x="3" y="130"/>
                      <a:pt x="3" y="130"/>
                      <a:pt x="3" y="130"/>
                    </a:cubicBezTo>
                    <a:cubicBezTo>
                      <a:pt x="1" y="137"/>
                      <a:pt x="0" y="144"/>
                      <a:pt x="0" y="150"/>
                    </a:cubicBezTo>
                    <a:cubicBezTo>
                      <a:pt x="0" y="173"/>
                      <a:pt x="11" y="194"/>
                      <a:pt x="32" y="215"/>
                    </a:cubicBezTo>
                    <a:cubicBezTo>
                      <a:pt x="236" y="64"/>
                      <a:pt x="236" y="64"/>
                      <a:pt x="236" y="64"/>
                    </a:cubicBezTo>
                    <a:lnTo>
                      <a:pt x="234" y="63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1308"/>
              <p:cNvSpPr>
                <a:spLocks noChangeArrowheads="1"/>
              </p:cNvSpPr>
              <p:nvPr/>
            </p:nvSpPr>
            <p:spPr bwMode="auto">
              <a:xfrm>
                <a:off x="1355725" y="1216024"/>
                <a:ext cx="441325" cy="58737"/>
              </a:xfrm>
              <a:custGeom>
                <a:avLst/>
                <a:gdLst>
                  <a:gd name="T0" fmla="*/ 289633973 w 382"/>
                  <a:gd name="T1" fmla="*/ 67647748 h 51"/>
                  <a:gd name="T2" fmla="*/ 509863235 w 382"/>
                  <a:gd name="T3" fmla="*/ 34486681 h 51"/>
                  <a:gd name="T4" fmla="*/ 0 w 382"/>
                  <a:gd name="T5" fmla="*/ 0 h 51"/>
                  <a:gd name="T6" fmla="*/ 289633973 w 382"/>
                  <a:gd name="T7" fmla="*/ 67647748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2"/>
                  <a:gd name="T13" fmla="*/ 0 h 51"/>
                  <a:gd name="T14" fmla="*/ 382 w 382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2" h="51">
                    <a:moveTo>
                      <a:pt x="217" y="51"/>
                    </a:moveTo>
                    <a:cubicBezTo>
                      <a:pt x="276" y="45"/>
                      <a:pt x="331" y="36"/>
                      <a:pt x="382" y="26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217" y="51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1309"/>
              <p:cNvSpPr>
                <a:spLocks noChangeArrowheads="1"/>
              </p:cNvSpPr>
              <p:nvPr/>
            </p:nvSpPr>
            <p:spPr bwMode="auto">
              <a:xfrm>
                <a:off x="1077913" y="1046162"/>
                <a:ext cx="166688" cy="38100"/>
              </a:xfrm>
              <a:custGeom>
                <a:avLst/>
                <a:gdLst>
                  <a:gd name="T0" fmla="*/ 264617994 w 105"/>
                  <a:gd name="T1" fmla="*/ 30241875 h 24"/>
                  <a:gd name="T2" fmla="*/ 0 w 105"/>
                  <a:gd name="T3" fmla="*/ 0 h 24"/>
                  <a:gd name="T4" fmla="*/ 206653432 w 105"/>
                  <a:gd name="T5" fmla="*/ 60483750 h 24"/>
                  <a:gd name="T6" fmla="*/ 264617994 w 105"/>
                  <a:gd name="T7" fmla="*/ 30241875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5"/>
                  <a:gd name="T13" fmla="*/ 0 h 24"/>
                  <a:gd name="T14" fmla="*/ 105 w 105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5" h="24">
                    <a:moveTo>
                      <a:pt x="105" y="12"/>
                    </a:moveTo>
                    <a:lnTo>
                      <a:pt x="0" y="0"/>
                    </a:lnTo>
                    <a:lnTo>
                      <a:pt x="82" y="24"/>
                    </a:lnTo>
                    <a:lnTo>
                      <a:pt x="105" y="12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1310"/>
              <p:cNvSpPr>
                <a:spLocks noChangeArrowheads="1"/>
              </p:cNvSpPr>
              <p:nvPr/>
            </p:nvSpPr>
            <p:spPr bwMode="auto">
              <a:xfrm>
                <a:off x="1171575" y="1084262"/>
                <a:ext cx="184150" cy="161925"/>
              </a:xfrm>
              <a:custGeom>
                <a:avLst/>
                <a:gdLst>
                  <a:gd name="T0" fmla="*/ 0 w 116"/>
                  <a:gd name="T1" fmla="*/ 257055938 h 102"/>
                  <a:gd name="T2" fmla="*/ 292338125 w 116"/>
                  <a:gd name="T3" fmla="*/ 209173763 h 102"/>
                  <a:gd name="T4" fmla="*/ 57964388 w 116"/>
                  <a:gd name="T5" fmla="*/ 0 h 102"/>
                  <a:gd name="T6" fmla="*/ 0 w 116"/>
                  <a:gd name="T7" fmla="*/ 257055938 h 10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6"/>
                  <a:gd name="T13" fmla="*/ 0 h 102"/>
                  <a:gd name="T14" fmla="*/ 116 w 116"/>
                  <a:gd name="T15" fmla="*/ 102 h 10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6" h="102">
                    <a:moveTo>
                      <a:pt x="0" y="102"/>
                    </a:moveTo>
                    <a:lnTo>
                      <a:pt x="116" y="83"/>
                    </a:lnTo>
                    <a:lnTo>
                      <a:pt x="23" y="0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1311"/>
              <p:cNvSpPr>
                <a:spLocks noChangeArrowheads="1"/>
              </p:cNvSpPr>
              <p:nvPr/>
            </p:nvSpPr>
            <p:spPr bwMode="auto">
              <a:xfrm>
                <a:off x="1208088" y="1065212"/>
                <a:ext cx="147638" cy="150812"/>
              </a:xfrm>
              <a:custGeom>
                <a:avLst/>
                <a:gdLst>
                  <a:gd name="T0" fmla="*/ 0 w 93"/>
                  <a:gd name="T1" fmla="*/ 30241775 h 95"/>
                  <a:gd name="T2" fmla="*/ 234376119 w 93"/>
                  <a:gd name="T3" fmla="*/ 239413256 h 95"/>
                  <a:gd name="T4" fmla="*/ 57964584 w 93"/>
                  <a:gd name="T5" fmla="*/ 0 h 95"/>
                  <a:gd name="T6" fmla="*/ 0 w 93"/>
                  <a:gd name="T7" fmla="*/ 30241775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3"/>
                  <a:gd name="T13" fmla="*/ 0 h 95"/>
                  <a:gd name="T14" fmla="*/ 93 w 93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3" h="95">
                    <a:moveTo>
                      <a:pt x="0" y="12"/>
                    </a:moveTo>
                    <a:lnTo>
                      <a:pt x="93" y="95"/>
                    </a:lnTo>
                    <a:lnTo>
                      <a:pt x="23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Rectangle 1312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58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9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42" name="Freeform 1313"/>
              <p:cNvSpPr>
                <a:spLocks noChangeArrowheads="1"/>
              </p:cNvSpPr>
              <p:nvPr/>
            </p:nvSpPr>
            <p:spPr bwMode="auto">
              <a:xfrm>
                <a:off x="661988" y="1065212"/>
                <a:ext cx="509588" cy="182562"/>
              </a:xfrm>
              <a:custGeom>
                <a:avLst/>
                <a:gdLst>
                  <a:gd name="T0" fmla="*/ 204292789 w 441"/>
                  <a:gd name="T1" fmla="*/ 0 h 158"/>
                  <a:gd name="T2" fmla="*/ 0 w 441"/>
                  <a:gd name="T3" fmla="*/ 184240877 h 158"/>
                  <a:gd name="T4" fmla="*/ 114830629 w 441"/>
                  <a:gd name="T5" fmla="*/ 210942303 h 158"/>
                  <a:gd name="T6" fmla="*/ 588843378 w 441"/>
                  <a:gd name="T7" fmla="*/ 209607751 h 158"/>
                  <a:gd name="T8" fmla="*/ 204292789 w 441"/>
                  <a:gd name="T9" fmla="*/ 0 h 1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1"/>
                  <a:gd name="T16" fmla="*/ 0 h 158"/>
                  <a:gd name="T17" fmla="*/ 441 w 441"/>
                  <a:gd name="T18" fmla="*/ 158 h 15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1" h="158">
                    <a:moveTo>
                      <a:pt x="153" y="0"/>
                    </a:moveTo>
                    <a:cubicBezTo>
                      <a:pt x="0" y="138"/>
                      <a:pt x="0" y="138"/>
                      <a:pt x="0" y="138"/>
                    </a:cubicBezTo>
                    <a:cubicBezTo>
                      <a:pt x="27" y="145"/>
                      <a:pt x="56" y="152"/>
                      <a:pt x="86" y="158"/>
                    </a:cubicBezTo>
                    <a:cubicBezTo>
                      <a:pt x="441" y="157"/>
                      <a:pt x="441" y="157"/>
                      <a:pt x="441" y="157"/>
                    </a:cubicBezTo>
                    <a:lnTo>
                      <a:pt x="153" y="0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Freeform 1314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307975" cy="136525"/>
              </a:xfrm>
              <a:custGeom>
                <a:avLst/>
                <a:gdLst>
                  <a:gd name="T0" fmla="*/ 234164812 w 267"/>
                  <a:gd name="T1" fmla="*/ 157958268 h 118"/>
                  <a:gd name="T2" fmla="*/ 355238205 w 267"/>
                  <a:gd name="T3" fmla="*/ 68270599 h 118"/>
                  <a:gd name="T4" fmla="*/ 1329944 w 267"/>
                  <a:gd name="T5" fmla="*/ 0 h 118"/>
                  <a:gd name="T6" fmla="*/ 0 w 267"/>
                  <a:gd name="T7" fmla="*/ 0 h 118"/>
                  <a:gd name="T8" fmla="*/ 234164812 w 267"/>
                  <a:gd name="T9" fmla="*/ 157958268 h 1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7"/>
                  <a:gd name="T16" fmla="*/ 0 h 118"/>
                  <a:gd name="T17" fmla="*/ 267 w 267"/>
                  <a:gd name="T18" fmla="*/ 118 h 1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7" h="118">
                    <a:moveTo>
                      <a:pt x="176" y="118"/>
                    </a:moveTo>
                    <a:cubicBezTo>
                      <a:pt x="267" y="51"/>
                      <a:pt x="267" y="51"/>
                      <a:pt x="267" y="51"/>
                    </a:cubicBezTo>
                    <a:cubicBezTo>
                      <a:pt x="163" y="39"/>
                      <a:pt x="72" y="22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76" y="118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Freeform 1315"/>
              <p:cNvSpPr>
                <a:spLocks noChangeArrowheads="1"/>
              </p:cNvSpPr>
              <p:nvPr/>
            </p:nvSpPr>
            <p:spPr bwMode="auto">
              <a:xfrm>
                <a:off x="838200" y="987424"/>
                <a:ext cx="239713" cy="77787"/>
              </a:xfrm>
              <a:custGeom>
                <a:avLst/>
                <a:gdLst>
                  <a:gd name="T0" fmla="*/ 276261165 w 208"/>
                  <a:gd name="T1" fmla="*/ 68743971 h 67"/>
                  <a:gd name="T2" fmla="*/ 261651349 w 208"/>
                  <a:gd name="T3" fmla="*/ 12131289 h 67"/>
                  <a:gd name="T4" fmla="*/ 120863756 w 208"/>
                  <a:gd name="T5" fmla="*/ 0 h 67"/>
                  <a:gd name="T6" fmla="*/ 0 w 208"/>
                  <a:gd name="T7" fmla="*/ 90310707 h 67"/>
                  <a:gd name="T8" fmla="*/ 276261165 w 208"/>
                  <a:gd name="T9" fmla="*/ 68743971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8"/>
                  <a:gd name="T16" fmla="*/ 0 h 67"/>
                  <a:gd name="T17" fmla="*/ 208 w 208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8" h="67">
                    <a:moveTo>
                      <a:pt x="208" y="51"/>
                    </a:moveTo>
                    <a:cubicBezTo>
                      <a:pt x="197" y="9"/>
                      <a:pt x="197" y="9"/>
                      <a:pt x="197" y="9"/>
                    </a:cubicBezTo>
                    <a:cubicBezTo>
                      <a:pt x="160" y="7"/>
                      <a:pt x="125" y="4"/>
                      <a:pt x="91" y="0"/>
                    </a:cubicBezTo>
                    <a:cubicBezTo>
                      <a:pt x="0" y="67"/>
                      <a:pt x="0" y="67"/>
                      <a:pt x="0" y="67"/>
                    </a:cubicBezTo>
                    <a:lnTo>
                      <a:pt x="208" y="51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1316"/>
              <p:cNvSpPr>
                <a:spLocks noChangeArrowheads="1"/>
              </p:cNvSpPr>
              <p:nvPr/>
            </p:nvSpPr>
            <p:spPr bwMode="auto">
              <a:xfrm>
                <a:off x="838200" y="1046162"/>
                <a:ext cx="369888" cy="38100"/>
              </a:xfrm>
              <a:custGeom>
                <a:avLst/>
                <a:gdLst>
                  <a:gd name="T0" fmla="*/ 380544902 w 233"/>
                  <a:gd name="T1" fmla="*/ 0 h 24"/>
                  <a:gd name="T2" fmla="*/ 0 w 233"/>
                  <a:gd name="T3" fmla="*/ 30241875 h 24"/>
                  <a:gd name="T4" fmla="*/ 587197994 w 233"/>
                  <a:gd name="T5" fmla="*/ 60483750 h 24"/>
                  <a:gd name="T6" fmla="*/ 380544902 w 233"/>
                  <a:gd name="T7" fmla="*/ 0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24"/>
                  <a:gd name="T14" fmla="*/ 233 w 233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24">
                    <a:moveTo>
                      <a:pt x="151" y="0"/>
                    </a:moveTo>
                    <a:lnTo>
                      <a:pt x="0" y="12"/>
                    </a:lnTo>
                    <a:lnTo>
                      <a:pt x="233" y="24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Freeform 1317"/>
              <p:cNvSpPr>
                <a:spLocks noChangeArrowheads="1"/>
              </p:cNvSpPr>
              <p:nvPr/>
            </p:nvSpPr>
            <p:spPr bwMode="auto">
              <a:xfrm>
                <a:off x="838200" y="1065212"/>
                <a:ext cx="369888" cy="180975"/>
              </a:xfrm>
              <a:custGeom>
                <a:avLst/>
                <a:gdLst>
                  <a:gd name="T0" fmla="*/ 0 w 233"/>
                  <a:gd name="T1" fmla="*/ 0 h 114"/>
                  <a:gd name="T2" fmla="*/ 529233528 w 233"/>
                  <a:gd name="T3" fmla="*/ 287297813 h 114"/>
                  <a:gd name="T4" fmla="*/ 587197994 w 233"/>
                  <a:gd name="T5" fmla="*/ 30241875 h 114"/>
                  <a:gd name="T6" fmla="*/ 0 w 233"/>
                  <a:gd name="T7" fmla="*/ 0 h 11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114"/>
                  <a:gd name="T14" fmla="*/ 233 w 233"/>
                  <a:gd name="T15" fmla="*/ 114 h 11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114">
                    <a:moveTo>
                      <a:pt x="0" y="0"/>
                    </a:moveTo>
                    <a:lnTo>
                      <a:pt x="210" y="114"/>
                    </a:lnTo>
                    <a:lnTo>
                      <a:pt x="233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Freeform 1318"/>
              <p:cNvSpPr>
                <a:spLocks noChangeArrowheads="1"/>
              </p:cNvSpPr>
              <p:nvPr/>
            </p:nvSpPr>
            <p:spPr bwMode="auto">
              <a:xfrm>
                <a:off x="642938" y="1065212"/>
                <a:ext cx="195263" cy="158750"/>
              </a:xfrm>
              <a:custGeom>
                <a:avLst/>
                <a:gdLst>
                  <a:gd name="T0" fmla="*/ 33373797 w 169"/>
                  <a:gd name="T1" fmla="*/ 59549656 h 138"/>
                  <a:gd name="T2" fmla="*/ 0 w 169"/>
                  <a:gd name="T3" fmla="*/ 177327201 h 138"/>
                  <a:gd name="T4" fmla="*/ 21358768 w 169"/>
                  <a:gd name="T5" fmla="*/ 182620018 h 138"/>
                  <a:gd name="T6" fmla="*/ 225607332 w 169"/>
                  <a:gd name="T7" fmla="*/ 0 h 138"/>
                  <a:gd name="T8" fmla="*/ 33373797 w 169"/>
                  <a:gd name="T9" fmla="*/ 59549656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138"/>
                  <a:gd name="T17" fmla="*/ 169 w 169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138">
                    <a:moveTo>
                      <a:pt x="25" y="45"/>
                    </a:moveTo>
                    <a:cubicBezTo>
                      <a:pt x="0" y="134"/>
                      <a:pt x="0" y="134"/>
                      <a:pt x="0" y="134"/>
                    </a:cubicBezTo>
                    <a:cubicBezTo>
                      <a:pt x="5" y="135"/>
                      <a:pt x="11" y="136"/>
                      <a:pt x="16" y="138"/>
                    </a:cubicBezTo>
                    <a:cubicBezTo>
                      <a:pt x="169" y="0"/>
                      <a:pt x="169" y="0"/>
                      <a:pt x="169" y="0"/>
                    </a:cubicBezTo>
                    <a:lnTo>
                      <a:pt x="25" y="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Freeform 1319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203200" cy="188912"/>
              </a:xfrm>
              <a:custGeom>
                <a:avLst/>
                <a:gdLst>
                  <a:gd name="T0" fmla="*/ 57964388 w 128"/>
                  <a:gd name="T1" fmla="*/ 299897006 h 119"/>
                  <a:gd name="T2" fmla="*/ 322580000 w 128"/>
                  <a:gd name="T3" fmla="*/ 216732864 h 119"/>
                  <a:gd name="T4" fmla="*/ 0 w 128"/>
                  <a:gd name="T5" fmla="*/ 0 h 119"/>
                  <a:gd name="T6" fmla="*/ 57964388 w 128"/>
                  <a:gd name="T7" fmla="*/ 299897006 h 1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8"/>
                  <a:gd name="T13" fmla="*/ 0 h 119"/>
                  <a:gd name="T14" fmla="*/ 128 w 128"/>
                  <a:gd name="T15" fmla="*/ 119 h 1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8" h="119">
                    <a:moveTo>
                      <a:pt x="23" y="119"/>
                    </a:moveTo>
                    <a:lnTo>
                      <a:pt x="128" y="86"/>
                    </a:lnTo>
                    <a:lnTo>
                      <a:pt x="0" y="0"/>
                    </a:lnTo>
                    <a:lnTo>
                      <a:pt x="23" y="119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Freeform 1320"/>
              <p:cNvSpPr>
                <a:spLocks noChangeArrowheads="1"/>
              </p:cNvSpPr>
              <p:nvPr/>
            </p:nvSpPr>
            <p:spPr bwMode="auto">
              <a:xfrm>
                <a:off x="463550" y="1117599"/>
                <a:ext cx="207963" cy="103187"/>
              </a:xfrm>
              <a:custGeom>
                <a:avLst/>
                <a:gdLst>
                  <a:gd name="T0" fmla="*/ 0 w 181"/>
                  <a:gd name="T1" fmla="*/ 37637748 h 89"/>
                  <a:gd name="T2" fmla="*/ 205939669 w 181"/>
                  <a:gd name="T3" fmla="*/ 119635472 h 89"/>
                  <a:gd name="T4" fmla="*/ 238942593 w 181"/>
                  <a:gd name="T5" fmla="*/ 0 h 89"/>
                  <a:gd name="T6" fmla="*/ 0 w 181"/>
                  <a:gd name="T7" fmla="*/ 37637748 h 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1"/>
                  <a:gd name="T13" fmla="*/ 0 h 89"/>
                  <a:gd name="T14" fmla="*/ 181 w 181"/>
                  <a:gd name="T15" fmla="*/ 89 h 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1" h="89">
                    <a:moveTo>
                      <a:pt x="0" y="28"/>
                    </a:moveTo>
                    <a:cubicBezTo>
                      <a:pt x="41" y="51"/>
                      <a:pt x="93" y="71"/>
                      <a:pt x="156" y="89"/>
                    </a:cubicBezTo>
                    <a:cubicBezTo>
                      <a:pt x="181" y="0"/>
                      <a:pt x="181" y="0"/>
                      <a:pt x="181" y="0"/>
                    </a:cubicBez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Freeform 1321"/>
              <p:cNvSpPr>
                <a:spLocks noChangeArrowheads="1"/>
              </p:cNvSpPr>
              <p:nvPr/>
            </p:nvSpPr>
            <p:spPr bwMode="auto">
              <a:xfrm>
                <a:off x="400050" y="928687"/>
                <a:ext cx="271463" cy="220662"/>
              </a:xfrm>
              <a:custGeom>
                <a:avLst/>
                <a:gdLst>
                  <a:gd name="T0" fmla="*/ 269914741 w 236"/>
                  <a:gd name="T1" fmla="*/ 0 h 191"/>
                  <a:gd name="T2" fmla="*/ 0 w 236"/>
                  <a:gd name="T3" fmla="*/ 201541811 h 191"/>
                  <a:gd name="T4" fmla="*/ 72771639 w 236"/>
                  <a:gd name="T5" fmla="*/ 254930462 h 191"/>
                  <a:gd name="T6" fmla="*/ 312254917 w 236"/>
                  <a:gd name="T7" fmla="*/ 217558868 h 191"/>
                  <a:gd name="T8" fmla="*/ 269914741 w 236"/>
                  <a:gd name="T9" fmla="*/ 0 h 1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6"/>
                  <a:gd name="T16" fmla="*/ 0 h 191"/>
                  <a:gd name="T17" fmla="*/ 236 w 236"/>
                  <a:gd name="T18" fmla="*/ 191 h 19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6" h="191">
                    <a:moveTo>
                      <a:pt x="204" y="0"/>
                    </a:moveTo>
                    <a:cubicBezTo>
                      <a:pt x="0" y="151"/>
                      <a:pt x="0" y="151"/>
                      <a:pt x="0" y="151"/>
                    </a:cubicBezTo>
                    <a:cubicBezTo>
                      <a:pt x="14" y="165"/>
                      <a:pt x="33" y="178"/>
                      <a:pt x="55" y="191"/>
                    </a:cubicBezTo>
                    <a:cubicBezTo>
                      <a:pt x="236" y="163"/>
                      <a:pt x="236" y="163"/>
                      <a:pt x="236" y="163"/>
                    </a:cubicBezTo>
                    <a:lnTo>
                      <a:pt x="204" y="0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1322"/>
              <p:cNvSpPr>
                <a:spLocks noChangeArrowheads="1"/>
              </p:cNvSpPr>
              <p:nvPr/>
            </p:nvSpPr>
            <p:spPr bwMode="auto">
              <a:xfrm>
                <a:off x="1049338" y="1246187"/>
                <a:ext cx="220663" cy="47625"/>
              </a:xfrm>
              <a:custGeom>
                <a:avLst/>
                <a:gdLst>
                  <a:gd name="T0" fmla="*/ 0 w 191"/>
                  <a:gd name="T1" fmla="*/ 44525890 h 41"/>
                  <a:gd name="T2" fmla="*/ 254932773 w 191"/>
                  <a:gd name="T3" fmla="*/ 55320503 h 41"/>
                  <a:gd name="T4" fmla="*/ 140146422 w 191"/>
                  <a:gd name="T5" fmla="*/ 0 h 41"/>
                  <a:gd name="T6" fmla="*/ 0 w 191"/>
                  <a:gd name="T7" fmla="*/ 4452589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1"/>
                  <a:gd name="T13" fmla="*/ 0 h 41"/>
                  <a:gd name="T14" fmla="*/ 191 w 191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1" h="41">
                    <a:moveTo>
                      <a:pt x="0" y="33"/>
                    </a:moveTo>
                    <a:cubicBezTo>
                      <a:pt x="61" y="38"/>
                      <a:pt x="125" y="40"/>
                      <a:pt x="191" y="41"/>
                    </a:cubicBezTo>
                    <a:cubicBezTo>
                      <a:pt x="105" y="0"/>
                      <a:pt x="105" y="0"/>
                      <a:pt x="105" y="0"/>
                    </a:cubicBez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1323"/>
              <p:cNvSpPr>
                <a:spLocks noChangeArrowheads="1"/>
              </p:cNvSpPr>
              <p:nvPr/>
            </p:nvSpPr>
            <p:spPr bwMode="auto">
              <a:xfrm>
                <a:off x="1171575" y="1216024"/>
                <a:ext cx="184150" cy="77787"/>
              </a:xfrm>
              <a:custGeom>
                <a:avLst/>
                <a:gdLst>
                  <a:gd name="T0" fmla="*/ 0 w 160"/>
                  <a:gd name="T1" fmla="*/ 35045946 h 67"/>
                  <a:gd name="T2" fmla="*/ 113920945 w 160"/>
                  <a:gd name="T3" fmla="*/ 90310707 h 67"/>
                  <a:gd name="T4" fmla="*/ 121868168 w 160"/>
                  <a:gd name="T5" fmla="*/ 90310707 h 67"/>
                  <a:gd name="T6" fmla="*/ 180153945 w 160"/>
                  <a:gd name="T7" fmla="*/ 88962786 h 67"/>
                  <a:gd name="T8" fmla="*/ 211945141 w 160"/>
                  <a:gd name="T9" fmla="*/ 0 h 67"/>
                  <a:gd name="T10" fmla="*/ 0 w 160"/>
                  <a:gd name="T11" fmla="*/ 35045946 h 6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0"/>
                  <a:gd name="T19" fmla="*/ 0 h 67"/>
                  <a:gd name="T20" fmla="*/ 160 w 160"/>
                  <a:gd name="T21" fmla="*/ 67 h 6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0" h="67">
                    <a:moveTo>
                      <a:pt x="0" y="26"/>
                    </a:moveTo>
                    <a:cubicBezTo>
                      <a:pt x="86" y="67"/>
                      <a:pt x="86" y="67"/>
                      <a:pt x="86" y="67"/>
                    </a:cubicBezTo>
                    <a:cubicBezTo>
                      <a:pt x="88" y="67"/>
                      <a:pt x="90" y="67"/>
                      <a:pt x="92" y="67"/>
                    </a:cubicBezTo>
                    <a:cubicBezTo>
                      <a:pt x="107" y="67"/>
                      <a:pt x="121" y="66"/>
                      <a:pt x="136" y="66"/>
                    </a:cubicBezTo>
                    <a:cubicBezTo>
                      <a:pt x="160" y="0"/>
                      <a:pt x="160" y="0"/>
                      <a:pt x="160" y="0"/>
                    </a:cubicBez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1324"/>
              <p:cNvSpPr>
                <a:spLocks noChangeArrowheads="1"/>
              </p:cNvSpPr>
              <p:nvPr/>
            </p:nvSpPr>
            <p:spPr bwMode="auto">
              <a:xfrm>
                <a:off x="1328738" y="1216024"/>
                <a:ext cx="277813" cy="76200"/>
              </a:xfrm>
              <a:custGeom>
                <a:avLst/>
                <a:gdLst>
                  <a:gd name="T0" fmla="*/ 0 w 241"/>
                  <a:gd name="T1" fmla="*/ 87976364 h 66"/>
                  <a:gd name="T2" fmla="*/ 320249224 w 241"/>
                  <a:gd name="T3" fmla="*/ 67981945 h 66"/>
                  <a:gd name="T4" fmla="*/ 31892010 w 241"/>
                  <a:gd name="T5" fmla="*/ 0 h 66"/>
                  <a:gd name="T6" fmla="*/ 0 w 241"/>
                  <a:gd name="T7" fmla="*/ 87976364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1"/>
                  <a:gd name="T13" fmla="*/ 0 h 66"/>
                  <a:gd name="T14" fmla="*/ 241 w 24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1" h="66">
                    <a:moveTo>
                      <a:pt x="0" y="66"/>
                    </a:moveTo>
                    <a:cubicBezTo>
                      <a:pt x="84" y="65"/>
                      <a:pt x="165" y="60"/>
                      <a:pt x="241" y="51"/>
                    </a:cubicBezTo>
                    <a:cubicBezTo>
                      <a:pt x="24" y="0"/>
                      <a:pt x="24" y="0"/>
                      <a:pt x="24" y="0"/>
                    </a:cubicBez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1325"/>
              <p:cNvSpPr>
                <a:spLocks noChangeArrowheads="1"/>
              </p:cNvSpPr>
              <p:nvPr/>
            </p:nvSpPr>
            <p:spPr bwMode="auto">
              <a:xfrm>
                <a:off x="1725613" y="1117599"/>
                <a:ext cx="358775" cy="119062"/>
              </a:xfrm>
              <a:custGeom>
                <a:avLst/>
                <a:gdLst>
                  <a:gd name="T0" fmla="*/ 134413727 w 311"/>
                  <a:gd name="T1" fmla="*/ 136305383 h 104"/>
                  <a:gd name="T2" fmla="*/ 413889070 w 311"/>
                  <a:gd name="T3" fmla="*/ 40629908 h 104"/>
                  <a:gd name="T4" fmla="*/ 0 w 311"/>
                  <a:gd name="T5" fmla="*/ 0 h 104"/>
                  <a:gd name="T6" fmla="*/ 134413727 w 311"/>
                  <a:gd name="T7" fmla="*/ 136305383 h 10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1"/>
                  <a:gd name="T13" fmla="*/ 0 h 104"/>
                  <a:gd name="T14" fmla="*/ 311 w 311"/>
                  <a:gd name="T15" fmla="*/ 104 h 10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1" h="104">
                    <a:moveTo>
                      <a:pt x="101" y="104"/>
                    </a:moveTo>
                    <a:cubicBezTo>
                      <a:pt x="188" y="84"/>
                      <a:pt x="259" y="59"/>
                      <a:pt x="311" y="31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01" y="104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1326"/>
              <p:cNvSpPr>
                <a:spLocks noChangeArrowheads="1"/>
              </p:cNvSpPr>
              <p:nvPr/>
            </p:nvSpPr>
            <p:spPr bwMode="auto">
              <a:xfrm>
                <a:off x="2085975" y="811212"/>
                <a:ext cx="106363" cy="315912"/>
              </a:xfrm>
              <a:custGeom>
                <a:avLst/>
                <a:gdLst>
                  <a:gd name="T0" fmla="*/ 0 w 91"/>
                  <a:gd name="T1" fmla="*/ 34816280 h 273"/>
                  <a:gd name="T2" fmla="*/ 49181784 w 91"/>
                  <a:gd name="T3" fmla="*/ 365569201 h 273"/>
                  <a:gd name="T4" fmla="*/ 124319646 w 91"/>
                  <a:gd name="T5" fmla="*/ 251747148 h 273"/>
                  <a:gd name="T6" fmla="*/ 117489037 w 91"/>
                  <a:gd name="T7" fmla="*/ 216930869 h 273"/>
                  <a:gd name="T8" fmla="*/ 117489037 w 91"/>
                  <a:gd name="T9" fmla="*/ 216930869 h 273"/>
                  <a:gd name="T10" fmla="*/ 49181784 w 91"/>
                  <a:gd name="T11" fmla="*/ 44189493 h 273"/>
                  <a:gd name="T12" fmla="*/ 19126639 w 91"/>
                  <a:gd name="T13" fmla="*/ 0 h 273"/>
                  <a:gd name="T14" fmla="*/ 0 w 91"/>
                  <a:gd name="T15" fmla="*/ 34816280 h 27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1"/>
                  <a:gd name="T25" fmla="*/ 0 h 273"/>
                  <a:gd name="T26" fmla="*/ 91 w 91"/>
                  <a:gd name="T27" fmla="*/ 273 h 27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1" h="273">
                    <a:moveTo>
                      <a:pt x="0" y="26"/>
                    </a:moveTo>
                    <a:cubicBezTo>
                      <a:pt x="36" y="273"/>
                      <a:pt x="36" y="273"/>
                      <a:pt x="36" y="273"/>
                    </a:cubicBezTo>
                    <a:cubicBezTo>
                      <a:pt x="71" y="247"/>
                      <a:pt x="91" y="218"/>
                      <a:pt x="91" y="188"/>
                    </a:cubicBezTo>
                    <a:cubicBezTo>
                      <a:pt x="91" y="179"/>
                      <a:pt x="89" y="171"/>
                      <a:pt x="86" y="162"/>
                    </a:cubicBezTo>
                    <a:cubicBezTo>
                      <a:pt x="86" y="162"/>
                      <a:pt x="86" y="162"/>
                      <a:pt x="86" y="162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2" y="9"/>
                      <a:pt x="7" y="18"/>
                      <a:pt x="0" y="26"/>
                    </a:cubicBez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Freeform 1327"/>
              <p:cNvSpPr>
                <a:spLocks noChangeArrowheads="1"/>
              </p:cNvSpPr>
              <p:nvPr/>
            </p:nvSpPr>
            <p:spPr bwMode="auto">
              <a:xfrm>
                <a:off x="1725613" y="841374"/>
                <a:ext cx="403225" cy="311150"/>
              </a:xfrm>
              <a:custGeom>
                <a:avLst/>
                <a:gdLst>
                  <a:gd name="T0" fmla="*/ 359083994 w 349"/>
                  <a:gd name="T1" fmla="*/ 45153627 h 270"/>
                  <a:gd name="T2" fmla="*/ 220255591 w 349"/>
                  <a:gd name="T3" fmla="*/ 102258871 h 270"/>
                  <a:gd name="T4" fmla="*/ 0 w 349"/>
                  <a:gd name="T5" fmla="*/ 317401810 h 270"/>
                  <a:gd name="T6" fmla="*/ 415149599 w 349"/>
                  <a:gd name="T7" fmla="*/ 358571565 h 270"/>
                  <a:gd name="T8" fmla="*/ 465875073 w 349"/>
                  <a:gd name="T9" fmla="*/ 328027006 h 270"/>
                  <a:gd name="T10" fmla="*/ 417819665 w 349"/>
                  <a:gd name="T11" fmla="*/ 0 h 270"/>
                  <a:gd name="T12" fmla="*/ 359083994 w 349"/>
                  <a:gd name="T13" fmla="*/ 45153627 h 2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49"/>
                  <a:gd name="T22" fmla="*/ 0 h 270"/>
                  <a:gd name="T23" fmla="*/ 349 w 349"/>
                  <a:gd name="T24" fmla="*/ 270 h 2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49" h="270">
                    <a:moveTo>
                      <a:pt x="269" y="34"/>
                    </a:moveTo>
                    <a:cubicBezTo>
                      <a:pt x="242" y="50"/>
                      <a:pt x="207" y="64"/>
                      <a:pt x="165" y="77"/>
                    </a:cubicBezTo>
                    <a:cubicBezTo>
                      <a:pt x="0" y="239"/>
                      <a:pt x="0" y="239"/>
                      <a:pt x="0" y="239"/>
                    </a:cubicBezTo>
                    <a:cubicBezTo>
                      <a:pt x="311" y="270"/>
                      <a:pt x="311" y="270"/>
                      <a:pt x="311" y="270"/>
                    </a:cubicBezTo>
                    <a:cubicBezTo>
                      <a:pt x="325" y="262"/>
                      <a:pt x="338" y="255"/>
                      <a:pt x="349" y="247"/>
                    </a:cubicBezTo>
                    <a:cubicBezTo>
                      <a:pt x="313" y="0"/>
                      <a:pt x="313" y="0"/>
                      <a:pt x="313" y="0"/>
                    </a:cubicBezTo>
                    <a:cubicBezTo>
                      <a:pt x="303" y="12"/>
                      <a:pt x="288" y="23"/>
                      <a:pt x="269" y="34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Rectangle 1328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587"/>
              </a:xfrm>
              <a:prstGeom prst="rect">
                <a:avLst/>
              </a:pr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9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58" name="Freeform 1329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"/>
              </a:xfrm>
              <a:custGeom>
                <a:avLst/>
                <a:gdLst>
                  <a:gd name="T0" fmla="*/ 2521744 w 1"/>
                  <a:gd name="T1" fmla="*/ 0 h 1"/>
                  <a:gd name="T2" fmla="*/ 2521744 w 1"/>
                  <a:gd name="T3" fmla="*/ 0 h 1"/>
                  <a:gd name="T4" fmla="*/ 0 w 1"/>
                  <a:gd name="T5" fmla="*/ 0 h 1"/>
                  <a:gd name="T6" fmla="*/ 252174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1"/>
                  <a:gd name="T14" fmla="*/ 1 w 1"/>
                  <a:gd name="T15" fmla="*/ 1 h 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1">
                    <a:moveTo>
                      <a:pt x="1" y="0"/>
                    </a:moveTo>
                    <a:lnTo>
                      <a:pt x="1" y="0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Freeform 1330"/>
              <p:cNvSpPr>
                <a:spLocks noChangeArrowheads="1"/>
              </p:cNvSpPr>
              <p:nvPr/>
            </p:nvSpPr>
            <p:spPr bwMode="auto">
              <a:xfrm>
                <a:off x="1244600" y="1065212"/>
                <a:ext cx="369888" cy="150812"/>
              </a:xfrm>
              <a:custGeom>
                <a:avLst/>
                <a:gdLst>
                  <a:gd name="T0" fmla="*/ 0 w 233"/>
                  <a:gd name="T1" fmla="*/ 0 h 95"/>
                  <a:gd name="T2" fmla="*/ 176411176 w 233"/>
                  <a:gd name="T3" fmla="*/ 239413256 h 95"/>
                  <a:gd name="T4" fmla="*/ 587197994 w 233"/>
                  <a:gd name="T5" fmla="*/ 32761129 h 95"/>
                  <a:gd name="T6" fmla="*/ 0 w 233"/>
                  <a:gd name="T7" fmla="*/ 0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95"/>
                  <a:gd name="T14" fmla="*/ 233 w 233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95">
                    <a:moveTo>
                      <a:pt x="0" y="0"/>
                    </a:moveTo>
                    <a:lnTo>
                      <a:pt x="70" y="95"/>
                    </a:lnTo>
                    <a:lnTo>
                      <a:pt x="233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Freeform 1331"/>
              <p:cNvSpPr>
                <a:spLocks noChangeArrowheads="1"/>
              </p:cNvSpPr>
              <p:nvPr/>
            </p:nvSpPr>
            <p:spPr bwMode="auto">
              <a:xfrm>
                <a:off x="1244600" y="1003299"/>
                <a:ext cx="369888" cy="82550"/>
              </a:xfrm>
              <a:custGeom>
                <a:avLst/>
                <a:gdLst>
                  <a:gd name="T0" fmla="*/ 427553539 w 320"/>
                  <a:gd name="T1" fmla="*/ 94645868 h 72"/>
                  <a:gd name="T2" fmla="*/ 197743281 w 320"/>
                  <a:gd name="T3" fmla="*/ 0 h 72"/>
                  <a:gd name="T4" fmla="*/ 89518676 w 320"/>
                  <a:gd name="T5" fmla="*/ 2628988 h 72"/>
                  <a:gd name="T6" fmla="*/ 0 w 320"/>
                  <a:gd name="T7" fmla="*/ 70984974 h 72"/>
                  <a:gd name="T8" fmla="*/ 427553539 w 320"/>
                  <a:gd name="T9" fmla="*/ 94645868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0"/>
                  <a:gd name="T16" fmla="*/ 0 h 72"/>
                  <a:gd name="T17" fmla="*/ 320 w 320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0" h="72">
                    <a:moveTo>
                      <a:pt x="320" y="72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21" y="1"/>
                      <a:pt x="94" y="1"/>
                      <a:pt x="67" y="2"/>
                    </a:cubicBezTo>
                    <a:cubicBezTo>
                      <a:pt x="0" y="54"/>
                      <a:pt x="0" y="54"/>
                      <a:pt x="0" y="54"/>
                    </a:cubicBezTo>
                    <a:lnTo>
                      <a:pt x="320" y="72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Freeform 1332"/>
              <p:cNvSpPr>
                <a:spLocks noChangeArrowheads="1"/>
              </p:cNvSpPr>
              <p:nvPr/>
            </p:nvSpPr>
            <p:spPr bwMode="auto">
              <a:xfrm>
                <a:off x="1355725" y="1085849"/>
                <a:ext cx="369888" cy="130175"/>
              </a:xfrm>
              <a:custGeom>
                <a:avLst/>
                <a:gdLst>
                  <a:gd name="T0" fmla="*/ 0 w 233"/>
                  <a:gd name="T1" fmla="*/ 206652813 h 82"/>
                  <a:gd name="T2" fmla="*/ 587197994 w 233"/>
                  <a:gd name="T3" fmla="*/ 50403125 h 82"/>
                  <a:gd name="T4" fmla="*/ 410786818 w 233"/>
                  <a:gd name="T5" fmla="*/ 0 h 82"/>
                  <a:gd name="T6" fmla="*/ 0 w 233"/>
                  <a:gd name="T7" fmla="*/ 206652813 h 8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82"/>
                  <a:gd name="T14" fmla="*/ 233 w 233"/>
                  <a:gd name="T15" fmla="*/ 82 h 8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82">
                    <a:moveTo>
                      <a:pt x="0" y="82"/>
                    </a:moveTo>
                    <a:lnTo>
                      <a:pt x="233" y="20"/>
                    </a:lnTo>
                    <a:lnTo>
                      <a:pt x="163" y="0"/>
                    </a:ln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Freeform 1333"/>
              <p:cNvSpPr>
                <a:spLocks noChangeArrowheads="1"/>
              </p:cNvSpPr>
              <p:nvPr/>
            </p:nvSpPr>
            <p:spPr bwMode="auto">
              <a:xfrm>
                <a:off x="1416050" y="985837"/>
                <a:ext cx="206375" cy="100012"/>
              </a:xfrm>
              <a:custGeom>
                <a:avLst/>
                <a:gdLst>
                  <a:gd name="T0" fmla="*/ 237936540 w 179"/>
                  <a:gd name="T1" fmla="*/ 0 h 86"/>
                  <a:gd name="T2" fmla="*/ 0 w 179"/>
                  <a:gd name="T3" fmla="*/ 18933667 h 86"/>
                  <a:gd name="T4" fmla="*/ 228631218 w 179"/>
                  <a:gd name="T5" fmla="*/ 116306978 h 86"/>
                  <a:gd name="T6" fmla="*/ 237936540 w 179"/>
                  <a:gd name="T7" fmla="*/ 0 h 8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9"/>
                  <a:gd name="T13" fmla="*/ 0 h 86"/>
                  <a:gd name="T14" fmla="*/ 179 w 179"/>
                  <a:gd name="T15" fmla="*/ 86 h 8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9" h="86">
                    <a:moveTo>
                      <a:pt x="179" y="0"/>
                    </a:moveTo>
                    <a:cubicBezTo>
                      <a:pt x="123" y="6"/>
                      <a:pt x="63" y="11"/>
                      <a:pt x="0" y="14"/>
                    </a:cubicBezTo>
                    <a:cubicBezTo>
                      <a:pt x="172" y="86"/>
                      <a:pt x="172" y="86"/>
                      <a:pt x="172" y="86"/>
                    </a:cubicBezTo>
                    <a:lnTo>
                      <a:pt x="179" y="0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Freeform 1334"/>
              <p:cNvSpPr>
                <a:spLocks noChangeArrowheads="1"/>
              </p:cNvSpPr>
              <p:nvPr/>
            </p:nvSpPr>
            <p:spPr bwMode="auto">
              <a:xfrm>
                <a:off x="1614488" y="957262"/>
                <a:ext cx="188913" cy="128587"/>
              </a:xfrm>
              <a:custGeom>
                <a:avLst/>
                <a:gdLst>
                  <a:gd name="T0" fmla="*/ 218945531 w 163"/>
                  <a:gd name="T1" fmla="*/ 0 h 111"/>
                  <a:gd name="T2" fmla="*/ 9402768 w 163"/>
                  <a:gd name="T3" fmla="*/ 33549623 h 111"/>
                  <a:gd name="T4" fmla="*/ 0 w 163"/>
                  <a:gd name="T5" fmla="*/ 148960510 h 111"/>
                  <a:gd name="T6" fmla="*/ 218945531 w 163"/>
                  <a:gd name="T7" fmla="*/ 0 h 1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3"/>
                  <a:gd name="T13" fmla="*/ 0 h 111"/>
                  <a:gd name="T14" fmla="*/ 163 w 163"/>
                  <a:gd name="T15" fmla="*/ 111 h 1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3" h="111">
                    <a:moveTo>
                      <a:pt x="163" y="0"/>
                    </a:moveTo>
                    <a:cubicBezTo>
                      <a:pt x="116" y="10"/>
                      <a:pt x="63" y="18"/>
                      <a:pt x="7" y="25"/>
                    </a:cubicBezTo>
                    <a:cubicBezTo>
                      <a:pt x="0" y="111"/>
                      <a:pt x="0" y="111"/>
                      <a:pt x="0" y="111"/>
                    </a:cubicBezTo>
                    <a:lnTo>
                      <a:pt x="163" y="0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Freeform 1335"/>
              <p:cNvSpPr>
                <a:spLocks noChangeArrowheads="1"/>
              </p:cNvSpPr>
              <p:nvPr/>
            </p:nvSpPr>
            <p:spPr bwMode="auto">
              <a:xfrm>
                <a:off x="1614488" y="930274"/>
                <a:ext cx="301625" cy="187325"/>
              </a:xfrm>
              <a:custGeom>
                <a:avLst/>
                <a:gdLst>
                  <a:gd name="T0" fmla="*/ 128211427 w 261"/>
                  <a:gd name="T1" fmla="*/ 216608985 h 162"/>
                  <a:gd name="T2" fmla="*/ 348573336 w 261"/>
                  <a:gd name="T3" fmla="*/ 0 h 162"/>
                  <a:gd name="T4" fmla="*/ 217691199 w 261"/>
                  <a:gd name="T5" fmla="*/ 32090391 h 162"/>
                  <a:gd name="T6" fmla="*/ 0 w 261"/>
                  <a:gd name="T7" fmla="*/ 180507295 h 162"/>
                  <a:gd name="T8" fmla="*/ 128211427 w 261"/>
                  <a:gd name="T9" fmla="*/ 216608985 h 1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1"/>
                  <a:gd name="T16" fmla="*/ 0 h 162"/>
                  <a:gd name="T17" fmla="*/ 261 w 261"/>
                  <a:gd name="T18" fmla="*/ 162 h 1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1" h="162">
                    <a:moveTo>
                      <a:pt x="96" y="162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32" y="9"/>
                      <a:pt x="199" y="17"/>
                      <a:pt x="163" y="24"/>
                    </a:cubicBezTo>
                    <a:cubicBezTo>
                      <a:pt x="0" y="135"/>
                      <a:pt x="0" y="135"/>
                      <a:pt x="0" y="135"/>
                    </a:cubicBezTo>
                    <a:lnTo>
                      <a:pt x="96" y="1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Freeform 1336"/>
              <p:cNvSpPr>
                <a:spLocks noChangeArrowheads="1"/>
              </p:cNvSpPr>
              <p:nvPr/>
            </p:nvSpPr>
            <p:spPr bwMode="auto">
              <a:xfrm>
                <a:off x="2100263" y="777874"/>
                <a:ext cx="28575" cy="71437"/>
              </a:xfrm>
              <a:custGeom>
                <a:avLst/>
                <a:gdLst>
                  <a:gd name="T0" fmla="*/ 5670947 w 24"/>
                  <a:gd name="T1" fmla="*/ 23896829 h 62"/>
                  <a:gd name="T2" fmla="*/ 2834878 w 24"/>
                  <a:gd name="T3" fmla="*/ 38499934 h 62"/>
                  <a:gd name="T4" fmla="*/ 34022109 w 24"/>
                  <a:gd name="T5" fmla="*/ 82310403 h 62"/>
                  <a:gd name="T6" fmla="*/ 0 w 24"/>
                  <a:gd name="T7" fmla="*/ 0 h 62"/>
                  <a:gd name="T8" fmla="*/ 5670947 w 24"/>
                  <a:gd name="T9" fmla="*/ 23896829 h 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2"/>
                  <a:gd name="T17" fmla="*/ 24 w 24"/>
                  <a:gd name="T18" fmla="*/ 62 h 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2">
                    <a:moveTo>
                      <a:pt x="4" y="18"/>
                    </a:moveTo>
                    <a:cubicBezTo>
                      <a:pt x="4" y="21"/>
                      <a:pt x="3" y="25"/>
                      <a:pt x="2" y="29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6"/>
                      <a:pt x="4" y="12"/>
                      <a:pt x="4" y="18"/>
                    </a:cubicBez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66" name="任意多边形 98"/>
          <p:cNvSpPr>
            <a:spLocks noChangeArrowheads="1"/>
          </p:cNvSpPr>
          <p:nvPr/>
        </p:nvSpPr>
        <p:spPr bwMode="auto">
          <a:xfrm>
            <a:off x="3715403" y="2356325"/>
            <a:ext cx="1746647" cy="360759"/>
          </a:xfrm>
          <a:custGeom>
            <a:avLst/>
            <a:gdLst>
              <a:gd name="T0" fmla="*/ 0 w 2541974"/>
              <a:gd name="T1" fmla="*/ 0 h 636814"/>
              <a:gd name="T2" fmla="*/ 2133619 w 2541974"/>
              <a:gd name="T3" fmla="*/ 0 h 636814"/>
              <a:gd name="T4" fmla="*/ 1991723 w 2541974"/>
              <a:gd name="T5" fmla="*/ 181664 h 636814"/>
              <a:gd name="T6" fmla="*/ 2133619 w 2541974"/>
              <a:gd name="T7" fmla="*/ 363328 h 636814"/>
              <a:gd name="T8" fmla="*/ 0 w 2541974"/>
              <a:gd name="T9" fmla="*/ 363328 h 636814"/>
              <a:gd name="T10" fmla="*/ 141809 w 2541974"/>
              <a:gd name="T11" fmla="*/ 181664 h 63681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41974"/>
              <a:gd name="T19" fmla="*/ 0 h 636814"/>
              <a:gd name="T20" fmla="*/ 2541974 w 2541974"/>
              <a:gd name="T21" fmla="*/ 636814 h 63681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41974" h="636814">
                <a:moveTo>
                  <a:pt x="0" y="0"/>
                </a:moveTo>
                <a:lnTo>
                  <a:pt x="2541974" y="0"/>
                </a:lnTo>
                <a:lnTo>
                  <a:pt x="2372921" y="318407"/>
                </a:lnTo>
                <a:lnTo>
                  <a:pt x="2541974" y="636814"/>
                </a:lnTo>
                <a:lnTo>
                  <a:pt x="0" y="636814"/>
                </a:lnTo>
                <a:lnTo>
                  <a:pt x="168950" y="318407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 cstate="print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/>
          <a:p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谢谢聆听</a:t>
            </a:r>
            <a:endParaRPr lang="zh-CN" altLang="en-US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67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8438"/>
            <a:ext cx="1547664" cy="395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7F4FF"/>
        </a:solidFill>
        <a:ln w="28575" cap="flat" cmpd="sng" algn="ctr">
          <a:solidFill>
            <a:srgbClr val="5AADD6"/>
          </a:solidFill>
          <a:prstDash val="solid"/>
          <a:round/>
          <a:headEnd type="none" w="med" len="med"/>
          <a:tailEnd type="none" w="med" len="med"/>
        </a:ln>
        <a:effectLst>
          <a:outerShdw blurRad="38100" sx="101000" sy="101000" algn="ctr" rotWithShape="0">
            <a:prstClr val="black">
              <a:alpha val="10000"/>
            </a:prstClr>
          </a:outerShdw>
        </a:effectLst>
      </a:spPr>
      <a:bodyPr wrap="square">
        <a:spAutoFit/>
      </a:bodyPr>
      <a:lstStyle>
        <a:defPPr marL="224155" indent="-224155" algn="l" defTabSz="381000">
          <a:lnSpc>
            <a:spcPct val="150000"/>
          </a:lnSpc>
          <a:buClr>
            <a:schemeClr val="folHlink"/>
          </a:buClr>
          <a:buSzPct val="60000"/>
          <a:buFont typeface="Wingdings" panose="05000000000000000000" pitchFamily="2" charset="2"/>
          <a:buNone/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5305</Words>
  <Application>WPS 文字</Application>
  <PresentationFormat>全屏显示(16:9)</PresentationFormat>
  <Paragraphs>473</Paragraphs>
  <Slides>42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64" baseType="lpstr">
      <vt:lpstr>Arial</vt:lpstr>
      <vt:lpstr>方正书宋_GBK</vt:lpstr>
      <vt:lpstr>Wingdings</vt:lpstr>
      <vt:lpstr>黑体</vt:lpstr>
      <vt:lpstr>汉仪中黑KW</vt:lpstr>
      <vt:lpstr>宋体</vt:lpstr>
      <vt:lpstr>汉仪书宋二KW</vt:lpstr>
      <vt:lpstr>Calibri</vt:lpstr>
      <vt:lpstr>Helvetica Neue</vt:lpstr>
      <vt:lpstr>微软雅黑</vt:lpstr>
      <vt:lpstr>Browallia New</vt:lpstr>
      <vt:lpstr>汉仪旗黑</vt:lpstr>
      <vt:lpstr>Tahoma</vt:lpstr>
      <vt:lpstr>Times New Roman</vt:lpstr>
      <vt:lpstr>Times New Roman</vt:lpstr>
      <vt:lpstr>Wingdings</vt:lpstr>
      <vt:lpstr>Impact</vt:lpstr>
      <vt:lpstr>宋体</vt:lpstr>
      <vt:lpstr>Arial Unicode MS</vt:lpstr>
      <vt:lpstr>苹方-简</vt:lpstr>
      <vt:lpstr>Office 主题</vt:lpstr>
      <vt:lpstr>Visio.Drawing.15</vt:lpstr>
      <vt:lpstr>第八单元</vt:lpstr>
      <vt:lpstr>第一节课</vt:lpstr>
      <vt:lpstr>复习</vt:lpstr>
      <vt:lpstr>序列的分片</vt:lpstr>
      <vt:lpstr>序列的切片</vt:lpstr>
      <vt:lpstr>序列的切片</vt:lpstr>
      <vt:lpstr>序列的分片</vt:lpstr>
      <vt:lpstr>列表-复制列表</vt:lpstr>
      <vt:lpstr>第二节课</vt:lpstr>
      <vt:lpstr>知识回顾</vt:lpstr>
      <vt:lpstr>贯穿案例</vt:lpstr>
      <vt:lpstr>知识目标</vt:lpstr>
      <vt:lpstr>为什么使用嵌套列表</vt:lpstr>
      <vt:lpstr>什么是嵌套列表</vt:lpstr>
      <vt:lpstr>如何使用嵌套列表</vt:lpstr>
      <vt:lpstr>如何使用嵌套列表</vt:lpstr>
      <vt:lpstr>如何使用嵌套列表</vt:lpstr>
      <vt:lpstr>如何使用嵌套列表</vt:lpstr>
      <vt:lpstr>嵌套列表的应用</vt:lpstr>
      <vt:lpstr>嵌套列表的应用</vt:lpstr>
      <vt:lpstr>第三节课</vt:lpstr>
      <vt:lpstr>普通列表实现</vt:lpstr>
      <vt:lpstr>PowerPoint 演示文稿</vt:lpstr>
      <vt:lpstr>PowerPoint 演示文稿</vt:lpstr>
      <vt:lpstr>PowerPoint 演示文稿</vt:lpstr>
      <vt:lpstr>嵌套列表实现</vt:lpstr>
      <vt:lpstr>嵌套列表实现</vt:lpstr>
      <vt:lpstr>嵌套列表的作用</vt:lpstr>
      <vt:lpstr>第三节课</vt:lpstr>
      <vt:lpstr>嵌套列表的应用</vt:lpstr>
      <vt:lpstr>嵌套列表的应用</vt:lpstr>
      <vt:lpstr>嵌套列表的应用</vt:lpstr>
      <vt:lpstr>嵌套列表的应用</vt:lpstr>
      <vt:lpstr>嵌套列表的应用</vt:lpstr>
      <vt:lpstr>嵌套列表的应用</vt:lpstr>
      <vt:lpstr>嵌套列表的应用</vt:lpstr>
      <vt:lpstr>排序的应用</vt:lpstr>
      <vt:lpstr>排序代码应用</vt:lpstr>
      <vt:lpstr>课堂小结</vt:lpstr>
      <vt:lpstr>概念图</vt:lpstr>
      <vt:lpstr>作业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第1章内容回顾</dc:title>
  <dc:creator>xiaojing.dai</dc:creator>
  <cp:lastModifiedBy>wenjie</cp:lastModifiedBy>
  <cp:revision>3658</cp:revision>
  <dcterms:created xsi:type="dcterms:W3CDTF">2021-08-18T03:10:48Z</dcterms:created>
  <dcterms:modified xsi:type="dcterms:W3CDTF">2021-08-18T03:10:48Z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2052-3.1.1.4956</vt:lpwstr>
  </property>
</Properties>
</file>